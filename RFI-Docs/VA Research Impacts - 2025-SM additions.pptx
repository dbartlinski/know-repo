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4"/>
  </p:sldMasterIdLst>
  <p:notesMasterIdLst>
    <p:notesMasterId r:id="rId53"/>
  </p:notesMasterIdLst>
  <p:sldIdLst>
    <p:sldId id="342" r:id="rId5"/>
    <p:sldId id="2147479791" r:id="rId6"/>
    <p:sldId id="294" r:id="rId7"/>
    <p:sldId id="310" r:id="rId8"/>
    <p:sldId id="309" r:id="rId9"/>
    <p:sldId id="318" r:id="rId10"/>
    <p:sldId id="320" r:id="rId11"/>
    <p:sldId id="319" r:id="rId12"/>
    <p:sldId id="340" r:id="rId13"/>
    <p:sldId id="2147479806" r:id="rId14"/>
    <p:sldId id="304" r:id="rId15"/>
    <p:sldId id="344" r:id="rId16"/>
    <p:sldId id="345" r:id="rId17"/>
    <p:sldId id="261" r:id="rId18"/>
    <p:sldId id="2147479807" r:id="rId19"/>
    <p:sldId id="329" r:id="rId20"/>
    <p:sldId id="332" r:id="rId21"/>
    <p:sldId id="333" r:id="rId22"/>
    <p:sldId id="301" r:id="rId23"/>
    <p:sldId id="338" r:id="rId24"/>
    <p:sldId id="330" r:id="rId25"/>
    <p:sldId id="339" r:id="rId26"/>
    <p:sldId id="302" r:id="rId27"/>
    <p:sldId id="348" r:id="rId28"/>
    <p:sldId id="324" r:id="rId29"/>
    <p:sldId id="314" r:id="rId30"/>
    <p:sldId id="311" r:id="rId31"/>
    <p:sldId id="349" r:id="rId32"/>
    <p:sldId id="346" r:id="rId33"/>
    <p:sldId id="2147479803" r:id="rId34"/>
    <p:sldId id="2147479792" r:id="rId35"/>
    <p:sldId id="2147479804" r:id="rId36"/>
    <p:sldId id="2147479794" r:id="rId37"/>
    <p:sldId id="2147479795" r:id="rId38"/>
    <p:sldId id="2147479805" r:id="rId39"/>
    <p:sldId id="2147479796" r:id="rId40"/>
    <p:sldId id="2147479801" r:id="rId41"/>
    <p:sldId id="2147479802" r:id="rId42"/>
    <p:sldId id="2147479798" r:id="rId43"/>
    <p:sldId id="2147479799" r:id="rId44"/>
    <p:sldId id="2147479800" r:id="rId45"/>
    <p:sldId id="2147479402" r:id="rId46"/>
    <p:sldId id="2147479405" r:id="rId47"/>
    <p:sldId id="2147479392" r:id="rId48"/>
    <p:sldId id="2147479393" r:id="rId49"/>
    <p:sldId id="2147479394" r:id="rId50"/>
    <p:sldId id="2147479395" r:id="rId51"/>
    <p:sldId id="2147479396"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D892DEF-0985-4793-A6D7-744CD1C453B1}">
          <p14:sldIdLst>
            <p14:sldId id="342"/>
          </p14:sldIdLst>
        </p14:section>
        <p14:section name="Suicide Prevention" id="{05DAA58A-A0E0-45E2-B393-FBFBB3C5669F}">
          <p14:sldIdLst>
            <p14:sldId id="2147479791"/>
            <p14:sldId id="294"/>
            <p14:sldId id="310"/>
            <p14:sldId id="309"/>
            <p14:sldId id="318"/>
            <p14:sldId id="320"/>
            <p14:sldId id="319"/>
            <p14:sldId id="340"/>
            <p14:sldId id="2147479806"/>
          </p14:sldIdLst>
        </p14:section>
        <p14:section name="Homeless Veterans &amp; Economic Security" id="{EB1A5F2F-9EE3-42EB-AED9-41D258242B83}">
          <p14:sldIdLst>
            <p14:sldId id="304"/>
            <p14:sldId id="344"/>
            <p14:sldId id="345"/>
            <p14:sldId id="261"/>
            <p14:sldId id="2147479807"/>
          </p14:sldIdLst>
        </p14:section>
        <p14:section name="Traumatic Brain Injury" id="{B658250E-FDDB-4EEA-9015-F727C3616DCA}">
          <p14:sldIdLst>
            <p14:sldId id="329"/>
            <p14:sldId id="332"/>
            <p14:sldId id="333"/>
            <p14:sldId id="301"/>
            <p14:sldId id="338"/>
          </p14:sldIdLst>
        </p14:section>
        <p14:section name="Military Exposures" id="{72295F80-D910-4A85-99FA-874B963F6C4B}">
          <p14:sldIdLst>
            <p14:sldId id="330"/>
            <p14:sldId id="339"/>
          </p14:sldIdLst>
        </p14:section>
        <p14:section name="Substance Use Disorders" id="{77520E2A-85D7-4210-B9D1-078F74BA8457}">
          <p14:sldIdLst>
            <p14:sldId id="302"/>
            <p14:sldId id="348"/>
            <p14:sldId id="324"/>
          </p14:sldIdLst>
        </p14:section>
        <p14:section name="Chronic Pain" id="{8B57266D-3799-4776-854F-9AFDDF5BCF12}">
          <p14:sldIdLst>
            <p14:sldId id="314"/>
            <p14:sldId id="311"/>
          </p14:sldIdLst>
        </p14:section>
        <p14:section name="Supporting Elizabeth Dole Act" id="{186C4FA3-DE22-4E2F-87BB-840D95DDFD08}">
          <p14:sldIdLst>
            <p14:sldId id="349"/>
          </p14:sldIdLst>
        </p14:section>
        <p14:section name="Enrollment in Clinical Trials" id="{0C576FC0-30D8-4020-B38A-37BD7BFD808B}">
          <p14:sldIdLst>
            <p14:sldId id="346"/>
          </p14:sldIdLst>
        </p14:section>
        <p14:section name="Cancer" id="{FD679E76-F447-4969-A863-7ED4ECFFC341}">
          <p14:sldIdLst>
            <p14:sldId id="2147479803"/>
            <p14:sldId id="2147479792"/>
            <p14:sldId id="2147479804"/>
            <p14:sldId id="2147479794"/>
            <p14:sldId id="2147479795"/>
            <p14:sldId id="2147479805"/>
            <p14:sldId id="2147479796"/>
            <p14:sldId id="2147479801"/>
            <p14:sldId id="2147479802"/>
            <p14:sldId id="2147479798"/>
            <p14:sldId id="2147479799"/>
            <p14:sldId id="2147479800"/>
          </p14:sldIdLst>
        </p14:section>
        <p14:section name="NRAC 2025" id="{6C350A9B-2C06-4B49-A5CD-BAD520B00E9B}">
          <p14:sldIdLst>
            <p14:sldId id="2147479402"/>
            <p14:sldId id="2147479405"/>
            <p14:sldId id="2147479392"/>
            <p14:sldId id="2147479393"/>
            <p14:sldId id="2147479394"/>
            <p14:sldId id="2147479395"/>
            <p14:sldId id="21474793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A48B"/>
    <a:srgbClr val="618B35"/>
    <a:srgbClr val="4D7F2E"/>
    <a:srgbClr val="4D68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6262A1-6805-444B-9C30-5BE7588E0484}" v="1" dt="2025-03-26T14:22:36.8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21"/>
    <p:restoredTop sz="86307" autoAdjust="0"/>
  </p:normalViewPr>
  <p:slideViewPr>
    <p:cSldViewPr snapToGrid="0">
      <p:cViewPr varScale="1">
        <p:scale>
          <a:sx n="57" d="100"/>
          <a:sy n="57" d="100"/>
        </p:scale>
        <p:origin x="1112"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ralidhar, Sumitra" userId="6a0ae90f-849d-42e1-a017-42019b0c386a" providerId="ADAL" clId="{F16262A1-6805-444B-9C30-5BE7588E0484}"/>
    <pc:docChg chg="modSld">
      <pc:chgData name="Muralidhar, Sumitra" userId="6a0ae90f-849d-42e1-a017-42019b0c386a" providerId="ADAL" clId="{F16262A1-6805-444B-9C30-5BE7588E0484}" dt="2025-03-26T14:42:27.648" v="18" actId="20577"/>
      <pc:docMkLst>
        <pc:docMk/>
      </pc:docMkLst>
      <pc:sldChg chg="addSp modSp mod">
        <pc:chgData name="Muralidhar, Sumitra" userId="6a0ae90f-849d-42e1-a017-42019b0c386a" providerId="ADAL" clId="{F16262A1-6805-444B-9C30-5BE7588E0484}" dt="2025-03-26T14:22:49.614" v="4" actId="1076"/>
        <pc:sldMkLst>
          <pc:docMk/>
          <pc:sldMk cId="3699121494" sldId="2147479806"/>
        </pc:sldMkLst>
        <pc:spChg chg="mod">
          <ac:chgData name="Muralidhar, Sumitra" userId="6a0ae90f-849d-42e1-a017-42019b0c386a" providerId="ADAL" clId="{F16262A1-6805-444B-9C30-5BE7588E0484}" dt="2025-03-26T14:22:49.614" v="4" actId="1076"/>
          <ac:spMkLst>
            <pc:docMk/>
            <pc:sldMk cId="3699121494" sldId="2147479806"/>
            <ac:spMk id="8" creationId="{5A268031-8ED4-94FB-E57B-D283457627B6}"/>
          </ac:spMkLst>
        </pc:spChg>
        <pc:spChg chg="mod">
          <ac:chgData name="Muralidhar, Sumitra" userId="6a0ae90f-849d-42e1-a017-42019b0c386a" providerId="ADAL" clId="{F16262A1-6805-444B-9C30-5BE7588E0484}" dt="2025-03-26T14:22:43.357" v="3" actId="1076"/>
          <ac:spMkLst>
            <pc:docMk/>
            <pc:sldMk cId="3699121494" sldId="2147479806"/>
            <ac:spMk id="9" creationId="{5E712685-B935-FAF1-016D-78CB3E4EE089}"/>
          </ac:spMkLst>
        </pc:spChg>
        <pc:picChg chg="add mod">
          <ac:chgData name="Muralidhar, Sumitra" userId="6a0ae90f-849d-42e1-a017-42019b0c386a" providerId="ADAL" clId="{F16262A1-6805-444B-9C30-5BE7588E0484}" dt="2025-03-26T14:22:36.899" v="2"/>
          <ac:picMkLst>
            <pc:docMk/>
            <pc:sldMk cId="3699121494" sldId="2147479806"/>
            <ac:picMk id="11" creationId="{38903895-BC33-6D84-11A2-660A97DD4C62}"/>
          </ac:picMkLst>
        </pc:picChg>
      </pc:sldChg>
      <pc:sldChg chg="modSp mod">
        <pc:chgData name="Muralidhar, Sumitra" userId="6a0ae90f-849d-42e1-a017-42019b0c386a" providerId="ADAL" clId="{F16262A1-6805-444B-9C30-5BE7588E0484}" dt="2025-03-26T14:42:27.648" v="18" actId="20577"/>
        <pc:sldMkLst>
          <pc:docMk/>
          <pc:sldMk cId="2004236317" sldId="2147479807"/>
        </pc:sldMkLst>
        <pc:spChg chg="mod">
          <ac:chgData name="Muralidhar, Sumitra" userId="6a0ae90f-849d-42e1-a017-42019b0c386a" providerId="ADAL" clId="{F16262A1-6805-444B-9C30-5BE7588E0484}" dt="2025-03-26T14:42:27.648" v="18" actId="20577"/>
          <ac:spMkLst>
            <pc:docMk/>
            <pc:sldMk cId="2004236317" sldId="2147479807"/>
            <ac:spMk id="3" creationId="{0B9D3F4E-5880-A301-2BE1-738AF73D0D4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88DA48-B9FD-E84B-845C-D394D8EE3C2A}" type="datetimeFigureOut">
              <a:rPr lang="en-US" smtClean="0"/>
              <a:t>3/26/2025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F978A5-C138-0F45-AE52-B0DD69BEA792}" type="slidenum">
              <a:rPr lang="en-US" smtClean="0"/>
              <a:t>‹#›</a:t>
            </a:fld>
            <a:endParaRPr lang="en-US"/>
          </a:p>
        </p:txBody>
      </p:sp>
    </p:spTree>
    <p:extLst>
      <p:ext uri="{BB962C8B-B14F-4D97-AF65-F5344CB8AC3E}">
        <p14:creationId xmlns:p14="http://schemas.microsoft.com/office/powerpoint/2010/main" val="3757869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FF0000"/>
                </a:solidFill>
              </a:rPr>
              <a:t>PRE-DECISIONAL</a:t>
            </a:r>
          </a:p>
        </p:txBody>
      </p:sp>
      <p:sp>
        <p:nvSpPr>
          <p:cNvPr id="4" name="Slide Number Placeholder 3"/>
          <p:cNvSpPr>
            <a:spLocks noGrp="1"/>
          </p:cNvSpPr>
          <p:nvPr>
            <p:ph type="sldNum" sz="quarter" idx="5"/>
          </p:nvPr>
        </p:nvSpPr>
        <p:spPr/>
        <p:txBody>
          <a:bodyPr/>
          <a:lstStyle/>
          <a:p>
            <a:fld id="{C9F978A5-C138-0F45-AE52-B0DD69BEA792}" type="slidenum">
              <a:rPr lang="en-US" smtClean="0"/>
              <a:t>1</a:t>
            </a:fld>
            <a:endParaRPr lang="en-US"/>
          </a:p>
        </p:txBody>
      </p:sp>
    </p:spTree>
    <p:extLst>
      <p:ext uri="{BB962C8B-B14F-4D97-AF65-F5344CB8AC3E}">
        <p14:creationId xmlns:p14="http://schemas.microsoft.com/office/powerpoint/2010/main" val="2415421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Joe Geraci, PhD working with </a:t>
            </a:r>
            <a:r>
              <a:rPr lang="en-US" sz="1200" b="0" i="0" u="none" strike="noStrike" dirty="0">
                <a:solidFill>
                  <a:srgbClr val="000000"/>
                </a:solidFill>
                <a:effectLst/>
                <a:latin typeface="Calibri" panose="020F0502020204030204" pitchFamily="34" charset="0"/>
              </a:rPr>
              <a:t>VBA Outreach, Transition and Economic Development; VHA National Center for Healthcare Advancement and Partnerships;  VHA Post-9/11 Military to VA Case Management; VHA Innovation Ecosystem; VA Office Information &amp; Technology; VHA Office of Mental Health &amp; Suicide Prevention; VHA Undersecretary for Health; VHA Office of Primary Care; DoD Uniformed Services University; Harvard Medical School; ETS Sponsorship (non-profit)</a:t>
            </a:r>
            <a:endPar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F978A5-C138-0F45-AE52-B0DD69BEA7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4741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Arial"/>
                <a:ea typeface="+mn-ea"/>
                <a:cs typeface="Arial"/>
              </a:rPr>
              <a:t>Caring Contacts: Sara Landes, PhD working with </a:t>
            </a:r>
            <a:r>
              <a:rPr lang="en-US" sz="1800" dirty="0">
                <a:effectLst/>
                <a:latin typeface="Georgia" panose="02040502050405020303" pitchFamily="18" charset="0"/>
                <a:ea typeface="Georgia" panose="02040502050405020303" pitchFamily="18" charset="0"/>
                <a:cs typeface="Times New Roman" panose="02020603050405020304" pitchFamily="18" charset="0"/>
              </a:rPr>
              <a:t>Office of Mental Health and Suicide Prevention </a:t>
            </a:r>
            <a:endParaRPr kumimoji="0" lang="en-US" altLang="en-US"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F978A5-C138-0F45-AE52-B0DD69BEA7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09705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Arial"/>
                <a:ea typeface="+mn-ea"/>
                <a:cs typeface="Arial"/>
              </a:rPr>
              <a:t>Mark Reger, PhD working with Office of Suicide Prevention - Veterans Crisis Line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F978A5-C138-0F45-AE52-B0DD69BEA7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026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F978A5-C138-0F45-AE52-B0DD69BEA792}" type="slidenum">
              <a:rPr lang="en-US" smtClean="0"/>
              <a:t>6</a:t>
            </a:fld>
            <a:endParaRPr lang="en-US"/>
          </a:p>
        </p:txBody>
      </p:sp>
    </p:spTree>
    <p:extLst>
      <p:ext uri="{BB962C8B-B14F-4D97-AF65-F5344CB8AC3E}">
        <p14:creationId xmlns:p14="http://schemas.microsoft.com/office/powerpoint/2010/main" val="38918658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Armory Project: Gala True working with Office of Suicide Prevention.</a:t>
            </a:r>
            <a:endParaRPr lang="en-US" dirty="0"/>
          </a:p>
        </p:txBody>
      </p:sp>
      <p:sp>
        <p:nvSpPr>
          <p:cNvPr id="4" name="Slide Number Placeholder 3"/>
          <p:cNvSpPr>
            <a:spLocks noGrp="1"/>
          </p:cNvSpPr>
          <p:nvPr>
            <p:ph type="sldNum" sz="quarter" idx="5"/>
          </p:nvPr>
        </p:nvSpPr>
        <p:spPr/>
        <p:txBody>
          <a:bodyPr/>
          <a:lstStyle/>
          <a:p>
            <a:fld id="{C9F978A5-C138-0F45-AE52-B0DD69BEA792}" type="slidenum">
              <a:rPr lang="en-US" smtClean="0"/>
              <a:t>7</a:t>
            </a:fld>
            <a:endParaRPr lang="en-US"/>
          </a:p>
        </p:txBody>
      </p:sp>
    </p:spTree>
    <p:extLst>
      <p:ext uri="{BB962C8B-B14F-4D97-AF65-F5344CB8AC3E}">
        <p14:creationId xmlns:p14="http://schemas.microsoft.com/office/powerpoint/2010/main" val="2119985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Arial" panose="020B0604020202020204" pitchFamily="34" charset="0"/>
                <a:ea typeface="Calibri" panose="020F0502020204030204" pitchFamily="34" charset="0"/>
              </a:rPr>
              <a:t>Led by</a:t>
            </a:r>
            <a:r>
              <a:rPr lang="en-US" sz="1200" b="1" kern="100" dirty="0">
                <a:effectLst/>
                <a:latin typeface="Arial" panose="020B0604020202020204" pitchFamily="34" charset="0"/>
                <a:ea typeface="Calibri" panose="020F0502020204030204" pitchFamily="34" charset="0"/>
              </a:rPr>
              <a:t> </a:t>
            </a:r>
            <a:r>
              <a:rPr lang="en-US" sz="1200" kern="100" dirty="0">
                <a:effectLst/>
                <a:latin typeface="Arial" panose="020B0604020202020204" pitchFamily="34" charset="0"/>
                <a:ea typeface="Calibri" panose="020F0502020204030204" pitchFamily="34" charset="0"/>
              </a:rPr>
              <a:t>Steven Dobscha, MD (Portland, OR); Brian Marx (Boston); Nathan Kimbrel (Durham); Alejandro Interian (New Jersey); Marianne Goodman (Bronx); Richard Owen (Little Rock); Mark </a:t>
            </a:r>
            <a:r>
              <a:rPr lang="en-US" sz="1200" kern="100" dirty="0" err="1">
                <a:effectLst/>
                <a:latin typeface="Arial" panose="020B0604020202020204" pitchFamily="34" charset="0"/>
                <a:ea typeface="Calibri" panose="020F0502020204030204" pitchFamily="34" charset="0"/>
              </a:rPr>
              <a:t>Ilgen</a:t>
            </a:r>
            <a:r>
              <a:rPr lang="en-US" sz="1200" kern="100" dirty="0">
                <a:effectLst/>
                <a:latin typeface="Arial" panose="020B0604020202020204" pitchFamily="34" charset="0"/>
                <a:ea typeface="Calibri" panose="020F0502020204030204" pitchFamily="34" charset="0"/>
              </a:rPr>
              <a:t> (Ann Arbor)</a:t>
            </a:r>
          </a:p>
          <a:p>
            <a:endParaRPr lang="en-US" dirty="0"/>
          </a:p>
        </p:txBody>
      </p:sp>
      <p:sp>
        <p:nvSpPr>
          <p:cNvPr id="4" name="Slide Number Placeholder 3"/>
          <p:cNvSpPr>
            <a:spLocks noGrp="1"/>
          </p:cNvSpPr>
          <p:nvPr>
            <p:ph type="sldNum" sz="quarter" idx="5"/>
          </p:nvPr>
        </p:nvSpPr>
        <p:spPr/>
        <p:txBody>
          <a:bodyPr/>
          <a:lstStyle/>
          <a:p>
            <a:fld id="{C9F978A5-C138-0F45-AE52-B0DD69BEA792}" type="slidenum">
              <a:rPr lang="en-US" smtClean="0"/>
              <a:t>9</a:t>
            </a:fld>
            <a:endParaRPr lang="en-US"/>
          </a:p>
        </p:txBody>
      </p:sp>
    </p:spTree>
    <p:extLst>
      <p:ext uri="{BB962C8B-B14F-4D97-AF65-F5344CB8AC3E}">
        <p14:creationId xmlns:p14="http://schemas.microsoft.com/office/powerpoint/2010/main" val="3265635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HUD-VASH Eval and CTI Implementation: Sonya Gabrielian, MD working with Homeless Programs Office (HPO)</a:t>
            </a:r>
          </a:p>
          <a:p>
            <a:r>
              <a:rPr kumimoji="0" lang="en-US" altLang="en-US" sz="120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LSV: Bo Kim, PhD working with Homeless Programs Office (HPO)</a:t>
            </a:r>
            <a:endParaRPr lang="en-US" dirty="0"/>
          </a:p>
        </p:txBody>
      </p:sp>
      <p:sp>
        <p:nvSpPr>
          <p:cNvPr id="4" name="Slide Number Placeholder 3"/>
          <p:cNvSpPr>
            <a:spLocks noGrp="1"/>
          </p:cNvSpPr>
          <p:nvPr>
            <p:ph type="sldNum" sz="quarter" idx="5"/>
          </p:nvPr>
        </p:nvSpPr>
        <p:spPr/>
        <p:txBody>
          <a:bodyPr/>
          <a:lstStyle/>
          <a:p>
            <a:fld id="{C9F978A5-C138-0F45-AE52-B0DD69BEA792}" type="slidenum">
              <a:rPr lang="en-US" smtClean="0"/>
              <a:t>11</a:t>
            </a:fld>
            <a:endParaRPr lang="en-US"/>
          </a:p>
        </p:txBody>
      </p:sp>
    </p:spTree>
    <p:extLst>
      <p:ext uri="{BB962C8B-B14F-4D97-AF65-F5344CB8AC3E}">
        <p14:creationId xmlns:p14="http://schemas.microsoft.com/office/powerpoint/2010/main" val="3404941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HUD-VASH Eval and CTI Implementation: Sonya Gabrielian, MD working with Homeless Programs Office (HPO)</a:t>
            </a:r>
          </a:p>
          <a:p>
            <a:r>
              <a:rPr kumimoji="0" lang="en-US" altLang="en-US" sz="120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LSV: Bo Kim, PhD working with Homeless Programs Office (HPO)</a:t>
            </a:r>
            <a:endParaRPr lang="en-US" dirty="0"/>
          </a:p>
        </p:txBody>
      </p:sp>
      <p:sp>
        <p:nvSpPr>
          <p:cNvPr id="4" name="Slide Number Placeholder 3"/>
          <p:cNvSpPr>
            <a:spLocks noGrp="1"/>
          </p:cNvSpPr>
          <p:nvPr>
            <p:ph type="sldNum" sz="quarter" idx="5"/>
          </p:nvPr>
        </p:nvSpPr>
        <p:spPr/>
        <p:txBody>
          <a:bodyPr/>
          <a:lstStyle/>
          <a:p>
            <a:fld id="{C9F978A5-C138-0F45-AE52-B0DD69BEA792}" type="slidenum">
              <a:rPr lang="en-US" smtClean="0"/>
              <a:t>12</a:t>
            </a:fld>
            <a:endParaRPr lang="en-US"/>
          </a:p>
        </p:txBody>
      </p:sp>
    </p:spTree>
    <p:extLst>
      <p:ext uri="{BB962C8B-B14F-4D97-AF65-F5344CB8AC3E}">
        <p14:creationId xmlns:p14="http://schemas.microsoft.com/office/powerpoint/2010/main" val="3746997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F978A5-C138-0F45-AE52-B0DD69BEA7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11861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IETP evaluation: </a:t>
            </a:r>
            <a:r>
              <a:rPr lang="en-US" sz="1800" b="0" i="0" u="none" strike="noStrike" dirty="0">
                <a:solidFill>
                  <a:srgbClr val="000000"/>
                </a:solidFill>
                <a:effectLst/>
                <a:latin typeface="Calibri" panose="020F0502020204030204" pitchFamily="34" charset="0"/>
              </a:rPr>
              <a:t>Jolie</a:t>
            </a:r>
            <a:r>
              <a:rPr lang="en-US" dirty="0"/>
              <a:t> </a:t>
            </a:r>
            <a:r>
              <a:rPr lang="en-US" sz="1800" b="0" i="0" u="none" strike="noStrike" dirty="0">
                <a:solidFill>
                  <a:srgbClr val="000000"/>
                </a:solidFill>
                <a:effectLst/>
                <a:latin typeface="Calibri" panose="020F0502020204030204" pitchFamily="34" charset="0"/>
              </a:rPr>
              <a:t>Haun</a:t>
            </a:r>
            <a:r>
              <a:rPr lang="en-US" dirty="0"/>
              <a:t> working with PM&amp;R</a:t>
            </a:r>
          </a:p>
        </p:txBody>
      </p:sp>
      <p:sp>
        <p:nvSpPr>
          <p:cNvPr id="4" name="Slide Number Placeholder 3"/>
          <p:cNvSpPr>
            <a:spLocks noGrp="1"/>
          </p:cNvSpPr>
          <p:nvPr>
            <p:ph type="sldNum" sz="quarter" idx="5"/>
          </p:nvPr>
        </p:nvSpPr>
        <p:spPr/>
        <p:txBody>
          <a:bodyPr/>
          <a:lstStyle/>
          <a:p>
            <a:fld id="{C9F978A5-C138-0F45-AE52-B0DD69BEA792}" type="slidenum">
              <a:rPr lang="en-US" smtClean="0"/>
              <a:t>19</a:t>
            </a:fld>
            <a:endParaRPr lang="en-US"/>
          </a:p>
        </p:txBody>
      </p:sp>
    </p:spTree>
    <p:extLst>
      <p:ext uri="{BB962C8B-B14F-4D97-AF65-F5344CB8AC3E}">
        <p14:creationId xmlns:p14="http://schemas.microsoft.com/office/powerpoint/2010/main" val="3579816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444444"/>
                </a:solidFill>
                <a:effectLst/>
                <a:latin typeface="Arial" panose="020B0604020202020204" pitchFamily="34" charset="0"/>
              </a:rPr>
              <a:t>Exposure Method: Amal Trivedi</a:t>
            </a:r>
          </a:p>
          <a:p>
            <a:r>
              <a:rPr lang="en-US" b="1" i="0" dirty="0">
                <a:solidFill>
                  <a:srgbClr val="444444"/>
                </a:solidFill>
                <a:effectLst/>
                <a:latin typeface="Arial" panose="020B0604020202020204" pitchFamily="34" charset="0"/>
              </a:rPr>
              <a:t>Camp Lejeune Eval: Frances Weaver</a:t>
            </a:r>
            <a:endParaRPr lang="en-US" dirty="0"/>
          </a:p>
        </p:txBody>
      </p:sp>
      <p:sp>
        <p:nvSpPr>
          <p:cNvPr id="4" name="Slide Number Placeholder 3"/>
          <p:cNvSpPr>
            <a:spLocks noGrp="1"/>
          </p:cNvSpPr>
          <p:nvPr>
            <p:ph type="sldNum" sz="quarter" idx="5"/>
          </p:nvPr>
        </p:nvSpPr>
        <p:spPr/>
        <p:txBody>
          <a:bodyPr/>
          <a:lstStyle/>
          <a:p>
            <a:fld id="{C9F978A5-C138-0F45-AE52-B0DD69BEA792}" type="slidenum">
              <a:rPr lang="en-US" smtClean="0"/>
              <a:t>22</a:t>
            </a:fld>
            <a:endParaRPr lang="en-US"/>
          </a:p>
        </p:txBody>
      </p:sp>
    </p:spTree>
    <p:extLst>
      <p:ext uri="{BB962C8B-B14F-4D97-AF65-F5344CB8AC3E}">
        <p14:creationId xmlns:p14="http://schemas.microsoft.com/office/powerpoint/2010/main" val="27626862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altLang="en-US" sz="1200" b="0" i="0" u="none" strike="noStrike" kern="1200" cap="none" spc="0" normalizeH="0" baseline="0" noProof="0" dirty="0">
                <a:ln>
                  <a:noFill/>
                </a:ln>
                <a:solidFill>
                  <a:srgbClr val="000000"/>
                </a:solidFill>
                <a:effectLst/>
                <a:uLnTx/>
                <a:uFillTx/>
                <a:latin typeface="Arial"/>
                <a:ea typeface="+mn-ea"/>
                <a:cs typeface="Arial"/>
              </a:rPr>
              <a:t>Opioid Overdose Education and Naloxone Distribution (OEND): </a:t>
            </a:r>
            <a:r>
              <a:rPr lang="pt-BR" sz="1200" b="0" dirty="0"/>
              <a:t>Elizabeth M. Oliva, PhD</a:t>
            </a:r>
          </a:p>
          <a:p>
            <a:r>
              <a:rPr kumimoji="0" lang="en-US" altLang="en-US" sz="1200" b="0" i="0" u="none" strike="noStrike" kern="1200" cap="none" spc="0" normalizeH="0" baseline="0" noProof="0" dirty="0">
                <a:ln>
                  <a:noFill/>
                </a:ln>
                <a:solidFill>
                  <a:srgbClr val="000000"/>
                </a:solidFill>
                <a:effectLst/>
                <a:uLnTx/>
                <a:uFillTx/>
                <a:latin typeface="Arial"/>
                <a:ea typeface="+mn-ea"/>
                <a:cs typeface="Arial"/>
              </a:rPr>
              <a:t>Consortium to Disseminate and Understand Implementation of Opioid Use Disorder Treatment (CONDUIT)</a:t>
            </a:r>
            <a:r>
              <a:rPr kumimoji="0" lang="pt-BR" altLang="en-US" sz="1200" b="0" i="0" u="none" strike="noStrike" kern="1200" cap="none" spc="0" normalizeH="0" baseline="0" noProof="0" dirty="0">
                <a:ln>
                  <a:noFill/>
                </a:ln>
                <a:solidFill>
                  <a:srgbClr val="000000"/>
                </a:solidFill>
                <a:effectLst/>
                <a:uLnTx/>
                <a:uFillTx/>
                <a:latin typeface="Arial"/>
                <a:ea typeface="+mn-ea"/>
                <a:cs typeface="Arial"/>
              </a:rPr>
              <a:t>: Will Becker, MD</a:t>
            </a:r>
          </a:p>
          <a:p>
            <a:r>
              <a:rPr kumimoji="0" lang="en-US" altLang="en-US" sz="1200" b="0" i="0" u="none" strike="noStrike" kern="1200" cap="none" spc="0" normalizeH="0" baseline="0" noProof="0" dirty="0">
                <a:ln>
                  <a:noFill/>
                </a:ln>
                <a:solidFill>
                  <a:srgbClr val="000000"/>
                </a:solidFill>
                <a:effectLst/>
                <a:uLnTx/>
                <a:uFillTx/>
                <a:latin typeface="Arial"/>
                <a:ea typeface="+mn-ea"/>
                <a:cs typeface="Arial"/>
              </a:rPr>
              <a:t>Stratification Tool for Opioid Risk Mitigation (STORM): </a:t>
            </a:r>
            <a:r>
              <a:rPr kumimoji="0" lang="pt-BR" altLang="en-US" sz="1200" b="0" i="0" u="none" strike="noStrike" kern="1200" cap="none" spc="0" normalizeH="0" baseline="0" noProof="0" dirty="0">
                <a:ln>
                  <a:noFill/>
                </a:ln>
                <a:solidFill>
                  <a:srgbClr val="000000"/>
                </a:solidFill>
                <a:effectLst/>
                <a:uLnTx/>
                <a:uFillTx/>
                <a:latin typeface="Arial"/>
                <a:ea typeface="+mn-ea"/>
                <a:cs typeface="Arial"/>
              </a:rPr>
              <a:t>Melissa Garrido, PhD</a:t>
            </a:r>
          </a:p>
          <a:p>
            <a:r>
              <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Homeless Overdose Prevention Expansion (HOPE): Amanda Midboe, PhD</a:t>
            </a:r>
            <a:endParaRPr lang="en-US" b="0" dirty="0"/>
          </a:p>
        </p:txBody>
      </p:sp>
      <p:sp>
        <p:nvSpPr>
          <p:cNvPr id="4" name="Slide Number Placeholder 3"/>
          <p:cNvSpPr>
            <a:spLocks noGrp="1"/>
          </p:cNvSpPr>
          <p:nvPr>
            <p:ph type="sldNum" sz="quarter" idx="5"/>
          </p:nvPr>
        </p:nvSpPr>
        <p:spPr/>
        <p:txBody>
          <a:bodyPr/>
          <a:lstStyle/>
          <a:p>
            <a:fld id="{C9F978A5-C138-0F45-AE52-B0DD69BEA792}" type="slidenum">
              <a:rPr lang="en-US" smtClean="0"/>
              <a:t>23</a:t>
            </a:fld>
            <a:endParaRPr lang="en-US"/>
          </a:p>
        </p:txBody>
      </p:sp>
    </p:spTree>
    <p:extLst>
      <p:ext uri="{BB962C8B-B14F-4D97-AF65-F5344CB8AC3E}">
        <p14:creationId xmlns:p14="http://schemas.microsoft.com/office/powerpoint/2010/main" val="2598706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altLang="en-US" sz="1200" b="0" i="0" u="none" strike="noStrike" kern="1200" cap="none" spc="0" normalizeH="0" baseline="0" noProof="0" dirty="0">
                <a:ln>
                  <a:noFill/>
                </a:ln>
                <a:solidFill>
                  <a:srgbClr val="000000"/>
                </a:solidFill>
                <a:effectLst/>
                <a:uLnTx/>
                <a:uFillTx/>
                <a:latin typeface="Arial"/>
                <a:ea typeface="+mn-ea"/>
                <a:cs typeface="Arial"/>
              </a:rPr>
              <a:t>Opioid Overdose Education and Naloxone Distribution (OEND): </a:t>
            </a:r>
            <a:r>
              <a:rPr lang="pt-BR" sz="1200" b="0" dirty="0"/>
              <a:t>Elizabeth M. Oliva, PhD</a:t>
            </a:r>
          </a:p>
          <a:p>
            <a:r>
              <a:rPr kumimoji="0" lang="en-US" altLang="en-US" sz="1200" b="0" i="0" u="none" strike="noStrike" kern="1200" cap="none" spc="0" normalizeH="0" baseline="0" noProof="0" dirty="0">
                <a:ln>
                  <a:noFill/>
                </a:ln>
                <a:solidFill>
                  <a:srgbClr val="000000"/>
                </a:solidFill>
                <a:effectLst/>
                <a:uLnTx/>
                <a:uFillTx/>
                <a:latin typeface="Arial"/>
                <a:ea typeface="+mn-ea"/>
                <a:cs typeface="Arial"/>
              </a:rPr>
              <a:t>Consortium to Disseminate and Understand Implementation of Opioid Use Disorder Treatment (CONDUIT)</a:t>
            </a:r>
            <a:r>
              <a:rPr kumimoji="0" lang="pt-BR" altLang="en-US" sz="1200" b="0" i="0" u="none" strike="noStrike" kern="1200" cap="none" spc="0" normalizeH="0" baseline="0" noProof="0" dirty="0">
                <a:ln>
                  <a:noFill/>
                </a:ln>
                <a:solidFill>
                  <a:srgbClr val="000000"/>
                </a:solidFill>
                <a:effectLst/>
                <a:uLnTx/>
                <a:uFillTx/>
                <a:latin typeface="Arial"/>
                <a:ea typeface="+mn-ea"/>
                <a:cs typeface="Arial"/>
              </a:rPr>
              <a:t>: Will Becker, MD</a:t>
            </a:r>
          </a:p>
          <a:p>
            <a:r>
              <a:rPr kumimoji="0" lang="en-US" altLang="en-US" sz="1200" b="0" i="0" u="none" strike="noStrike" kern="1200" cap="none" spc="0" normalizeH="0" baseline="0" noProof="0" dirty="0">
                <a:ln>
                  <a:noFill/>
                </a:ln>
                <a:solidFill>
                  <a:srgbClr val="000000"/>
                </a:solidFill>
                <a:effectLst/>
                <a:uLnTx/>
                <a:uFillTx/>
                <a:latin typeface="Arial"/>
                <a:ea typeface="+mn-ea"/>
                <a:cs typeface="Arial"/>
              </a:rPr>
              <a:t>Stratification Tool for Opioid Risk Mitigation (STORM): </a:t>
            </a:r>
            <a:r>
              <a:rPr kumimoji="0" lang="pt-BR" altLang="en-US" sz="1200" b="0" i="0" u="none" strike="noStrike" kern="1200" cap="none" spc="0" normalizeH="0" baseline="0" noProof="0" dirty="0">
                <a:ln>
                  <a:noFill/>
                </a:ln>
                <a:solidFill>
                  <a:srgbClr val="000000"/>
                </a:solidFill>
                <a:effectLst/>
                <a:uLnTx/>
                <a:uFillTx/>
                <a:latin typeface="Arial"/>
                <a:ea typeface="+mn-ea"/>
                <a:cs typeface="Arial"/>
              </a:rPr>
              <a:t>Melissa Garrido, PhD</a:t>
            </a:r>
          </a:p>
          <a:p>
            <a:r>
              <a:rPr kumimoji="0" lang="en-US" alt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Homeless Overdose Prevention Expansion (HOPE): Amanda Midboe, PhD</a:t>
            </a:r>
            <a:endParaRPr lang="en-US" b="0" dirty="0"/>
          </a:p>
        </p:txBody>
      </p:sp>
      <p:sp>
        <p:nvSpPr>
          <p:cNvPr id="4" name="Slide Number Placeholder 3"/>
          <p:cNvSpPr>
            <a:spLocks noGrp="1"/>
          </p:cNvSpPr>
          <p:nvPr>
            <p:ph type="sldNum" sz="quarter" idx="5"/>
          </p:nvPr>
        </p:nvSpPr>
        <p:spPr/>
        <p:txBody>
          <a:bodyPr/>
          <a:lstStyle/>
          <a:p>
            <a:fld id="{C9F978A5-C138-0F45-AE52-B0DD69BEA792}" type="slidenum">
              <a:rPr lang="en-US" smtClean="0"/>
              <a:t>24</a:t>
            </a:fld>
            <a:endParaRPr lang="en-US"/>
          </a:p>
        </p:txBody>
      </p:sp>
    </p:spTree>
    <p:extLst>
      <p:ext uri="{BB962C8B-B14F-4D97-AF65-F5344CB8AC3E}">
        <p14:creationId xmlns:p14="http://schemas.microsoft.com/office/powerpoint/2010/main" val="2845717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Kritee Gujral working with Office of Rural Health (ORH) and Office of Connected Care.</a:t>
            </a:r>
            <a:endParaRPr lang="en-US" dirty="0"/>
          </a:p>
        </p:txBody>
      </p:sp>
      <p:sp>
        <p:nvSpPr>
          <p:cNvPr id="4" name="Slide Number Placeholder 3"/>
          <p:cNvSpPr>
            <a:spLocks noGrp="1"/>
          </p:cNvSpPr>
          <p:nvPr>
            <p:ph type="sldNum" sz="quarter" idx="5"/>
          </p:nvPr>
        </p:nvSpPr>
        <p:spPr/>
        <p:txBody>
          <a:bodyPr/>
          <a:lstStyle/>
          <a:p>
            <a:fld id="{C9F978A5-C138-0F45-AE52-B0DD69BEA792}" type="slidenum">
              <a:rPr lang="en-US" smtClean="0"/>
              <a:t>25</a:t>
            </a:fld>
            <a:endParaRPr lang="en-US"/>
          </a:p>
        </p:txBody>
      </p:sp>
    </p:spTree>
    <p:extLst>
      <p:ext uri="{BB962C8B-B14F-4D97-AF65-F5344CB8AC3E}">
        <p14:creationId xmlns:p14="http://schemas.microsoft.com/office/powerpoint/2010/main" val="3214976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TelePain</a:t>
            </a:r>
            <a:r>
              <a:rPr lang="en-US" dirty="0"/>
              <a:t> Evaluation: Jessica A. Chen, PhD working with </a:t>
            </a:r>
            <a:r>
              <a:rPr lang="en-US" dirty="0">
                <a:solidFill>
                  <a:prstClr val="white"/>
                </a:solidFill>
              </a:rPr>
              <a:t>Pain Management, Opioid Safety, and Prescription Drug Monitoring Program</a:t>
            </a:r>
          </a:p>
        </p:txBody>
      </p:sp>
      <p:sp>
        <p:nvSpPr>
          <p:cNvPr id="4" name="Slide Number Placeholder 3"/>
          <p:cNvSpPr>
            <a:spLocks noGrp="1"/>
          </p:cNvSpPr>
          <p:nvPr>
            <p:ph type="sldNum" sz="quarter" idx="5"/>
          </p:nvPr>
        </p:nvSpPr>
        <p:spPr/>
        <p:txBody>
          <a:bodyPr/>
          <a:lstStyle/>
          <a:p>
            <a:fld id="{C9F978A5-C138-0F45-AE52-B0DD69BEA792}" type="slidenum">
              <a:rPr lang="en-US" smtClean="0"/>
              <a:t>26</a:t>
            </a:fld>
            <a:endParaRPr lang="en-US"/>
          </a:p>
        </p:txBody>
      </p:sp>
    </p:spTree>
    <p:extLst>
      <p:ext uri="{BB962C8B-B14F-4D97-AF65-F5344CB8AC3E}">
        <p14:creationId xmlns:p14="http://schemas.microsoft.com/office/powerpoint/2010/main" val="3333254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 Health: Barbara Bokhour working with Office of Patient Centered Care and Cultural Transformation.</a:t>
            </a:r>
          </a:p>
          <a:p>
            <a:r>
              <a:rPr lang="en-US" dirty="0"/>
              <a:t>PIRC: Amanda Midboe and Will Becker working with Pain Management, Opioid Safety and Prescription Drug Monitoring Program (PMOP) </a:t>
            </a:r>
          </a:p>
        </p:txBody>
      </p:sp>
      <p:sp>
        <p:nvSpPr>
          <p:cNvPr id="4" name="Slide Number Placeholder 3"/>
          <p:cNvSpPr>
            <a:spLocks noGrp="1"/>
          </p:cNvSpPr>
          <p:nvPr>
            <p:ph type="sldNum" sz="quarter" idx="5"/>
          </p:nvPr>
        </p:nvSpPr>
        <p:spPr/>
        <p:txBody>
          <a:bodyPr/>
          <a:lstStyle/>
          <a:p>
            <a:fld id="{C9F978A5-C138-0F45-AE52-B0DD69BEA792}" type="slidenum">
              <a:rPr lang="en-US" smtClean="0"/>
              <a:t>27</a:t>
            </a:fld>
            <a:endParaRPr lang="en-US"/>
          </a:p>
        </p:txBody>
      </p:sp>
    </p:spTree>
    <p:extLst>
      <p:ext uri="{BB962C8B-B14F-4D97-AF65-F5344CB8AC3E}">
        <p14:creationId xmlns:p14="http://schemas.microsoft.com/office/powerpoint/2010/main" val="800481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F978A5-C138-0F45-AE52-B0DD69BEA792}" type="slidenum">
              <a:rPr lang="en-US" smtClean="0"/>
              <a:t>28</a:t>
            </a:fld>
            <a:endParaRPr lang="en-US"/>
          </a:p>
        </p:txBody>
      </p:sp>
    </p:spTree>
    <p:extLst>
      <p:ext uri="{BB962C8B-B14F-4D97-AF65-F5344CB8AC3E}">
        <p14:creationId xmlns:p14="http://schemas.microsoft.com/office/powerpoint/2010/main" val="1561466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F978A5-C138-0F45-AE52-B0DD69BEA792}" type="slidenum">
              <a:rPr lang="en-US" smtClean="0"/>
              <a:t>32</a:t>
            </a:fld>
            <a:endParaRPr lang="en-US"/>
          </a:p>
        </p:txBody>
      </p:sp>
    </p:spTree>
    <p:extLst>
      <p:ext uri="{BB962C8B-B14F-4D97-AF65-F5344CB8AC3E}">
        <p14:creationId xmlns:p14="http://schemas.microsoft.com/office/powerpoint/2010/main" val="38188036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F978A5-C138-0F45-AE52-B0DD69BEA792}" type="slidenum">
              <a:rPr lang="en-US" smtClean="0"/>
              <a:t>33</a:t>
            </a:fld>
            <a:endParaRPr lang="en-US"/>
          </a:p>
        </p:txBody>
      </p:sp>
    </p:spTree>
    <p:extLst>
      <p:ext uri="{BB962C8B-B14F-4D97-AF65-F5344CB8AC3E}">
        <p14:creationId xmlns:p14="http://schemas.microsoft.com/office/powerpoint/2010/main" val="38751867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Publications number from monthly investigator updates. </a:t>
            </a:r>
          </a:p>
        </p:txBody>
      </p:sp>
      <p:sp>
        <p:nvSpPr>
          <p:cNvPr id="4" name="Slide Number Placeholder 3"/>
          <p:cNvSpPr>
            <a:spLocks noGrp="1"/>
          </p:cNvSpPr>
          <p:nvPr>
            <p:ph type="sldNum" sz="quarter" idx="5"/>
          </p:nvPr>
        </p:nvSpPr>
        <p:spPr/>
        <p:txBody>
          <a:bodyPr/>
          <a:lstStyle/>
          <a:p>
            <a:fld id="{C9F978A5-C138-0F45-AE52-B0DD69BEA792}" type="slidenum">
              <a:rPr lang="en-US" smtClean="0"/>
              <a:t>34</a:t>
            </a:fld>
            <a:endParaRPr lang="en-US"/>
          </a:p>
        </p:txBody>
      </p:sp>
    </p:spTree>
    <p:extLst>
      <p:ext uri="{BB962C8B-B14F-4D97-AF65-F5344CB8AC3E}">
        <p14:creationId xmlns:p14="http://schemas.microsoft.com/office/powerpoint/2010/main" val="11600712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CC7B7-D006-66AD-73D9-AE4DFB165B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70F6B-F201-A411-65C4-5E9AD1EFB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C597CE-2E9E-6941-4BB5-53D9B19789CF}"/>
              </a:ext>
            </a:extLst>
          </p:cNvPr>
          <p:cNvSpPr>
            <a:spLocks noGrp="1"/>
          </p:cNvSpPr>
          <p:nvPr>
            <p:ph type="body" idx="1"/>
          </p:nvPr>
        </p:nvSpPr>
        <p:spPr/>
        <p:txBody>
          <a:bodyPr/>
          <a:lstStyle/>
          <a:p>
            <a:pPr algn="l"/>
            <a:r>
              <a:rPr lang="en-US" sz="1200" b="1" i="0" u="none" strike="noStrike" baseline="0" dirty="0">
                <a:latin typeface="TimesNewRomanPS-BoldMT"/>
              </a:rPr>
              <a:t>A pilot program to prescribe Veterans at elevated risk of suicide with gun lockboxes</a:t>
            </a:r>
            <a:r>
              <a:rPr lang="en-US" sz="1200" b="0" i="0" u="none" strike="noStrike" baseline="0" dirty="0">
                <a:latin typeface="TimesNewRomanPSMT"/>
              </a:rPr>
              <a:t>.</a:t>
            </a:r>
          </a:p>
          <a:p>
            <a:pPr algn="l"/>
            <a:r>
              <a:rPr lang="en-US" sz="1200" b="0" i="0" u="none" strike="noStrike" baseline="0" dirty="0">
                <a:latin typeface="TimesNewRomanPSMT"/>
              </a:rPr>
              <a:t>This new Firearm Lockbox Program, launched in late 2024 by the Rocky Mountain Mental Illness Research, Education, and Clinical Center for Suicide Prevention, is a prime example of VA Research working to create real-world solutions for Veterans. The lockboxes will be provided at no cost to Veterans, and only those who want to participate in the program will receive a lockbox. Research has shown that firearms are the number-one lethal means used in Veteran suicides, and slowing access to firearms shows potential to help prevent suicides for Veterans in crisis.</a:t>
            </a:r>
          </a:p>
          <a:p>
            <a:pPr algn="l"/>
            <a:endParaRPr lang="en-US" sz="1200" b="0" i="0" u="none" strike="noStrike" baseline="0" dirty="0">
              <a:latin typeface="TimesNewRomanPSMT"/>
            </a:endParaRPr>
          </a:p>
          <a:p>
            <a:pPr algn="l"/>
            <a:r>
              <a:rPr lang="en-US" sz="1800" b="1" i="0" u="none" strike="noStrike" baseline="0" dirty="0">
                <a:latin typeface="TimesNewRomanPS-BoldMT"/>
              </a:rPr>
              <a:t>A neuro-prosthetic system to provide sensory feedback from a prosthetic hand.</a:t>
            </a:r>
          </a:p>
          <a:p>
            <a:pPr algn="l"/>
            <a:r>
              <a:rPr lang="en-US" sz="1800" b="0" i="0" u="none" strike="noStrike" baseline="0" dirty="0">
                <a:latin typeface="TimesNewRomanPSMT"/>
              </a:rPr>
              <a:t>ORD is at the forefront of developing cutting-edge technology to improve the lives of Veterans. VA researchers with the Louis Stokes Cleveland VA Medical Center Advanced Platform Technology Center recently conducted the first human trials on a direct interface implanted in a user’s peripheral nerve. Sensors on the prosthetic hand control stimulation to electrodes around the nerves in the remaining portion of the amputated limb, which cause the nerves to transmit impulses to the brain that are interpreted as tactile perceptions on the missing hand directly related to touch on the prosthesis. Similar touch technology is being developed for lower-limb prostheses.</a:t>
            </a:r>
            <a:endParaRPr lang="en-US" sz="1200" dirty="0"/>
          </a:p>
        </p:txBody>
      </p:sp>
      <p:sp>
        <p:nvSpPr>
          <p:cNvPr id="4" name="Slide Number Placeholder 3">
            <a:extLst>
              <a:ext uri="{FF2B5EF4-FFF2-40B4-BE49-F238E27FC236}">
                <a16:creationId xmlns:a16="http://schemas.microsoft.com/office/drawing/2014/main" id="{02FDFDCE-09E9-EC63-F72E-36A9A5023A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A1A0A5-00C1-426E-8F9A-F64EABEEBF2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36725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C97D9-91D6-8E17-6D7F-CE543FB02A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FD7710-040C-1397-3B69-2C95A3B882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9192EE-7378-50F5-25D4-9BC24F4857C7}"/>
              </a:ext>
            </a:extLst>
          </p:cNvPr>
          <p:cNvSpPr>
            <a:spLocks noGrp="1"/>
          </p:cNvSpPr>
          <p:nvPr>
            <p:ph type="body" idx="1"/>
          </p:nvPr>
        </p:nvSpPr>
        <p:spPr/>
        <p:txBody>
          <a:bodyPr/>
          <a:lstStyle/>
          <a:p>
            <a:pPr algn="l"/>
            <a:r>
              <a:rPr lang="en-US" sz="1800" b="1" i="0" u="none" strike="noStrike" baseline="0" dirty="0">
                <a:latin typeface="TimesNewRomanPS-BoldMT"/>
              </a:rPr>
              <a:t>The identification of 12 gene variants that increase the risk of suicide attempts</a:t>
            </a:r>
            <a:r>
              <a:rPr lang="en-US" sz="1800" b="0" i="0" u="none" strike="noStrike" baseline="0" dirty="0">
                <a:latin typeface="TimesNewRomanPSMT"/>
              </a:rPr>
              <a:t>.</a:t>
            </a:r>
          </a:p>
          <a:p>
            <a:pPr algn="l"/>
            <a:r>
              <a:rPr lang="en-US" sz="1800" b="0" i="0" u="none" strike="noStrike" baseline="0" dirty="0">
                <a:latin typeface="TimesNewRomanPSMT"/>
              </a:rPr>
              <a:t>Resulting from the largest-ever genetic study of suicide, this international effort used data from MVP and the International Suicide Genetics Consortium to analyze the genomes of more than 43,000 people with documented suicide attempts and 915,000 controls without a history of suicidal behavior. The findings showed suicide attempts share genetic risk factors with several other conditions, such as attention deficit hyperactivity disorder, smoking, and risk tolerance, which is associated with engaging in dangerous behavior. The results increase the understanding of the biological causes of suicide and could lead to improved suicide prevention and treatment.</a:t>
            </a:r>
          </a:p>
          <a:p>
            <a:pPr algn="l"/>
            <a:endParaRPr lang="en-US" sz="1800" b="0" i="0" u="none" strike="noStrike" baseline="0" dirty="0">
              <a:latin typeface="TimesNewRomanPSMT"/>
            </a:endParaRPr>
          </a:p>
          <a:p>
            <a:pPr algn="l"/>
            <a:r>
              <a:rPr lang="en-US" sz="1800" b="1" i="0" u="none" strike="noStrike" baseline="0" dirty="0">
                <a:latin typeface="TimesNewRomanPS-BoldMT"/>
              </a:rPr>
              <a:t>An AI algorithm to analyze MRI scans for better diagnosis and classification of rectal cancer</a:t>
            </a:r>
            <a:r>
              <a:rPr lang="en-US" sz="1800" b="0" i="0" u="none" strike="noStrike" baseline="0" dirty="0">
                <a:latin typeface="TimesNewRomanPSMT"/>
              </a:rPr>
              <a:t>.</a:t>
            </a:r>
          </a:p>
          <a:p>
            <a:pPr algn="l"/>
            <a:r>
              <a:rPr lang="en-US" sz="1800" b="0" i="0" u="none" strike="noStrike" baseline="0" dirty="0">
                <a:latin typeface="TimesNewRomanPSMT"/>
              </a:rPr>
              <a:t>The innovation of VA researchers extends to using emerging tools such as artificial intelligence to improve Veterans health and care. This four-year study took advantage of VA’s large data pool to optimize and validate the new algorithm, which could help Veterans with rectal cancer avoid invasive treatments and maintain the best quality of life. Preliminary findings show the new tool can significantly help clinicians determine the best course of treatment for Veterans with colorectal cancer, the third most common type of cancer in military personnel and Veterans.</a:t>
            </a:r>
            <a:endParaRPr lang="en-US" dirty="0"/>
          </a:p>
        </p:txBody>
      </p:sp>
      <p:sp>
        <p:nvSpPr>
          <p:cNvPr id="4" name="Slide Number Placeholder 3">
            <a:extLst>
              <a:ext uri="{FF2B5EF4-FFF2-40B4-BE49-F238E27FC236}">
                <a16:creationId xmlns:a16="http://schemas.microsoft.com/office/drawing/2014/main" id="{D3E83196-1EF5-7658-1D0A-33E3158428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A1A0A5-00C1-426E-8F9A-F64EABEEBF2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85167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objective of the Military Exposure Research Program (MERP) is to improve individual exposure assessments for producing research-grade data, that can go on to inform care, policy, and ongoing research.</a:t>
            </a:r>
          </a:p>
          <a:p>
            <a:endParaRPr lang="en-US" dirty="0"/>
          </a:p>
          <a:p>
            <a:pPr marL="0" indent="0">
              <a:buNone/>
            </a:pPr>
            <a:r>
              <a:rPr lang="en-US" dirty="0"/>
              <a:t>Omics: A Collection of scientific methods that analyze biological molecules, such as DNA, RNA, proteins, and metabolites, and how these molecules interact to create the functions of life.</a:t>
            </a:r>
          </a:p>
        </p:txBody>
      </p:sp>
      <p:sp>
        <p:nvSpPr>
          <p:cNvPr id="4" name="Slide Number Placeholder 3"/>
          <p:cNvSpPr>
            <a:spLocks noGrp="1"/>
          </p:cNvSpPr>
          <p:nvPr>
            <p:ph type="sldNum" sz="quarter" idx="5"/>
          </p:nvPr>
        </p:nvSpPr>
        <p:spPr/>
        <p:txBody>
          <a:bodyPr/>
          <a:lstStyle/>
          <a:p>
            <a:fld id="{E1A1A0A5-00C1-426E-8F9A-F64EABEEBF25}" type="slidenum">
              <a:rPr lang="en-US" smtClean="0"/>
              <a:t>44</a:t>
            </a:fld>
            <a:endParaRPr lang="en-US"/>
          </a:p>
        </p:txBody>
      </p:sp>
    </p:spTree>
    <p:extLst>
      <p:ext uri="{BB962C8B-B14F-4D97-AF65-F5344CB8AC3E}">
        <p14:creationId xmlns:p14="http://schemas.microsoft.com/office/powerpoint/2010/main" val="24541416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TBI continues to be the signature injury of the wars in Iraq and Afghanistan. TBI can lead to lifelong disabilities that vary by severity, the characteristics of the event or events that caused the injury, and the number of traumatic exposures.</a:t>
            </a:r>
          </a:p>
          <a:p>
            <a:endParaRPr lang="en-US" b="1" dirty="0"/>
          </a:p>
        </p:txBody>
      </p:sp>
      <p:sp>
        <p:nvSpPr>
          <p:cNvPr id="4" name="Slide Number Placeholder 3"/>
          <p:cNvSpPr>
            <a:spLocks noGrp="1"/>
          </p:cNvSpPr>
          <p:nvPr>
            <p:ph type="sldNum" sz="quarter" idx="5"/>
          </p:nvPr>
        </p:nvSpPr>
        <p:spPr/>
        <p:txBody>
          <a:bodyPr/>
          <a:lstStyle/>
          <a:p>
            <a:fld id="{E1A1A0A5-00C1-426E-8F9A-F64EABEEBF25}" type="slidenum">
              <a:rPr lang="en-US" smtClean="0"/>
              <a:t>45</a:t>
            </a:fld>
            <a:endParaRPr lang="en-US" dirty="0"/>
          </a:p>
        </p:txBody>
      </p:sp>
    </p:spTree>
    <p:extLst>
      <p:ext uri="{BB962C8B-B14F-4D97-AF65-F5344CB8AC3E}">
        <p14:creationId xmlns:p14="http://schemas.microsoft.com/office/powerpoint/2010/main" val="27227695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VA Cancer Research is an integral part of the president’s Cancer Moonshot initiative, and a key emphasis of our VA Cancer research is precision oncology - which seeks to match the appropriate treatment to the right patient at the right time, based on an understanding of the molecular characteristics of the patients and their cancers.</a:t>
            </a:r>
          </a:p>
          <a:p>
            <a:endParaRPr lang="en-US" b="1" dirty="0"/>
          </a:p>
          <a:p>
            <a:endParaRPr lang="en-US" i="1" dirty="0"/>
          </a:p>
        </p:txBody>
      </p:sp>
      <p:sp>
        <p:nvSpPr>
          <p:cNvPr id="4" name="Slide Number Placeholder 3"/>
          <p:cNvSpPr>
            <a:spLocks noGrp="1"/>
          </p:cNvSpPr>
          <p:nvPr>
            <p:ph type="sldNum" sz="quarter" idx="5"/>
          </p:nvPr>
        </p:nvSpPr>
        <p:spPr/>
        <p:txBody>
          <a:bodyPr/>
          <a:lstStyle/>
          <a:p>
            <a:fld id="{E1A1A0A5-00C1-426E-8F9A-F64EABEEBF25}" type="slidenum">
              <a:rPr lang="en-US" smtClean="0"/>
              <a:t>46</a:t>
            </a:fld>
            <a:endParaRPr lang="en-US"/>
          </a:p>
        </p:txBody>
      </p:sp>
    </p:spTree>
    <p:extLst>
      <p:ext uri="{BB962C8B-B14F-4D97-AF65-F5344CB8AC3E}">
        <p14:creationId xmlns:p14="http://schemas.microsoft.com/office/powerpoint/2010/main" val="39420127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i="0" u="none" strike="noStrike" baseline="0" dirty="0">
                <a:latin typeface="TimesNewRomanPSMT"/>
              </a:rPr>
              <a:t>Preventing suicide is a national public health priority and is critical to the health and well-being of Veterans.</a:t>
            </a:r>
          </a:p>
          <a:p>
            <a:endParaRPr lang="en-US" sz="1800" b="0" i="0" u="none" strike="noStrike" baseline="0" dirty="0">
              <a:latin typeface="TimesNewRomanPSMT"/>
            </a:endParaRPr>
          </a:p>
          <a:p>
            <a:endParaRPr lang="en-US" dirty="0"/>
          </a:p>
        </p:txBody>
      </p:sp>
      <p:sp>
        <p:nvSpPr>
          <p:cNvPr id="4" name="Slide Number Placeholder 3"/>
          <p:cNvSpPr>
            <a:spLocks noGrp="1"/>
          </p:cNvSpPr>
          <p:nvPr>
            <p:ph type="sldNum" sz="quarter" idx="5"/>
          </p:nvPr>
        </p:nvSpPr>
        <p:spPr/>
        <p:txBody>
          <a:bodyPr/>
          <a:lstStyle/>
          <a:p>
            <a:fld id="{E1A1A0A5-00C1-426E-8F9A-F64EABEEBF25}" type="slidenum">
              <a:rPr lang="en-US" smtClean="0"/>
              <a:t>47</a:t>
            </a:fld>
            <a:endParaRPr lang="en-US" dirty="0"/>
          </a:p>
        </p:txBody>
      </p:sp>
    </p:spTree>
    <p:extLst>
      <p:ext uri="{BB962C8B-B14F-4D97-AF65-F5344CB8AC3E}">
        <p14:creationId xmlns:p14="http://schemas.microsoft.com/office/powerpoint/2010/main" val="20530121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Chronic pain is more prevalent and of greater intensity in the Veteran population than in the general population – and it is often accompanied by coexisting mental health disorders and overlapping painful conditions.</a:t>
            </a:r>
          </a:p>
          <a:p>
            <a:endParaRPr lang="en-US" b="1" dirty="0"/>
          </a:p>
        </p:txBody>
      </p:sp>
      <p:sp>
        <p:nvSpPr>
          <p:cNvPr id="4" name="Slide Number Placeholder 3"/>
          <p:cNvSpPr>
            <a:spLocks noGrp="1"/>
          </p:cNvSpPr>
          <p:nvPr>
            <p:ph type="sldNum" sz="quarter" idx="5"/>
          </p:nvPr>
        </p:nvSpPr>
        <p:spPr/>
        <p:txBody>
          <a:bodyPr/>
          <a:lstStyle/>
          <a:p>
            <a:fld id="{E1A1A0A5-00C1-426E-8F9A-F64EABEEBF25}" type="slidenum">
              <a:rPr lang="en-US" smtClean="0"/>
              <a:t>48</a:t>
            </a:fld>
            <a:endParaRPr lang="en-US" dirty="0"/>
          </a:p>
        </p:txBody>
      </p:sp>
    </p:spTree>
    <p:extLst>
      <p:ext uri="{BB962C8B-B14F-4D97-AF65-F5344CB8AC3E}">
        <p14:creationId xmlns:p14="http://schemas.microsoft.com/office/powerpoint/2010/main" val="1626929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F5A5300-319E-9825-418E-9B7FAD841AE7}"/>
              </a:ext>
            </a:extLst>
          </p:cNvPr>
          <p:cNvSpPr/>
          <p:nvPr userDrawn="1"/>
        </p:nvSpPr>
        <p:spPr>
          <a:xfrm>
            <a:off x="0" y="822960"/>
            <a:ext cx="3037840" cy="436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614A5A-F7D6-03A0-0754-8187F6A02232}"/>
              </a:ext>
            </a:extLst>
          </p:cNvPr>
          <p:cNvSpPr>
            <a:spLocks noGrp="1"/>
          </p:cNvSpPr>
          <p:nvPr>
            <p:ph type="title"/>
          </p:nvPr>
        </p:nvSpPr>
        <p:spPr>
          <a:xfrm>
            <a:off x="831850" y="385602"/>
            <a:ext cx="10515600" cy="2852737"/>
          </a:xfrm>
        </p:spPr>
        <p:txBody>
          <a:bodyPr anchor="b"/>
          <a:lstStyle>
            <a:lvl1pPr>
              <a:defRPr sz="6000">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DDB93056-7A0B-D015-72D5-C92DCABBF050}"/>
              </a:ext>
            </a:extLst>
          </p:cNvPr>
          <p:cNvSpPr>
            <a:spLocks noGrp="1"/>
          </p:cNvSpPr>
          <p:nvPr>
            <p:ph type="body" idx="1"/>
          </p:nvPr>
        </p:nvSpPr>
        <p:spPr>
          <a:xfrm>
            <a:off x="874714" y="3470043"/>
            <a:ext cx="10515600" cy="1500187"/>
          </a:xfrm>
        </p:spPr>
        <p:txBody>
          <a:bodyPr/>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Tree>
    <p:extLst>
      <p:ext uri="{BB962C8B-B14F-4D97-AF65-F5344CB8AC3E}">
        <p14:creationId xmlns:p14="http://schemas.microsoft.com/office/powerpoint/2010/main" val="2985778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4149F2D5-DD87-DCE3-139E-8EEBAC52DC5E}"/>
              </a:ext>
            </a:extLst>
          </p:cNvPr>
          <p:cNvSpPr>
            <a:spLocks noGrp="1"/>
          </p:cNvSpPr>
          <p:nvPr>
            <p:ph idx="1"/>
          </p:nvPr>
        </p:nvSpPr>
        <p:spPr>
          <a:xfrm>
            <a:off x="731519" y="1317243"/>
            <a:ext cx="11016195" cy="5161050"/>
          </a:xfrm>
          <a:prstGeom prst="rect">
            <a:avLst/>
          </a:prstGeom>
        </p:spPr>
        <p:txBody>
          <a:bodyPr vert="horz" lIns="91440" tIns="45720" rIns="91440" bIns="45720" rtlCol="0">
            <a:noAutofit/>
          </a:bodyPr>
          <a:lstStyle>
            <a:lvl1pPr>
              <a:lnSpc>
                <a:spcPct val="110000"/>
              </a:lnSpc>
              <a:spcAft>
                <a:spcPts val="600"/>
              </a:spcAft>
              <a:defRPr sz="2600"/>
            </a:lvl1pPr>
            <a:lvl2pPr>
              <a:lnSpc>
                <a:spcPct val="110000"/>
              </a:lnSpc>
              <a:spcAft>
                <a:spcPts val="600"/>
              </a:spcAft>
              <a:defRPr sz="2200"/>
            </a:lvl2pPr>
            <a:lvl3pPr>
              <a:lnSpc>
                <a:spcPct val="110000"/>
              </a:lnSpc>
              <a:spcAft>
                <a:spcPts val="400"/>
              </a:spcAft>
              <a:defRPr sz="1800"/>
            </a:lvl3pPr>
            <a:lvl4pPr>
              <a:lnSpc>
                <a:spcPct val="110000"/>
              </a:lnSpc>
              <a:spcAft>
                <a:spcPts val="400"/>
              </a:spcAft>
              <a:defRPr/>
            </a:lvl4pPr>
            <a:lvl5pPr>
              <a:lnSpc>
                <a:spcPct val="110000"/>
              </a:lnSpc>
              <a:spcAft>
                <a:spcPts val="4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1">
            <a:extLst>
              <a:ext uri="{FF2B5EF4-FFF2-40B4-BE49-F238E27FC236}">
                <a16:creationId xmlns:a16="http://schemas.microsoft.com/office/drawing/2014/main" id="{22396431-3641-2097-8BBE-778A6F21BA89}"/>
              </a:ext>
            </a:extLst>
          </p:cNvPr>
          <p:cNvSpPr>
            <a:spLocks noGrp="1"/>
          </p:cNvSpPr>
          <p:nvPr>
            <p:ph type="title"/>
          </p:nvPr>
        </p:nvSpPr>
        <p:spPr>
          <a:xfrm>
            <a:off x="224413" y="-77490"/>
            <a:ext cx="10515600" cy="1094265"/>
          </a:xfrm>
          <a:prstGeom prst="rect">
            <a:avLst/>
          </a:prstGeom>
        </p:spPr>
        <p:txBody>
          <a:bodyPr vert="horz" lIns="91440" tIns="45720" rIns="91440" bIns="45720" rtlCol="0" anchor="ctr">
            <a:normAutofit/>
          </a:bodyPr>
          <a:lstStyle/>
          <a:p>
            <a:r>
              <a:rPr lang="en-US" dirty="0"/>
              <a:t>Click to edit Master title style</a:t>
            </a:r>
          </a:p>
        </p:txBody>
      </p:sp>
      <p:sp>
        <p:nvSpPr>
          <p:cNvPr id="2" name="Slide Number Placeholder 3">
            <a:extLst>
              <a:ext uri="{FF2B5EF4-FFF2-40B4-BE49-F238E27FC236}">
                <a16:creationId xmlns:a16="http://schemas.microsoft.com/office/drawing/2014/main" id="{9EE06D42-FB0E-0E04-CCC9-30AF723DD4A0}"/>
              </a:ext>
            </a:extLst>
          </p:cNvPr>
          <p:cNvSpPr>
            <a:spLocks noGrp="1"/>
          </p:cNvSpPr>
          <p:nvPr>
            <p:ph type="sldNum" sz="quarter" idx="4"/>
          </p:nvPr>
        </p:nvSpPr>
        <p:spPr>
          <a:xfrm>
            <a:off x="9250680" y="6356350"/>
            <a:ext cx="2743200" cy="365125"/>
          </a:xfrm>
          <a:prstGeom prst="rect">
            <a:avLst/>
          </a:prstGeom>
        </p:spPr>
        <p:txBody>
          <a:bodyPr vert="horz" lIns="91440" tIns="45720" rIns="91440" bIns="45720" rtlCol="0" anchor="ctr"/>
          <a:lstStyle>
            <a:lvl1pPr algn="r">
              <a:defRPr sz="1000" b="1">
                <a:solidFill>
                  <a:schemeClr val="tx2"/>
                </a:solidFill>
              </a:defRPr>
            </a:lvl1pPr>
          </a:lstStyle>
          <a:p>
            <a:fld id="{21672522-718F-5A4A-A967-5C1A35706813}" type="slidenum">
              <a:rPr lang="en-US" smtClean="0"/>
              <a:pPr/>
              <a:t>‹#›</a:t>
            </a:fld>
            <a:endParaRPr lang="en-US"/>
          </a:p>
        </p:txBody>
      </p:sp>
    </p:spTree>
    <p:extLst>
      <p:ext uri="{BB962C8B-B14F-4D97-AF65-F5344CB8AC3E}">
        <p14:creationId xmlns:p14="http://schemas.microsoft.com/office/powerpoint/2010/main" val="1734391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7_Title and Conten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4149F2D5-DD87-DCE3-139E-8EEBAC52DC5E}"/>
              </a:ext>
            </a:extLst>
          </p:cNvPr>
          <p:cNvSpPr>
            <a:spLocks noGrp="1"/>
          </p:cNvSpPr>
          <p:nvPr>
            <p:ph idx="1"/>
          </p:nvPr>
        </p:nvSpPr>
        <p:spPr>
          <a:xfrm>
            <a:off x="731519" y="1317243"/>
            <a:ext cx="11016195" cy="5161050"/>
          </a:xfrm>
          <a:prstGeom prst="rect">
            <a:avLst/>
          </a:prstGeom>
        </p:spPr>
        <p:txBody>
          <a:bodyPr vert="horz" lIns="91440" tIns="45720" rIns="91440" bIns="45720" rtlCol="0">
            <a:noAutofit/>
          </a:bodyPr>
          <a:lstStyle>
            <a:lvl1pPr>
              <a:lnSpc>
                <a:spcPct val="110000"/>
              </a:lnSpc>
              <a:spcAft>
                <a:spcPts val="600"/>
              </a:spcAft>
              <a:defRPr sz="2600"/>
            </a:lvl1pPr>
            <a:lvl2pPr>
              <a:lnSpc>
                <a:spcPct val="110000"/>
              </a:lnSpc>
              <a:spcAft>
                <a:spcPts val="600"/>
              </a:spcAft>
              <a:defRPr sz="2200"/>
            </a:lvl2pPr>
            <a:lvl3pPr>
              <a:lnSpc>
                <a:spcPct val="110000"/>
              </a:lnSpc>
              <a:spcAft>
                <a:spcPts val="400"/>
              </a:spcAft>
              <a:defRPr sz="1800"/>
            </a:lvl3pPr>
            <a:lvl4pPr>
              <a:lnSpc>
                <a:spcPct val="110000"/>
              </a:lnSpc>
              <a:spcAft>
                <a:spcPts val="400"/>
              </a:spcAft>
              <a:defRPr/>
            </a:lvl4pPr>
            <a:lvl5pPr>
              <a:lnSpc>
                <a:spcPct val="110000"/>
              </a:lnSpc>
              <a:spcAft>
                <a:spcPts val="4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1">
            <a:extLst>
              <a:ext uri="{FF2B5EF4-FFF2-40B4-BE49-F238E27FC236}">
                <a16:creationId xmlns:a16="http://schemas.microsoft.com/office/drawing/2014/main" id="{22396431-3641-2097-8BBE-778A6F21BA89}"/>
              </a:ext>
            </a:extLst>
          </p:cNvPr>
          <p:cNvSpPr>
            <a:spLocks noGrp="1"/>
          </p:cNvSpPr>
          <p:nvPr>
            <p:ph type="title"/>
          </p:nvPr>
        </p:nvSpPr>
        <p:spPr>
          <a:xfrm>
            <a:off x="224413" y="-77490"/>
            <a:ext cx="10515600" cy="1094265"/>
          </a:xfrm>
          <a:prstGeom prst="rect">
            <a:avLst/>
          </a:prstGeom>
        </p:spPr>
        <p:txBody>
          <a:bodyPr vert="horz" lIns="91440" tIns="45720" rIns="91440" bIns="45720" rtlCol="0" anchor="ctr">
            <a:normAutofit/>
          </a:bodyPr>
          <a:lstStyle/>
          <a:p>
            <a:r>
              <a:rPr lang="en-US" dirty="0"/>
              <a:t>Click to edit Master title style</a:t>
            </a:r>
          </a:p>
        </p:txBody>
      </p:sp>
      <p:sp>
        <p:nvSpPr>
          <p:cNvPr id="2" name="Slide Number Placeholder 3">
            <a:extLst>
              <a:ext uri="{FF2B5EF4-FFF2-40B4-BE49-F238E27FC236}">
                <a16:creationId xmlns:a16="http://schemas.microsoft.com/office/drawing/2014/main" id="{9EE06D42-FB0E-0E04-CCC9-30AF723DD4A0}"/>
              </a:ext>
            </a:extLst>
          </p:cNvPr>
          <p:cNvSpPr>
            <a:spLocks noGrp="1"/>
          </p:cNvSpPr>
          <p:nvPr>
            <p:ph type="sldNum" sz="quarter" idx="4"/>
          </p:nvPr>
        </p:nvSpPr>
        <p:spPr>
          <a:xfrm>
            <a:off x="9372600" y="0"/>
            <a:ext cx="2743200" cy="365125"/>
          </a:xfrm>
          <a:prstGeom prst="rect">
            <a:avLst/>
          </a:prstGeom>
        </p:spPr>
        <p:txBody>
          <a:bodyPr vert="horz" lIns="91440" tIns="45720" rIns="91440" bIns="45720" rtlCol="0" anchor="ctr"/>
          <a:lstStyle>
            <a:lvl1pPr algn="r">
              <a:defRPr sz="1000" b="1">
                <a:solidFill>
                  <a:schemeClr val="tx2"/>
                </a:solidFill>
              </a:defRPr>
            </a:lvl1pPr>
          </a:lstStyle>
          <a:p>
            <a:fld id="{21672522-718F-5A4A-A967-5C1A35706813}" type="slidenum">
              <a:rPr lang="en-US" smtClean="0"/>
              <a:pPr/>
              <a:t>‹#›</a:t>
            </a:fld>
            <a:endParaRPr lang="en-US"/>
          </a:p>
        </p:txBody>
      </p:sp>
      <p:pic>
        <p:nvPicPr>
          <p:cNvPr id="3" name="Picture 2">
            <a:extLst>
              <a:ext uri="{FF2B5EF4-FFF2-40B4-BE49-F238E27FC236}">
                <a16:creationId xmlns:a16="http://schemas.microsoft.com/office/drawing/2014/main" id="{73626E9F-45A1-CE1F-FC5D-3F5B4DABD391}"/>
              </a:ext>
            </a:extLst>
          </p:cNvPr>
          <p:cNvPicPr>
            <a:picLocks noChangeAspect="1"/>
          </p:cNvPicPr>
          <p:nvPr userDrawn="1"/>
        </p:nvPicPr>
        <p:blipFill>
          <a:blip r:embed="rId2"/>
          <a:srcRect/>
          <a:stretch/>
        </p:blipFill>
        <p:spPr>
          <a:xfrm>
            <a:off x="36576" y="6117847"/>
            <a:ext cx="2261787" cy="620883"/>
          </a:xfrm>
          <a:prstGeom prst="rect">
            <a:avLst/>
          </a:prstGeom>
        </p:spPr>
      </p:pic>
      <p:pic>
        <p:nvPicPr>
          <p:cNvPr id="4" name="Picture 3" descr="A logo with text on it&#10;&#10;Description automatically generated with medium confidence">
            <a:extLst>
              <a:ext uri="{FF2B5EF4-FFF2-40B4-BE49-F238E27FC236}">
                <a16:creationId xmlns:a16="http://schemas.microsoft.com/office/drawing/2014/main" id="{6BB67E25-09B0-A90D-DCCC-6CC8B6AAE107}"/>
              </a:ext>
            </a:extLst>
          </p:cNvPr>
          <p:cNvPicPr>
            <a:picLocks noChangeAspect="1"/>
          </p:cNvPicPr>
          <p:nvPr userDrawn="1"/>
        </p:nvPicPr>
        <p:blipFill>
          <a:blip r:embed="rId3"/>
          <a:stretch>
            <a:fillRect/>
          </a:stretch>
        </p:blipFill>
        <p:spPr>
          <a:xfrm>
            <a:off x="10103719" y="5912836"/>
            <a:ext cx="2037393" cy="761341"/>
          </a:xfrm>
          <a:prstGeom prst="rect">
            <a:avLst/>
          </a:prstGeom>
        </p:spPr>
      </p:pic>
      <p:sp>
        <p:nvSpPr>
          <p:cNvPr id="5" name="Rectangle 4">
            <a:extLst>
              <a:ext uri="{FF2B5EF4-FFF2-40B4-BE49-F238E27FC236}">
                <a16:creationId xmlns:a16="http://schemas.microsoft.com/office/drawing/2014/main" id="{E284A1CE-2890-CCC7-0F40-D97E21BFCB73}"/>
              </a:ext>
              <a:ext uri="{C183D7F6-B498-43B3-948B-1728B52AA6E4}">
                <adec:decorative xmlns:adec="http://schemas.microsoft.com/office/drawing/2017/decorative" val="1"/>
              </a:ext>
            </a:extLst>
          </p:cNvPr>
          <p:cNvSpPr/>
          <p:nvPr userDrawn="1"/>
        </p:nvSpPr>
        <p:spPr>
          <a:xfrm>
            <a:off x="0" y="6731044"/>
            <a:ext cx="12192000" cy="139148"/>
          </a:xfrm>
          <a:prstGeom prst="rect">
            <a:avLst/>
          </a:prstGeom>
          <a:gradFill flip="none" rotWithShape="1">
            <a:gsLst>
              <a:gs pos="30000">
                <a:schemeClr val="accent4">
                  <a:lumMod val="75000"/>
                </a:schemeClr>
              </a:gs>
              <a:gs pos="0">
                <a:schemeClr val="accent3">
                  <a:lumMod val="75000"/>
                </a:schemeClr>
              </a:gs>
              <a:gs pos="66000">
                <a:schemeClr val="accent1"/>
              </a:gs>
            </a:gsLst>
            <a:lin ang="138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Tree>
    <p:extLst>
      <p:ext uri="{BB962C8B-B14F-4D97-AF65-F5344CB8AC3E}">
        <p14:creationId xmlns:p14="http://schemas.microsoft.com/office/powerpoint/2010/main" val="3026787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1D059FF0-8F0F-E63B-72B4-45EEBC7EE0B7}"/>
              </a:ext>
            </a:extLst>
          </p:cNvPr>
          <p:cNvSpPr>
            <a:spLocks noGrp="1"/>
          </p:cNvSpPr>
          <p:nvPr>
            <p:ph idx="10"/>
          </p:nvPr>
        </p:nvSpPr>
        <p:spPr>
          <a:xfrm>
            <a:off x="687977" y="1404329"/>
            <a:ext cx="5255624" cy="5161050"/>
          </a:xfrm>
          <a:prstGeom prst="rect">
            <a:avLst/>
          </a:prstGeom>
        </p:spPr>
        <p:txBody>
          <a:bodyPr vert="horz" lIns="91440" tIns="45720" rIns="91440" bIns="45720" rtlCol="0">
            <a:noAutofit/>
          </a:bodyPr>
          <a:lstStyle>
            <a:lvl1pPr>
              <a:lnSpc>
                <a:spcPct val="110000"/>
              </a:lnSpc>
              <a:spcAft>
                <a:spcPts val="600"/>
              </a:spcAft>
              <a:defRPr sz="2600"/>
            </a:lvl1pPr>
            <a:lvl2pPr>
              <a:lnSpc>
                <a:spcPct val="110000"/>
              </a:lnSpc>
              <a:spcAft>
                <a:spcPts val="600"/>
              </a:spcAft>
              <a:defRPr sz="2200"/>
            </a:lvl2pPr>
            <a:lvl3pPr>
              <a:lnSpc>
                <a:spcPct val="110000"/>
              </a:lnSpc>
              <a:spcAft>
                <a:spcPts val="400"/>
              </a:spcAft>
              <a:defRPr sz="1800"/>
            </a:lvl3pPr>
            <a:lvl4pPr>
              <a:lnSpc>
                <a:spcPct val="110000"/>
              </a:lnSpc>
              <a:spcAft>
                <a:spcPts val="400"/>
              </a:spcAft>
              <a:defRPr/>
            </a:lvl4pPr>
            <a:lvl5pPr>
              <a:lnSpc>
                <a:spcPct val="110000"/>
              </a:lnSpc>
              <a:spcAft>
                <a:spcPts val="4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a:extLst>
              <a:ext uri="{FF2B5EF4-FFF2-40B4-BE49-F238E27FC236}">
                <a16:creationId xmlns:a16="http://schemas.microsoft.com/office/drawing/2014/main" id="{5D865150-A635-907E-F343-88DA70D63AD8}"/>
              </a:ext>
            </a:extLst>
          </p:cNvPr>
          <p:cNvSpPr>
            <a:spLocks noGrp="1"/>
          </p:cNvSpPr>
          <p:nvPr>
            <p:ph idx="11"/>
          </p:nvPr>
        </p:nvSpPr>
        <p:spPr>
          <a:xfrm>
            <a:off x="6172200" y="1404329"/>
            <a:ext cx="5255624" cy="5161050"/>
          </a:xfrm>
          <a:prstGeom prst="rect">
            <a:avLst/>
          </a:prstGeom>
        </p:spPr>
        <p:txBody>
          <a:bodyPr vert="horz" lIns="91440" tIns="45720" rIns="91440" bIns="45720" rtlCol="0">
            <a:noAutofit/>
          </a:bodyPr>
          <a:lstStyle>
            <a:lvl1pPr>
              <a:lnSpc>
                <a:spcPct val="110000"/>
              </a:lnSpc>
              <a:spcAft>
                <a:spcPts val="600"/>
              </a:spcAft>
              <a:defRPr sz="2600"/>
            </a:lvl1pPr>
            <a:lvl2pPr>
              <a:lnSpc>
                <a:spcPct val="110000"/>
              </a:lnSpc>
              <a:spcAft>
                <a:spcPts val="600"/>
              </a:spcAft>
              <a:defRPr sz="2200"/>
            </a:lvl2pPr>
            <a:lvl3pPr>
              <a:lnSpc>
                <a:spcPct val="110000"/>
              </a:lnSpc>
              <a:spcAft>
                <a:spcPts val="400"/>
              </a:spcAft>
              <a:defRPr sz="1800"/>
            </a:lvl3pPr>
            <a:lvl4pPr>
              <a:lnSpc>
                <a:spcPct val="110000"/>
              </a:lnSpc>
              <a:spcAft>
                <a:spcPts val="400"/>
              </a:spcAft>
              <a:defRPr/>
            </a:lvl4pPr>
            <a:lvl5pPr>
              <a:lnSpc>
                <a:spcPct val="110000"/>
              </a:lnSpc>
              <a:spcAft>
                <a:spcPts val="4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22A00255-C76B-8B1A-F7BE-50F3F1934F81}"/>
              </a:ext>
            </a:extLst>
          </p:cNvPr>
          <p:cNvSpPr>
            <a:spLocks noGrp="1"/>
          </p:cNvSpPr>
          <p:nvPr>
            <p:ph type="title"/>
          </p:nvPr>
        </p:nvSpPr>
        <p:spPr>
          <a:xfrm>
            <a:off x="224413" y="-77490"/>
            <a:ext cx="10515600" cy="1094265"/>
          </a:xfrm>
          <a:prstGeom prst="rect">
            <a:avLst/>
          </a:prstGeom>
        </p:spPr>
        <p:txBody>
          <a:bodyPr vert="horz" lIns="91440" tIns="45720" rIns="91440" bIns="45720" rtlCol="0" anchor="ctr">
            <a:normAutofit/>
          </a:bodyPr>
          <a:lstStyle/>
          <a:p>
            <a:r>
              <a:rPr lang="en-US" dirty="0"/>
              <a:t>Click to edit Master title style</a:t>
            </a:r>
          </a:p>
        </p:txBody>
      </p:sp>
      <p:sp>
        <p:nvSpPr>
          <p:cNvPr id="3" name="Slide Number Placeholder 3">
            <a:extLst>
              <a:ext uri="{FF2B5EF4-FFF2-40B4-BE49-F238E27FC236}">
                <a16:creationId xmlns:a16="http://schemas.microsoft.com/office/drawing/2014/main" id="{982210F5-2020-4709-1014-DA37520D541F}"/>
              </a:ext>
            </a:extLst>
          </p:cNvPr>
          <p:cNvSpPr>
            <a:spLocks noGrp="1"/>
          </p:cNvSpPr>
          <p:nvPr>
            <p:ph type="sldNum" sz="quarter" idx="4"/>
          </p:nvPr>
        </p:nvSpPr>
        <p:spPr>
          <a:xfrm>
            <a:off x="9250680" y="6356350"/>
            <a:ext cx="2743200" cy="365125"/>
          </a:xfrm>
          <a:prstGeom prst="rect">
            <a:avLst/>
          </a:prstGeom>
        </p:spPr>
        <p:txBody>
          <a:bodyPr vert="horz" lIns="91440" tIns="45720" rIns="91440" bIns="45720" rtlCol="0" anchor="ctr"/>
          <a:lstStyle>
            <a:lvl1pPr algn="r">
              <a:defRPr sz="1000" b="1">
                <a:solidFill>
                  <a:schemeClr val="tx2"/>
                </a:solidFill>
              </a:defRPr>
            </a:lvl1pPr>
          </a:lstStyle>
          <a:p>
            <a:fld id="{21672522-718F-5A4A-A967-5C1A35706813}" type="slidenum">
              <a:rPr lang="en-US" smtClean="0"/>
              <a:pPr/>
              <a:t>‹#›</a:t>
            </a:fld>
            <a:endParaRPr lang="en-US"/>
          </a:p>
        </p:txBody>
      </p:sp>
    </p:spTree>
    <p:extLst>
      <p:ext uri="{BB962C8B-B14F-4D97-AF65-F5344CB8AC3E}">
        <p14:creationId xmlns:p14="http://schemas.microsoft.com/office/powerpoint/2010/main" val="2476214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Two subheadings and Content">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D783BE3B-D163-FB26-10BA-AF94C7094C90}"/>
              </a:ext>
            </a:extLst>
          </p:cNvPr>
          <p:cNvSpPr>
            <a:spLocks noGrp="1"/>
          </p:cNvSpPr>
          <p:nvPr>
            <p:ph idx="15"/>
          </p:nvPr>
        </p:nvSpPr>
        <p:spPr>
          <a:xfrm>
            <a:off x="840378" y="4452256"/>
            <a:ext cx="10633166" cy="1992086"/>
          </a:xfrm>
          <a:prstGeom prst="rect">
            <a:avLst/>
          </a:prstGeom>
        </p:spPr>
        <p:txBody>
          <a:bodyPr vert="horz" lIns="91440" tIns="45720" rIns="91440" bIns="45720" rtlCol="0">
            <a:noAutofit/>
          </a:bodyPr>
          <a:lstStyle>
            <a:lvl1pPr>
              <a:lnSpc>
                <a:spcPct val="110000"/>
              </a:lnSpc>
              <a:spcAft>
                <a:spcPts val="600"/>
              </a:spcAft>
              <a:defRPr sz="2600"/>
            </a:lvl1pPr>
            <a:lvl2pPr>
              <a:lnSpc>
                <a:spcPct val="110000"/>
              </a:lnSpc>
              <a:spcAft>
                <a:spcPts val="600"/>
              </a:spcAft>
              <a:defRPr sz="2200"/>
            </a:lvl2pPr>
            <a:lvl3pPr>
              <a:lnSpc>
                <a:spcPct val="110000"/>
              </a:lnSpc>
              <a:spcAft>
                <a:spcPts val="400"/>
              </a:spcAft>
              <a:defRPr sz="1800"/>
            </a:lvl3pPr>
            <a:lvl4pPr>
              <a:lnSpc>
                <a:spcPct val="110000"/>
              </a:lnSpc>
              <a:spcAft>
                <a:spcPts val="400"/>
              </a:spcAft>
              <a:defRPr/>
            </a:lvl4pPr>
            <a:lvl5pPr>
              <a:lnSpc>
                <a:spcPct val="110000"/>
              </a:lnSpc>
              <a:spcAft>
                <a:spcPts val="400"/>
              </a:spcAft>
              <a:defRPr/>
            </a:lvl5pPr>
          </a:lstStyle>
          <a:p>
            <a:pPr lvl="0"/>
            <a:r>
              <a:rPr lang="en-US" dirty="0"/>
              <a:t>Click to edit Master text styles</a:t>
            </a:r>
          </a:p>
          <a:p>
            <a:pPr lvl="1"/>
            <a:r>
              <a:rPr lang="en-US" dirty="0"/>
              <a:t>Second level</a:t>
            </a:r>
          </a:p>
          <a:p>
            <a:pPr lvl="2"/>
            <a:r>
              <a:rPr lang="en-US" dirty="0"/>
              <a:t>Third level</a:t>
            </a:r>
          </a:p>
        </p:txBody>
      </p:sp>
      <p:sp>
        <p:nvSpPr>
          <p:cNvPr id="3" name="Text Placeholder 2">
            <a:extLst>
              <a:ext uri="{FF2B5EF4-FFF2-40B4-BE49-F238E27FC236}">
                <a16:creationId xmlns:a16="http://schemas.microsoft.com/office/drawing/2014/main" id="{8429AC29-B123-293D-D88F-B764CC33ECB9}"/>
              </a:ext>
            </a:extLst>
          </p:cNvPr>
          <p:cNvSpPr>
            <a:spLocks noGrp="1"/>
          </p:cNvSpPr>
          <p:nvPr>
            <p:ph idx="14"/>
          </p:nvPr>
        </p:nvSpPr>
        <p:spPr>
          <a:xfrm>
            <a:off x="840378" y="1696950"/>
            <a:ext cx="10633166" cy="1992086"/>
          </a:xfrm>
          <a:prstGeom prst="rect">
            <a:avLst/>
          </a:prstGeom>
        </p:spPr>
        <p:txBody>
          <a:bodyPr vert="horz" lIns="91440" tIns="45720" rIns="91440" bIns="45720" rtlCol="0">
            <a:noAutofit/>
          </a:bodyPr>
          <a:lstStyle>
            <a:lvl1pPr>
              <a:lnSpc>
                <a:spcPct val="110000"/>
              </a:lnSpc>
              <a:spcAft>
                <a:spcPts val="600"/>
              </a:spcAft>
              <a:defRPr sz="2600"/>
            </a:lvl1pPr>
            <a:lvl2pPr>
              <a:lnSpc>
                <a:spcPct val="110000"/>
              </a:lnSpc>
              <a:spcAft>
                <a:spcPts val="600"/>
              </a:spcAft>
              <a:defRPr sz="2200"/>
            </a:lvl2pPr>
            <a:lvl3pPr>
              <a:lnSpc>
                <a:spcPct val="110000"/>
              </a:lnSpc>
              <a:spcAft>
                <a:spcPts val="400"/>
              </a:spcAft>
              <a:defRPr sz="1800"/>
            </a:lvl3pPr>
            <a:lvl4pPr>
              <a:lnSpc>
                <a:spcPct val="110000"/>
              </a:lnSpc>
              <a:spcAft>
                <a:spcPts val="400"/>
              </a:spcAft>
              <a:defRPr/>
            </a:lvl4pPr>
            <a:lvl5pPr>
              <a:lnSpc>
                <a:spcPct val="110000"/>
              </a:lnSpc>
              <a:spcAft>
                <a:spcPts val="400"/>
              </a:spcAft>
              <a:defRPr/>
            </a:lvl5pPr>
          </a:lstStyle>
          <a:p>
            <a:pPr lvl="0"/>
            <a:r>
              <a:rPr lang="en-US" dirty="0"/>
              <a:t>Click to edit Master text styles</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D126D2C3-64E2-7440-99AC-F8DC77F0E964}"/>
              </a:ext>
            </a:extLst>
          </p:cNvPr>
          <p:cNvSpPr>
            <a:spLocks noGrp="1"/>
          </p:cNvSpPr>
          <p:nvPr>
            <p:ph type="body" idx="1" hasCustomPrompt="1"/>
          </p:nvPr>
        </p:nvSpPr>
        <p:spPr>
          <a:xfrm>
            <a:off x="839789" y="1212086"/>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8" name="Text Placeholder 2">
            <a:extLst>
              <a:ext uri="{FF2B5EF4-FFF2-40B4-BE49-F238E27FC236}">
                <a16:creationId xmlns:a16="http://schemas.microsoft.com/office/drawing/2014/main" id="{902669C5-C031-0949-BCEF-538915E07FD2}"/>
              </a:ext>
            </a:extLst>
          </p:cNvPr>
          <p:cNvSpPr>
            <a:spLocks noGrp="1"/>
          </p:cNvSpPr>
          <p:nvPr>
            <p:ph type="body" idx="12" hasCustomPrompt="1"/>
          </p:nvPr>
        </p:nvSpPr>
        <p:spPr>
          <a:xfrm>
            <a:off x="839789" y="3990910"/>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2" name="Title Placeholder 1">
            <a:extLst>
              <a:ext uri="{FF2B5EF4-FFF2-40B4-BE49-F238E27FC236}">
                <a16:creationId xmlns:a16="http://schemas.microsoft.com/office/drawing/2014/main" id="{707CBB39-452E-1531-93E2-0152FA946FA5}"/>
              </a:ext>
            </a:extLst>
          </p:cNvPr>
          <p:cNvSpPr>
            <a:spLocks noGrp="1"/>
          </p:cNvSpPr>
          <p:nvPr>
            <p:ph type="title"/>
          </p:nvPr>
        </p:nvSpPr>
        <p:spPr>
          <a:xfrm>
            <a:off x="224413" y="-77490"/>
            <a:ext cx="10515600" cy="1094265"/>
          </a:xfrm>
          <a:prstGeom prst="rect">
            <a:avLst/>
          </a:prstGeom>
        </p:spPr>
        <p:txBody>
          <a:bodyPr vert="horz" lIns="91440" tIns="45720" rIns="91440" bIns="45720" rtlCol="0" anchor="ctr">
            <a:normAutofit/>
          </a:bodyPr>
          <a:lstStyle/>
          <a:p>
            <a:r>
              <a:rPr lang="en-US" dirty="0"/>
              <a:t>Click to edit Master title style</a:t>
            </a:r>
          </a:p>
        </p:txBody>
      </p:sp>
      <p:sp>
        <p:nvSpPr>
          <p:cNvPr id="5" name="Slide Number Placeholder 3">
            <a:extLst>
              <a:ext uri="{FF2B5EF4-FFF2-40B4-BE49-F238E27FC236}">
                <a16:creationId xmlns:a16="http://schemas.microsoft.com/office/drawing/2014/main" id="{E981C91D-B9FC-D1C3-D0F5-9F3C05FA4945}"/>
              </a:ext>
            </a:extLst>
          </p:cNvPr>
          <p:cNvSpPr>
            <a:spLocks noGrp="1"/>
          </p:cNvSpPr>
          <p:nvPr>
            <p:ph type="sldNum" sz="quarter" idx="4"/>
          </p:nvPr>
        </p:nvSpPr>
        <p:spPr>
          <a:xfrm>
            <a:off x="9250680" y="6356350"/>
            <a:ext cx="2743200" cy="365125"/>
          </a:xfrm>
          <a:prstGeom prst="rect">
            <a:avLst/>
          </a:prstGeom>
        </p:spPr>
        <p:txBody>
          <a:bodyPr vert="horz" lIns="91440" tIns="45720" rIns="91440" bIns="45720" rtlCol="0" anchor="ctr"/>
          <a:lstStyle>
            <a:lvl1pPr algn="r">
              <a:defRPr sz="1000" b="1">
                <a:solidFill>
                  <a:schemeClr val="tx2"/>
                </a:solidFill>
              </a:defRPr>
            </a:lvl1pPr>
          </a:lstStyle>
          <a:p>
            <a:fld id="{21672522-718F-5A4A-A967-5C1A35706813}" type="slidenum">
              <a:rPr lang="en-US" smtClean="0"/>
              <a:pPr/>
              <a:t>‹#›</a:t>
            </a:fld>
            <a:endParaRPr lang="en-US"/>
          </a:p>
        </p:txBody>
      </p:sp>
    </p:spTree>
    <p:extLst>
      <p:ext uri="{BB962C8B-B14F-4D97-AF65-F5344CB8AC3E}">
        <p14:creationId xmlns:p14="http://schemas.microsoft.com/office/powerpoint/2010/main" val="2332924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CE2B894-F2D6-D23B-4BF0-9080D6830B5E}"/>
              </a:ext>
            </a:extLst>
          </p:cNvPr>
          <p:cNvSpPr/>
          <p:nvPr userDrawn="1"/>
        </p:nvSpPr>
        <p:spPr>
          <a:xfrm>
            <a:off x="0" y="0"/>
            <a:ext cx="870712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087EA464-D39A-16CD-693B-56AF58A99A1D}"/>
              </a:ext>
            </a:extLst>
          </p:cNvPr>
          <p:cNvSpPr>
            <a:spLocks noGrp="1"/>
          </p:cNvSpPr>
          <p:nvPr>
            <p:ph type="pic" sz="quarter" idx="11" hasCustomPrompt="1"/>
          </p:nvPr>
        </p:nvSpPr>
        <p:spPr>
          <a:xfrm>
            <a:off x="8708571" y="0"/>
            <a:ext cx="3492102" cy="6858000"/>
          </a:xfrm>
          <a:solidFill>
            <a:schemeClr val="bg2"/>
          </a:solidFill>
        </p:spPr>
        <p:txBody>
          <a:bodyPr lIns="182880" tIns="274320" rIns="182880"/>
          <a:lstStyle>
            <a:lvl1pPr marL="0" indent="0" algn="ctr">
              <a:buFontTx/>
              <a:buNone/>
              <a:defRPr sz="1600">
                <a:solidFill>
                  <a:schemeClr val="tx2"/>
                </a:solidFill>
              </a:defRPr>
            </a:lvl1pPr>
          </a:lstStyle>
          <a:p>
            <a:r>
              <a:rPr lang="en-US" dirty="0"/>
              <a:t>This shape is an image placeholder. If you have your own image you would like to place, click the icon and it will bring up your files. If you would like to use a  stock image from PowerPoint, go to “Insert” &gt; “Pictures” &gt; “Stock Images”. Whatever image you select and insert will automatically go into the placeholder.</a:t>
            </a:r>
          </a:p>
        </p:txBody>
      </p:sp>
      <p:sp>
        <p:nvSpPr>
          <p:cNvPr id="2" name="Title Placeholder 1">
            <a:extLst>
              <a:ext uri="{FF2B5EF4-FFF2-40B4-BE49-F238E27FC236}">
                <a16:creationId xmlns:a16="http://schemas.microsoft.com/office/drawing/2014/main" id="{34A9AB33-E7E4-8019-FAF7-2D37D4F0AB61}"/>
              </a:ext>
            </a:extLst>
          </p:cNvPr>
          <p:cNvSpPr>
            <a:spLocks noGrp="1"/>
          </p:cNvSpPr>
          <p:nvPr>
            <p:ph type="title"/>
          </p:nvPr>
        </p:nvSpPr>
        <p:spPr>
          <a:xfrm>
            <a:off x="224413" y="-77490"/>
            <a:ext cx="8505930" cy="1094265"/>
          </a:xfrm>
          <a:prstGeom prst="rect">
            <a:avLst/>
          </a:prstGeom>
        </p:spPr>
        <p:txBody>
          <a:bodyPr vert="horz" lIns="91440" tIns="45720" rIns="91440" bIns="45720" rtlCol="0" anchor="ctr">
            <a:normAutofit/>
          </a:bodyPr>
          <a:lstStyle>
            <a:lvl1pPr>
              <a:defRPr>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3817B04C-4F3C-7DA2-0F70-69995DD593B1}"/>
              </a:ext>
            </a:extLst>
          </p:cNvPr>
          <p:cNvSpPr>
            <a:spLocks noGrp="1"/>
          </p:cNvSpPr>
          <p:nvPr>
            <p:ph idx="1"/>
          </p:nvPr>
        </p:nvSpPr>
        <p:spPr>
          <a:xfrm>
            <a:off x="731520" y="1317243"/>
            <a:ext cx="7367452" cy="5161050"/>
          </a:xfrm>
          <a:prstGeom prst="rect">
            <a:avLst/>
          </a:prstGeom>
        </p:spPr>
        <p:txBody>
          <a:bodyPr vert="horz" lIns="91440" tIns="45720" rIns="91440" bIns="45720" rtlCol="0">
            <a:noAutofit/>
          </a:bodyPr>
          <a:lstStyle>
            <a:lvl1pPr>
              <a:lnSpc>
                <a:spcPct val="110000"/>
              </a:lnSpc>
              <a:spcAft>
                <a:spcPts val="600"/>
              </a:spcAft>
              <a:defRPr sz="2600">
                <a:solidFill>
                  <a:schemeClr val="bg1"/>
                </a:solidFill>
              </a:defRPr>
            </a:lvl1pPr>
            <a:lvl2pPr>
              <a:lnSpc>
                <a:spcPct val="110000"/>
              </a:lnSpc>
              <a:spcAft>
                <a:spcPts val="600"/>
              </a:spcAft>
              <a:defRPr sz="2200">
                <a:solidFill>
                  <a:schemeClr val="bg1"/>
                </a:solidFill>
              </a:defRPr>
            </a:lvl2pPr>
            <a:lvl3pPr>
              <a:lnSpc>
                <a:spcPct val="110000"/>
              </a:lnSpc>
              <a:spcAft>
                <a:spcPts val="400"/>
              </a:spcAft>
              <a:defRPr sz="1800">
                <a:solidFill>
                  <a:schemeClr val="bg1"/>
                </a:solidFill>
              </a:defRPr>
            </a:lvl3pPr>
            <a:lvl4pPr>
              <a:lnSpc>
                <a:spcPct val="110000"/>
              </a:lnSpc>
              <a:spcAft>
                <a:spcPts val="400"/>
              </a:spcAft>
              <a:defRPr>
                <a:solidFill>
                  <a:schemeClr val="bg1"/>
                </a:solidFill>
              </a:defRPr>
            </a:lvl4pPr>
            <a:lvl5pPr>
              <a:lnSpc>
                <a:spcPct val="110000"/>
              </a:lnSpc>
              <a:spcAft>
                <a:spcPts val="400"/>
              </a:spcAft>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24F92C20-6999-9348-5E6F-4A953FF69CF7}"/>
              </a:ext>
            </a:extLst>
          </p:cNvPr>
          <p:cNvSpPr>
            <a:spLocks noGrp="1"/>
          </p:cNvSpPr>
          <p:nvPr>
            <p:ph type="sldNum" sz="quarter" idx="4"/>
          </p:nvPr>
        </p:nvSpPr>
        <p:spPr>
          <a:xfrm>
            <a:off x="9250680" y="6356350"/>
            <a:ext cx="2743200" cy="365125"/>
          </a:xfrm>
          <a:prstGeom prst="rect">
            <a:avLst/>
          </a:prstGeom>
        </p:spPr>
        <p:txBody>
          <a:bodyPr vert="horz" lIns="91440" tIns="45720" rIns="91440" bIns="45720" rtlCol="0" anchor="ctr"/>
          <a:lstStyle>
            <a:lvl1pPr algn="r">
              <a:defRPr sz="1000" b="1">
                <a:solidFill>
                  <a:schemeClr val="bg1"/>
                </a:solidFill>
              </a:defRPr>
            </a:lvl1pPr>
          </a:lstStyle>
          <a:p>
            <a:fld id="{21672522-718F-5A4A-A967-5C1A35706813}" type="slidenum">
              <a:rPr lang="en-US" smtClean="0"/>
              <a:pPr/>
              <a:t>‹#›</a:t>
            </a:fld>
            <a:endParaRPr lang="en-US"/>
          </a:p>
        </p:txBody>
      </p:sp>
      <p:sp>
        <p:nvSpPr>
          <p:cNvPr id="6" name="Rectangle 5">
            <a:extLst>
              <a:ext uri="{FF2B5EF4-FFF2-40B4-BE49-F238E27FC236}">
                <a16:creationId xmlns:a16="http://schemas.microsoft.com/office/drawing/2014/main" id="{33109604-5BA4-4A4A-3E72-14C9D53538F8}"/>
              </a:ext>
              <a:ext uri="{C183D7F6-B498-43B3-948B-1728B52AA6E4}">
                <adec:decorative xmlns:adec="http://schemas.microsoft.com/office/drawing/2017/decorative" val="1"/>
              </a:ext>
            </a:extLst>
          </p:cNvPr>
          <p:cNvSpPr/>
          <p:nvPr userDrawn="1"/>
        </p:nvSpPr>
        <p:spPr>
          <a:xfrm>
            <a:off x="0" y="906988"/>
            <a:ext cx="2867186" cy="100402"/>
          </a:xfrm>
          <a:prstGeom prst="rect">
            <a:avLst/>
          </a:prstGeom>
          <a:gradFill flip="none" rotWithShape="1">
            <a:gsLst>
              <a:gs pos="43000">
                <a:schemeClr val="accent4">
                  <a:lumMod val="75000"/>
                </a:schemeClr>
              </a:gs>
              <a:gs pos="0">
                <a:schemeClr val="accent3">
                  <a:lumMod val="75000"/>
                </a:schemeClr>
              </a:gs>
              <a:gs pos="80000">
                <a:schemeClr val="accent2"/>
              </a:gs>
            </a:gsLst>
            <a:lin ang="17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Tree>
    <p:extLst>
      <p:ext uri="{BB962C8B-B14F-4D97-AF65-F5344CB8AC3E}">
        <p14:creationId xmlns:p14="http://schemas.microsoft.com/office/powerpoint/2010/main" val="276043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087EA464-D39A-16CD-693B-56AF58A99A1D}"/>
              </a:ext>
            </a:extLst>
          </p:cNvPr>
          <p:cNvSpPr>
            <a:spLocks noGrp="1"/>
          </p:cNvSpPr>
          <p:nvPr>
            <p:ph type="pic" sz="quarter" idx="11" hasCustomPrompt="1"/>
          </p:nvPr>
        </p:nvSpPr>
        <p:spPr>
          <a:xfrm>
            <a:off x="8708571" y="0"/>
            <a:ext cx="3492102" cy="6858000"/>
          </a:xfrm>
          <a:solidFill>
            <a:schemeClr val="tx2"/>
          </a:solidFill>
        </p:spPr>
        <p:txBody>
          <a:bodyPr lIns="182880" tIns="274320" rIns="182880"/>
          <a:lstStyle>
            <a:lvl1pPr marL="0" indent="0" algn="ctr">
              <a:buFontTx/>
              <a:buNone/>
              <a:defRPr sz="1600">
                <a:solidFill>
                  <a:schemeClr val="bg1"/>
                </a:solidFill>
              </a:defRPr>
            </a:lvl1pPr>
          </a:lstStyle>
          <a:p>
            <a:r>
              <a:rPr lang="en-US" dirty="0"/>
              <a:t>This shape is an image placeholder. If you have your own image you would like to place, click the icon and it will bring up your files. If you would like to use a  stock image from PowerPoint, go to “Insert” &gt; “Pictures” &gt; “Stock Images”. Whatever image you select and insert will automatically go into the placeholder.</a:t>
            </a:r>
          </a:p>
        </p:txBody>
      </p:sp>
      <p:sp>
        <p:nvSpPr>
          <p:cNvPr id="2" name="Title Placeholder 1">
            <a:extLst>
              <a:ext uri="{FF2B5EF4-FFF2-40B4-BE49-F238E27FC236}">
                <a16:creationId xmlns:a16="http://schemas.microsoft.com/office/drawing/2014/main" id="{34A9AB33-E7E4-8019-FAF7-2D37D4F0AB61}"/>
              </a:ext>
            </a:extLst>
          </p:cNvPr>
          <p:cNvSpPr>
            <a:spLocks noGrp="1"/>
          </p:cNvSpPr>
          <p:nvPr>
            <p:ph type="title"/>
          </p:nvPr>
        </p:nvSpPr>
        <p:spPr>
          <a:xfrm>
            <a:off x="224413" y="-77490"/>
            <a:ext cx="8505930" cy="109426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817B04C-4F3C-7DA2-0F70-69995DD593B1}"/>
              </a:ext>
            </a:extLst>
          </p:cNvPr>
          <p:cNvSpPr>
            <a:spLocks noGrp="1"/>
          </p:cNvSpPr>
          <p:nvPr>
            <p:ph idx="1"/>
          </p:nvPr>
        </p:nvSpPr>
        <p:spPr>
          <a:xfrm>
            <a:off x="731520" y="1317243"/>
            <a:ext cx="7367452" cy="5161050"/>
          </a:xfrm>
          <a:prstGeom prst="rect">
            <a:avLst/>
          </a:prstGeom>
        </p:spPr>
        <p:txBody>
          <a:bodyPr vert="horz" lIns="91440" tIns="45720" rIns="91440" bIns="45720" rtlCol="0">
            <a:noAutofit/>
          </a:bodyPr>
          <a:lstStyle>
            <a:lvl1pPr>
              <a:lnSpc>
                <a:spcPct val="110000"/>
              </a:lnSpc>
              <a:spcAft>
                <a:spcPts val="600"/>
              </a:spcAft>
              <a:defRPr sz="2600"/>
            </a:lvl1pPr>
            <a:lvl2pPr>
              <a:lnSpc>
                <a:spcPct val="110000"/>
              </a:lnSpc>
              <a:spcAft>
                <a:spcPts val="600"/>
              </a:spcAft>
              <a:defRPr sz="2200"/>
            </a:lvl2pPr>
            <a:lvl3pPr>
              <a:lnSpc>
                <a:spcPct val="110000"/>
              </a:lnSpc>
              <a:spcAft>
                <a:spcPts val="400"/>
              </a:spcAft>
              <a:defRPr sz="1800"/>
            </a:lvl3pPr>
            <a:lvl4pPr>
              <a:lnSpc>
                <a:spcPct val="110000"/>
              </a:lnSpc>
              <a:spcAft>
                <a:spcPts val="400"/>
              </a:spcAft>
              <a:defRPr/>
            </a:lvl4pPr>
            <a:lvl5pPr>
              <a:lnSpc>
                <a:spcPct val="110000"/>
              </a:lnSpc>
              <a:spcAft>
                <a:spcPts val="4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24F92C20-6999-9348-5E6F-4A953FF69CF7}"/>
              </a:ext>
            </a:extLst>
          </p:cNvPr>
          <p:cNvSpPr>
            <a:spLocks noGrp="1"/>
          </p:cNvSpPr>
          <p:nvPr>
            <p:ph type="sldNum" sz="quarter" idx="4"/>
          </p:nvPr>
        </p:nvSpPr>
        <p:spPr>
          <a:xfrm>
            <a:off x="9250680" y="6356350"/>
            <a:ext cx="2743200" cy="365125"/>
          </a:xfrm>
          <a:prstGeom prst="rect">
            <a:avLst/>
          </a:prstGeom>
        </p:spPr>
        <p:txBody>
          <a:bodyPr vert="horz" lIns="91440" tIns="45720" rIns="91440" bIns="45720" rtlCol="0" anchor="ctr"/>
          <a:lstStyle>
            <a:lvl1pPr algn="r">
              <a:defRPr sz="1000" b="1">
                <a:solidFill>
                  <a:schemeClr val="bg1"/>
                </a:solidFill>
              </a:defRPr>
            </a:lvl1pPr>
          </a:lstStyle>
          <a:p>
            <a:fld id="{21672522-718F-5A4A-A967-5C1A35706813}" type="slidenum">
              <a:rPr lang="en-US" smtClean="0"/>
              <a:pPr/>
              <a:t>‹#›</a:t>
            </a:fld>
            <a:endParaRPr lang="en-US"/>
          </a:p>
        </p:txBody>
      </p:sp>
    </p:spTree>
    <p:extLst>
      <p:ext uri="{BB962C8B-B14F-4D97-AF65-F5344CB8AC3E}">
        <p14:creationId xmlns:p14="http://schemas.microsoft.com/office/powerpoint/2010/main" val="2887255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0A8B9E0-94A8-4605-02F9-A0B20C344069}"/>
              </a:ext>
            </a:extLst>
          </p:cNvPr>
          <p:cNvSpPr/>
          <p:nvPr userDrawn="1"/>
        </p:nvSpPr>
        <p:spPr>
          <a:xfrm>
            <a:off x="0" y="740229"/>
            <a:ext cx="4332514" cy="8926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3BA8DA-ED47-D04C-8D4F-88EC9453C251}"/>
              </a:ext>
            </a:extLst>
          </p:cNvPr>
          <p:cNvSpPr>
            <a:spLocks noGrp="1"/>
          </p:cNvSpPr>
          <p:nvPr>
            <p:ph type="title"/>
          </p:nvPr>
        </p:nvSpPr>
        <p:spPr>
          <a:xfrm>
            <a:off x="432923" y="457200"/>
            <a:ext cx="4552135" cy="1023257"/>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AE5DBA0-F767-5EE3-50EA-2A1014789259}"/>
              </a:ext>
            </a:extLst>
          </p:cNvPr>
          <p:cNvSpPr>
            <a:spLocks noGrp="1"/>
          </p:cNvSpPr>
          <p:nvPr>
            <p:ph type="pic" idx="1" hasCustomPrompt="1"/>
          </p:nvPr>
        </p:nvSpPr>
        <p:spPr>
          <a:xfrm>
            <a:off x="5377592" y="457201"/>
            <a:ext cx="6378978" cy="5965370"/>
          </a:xfrm>
          <a:solidFill>
            <a:schemeClr val="tx2"/>
          </a:solidFill>
        </p:spPr>
        <p:txBody>
          <a:bodyPr lIns="274320" tIns="182880" rIns="274320"/>
          <a:lstStyle>
            <a:lvl1pPr marL="0" indent="0" algn="ctr">
              <a:buNone/>
              <a:defRPr sz="20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This shape is an image placeholder. If you have your own image you would like to place, click the icon and it will bring up your files. If you would like to use a  stock image from PowerPoint, go to “Insert” &gt; “Pictures” &gt; “Stock Images”. Whatever image you select and insert will automatically go into the placeholder.</a:t>
            </a:r>
          </a:p>
        </p:txBody>
      </p:sp>
      <p:sp>
        <p:nvSpPr>
          <p:cNvPr id="6" name="Text Placeholder 2">
            <a:extLst>
              <a:ext uri="{FF2B5EF4-FFF2-40B4-BE49-F238E27FC236}">
                <a16:creationId xmlns:a16="http://schemas.microsoft.com/office/drawing/2014/main" id="{61F5E367-1D6A-31E1-B850-749D03A5E95A}"/>
              </a:ext>
            </a:extLst>
          </p:cNvPr>
          <p:cNvSpPr>
            <a:spLocks noGrp="1"/>
          </p:cNvSpPr>
          <p:nvPr>
            <p:ph idx="14"/>
          </p:nvPr>
        </p:nvSpPr>
        <p:spPr>
          <a:xfrm>
            <a:off x="413656" y="1937657"/>
            <a:ext cx="4615543" cy="4506685"/>
          </a:xfrm>
          <a:prstGeom prst="rect">
            <a:avLst/>
          </a:prstGeom>
        </p:spPr>
        <p:txBody>
          <a:bodyPr vert="horz" lIns="91440" tIns="45720" rIns="91440" bIns="45720" rtlCol="0">
            <a:noAutofit/>
          </a:bodyPr>
          <a:lstStyle>
            <a:lvl1pPr marL="0" indent="0">
              <a:lnSpc>
                <a:spcPct val="110000"/>
              </a:lnSpc>
              <a:spcAft>
                <a:spcPts val="600"/>
              </a:spcAft>
              <a:buNone/>
              <a:defRPr sz="2600"/>
            </a:lvl1pPr>
            <a:lvl2pPr>
              <a:lnSpc>
                <a:spcPct val="110000"/>
              </a:lnSpc>
              <a:spcAft>
                <a:spcPts val="600"/>
              </a:spcAft>
              <a:defRPr sz="2200"/>
            </a:lvl2pPr>
            <a:lvl3pPr>
              <a:lnSpc>
                <a:spcPct val="110000"/>
              </a:lnSpc>
              <a:spcAft>
                <a:spcPts val="400"/>
              </a:spcAft>
              <a:defRPr sz="1800"/>
            </a:lvl3pPr>
            <a:lvl4pPr>
              <a:lnSpc>
                <a:spcPct val="110000"/>
              </a:lnSpc>
              <a:spcAft>
                <a:spcPts val="400"/>
              </a:spcAft>
              <a:defRPr/>
            </a:lvl4pPr>
            <a:lvl5pPr>
              <a:lnSpc>
                <a:spcPct val="110000"/>
              </a:lnSpc>
              <a:spcAft>
                <a:spcPts val="400"/>
              </a:spcAft>
              <a:defRPr/>
            </a:lvl5pPr>
          </a:lstStyle>
          <a:p>
            <a:pPr lvl="0"/>
            <a:r>
              <a:rPr lang="en-US" dirty="0"/>
              <a:t>Click to edit Master text styles</a:t>
            </a:r>
          </a:p>
        </p:txBody>
      </p:sp>
      <p:sp>
        <p:nvSpPr>
          <p:cNvPr id="8" name="Rectangle 7">
            <a:extLst>
              <a:ext uri="{FF2B5EF4-FFF2-40B4-BE49-F238E27FC236}">
                <a16:creationId xmlns:a16="http://schemas.microsoft.com/office/drawing/2014/main" id="{A62642D6-58B1-969D-16FD-614D4FE98800}"/>
              </a:ext>
              <a:ext uri="{C183D7F6-B498-43B3-948B-1728B52AA6E4}">
                <adec:decorative xmlns:adec="http://schemas.microsoft.com/office/drawing/2017/decorative" val="1"/>
              </a:ext>
            </a:extLst>
          </p:cNvPr>
          <p:cNvSpPr/>
          <p:nvPr userDrawn="1"/>
        </p:nvSpPr>
        <p:spPr>
          <a:xfrm>
            <a:off x="0" y="1625445"/>
            <a:ext cx="2867186" cy="100402"/>
          </a:xfrm>
          <a:prstGeom prst="rect">
            <a:avLst/>
          </a:prstGeom>
          <a:gradFill flip="none" rotWithShape="1">
            <a:gsLst>
              <a:gs pos="43000">
                <a:schemeClr val="accent4">
                  <a:lumMod val="75000"/>
                </a:schemeClr>
              </a:gs>
              <a:gs pos="0">
                <a:schemeClr val="accent3">
                  <a:lumMod val="75000"/>
                </a:schemeClr>
              </a:gs>
              <a:gs pos="80000">
                <a:schemeClr val="accent1"/>
              </a:gs>
            </a:gsLst>
            <a:lin ang="8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 name="Slide Number Placeholder 3">
            <a:extLst>
              <a:ext uri="{FF2B5EF4-FFF2-40B4-BE49-F238E27FC236}">
                <a16:creationId xmlns:a16="http://schemas.microsoft.com/office/drawing/2014/main" id="{9047101B-1E6F-53E5-17F3-5D8EE764CE0C}"/>
              </a:ext>
            </a:extLst>
          </p:cNvPr>
          <p:cNvSpPr>
            <a:spLocks noGrp="1"/>
          </p:cNvSpPr>
          <p:nvPr>
            <p:ph type="sldNum" sz="quarter" idx="4"/>
          </p:nvPr>
        </p:nvSpPr>
        <p:spPr>
          <a:xfrm>
            <a:off x="9250680" y="6356350"/>
            <a:ext cx="2743200" cy="365125"/>
          </a:xfrm>
          <a:prstGeom prst="rect">
            <a:avLst/>
          </a:prstGeom>
        </p:spPr>
        <p:txBody>
          <a:bodyPr vert="horz" lIns="91440" tIns="45720" rIns="91440" bIns="45720" rtlCol="0" anchor="ctr"/>
          <a:lstStyle>
            <a:lvl1pPr algn="r">
              <a:defRPr sz="1000" b="1">
                <a:solidFill>
                  <a:schemeClr val="tx2"/>
                </a:solidFill>
              </a:defRPr>
            </a:lvl1pPr>
          </a:lstStyle>
          <a:p>
            <a:fld id="{21672522-718F-5A4A-A967-5C1A35706813}" type="slidenum">
              <a:rPr lang="en-US" smtClean="0"/>
              <a:pPr/>
              <a:t>‹#›</a:t>
            </a:fld>
            <a:endParaRPr lang="en-US"/>
          </a:p>
        </p:txBody>
      </p:sp>
    </p:spTree>
    <p:extLst>
      <p:ext uri="{BB962C8B-B14F-4D97-AF65-F5344CB8AC3E}">
        <p14:creationId xmlns:p14="http://schemas.microsoft.com/office/powerpoint/2010/main" val="279350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 Bkg Image Dark">
    <p:spTree>
      <p:nvGrpSpPr>
        <p:cNvPr id="1" name=""/>
        <p:cNvGrpSpPr/>
        <p:nvPr/>
      </p:nvGrpSpPr>
      <p:grpSpPr>
        <a:xfrm>
          <a:off x="0" y="0"/>
          <a:ext cx="0" cy="0"/>
          <a:chOff x="0" y="0"/>
          <a:chExt cx="0" cy="0"/>
        </a:xfrm>
      </p:grpSpPr>
      <p:sp>
        <p:nvSpPr>
          <p:cNvPr id="7" name="Title 12">
            <a:extLst>
              <a:ext uri="{FF2B5EF4-FFF2-40B4-BE49-F238E27FC236}">
                <a16:creationId xmlns:a16="http://schemas.microsoft.com/office/drawing/2014/main" id="{9256E39F-0366-6A50-6C84-7D78C0B8B03B}"/>
              </a:ext>
            </a:extLst>
          </p:cNvPr>
          <p:cNvSpPr>
            <a:spLocks noGrp="1"/>
          </p:cNvSpPr>
          <p:nvPr>
            <p:ph type="title" hasCustomPrompt="1"/>
          </p:nvPr>
        </p:nvSpPr>
        <p:spPr>
          <a:xfrm>
            <a:off x="1056968" y="2466183"/>
            <a:ext cx="10078065" cy="763456"/>
          </a:xfrm>
          <a:prstGeom prst="rect">
            <a:avLst/>
          </a:prstGeom>
        </p:spPr>
        <p:txBody>
          <a:bodyPr/>
          <a:lstStyle>
            <a:lvl1pPr algn="ctr">
              <a:defRPr sz="5500" b="1">
                <a:solidFill>
                  <a:schemeClr val="bg1"/>
                </a:solidFill>
              </a:defRPr>
            </a:lvl1pPr>
          </a:lstStyle>
          <a:p>
            <a:r>
              <a:rPr lang="en-US" dirty="0"/>
              <a:t>Section title</a:t>
            </a:r>
          </a:p>
        </p:txBody>
      </p:sp>
      <p:sp>
        <p:nvSpPr>
          <p:cNvPr id="8" name="Content Placeholder 17">
            <a:extLst>
              <a:ext uri="{FF2B5EF4-FFF2-40B4-BE49-F238E27FC236}">
                <a16:creationId xmlns:a16="http://schemas.microsoft.com/office/drawing/2014/main" id="{803768A1-8A96-CD18-163C-6256824F8A40}"/>
              </a:ext>
            </a:extLst>
          </p:cNvPr>
          <p:cNvSpPr>
            <a:spLocks noGrp="1"/>
          </p:cNvSpPr>
          <p:nvPr>
            <p:ph sz="quarter" idx="10" hasCustomPrompt="1"/>
          </p:nvPr>
        </p:nvSpPr>
        <p:spPr>
          <a:xfrm>
            <a:off x="4144963" y="3612428"/>
            <a:ext cx="3902075" cy="1096962"/>
          </a:xfrm>
          <a:prstGeom prst="rect">
            <a:avLst/>
          </a:prstGeom>
        </p:spPr>
        <p:txBody>
          <a:bodyPr/>
          <a:lstStyle>
            <a:lvl1pPr marL="0" indent="0" algn="ctr">
              <a:buNone/>
              <a:defRPr sz="3200" b="0" i="1">
                <a:solidFill>
                  <a:schemeClr val="bg1"/>
                </a:solidFill>
                <a:latin typeface="Arial" panose="020B0604020202020204" pitchFamily="34" charset="0"/>
                <a:cs typeface="Arial" panose="020B0604020202020204" pitchFamily="34" charset="0"/>
              </a:defRPr>
            </a:lvl1pPr>
          </a:lstStyle>
          <a:p>
            <a:pPr lvl="0"/>
            <a:r>
              <a:rPr lang="en-US" dirty="0"/>
              <a:t>Subtitle</a:t>
            </a:r>
          </a:p>
        </p:txBody>
      </p:sp>
      <p:sp>
        <p:nvSpPr>
          <p:cNvPr id="9" name="Rectangle 8">
            <a:extLst>
              <a:ext uri="{FF2B5EF4-FFF2-40B4-BE49-F238E27FC236}">
                <a16:creationId xmlns:a16="http://schemas.microsoft.com/office/drawing/2014/main" id="{A302B4DD-5712-F395-20B8-7EA95AB8B5F0}"/>
              </a:ext>
            </a:extLst>
          </p:cNvPr>
          <p:cNvSpPr/>
          <p:nvPr userDrawn="1"/>
        </p:nvSpPr>
        <p:spPr>
          <a:xfrm>
            <a:off x="4347148" y="3376938"/>
            <a:ext cx="3434576" cy="90881"/>
          </a:xfrm>
          <a:prstGeom prst="rect">
            <a:avLst/>
          </a:prstGeom>
          <a:solidFill>
            <a:schemeClr val="bg1">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Tree>
    <p:extLst>
      <p:ext uri="{BB962C8B-B14F-4D97-AF65-F5344CB8AC3E}">
        <p14:creationId xmlns:p14="http://schemas.microsoft.com/office/powerpoint/2010/main" val="2153080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ection Header - Bkg Image Ligh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8626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94"/>
            <a:ext cx="73152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2389717" y="5367341"/>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Slide Number Placeholder 6"/>
          <p:cNvSpPr>
            <a:spLocks noGrp="1"/>
          </p:cNvSpPr>
          <p:nvPr>
            <p:ph type="sldNum" sz="quarter" idx="12"/>
          </p:nvPr>
        </p:nvSpPr>
        <p:spPr/>
        <p:txBody>
          <a:bodyPr/>
          <a:lstStyle/>
          <a:p>
            <a:fld id="{D983F1FA-211D-3044-9E35-958DFBC26156}" type="slidenum">
              <a:rPr lang="en-US" smtClean="0">
                <a:solidFill>
                  <a:prstClr val="white"/>
                </a:solidFill>
              </a:rPr>
              <a:pPr/>
              <a:t>‹#›</a:t>
            </a:fld>
            <a:endParaRPr lang="en-US" dirty="0">
              <a:solidFill>
                <a:prstClr val="white"/>
              </a:solidFill>
            </a:endParaRPr>
          </a:p>
        </p:txBody>
      </p:sp>
    </p:spTree>
    <p:custDataLst>
      <p:tags r:id="rId1"/>
    </p:custDataLst>
    <p:extLst>
      <p:ext uri="{BB962C8B-B14F-4D97-AF65-F5344CB8AC3E}">
        <p14:creationId xmlns:p14="http://schemas.microsoft.com/office/powerpoint/2010/main" val="1674226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extLst>
              <p:ext uri="{D42A27DB-BD31-4B8C-83A1-F6EECF244321}">
                <p14:modId xmlns:p14="http://schemas.microsoft.com/office/powerpoint/2010/main" val="6714557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3/26/2025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069689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F904A8-91F2-7095-7F4D-3290BA782AA3}"/>
              </a:ext>
            </a:extLst>
          </p:cNvPr>
          <p:cNvSpPr>
            <a:spLocks noGrp="1"/>
          </p:cNvSpPr>
          <p:nvPr>
            <p:ph type="title"/>
          </p:nvPr>
        </p:nvSpPr>
        <p:spPr>
          <a:xfrm>
            <a:off x="224413" y="-77490"/>
            <a:ext cx="10515600" cy="109426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05F3C83-27F7-9084-6FCE-C75A32DE477A}"/>
              </a:ext>
            </a:extLst>
          </p:cNvPr>
          <p:cNvSpPr>
            <a:spLocks noGrp="1"/>
          </p:cNvSpPr>
          <p:nvPr>
            <p:ph type="body" idx="1"/>
          </p:nvPr>
        </p:nvSpPr>
        <p:spPr>
          <a:xfrm>
            <a:off x="731520" y="1410231"/>
            <a:ext cx="10515600" cy="5130052"/>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5AA55348-653B-9F2C-092B-3D9F1C0CEEA8}"/>
              </a:ext>
              <a:ext uri="{C183D7F6-B498-43B3-948B-1728B52AA6E4}">
                <adec:decorative xmlns:adec="http://schemas.microsoft.com/office/drawing/2017/decorative" val="1"/>
              </a:ext>
            </a:extLst>
          </p:cNvPr>
          <p:cNvSpPr/>
          <p:nvPr userDrawn="1"/>
        </p:nvSpPr>
        <p:spPr>
          <a:xfrm>
            <a:off x="0" y="906988"/>
            <a:ext cx="2867186" cy="100402"/>
          </a:xfrm>
          <a:prstGeom prst="rect">
            <a:avLst/>
          </a:prstGeom>
          <a:gradFill flip="none" rotWithShape="1">
            <a:gsLst>
              <a:gs pos="43000">
                <a:schemeClr val="accent4">
                  <a:lumMod val="75000"/>
                </a:schemeClr>
              </a:gs>
              <a:gs pos="0">
                <a:schemeClr val="accent3">
                  <a:lumMod val="75000"/>
                </a:schemeClr>
              </a:gs>
              <a:gs pos="80000">
                <a:schemeClr val="accent1"/>
              </a:gs>
            </a:gsLst>
            <a:lin ang="8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 name="Slide Number Placeholder 3">
            <a:extLst>
              <a:ext uri="{FF2B5EF4-FFF2-40B4-BE49-F238E27FC236}">
                <a16:creationId xmlns:a16="http://schemas.microsoft.com/office/drawing/2014/main" id="{ED98EF6E-FAE3-A5FB-7C11-2ACF182E7129}"/>
              </a:ext>
            </a:extLst>
          </p:cNvPr>
          <p:cNvSpPr>
            <a:spLocks noGrp="1"/>
          </p:cNvSpPr>
          <p:nvPr>
            <p:ph type="sldNum" sz="quarter" idx="4"/>
          </p:nvPr>
        </p:nvSpPr>
        <p:spPr>
          <a:xfrm>
            <a:off x="5193030" y="6357720"/>
            <a:ext cx="2743200" cy="365125"/>
          </a:xfrm>
          <a:prstGeom prst="rect">
            <a:avLst/>
          </a:prstGeom>
        </p:spPr>
        <p:txBody>
          <a:bodyPr vert="horz" lIns="91440" tIns="45720" rIns="91440" bIns="45720" rtlCol="0" anchor="ctr"/>
          <a:lstStyle>
            <a:lvl1pPr algn="ctr">
              <a:defRPr sz="1400" b="1">
                <a:solidFill>
                  <a:srgbClr val="FF0000"/>
                </a:solidFill>
              </a:defRPr>
            </a:lvl1pPr>
          </a:lstStyle>
          <a:p>
            <a:r>
              <a:rPr lang="en-US" dirty="0"/>
              <a:t>PRE-DECISIONAL</a:t>
            </a:r>
          </a:p>
        </p:txBody>
      </p:sp>
    </p:spTree>
    <p:extLst>
      <p:ext uri="{BB962C8B-B14F-4D97-AF65-F5344CB8AC3E}">
        <p14:creationId xmlns:p14="http://schemas.microsoft.com/office/powerpoint/2010/main" val="2205277205"/>
      </p:ext>
    </p:extLst>
  </p:cSld>
  <p:clrMap bg1="lt1" tx1="dk1" bg2="lt2" tx2="dk2" accent1="accent1" accent2="accent2" accent3="accent3" accent4="accent4" accent5="accent5" accent6="accent6" hlink="hlink" folHlink="folHlink"/>
  <p:sldLayoutIdLst>
    <p:sldLayoutId id="2147483741" r:id="rId1"/>
    <p:sldLayoutId id="2147483695" r:id="rId2"/>
    <p:sldLayoutId id="2147483747" r:id="rId3"/>
    <p:sldLayoutId id="2147483698" r:id="rId4"/>
    <p:sldLayoutId id="2147483700" r:id="rId5"/>
    <p:sldLayoutId id="2147483745" r:id="rId6"/>
    <p:sldLayoutId id="2147483716" r:id="rId7"/>
    <p:sldLayoutId id="2147483702" r:id="rId8"/>
    <p:sldLayoutId id="2147483713" r:id="rId9"/>
    <p:sldLayoutId id="2147483746" r:id="rId10"/>
    <p:sldLayoutId id="2147483748" r:id="rId11"/>
    <p:sldLayoutId id="2147483749" r:id="rId12"/>
  </p:sldLayoutIdLst>
  <p:hf hdr="0" ftr="0" dt="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600"/>
        </a:spcAft>
        <a:buSzPct val="90000"/>
        <a:buFont typeface="System Font Regular"/>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cc02.safelinks.protection.outlook.com/?url=https%3A%2F%2Fpmc.ncbi.nlm.nih.gov%2Farticles%2FPMC10937886%2F&amp;data=05%7C02%7C%7Ca2a5652caa7e4fe5788408dd575fff37%7Ce95f1b23abaf45ee821db7ab251ab3bf%7C0%7C0%7C638762791999027442%7CUnknown%7CTWFpbGZsb3d8eyJFbXB0eU1hcGkiOnRydWUsIlYiOiIwLjAuMDAwMCIsIlAiOiJXaW4zMiIsIkFOIjoiTWFpbCIsIldUIjoyfQ%3D%3D%7C0%7C%7C%7C&amp;sdata=q0q1DZ3w1LBIGpLdc8NBe%2BXI8JsKw1AB4QoB2yNv8qg%3D&amp;reserved=0"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gcc02.safelinks.protection.outlook.com/?url=https%3A%2F%2Fjamanetwork.com%2Fjournals%2Fjamanetworkopen%2Ffullarticle%2F2790743&amp;data=05%7C02%7C%7C1f6c5e0e2075477fa5a408dd55e87211%7Ce95f1b23abaf45ee821db7ab251ab3bf%7C0%7C0%7C638761179101237246%7CUnknown%7CTWFpbGZsb3d8eyJFbXB0eU1hcGkiOnRydWUsIlYiOiIwLjAuMDAwMCIsIlAiOiJXaW4zMiIsIkFOIjoiTWFpbCIsIldUIjoyfQ%3D%3D%7C0%7C%7C%7C&amp;sdata=WT9NHV%2BCNKW%2B%2F28F%2BPbkOdUb1GFqocvim8dtmSF%2FfOw%3D&amp;reserved=0" TargetMode="External"/><Relationship Id="rId5" Type="http://schemas.openxmlformats.org/officeDocument/2006/relationships/hyperlink" Target="https://gcc02.safelinks.protection.outlook.com/?url=https%3A%2F%2Fpsychiatryonline.org%2Fdoi%2F10.1176%2Fappi.ps.201900104&amp;data=05%7C02%7C%7C1f6c5e0e2075477fa5a408dd55e87211%7Ce95f1b23abaf45ee821db7ab251ab3bf%7C0%7C0%7C638761179101261380%7CUnknown%7CTWFpbGZsb3d8eyJFbXB0eU1hcGkiOnRydWUsIlYiOiIwLjAuMDAwMCIsIlAiOiJXaW4zMiIsIkFOIjoiTWFpbCIsIldUIjoyfQ%3D%3D%7C0%7C%7C%7C&amp;sdata=mhUH%2BHtVYh1FMC17F6Cw%2BAloz0FxyVWZ3%2F544BOVqU8%3D&amp;reserved=0" TargetMode="External"/><Relationship Id="rId4" Type="http://schemas.openxmlformats.org/officeDocument/2006/relationships/hyperlink" Target="https://gcc02.safelinks.protection.outlook.com/?url=https%3A%2F%2Fpubmed.ncbi.nlm.nih.gov%2F39499516%2F&amp;data=05%7C02%7C%7Ca2a5652caa7e4fe5788408dd575fff37%7Ce95f1b23abaf45ee821db7ab251ab3bf%7C0%7C0%7C638762791999049335%7CUnknown%7CTWFpbGZsb3d8eyJFbXB0eU1hcGkiOnRydWUsIlYiOiIwLjAuMDAwMCIsIlAiOiJXaW4zMiIsIkFOIjoiTWFpbCIsIldUIjoyfQ%3D%3D%7C0%7C%7C%7C&amp;sdata=6i9T6ONICClmWzUqjDwLF3yEfTqO5yiClmHRqBLAPs8%3D&amp;reserved=0"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legis.la.gov/legis/ViewDocument.aspx?d=1286621"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www.legis.la.gov/Legis/BillInfo.aspx?i=244402"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7C3CDA-E5E2-17FE-A951-0D6DDB289540}"/>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8C8B361D-8707-4382-23FD-D9C5B19179C6}"/>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8D16E473-3111-C618-BC6C-C1CA153D4591}"/>
              </a:ext>
            </a:extLst>
          </p:cNvPr>
          <p:cNvSpPr>
            <a:spLocks noGrp="1"/>
          </p:cNvSpPr>
          <p:nvPr>
            <p:ph type="sldNum" sz="quarter" idx="4"/>
          </p:nvPr>
        </p:nvSpPr>
        <p:spPr/>
        <p:txBody>
          <a:bodyPr/>
          <a:lstStyle/>
          <a:p>
            <a:fld id="{21672522-718F-5A4A-A967-5C1A35706813}" type="slidenum">
              <a:rPr lang="en-US" smtClean="0"/>
              <a:pPr/>
              <a:t>1</a:t>
            </a:fld>
            <a:endParaRPr lang="en-US"/>
          </a:p>
        </p:txBody>
      </p:sp>
      <p:pic>
        <p:nvPicPr>
          <p:cNvPr id="5" name="Picture 4">
            <a:extLst>
              <a:ext uri="{FF2B5EF4-FFF2-40B4-BE49-F238E27FC236}">
                <a16:creationId xmlns:a16="http://schemas.microsoft.com/office/drawing/2014/main" id="{F4614BD9-B8A6-1D9A-36B0-43E95C635D08}"/>
              </a:ext>
            </a:extLst>
          </p:cNvPr>
          <p:cNvPicPr>
            <a:picLocks noChangeAspect="1"/>
          </p:cNvPicPr>
          <p:nvPr/>
        </p:nvPicPr>
        <p:blipFill>
          <a:blip r:embed="rId3"/>
          <a:stretch>
            <a:fillRect/>
          </a:stretch>
        </p:blipFill>
        <p:spPr>
          <a:xfrm>
            <a:off x="0" y="0"/>
            <a:ext cx="12192000" cy="6858001"/>
          </a:xfrm>
          <a:prstGeom prst="rect">
            <a:avLst/>
          </a:prstGeom>
        </p:spPr>
      </p:pic>
      <p:sp>
        <p:nvSpPr>
          <p:cNvPr id="6" name="TextBox 5">
            <a:extLst>
              <a:ext uri="{FF2B5EF4-FFF2-40B4-BE49-F238E27FC236}">
                <a16:creationId xmlns:a16="http://schemas.microsoft.com/office/drawing/2014/main" id="{CBCF2F14-11DE-617C-CEDF-C6F26F0E7390}"/>
              </a:ext>
            </a:extLst>
          </p:cNvPr>
          <p:cNvSpPr txBox="1"/>
          <p:nvPr/>
        </p:nvSpPr>
        <p:spPr>
          <a:xfrm>
            <a:off x="1024569" y="6081311"/>
            <a:ext cx="8414483" cy="523220"/>
          </a:xfrm>
          <a:prstGeom prst="rect">
            <a:avLst/>
          </a:prstGeom>
          <a:noFill/>
        </p:spPr>
        <p:txBody>
          <a:bodyPr wrap="none" rtlCol="0">
            <a:spAutoFit/>
          </a:bodyPr>
          <a:lstStyle/>
          <a:p>
            <a:r>
              <a:rPr lang="en-US" sz="1400" dirty="0">
                <a:solidFill>
                  <a:schemeClr val="bg1"/>
                </a:solidFill>
              </a:rPr>
              <a:t>Investigators, Scientific Review and Management (ISRM) Scientific Impacts Research Integration Group</a:t>
            </a:r>
          </a:p>
          <a:p>
            <a:r>
              <a:rPr lang="en-US" sz="1400" dirty="0">
                <a:solidFill>
                  <a:schemeClr val="bg1"/>
                </a:solidFill>
              </a:rPr>
              <a:t>Updated March 2025   </a:t>
            </a:r>
            <a:r>
              <a:rPr lang="en-US" sz="1400" dirty="0">
                <a:solidFill>
                  <a:srgbClr val="FF0000"/>
                </a:solidFill>
              </a:rPr>
              <a:t>PRE-DECISIONAL </a:t>
            </a:r>
          </a:p>
        </p:txBody>
      </p:sp>
    </p:spTree>
    <p:extLst>
      <p:ext uri="{BB962C8B-B14F-4D97-AF65-F5344CB8AC3E}">
        <p14:creationId xmlns:p14="http://schemas.microsoft.com/office/powerpoint/2010/main" val="1951179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D87F7-4A5C-DB09-1911-638228E519A1}"/>
              </a:ext>
            </a:extLst>
          </p:cNvPr>
          <p:cNvSpPr>
            <a:spLocks noGrp="1"/>
          </p:cNvSpPr>
          <p:nvPr>
            <p:ph type="title"/>
          </p:nvPr>
        </p:nvSpPr>
        <p:spPr>
          <a:xfrm>
            <a:off x="215099" y="176882"/>
            <a:ext cx="10405600" cy="566739"/>
          </a:xfrm>
        </p:spPr>
        <p:txBody>
          <a:bodyPr>
            <a:noAutofit/>
          </a:bodyPr>
          <a:lstStyle/>
          <a:p>
            <a:r>
              <a:rPr lang="en-US" sz="3600" dirty="0"/>
              <a:t>Suicide Prevention – Overview of Research </a:t>
            </a:r>
          </a:p>
        </p:txBody>
      </p:sp>
      <p:sp>
        <p:nvSpPr>
          <p:cNvPr id="4" name="Text Placeholder 3">
            <a:extLst>
              <a:ext uri="{FF2B5EF4-FFF2-40B4-BE49-F238E27FC236}">
                <a16:creationId xmlns:a16="http://schemas.microsoft.com/office/drawing/2014/main" id="{B661D3AA-3490-4D4F-27E5-25BF301C363E}"/>
              </a:ext>
            </a:extLst>
          </p:cNvPr>
          <p:cNvSpPr>
            <a:spLocks noGrp="1"/>
          </p:cNvSpPr>
          <p:nvPr>
            <p:ph type="body" sz="half" idx="2"/>
          </p:nvPr>
        </p:nvSpPr>
        <p:spPr>
          <a:xfrm>
            <a:off x="215099" y="1070127"/>
            <a:ext cx="11761802" cy="5199950"/>
          </a:xfrm>
        </p:spPr>
        <p:txBody>
          <a:bodyPr/>
          <a:lstStyle/>
          <a:p>
            <a:pPr marL="285750" indent="-285750">
              <a:buFont typeface="Arial" panose="020B0604020202020204" pitchFamily="34" charset="0"/>
              <a:buChar char="•"/>
            </a:pPr>
            <a:r>
              <a:rPr lang="en-US" sz="2000" b="1" kern="100" dirty="0">
                <a:ea typeface="Calibri" panose="020F0502020204030204" pitchFamily="34" charset="0"/>
                <a:cs typeface="Times New Roman" panose="02020603050405020304" pitchFamily="18" charset="0"/>
              </a:rPr>
              <a:t>VA Investigators i</a:t>
            </a:r>
            <a:r>
              <a:rPr lang="en-US" sz="2000" b="1" kern="100" dirty="0">
                <a:effectLst/>
                <a:ea typeface="Calibri" panose="020F0502020204030204" pitchFamily="34" charset="0"/>
                <a:cs typeface="Calibri" panose="020F0502020204030204" pitchFamily="34" charset="0"/>
              </a:rPr>
              <a:t>mprove the understanding of reasons for Veteran suicide and develop suicide prevention interventions</a:t>
            </a:r>
          </a:p>
          <a:p>
            <a:pPr marL="285750" indent="-285750">
              <a:spcAft>
                <a:spcPts val="0"/>
              </a:spcAft>
              <a:buFont typeface="Arial" panose="020B0604020202020204" pitchFamily="34" charset="0"/>
              <a:buChar char="•"/>
            </a:pPr>
            <a:r>
              <a:rPr lang="en-US" sz="2000" kern="100" dirty="0">
                <a:effectLst/>
                <a:ea typeface="Calibri" panose="020F0502020204030204" pitchFamily="34" charset="0"/>
                <a:cs typeface="Calibri" panose="020F0502020204030204" pitchFamily="34" charset="0"/>
              </a:rPr>
              <a:t>From 2019-2024</a:t>
            </a:r>
            <a:r>
              <a:rPr lang="en-US" sz="2000" kern="100" dirty="0">
                <a:ea typeface="Calibri" panose="020F0502020204030204" pitchFamily="34" charset="0"/>
                <a:cs typeface="Calibri" panose="020F0502020204030204" pitchFamily="34" charset="0"/>
              </a:rPr>
              <a:t>:</a:t>
            </a:r>
            <a:endParaRPr lang="en-US" sz="2000" kern="100" dirty="0">
              <a:effectLst/>
              <a:ea typeface="Calibri" panose="020F0502020204030204" pitchFamily="34" charset="0"/>
              <a:cs typeface="Calibri" panose="020F0502020204030204" pitchFamily="34" charset="0"/>
            </a:endParaRPr>
          </a:p>
          <a:p>
            <a:pPr marL="742950" lvl="1" indent="-285750">
              <a:buFont typeface="Courier New" panose="02070309020205020404" pitchFamily="49" charset="0"/>
              <a:buChar char="o"/>
            </a:pPr>
            <a:r>
              <a:rPr lang="en-US" sz="1800" kern="100" dirty="0">
                <a:effectLst/>
                <a:ea typeface="Calibri" panose="020F0502020204030204" pitchFamily="34" charset="0"/>
                <a:cs typeface="Calibri" panose="020F0502020204030204" pitchFamily="34" charset="0"/>
              </a:rPr>
              <a:t>VA supported </a:t>
            </a:r>
            <a:r>
              <a:rPr lang="en-US" sz="1800" b="1" kern="100" dirty="0">
                <a:effectLst/>
                <a:ea typeface="Calibri" panose="020F0502020204030204" pitchFamily="34" charset="0"/>
                <a:cs typeface="Calibri" panose="020F0502020204030204" pitchFamily="34" charset="0"/>
              </a:rPr>
              <a:t>98</a:t>
            </a:r>
            <a:r>
              <a:rPr lang="en-US" sz="1800" kern="100" dirty="0">
                <a:effectLst/>
                <a:ea typeface="Calibri" panose="020F0502020204030204" pitchFamily="34" charset="0"/>
                <a:cs typeface="Calibri" panose="020F0502020204030204" pitchFamily="34" charset="0"/>
              </a:rPr>
              <a:t> clinical trials in Suicide Prevention (</a:t>
            </a:r>
            <a:r>
              <a:rPr lang="en-US" sz="1800" b="1" kern="100" dirty="0">
                <a:effectLst/>
                <a:ea typeface="Calibri" panose="020F0502020204030204" pitchFamily="34" charset="0"/>
                <a:cs typeface="Calibri" panose="020F0502020204030204" pitchFamily="34" charset="0"/>
              </a:rPr>
              <a:t>59</a:t>
            </a:r>
            <a:r>
              <a:rPr lang="en-US" sz="1800" kern="100" dirty="0">
                <a:effectLst/>
                <a:ea typeface="Calibri" panose="020F0502020204030204" pitchFamily="34" charset="0"/>
                <a:cs typeface="Calibri" panose="020F0502020204030204" pitchFamily="34" charset="0"/>
              </a:rPr>
              <a:t> currently active)</a:t>
            </a:r>
          </a:p>
          <a:p>
            <a:pPr marL="742950" lvl="1" indent="-285750">
              <a:buFont typeface="Courier New" panose="02070309020205020404" pitchFamily="49" charset="0"/>
              <a:buChar char="o"/>
            </a:pPr>
            <a:r>
              <a:rPr lang="en-US" sz="1800" b="1" kern="100" dirty="0">
                <a:ea typeface="Calibri" panose="020F0502020204030204" pitchFamily="34" charset="0"/>
                <a:cs typeface="Calibri" panose="020F0502020204030204" pitchFamily="34" charset="0"/>
              </a:rPr>
              <a:t>&gt;</a:t>
            </a:r>
            <a:r>
              <a:rPr lang="en-US" sz="1800" b="1" kern="100" dirty="0">
                <a:effectLst/>
                <a:ea typeface="Calibri" panose="020F0502020204030204" pitchFamily="34" charset="0"/>
                <a:cs typeface="Calibri" panose="020F0502020204030204" pitchFamily="34" charset="0"/>
              </a:rPr>
              <a:t>18,000 Veterans </a:t>
            </a:r>
            <a:r>
              <a:rPr lang="en-US" sz="1800" kern="100" dirty="0">
                <a:effectLst/>
                <a:ea typeface="Calibri" panose="020F0502020204030204" pitchFamily="34" charset="0"/>
                <a:cs typeface="Calibri" panose="020F0502020204030204" pitchFamily="34" charset="0"/>
              </a:rPr>
              <a:t>have participated in the VA-funded Suicide Prevention clinical trials. </a:t>
            </a:r>
          </a:p>
          <a:p>
            <a:pPr marL="285750" indent="-285750">
              <a:buFont typeface="Arial" panose="020B0604020202020204" pitchFamily="34" charset="0"/>
              <a:buChar char="•"/>
            </a:pPr>
            <a:r>
              <a:rPr lang="en-US" sz="1800" b="1" kern="100" dirty="0">
                <a:effectLst/>
                <a:ea typeface="Calibri" panose="020F0502020204030204" pitchFamily="34" charset="0"/>
                <a:cs typeface="Calibri" panose="020F0502020204030204" pitchFamily="34" charset="0"/>
              </a:rPr>
              <a:t>Examples of </a:t>
            </a:r>
            <a:r>
              <a:rPr lang="en-US" sz="1800" b="1" kern="100" dirty="0">
                <a:ea typeface="Calibri" panose="020F0502020204030204" pitchFamily="34" charset="0"/>
                <a:cs typeface="Times New Roman" panose="02020603050405020304" pitchFamily="18" charset="0"/>
              </a:rPr>
              <a:t>VA Clinical Programs for Veterans based on VA-funded </a:t>
            </a:r>
            <a:r>
              <a:rPr lang="en-US" sz="1800" b="1" kern="100" dirty="0">
                <a:effectLst/>
                <a:ea typeface="Calibri" panose="020F0502020204030204" pitchFamily="34" charset="0"/>
                <a:cs typeface="Times New Roman" panose="02020603050405020304" pitchFamily="18" charset="0"/>
              </a:rPr>
              <a:t>Suicide Prevention Research: </a:t>
            </a:r>
          </a:p>
          <a:p>
            <a:pPr marL="742950" lvl="1" indent="-285750">
              <a:buFont typeface="Courier New" panose="02070309020205020404" pitchFamily="49" charset="0"/>
              <a:buChar char="o"/>
            </a:pPr>
            <a:r>
              <a:rPr lang="en-US" sz="1800" kern="100" dirty="0">
                <a:effectLst/>
                <a:ea typeface="Calibri" panose="020F0502020204030204" pitchFamily="34" charset="0"/>
                <a:cs typeface="Times New Roman" panose="02020603050405020304" pitchFamily="18" charset="0"/>
              </a:rPr>
              <a:t>Supporting Patients after Discharge from the Emergency Department (SPED)</a:t>
            </a:r>
          </a:p>
          <a:p>
            <a:pPr marL="742950" lvl="1" indent="-285750">
              <a:buFont typeface="Courier New" panose="02070309020205020404" pitchFamily="49" charset="0"/>
              <a:buChar char="o"/>
            </a:pPr>
            <a:r>
              <a:rPr lang="en-US" sz="1800" kern="100" dirty="0">
                <a:effectLst/>
                <a:ea typeface="Calibri" panose="020F0502020204030204" pitchFamily="34" charset="0"/>
                <a:cs typeface="Times New Roman" panose="02020603050405020304" pitchFamily="18" charset="0"/>
              </a:rPr>
              <a:t>Standardized Suicide Risk Screening and Evaluation (VA Risk ID)</a:t>
            </a:r>
          </a:p>
          <a:p>
            <a:pPr marL="742950" lvl="1" indent="-285750">
              <a:buFont typeface="Courier New" panose="02070309020205020404" pitchFamily="49" charset="0"/>
              <a:buChar char="o"/>
            </a:pPr>
            <a:r>
              <a:rPr lang="en-US" sz="1800" kern="100" dirty="0">
                <a:effectLst/>
                <a:ea typeface="Calibri" panose="020F0502020204030204" pitchFamily="34" charset="0"/>
                <a:cs typeface="Times New Roman" panose="02020603050405020304" pitchFamily="18" charset="0"/>
              </a:rPr>
              <a:t>REACH VET (Recovery Engagement and Coordination for Health – Veterans Enhanced Treatment)</a:t>
            </a:r>
          </a:p>
          <a:p>
            <a:pPr marL="742950" lvl="1" indent="-285750">
              <a:buFont typeface="Courier New" panose="02070309020205020404" pitchFamily="49" charset="0"/>
              <a:buChar char="o"/>
            </a:pPr>
            <a:r>
              <a:rPr lang="en-US" sz="1800" kern="100" dirty="0">
                <a:effectLst/>
                <a:ea typeface="Calibri" panose="020F0502020204030204" pitchFamily="34" charset="0"/>
                <a:cs typeface="Times New Roman" panose="02020603050405020304" pitchFamily="18" charset="0"/>
              </a:rPr>
              <a:t>FINVET (National Veterans Financial Resource Center)</a:t>
            </a:r>
          </a:p>
          <a:p>
            <a:pPr marL="742950" lvl="1" indent="-285750">
              <a:buFont typeface="Courier New" panose="02070309020205020404" pitchFamily="49" charset="0"/>
              <a:buChar char="o"/>
            </a:pPr>
            <a:r>
              <a:rPr lang="en-US" sz="1800" kern="100" dirty="0">
                <a:effectLst/>
                <a:ea typeface="Calibri" panose="020F0502020204030204" pitchFamily="34" charset="0"/>
                <a:cs typeface="Times New Roman" panose="02020603050405020304" pitchFamily="18" charset="0"/>
              </a:rPr>
              <a:t>VA DoD Clinical Practice Guidelines</a:t>
            </a:r>
          </a:p>
          <a:p>
            <a:pPr marL="742950" lvl="1" indent="-285750">
              <a:buFont typeface="Courier New" panose="02070309020205020404" pitchFamily="49" charset="0"/>
              <a:buChar char="o"/>
            </a:pPr>
            <a:r>
              <a:rPr lang="en-US" sz="1800" kern="100" dirty="0">
                <a:effectLst/>
                <a:ea typeface="Calibri" panose="020F0502020204030204" pitchFamily="34" charset="0"/>
                <a:cs typeface="Times New Roman" panose="02020603050405020304" pitchFamily="18" charset="0"/>
              </a:rPr>
              <a:t>Caring Contacts</a:t>
            </a:r>
          </a:p>
          <a:p>
            <a:pPr marL="285750" marR="0" indent="-285750">
              <a:lnSpc>
                <a:spcPct val="107000"/>
              </a:lnSpc>
              <a:spcBef>
                <a:spcPts val="0"/>
              </a:spcBef>
              <a:spcAft>
                <a:spcPts val="0"/>
              </a:spcAft>
              <a:buFont typeface="Arial" panose="020B0604020202020204" pitchFamily="34" charset="0"/>
              <a:buChar char="•"/>
            </a:pPr>
            <a:r>
              <a:rPr lang="en-US" sz="2000" b="1" dirty="0">
                <a:ea typeface="Calibri" panose="020F0502020204030204" pitchFamily="34" charset="0"/>
              </a:rPr>
              <a:t>C</a:t>
            </a:r>
            <a:r>
              <a:rPr lang="en-US" sz="2000" b="1" dirty="0">
                <a:effectLst/>
                <a:ea typeface="Calibri" panose="020F0502020204030204" pitchFamily="34" charset="0"/>
              </a:rPr>
              <a:t>ongressional Legislation addressed through VA-funded Suicide Prevention Research</a:t>
            </a:r>
            <a:endParaRPr lang="en-US" sz="2000" b="1" dirty="0">
              <a:effectLst/>
              <a:ea typeface="Calibri" panose="020F0502020204030204" pitchFamily="34" charset="0"/>
              <a:cs typeface="Times New Roman" panose="02020603050405020304" pitchFamily="18" charset="0"/>
            </a:endParaRPr>
          </a:p>
          <a:p>
            <a:pPr marL="742950" lvl="1" indent="-285750">
              <a:buFont typeface="Courier New" panose="02070309020205020404" pitchFamily="49" charset="0"/>
              <a:buChar char="o"/>
            </a:pPr>
            <a:r>
              <a:rPr lang="en-US" sz="1800" kern="100" dirty="0">
                <a:effectLst/>
                <a:ea typeface="Calibri" panose="020F0502020204030204" pitchFamily="34" charset="0"/>
                <a:cs typeface="Calibri" panose="020F0502020204030204" pitchFamily="34" charset="0"/>
              </a:rPr>
              <a:t>Hannon Act: SEC. 301. Study on </a:t>
            </a:r>
            <a:r>
              <a:rPr lang="en-US" sz="1800" kern="100" dirty="0">
                <a:ea typeface="Calibri" panose="020F0502020204030204" pitchFamily="34" charset="0"/>
                <a:cs typeface="Calibri" panose="020F0502020204030204" pitchFamily="34" charset="0"/>
              </a:rPr>
              <a:t>C</a:t>
            </a:r>
            <a:r>
              <a:rPr lang="en-US" sz="1800" kern="100" dirty="0">
                <a:effectLst/>
                <a:ea typeface="Calibri" panose="020F0502020204030204" pitchFamily="34" charset="0"/>
                <a:cs typeface="Calibri" panose="020F0502020204030204" pitchFamily="34" charset="0"/>
              </a:rPr>
              <a:t>onnection </a:t>
            </a:r>
            <a:r>
              <a:rPr lang="en-US" sz="1800" kern="100" dirty="0">
                <a:ea typeface="Calibri" panose="020F0502020204030204" pitchFamily="34" charset="0"/>
                <a:cs typeface="Calibri" panose="020F0502020204030204" pitchFamily="34" charset="0"/>
              </a:rPr>
              <a:t>B</a:t>
            </a:r>
            <a:r>
              <a:rPr lang="en-US" sz="1800" kern="100" dirty="0">
                <a:effectLst/>
                <a:ea typeface="Calibri" panose="020F0502020204030204" pitchFamily="34" charset="0"/>
                <a:cs typeface="Calibri" panose="020F0502020204030204" pitchFamily="34" charset="0"/>
              </a:rPr>
              <a:t>etween Living at </a:t>
            </a:r>
            <a:r>
              <a:rPr lang="en-US" sz="1800" kern="100" dirty="0">
                <a:ea typeface="Calibri" panose="020F0502020204030204" pitchFamily="34" charset="0"/>
                <a:cs typeface="Calibri" panose="020F0502020204030204" pitchFamily="34" charset="0"/>
              </a:rPr>
              <a:t>H</a:t>
            </a:r>
            <a:r>
              <a:rPr lang="en-US" sz="1800" kern="100" dirty="0">
                <a:effectLst/>
                <a:ea typeface="Calibri" panose="020F0502020204030204" pitchFamily="34" charset="0"/>
                <a:cs typeface="Calibri" panose="020F0502020204030204" pitchFamily="34" charset="0"/>
              </a:rPr>
              <a:t>igh Altitude and </a:t>
            </a:r>
            <a:r>
              <a:rPr lang="en-US" sz="1800" kern="100" dirty="0">
                <a:ea typeface="Calibri" panose="020F0502020204030204" pitchFamily="34" charset="0"/>
                <a:cs typeface="Calibri" panose="020F0502020204030204" pitchFamily="34" charset="0"/>
              </a:rPr>
              <a:t>S</a:t>
            </a:r>
            <a:r>
              <a:rPr lang="en-US" sz="1800" kern="100" dirty="0">
                <a:effectLst/>
                <a:ea typeface="Calibri" panose="020F0502020204030204" pitchFamily="34" charset="0"/>
                <a:cs typeface="Calibri" panose="020F0502020204030204" pitchFamily="34" charset="0"/>
              </a:rPr>
              <a:t>uicide </a:t>
            </a:r>
            <a:r>
              <a:rPr lang="en-US" sz="1800" kern="100" dirty="0">
                <a:ea typeface="Calibri" panose="020F0502020204030204" pitchFamily="34" charset="0"/>
                <a:cs typeface="Calibri" panose="020F0502020204030204" pitchFamily="34" charset="0"/>
              </a:rPr>
              <a:t>R</a:t>
            </a:r>
            <a:r>
              <a:rPr lang="en-US" sz="1800" kern="100" dirty="0">
                <a:effectLst/>
                <a:ea typeface="Calibri" panose="020F0502020204030204" pitchFamily="34" charset="0"/>
                <a:cs typeface="Calibri" panose="020F0502020204030204" pitchFamily="34" charset="0"/>
              </a:rPr>
              <a:t>isk </a:t>
            </a:r>
            <a:r>
              <a:rPr lang="en-US" sz="1800" kern="100" dirty="0">
                <a:ea typeface="Calibri" panose="020F0502020204030204" pitchFamily="34" charset="0"/>
                <a:cs typeface="Calibri" panose="020F0502020204030204" pitchFamily="34" charset="0"/>
              </a:rPr>
              <a:t>F</a:t>
            </a:r>
            <a:r>
              <a:rPr lang="en-US" sz="1800" kern="100" dirty="0">
                <a:effectLst/>
                <a:ea typeface="Calibri" panose="020F0502020204030204" pitchFamily="34" charset="0"/>
                <a:cs typeface="Calibri" panose="020F0502020204030204" pitchFamily="34" charset="0"/>
              </a:rPr>
              <a:t>actors </a:t>
            </a:r>
            <a:r>
              <a:rPr lang="en-US" sz="1800" kern="100" dirty="0">
                <a:ea typeface="Calibri" panose="020F0502020204030204" pitchFamily="34" charset="0"/>
                <a:cs typeface="Calibri" panose="020F0502020204030204" pitchFamily="34" charset="0"/>
              </a:rPr>
              <a:t>A</a:t>
            </a:r>
            <a:r>
              <a:rPr lang="en-US" sz="1800" kern="100" dirty="0">
                <a:effectLst/>
                <a:ea typeface="Calibri" panose="020F0502020204030204" pitchFamily="34" charset="0"/>
                <a:cs typeface="Calibri" panose="020F0502020204030204" pitchFamily="34" charset="0"/>
              </a:rPr>
              <a:t>mong Veterans.</a:t>
            </a:r>
          </a:p>
          <a:p>
            <a:pPr marL="1200150" lvl="2" indent="-285750">
              <a:buFont typeface="Arial" panose="020B0604020202020204" pitchFamily="34" charset="0"/>
              <a:buChar char="•"/>
            </a:pPr>
            <a:r>
              <a:rPr lang="en-US" sz="1800" kern="100" dirty="0">
                <a:ea typeface="Calibri" panose="020F0502020204030204" pitchFamily="34" charset="0"/>
                <a:cs typeface="Calibri" panose="020F0502020204030204" pitchFamily="34" charset="0"/>
              </a:rPr>
              <a:t>VA </a:t>
            </a:r>
            <a:r>
              <a:rPr lang="en-US" sz="1800" kern="100" dirty="0">
                <a:effectLst/>
                <a:ea typeface="Calibri" panose="020F0502020204030204" pitchFamily="34" charset="0"/>
                <a:cs typeface="Calibri" panose="020F0502020204030204" pitchFamily="34" charset="0"/>
              </a:rPr>
              <a:t>Investigators utilized electronic health record (EHR) data from 14 million Veterans to address congressional requirements concerning between altitude and suicide deaths</a:t>
            </a:r>
            <a:endParaRPr lang="en-US" sz="1800" dirty="0"/>
          </a:p>
        </p:txBody>
      </p:sp>
      <p:sp>
        <p:nvSpPr>
          <p:cNvPr id="5" name="Slide Number Placeholder 4">
            <a:extLst>
              <a:ext uri="{FF2B5EF4-FFF2-40B4-BE49-F238E27FC236}">
                <a16:creationId xmlns:a16="http://schemas.microsoft.com/office/drawing/2014/main" id="{99EB2D75-1F7A-A91F-83FF-85ABCCFF1682}"/>
              </a:ext>
            </a:extLst>
          </p:cNvPr>
          <p:cNvSpPr>
            <a:spLocks noGrp="1"/>
          </p:cNvSpPr>
          <p:nvPr>
            <p:ph type="sldNum" sz="quarter" idx="12"/>
          </p:nvPr>
        </p:nvSpPr>
        <p:spPr/>
        <p:txBody>
          <a:bodyPr/>
          <a:lstStyle/>
          <a:p>
            <a:fld id="{D983F1FA-211D-3044-9E35-958DFBC26156}" type="slidenum">
              <a:rPr lang="en-US" smtClean="0">
                <a:solidFill>
                  <a:prstClr val="white"/>
                </a:solidFill>
              </a:rPr>
              <a:pPr/>
              <a:t>2</a:t>
            </a:fld>
            <a:endParaRPr lang="en-US" dirty="0">
              <a:solidFill>
                <a:prstClr val="white"/>
              </a:solidFill>
            </a:endParaRPr>
          </a:p>
        </p:txBody>
      </p:sp>
    </p:spTree>
    <p:extLst>
      <p:ext uri="{BB962C8B-B14F-4D97-AF65-F5344CB8AC3E}">
        <p14:creationId xmlns:p14="http://schemas.microsoft.com/office/powerpoint/2010/main" val="1858573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1CD33C2-F81C-E34C-19B7-C83CB6016635}"/>
              </a:ext>
            </a:extLst>
          </p:cNvPr>
          <p:cNvSpPr>
            <a:spLocks noGrp="1"/>
          </p:cNvSpPr>
          <p:nvPr>
            <p:ph idx="1"/>
          </p:nvPr>
        </p:nvSpPr>
        <p:spPr>
          <a:xfrm>
            <a:off x="388688" y="1038090"/>
            <a:ext cx="10901362" cy="5403850"/>
          </a:xfrm>
        </p:spPr>
        <p:txBody>
          <a:bodyPr>
            <a:normAutofit/>
          </a:bodyPr>
          <a:lstStyle/>
          <a:p>
            <a:pPr marL="0" indent="0">
              <a:buNone/>
            </a:pPr>
            <a:r>
              <a:rPr lang="en-US" sz="1700" b="1" dirty="0"/>
              <a:t>VA Investigators evaluated </a:t>
            </a:r>
            <a:r>
              <a:rPr lang="en-US" sz="1700" b="1" dirty="0">
                <a:sym typeface="Wingdings" panose="05000000000000000000" pitchFamily="2" charset="2"/>
              </a:rPr>
              <a:t>Veteran Sponsorship Initiative (VSI+): </a:t>
            </a:r>
            <a:r>
              <a:rPr lang="en-US" sz="1700" dirty="0">
                <a:sym typeface="Wingdings" panose="05000000000000000000" pitchFamily="2" charset="2"/>
              </a:rPr>
              <a:t>a</a:t>
            </a:r>
            <a:r>
              <a:rPr lang="en-US" sz="1700" b="1" dirty="0">
                <a:sym typeface="Wingdings" panose="05000000000000000000" pitchFamily="2" charset="2"/>
              </a:rPr>
              <a:t> </a:t>
            </a:r>
            <a:r>
              <a:rPr lang="en-US" sz="1700" dirty="0">
                <a:sym typeface="Wingdings" panose="05000000000000000000" pitchFamily="2" charset="2"/>
              </a:rPr>
              <a:t>precision medicine tool for suicide prevention for service members as they transition into civilian life</a:t>
            </a:r>
          </a:p>
          <a:p>
            <a:pPr lvl="1">
              <a:spcAft>
                <a:spcPts val="0"/>
              </a:spcAft>
            </a:pPr>
            <a:r>
              <a:rPr lang="en-US" sz="1600" b="1" dirty="0">
                <a:sym typeface="Wingdings" panose="05000000000000000000" pitchFamily="2" charset="2"/>
              </a:rPr>
              <a:t>Problem:</a:t>
            </a:r>
            <a:r>
              <a:rPr lang="en-US" sz="1600" dirty="0">
                <a:sym typeface="Wingdings" panose="05000000000000000000" pitchFamily="2" charset="2"/>
              </a:rPr>
              <a:t> VA investigators previously demonstrated that the suicide rate for Veterans aged 18 to 34 years old more than doubled since 2001</a:t>
            </a:r>
          </a:p>
          <a:p>
            <a:pPr lvl="2"/>
            <a:r>
              <a:rPr lang="en-US" sz="1400" dirty="0">
                <a:sym typeface="Wingdings" panose="05000000000000000000" pitchFamily="2" charset="2"/>
              </a:rPr>
              <a:t>2.5x risk in 1st year after the military (</a:t>
            </a:r>
            <a:r>
              <a:rPr lang="da-DK" sz="1400" dirty="0">
                <a:sym typeface="Wingdings" panose="05000000000000000000" pitchFamily="2" charset="2"/>
              </a:rPr>
              <a:t>Sokol et al 2021; Geraci et al 2020; </a:t>
            </a:r>
            <a:r>
              <a:rPr lang="en-US" sz="1400" dirty="0">
                <a:sym typeface="Wingdings" panose="05000000000000000000" pitchFamily="2" charset="2"/>
              </a:rPr>
              <a:t>Shen et al 2016; Ravindran et al 2020)</a:t>
            </a:r>
          </a:p>
          <a:p>
            <a:pPr marL="914400" lvl="2" indent="0">
              <a:buNone/>
            </a:pPr>
            <a:endParaRPr lang="en-US" sz="800" dirty="0">
              <a:sym typeface="Wingdings" panose="05000000000000000000" pitchFamily="2" charset="2"/>
            </a:endParaRPr>
          </a:p>
          <a:p>
            <a:pPr lvl="1"/>
            <a:r>
              <a:rPr lang="en-US" sz="1600" b="1" dirty="0">
                <a:sym typeface="Wingdings" panose="05000000000000000000" pitchFamily="2" charset="2"/>
              </a:rPr>
              <a:t>VSI+: </a:t>
            </a:r>
            <a:r>
              <a:rPr lang="en-US" sz="1600" dirty="0">
                <a:sym typeface="Wingdings" panose="05000000000000000000" pitchFamily="2" charset="2"/>
              </a:rPr>
              <a:t>uses </a:t>
            </a:r>
            <a:r>
              <a:rPr lang="en-US" sz="1600" b="1" dirty="0">
                <a:sym typeface="Wingdings" panose="05000000000000000000" pitchFamily="2" charset="2"/>
              </a:rPr>
              <a:t>predictive analytics </a:t>
            </a:r>
            <a:r>
              <a:rPr lang="en-US" sz="1600" dirty="0">
                <a:sym typeface="Wingdings" panose="05000000000000000000" pitchFamily="2" charset="2"/>
              </a:rPr>
              <a:t>to identify service members at high risk for suicide</a:t>
            </a:r>
          </a:p>
          <a:p>
            <a:pPr lvl="2"/>
            <a:r>
              <a:rPr lang="en-US" sz="1400" b="1" dirty="0">
                <a:sym typeface="Wingdings" panose="05000000000000000000" pitchFamily="2" charset="2"/>
              </a:rPr>
              <a:t>VA investigators found:</a:t>
            </a:r>
          </a:p>
          <a:p>
            <a:pPr lvl="3">
              <a:lnSpc>
                <a:spcPct val="100000"/>
              </a:lnSpc>
            </a:pPr>
            <a:r>
              <a:rPr lang="en-US" sz="1400" dirty="0">
                <a:sym typeface="Wingdings" panose="05000000000000000000" pitchFamily="2" charset="2"/>
              </a:rPr>
              <a:t>30% of service members with highest predicted risk by VSI+ account for 93% of medically serious suicide attempts within the first year following military discharge (Kearns et al, 2023)</a:t>
            </a:r>
          </a:p>
          <a:p>
            <a:pPr lvl="3">
              <a:lnSpc>
                <a:spcPct val="100000"/>
              </a:lnSpc>
            </a:pPr>
            <a:r>
              <a:rPr lang="en-US" sz="1400" dirty="0">
                <a:sym typeface="Wingdings" panose="05000000000000000000" pitchFamily="2" charset="2"/>
              </a:rPr>
              <a:t>VSI+ </a:t>
            </a:r>
            <a:r>
              <a:rPr lang="en-US" sz="1400" b="1" dirty="0">
                <a:sym typeface="Wingdings" panose="05000000000000000000" pitchFamily="2" charset="2"/>
              </a:rPr>
              <a:t>enables connecting high-risk service members—before they leave the service—to stepped-care interventions </a:t>
            </a:r>
            <a:r>
              <a:rPr lang="en-US" sz="1400" dirty="0">
                <a:sym typeface="Wingdings" panose="05000000000000000000" pitchFamily="2" charset="2"/>
              </a:rPr>
              <a:t>e.g., peer sponsors, community services, VA benefits and health care (Hannon Act Section 101) including specialty care for military environmental exposures, mental health, TBI, and physical therapy</a:t>
            </a:r>
          </a:p>
          <a:p>
            <a:pPr lvl="2"/>
            <a:r>
              <a:rPr lang="en-US" sz="1400" b="1" dirty="0">
                <a:sym typeface="Wingdings" panose="05000000000000000000" pitchFamily="2" charset="2"/>
              </a:rPr>
              <a:t>Next Steps:</a:t>
            </a:r>
          </a:p>
          <a:p>
            <a:pPr lvl="3">
              <a:lnSpc>
                <a:spcPct val="100000"/>
              </a:lnSpc>
            </a:pPr>
            <a:r>
              <a:rPr lang="en-US" sz="1400" dirty="0">
                <a:sym typeface="Wingdings" panose="05000000000000000000" pitchFamily="2" charset="2"/>
              </a:rPr>
              <a:t>Partnering with VHA/VBA, DOD, and community partners to improve and integrate predictive analytics into enterprise-wide efforts to reduce Veteran suicide, homelessness, &amp; unemployment, e.g., partnership with Post-9/11 Military 2VA Case Management Program to prioritize their outreach efforts based on risk scores</a:t>
            </a:r>
          </a:p>
          <a:p>
            <a:pPr lvl="3">
              <a:lnSpc>
                <a:spcPct val="100000"/>
              </a:lnSpc>
            </a:pPr>
            <a:r>
              <a:rPr lang="en-US" sz="1400" dirty="0">
                <a:sym typeface="Wingdings" panose="05000000000000000000" pitchFamily="2" charset="2"/>
              </a:rPr>
              <a:t>Integrating/expanding tool to predicting and preventing Veteran homeless and unemployment </a:t>
            </a:r>
          </a:p>
          <a:p>
            <a:pPr lvl="1"/>
            <a:endParaRPr lang="en-US" sz="1600" dirty="0">
              <a:sym typeface="Wingdings" panose="05000000000000000000" pitchFamily="2" charset="2"/>
            </a:endParaRPr>
          </a:p>
        </p:txBody>
      </p:sp>
      <p:sp>
        <p:nvSpPr>
          <p:cNvPr id="3" name="Title 2">
            <a:extLst>
              <a:ext uri="{FF2B5EF4-FFF2-40B4-BE49-F238E27FC236}">
                <a16:creationId xmlns:a16="http://schemas.microsoft.com/office/drawing/2014/main" id="{6ED58AF4-07B0-BECF-67B3-0DCE7AA972FC}"/>
              </a:ext>
            </a:extLst>
          </p:cNvPr>
          <p:cNvSpPr>
            <a:spLocks noGrp="1"/>
          </p:cNvSpPr>
          <p:nvPr>
            <p:ph type="title"/>
          </p:nvPr>
        </p:nvSpPr>
        <p:spPr>
          <a:xfrm>
            <a:off x="224413" y="-77490"/>
            <a:ext cx="11577946" cy="1094265"/>
          </a:xfrm>
        </p:spPr>
        <p:txBody>
          <a:bodyPr>
            <a:normAutofit fontScale="90000"/>
          </a:bodyPr>
          <a:lstStyle/>
          <a:p>
            <a:r>
              <a:rPr lang="en-US" dirty="0"/>
              <a:t>Suicide Prevention –Transitioning Service Members</a:t>
            </a:r>
          </a:p>
        </p:txBody>
      </p:sp>
      <p:sp>
        <p:nvSpPr>
          <p:cNvPr id="2" name="Slide Number Placeholder 1">
            <a:extLst>
              <a:ext uri="{FF2B5EF4-FFF2-40B4-BE49-F238E27FC236}">
                <a16:creationId xmlns:a16="http://schemas.microsoft.com/office/drawing/2014/main" id="{05C3C0E4-8EAB-FFC8-228E-7D952BADDE4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672522-718F-5A4A-A967-5C1A35706813}" type="slidenum">
              <a:rPr kumimoji="0" lang="en-US" sz="1000" b="1" i="0" u="none" strike="noStrike" kern="1200" cap="none" spc="0" normalizeH="0" baseline="0" noProof="0" smtClean="0">
                <a:ln>
                  <a:noFill/>
                </a:ln>
                <a:solidFill>
                  <a:srgbClr val="003F71"/>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1" i="0" u="none" strike="noStrike" kern="1200" cap="none" spc="0" normalizeH="0" baseline="0" noProof="0" dirty="0">
              <a:ln>
                <a:noFill/>
              </a:ln>
              <a:solidFill>
                <a:srgbClr val="003F71"/>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E5F0D1F1-C08B-4DD0-6E16-36F08E672451}"/>
              </a:ext>
            </a:extLst>
          </p:cNvPr>
          <p:cNvSpPr txBox="1"/>
          <p:nvPr/>
        </p:nvSpPr>
        <p:spPr>
          <a:xfrm>
            <a:off x="307027" y="5940851"/>
            <a:ext cx="11577946" cy="830997"/>
          </a:xfrm>
          <a:prstGeom prst="rect">
            <a:avLst/>
          </a:prstGeom>
          <a:noFill/>
        </p:spPr>
        <p:txBody>
          <a:bodyPr wrap="square">
            <a:spAutoFit/>
          </a:bodyPr>
          <a:lstStyle/>
          <a:p>
            <a:pPr algn="ctr"/>
            <a:r>
              <a:rPr lang="en-US" sz="1600" i="1" dirty="0">
                <a:solidFill>
                  <a:srgbClr val="003F71"/>
                </a:solidFill>
              </a:rPr>
              <a:t>“I got into a really dark place. If it wasn't for your help especially with VA medical care I don't think I would've climbed out successfully. Just know you totally made a difference in this combat Veteran's life as well as his family’s.” -Veteran participating in Veteran Sponsorship Initiative</a:t>
            </a:r>
          </a:p>
        </p:txBody>
      </p:sp>
    </p:spTree>
    <p:extLst>
      <p:ext uri="{BB962C8B-B14F-4D97-AF65-F5344CB8AC3E}">
        <p14:creationId xmlns:p14="http://schemas.microsoft.com/office/powerpoint/2010/main" val="3933422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1CD33C2-F81C-E34C-19B7-C83CB6016635}"/>
              </a:ext>
            </a:extLst>
          </p:cNvPr>
          <p:cNvSpPr>
            <a:spLocks noGrp="1"/>
          </p:cNvSpPr>
          <p:nvPr>
            <p:ph idx="1"/>
          </p:nvPr>
        </p:nvSpPr>
        <p:spPr>
          <a:xfrm>
            <a:off x="560739" y="1228787"/>
            <a:ext cx="11070521" cy="4203521"/>
          </a:xfrm>
        </p:spPr>
        <p:txBody>
          <a:bodyPr>
            <a:normAutofit/>
          </a:bodyPr>
          <a:lstStyle/>
          <a:p>
            <a:r>
              <a:rPr lang="en-US" b="1" dirty="0"/>
              <a:t>Problem: </a:t>
            </a:r>
            <a:r>
              <a:rPr lang="en-US" dirty="0"/>
              <a:t>Most suicide deaths occur within 30 days after discharge from the hospital or emergency department</a:t>
            </a:r>
          </a:p>
          <a:p>
            <a:r>
              <a:rPr lang="en-US" b="1" dirty="0"/>
              <a:t>Caring Contacts: </a:t>
            </a:r>
            <a:r>
              <a:rPr lang="en-US" dirty="0"/>
              <a:t>evidence-based practice consisting of sending brief, non-demanding expressions of care and concern to Veterans</a:t>
            </a:r>
          </a:p>
          <a:p>
            <a:pPr>
              <a:lnSpc>
                <a:spcPct val="100000"/>
              </a:lnSpc>
              <a:spcAft>
                <a:spcPts val="0"/>
              </a:spcAft>
            </a:pPr>
            <a:r>
              <a:rPr lang="en-US" b="1" dirty="0"/>
              <a:t>VA Investigators implemented:</a:t>
            </a:r>
            <a:r>
              <a:rPr lang="en-US" dirty="0"/>
              <a:t> practice in emergency department and urgent care settings to reach Veterans who may not engage with mental health services</a:t>
            </a:r>
          </a:p>
          <a:p>
            <a:pPr lvl="1">
              <a:lnSpc>
                <a:spcPct val="100000"/>
              </a:lnSpc>
              <a:spcAft>
                <a:spcPts val="0"/>
              </a:spcAft>
            </a:pPr>
            <a:r>
              <a:rPr lang="en-US" sz="2000" dirty="0"/>
              <a:t>4,300+ Veterans at risk of suicide received Caring Contacts in 19 sites across 9 VISNs</a:t>
            </a:r>
          </a:p>
          <a:p>
            <a:pPr lvl="1">
              <a:lnSpc>
                <a:spcPct val="100000"/>
              </a:lnSpc>
              <a:spcAft>
                <a:spcPts val="0"/>
              </a:spcAft>
            </a:pPr>
            <a:r>
              <a:rPr lang="en-US" sz="2000" dirty="0"/>
              <a:t>9,500+ VA employees educated on Caring Contacts</a:t>
            </a:r>
          </a:p>
          <a:p>
            <a:pPr marL="0" indent="0">
              <a:buNone/>
            </a:pPr>
            <a:endParaRPr lang="en-US" dirty="0"/>
          </a:p>
          <a:p>
            <a:pPr marL="0" indent="0">
              <a:buNone/>
            </a:pPr>
            <a:endParaRPr lang="en-US" dirty="0"/>
          </a:p>
          <a:p>
            <a:pPr marL="0" indent="0">
              <a:buNone/>
            </a:pPr>
            <a:endParaRPr lang="en-US" sz="1600" dirty="0">
              <a:sym typeface="Wingdings" panose="05000000000000000000" pitchFamily="2" charset="2"/>
            </a:endParaRPr>
          </a:p>
        </p:txBody>
      </p:sp>
      <p:sp>
        <p:nvSpPr>
          <p:cNvPr id="3" name="Title 2">
            <a:extLst>
              <a:ext uri="{FF2B5EF4-FFF2-40B4-BE49-F238E27FC236}">
                <a16:creationId xmlns:a16="http://schemas.microsoft.com/office/drawing/2014/main" id="{6ED58AF4-07B0-BECF-67B3-0DCE7AA972FC}"/>
              </a:ext>
            </a:extLst>
          </p:cNvPr>
          <p:cNvSpPr>
            <a:spLocks noGrp="1"/>
          </p:cNvSpPr>
          <p:nvPr>
            <p:ph type="title"/>
          </p:nvPr>
        </p:nvSpPr>
        <p:spPr>
          <a:xfrm>
            <a:off x="224412" y="-77490"/>
            <a:ext cx="12219835" cy="1094265"/>
          </a:xfrm>
        </p:spPr>
        <p:txBody>
          <a:bodyPr>
            <a:normAutofit/>
          </a:bodyPr>
          <a:lstStyle/>
          <a:p>
            <a:r>
              <a:rPr lang="en-US" sz="3600" dirty="0"/>
              <a:t>Suicide Prevention – Caring Contacts</a:t>
            </a:r>
          </a:p>
        </p:txBody>
      </p:sp>
      <p:sp>
        <p:nvSpPr>
          <p:cNvPr id="2" name="Slide Number Placeholder 1">
            <a:extLst>
              <a:ext uri="{FF2B5EF4-FFF2-40B4-BE49-F238E27FC236}">
                <a16:creationId xmlns:a16="http://schemas.microsoft.com/office/drawing/2014/main" id="{05C3C0E4-8EAB-FFC8-228E-7D952BADDE4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672522-718F-5A4A-A967-5C1A35706813}" type="slidenum">
              <a:rPr kumimoji="0" lang="en-US" sz="1000" b="1" i="0" u="none" strike="noStrike" kern="1200" cap="none" spc="0" normalizeH="0" baseline="0" noProof="0" smtClean="0">
                <a:ln>
                  <a:noFill/>
                </a:ln>
                <a:solidFill>
                  <a:srgbClr val="003F71"/>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00" b="1" i="0" u="none" strike="noStrike" kern="1200" cap="none" spc="0" normalizeH="0" baseline="0" noProof="0">
              <a:ln>
                <a:noFill/>
              </a:ln>
              <a:solidFill>
                <a:srgbClr val="003F71"/>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F4E8B5F8-2478-C086-4178-0FB62B801CBF}"/>
              </a:ext>
            </a:extLst>
          </p:cNvPr>
          <p:cNvSpPr txBox="1"/>
          <p:nvPr/>
        </p:nvSpPr>
        <p:spPr>
          <a:xfrm>
            <a:off x="1602082" y="5221280"/>
            <a:ext cx="8267131" cy="646331"/>
          </a:xfrm>
          <a:prstGeom prst="rect">
            <a:avLst/>
          </a:prstGeom>
          <a:noFill/>
        </p:spPr>
        <p:txBody>
          <a:bodyPr wrap="square">
            <a:spAutoFit/>
          </a:bodyPr>
          <a:lstStyle/>
          <a:p>
            <a:pPr algn="ctr"/>
            <a:r>
              <a:rPr lang="en-US" i="1" dirty="0">
                <a:solidFill>
                  <a:schemeClr val="tx2"/>
                </a:solidFill>
              </a:rPr>
              <a:t>“It made me feel like I wasn't a number. Like it was more personable and seems like they really took the time out to care...” -Veteran receiving Caring Contacts</a:t>
            </a:r>
          </a:p>
        </p:txBody>
      </p:sp>
      <p:sp>
        <p:nvSpPr>
          <p:cNvPr id="10" name="TextBox 9">
            <a:extLst>
              <a:ext uri="{FF2B5EF4-FFF2-40B4-BE49-F238E27FC236}">
                <a16:creationId xmlns:a16="http://schemas.microsoft.com/office/drawing/2014/main" id="{4C23F889-CC4D-BA94-04A1-6C88110513F0}"/>
              </a:ext>
            </a:extLst>
          </p:cNvPr>
          <p:cNvSpPr txBox="1"/>
          <p:nvPr/>
        </p:nvSpPr>
        <p:spPr>
          <a:xfrm>
            <a:off x="224412" y="5921047"/>
            <a:ext cx="11290872" cy="646331"/>
          </a:xfrm>
          <a:prstGeom prst="rect">
            <a:avLst/>
          </a:prstGeom>
          <a:noFill/>
        </p:spPr>
        <p:txBody>
          <a:bodyPr wrap="square">
            <a:spAutoFit/>
          </a:bodyPr>
          <a:lstStyle/>
          <a:p>
            <a:pPr algn="ctr"/>
            <a:r>
              <a:rPr lang="en-US" i="1" dirty="0">
                <a:solidFill>
                  <a:schemeClr val="tx2"/>
                </a:solidFill>
              </a:rPr>
              <a:t>“I appreciate them sending the cards out though to check on me because, you know, I have several suicide attempts. That made me feel good, that hey, I’m being thought about.”</a:t>
            </a:r>
            <a:r>
              <a:rPr lang="en-US" dirty="0">
                <a:solidFill>
                  <a:schemeClr val="tx2"/>
                </a:solidFill>
              </a:rPr>
              <a:t> </a:t>
            </a:r>
            <a:r>
              <a:rPr lang="en-US" i="1" dirty="0">
                <a:solidFill>
                  <a:schemeClr val="tx2"/>
                </a:solidFill>
              </a:rPr>
              <a:t>–Veteran receiving Caring Contacts</a:t>
            </a:r>
          </a:p>
        </p:txBody>
      </p:sp>
    </p:spTree>
    <p:extLst>
      <p:ext uri="{BB962C8B-B14F-4D97-AF65-F5344CB8AC3E}">
        <p14:creationId xmlns:p14="http://schemas.microsoft.com/office/powerpoint/2010/main" val="303206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1CD33C2-F81C-E34C-19B7-C83CB6016635}"/>
              </a:ext>
            </a:extLst>
          </p:cNvPr>
          <p:cNvSpPr>
            <a:spLocks noGrp="1"/>
          </p:cNvSpPr>
          <p:nvPr>
            <p:ph idx="1"/>
          </p:nvPr>
        </p:nvSpPr>
        <p:spPr>
          <a:xfrm>
            <a:off x="731838" y="1317625"/>
            <a:ext cx="10901362" cy="5160963"/>
          </a:xfrm>
        </p:spPr>
        <p:txBody>
          <a:bodyPr>
            <a:normAutofit/>
          </a:bodyPr>
          <a:lstStyle/>
          <a:p>
            <a:r>
              <a:rPr lang="en-US" b="1" dirty="0"/>
              <a:t>Program: </a:t>
            </a:r>
            <a:r>
              <a:rPr lang="en-US" dirty="0"/>
              <a:t>Caring letters sent to Veterans who contact Veterans Crisis Line</a:t>
            </a:r>
          </a:p>
          <a:p>
            <a:r>
              <a:rPr lang="en-US" b="1" dirty="0"/>
              <a:t>VA Investigators found</a:t>
            </a:r>
            <a:r>
              <a:rPr lang="en-US" dirty="0"/>
              <a:t>: </a:t>
            </a:r>
            <a:r>
              <a:rPr lang="en-US" sz="1800" dirty="0">
                <a:latin typeface="+mj-lt"/>
              </a:rPr>
              <a:t> </a:t>
            </a:r>
            <a:r>
              <a:rPr kumimoji="0" lang="en-US" altLang="en-US" sz="1800" b="0" i="0" strike="noStrike" kern="1200" cap="none" spc="0" normalizeH="0" baseline="0" noProof="0" dirty="0">
                <a:ln>
                  <a:noFill/>
                </a:ln>
                <a:effectLst/>
                <a:uLnTx/>
                <a:uFillTx/>
                <a:latin typeface="+mj-lt"/>
                <a:ea typeface="+mn-ea"/>
                <a:cs typeface="Arial"/>
              </a:rPr>
              <a:t>(Reger et al 2024)</a:t>
            </a:r>
            <a:endParaRPr lang="en-US" sz="1800" dirty="0">
              <a:latin typeface="+mj-lt"/>
            </a:endParaRPr>
          </a:p>
          <a:p>
            <a:pPr lvl="1"/>
            <a:r>
              <a:rPr kumimoji="0" lang="en-US" altLang="en-US" b="0" i="0" u="none" strike="noStrike" kern="1200" cap="none" spc="0" normalizeH="0" baseline="0" noProof="0" dirty="0">
                <a:ln>
                  <a:noFill/>
                </a:ln>
                <a:solidFill>
                  <a:srgbClr val="000000"/>
                </a:solidFill>
                <a:effectLst/>
                <a:uLnTx/>
                <a:uFillTx/>
                <a:ea typeface="+mn-ea"/>
                <a:cs typeface="Arial"/>
              </a:rPr>
              <a:t>Program reached ~370,000 Veterans with over 2.8 million letters mailed </a:t>
            </a:r>
            <a:r>
              <a:rPr lang="en-US" dirty="0"/>
              <a:t>Informed letter design (e.g., using provider as Caring Letter signatory)</a:t>
            </a:r>
          </a:p>
          <a:p>
            <a:pPr lvl="1"/>
            <a:r>
              <a:rPr lang="en-US" dirty="0"/>
              <a:t>It was well-suited for a large-scale high-risk population and inexpensive (costs less than $10/Veteran)</a:t>
            </a:r>
          </a:p>
          <a:p>
            <a:pPr lvl="1"/>
            <a:r>
              <a:rPr lang="en-US" dirty="0"/>
              <a:t>Centralized approach well-positioned to deliver Caring Letters to a high-risk population while easing the administrative burden and workload for providers</a:t>
            </a:r>
          </a:p>
          <a:p>
            <a:pPr lvl="1"/>
            <a:r>
              <a:rPr lang="en-US" dirty="0"/>
              <a:t>Associated with higher probability of VHA outpatient and inpatient mental health care use, </a:t>
            </a:r>
            <a:r>
              <a:rPr lang="en-US" b="1" dirty="0"/>
              <a:t>likely reflecting better access to mental health care</a:t>
            </a:r>
            <a:endParaRPr lang="en-US" sz="1200" dirty="0">
              <a:sym typeface="Wingdings" panose="05000000000000000000" pitchFamily="2" charset="2"/>
            </a:endParaRPr>
          </a:p>
        </p:txBody>
      </p:sp>
      <p:sp>
        <p:nvSpPr>
          <p:cNvPr id="3" name="Title 2">
            <a:extLst>
              <a:ext uri="{FF2B5EF4-FFF2-40B4-BE49-F238E27FC236}">
                <a16:creationId xmlns:a16="http://schemas.microsoft.com/office/drawing/2014/main" id="{6ED58AF4-07B0-BECF-67B3-0DCE7AA972FC}"/>
              </a:ext>
            </a:extLst>
          </p:cNvPr>
          <p:cNvSpPr>
            <a:spLocks noGrp="1"/>
          </p:cNvSpPr>
          <p:nvPr>
            <p:ph type="title"/>
          </p:nvPr>
        </p:nvSpPr>
        <p:spPr>
          <a:xfrm>
            <a:off x="224413" y="-77490"/>
            <a:ext cx="11577946" cy="1094265"/>
          </a:xfrm>
        </p:spPr>
        <p:txBody>
          <a:bodyPr>
            <a:normAutofit/>
          </a:bodyPr>
          <a:lstStyle/>
          <a:p>
            <a:r>
              <a:rPr lang="en-US" sz="3600" dirty="0"/>
              <a:t>Suicide Prevention – Caring Letters</a:t>
            </a:r>
          </a:p>
        </p:txBody>
      </p:sp>
      <p:sp>
        <p:nvSpPr>
          <p:cNvPr id="2" name="Slide Number Placeholder 1">
            <a:extLst>
              <a:ext uri="{FF2B5EF4-FFF2-40B4-BE49-F238E27FC236}">
                <a16:creationId xmlns:a16="http://schemas.microsoft.com/office/drawing/2014/main" id="{05C3C0E4-8EAB-FFC8-228E-7D952BADDE4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672522-718F-5A4A-A967-5C1A35706813}" type="slidenum">
              <a:rPr kumimoji="0" lang="en-US" sz="1000" b="1" i="0" u="none" strike="noStrike" kern="1200" cap="none" spc="0" normalizeH="0" baseline="0" noProof="0" smtClean="0">
                <a:ln>
                  <a:noFill/>
                </a:ln>
                <a:solidFill>
                  <a:srgbClr val="003F71"/>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1" i="0" u="none" strike="noStrike" kern="1200" cap="none" spc="0" normalizeH="0" baseline="0" noProof="0">
              <a:ln>
                <a:noFill/>
              </a:ln>
              <a:solidFill>
                <a:srgbClr val="003F71"/>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10281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248484-3479-B9D0-BC76-78AC2ED61399}"/>
              </a:ext>
            </a:extLst>
          </p:cNvPr>
          <p:cNvSpPr>
            <a:spLocks noGrp="1"/>
          </p:cNvSpPr>
          <p:nvPr>
            <p:ph idx="1"/>
          </p:nvPr>
        </p:nvSpPr>
        <p:spPr>
          <a:xfrm>
            <a:off x="420414" y="1285712"/>
            <a:ext cx="11520126" cy="5161050"/>
          </a:xfrm>
        </p:spPr>
        <p:txBody>
          <a:bodyPr/>
          <a:lstStyle/>
          <a:p>
            <a:pPr>
              <a:spcAft>
                <a:spcPts val="0"/>
              </a:spcAft>
            </a:pPr>
            <a:r>
              <a:rPr lang="en-US" sz="2200" dirty="0">
                <a:effectLst/>
                <a:latin typeface="+mj-lt"/>
                <a:ea typeface="PMingLiU" panose="02020500000000000000" pitchFamily="18" charset="-120"/>
              </a:rPr>
              <a:t>Impacts of virtual mental health care</a:t>
            </a:r>
          </a:p>
          <a:p>
            <a:pPr lvl="1">
              <a:spcAft>
                <a:spcPts val="0"/>
              </a:spcAft>
            </a:pPr>
            <a:r>
              <a:rPr lang="en-US" sz="1800" b="1" dirty="0">
                <a:effectLst/>
                <a:latin typeface="+mj-lt"/>
                <a:ea typeface="PMingLiU" panose="02020500000000000000" pitchFamily="18" charset="-120"/>
                <a:cs typeface="Times New Roman" panose="02020603050405020304" pitchFamily="18" charset="0"/>
              </a:rPr>
              <a:t>VA Investigators foun</a:t>
            </a:r>
            <a:r>
              <a:rPr lang="en-US" sz="1800" b="1" dirty="0">
                <a:latin typeface="+mj-lt"/>
                <a:ea typeface="PMingLiU" panose="02020500000000000000" pitchFamily="18" charset="-120"/>
                <a:cs typeface="Times New Roman" panose="02020603050405020304" pitchFamily="18" charset="0"/>
              </a:rPr>
              <a:t>d</a:t>
            </a:r>
            <a:r>
              <a:rPr lang="en-US" sz="1800" dirty="0">
                <a:latin typeface="+mj-lt"/>
                <a:ea typeface="PMingLiU" panose="02020500000000000000" pitchFamily="18" charset="-120"/>
                <a:cs typeface="Times New Roman" panose="02020603050405020304" pitchFamily="18" charset="0"/>
              </a:rPr>
              <a:t>:</a:t>
            </a:r>
          </a:p>
          <a:p>
            <a:pPr lvl="2">
              <a:spcAft>
                <a:spcPts val="0"/>
              </a:spcAft>
            </a:pPr>
            <a:r>
              <a:rPr lang="en-US" dirty="0">
                <a:latin typeface="+mj-lt"/>
                <a:ea typeface="PMingLiU" panose="02020500000000000000" pitchFamily="18" charset="-120"/>
                <a:cs typeface="Times New Roman" panose="02020603050405020304" pitchFamily="18" charset="0"/>
              </a:rPr>
              <a:t>a</a:t>
            </a:r>
            <a:r>
              <a:rPr lang="en-US" dirty="0">
                <a:effectLst/>
                <a:latin typeface="+mj-lt"/>
                <a:ea typeface="PMingLiU" panose="02020500000000000000" pitchFamily="18" charset="-120"/>
                <a:cs typeface="Times New Roman" panose="02020603050405020304" pitchFamily="18" charset="0"/>
              </a:rPr>
              <a:t>ll VA facilities offer virtual mental health care, contributing to higher patient satisfaction. Of consistent users of VA mental health services, 54% of Veterans exclusively receive mental health care via telehealth</a:t>
            </a:r>
            <a:r>
              <a:rPr lang="en-US" b="1" dirty="0">
                <a:effectLst/>
                <a:latin typeface="+mj-lt"/>
                <a:ea typeface="PMingLiU" panose="02020500000000000000" pitchFamily="18" charset="-120"/>
                <a:cs typeface="Times New Roman" panose="02020603050405020304" pitchFamily="18" charset="0"/>
              </a:rPr>
              <a:t> </a:t>
            </a:r>
            <a:r>
              <a:rPr lang="en-US" dirty="0">
                <a:effectLst/>
                <a:latin typeface="+mj-lt"/>
                <a:ea typeface="PMingLiU" panose="02020500000000000000" pitchFamily="18" charset="-120"/>
                <a:cs typeface="Times New Roman" panose="02020603050405020304" pitchFamily="18" charset="0"/>
              </a:rPr>
              <a:t>(</a:t>
            </a:r>
            <a:r>
              <a:rPr lang="en-US" u="sng" dirty="0">
                <a:effectLst/>
                <a:latin typeface="+mj-lt"/>
                <a:ea typeface="PMingLiU" panose="02020500000000000000" pitchFamily="18" charset="-120"/>
                <a:cs typeface="Times New Roman" panose="02020603050405020304" pitchFamily="18" charset="0"/>
                <a:hlinkClick r:id="rId3">
                  <a:extLst>
                    <a:ext uri="{A12FA001-AC4F-418D-AE19-62706E023703}">
                      <ahyp:hlinkClr xmlns:ahyp="http://schemas.microsoft.com/office/drawing/2018/hyperlinkcolor" val="tx"/>
                    </a:ext>
                  </a:extLst>
                </a:hlinkClick>
              </a:rPr>
              <a:t>Lum et al. 2024</a:t>
            </a:r>
            <a:r>
              <a:rPr lang="en-US" dirty="0">
                <a:effectLst/>
                <a:latin typeface="+mj-lt"/>
                <a:ea typeface="PMingLiU" panose="02020500000000000000" pitchFamily="18" charset="-120"/>
                <a:cs typeface="Times New Roman" panose="02020603050405020304" pitchFamily="18" charset="0"/>
              </a:rPr>
              <a:t>)</a:t>
            </a:r>
            <a:endParaRPr lang="en-US" dirty="0">
              <a:latin typeface="+mj-lt"/>
              <a:ea typeface="PMingLiU" panose="02020500000000000000" pitchFamily="18" charset="-120"/>
              <a:cs typeface="Times New Roman" panose="02020603050405020304" pitchFamily="18" charset="0"/>
            </a:endParaRPr>
          </a:p>
          <a:p>
            <a:pPr lvl="2">
              <a:spcAft>
                <a:spcPts val="0"/>
              </a:spcAft>
              <a:buFont typeface="Courier New" panose="02070309020205020404" pitchFamily="49" charset="0"/>
              <a:buChar char="o"/>
              <a:tabLst>
                <a:tab pos="457200" algn="l"/>
              </a:tabLst>
            </a:pPr>
            <a:r>
              <a:rPr lang="en-US" dirty="0">
                <a:effectLst/>
                <a:latin typeface="+mj-lt"/>
                <a:ea typeface="PMingLiU" panose="02020500000000000000" pitchFamily="18" charset="-120"/>
                <a:cs typeface="Times New Roman" panose="02020603050405020304" pitchFamily="18" charset="0"/>
              </a:rPr>
              <a:t>A </a:t>
            </a:r>
            <a:r>
              <a:rPr lang="en-US" b="1" dirty="0">
                <a:effectLst/>
                <a:latin typeface="+mj-lt"/>
                <a:ea typeface="PMingLiU" panose="02020500000000000000" pitchFamily="18" charset="-120"/>
                <a:cs typeface="Times New Roman" panose="02020603050405020304" pitchFamily="18" charset="0"/>
              </a:rPr>
              <a:t>1% increase in video-based mental health visits correlates with a 2.5% decrease in suicide-related events</a:t>
            </a:r>
            <a:r>
              <a:rPr lang="en-US" dirty="0">
                <a:effectLst/>
                <a:latin typeface="+mj-lt"/>
                <a:ea typeface="PMingLiU" panose="02020500000000000000" pitchFamily="18" charset="-120"/>
                <a:cs typeface="Times New Roman" panose="02020603050405020304" pitchFamily="18" charset="0"/>
              </a:rPr>
              <a:t> (</a:t>
            </a:r>
            <a:r>
              <a:rPr lang="en-US" u="sng" dirty="0">
                <a:effectLst/>
                <a:latin typeface="+mj-lt"/>
                <a:ea typeface="PMingLiU" panose="02020500000000000000" pitchFamily="18" charset="-120"/>
                <a:cs typeface="Times New Roman" panose="02020603050405020304" pitchFamily="18" charset="0"/>
                <a:hlinkClick r:id="rId4">
                  <a:extLst>
                    <a:ext uri="{A12FA001-AC4F-418D-AE19-62706E023703}">
                      <ahyp:hlinkClr xmlns:ahyp="http://schemas.microsoft.com/office/drawing/2018/hyperlinkcolor" val="tx"/>
                    </a:ext>
                  </a:extLst>
                </a:hlinkClick>
              </a:rPr>
              <a:t>Tenso et al. 2024</a:t>
            </a:r>
            <a:r>
              <a:rPr lang="en-US" dirty="0">
                <a:effectLst/>
                <a:latin typeface="+mj-lt"/>
                <a:ea typeface="PMingLiU" panose="02020500000000000000" pitchFamily="18" charset="-120"/>
                <a:cs typeface="Times New Roman" panose="02020603050405020304" pitchFamily="18" charset="0"/>
              </a:rPr>
              <a:t>)</a:t>
            </a:r>
          </a:p>
          <a:p>
            <a:pPr marL="0" indent="0">
              <a:spcAft>
                <a:spcPts val="0"/>
              </a:spcAft>
              <a:buNone/>
            </a:pPr>
            <a:endParaRPr lang="en-US" sz="800" b="1" dirty="0">
              <a:latin typeface="+mj-lt"/>
              <a:ea typeface="Calibri" panose="020F0502020204030204" pitchFamily="34" charset="0"/>
            </a:endParaRPr>
          </a:p>
          <a:p>
            <a:pPr>
              <a:spcAft>
                <a:spcPts val="0"/>
              </a:spcAft>
            </a:pPr>
            <a:r>
              <a:rPr lang="en-US" sz="2200" dirty="0">
                <a:latin typeface="+mj-lt"/>
                <a:ea typeface="Calibri" panose="020F0502020204030204" pitchFamily="34" charset="0"/>
              </a:rPr>
              <a:t>Impacts of </a:t>
            </a:r>
            <a:r>
              <a:rPr lang="en-US" sz="2200" dirty="0">
                <a:effectLst/>
                <a:latin typeface="+mj-lt"/>
                <a:ea typeface="Calibri" panose="020F0502020204030204" pitchFamily="34" charset="0"/>
              </a:rPr>
              <a:t>issuing electronic tablets to Veterans for virtual mental health care</a:t>
            </a:r>
          </a:p>
          <a:p>
            <a:pPr lvl="1">
              <a:spcAft>
                <a:spcPts val="0"/>
              </a:spcAft>
            </a:pPr>
            <a:r>
              <a:rPr lang="en-US" sz="1800" b="1" dirty="0">
                <a:latin typeface="+mj-lt"/>
                <a:ea typeface="Calibri" panose="020F0502020204030204" pitchFamily="34" charset="0"/>
              </a:rPr>
              <a:t>VA Investigators found</a:t>
            </a:r>
            <a:r>
              <a:rPr lang="en-US" sz="1800" dirty="0">
                <a:latin typeface="+mj-lt"/>
                <a:ea typeface="Calibri" panose="020F0502020204030204" pitchFamily="34" charset="0"/>
              </a:rPr>
              <a:t>:</a:t>
            </a:r>
          </a:p>
          <a:p>
            <a:pPr lvl="2">
              <a:spcAft>
                <a:spcPts val="0"/>
              </a:spcAft>
            </a:pPr>
            <a:r>
              <a:rPr lang="en-US" dirty="0">
                <a:effectLst/>
                <a:latin typeface="+mj-lt"/>
                <a:ea typeface="Times New Roman" panose="02020603050405020304" pitchFamily="18" charset="0"/>
              </a:rPr>
              <a:t>222,977 Veterans have received a VA-issued tablet since the program was launched in 2015 (35% are rural Veterans</a:t>
            </a:r>
            <a:endParaRPr lang="en-US" dirty="0">
              <a:latin typeface="+mj-lt"/>
              <a:ea typeface="Calibri" panose="020F0502020204030204" pitchFamily="34" charset="0"/>
            </a:endParaRPr>
          </a:p>
          <a:p>
            <a:pPr lvl="2">
              <a:spcAft>
                <a:spcPts val="0"/>
              </a:spcAft>
            </a:pPr>
            <a:r>
              <a:rPr lang="en-US" dirty="0">
                <a:solidFill>
                  <a:srgbClr val="000000"/>
                </a:solidFill>
                <a:latin typeface="+mj-lt"/>
                <a:ea typeface="Times New Roman" panose="02020603050405020304" pitchFamily="18" charset="0"/>
              </a:rPr>
              <a:t>Program </a:t>
            </a:r>
            <a:r>
              <a:rPr lang="en-US" dirty="0">
                <a:solidFill>
                  <a:srgbClr val="000000"/>
                </a:solidFill>
                <a:effectLst/>
                <a:latin typeface="+mj-lt"/>
                <a:ea typeface="Times New Roman" panose="02020603050405020304" pitchFamily="18" charset="0"/>
              </a:rPr>
              <a:t>improves access, continuity, and efficiency of care (</a:t>
            </a:r>
            <a:r>
              <a:rPr lang="en-US" i="1" u="sng" dirty="0">
                <a:solidFill>
                  <a:srgbClr val="444444"/>
                </a:solidFill>
                <a:effectLst/>
                <a:latin typeface="+mj-lt"/>
                <a:ea typeface="Times New Roman" panose="02020603050405020304" pitchFamily="18" charset="0"/>
                <a:hlinkClick r:id="rId5"/>
              </a:rPr>
              <a:t>Jacobs et al. </a:t>
            </a:r>
            <a:r>
              <a:rPr lang="en-US" i="0" u="sng" dirty="0">
                <a:solidFill>
                  <a:srgbClr val="444444"/>
                </a:solidFill>
                <a:effectLst/>
                <a:latin typeface="+mj-lt"/>
                <a:ea typeface="Times New Roman" panose="02020603050405020304" pitchFamily="18" charset="0"/>
                <a:hlinkClick r:id="rId5"/>
              </a:rPr>
              <a:t>2019</a:t>
            </a:r>
            <a:r>
              <a:rPr lang="en-US" dirty="0">
                <a:solidFill>
                  <a:srgbClr val="444444"/>
                </a:solidFill>
                <a:effectLst/>
                <a:latin typeface="+mj-lt"/>
                <a:ea typeface="Times New Roman" panose="02020603050405020304" pitchFamily="18" charset="0"/>
              </a:rPr>
              <a:t>)</a:t>
            </a:r>
          </a:p>
          <a:p>
            <a:pPr lvl="2">
              <a:spcAft>
                <a:spcPts val="0"/>
              </a:spcAft>
            </a:pPr>
            <a:r>
              <a:rPr lang="en-US" dirty="0">
                <a:solidFill>
                  <a:srgbClr val="000000"/>
                </a:solidFill>
                <a:effectLst/>
                <a:latin typeface="+mj-lt"/>
                <a:ea typeface="Times New Roman" panose="02020603050405020304" pitchFamily="18" charset="0"/>
              </a:rPr>
              <a:t>Veterans who received tablets experienced increased mental health service use and </a:t>
            </a:r>
            <a:r>
              <a:rPr lang="en-US" b="1" dirty="0">
                <a:solidFill>
                  <a:srgbClr val="000000"/>
                </a:solidFill>
                <a:effectLst/>
                <a:latin typeface="+mj-lt"/>
                <a:ea typeface="Times New Roman" panose="02020603050405020304" pitchFamily="18" charset="0"/>
              </a:rPr>
              <a:t>36% reduction in the likelihood of having a suicide-related emergency department visit </a:t>
            </a:r>
            <a:r>
              <a:rPr lang="en-US" dirty="0">
                <a:solidFill>
                  <a:srgbClr val="000000"/>
                </a:solidFill>
                <a:effectLst/>
                <a:latin typeface="+mj-lt"/>
                <a:ea typeface="Times New Roman" panose="02020603050405020304" pitchFamily="18" charset="0"/>
              </a:rPr>
              <a:t>(</a:t>
            </a:r>
            <a:r>
              <a:rPr lang="en-US" i="1" u="sng" dirty="0">
                <a:solidFill>
                  <a:srgbClr val="444444"/>
                </a:solidFill>
                <a:effectLst/>
                <a:latin typeface="+mj-lt"/>
                <a:ea typeface="Times New Roman" panose="02020603050405020304" pitchFamily="18" charset="0"/>
                <a:hlinkClick r:id="rId6"/>
              </a:rPr>
              <a:t>Zulman 2022</a:t>
            </a:r>
            <a:r>
              <a:rPr lang="en-US" dirty="0">
                <a:solidFill>
                  <a:srgbClr val="000000"/>
                </a:solidFill>
                <a:effectLst/>
                <a:latin typeface="+mj-lt"/>
                <a:ea typeface="Times New Roman" panose="02020603050405020304" pitchFamily="18" charset="0"/>
              </a:rPr>
              <a:t>)</a:t>
            </a:r>
            <a:r>
              <a:rPr lang="en-US" dirty="0">
                <a:solidFill>
                  <a:srgbClr val="444444"/>
                </a:solidFill>
                <a:effectLst/>
                <a:latin typeface="+mj-lt"/>
                <a:ea typeface="Times New Roman" panose="02020603050405020304" pitchFamily="18" charset="0"/>
              </a:rPr>
              <a:t> </a:t>
            </a:r>
            <a:endParaRPr lang="en-US" dirty="0">
              <a:solidFill>
                <a:srgbClr val="444444"/>
              </a:solidFill>
              <a:latin typeface="+mj-lt"/>
              <a:ea typeface="Times New Roman" panose="02020603050405020304" pitchFamily="18" charset="0"/>
            </a:endParaRPr>
          </a:p>
          <a:p>
            <a:pPr marL="1200150" lvl="2" indent="-285750">
              <a:spcAft>
                <a:spcPts val="0"/>
              </a:spcAft>
              <a:buFont typeface="Courier New" panose="02070309020205020404" pitchFamily="49" charset="0"/>
              <a:buChar char="o"/>
            </a:pPr>
            <a:endParaRPr lang="en-US" sz="1200" dirty="0">
              <a:effectLst/>
              <a:latin typeface="+mj-lt"/>
              <a:ea typeface="Calibri" panose="020F0502020204030204" pitchFamily="34" charset="0"/>
            </a:endParaRPr>
          </a:p>
          <a:p>
            <a:pPr>
              <a:spcAft>
                <a:spcPts val="0"/>
              </a:spcAft>
              <a:buFont typeface="Courier New" panose="02070309020205020404" pitchFamily="49" charset="0"/>
              <a:buChar char="o"/>
              <a:tabLst>
                <a:tab pos="457200" algn="l"/>
              </a:tabLst>
            </a:pPr>
            <a:endParaRPr lang="en-US" sz="2200" dirty="0">
              <a:effectLst/>
              <a:latin typeface="+mj-lt"/>
              <a:ea typeface="PMingLiU" panose="02020500000000000000" pitchFamily="18" charset="-120"/>
              <a:cs typeface="Times New Roman" panose="02020603050405020304" pitchFamily="18" charset="0"/>
            </a:endParaRPr>
          </a:p>
          <a:p>
            <a:pPr marL="457200" lvl="1" indent="0">
              <a:spcAft>
                <a:spcPts val="0"/>
              </a:spcAft>
              <a:buNone/>
              <a:tabLst>
                <a:tab pos="457200" algn="l"/>
              </a:tabLst>
            </a:pPr>
            <a:endParaRPr lang="en-US" sz="1000" dirty="0">
              <a:effectLst/>
              <a:latin typeface="+mj-lt"/>
              <a:ea typeface="PMingLiU" panose="02020500000000000000" pitchFamily="18" charset="-120"/>
              <a:cs typeface="Times New Roman" panose="02020603050405020304" pitchFamily="18" charset="0"/>
            </a:endParaRPr>
          </a:p>
          <a:p>
            <a:endParaRPr lang="en-US" sz="2400" dirty="0"/>
          </a:p>
          <a:p>
            <a:endParaRPr lang="en-US" sz="2400" dirty="0"/>
          </a:p>
          <a:p>
            <a:endParaRPr lang="en-US" sz="2400" dirty="0"/>
          </a:p>
        </p:txBody>
      </p:sp>
      <p:sp>
        <p:nvSpPr>
          <p:cNvPr id="3" name="Title 2">
            <a:extLst>
              <a:ext uri="{FF2B5EF4-FFF2-40B4-BE49-F238E27FC236}">
                <a16:creationId xmlns:a16="http://schemas.microsoft.com/office/drawing/2014/main" id="{A2538C0C-D9B9-5927-2031-22A16E594B1C}"/>
              </a:ext>
            </a:extLst>
          </p:cNvPr>
          <p:cNvSpPr>
            <a:spLocks noGrp="1"/>
          </p:cNvSpPr>
          <p:nvPr>
            <p:ph type="title"/>
          </p:nvPr>
        </p:nvSpPr>
        <p:spPr/>
        <p:txBody>
          <a:bodyPr>
            <a:normAutofit fontScale="90000"/>
          </a:bodyPr>
          <a:lstStyle/>
          <a:p>
            <a:r>
              <a:rPr lang="en-US" dirty="0"/>
              <a:t>Suicide Prevention – Virtual Access to Care</a:t>
            </a:r>
          </a:p>
        </p:txBody>
      </p:sp>
      <p:sp>
        <p:nvSpPr>
          <p:cNvPr id="4" name="Slide Number Placeholder 3">
            <a:extLst>
              <a:ext uri="{FF2B5EF4-FFF2-40B4-BE49-F238E27FC236}">
                <a16:creationId xmlns:a16="http://schemas.microsoft.com/office/drawing/2014/main" id="{D7E43C41-0D0A-BC52-57BE-0829D8E3CD18}"/>
              </a:ext>
            </a:extLst>
          </p:cNvPr>
          <p:cNvSpPr>
            <a:spLocks noGrp="1"/>
          </p:cNvSpPr>
          <p:nvPr>
            <p:ph type="sldNum" sz="quarter" idx="4"/>
          </p:nvPr>
        </p:nvSpPr>
        <p:spPr/>
        <p:txBody>
          <a:bodyPr/>
          <a:lstStyle/>
          <a:p>
            <a:fld id="{21672522-718F-5A4A-A967-5C1A35706813}" type="slidenum">
              <a:rPr lang="en-US" smtClean="0"/>
              <a:pPr/>
              <a:t>6</a:t>
            </a:fld>
            <a:endParaRPr lang="en-US"/>
          </a:p>
        </p:txBody>
      </p:sp>
      <p:sp>
        <p:nvSpPr>
          <p:cNvPr id="8" name="TextBox 7">
            <a:extLst>
              <a:ext uri="{FF2B5EF4-FFF2-40B4-BE49-F238E27FC236}">
                <a16:creationId xmlns:a16="http://schemas.microsoft.com/office/drawing/2014/main" id="{D386E1A2-8059-9CAA-5D3F-404EB9749C2C}"/>
              </a:ext>
            </a:extLst>
          </p:cNvPr>
          <p:cNvSpPr txBox="1"/>
          <p:nvPr/>
        </p:nvSpPr>
        <p:spPr>
          <a:xfrm>
            <a:off x="251461" y="6033184"/>
            <a:ext cx="10647768" cy="646331"/>
          </a:xfrm>
          <a:prstGeom prst="rect">
            <a:avLst/>
          </a:prstGeom>
          <a:noFill/>
        </p:spPr>
        <p:txBody>
          <a:bodyPr wrap="square">
            <a:spAutoFit/>
          </a:bodyPr>
          <a:lstStyle/>
          <a:p>
            <a:pPr marR="0" lvl="1" algn="ctr">
              <a:spcBef>
                <a:spcPts val="0"/>
              </a:spcBef>
              <a:spcAft>
                <a:spcPts val="0"/>
              </a:spcAft>
            </a:pPr>
            <a:r>
              <a:rPr lang="en-US" sz="1800" i="1" dirty="0">
                <a:solidFill>
                  <a:schemeClr val="tx2"/>
                </a:solidFill>
                <a:effectLst/>
                <a:latin typeface="+mj-lt"/>
                <a:ea typeface="Calibri" panose="020F0502020204030204" pitchFamily="34" charset="0"/>
              </a:rPr>
              <a:t>“[The tablet] makes communication with the VA counselors and psychiatrists and heart doctors... so much easier and more convenient.”  </a:t>
            </a:r>
            <a:r>
              <a:rPr lang="en-US" sz="1800" i="1" dirty="0">
                <a:solidFill>
                  <a:schemeClr val="tx2"/>
                </a:solidFill>
                <a:latin typeface="+mj-lt"/>
                <a:ea typeface="Times New Roman" panose="02020603050405020304" pitchFamily="18" charset="0"/>
              </a:rPr>
              <a:t>-</a:t>
            </a:r>
            <a:r>
              <a:rPr lang="en-US" sz="1800" i="1" dirty="0">
                <a:solidFill>
                  <a:schemeClr val="tx2"/>
                </a:solidFill>
                <a:effectLst/>
                <a:latin typeface="+mj-lt"/>
                <a:ea typeface="Times New Roman" panose="02020603050405020304" pitchFamily="18" charset="0"/>
              </a:rPr>
              <a:t>Veteran tablet recipient</a:t>
            </a:r>
          </a:p>
        </p:txBody>
      </p:sp>
    </p:spTree>
    <p:extLst>
      <p:ext uri="{BB962C8B-B14F-4D97-AF65-F5344CB8AC3E}">
        <p14:creationId xmlns:p14="http://schemas.microsoft.com/office/powerpoint/2010/main" val="2360612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248484-3479-B9D0-BC76-78AC2ED61399}"/>
              </a:ext>
            </a:extLst>
          </p:cNvPr>
          <p:cNvSpPr>
            <a:spLocks noGrp="1"/>
          </p:cNvSpPr>
          <p:nvPr>
            <p:ph idx="1"/>
          </p:nvPr>
        </p:nvSpPr>
        <p:spPr>
          <a:xfrm>
            <a:off x="224412" y="1083340"/>
            <a:ext cx="11769467" cy="5161050"/>
          </a:xfrm>
        </p:spPr>
        <p:txBody>
          <a:bodyPr/>
          <a:lstStyle/>
          <a:p>
            <a:pPr>
              <a:spcAft>
                <a:spcPts val="1000"/>
              </a:spcAft>
            </a:pPr>
            <a:r>
              <a:rPr lang="en-US" sz="2000" b="1" dirty="0">
                <a:sym typeface="Wingdings" panose="05000000000000000000" pitchFamily="2" charset="2"/>
              </a:rPr>
              <a:t>Problem:</a:t>
            </a:r>
            <a:r>
              <a:rPr lang="en-US" sz="2000" dirty="0">
                <a:sym typeface="Wingdings" panose="05000000000000000000" pitchFamily="2" charset="2"/>
              </a:rPr>
              <a:t> </a:t>
            </a:r>
            <a:r>
              <a:rPr lang="en-US" sz="2000" dirty="0"/>
              <a:t>Firearms are used in over 70% of Veteran suicides</a:t>
            </a:r>
          </a:p>
          <a:p>
            <a:pPr>
              <a:spcAft>
                <a:spcPts val="1000"/>
              </a:spcAft>
            </a:pPr>
            <a:r>
              <a:rPr lang="en-US" sz="2000" b="1" dirty="0"/>
              <a:t>Lethal means safety (LMS): </a:t>
            </a:r>
            <a:r>
              <a:rPr lang="en-US" sz="2000" dirty="0"/>
              <a:t>suicide prevention strategies that increases time and distance between a firearm and an individual at risk</a:t>
            </a:r>
          </a:p>
          <a:p>
            <a:r>
              <a:rPr lang="en-US" sz="2000" b="1" dirty="0"/>
              <a:t>VA Investigators Evaluated:</a:t>
            </a:r>
          </a:p>
          <a:p>
            <a:pPr lvl="1">
              <a:spcAft>
                <a:spcPts val="0"/>
              </a:spcAft>
            </a:pPr>
            <a:r>
              <a:rPr lang="en-US" sz="2000" b="1" dirty="0"/>
              <a:t>The Armory Project:</a:t>
            </a:r>
            <a:r>
              <a:rPr lang="en-US" sz="2000" dirty="0"/>
              <a:t> a community-engaged approach to LMS, has partnered with 16 firearm retailers across Louisiana, reaching 2,000 Veterans.</a:t>
            </a:r>
          </a:p>
          <a:p>
            <a:pPr lvl="2">
              <a:lnSpc>
                <a:spcPct val="100000"/>
              </a:lnSpc>
              <a:spcAft>
                <a:spcPts val="1000"/>
              </a:spcAft>
            </a:pPr>
            <a:r>
              <a:rPr lang="en-US" dirty="0"/>
              <a:t>C</a:t>
            </a:r>
            <a:r>
              <a:rPr lang="en-US" dirty="0">
                <a:sym typeface="Wingdings" panose="05000000000000000000" pitchFamily="2" charset="2"/>
              </a:rPr>
              <a:t>ontributed to the passage of legislation:  </a:t>
            </a:r>
            <a:r>
              <a:rPr lang="en-US" dirty="0">
                <a:sym typeface="Wingdings" panose="05000000000000000000" pitchFamily="2" charset="2"/>
                <a:hlinkClick r:id="rId3"/>
              </a:rPr>
              <a:t>Louisiana ACT 453: </a:t>
            </a:r>
            <a:r>
              <a:rPr lang="en-US" dirty="0">
                <a:sym typeface="Wingdings" panose="05000000000000000000" pitchFamily="2" charset="2"/>
              </a:rPr>
              <a:t>Provides immunity from civil liability for firearm retailers who store firearms for a person in need; </a:t>
            </a:r>
            <a:r>
              <a:rPr lang="en-US" dirty="0">
                <a:sym typeface="Wingdings" panose="05000000000000000000" pitchFamily="2" charset="2"/>
                <a:hlinkClick r:id="rId4"/>
              </a:rPr>
              <a:t>Louisiana ACT 295</a:t>
            </a:r>
            <a:r>
              <a:rPr lang="en-US" dirty="0">
                <a:sym typeface="Wingdings" panose="05000000000000000000" pitchFamily="2" charset="2"/>
              </a:rPr>
              <a:t>: Creating an online handgun education course curriculum on preventing Veteran firearm suicide</a:t>
            </a:r>
          </a:p>
          <a:p>
            <a:pPr lvl="1">
              <a:lnSpc>
                <a:spcPct val="100000"/>
              </a:lnSpc>
              <a:spcAft>
                <a:spcPts val="1000"/>
              </a:spcAft>
            </a:pPr>
            <a:r>
              <a:rPr lang="en-US" sz="2000" b="1" dirty="0"/>
              <a:t>Project Life Force (PLF): </a:t>
            </a:r>
            <a:r>
              <a:rPr lang="en-US" sz="2000" dirty="0"/>
              <a:t>a telehealth suicide safety planning/firearm safety group intervention for high-risk Veterans, including those in rural settings or who do not seek VA care </a:t>
            </a:r>
          </a:p>
          <a:p>
            <a:pPr marL="0" indent="0">
              <a:buNone/>
            </a:pPr>
            <a:endParaRPr lang="en-US" sz="2000" dirty="0"/>
          </a:p>
        </p:txBody>
      </p:sp>
      <p:sp>
        <p:nvSpPr>
          <p:cNvPr id="3" name="Title 2">
            <a:extLst>
              <a:ext uri="{FF2B5EF4-FFF2-40B4-BE49-F238E27FC236}">
                <a16:creationId xmlns:a16="http://schemas.microsoft.com/office/drawing/2014/main" id="{A2538C0C-D9B9-5927-2031-22A16E594B1C}"/>
              </a:ext>
            </a:extLst>
          </p:cNvPr>
          <p:cNvSpPr>
            <a:spLocks noGrp="1"/>
          </p:cNvSpPr>
          <p:nvPr>
            <p:ph type="title"/>
          </p:nvPr>
        </p:nvSpPr>
        <p:spPr/>
        <p:txBody>
          <a:bodyPr>
            <a:normAutofit/>
          </a:bodyPr>
          <a:lstStyle/>
          <a:p>
            <a:r>
              <a:rPr lang="en-US" sz="3600" dirty="0"/>
              <a:t>Suicide Prevention - Lethal Means Safety</a:t>
            </a:r>
          </a:p>
        </p:txBody>
      </p:sp>
      <p:sp>
        <p:nvSpPr>
          <p:cNvPr id="4" name="Slide Number Placeholder 3">
            <a:extLst>
              <a:ext uri="{FF2B5EF4-FFF2-40B4-BE49-F238E27FC236}">
                <a16:creationId xmlns:a16="http://schemas.microsoft.com/office/drawing/2014/main" id="{D7E43C41-0D0A-BC52-57BE-0829D8E3CD18}"/>
              </a:ext>
            </a:extLst>
          </p:cNvPr>
          <p:cNvSpPr>
            <a:spLocks noGrp="1"/>
          </p:cNvSpPr>
          <p:nvPr>
            <p:ph type="sldNum" sz="quarter" idx="4"/>
          </p:nvPr>
        </p:nvSpPr>
        <p:spPr/>
        <p:txBody>
          <a:bodyPr/>
          <a:lstStyle/>
          <a:p>
            <a:fld id="{21672522-718F-5A4A-A967-5C1A35706813}" type="slidenum">
              <a:rPr lang="en-US" smtClean="0"/>
              <a:pPr/>
              <a:t>7</a:t>
            </a:fld>
            <a:endParaRPr lang="en-US"/>
          </a:p>
        </p:txBody>
      </p:sp>
      <p:sp>
        <p:nvSpPr>
          <p:cNvPr id="6" name="TextBox 5">
            <a:extLst>
              <a:ext uri="{FF2B5EF4-FFF2-40B4-BE49-F238E27FC236}">
                <a16:creationId xmlns:a16="http://schemas.microsoft.com/office/drawing/2014/main" id="{58BC5101-3308-DB45-7F6A-9C4767912A75}"/>
              </a:ext>
            </a:extLst>
          </p:cNvPr>
          <p:cNvSpPr txBox="1"/>
          <p:nvPr/>
        </p:nvSpPr>
        <p:spPr>
          <a:xfrm>
            <a:off x="1519534" y="5175818"/>
            <a:ext cx="8912772" cy="923330"/>
          </a:xfrm>
          <a:prstGeom prst="rect">
            <a:avLst/>
          </a:prstGeom>
          <a:noFill/>
        </p:spPr>
        <p:txBody>
          <a:bodyPr wrap="square">
            <a:spAutoFit/>
          </a:bodyPr>
          <a:lstStyle/>
          <a:p>
            <a:pPr marL="52388" lvl="1" algn="ctr"/>
            <a:r>
              <a:rPr lang="en-US" i="1" dirty="0">
                <a:solidFill>
                  <a:schemeClr val="tx2"/>
                </a:solidFill>
              </a:rPr>
              <a:t>“Obviously, a gun store is not traditionally thought of as a place where you go to talk about mental health. But you have this brochure in front of you, and that opens things up... we've had multiple conversations that are beneficial for all.” - Gun Shop Owner </a:t>
            </a:r>
          </a:p>
        </p:txBody>
      </p:sp>
      <p:sp>
        <p:nvSpPr>
          <p:cNvPr id="9" name="TextBox 8">
            <a:extLst>
              <a:ext uri="{FF2B5EF4-FFF2-40B4-BE49-F238E27FC236}">
                <a16:creationId xmlns:a16="http://schemas.microsoft.com/office/drawing/2014/main" id="{68502C64-9F84-E3FE-62F5-07C767D490E6}"/>
              </a:ext>
            </a:extLst>
          </p:cNvPr>
          <p:cNvSpPr txBox="1"/>
          <p:nvPr/>
        </p:nvSpPr>
        <p:spPr>
          <a:xfrm>
            <a:off x="0" y="6132430"/>
            <a:ext cx="11769467" cy="646331"/>
          </a:xfrm>
          <a:prstGeom prst="rect">
            <a:avLst/>
          </a:prstGeom>
          <a:noFill/>
        </p:spPr>
        <p:txBody>
          <a:bodyPr wrap="square">
            <a:spAutoFit/>
          </a:bodyPr>
          <a:lstStyle/>
          <a:p>
            <a:pPr lvl="1" algn="ctr"/>
            <a:r>
              <a:rPr lang="en-US" i="1" dirty="0">
                <a:solidFill>
                  <a:schemeClr val="tx2"/>
                </a:solidFill>
                <a:latin typeface="+mj-lt"/>
              </a:rPr>
              <a:t>“The PLF program had a huge impact on me. ... I no longer store my loaded firearms by my bedside and my wife is now on my safety plan. She is glad to be part of my treatment.” - Lived Experience Peer </a:t>
            </a:r>
          </a:p>
        </p:txBody>
      </p:sp>
    </p:spTree>
    <p:extLst>
      <p:ext uri="{BB962C8B-B14F-4D97-AF65-F5344CB8AC3E}">
        <p14:creationId xmlns:p14="http://schemas.microsoft.com/office/powerpoint/2010/main" val="2601117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248484-3479-B9D0-BC76-78AC2ED61399}"/>
              </a:ext>
            </a:extLst>
          </p:cNvPr>
          <p:cNvSpPr>
            <a:spLocks noGrp="1"/>
          </p:cNvSpPr>
          <p:nvPr>
            <p:ph idx="1"/>
          </p:nvPr>
        </p:nvSpPr>
        <p:spPr>
          <a:xfrm>
            <a:off x="500292" y="1296222"/>
            <a:ext cx="11313336" cy="5161050"/>
          </a:xfrm>
        </p:spPr>
        <p:txBody>
          <a:bodyPr/>
          <a:lstStyle/>
          <a:p>
            <a:r>
              <a:rPr lang="en-US" sz="2400" b="1" dirty="0"/>
              <a:t>STRONG Veterans Act Section 221: </a:t>
            </a:r>
            <a:r>
              <a:rPr lang="en-US" sz="2400" dirty="0"/>
              <a:t>Established “Crisis Line Facilitation” (CLF)</a:t>
            </a:r>
          </a:p>
          <a:p>
            <a:pPr lvl="1"/>
            <a:r>
              <a:rPr lang="en-US" sz="2000" dirty="0"/>
              <a:t>VA Investigators found:</a:t>
            </a:r>
          </a:p>
          <a:p>
            <a:pPr lvl="2"/>
            <a:r>
              <a:rPr lang="en-US" b="1" dirty="0"/>
              <a:t>CLF significantly decreases the likelihood of suicide attempts</a:t>
            </a:r>
          </a:p>
          <a:p>
            <a:pPr lvl="1">
              <a:buFont typeface="Arial" panose="020B0604020202020204" pitchFamily="34" charset="0"/>
              <a:buChar char="•"/>
            </a:pPr>
            <a:r>
              <a:rPr lang="en-US" sz="2000" dirty="0"/>
              <a:t>Next steps: </a:t>
            </a:r>
          </a:p>
          <a:p>
            <a:pPr lvl="2"/>
            <a:r>
              <a:rPr lang="en-US" dirty="0"/>
              <a:t>Training clinicians from mental health inpatient units to deliver CLF</a:t>
            </a:r>
          </a:p>
          <a:p>
            <a:pPr marL="457200" lvl="1" indent="0">
              <a:buNone/>
            </a:pPr>
            <a:endParaRPr lang="en-US" sz="2000" dirty="0"/>
          </a:p>
          <a:p>
            <a:r>
              <a:rPr lang="en-US" sz="2400" b="1" dirty="0"/>
              <a:t>Hannon Act Section 201: </a:t>
            </a:r>
            <a:r>
              <a:rPr lang="en-US" sz="2400" dirty="0"/>
              <a:t>Evaluation assessing the impact of Staff </a:t>
            </a:r>
            <a:r>
              <a:rPr lang="en-US" sz="2400" dirty="0" err="1"/>
              <a:t>Sergent</a:t>
            </a:r>
            <a:r>
              <a:rPr lang="en-US" sz="2400" dirty="0"/>
              <a:t> Parker Gordon Fox Suicide Prevention Grant Program on Veteran well-being and suicide risk </a:t>
            </a:r>
          </a:p>
          <a:p>
            <a:endParaRPr lang="en-US" sz="2400" dirty="0"/>
          </a:p>
          <a:p>
            <a:endParaRPr lang="en-US" sz="2400" dirty="0"/>
          </a:p>
        </p:txBody>
      </p:sp>
      <p:sp>
        <p:nvSpPr>
          <p:cNvPr id="3" name="Title 2">
            <a:extLst>
              <a:ext uri="{FF2B5EF4-FFF2-40B4-BE49-F238E27FC236}">
                <a16:creationId xmlns:a16="http://schemas.microsoft.com/office/drawing/2014/main" id="{A2538C0C-D9B9-5927-2031-22A16E594B1C}"/>
              </a:ext>
            </a:extLst>
          </p:cNvPr>
          <p:cNvSpPr>
            <a:spLocks noGrp="1"/>
          </p:cNvSpPr>
          <p:nvPr>
            <p:ph type="title"/>
          </p:nvPr>
        </p:nvSpPr>
        <p:spPr>
          <a:xfrm>
            <a:off x="87656" y="146926"/>
            <a:ext cx="12303919" cy="662261"/>
          </a:xfrm>
        </p:spPr>
        <p:txBody>
          <a:bodyPr>
            <a:normAutofit/>
          </a:bodyPr>
          <a:lstStyle/>
          <a:p>
            <a:r>
              <a:rPr lang="en-US" sz="3600" dirty="0"/>
              <a:t>Suicide Prevention – Evaluations of Legislation</a:t>
            </a:r>
          </a:p>
        </p:txBody>
      </p:sp>
      <p:sp>
        <p:nvSpPr>
          <p:cNvPr id="4" name="Slide Number Placeholder 3">
            <a:extLst>
              <a:ext uri="{FF2B5EF4-FFF2-40B4-BE49-F238E27FC236}">
                <a16:creationId xmlns:a16="http://schemas.microsoft.com/office/drawing/2014/main" id="{D7E43C41-0D0A-BC52-57BE-0829D8E3CD18}"/>
              </a:ext>
            </a:extLst>
          </p:cNvPr>
          <p:cNvSpPr>
            <a:spLocks noGrp="1"/>
          </p:cNvSpPr>
          <p:nvPr>
            <p:ph type="sldNum" sz="quarter" idx="4"/>
          </p:nvPr>
        </p:nvSpPr>
        <p:spPr/>
        <p:txBody>
          <a:bodyPr/>
          <a:lstStyle/>
          <a:p>
            <a:fld id="{21672522-718F-5A4A-A967-5C1A35706813}" type="slidenum">
              <a:rPr lang="en-US" smtClean="0"/>
              <a:pPr/>
              <a:t>8</a:t>
            </a:fld>
            <a:endParaRPr lang="en-US"/>
          </a:p>
        </p:txBody>
      </p:sp>
    </p:spTree>
    <p:extLst>
      <p:ext uri="{BB962C8B-B14F-4D97-AF65-F5344CB8AC3E}">
        <p14:creationId xmlns:p14="http://schemas.microsoft.com/office/powerpoint/2010/main" val="1165792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BDDBA9-71AE-1179-45A2-FA203B475A1A}"/>
              </a:ext>
            </a:extLst>
          </p:cNvPr>
          <p:cNvSpPr>
            <a:spLocks noGrp="1"/>
          </p:cNvSpPr>
          <p:nvPr>
            <p:ph idx="1"/>
          </p:nvPr>
        </p:nvSpPr>
        <p:spPr>
          <a:xfrm>
            <a:off x="464819" y="1377862"/>
            <a:ext cx="11262361" cy="5161050"/>
          </a:xfrm>
        </p:spPr>
        <p:txBody>
          <a:bodyPr/>
          <a:lstStyle/>
          <a:p>
            <a:pPr marL="0" marR="0" lvl="0" indent="0">
              <a:lnSpc>
                <a:spcPct val="107000"/>
              </a:lnSpc>
              <a:spcBef>
                <a:spcPts val="0"/>
              </a:spcBef>
              <a:spcAft>
                <a:spcPts val="0"/>
              </a:spcAft>
              <a:buNone/>
            </a:pPr>
            <a:r>
              <a:rPr lang="en-US" sz="2400" b="1" kern="100" dirty="0">
                <a:effectLst/>
                <a:latin typeface="Arial" panose="020B0604020202020204" pitchFamily="34" charset="0"/>
                <a:ea typeface="Calibri" panose="020F0502020204030204" pitchFamily="34" charset="0"/>
              </a:rPr>
              <a:t>Suicide Prevention Research Impact </a:t>
            </a:r>
            <a:r>
              <a:rPr lang="en-US" sz="2400" b="1" kern="100" dirty="0" err="1">
                <a:effectLst/>
                <a:latin typeface="Arial" panose="020B0604020202020204" pitchFamily="34" charset="0"/>
                <a:ea typeface="Calibri" panose="020F0502020204030204" pitchFamily="34" charset="0"/>
              </a:rPr>
              <a:t>NeTwork</a:t>
            </a:r>
            <a:r>
              <a:rPr lang="en-US" sz="2400" b="1" kern="100" dirty="0">
                <a:effectLst/>
                <a:latin typeface="Arial" panose="020B0604020202020204" pitchFamily="34" charset="0"/>
                <a:ea typeface="Calibri" panose="020F0502020204030204" pitchFamily="34" charset="0"/>
              </a:rPr>
              <a:t> (SPRINT): </a:t>
            </a:r>
            <a:r>
              <a:rPr lang="en-US" sz="2400" kern="100" dirty="0">
                <a:effectLst/>
                <a:latin typeface="Arial" panose="020B0604020202020204" pitchFamily="34" charset="0"/>
                <a:ea typeface="Calibri" panose="020F0502020204030204" pitchFamily="34" charset="0"/>
              </a:rPr>
              <a:t>a VA investigator-led</a:t>
            </a:r>
            <a:r>
              <a:rPr lang="en-US" sz="2400" b="1" kern="100" dirty="0">
                <a:effectLst/>
                <a:latin typeface="Arial" panose="020B0604020202020204" pitchFamily="34" charset="0"/>
                <a:ea typeface="Calibri" panose="020F0502020204030204" pitchFamily="34" charset="0"/>
              </a:rPr>
              <a:t> </a:t>
            </a:r>
            <a:r>
              <a:rPr lang="en-US" sz="2400" kern="100" dirty="0">
                <a:latin typeface="Arial" panose="020B0604020202020204" pitchFamily="34" charset="0"/>
                <a:ea typeface="Calibri" panose="020F0502020204030204" pitchFamily="34" charset="0"/>
              </a:rPr>
              <a:t>n</a:t>
            </a:r>
            <a:r>
              <a:rPr lang="en-US" sz="2400" kern="100" dirty="0">
                <a:effectLst/>
                <a:latin typeface="Arial" panose="020B0604020202020204" pitchFamily="34" charset="0"/>
                <a:ea typeface="Calibri" panose="020F0502020204030204" pitchFamily="34" charset="0"/>
              </a:rPr>
              <a:t>ational resource to accelerate VA suicide prevention research to improve care and prevent Veteran suicide focusing on:</a:t>
            </a:r>
          </a:p>
          <a:p>
            <a:pPr lvl="1">
              <a:lnSpc>
                <a:spcPct val="107000"/>
              </a:lnSpc>
              <a:spcAft>
                <a:spcPts val="0"/>
              </a:spcAft>
              <a:buFont typeface="Courier New" panose="02070309020205020404" pitchFamily="49" charset="0"/>
              <a:buChar char="o"/>
            </a:pPr>
            <a:r>
              <a:rPr lang="en-US" sz="2000" kern="100" dirty="0">
                <a:effectLst/>
                <a:latin typeface="Arial" panose="020B0604020202020204" pitchFamily="34" charset="0"/>
                <a:ea typeface="Calibri" panose="020F0502020204030204" pitchFamily="34" charset="0"/>
              </a:rPr>
              <a:t>Lethal Means Safety: messaging/communications intended to reduce access to lethal means during periods of increased risk; training programs for clinicians and staff, Veterans, families</a:t>
            </a:r>
          </a:p>
          <a:p>
            <a:pPr lvl="1">
              <a:lnSpc>
                <a:spcPct val="107000"/>
              </a:lnSpc>
              <a:spcAft>
                <a:spcPts val="0"/>
              </a:spcAft>
              <a:buFont typeface="Courier New" panose="02070309020205020404" pitchFamily="49" charset="0"/>
              <a:buChar char="o"/>
            </a:pPr>
            <a:r>
              <a:rPr lang="en-US" sz="2000" kern="100" dirty="0">
                <a:effectLst/>
                <a:latin typeface="Arial" panose="020B0604020202020204" pitchFamily="34" charset="0"/>
                <a:ea typeface="Calibri" panose="020F0502020204030204" pitchFamily="34" charset="0"/>
              </a:rPr>
              <a:t>Engagement: engaging with community partners and in community settings; with family, friends, peers and social networks to enhance suicide prevention; with Veterans not connected to VA or to healthcare outside of VA</a:t>
            </a:r>
          </a:p>
          <a:p>
            <a:pPr lvl="1">
              <a:lnSpc>
                <a:spcPct val="107000"/>
              </a:lnSpc>
              <a:spcAft>
                <a:spcPts val="800"/>
              </a:spcAft>
              <a:buFont typeface="Courier New" panose="02070309020205020404" pitchFamily="49" charset="0"/>
              <a:buChar char="o"/>
            </a:pPr>
            <a:r>
              <a:rPr lang="en-US" sz="2000" kern="100" dirty="0">
                <a:effectLst/>
                <a:latin typeface="Arial" panose="020B0604020202020204" pitchFamily="34" charset="0"/>
                <a:ea typeface="Calibri" panose="020F0502020204030204" pitchFamily="34" charset="0"/>
              </a:rPr>
              <a:t>Precision Medicine: predictive analytics; understanding risk fluctuations over time; matching specific treatments to level of risk; development of precision medicine models and tools that incorporate personal characteristics and/or social determinants of health</a:t>
            </a:r>
          </a:p>
          <a:p>
            <a:pPr marL="0" indent="0">
              <a:buNone/>
            </a:pPr>
            <a:endParaRPr lang="en-US" sz="4800" dirty="0"/>
          </a:p>
        </p:txBody>
      </p:sp>
      <p:sp>
        <p:nvSpPr>
          <p:cNvPr id="3" name="Title 2">
            <a:extLst>
              <a:ext uri="{FF2B5EF4-FFF2-40B4-BE49-F238E27FC236}">
                <a16:creationId xmlns:a16="http://schemas.microsoft.com/office/drawing/2014/main" id="{7B7E0955-1423-6E13-9DA6-7A8D41CA913B}"/>
              </a:ext>
            </a:extLst>
          </p:cNvPr>
          <p:cNvSpPr>
            <a:spLocks noGrp="1"/>
          </p:cNvSpPr>
          <p:nvPr>
            <p:ph type="title"/>
          </p:nvPr>
        </p:nvSpPr>
        <p:spPr>
          <a:xfrm>
            <a:off x="145463" y="0"/>
            <a:ext cx="12461573" cy="1094265"/>
          </a:xfrm>
        </p:spPr>
        <p:txBody>
          <a:bodyPr>
            <a:normAutofit/>
          </a:bodyPr>
          <a:lstStyle/>
          <a:p>
            <a:r>
              <a:rPr lang="en-US" sz="3600" dirty="0"/>
              <a:t>Suicide Prevention – Generating Knowledge</a:t>
            </a:r>
          </a:p>
        </p:txBody>
      </p:sp>
      <p:sp>
        <p:nvSpPr>
          <p:cNvPr id="4" name="Slide Number Placeholder 3">
            <a:extLst>
              <a:ext uri="{FF2B5EF4-FFF2-40B4-BE49-F238E27FC236}">
                <a16:creationId xmlns:a16="http://schemas.microsoft.com/office/drawing/2014/main" id="{E4989915-8B91-43AF-EFAE-0C923BDC990B}"/>
              </a:ext>
            </a:extLst>
          </p:cNvPr>
          <p:cNvSpPr>
            <a:spLocks noGrp="1"/>
          </p:cNvSpPr>
          <p:nvPr>
            <p:ph type="sldNum" sz="quarter" idx="4"/>
          </p:nvPr>
        </p:nvSpPr>
        <p:spPr/>
        <p:txBody>
          <a:bodyPr/>
          <a:lstStyle/>
          <a:p>
            <a:fld id="{21672522-718F-5A4A-A967-5C1A35706813}" type="slidenum">
              <a:rPr lang="en-US" smtClean="0"/>
              <a:pPr/>
              <a:t>9</a:t>
            </a:fld>
            <a:endParaRPr lang="en-US"/>
          </a:p>
        </p:txBody>
      </p:sp>
    </p:spTree>
    <p:extLst>
      <p:ext uri="{BB962C8B-B14F-4D97-AF65-F5344CB8AC3E}">
        <p14:creationId xmlns:p14="http://schemas.microsoft.com/office/powerpoint/2010/main" val="3406322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77EAB1-9C0F-8041-B7A0-42F277FECC3B}"/>
              </a:ext>
            </a:extLst>
          </p:cNvPr>
          <p:cNvSpPr>
            <a:spLocks noGrp="1"/>
          </p:cNvSpPr>
          <p:nvPr>
            <p:ph type="title"/>
          </p:nvPr>
        </p:nvSpPr>
        <p:spPr/>
        <p:txBody>
          <a:bodyPr>
            <a:normAutofit fontScale="90000"/>
          </a:bodyPr>
          <a:lstStyle/>
          <a:p>
            <a:r>
              <a:rPr lang="en-US" dirty="0"/>
              <a:t>Suicide Prevention: Knowledge to Clinical Care –Leveraging the Million Veteran Program Data</a:t>
            </a:r>
          </a:p>
        </p:txBody>
      </p:sp>
      <p:sp>
        <p:nvSpPr>
          <p:cNvPr id="4" name="Slide Number Placeholder 3">
            <a:extLst>
              <a:ext uri="{FF2B5EF4-FFF2-40B4-BE49-F238E27FC236}">
                <a16:creationId xmlns:a16="http://schemas.microsoft.com/office/drawing/2014/main" id="{49B64D70-E953-124F-56F4-B144E4F59AE0}"/>
              </a:ext>
            </a:extLst>
          </p:cNvPr>
          <p:cNvSpPr>
            <a:spLocks noGrp="1"/>
          </p:cNvSpPr>
          <p:nvPr>
            <p:ph type="sldNum" sz="quarter" idx="4"/>
          </p:nvPr>
        </p:nvSpPr>
        <p:spPr/>
        <p:txBody>
          <a:bodyPr/>
          <a:lstStyle/>
          <a:p>
            <a:fld id="{21672522-718F-5A4A-A967-5C1A35706813}" type="slidenum">
              <a:rPr lang="en-US" smtClean="0"/>
              <a:pPr/>
              <a:t>10</a:t>
            </a:fld>
            <a:endParaRPr lang="en-US"/>
          </a:p>
        </p:txBody>
      </p:sp>
      <p:sp>
        <p:nvSpPr>
          <p:cNvPr id="8" name="TextBox 7">
            <a:extLst>
              <a:ext uri="{FF2B5EF4-FFF2-40B4-BE49-F238E27FC236}">
                <a16:creationId xmlns:a16="http://schemas.microsoft.com/office/drawing/2014/main" id="{5A268031-8ED4-94FB-E57B-D283457627B6}"/>
              </a:ext>
            </a:extLst>
          </p:cNvPr>
          <p:cNvSpPr txBox="1"/>
          <p:nvPr/>
        </p:nvSpPr>
        <p:spPr>
          <a:xfrm>
            <a:off x="277230" y="3632304"/>
            <a:ext cx="10409965" cy="298543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Improving the suicide risk-prediction tool in the VA electronic health record</a:t>
            </a:r>
            <a:endParaRPr lang="en-US" sz="2200" b="1" dirty="0">
              <a:solidFill>
                <a:prstClr val="black"/>
              </a:solidFill>
              <a:latin typeface="Calibri" panose="020F050202020403020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effectLst/>
                <a:latin typeface="Calibri" panose="020F0502020204030204" pitchFamily="34" charset="0"/>
                <a:ea typeface="Calibri" panose="020F0502020204030204" pitchFamily="34" charset="0"/>
                <a:cs typeface="Calibri" panose="020F0502020204030204" pitchFamily="34" charset="0"/>
              </a:rPr>
              <a:t>MVP researchers worked with the VA’s Office of Suicide Prevention (OSP) in partnership with the Department of Energy (DOE), to enhance REACH VET tool by improving the predictions of suicide attempts in Veterans’ medical records. OSP is updating the REACH VET model currently for a spring 2025 launch of a new model.  That model will include some new predictors suggested by findings from MVP modeling and genetics work, including for example, altitude, marital status, food insecurity, etc.   The goal is to be able to identify Veterans who are at the highest risk for suicide and put forward intensive and effective interventions.</a:t>
            </a:r>
          </a:p>
        </p:txBody>
      </p:sp>
      <p:sp>
        <p:nvSpPr>
          <p:cNvPr id="9" name="TextBox 8">
            <a:extLst>
              <a:ext uri="{FF2B5EF4-FFF2-40B4-BE49-F238E27FC236}">
                <a16:creationId xmlns:a16="http://schemas.microsoft.com/office/drawing/2014/main" id="{5E712685-B935-FAF1-016D-78CB3E4EE089}"/>
              </a:ext>
            </a:extLst>
          </p:cNvPr>
          <p:cNvSpPr txBox="1"/>
          <p:nvPr/>
        </p:nvSpPr>
        <p:spPr>
          <a:xfrm>
            <a:off x="332509" y="1063165"/>
            <a:ext cx="10409965" cy="267765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The identification of 12 gene variants that increase the risk of suicide attempts</a:t>
            </a:r>
            <a: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Results from the largest-ever genetic study of suicide. An international effort used data from the Million Veteran Program (MVP) and the International Suicide Genetics Consortium to analyze the genomes of over 43,000 people with documented suicide attempts and 915,000 controls without a history of suicidal behavior. Results showed suicide attempts share genetic risk factors with several other conditions, such as attention deficit hyperactivity disorder, smoking, and risk tolerance, which is associated with engaging in dangerous behavior. </a:t>
            </a:r>
          </a:p>
        </p:txBody>
      </p:sp>
      <p:pic>
        <p:nvPicPr>
          <p:cNvPr id="11" name="Picture 10">
            <a:extLst>
              <a:ext uri="{FF2B5EF4-FFF2-40B4-BE49-F238E27FC236}">
                <a16:creationId xmlns:a16="http://schemas.microsoft.com/office/drawing/2014/main" id="{38903895-BC33-6D84-11A2-660A97DD4C62}"/>
              </a:ext>
            </a:extLst>
          </p:cNvPr>
          <p:cNvPicPr>
            <a:picLocks noChangeAspect="1"/>
          </p:cNvPicPr>
          <p:nvPr/>
        </p:nvPicPr>
        <p:blipFill>
          <a:blip r:embed="rId2"/>
          <a:stretch>
            <a:fillRect/>
          </a:stretch>
        </p:blipFill>
        <p:spPr>
          <a:xfrm>
            <a:off x="10339137" y="1360051"/>
            <a:ext cx="1520354" cy="1863124"/>
          </a:xfrm>
          <a:prstGeom prst="rect">
            <a:avLst/>
          </a:prstGeom>
        </p:spPr>
      </p:pic>
    </p:spTree>
    <p:extLst>
      <p:ext uri="{BB962C8B-B14F-4D97-AF65-F5344CB8AC3E}">
        <p14:creationId xmlns:p14="http://schemas.microsoft.com/office/powerpoint/2010/main" val="3699121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83A011-EF82-1961-900A-E6EC9A9D68A6}"/>
              </a:ext>
            </a:extLst>
          </p:cNvPr>
          <p:cNvSpPr>
            <a:spLocks noGrp="1"/>
          </p:cNvSpPr>
          <p:nvPr>
            <p:ph idx="1"/>
          </p:nvPr>
        </p:nvSpPr>
        <p:spPr>
          <a:xfrm>
            <a:off x="378372" y="1377862"/>
            <a:ext cx="11719711" cy="5161050"/>
          </a:xfrm>
        </p:spPr>
        <p:txBody>
          <a:bodyPr/>
          <a:lstStyle/>
          <a:p>
            <a:pPr marL="0" indent="0" fontAlgn="base">
              <a:lnSpc>
                <a:spcPct val="100000"/>
              </a:lnSpc>
              <a:spcBef>
                <a:spcPct val="0"/>
              </a:spcBef>
              <a:buNone/>
              <a:defRPr/>
            </a:pPr>
            <a:r>
              <a:rPr kumimoji="0" lang="en-US" altLang="en-US" sz="2000" b="1" i="0" u="none" strike="noStrike" kern="1200" cap="none" spc="0" normalizeH="0" baseline="0" noProof="0" dirty="0">
                <a:ln>
                  <a:noFill/>
                </a:ln>
                <a:solidFill>
                  <a:srgbClr val="000000"/>
                </a:solidFill>
                <a:effectLst/>
                <a:uLnTx/>
                <a:uFillTx/>
                <a:ea typeface="+mn-ea"/>
                <a:cs typeface="Arial" panose="020B0604020202020204" pitchFamily="34" charset="0"/>
              </a:rPr>
              <a:t>VA Investigators have </a:t>
            </a:r>
            <a:r>
              <a:rPr kumimoji="0" lang="en-US" altLang="en-US" sz="2000" b="1" i="0" u="none" strike="noStrike" kern="1200" cap="none" spc="0" normalizeH="0" baseline="0" noProof="0" dirty="0" err="1">
                <a:ln>
                  <a:noFill/>
                </a:ln>
                <a:solidFill>
                  <a:srgbClr val="000000"/>
                </a:solidFill>
                <a:effectLst/>
                <a:uLnTx/>
                <a:uFillTx/>
                <a:ea typeface="+mn-ea"/>
                <a:cs typeface="Arial" panose="020B0604020202020204" pitchFamily="34" charset="0"/>
              </a:rPr>
              <a:t>deve</a:t>
            </a:r>
            <a:r>
              <a:rPr lang="en-US" altLang="en-US" sz="2000" b="1" dirty="0">
                <a:solidFill>
                  <a:srgbClr val="000000"/>
                </a:solidFill>
                <a:cs typeface="Arial" panose="020B0604020202020204" pitchFamily="34" charset="0"/>
              </a:rPr>
              <a:t>loped, </a:t>
            </a:r>
            <a:r>
              <a:rPr kumimoji="0" lang="en-US" altLang="en-US" sz="2000" b="1" i="0" u="none" strike="noStrike" kern="1200" cap="none" spc="0" normalizeH="0" baseline="0" noProof="0" dirty="0">
                <a:ln>
                  <a:noFill/>
                </a:ln>
                <a:solidFill>
                  <a:srgbClr val="000000"/>
                </a:solidFill>
                <a:effectLst/>
                <a:uLnTx/>
                <a:uFillTx/>
                <a:ea typeface="+mn-ea"/>
                <a:cs typeface="Arial" panose="020B0604020202020204" pitchFamily="34" charset="0"/>
              </a:rPr>
              <a:t>and are testing,</a:t>
            </a:r>
            <a:r>
              <a:rPr lang="en-US" altLang="en-US" sz="2000" b="1" dirty="0">
                <a:solidFill>
                  <a:srgbClr val="000000"/>
                </a:solidFill>
                <a:cs typeface="Arial" panose="020B0604020202020204" pitchFamily="34" charset="0"/>
              </a:rPr>
              <a:t> interventions: </a:t>
            </a:r>
          </a:p>
          <a:p>
            <a:pPr fontAlgn="base">
              <a:lnSpc>
                <a:spcPct val="100000"/>
              </a:lnSpc>
              <a:spcBef>
                <a:spcPct val="0"/>
              </a:spcBef>
              <a:defRPr/>
            </a:pPr>
            <a:r>
              <a:rPr lang="en-US" altLang="en-US" sz="2000" dirty="0">
                <a:solidFill>
                  <a:srgbClr val="000000"/>
                </a:solidFill>
                <a:cs typeface="Arial" panose="020B0604020202020204" pitchFamily="34" charset="0"/>
              </a:rPr>
              <a:t>Increasing use of video telehealth among Veterans experiencing homelessness with substance use disorder (Garvin et al, 2022)</a:t>
            </a:r>
          </a:p>
          <a:p>
            <a:pPr fontAlgn="base">
              <a:lnSpc>
                <a:spcPct val="100000"/>
              </a:lnSpc>
              <a:spcBef>
                <a:spcPct val="0"/>
              </a:spcBef>
              <a:defRPr/>
            </a:pPr>
            <a:r>
              <a:rPr lang="en-US" altLang="en-US" sz="2000" dirty="0">
                <a:solidFill>
                  <a:srgbClr val="000000"/>
                </a:solidFill>
                <a:cs typeface="Arial" panose="020B0604020202020204" pitchFamily="34" charset="0"/>
              </a:rPr>
              <a:t>Providing peer support to</a:t>
            </a:r>
            <a:r>
              <a:rPr lang="en-US" altLang="en-US" sz="2000" b="1" dirty="0">
                <a:solidFill>
                  <a:srgbClr val="000000"/>
                </a:solidFill>
                <a:cs typeface="Arial" panose="020B0604020202020204" pitchFamily="34" charset="0"/>
              </a:rPr>
              <a:t> </a:t>
            </a:r>
            <a:r>
              <a:rPr lang="en-US" altLang="en-US" sz="2000" dirty="0">
                <a:solidFill>
                  <a:srgbClr val="000000"/>
                </a:solidFill>
                <a:cs typeface="Arial" panose="020B0604020202020204" pitchFamily="34" charset="0"/>
              </a:rPr>
              <a:t>homeless Veterans discharged from VA hospitals</a:t>
            </a:r>
          </a:p>
          <a:p>
            <a:pPr fontAlgn="base">
              <a:lnSpc>
                <a:spcPct val="100000"/>
              </a:lnSpc>
              <a:spcBef>
                <a:spcPct val="0"/>
              </a:spcBef>
              <a:defRPr/>
            </a:pPr>
            <a:r>
              <a:rPr lang="en-US" sz="2000" dirty="0"/>
              <a:t>HEARTH: Identifying and engaging Army Veterans at high risk of homelessness within 12 months of their military separation or retirement providing up to six months of 100% virtual case management</a:t>
            </a:r>
            <a:endParaRPr lang="en-US" altLang="en-US" sz="2000" dirty="0">
              <a:solidFill>
                <a:srgbClr val="000000"/>
              </a:solidFill>
              <a:cs typeface="Arial" panose="020B0604020202020204" pitchFamily="34" charset="0"/>
            </a:endParaRPr>
          </a:p>
          <a:p>
            <a:pPr fontAlgn="base">
              <a:lnSpc>
                <a:spcPct val="100000"/>
              </a:lnSpc>
              <a:spcBef>
                <a:spcPct val="0"/>
              </a:spcBef>
              <a:defRPr/>
            </a:pPr>
            <a:endParaRPr kumimoji="0" lang="en-US" altLang="en-US" sz="2000" b="1" i="0" u="none" strike="noStrike" kern="1200" cap="none" spc="0" normalizeH="0" baseline="0" noProof="0" dirty="0">
              <a:ln>
                <a:noFill/>
              </a:ln>
              <a:solidFill>
                <a:srgbClr val="000000"/>
              </a:solidFill>
              <a:effectLst/>
              <a:uLnTx/>
              <a:uFillTx/>
              <a:ea typeface="+mn-ea"/>
              <a:cs typeface="Arial" panose="020B0604020202020204" pitchFamily="34" charset="0"/>
            </a:endParaRPr>
          </a:p>
          <a:p>
            <a:pPr marL="0" indent="0" fontAlgn="base">
              <a:lnSpc>
                <a:spcPct val="100000"/>
              </a:lnSpc>
              <a:spcBef>
                <a:spcPct val="0"/>
              </a:spcBef>
              <a:buNone/>
              <a:defRPr/>
            </a:pPr>
            <a:endParaRPr lang="en-US" altLang="en-US" sz="1200" b="1" dirty="0">
              <a:solidFill>
                <a:srgbClr val="000000"/>
              </a:solidFill>
              <a:cs typeface="Arial" panose="020B0604020202020204" pitchFamily="34" charset="0"/>
            </a:endParaRPr>
          </a:p>
          <a:p>
            <a:pPr marL="0" indent="0" fontAlgn="base">
              <a:lnSpc>
                <a:spcPct val="100000"/>
              </a:lnSpc>
              <a:spcBef>
                <a:spcPct val="0"/>
              </a:spcBef>
              <a:buNone/>
              <a:defRPr/>
            </a:pPr>
            <a:endParaRPr lang="en-US" altLang="en-US" sz="1200" b="1" dirty="0">
              <a:solidFill>
                <a:srgbClr val="000000"/>
              </a:solidFill>
              <a:cs typeface="Arial" panose="020B0604020202020204" pitchFamily="34" charset="0"/>
            </a:endParaRPr>
          </a:p>
          <a:p>
            <a:pPr marL="0" indent="0" fontAlgn="base">
              <a:lnSpc>
                <a:spcPct val="100000"/>
              </a:lnSpc>
              <a:spcBef>
                <a:spcPct val="0"/>
              </a:spcBef>
              <a:buNone/>
              <a:defRPr/>
            </a:pPr>
            <a:r>
              <a:rPr kumimoji="0" lang="en-US" altLang="en-US" sz="2000" b="1" i="0" u="none" strike="noStrike" kern="1200" cap="none" spc="0" normalizeH="0" baseline="0" noProof="0" dirty="0">
                <a:ln>
                  <a:noFill/>
                </a:ln>
                <a:solidFill>
                  <a:srgbClr val="000000"/>
                </a:solidFill>
                <a:effectLst/>
                <a:uLnTx/>
                <a:uFillTx/>
                <a:ea typeface="+mn-ea"/>
                <a:cs typeface="Arial" panose="020B0604020202020204" pitchFamily="34" charset="0"/>
              </a:rPr>
              <a:t>VA </a:t>
            </a:r>
            <a:r>
              <a:rPr lang="en-US" altLang="en-US" sz="2000" b="1" dirty="0">
                <a:solidFill>
                  <a:srgbClr val="000000"/>
                </a:solidFill>
                <a:cs typeface="Arial" panose="020B0604020202020204" pitchFamily="34" charset="0"/>
              </a:rPr>
              <a:t>Investigators are </a:t>
            </a:r>
            <a:r>
              <a:rPr kumimoji="0" lang="en-US" altLang="en-US" sz="2000" b="1" i="0" u="none" strike="noStrike" kern="1200" cap="none" spc="0" normalizeH="0" baseline="0" noProof="0" dirty="0">
                <a:ln>
                  <a:noFill/>
                </a:ln>
                <a:solidFill>
                  <a:srgbClr val="000000"/>
                </a:solidFill>
                <a:effectLst/>
                <a:uLnTx/>
                <a:uFillTx/>
                <a:ea typeface="+mn-ea"/>
                <a:cs typeface="Arial" panose="020B0604020202020204" pitchFamily="34" charset="0"/>
              </a:rPr>
              <a:t>Implementing Evidence-based Interventions: </a:t>
            </a:r>
          </a:p>
          <a:p>
            <a:pPr fontAlgn="base">
              <a:lnSpc>
                <a:spcPct val="100000"/>
              </a:lnSpc>
              <a:spcBef>
                <a:spcPct val="0"/>
              </a:spcBef>
              <a:defRPr/>
            </a:pPr>
            <a:r>
              <a:rPr kumimoji="0" lang="en-US" altLang="en-US" sz="2000" i="0" u="none" strike="noStrike" kern="1200" cap="none" spc="0" normalizeH="0" baseline="0" noProof="0" dirty="0">
                <a:ln>
                  <a:noFill/>
                </a:ln>
                <a:solidFill>
                  <a:srgbClr val="000000"/>
                </a:solidFill>
                <a:effectLst/>
                <a:uLnTx/>
                <a:uFillTx/>
                <a:ea typeface="+mn-ea"/>
                <a:cs typeface="Arial"/>
              </a:rPr>
              <a:t>A case management practice (Critical Time Intervention), which improves housing stability and decrease hospitalizations among homeless-experienced Veterans</a:t>
            </a:r>
            <a:r>
              <a:rPr lang="en-US" altLang="en-US" sz="2000" dirty="0">
                <a:solidFill>
                  <a:srgbClr val="000000"/>
                </a:solidFill>
                <a:cs typeface="Arial"/>
              </a:rPr>
              <a:t>; </a:t>
            </a:r>
            <a:r>
              <a:rPr kumimoji="0" lang="en-US" altLang="en-US" sz="2000" i="0" u="none" strike="noStrike" kern="1200" cap="none" spc="0" normalizeH="0" baseline="0" noProof="0" dirty="0">
                <a:ln>
                  <a:noFill/>
                </a:ln>
                <a:solidFill>
                  <a:srgbClr val="000000"/>
                </a:solidFill>
                <a:effectLst/>
                <a:uLnTx/>
                <a:uFillTx/>
                <a:ea typeface="+mn-ea"/>
                <a:cs typeface="Arial"/>
              </a:rPr>
              <a:t>implemented in 32 sites across 7 VISNs, reached 1,325 Veterans to date (Gabrielian et. al., 2022)</a:t>
            </a:r>
          </a:p>
          <a:p>
            <a:pPr fontAlgn="base">
              <a:lnSpc>
                <a:spcPct val="100000"/>
              </a:lnSpc>
              <a:spcBef>
                <a:spcPct val="0"/>
              </a:spcBef>
              <a:defRPr/>
            </a:pPr>
            <a:r>
              <a:rPr kumimoji="0" lang="en-US" altLang="en-US" sz="2000" i="0" u="none" strike="noStrike" kern="1200" cap="none" spc="0" normalizeH="0" baseline="0" noProof="0" dirty="0">
                <a:ln>
                  <a:noFill/>
                </a:ln>
                <a:solidFill>
                  <a:srgbClr val="000000"/>
                </a:solidFill>
                <a:effectLst/>
                <a:uLnTx/>
                <a:uFillTx/>
                <a:ea typeface="+mn-ea"/>
                <a:cs typeface="Arial"/>
              </a:rPr>
              <a:t>Housing skills training for homeless-experienced Veterans with serious me</a:t>
            </a:r>
            <a:r>
              <a:rPr lang="en-US" altLang="en-US" sz="2000" dirty="0" err="1">
                <a:solidFill>
                  <a:srgbClr val="000000"/>
                </a:solidFill>
                <a:cs typeface="Arial"/>
              </a:rPr>
              <a:t>ntal</a:t>
            </a:r>
            <a:r>
              <a:rPr lang="en-US" altLang="en-US" sz="2000" dirty="0">
                <a:solidFill>
                  <a:srgbClr val="000000"/>
                </a:solidFill>
                <a:cs typeface="Arial"/>
              </a:rPr>
              <a:t> illness (Gabrielian et. al., 2024)</a:t>
            </a:r>
            <a:endParaRPr kumimoji="0" lang="en-US" altLang="en-US" sz="2000" i="0" u="none" strike="noStrike" kern="1200" cap="none" spc="0" normalizeH="0" baseline="0" noProof="0" dirty="0">
              <a:ln>
                <a:noFill/>
              </a:ln>
              <a:solidFill>
                <a:srgbClr val="000000"/>
              </a:solidFill>
              <a:effectLst/>
              <a:uLnTx/>
              <a:uFillTx/>
              <a:ea typeface="+mn-ea"/>
              <a:cs typeface="Arial"/>
            </a:endParaRPr>
          </a:p>
          <a:p>
            <a:pPr marL="0" indent="0" fontAlgn="base">
              <a:lnSpc>
                <a:spcPct val="100000"/>
              </a:lnSpc>
              <a:spcBef>
                <a:spcPct val="0"/>
              </a:spcBef>
              <a:buNone/>
              <a:defRPr/>
            </a:pPr>
            <a:endParaRPr kumimoji="0" lang="en-US" altLang="en-US" sz="1600" b="1" i="0" u="none" strike="noStrike" kern="1200" cap="none" spc="0" normalizeH="0" baseline="0" noProof="0" dirty="0">
              <a:ln>
                <a:noFill/>
              </a:ln>
              <a:solidFill>
                <a:srgbClr val="000000"/>
              </a:solidFill>
              <a:effectLst/>
              <a:uLnTx/>
              <a:uFillTx/>
              <a:latin typeface="+mj-lt"/>
              <a:ea typeface="+mn-ea"/>
              <a:cs typeface="Arial" panose="020B0604020202020204" pitchFamily="34" charset="0"/>
            </a:endParaRPr>
          </a:p>
          <a:p>
            <a:pPr marL="0" indent="0">
              <a:buNone/>
            </a:pPr>
            <a:endParaRPr lang="en-US" sz="1600" dirty="0"/>
          </a:p>
        </p:txBody>
      </p:sp>
      <p:sp>
        <p:nvSpPr>
          <p:cNvPr id="3" name="Title 2">
            <a:extLst>
              <a:ext uri="{FF2B5EF4-FFF2-40B4-BE49-F238E27FC236}">
                <a16:creationId xmlns:a16="http://schemas.microsoft.com/office/drawing/2014/main" id="{B87133CC-3B86-2B3E-FE68-881499ADDC4E}"/>
              </a:ext>
            </a:extLst>
          </p:cNvPr>
          <p:cNvSpPr>
            <a:spLocks noGrp="1"/>
          </p:cNvSpPr>
          <p:nvPr>
            <p:ph type="title"/>
          </p:nvPr>
        </p:nvSpPr>
        <p:spPr>
          <a:xfrm>
            <a:off x="224412" y="-77490"/>
            <a:ext cx="11967587" cy="1094265"/>
          </a:xfrm>
        </p:spPr>
        <p:txBody>
          <a:bodyPr>
            <a:normAutofit fontScale="90000"/>
          </a:bodyPr>
          <a:lstStyle/>
          <a:p>
            <a:r>
              <a:rPr lang="en-US" dirty="0"/>
              <a:t>Homeless Veteran Care – Developing, Testing, and Implementing Interventions</a:t>
            </a:r>
          </a:p>
        </p:txBody>
      </p:sp>
      <p:sp>
        <p:nvSpPr>
          <p:cNvPr id="4" name="Slide Number Placeholder 3">
            <a:extLst>
              <a:ext uri="{FF2B5EF4-FFF2-40B4-BE49-F238E27FC236}">
                <a16:creationId xmlns:a16="http://schemas.microsoft.com/office/drawing/2014/main" id="{AE3F813B-894A-9C41-548F-04E0054943A4}"/>
              </a:ext>
            </a:extLst>
          </p:cNvPr>
          <p:cNvSpPr>
            <a:spLocks noGrp="1"/>
          </p:cNvSpPr>
          <p:nvPr>
            <p:ph type="sldNum" sz="quarter" idx="4"/>
          </p:nvPr>
        </p:nvSpPr>
        <p:spPr/>
        <p:txBody>
          <a:bodyPr/>
          <a:lstStyle/>
          <a:p>
            <a:fld id="{21672522-718F-5A4A-A967-5C1A35706813}" type="slidenum">
              <a:rPr lang="en-US" smtClean="0"/>
              <a:pPr/>
              <a:t>11</a:t>
            </a:fld>
            <a:endParaRPr lang="en-US"/>
          </a:p>
        </p:txBody>
      </p:sp>
      <p:sp>
        <p:nvSpPr>
          <p:cNvPr id="8" name="TextBox 7">
            <a:extLst>
              <a:ext uri="{FF2B5EF4-FFF2-40B4-BE49-F238E27FC236}">
                <a16:creationId xmlns:a16="http://schemas.microsoft.com/office/drawing/2014/main" id="{3FFB7D24-BC31-B2AE-872F-8C8CA26C17FE}"/>
              </a:ext>
            </a:extLst>
          </p:cNvPr>
          <p:cNvSpPr txBox="1"/>
          <p:nvPr/>
        </p:nvSpPr>
        <p:spPr>
          <a:xfrm>
            <a:off x="400451" y="3635221"/>
            <a:ext cx="11615508" cy="646331"/>
          </a:xfrm>
          <a:prstGeom prst="rect">
            <a:avLst/>
          </a:prstGeom>
          <a:noFill/>
        </p:spPr>
        <p:txBody>
          <a:bodyPr wrap="square">
            <a:spAutoFit/>
          </a:bodyPr>
          <a:lstStyle/>
          <a:p>
            <a:pPr lvl="1"/>
            <a:r>
              <a:rPr lang="en-US" sz="1800" i="1" dirty="0">
                <a:solidFill>
                  <a:schemeClr val="accent1"/>
                </a:solidFill>
              </a:rPr>
              <a:t>“I almost cry every time when we get off the phone because I'm in disbelief that there are still people out there that truly care... gave me a reason to feel a sense of purpose again.” - HEARTH enrolled Veteran    </a:t>
            </a:r>
          </a:p>
        </p:txBody>
      </p:sp>
    </p:spTree>
    <p:extLst>
      <p:ext uri="{BB962C8B-B14F-4D97-AF65-F5344CB8AC3E}">
        <p14:creationId xmlns:p14="http://schemas.microsoft.com/office/powerpoint/2010/main" val="2552878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83A011-EF82-1961-900A-E6EC9A9D68A6}"/>
              </a:ext>
            </a:extLst>
          </p:cNvPr>
          <p:cNvSpPr>
            <a:spLocks noGrp="1"/>
          </p:cNvSpPr>
          <p:nvPr>
            <p:ph idx="1"/>
          </p:nvPr>
        </p:nvSpPr>
        <p:spPr>
          <a:xfrm>
            <a:off x="510801" y="1106037"/>
            <a:ext cx="11016195" cy="5161050"/>
          </a:xfrm>
        </p:spPr>
        <p:txBody>
          <a:bodyPr/>
          <a:lstStyle/>
          <a:p>
            <a:pPr marL="0" indent="0" fontAlgn="base">
              <a:lnSpc>
                <a:spcPct val="100000"/>
              </a:lnSpc>
              <a:spcAft>
                <a:spcPts val="0"/>
              </a:spcAft>
              <a:buNone/>
              <a:defRPr/>
            </a:pPr>
            <a:r>
              <a:rPr kumimoji="0" lang="en-US" altLang="en-US" sz="1800" b="1" i="0" u="none" strike="noStrike" kern="1200" cap="none" spc="0" normalizeH="0" baseline="0" noProof="0" dirty="0">
                <a:ln>
                  <a:noFill/>
                </a:ln>
                <a:solidFill>
                  <a:srgbClr val="000000"/>
                </a:solidFill>
                <a:effectLst/>
                <a:uLnTx/>
                <a:uFillTx/>
                <a:ea typeface="+mn-ea"/>
                <a:cs typeface="Arial" panose="020B0604020202020204" pitchFamily="34" charset="0"/>
              </a:rPr>
              <a:t>Veterans Health Administration Programs  - </a:t>
            </a:r>
            <a:r>
              <a:rPr kumimoji="0" lang="en-US" altLang="en-US" sz="1800" i="0" u="none" strike="noStrike" kern="1200" cap="none" spc="0" normalizeH="0" baseline="0" noProof="0" dirty="0">
                <a:ln>
                  <a:noFill/>
                </a:ln>
                <a:solidFill>
                  <a:srgbClr val="000000"/>
                </a:solidFill>
                <a:effectLst/>
                <a:uLnTx/>
                <a:uFillTx/>
                <a:ea typeface="+mn-ea"/>
                <a:cs typeface="Arial" panose="020B0604020202020204" pitchFamily="34" charset="0"/>
              </a:rPr>
              <a:t>VA Investigators found that: </a:t>
            </a:r>
            <a:endParaRPr kumimoji="0" lang="en-US" altLang="en-US" sz="1800" b="1" i="0" u="none" strike="noStrike" kern="1200" cap="none" spc="0" normalizeH="0" baseline="0" noProof="0" dirty="0">
              <a:ln>
                <a:noFill/>
              </a:ln>
              <a:solidFill>
                <a:srgbClr val="000000"/>
              </a:solidFill>
              <a:effectLst/>
              <a:uLnTx/>
              <a:uFillTx/>
              <a:ea typeface="+mn-ea"/>
              <a:cs typeface="Arial" panose="020B0604020202020204" pitchFamily="34" charset="0"/>
            </a:endParaRPr>
          </a:p>
          <a:p>
            <a:pPr marL="342900" marR="0" lvl="0" indent="-342900">
              <a:lnSpc>
                <a:spcPct val="100000"/>
              </a:lnSpc>
              <a:spcAft>
                <a:spcPts val="0"/>
              </a:spcAft>
              <a:buFont typeface="Arial" panose="020B0604020202020204" pitchFamily="34" charset="0"/>
              <a:buChar char="•"/>
              <a:tabLst>
                <a:tab pos="457200" algn="l"/>
              </a:tabLst>
            </a:pPr>
            <a:r>
              <a:rPr lang="en-US" altLang="en-US" sz="1800" dirty="0">
                <a:solidFill>
                  <a:srgbClr val="000000"/>
                </a:solidFill>
                <a:cs typeface="Arial"/>
                <a:sym typeface="Wingdings" panose="05000000000000000000" pitchFamily="2" charset="2"/>
              </a:rPr>
              <a:t>Veterans enrolled in primary care teams tailored to meet the needs of homeless Veterans (H-PACT) have more positive primary care experiences, and receive more timely depression care, than homeless Veterans enrolled in non-tailored teams </a:t>
            </a:r>
          </a:p>
          <a:p>
            <a:pPr marL="342900" marR="0" lvl="0" indent="-342900">
              <a:lnSpc>
                <a:spcPct val="100000"/>
              </a:lnSpc>
              <a:spcAft>
                <a:spcPts val="0"/>
              </a:spcAft>
              <a:buFont typeface="Arial" panose="020B0604020202020204" pitchFamily="34" charset="0"/>
              <a:buChar char="•"/>
              <a:tabLst>
                <a:tab pos="457200" algn="l"/>
              </a:tabLst>
            </a:pPr>
            <a:r>
              <a:rPr lang="en-US" sz="1800" dirty="0"/>
              <a:t>An  H-PACT mental health pharmacy clinic led to improvement in wait time for psychiatric pharmacotherapy follow-up for homeless Veterans, with interventions that were associated with significant estimated cost saving (Pauly et. al, 2018)</a:t>
            </a:r>
            <a:endParaRPr lang="en-US" altLang="en-US" sz="1800" dirty="0">
              <a:solidFill>
                <a:srgbClr val="000000"/>
              </a:solidFill>
              <a:cs typeface="Arial"/>
              <a:sym typeface="Wingdings" panose="05000000000000000000" pitchFamily="2" charset="2"/>
            </a:endParaRPr>
          </a:p>
          <a:p>
            <a:pPr marL="0" marR="0" lvl="0" indent="0">
              <a:lnSpc>
                <a:spcPct val="100000"/>
              </a:lnSpc>
              <a:spcAft>
                <a:spcPts val="0"/>
              </a:spcAft>
              <a:buNone/>
              <a:tabLst>
                <a:tab pos="457200" algn="l"/>
              </a:tabLst>
            </a:pPr>
            <a:endParaRPr lang="en-US" sz="600" dirty="0">
              <a:effectLst/>
              <a:ea typeface="Times New Roman" panose="02020603050405020304" pitchFamily="18" charset="0"/>
              <a:cs typeface="Times New Roman" panose="02020603050405020304" pitchFamily="18" charset="0"/>
            </a:endParaRPr>
          </a:p>
          <a:p>
            <a:pPr marL="0" indent="0">
              <a:lnSpc>
                <a:spcPct val="100000"/>
              </a:lnSpc>
              <a:spcAft>
                <a:spcPts val="0"/>
              </a:spcAft>
              <a:buNone/>
              <a:tabLst>
                <a:tab pos="457200" algn="l"/>
              </a:tabLst>
            </a:pPr>
            <a:r>
              <a:rPr kumimoji="0" lang="en-US" altLang="en-US" sz="1800" b="1" i="0" u="none" strike="noStrike" kern="1200" cap="none" spc="0" normalizeH="0" baseline="0" noProof="0" dirty="0">
                <a:ln>
                  <a:noFill/>
                </a:ln>
                <a:solidFill>
                  <a:srgbClr val="000000"/>
                </a:solidFill>
                <a:effectLst/>
                <a:uLnTx/>
                <a:uFillTx/>
                <a:ea typeface="+mn-ea"/>
                <a:cs typeface="Arial" panose="020B0604020202020204" pitchFamily="34" charset="0"/>
              </a:rPr>
              <a:t>Veterans Benefits Administration Programs - </a:t>
            </a:r>
            <a:r>
              <a:rPr kumimoji="0" lang="en-US" altLang="en-US" sz="1800" i="0" u="none" strike="noStrike" kern="1200" cap="none" spc="0" normalizeH="0" baseline="0" noProof="0" dirty="0">
                <a:ln>
                  <a:noFill/>
                </a:ln>
                <a:solidFill>
                  <a:srgbClr val="000000"/>
                </a:solidFill>
                <a:effectLst/>
                <a:uLnTx/>
                <a:uFillTx/>
                <a:ea typeface="+mn-ea"/>
                <a:cs typeface="Arial" panose="020B0604020202020204" pitchFamily="34" charset="0"/>
              </a:rPr>
              <a:t>VA Investigators found that: </a:t>
            </a:r>
          </a:p>
          <a:p>
            <a:pPr>
              <a:lnSpc>
                <a:spcPct val="100000"/>
              </a:lnSpc>
              <a:spcAft>
                <a:spcPts val="0"/>
              </a:spcAft>
              <a:tabLst>
                <a:tab pos="457200" algn="l"/>
              </a:tabLst>
            </a:pPr>
            <a:r>
              <a:rPr lang="en-US" altLang="en-US" sz="1800" dirty="0">
                <a:solidFill>
                  <a:srgbClr val="000000"/>
                </a:solidFill>
                <a:cs typeface="Arial"/>
                <a:sym typeface="Wingdings" panose="05000000000000000000" pitchFamily="2" charset="2"/>
              </a:rPr>
              <a:t>VA’s temporary financial assistance (TFA) program is associated with increased rates of stable housing (Nelson et.al., 2021)</a:t>
            </a:r>
          </a:p>
          <a:p>
            <a:pPr>
              <a:lnSpc>
                <a:spcPct val="100000"/>
              </a:lnSpc>
              <a:spcAft>
                <a:spcPts val="0"/>
              </a:spcAft>
              <a:tabLst>
                <a:tab pos="457200" algn="l"/>
              </a:tabLst>
            </a:pPr>
            <a:r>
              <a:rPr lang="en-US" sz="1800" b="0" i="0" dirty="0">
                <a:solidFill>
                  <a:srgbClr val="000000"/>
                </a:solidFill>
                <a:effectLst/>
              </a:rPr>
              <a:t>VA’s Supportive Services for Veteran Families (SSVF) reduces housing instability for up to three years after program enrollment (Chapman et. Al., 2024)</a:t>
            </a:r>
            <a:endParaRPr lang="en-US" sz="1800" b="0" i="0" dirty="0">
              <a:solidFill>
                <a:srgbClr val="000000"/>
              </a:solidFill>
              <a:cs typeface="Arial"/>
              <a:sym typeface="Wingdings" panose="05000000000000000000" pitchFamily="2" charset="2"/>
            </a:endParaRPr>
          </a:p>
          <a:p>
            <a:pPr>
              <a:lnSpc>
                <a:spcPct val="100000"/>
              </a:lnSpc>
              <a:spcAft>
                <a:spcPts val="0"/>
              </a:spcAft>
              <a:tabLst>
                <a:tab pos="457200" algn="l"/>
              </a:tabLst>
            </a:pPr>
            <a:r>
              <a:rPr lang="en-US" sz="1800" dirty="0">
                <a:effectLst/>
                <a:ea typeface="Times New Roman" panose="02020603050405020304" pitchFamily="18" charset="0"/>
                <a:cs typeface="Times New Roman" panose="02020603050405020304" pitchFamily="18" charset="0"/>
              </a:rPr>
              <a:t>HUD-VASH Veterans with SUDs more frequently used VA Emergency Departments, and had psychiatric hospitalizations and negative housing exits, compared to Veterans without SUDs; risk of negative exits decreased with increased primary care engagement which demonstrated need for HUD-VASH tailored SUD services &amp; enhanced linkages to primary care teams</a:t>
            </a:r>
            <a:endParaRPr lang="en-US" altLang="en-US" sz="1800" dirty="0">
              <a:solidFill>
                <a:srgbClr val="000000"/>
              </a:solidFill>
              <a:cs typeface="Arial"/>
              <a:sym typeface="Wingdings" panose="05000000000000000000" pitchFamily="2" charset="2"/>
            </a:endParaRPr>
          </a:p>
          <a:p>
            <a:pPr marL="0" marR="0" lvl="0" indent="0">
              <a:lnSpc>
                <a:spcPct val="100000"/>
              </a:lnSpc>
              <a:spcAft>
                <a:spcPts val="0"/>
              </a:spcAft>
              <a:buNone/>
              <a:tabLst>
                <a:tab pos="457200" algn="l"/>
              </a:tabLst>
            </a:pPr>
            <a:endParaRPr lang="en-US" sz="600" dirty="0">
              <a:ea typeface="Times New Roman" panose="02020603050405020304" pitchFamily="18" charset="0"/>
              <a:cs typeface="Times New Roman" panose="02020603050405020304" pitchFamily="18" charset="0"/>
            </a:endParaRPr>
          </a:p>
          <a:p>
            <a:pPr marL="0" marR="0" lvl="0" indent="0">
              <a:lnSpc>
                <a:spcPct val="100000"/>
              </a:lnSpc>
              <a:spcAft>
                <a:spcPts val="0"/>
              </a:spcAft>
              <a:buNone/>
              <a:tabLst>
                <a:tab pos="457200" algn="l"/>
              </a:tabLst>
            </a:pPr>
            <a:r>
              <a:rPr lang="en-US" sz="1800" b="1" dirty="0">
                <a:effectLst/>
                <a:ea typeface="Times New Roman" panose="02020603050405020304" pitchFamily="18" charset="0"/>
                <a:cs typeface="Times New Roman" panose="02020603050405020304" pitchFamily="18" charset="0"/>
              </a:rPr>
              <a:t>Legislation: </a:t>
            </a:r>
            <a:endParaRPr lang="en-US" sz="1800" b="1" dirty="0">
              <a:ea typeface="Times New Roman" panose="02020603050405020304" pitchFamily="18" charset="0"/>
              <a:cs typeface="Times New Roman" panose="02020603050405020304" pitchFamily="18" charset="0"/>
            </a:endParaRPr>
          </a:p>
          <a:p>
            <a:pPr marL="342900" marR="0" lvl="0" indent="-342900">
              <a:lnSpc>
                <a:spcPct val="100000"/>
              </a:lnSpc>
              <a:spcAft>
                <a:spcPts val="0"/>
              </a:spcAft>
              <a:buFont typeface="Arial" panose="020B0604020202020204" pitchFamily="34" charset="0"/>
              <a:buChar char="•"/>
              <a:tabLst>
                <a:tab pos="457200" algn="l"/>
              </a:tabLst>
            </a:pPr>
            <a:r>
              <a:rPr kumimoji="0" lang="en-US" altLang="en-US" sz="1800" i="0" u="none" strike="noStrike" kern="1200" cap="none" spc="0" normalizeH="0" baseline="0" noProof="0" dirty="0">
                <a:ln>
                  <a:noFill/>
                </a:ln>
                <a:solidFill>
                  <a:srgbClr val="000000"/>
                </a:solidFill>
                <a:effectLst/>
                <a:uLnTx/>
                <a:uFillTx/>
                <a:ea typeface="+mn-ea"/>
                <a:cs typeface="Arial"/>
              </a:rPr>
              <a:t>VA Investigators are evaluating the implementation of the Congressionally-mandated Legal Services for Veterans (LSV) initiative, </a:t>
            </a:r>
            <a:r>
              <a:rPr lang="en-US" altLang="en-US" sz="1800" dirty="0">
                <a:solidFill>
                  <a:srgbClr val="000000"/>
                </a:solidFill>
                <a:cs typeface="Arial"/>
              </a:rPr>
              <a:t>which </a:t>
            </a:r>
            <a:r>
              <a:rPr kumimoji="0" lang="en-US" altLang="en-US" sz="1800" b="0" i="0" u="none" strike="noStrike" kern="1200" cap="none" spc="0" normalizeH="0" baseline="0" noProof="0" dirty="0">
                <a:ln>
                  <a:noFill/>
                </a:ln>
                <a:solidFill>
                  <a:srgbClr val="000000"/>
                </a:solidFill>
                <a:effectLst/>
                <a:uLnTx/>
                <a:uFillTx/>
                <a:ea typeface="+mn-ea"/>
                <a:cs typeface="Arial"/>
              </a:rPr>
              <a:t>awards grants to organizations to deliver legal services to Veterans related to housing, family law, etc.</a:t>
            </a:r>
            <a:endParaRPr lang="en-US" altLang="en-US" sz="1800" dirty="0">
              <a:solidFill>
                <a:srgbClr val="000000"/>
              </a:solidFill>
              <a:cs typeface="Arial"/>
            </a:endParaRPr>
          </a:p>
          <a:p>
            <a:pPr marL="463550" marR="0" lvl="0" indent="-282575" algn="l" defTabSz="914400" rtl="0" eaLnBrk="1" fontAlgn="base" latinLnBrk="0" hangingPunct="1">
              <a:lnSpc>
                <a:spcPct val="100000"/>
              </a:lnSpc>
              <a:spcBef>
                <a:spcPct val="0"/>
              </a:spcBef>
              <a:spcAft>
                <a:spcPts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srgbClr val="000000"/>
              </a:solidFill>
              <a:effectLst/>
              <a:uLnTx/>
              <a:uFillTx/>
              <a:ea typeface="+mn-ea"/>
              <a:cs typeface="Arial"/>
            </a:endParaRPr>
          </a:p>
          <a:p>
            <a:pPr marL="0" indent="0">
              <a:buNone/>
            </a:pPr>
            <a:endParaRPr lang="en-US" sz="1600" dirty="0"/>
          </a:p>
        </p:txBody>
      </p:sp>
      <p:sp>
        <p:nvSpPr>
          <p:cNvPr id="3" name="Title 2">
            <a:extLst>
              <a:ext uri="{FF2B5EF4-FFF2-40B4-BE49-F238E27FC236}">
                <a16:creationId xmlns:a16="http://schemas.microsoft.com/office/drawing/2014/main" id="{B87133CC-3B86-2B3E-FE68-881499ADDC4E}"/>
              </a:ext>
            </a:extLst>
          </p:cNvPr>
          <p:cNvSpPr>
            <a:spLocks noGrp="1"/>
          </p:cNvSpPr>
          <p:nvPr>
            <p:ph type="title"/>
          </p:nvPr>
        </p:nvSpPr>
        <p:spPr>
          <a:xfrm>
            <a:off x="224412" y="-77490"/>
            <a:ext cx="11967587" cy="1094265"/>
          </a:xfrm>
        </p:spPr>
        <p:txBody>
          <a:bodyPr>
            <a:normAutofit fontScale="90000"/>
          </a:bodyPr>
          <a:lstStyle/>
          <a:p>
            <a:r>
              <a:rPr lang="en-US" dirty="0"/>
              <a:t>Homeless Veteran Care – Evaluating VA Programs and Legislation</a:t>
            </a:r>
          </a:p>
        </p:txBody>
      </p:sp>
      <p:sp>
        <p:nvSpPr>
          <p:cNvPr id="4" name="Slide Number Placeholder 3">
            <a:extLst>
              <a:ext uri="{FF2B5EF4-FFF2-40B4-BE49-F238E27FC236}">
                <a16:creationId xmlns:a16="http://schemas.microsoft.com/office/drawing/2014/main" id="{AE3F813B-894A-9C41-548F-04E0054943A4}"/>
              </a:ext>
            </a:extLst>
          </p:cNvPr>
          <p:cNvSpPr>
            <a:spLocks noGrp="1"/>
          </p:cNvSpPr>
          <p:nvPr>
            <p:ph type="sldNum" sz="quarter" idx="4"/>
          </p:nvPr>
        </p:nvSpPr>
        <p:spPr/>
        <p:txBody>
          <a:bodyPr/>
          <a:lstStyle/>
          <a:p>
            <a:fld id="{21672522-718F-5A4A-A967-5C1A35706813}" type="slidenum">
              <a:rPr lang="en-US" smtClean="0"/>
              <a:pPr/>
              <a:t>12</a:t>
            </a:fld>
            <a:endParaRPr lang="en-US"/>
          </a:p>
        </p:txBody>
      </p:sp>
    </p:spTree>
    <p:extLst>
      <p:ext uri="{BB962C8B-B14F-4D97-AF65-F5344CB8AC3E}">
        <p14:creationId xmlns:p14="http://schemas.microsoft.com/office/powerpoint/2010/main" val="349820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52F1FF-BEB5-A80E-91C3-29A2438D992C}"/>
              </a:ext>
            </a:extLst>
          </p:cNvPr>
          <p:cNvSpPr>
            <a:spLocks noGrp="1"/>
          </p:cNvSpPr>
          <p:nvPr>
            <p:ph idx="1"/>
          </p:nvPr>
        </p:nvSpPr>
        <p:spPr>
          <a:xfrm>
            <a:off x="224413" y="1377862"/>
            <a:ext cx="11016195" cy="5161050"/>
          </a:xfrm>
        </p:spPr>
        <p:txBody>
          <a:bodyPr/>
          <a:lstStyle/>
          <a:p>
            <a:r>
              <a:rPr lang="en-US" sz="2800" kern="100" dirty="0">
                <a:effectLst/>
                <a:ea typeface="Calibri" panose="020F0502020204030204" pitchFamily="34" charset="0"/>
              </a:rPr>
              <a:t>VA investigators </a:t>
            </a:r>
          </a:p>
          <a:p>
            <a:pPr lvl="1"/>
            <a:r>
              <a:rPr lang="en-US" sz="2400" kern="100" dirty="0">
                <a:effectLst/>
                <a:ea typeface="Calibri" panose="020F0502020204030204" pitchFamily="34" charset="0"/>
              </a:rPr>
              <a:t>Are developing a national population-based cohort of Veterans at risk of homelessness to help inform improvements to programs and policies that address risk and resilience factors affecting Veteran homelessness (</a:t>
            </a:r>
            <a:r>
              <a:rPr lang="en-US" sz="2400" kern="100" dirty="0">
                <a:effectLst/>
                <a:latin typeface="Arial" panose="020B0604020202020204" pitchFamily="34" charset="0"/>
                <a:ea typeface="Calibri" panose="020F0502020204030204" pitchFamily="34" charset="0"/>
              </a:rPr>
              <a:t>SHELTER Learning Health System Initiative)</a:t>
            </a:r>
            <a:endParaRPr lang="en-US" sz="2400" kern="100" dirty="0">
              <a:solidFill>
                <a:srgbClr val="000000"/>
              </a:solidFill>
              <a:effectLst/>
              <a:ea typeface="Calibri" panose="020F0502020204030204" pitchFamily="34" charset="0"/>
              <a:cs typeface="Arial"/>
              <a:sym typeface="Wingdings" panose="05000000000000000000" pitchFamily="2" charset="2"/>
            </a:endParaRPr>
          </a:p>
          <a:p>
            <a:pPr lvl="1"/>
            <a:r>
              <a:rPr lang="en-US" sz="2400" dirty="0"/>
              <a:t>Have developed a Natural Language Processing (NLP) models to assess housing instability and food insecurity (Chapman et. al. 2021; Chapman, et. al, 2025)</a:t>
            </a:r>
          </a:p>
          <a:p>
            <a:pPr lvl="1"/>
            <a:r>
              <a:rPr lang="en-US" altLang="en-US" sz="2400" dirty="0">
                <a:solidFill>
                  <a:srgbClr val="000000"/>
                </a:solidFill>
                <a:cs typeface="Arial" panose="020B0604020202020204" pitchFamily="34" charset="0"/>
              </a:rPr>
              <a:t>Assessed Veteran acceptability of a mobile sensing technology (digital “wearables”) to enable collection of </a:t>
            </a:r>
            <a:r>
              <a:rPr lang="en-US" sz="2400" b="0" i="0" dirty="0">
                <a:solidFill>
                  <a:srgbClr val="000000"/>
                </a:solidFill>
                <a:effectLst/>
              </a:rPr>
              <a:t>reliable, longitudinal assessments of community integration (Harris et al, 2022)</a:t>
            </a:r>
            <a:endParaRPr lang="en-US" altLang="en-US" sz="2400" dirty="0">
              <a:solidFill>
                <a:srgbClr val="000000"/>
              </a:solidFill>
              <a:cs typeface="Arial" panose="020B0604020202020204" pitchFamily="34" charset="0"/>
            </a:endParaRPr>
          </a:p>
          <a:p>
            <a:pPr fontAlgn="base">
              <a:lnSpc>
                <a:spcPct val="100000"/>
              </a:lnSpc>
              <a:spcBef>
                <a:spcPct val="0"/>
              </a:spcBef>
              <a:defRPr/>
            </a:pPr>
            <a:endParaRPr kumimoji="0" lang="en-US" altLang="en-US" sz="2800" i="0" u="none" strike="noStrike" kern="1200" cap="none" spc="0" normalizeH="0" baseline="0" noProof="0" dirty="0">
              <a:ln>
                <a:noFill/>
              </a:ln>
              <a:solidFill>
                <a:srgbClr val="000000"/>
              </a:solidFill>
              <a:effectLst/>
              <a:uLnTx/>
              <a:uFillTx/>
              <a:ea typeface="+mn-ea"/>
              <a:cs typeface="Arial" panose="020B0604020202020204" pitchFamily="34" charset="0"/>
            </a:endParaRPr>
          </a:p>
          <a:p>
            <a:endParaRPr lang="en-US" dirty="0"/>
          </a:p>
        </p:txBody>
      </p:sp>
      <p:sp>
        <p:nvSpPr>
          <p:cNvPr id="3" name="Title 2">
            <a:extLst>
              <a:ext uri="{FF2B5EF4-FFF2-40B4-BE49-F238E27FC236}">
                <a16:creationId xmlns:a16="http://schemas.microsoft.com/office/drawing/2014/main" id="{8086BBD1-C22C-BA7D-D2C2-A6679CED2699}"/>
              </a:ext>
            </a:extLst>
          </p:cNvPr>
          <p:cNvSpPr>
            <a:spLocks noGrp="1"/>
          </p:cNvSpPr>
          <p:nvPr>
            <p:ph type="title"/>
          </p:nvPr>
        </p:nvSpPr>
        <p:spPr/>
        <p:txBody>
          <a:bodyPr>
            <a:normAutofit fontScale="90000"/>
          </a:bodyPr>
          <a:lstStyle/>
          <a:p>
            <a:r>
              <a:rPr lang="en-US" dirty="0"/>
              <a:t>Homeless Veteran Care – Developing Data Resources</a:t>
            </a:r>
          </a:p>
        </p:txBody>
      </p:sp>
      <p:sp>
        <p:nvSpPr>
          <p:cNvPr id="4" name="Slide Number Placeholder 3">
            <a:extLst>
              <a:ext uri="{FF2B5EF4-FFF2-40B4-BE49-F238E27FC236}">
                <a16:creationId xmlns:a16="http://schemas.microsoft.com/office/drawing/2014/main" id="{10B9DE91-2FF6-3BAC-9EE4-76D05DA97FF4}"/>
              </a:ext>
            </a:extLst>
          </p:cNvPr>
          <p:cNvSpPr>
            <a:spLocks noGrp="1"/>
          </p:cNvSpPr>
          <p:nvPr>
            <p:ph type="sldNum" sz="quarter" idx="4"/>
          </p:nvPr>
        </p:nvSpPr>
        <p:spPr/>
        <p:txBody>
          <a:bodyPr/>
          <a:lstStyle/>
          <a:p>
            <a:fld id="{21672522-718F-5A4A-A967-5C1A35706813}" type="slidenum">
              <a:rPr lang="en-US" smtClean="0"/>
              <a:pPr/>
              <a:t>13</a:t>
            </a:fld>
            <a:endParaRPr lang="en-US"/>
          </a:p>
        </p:txBody>
      </p:sp>
    </p:spTree>
    <p:extLst>
      <p:ext uri="{BB962C8B-B14F-4D97-AF65-F5344CB8AC3E}">
        <p14:creationId xmlns:p14="http://schemas.microsoft.com/office/powerpoint/2010/main" val="3331216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1CD33C2-F81C-E34C-19B7-C83CB6016635}"/>
              </a:ext>
            </a:extLst>
          </p:cNvPr>
          <p:cNvSpPr>
            <a:spLocks noGrp="1"/>
          </p:cNvSpPr>
          <p:nvPr>
            <p:ph idx="1"/>
          </p:nvPr>
        </p:nvSpPr>
        <p:spPr>
          <a:xfrm>
            <a:off x="254409" y="1295934"/>
            <a:ext cx="11739471" cy="5562066"/>
          </a:xfrm>
        </p:spPr>
        <p:txBody>
          <a:bodyPr>
            <a:normAutofit fontScale="77500" lnSpcReduction="20000"/>
          </a:bodyPr>
          <a:lstStyle/>
          <a:p>
            <a:pPr marL="0" indent="0">
              <a:spcAft>
                <a:spcPts val="1200"/>
              </a:spcAft>
              <a:buNone/>
            </a:pPr>
            <a:r>
              <a:rPr lang="en-US" sz="3300" b="1" dirty="0">
                <a:latin typeface="Arial" panose="020B0604020202020204" pitchFamily="34" charset="0"/>
                <a:ea typeface="Calibri" panose="020F0502020204030204" pitchFamily="34" charset="0"/>
                <a:cs typeface="Arial" panose="020B0604020202020204" pitchFamily="34" charset="0"/>
              </a:rPr>
              <a:t>Research Coordinating Center for st</a:t>
            </a:r>
            <a:r>
              <a:rPr lang="en-US" sz="3300" b="1" dirty="0">
                <a:effectLst/>
                <a:latin typeface="Arial" panose="020B0604020202020204" pitchFamily="34" charset="0"/>
                <a:ea typeface="Calibri" panose="020F0502020204030204" pitchFamily="34" charset="0"/>
                <a:cs typeface="Arial" panose="020B0604020202020204" pitchFamily="34" charset="0"/>
              </a:rPr>
              <a:t>udying employment and economic security for Veterans to prevent Veteran homelessness, suicide, criminal justice involvement, and poor health</a:t>
            </a:r>
            <a:endParaRPr lang="en-US" sz="3300" b="1" kern="0" dirty="0">
              <a:latin typeface="Arial" panose="020B0604020202020204" pitchFamily="34" charset="0"/>
              <a:ea typeface="Calibri" panose="020F0502020204030204" pitchFamily="34" charset="0"/>
              <a:cs typeface="Arial" panose="020B0604020202020204" pitchFamily="34" charset="0"/>
            </a:endParaRPr>
          </a:p>
          <a:p>
            <a:pPr lvl="1">
              <a:spcAft>
                <a:spcPts val="1200"/>
              </a:spcAft>
            </a:pPr>
            <a:r>
              <a:rPr lang="en-US" sz="2800" dirty="0">
                <a:latin typeface="Arial" panose="020B0604020202020204" pitchFamily="34" charset="0"/>
                <a:ea typeface="Calibri" panose="020F0502020204030204" pitchFamily="34" charset="0"/>
              </a:rPr>
              <a:t>Formulating and supporting a VA learning health system community of researchers and program partners focused on Veteran employment &amp; economic security</a:t>
            </a:r>
          </a:p>
          <a:p>
            <a:pPr lvl="1">
              <a:spcAft>
                <a:spcPts val="1200"/>
              </a:spcAft>
            </a:pPr>
            <a:r>
              <a:rPr lang="en-US" sz="2800" dirty="0">
                <a:latin typeface="Arial" panose="020B0604020202020204" pitchFamily="34" charset="0"/>
                <a:ea typeface="Calibri" panose="020F0502020204030204" pitchFamily="34" charset="0"/>
              </a:rPr>
              <a:t>Developing data infrastructure to support related research &amp; evaluation</a:t>
            </a:r>
          </a:p>
          <a:p>
            <a:pPr lvl="1">
              <a:spcAft>
                <a:spcPts val="1200"/>
              </a:spcAft>
            </a:pPr>
            <a:r>
              <a:rPr lang="en-US" sz="2800" dirty="0">
                <a:latin typeface="Arial" panose="020B0604020202020204" pitchFamily="34" charset="0"/>
                <a:ea typeface="Calibri" panose="020F0502020204030204" pitchFamily="34" charset="0"/>
              </a:rPr>
              <a:t>Expanding VA’s adoption of scientifically supported employment services and Veterans’ access to related evidence-based programs</a:t>
            </a:r>
          </a:p>
          <a:p>
            <a:pPr lvl="1">
              <a:spcAft>
                <a:spcPts val="1800"/>
              </a:spcAft>
            </a:pPr>
            <a:r>
              <a:rPr lang="en-US" sz="2800" dirty="0">
                <a:latin typeface="Arial" panose="020B0604020202020204" pitchFamily="34" charset="0"/>
                <a:ea typeface="Calibri" panose="020F0502020204030204" pitchFamily="34" charset="0"/>
              </a:rPr>
              <a:t>Fostering research &amp; evaluation about ameliorating the negative reciprocal impacts between Veteran unemployment/economic insecurity and medical/psychosocial conditions </a:t>
            </a:r>
          </a:p>
          <a:p>
            <a:pPr marL="457200" lvl="1" indent="0">
              <a:spcAft>
                <a:spcPts val="0"/>
              </a:spcAft>
              <a:buNone/>
            </a:pPr>
            <a:endParaRPr lang="en-US" sz="800" dirty="0">
              <a:latin typeface="Arial" panose="020B0604020202020204" pitchFamily="34" charset="0"/>
              <a:cs typeface="Arial" panose="020B0604020202020204" pitchFamily="34" charset="0"/>
            </a:endParaRPr>
          </a:p>
          <a:p>
            <a:pPr marL="0" indent="0">
              <a:buNone/>
            </a:pPr>
            <a:r>
              <a:rPr lang="en-US" sz="2300" b="1" dirty="0">
                <a:latin typeface="Arial" panose="020B0604020202020204" pitchFamily="34" charset="0"/>
                <a:cs typeface="Arial" panose="020B0604020202020204" pitchFamily="34" charset="0"/>
              </a:rPr>
              <a:t>VA National Partners: </a:t>
            </a:r>
            <a:r>
              <a:rPr lang="en-US" sz="2300" dirty="0">
                <a:latin typeface="Arial" panose="020B0604020202020204" pitchFamily="34" charset="0"/>
                <a:cs typeface="Arial" panose="020B0604020202020204" pitchFamily="34" charset="0"/>
              </a:rPr>
              <a:t>Homeless Programs Office, Office of Vocational Rehabilitation Services, Office of Suicide Prevention, National Substance Use Disorders Office, Office of Veterans Financial Resource Center, Veterans Benefits Administration</a:t>
            </a:r>
          </a:p>
          <a:p>
            <a:pPr marL="0" indent="0">
              <a:buNone/>
            </a:pPr>
            <a:endParaRPr lang="en-US" sz="1800" dirty="0">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6ED58AF4-07B0-BECF-67B3-0DCE7AA972FC}"/>
              </a:ext>
            </a:extLst>
          </p:cNvPr>
          <p:cNvSpPr>
            <a:spLocks noGrp="1"/>
          </p:cNvSpPr>
          <p:nvPr>
            <p:ph type="title"/>
          </p:nvPr>
        </p:nvSpPr>
        <p:spPr>
          <a:xfrm>
            <a:off x="151949" y="1"/>
            <a:ext cx="12658669" cy="941560"/>
          </a:xfrm>
        </p:spPr>
        <p:txBody>
          <a:bodyPr>
            <a:normAutofit fontScale="90000"/>
          </a:bodyPr>
          <a:lstStyle/>
          <a:p>
            <a:pPr>
              <a:lnSpc>
                <a:spcPct val="80000"/>
              </a:lnSpc>
            </a:pPr>
            <a:r>
              <a:rPr lang="en-US" b="1" dirty="0"/>
              <a:t>Supporting Employment and Resources for Veterans’ Economic Security (SERVES) Consortium </a:t>
            </a:r>
            <a:endParaRPr lang="en-US" dirty="0"/>
          </a:p>
        </p:txBody>
      </p:sp>
      <p:sp>
        <p:nvSpPr>
          <p:cNvPr id="2" name="Slide Number Placeholder 1">
            <a:extLst>
              <a:ext uri="{FF2B5EF4-FFF2-40B4-BE49-F238E27FC236}">
                <a16:creationId xmlns:a16="http://schemas.microsoft.com/office/drawing/2014/main" id="{05C3C0E4-8EAB-FFC8-228E-7D952BADDE4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672522-718F-5A4A-A967-5C1A35706813}" type="slidenum">
              <a:rPr kumimoji="0" lang="en-US" sz="1000" b="1" i="0" u="none" strike="noStrike" kern="1200" cap="none" spc="0" normalizeH="0" baseline="0" noProof="0" smtClean="0">
                <a:ln>
                  <a:noFill/>
                </a:ln>
                <a:solidFill>
                  <a:srgbClr val="003F71"/>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000" b="1" i="0" u="none" strike="noStrike" kern="1200" cap="none" spc="0" normalizeH="0" baseline="0" noProof="0">
              <a:ln>
                <a:noFill/>
              </a:ln>
              <a:solidFill>
                <a:srgbClr val="003F71"/>
              </a:solidFill>
              <a:effectLst/>
              <a:uLnTx/>
              <a:uFillTx/>
              <a:latin typeface="Arial" panose="020B0604020202020204"/>
              <a:ea typeface="+mn-ea"/>
              <a:cs typeface="+mn-cs"/>
            </a:endParaRPr>
          </a:p>
        </p:txBody>
      </p:sp>
    </p:spTree>
    <p:extLst>
      <p:ext uri="{BB962C8B-B14F-4D97-AF65-F5344CB8AC3E}">
        <p14:creationId xmlns:p14="http://schemas.microsoft.com/office/powerpoint/2010/main" val="3772847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FFDF8E-0AFA-DCB9-C82C-5AFC622A7820}"/>
              </a:ext>
            </a:extLst>
          </p:cNvPr>
          <p:cNvSpPr>
            <a:spLocks noGrp="1"/>
          </p:cNvSpPr>
          <p:nvPr>
            <p:ph idx="1"/>
          </p:nvPr>
        </p:nvSpPr>
        <p:spPr>
          <a:xfrm>
            <a:off x="367991" y="1317243"/>
            <a:ext cx="11379724" cy="5161050"/>
          </a:xfrm>
        </p:spPr>
        <p:txBody>
          <a:bodyPr/>
          <a:lstStyle/>
          <a:p>
            <a:r>
              <a:rPr lang="en-US" sz="2000" dirty="0">
                <a:latin typeface="Calibri" panose="020F0502020204030204" pitchFamily="34" charset="0"/>
                <a:cs typeface="Calibri" panose="020F0502020204030204" pitchFamily="34" charset="0"/>
              </a:rPr>
              <a:t>Housing instability and homelessness profoundly impact health outcomes among U.S Veterans. Homeless Veterans have higher all-cause mortality rates and are more vulnerable to high use of clinical resources independent of their medical and psychiatric condition. Episodes of homelessness often lead to an increased risk of suicide as well. </a:t>
            </a:r>
          </a:p>
          <a:p>
            <a:pPr>
              <a:lnSpc>
                <a:spcPct val="100000"/>
              </a:lnSpc>
              <a:spcAft>
                <a:spcPts val="0"/>
              </a:spcAft>
            </a:pPr>
            <a:r>
              <a:rPr lang="en-US" sz="2000" dirty="0">
                <a:latin typeface="Calibri" panose="020F0502020204030204" pitchFamily="34" charset="0"/>
                <a:cs typeface="Calibri" panose="020F0502020204030204" pitchFamily="34" charset="0"/>
              </a:rPr>
              <a:t>The VA Homeless Screener Clinical Reminder (HSCR) has increased awareness of homelessness among VA healthcare providers and serves as a preemptive reminder to clinicians from outside the domain of homelessness prevention to ask Veterans about housing instability. The HSCR survey enables researchers to localize the time frame of housing instability episodes and monitor the persistence of housing issues over time.</a:t>
            </a:r>
            <a:r>
              <a:rPr lang="en-US" dirty="0">
                <a:latin typeface="Helvetica" pitchFamily="2" charset="0"/>
              </a:rPr>
              <a:t> </a:t>
            </a:r>
          </a:p>
          <a:p>
            <a:pPr>
              <a:lnSpc>
                <a:spcPct val="100000"/>
              </a:lnSpc>
              <a:spcAft>
                <a:spcPts val="0"/>
              </a:spcAft>
            </a:pPr>
            <a:r>
              <a:rPr lang="en-US" sz="2000" dirty="0">
                <a:latin typeface="Calibri" panose="020F0502020204030204" pitchFamily="34" charset="0"/>
                <a:cs typeface="Calibri" panose="020F0502020204030204" pitchFamily="34" charset="0"/>
              </a:rPr>
              <a:t>Using the Million Veteran Program and VA data, VA researchers in collaboration with the Department of Energy researchers found that machine learning (ML) techniques can </a:t>
            </a:r>
            <a:r>
              <a:rPr lang="en-US" sz="2000" dirty="0">
                <a:solidFill>
                  <a:schemeClr val="accent2"/>
                </a:solidFill>
                <a:latin typeface="Calibri" panose="020F0502020204030204" pitchFamily="34" charset="0"/>
                <a:cs typeface="Calibri" panose="020F0502020204030204" pitchFamily="34" charset="0"/>
              </a:rPr>
              <a:t>predict</a:t>
            </a:r>
            <a:r>
              <a:rPr lang="en-US" sz="2000" dirty="0">
                <a:latin typeface="Calibri" panose="020F0502020204030204" pitchFamily="34" charset="0"/>
                <a:cs typeface="Calibri" panose="020F0502020204030204" pitchFamily="34" charset="0"/>
              </a:rPr>
              <a:t> the response of the HSCR survey </a:t>
            </a:r>
            <a:r>
              <a:rPr lang="en-US" sz="2000" dirty="0">
                <a:solidFill>
                  <a:schemeClr val="accent2"/>
                </a:solidFill>
                <a:latin typeface="Calibri" panose="020F0502020204030204" pitchFamily="34" charset="0"/>
                <a:cs typeface="Calibri" panose="020F0502020204030204" pitchFamily="34" charset="0"/>
              </a:rPr>
              <a:t>2 months in advance</a:t>
            </a:r>
            <a:r>
              <a:rPr lang="en-US" sz="2000" dirty="0">
                <a:latin typeface="Calibri" panose="020F0502020204030204" pitchFamily="34" charset="0"/>
                <a:cs typeface="Calibri" panose="020F0502020204030204" pitchFamily="34" charset="0"/>
              </a:rPr>
              <a:t>. High rates of Veterans’ resource utilization along domains like pastoral care, vocational rehabilitation, substance abuse treatment, social work services, or compensated work therapy were found to be predictive of a positive response. </a:t>
            </a:r>
            <a:r>
              <a:rPr lang="en-US" sz="2000" dirty="0">
                <a:solidFill>
                  <a:schemeClr val="accent2"/>
                </a:solidFill>
                <a:latin typeface="Calibri" panose="020F0502020204030204" pitchFamily="34" charset="0"/>
                <a:cs typeface="Calibri" panose="020F0502020204030204" pitchFamily="34" charset="0"/>
              </a:rPr>
              <a:t>Further validation and integration into the VA EHR can lead to proactive targeted homeless prevention strategies provided to these Veterans before an episode of homelessness begins. </a:t>
            </a:r>
          </a:p>
        </p:txBody>
      </p:sp>
      <p:sp>
        <p:nvSpPr>
          <p:cNvPr id="3" name="Title 2">
            <a:extLst>
              <a:ext uri="{FF2B5EF4-FFF2-40B4-BE49-F238E27FC236}">
                <a16:creationId xmlns:a16="http://schemas.microsoft.com/office/drawing/2014/main" id="{0B9D3F4E-5880-A301-2BE1-738AF73D0D42}"/>
              </a:ext>
            </a:extLst>
          </p:cNvPr>
          <p:cNvSpPr>
            <a:spLocks noGrp="1"/>
          </p:cNvSpPr>
          <p:nvPr>
            <p:ph type="title"/>
          </p:nvPr>
        </p:nvSpPr>
        <p:spPr/>
        <p:txBody>
          <a:bodyPr>
            <a:normAutofit fontScale="90000"/>
          </a:bodyPr>
          <a:lstStyle/>
          <a:p>
            <a:r>
              <a:rPr lang="en-US" dirty="0"/>
              <a:t>Using Information in the EHR to Predict Housing Instability </a:t>
            </a:r>
            <a:r>
              <a:rPr lang="en-US"/>
              <a:t>in Veterans</a:t>
            </a:r>
            <a:endParaRPr lang="en-US" dirty="0"/>
          </a:p>
        </p:txBody>
      </p:sp>
      <p:sp>
        <p:nvSpPr>
          <p:cNvPr id="4" name="Slide Number Placeholder 3">
            <a:extLst>
              <a:ext uri="{FF2B5EF4-FFF2-40B4-BE49-F238E27FC236}">
                <a16:creationId xmlns:a16="http://schemas.microsoft.com/office/drawing/2014/main" id="{ABEDB324-3065-76A6-0229-BED8CB552635}"/>
              </a:ext>
            </a:extLst>
          </p:cNvPr>
          <p:cNvSpPr>
            <a:spLocks noGrp="1"/>
          </p:cNvSpPr>
          <p:nvPr>
            <p:ph type="sldNum" sz="quarter" idx="4"/>
          </p:nvPr>
        </p:nvSpPr>
        <p:spPr/>
        <p:txBody>
          <a:bodyPr/>
          <a:lstStyle/>
          <a:p>
            <a:fld id="{21672522-718F-5A4A-A967-5C1A35706813}" type="slidenum">
              <a:rPr lang="en-US" smtClean="0"/>
              <a:pPr/>
              <a:t>15</a:t>
            </a:fld>
            <a:endParaRPr lang="en-US"/>
          </a:p>
        </p:txBody>
      </p:sp>
    </p:spTree>
    <p:extLst>
      <p:ext uri="{BB962C8B-B14F-4D97-AF65-F5344CB8AC3E}">
        <p14:creationId xmlns:p14="http://schemas.microsoft.com/office/powerpoint/2010/main" val="2004236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82EC3E-D0C3-C215-3C29-100B548B7F78}"/>
              </a:ext>
            </a:extLst>
          </p:cNvPr>
          <p:cNvSpPr>
            <a:spLocks noGrp="1"/>
          </p:cNvSpPr>
          <p:nvPr>
            <p:ph idx="1"/>
          </p:nvPr>
        </p:nvSpPr>
        <p:spPr>
          <a:xfrm>
            <a:off x="587902" y="1195300"/>
            <a:ext cx="11016195" cy="5161050"/>
          </a:xfrm>
        </p:spPr>
        <p:txBody>
          <a:bodyPr/>
          <a:lstStyle/>
          <a:p>
            <a:r>
              <a:rPr lang="en-US" sz="2400" dirty="0">
                <a:solidFill>
                  <a:srgbClr val="000000"/>
                </a:solidFill>
                <a:effectLst/>
                <a:latin typeface="Arial" panose="020B0604020202020204" pitchFamily="34" charset="0"/>
                <a:ea typeface="Calibri" panose="020F0502020204030204" pitchFamily="34" charset="0"/>
              </a:rPr>
              <a:t>VA TBI research focuses on improving the quality of life for Veterans afflicted with this condition </a:t>
            </a:r>
            <a:r>
              <a:rPr lang="en-US" sz="2400" dirty="0">
                <a:solidFill>
                  <a:srgbClr val="000000"/>
                </a:solidFill>
                <a:latin typeface="Arial" panose="020B0604020202020204" pitchFamily="34" charset="0"/>
                <a:ea typeface="Calibri" panose="020F0502020204030204" pitchFamily="34" charset="0"/>
              </a:rPr>
              <a:t>Collaborate with</a:t>
            </a:r>
            <a:r>
              <a:rPr lang="en-US" sz="2400" dirty="0">
                <a:solidFill>
                  <a:srgbClr val="000000"/>
                </a:solidFill>
                <a:effectLst/>
                <a:latin typeface="Arial" panose="020B0604020202020204" pitchFamily="34" charset="0"/>
                <a:ea typeface="Calibri" panose="020F0502020204030204" pitchFamily="34" charset="0"/>
              </a:rPr>
              <a:t> Department of Defense and other organizations</a:t>
            </a:r>
          </a:p>
          <a:p>
            <a:pPr marL="0" indent="0">
              <a:buNone/>
            </a:pPr>
            <a:endParaRPr lang="en-US" sz="1600" dirty="0">
              <a:solidFill>
                <a:srgbClr val="000000"/>
              </a:solidFill>
              <a:latin typeface="Arial" panose="020B0604020202020204" pitchFamily="34" charset="0"/>
              <a:ea typeface="Calibri" panose="020F0502020204030204" pitchFamily="34" charset="0"/>
            </a:endParaRPr>
          </a:p>
          <a:p>
            <a:pPr marL="0" indent="0">
              <a:buNone/>
            </a:pPr>
            <a:r>
              <a:rPr lang="en-US" sz="2400" dirty="0">
                <a:solidFill>
                  <a:srgbClr val="000000"/>
                </a:solidFill>
                <a:latin typeface="Arial" panose="020B0604020202020204" pitchFamily="34" charset="0"/>
                <a:ea typeface="Calibri" panose="020F0502020204030204" pitchFamily="34" charset="0"/>
              </a:rPr>
              <a:t>VA Investigators: </a:t>
            </a:r>
            <a:endParaRPr lang="en-US" sz="2400" dirty="0">
              <a:solidFill>
                <a:srgbClr val="000000"/>
              </a:solidFill>
              <a:effectLst/>
              <a:latin typeface="Arial" panose="020B0604020202020204" pitchFamily="34" charset="0"/>
              <a:ea typeface="Calibri" panose="020F0502020204030204" pitchFamily="34" charset="0"/>
            </a:endParaRPr>
          </a:p>
          <a:p>
            <a:r>
              <a:rPr lang="en-US" sz="2400" dirty="0">
                <a:solidFill>
                  <a:srgbClr val="000000"/>
                </a:solidFill>
                <a:latin typeface="Arial" panose="020B0604020202020204" pitchFamily="34" charset="0"/>
                <a:ea typeface="Calibri" panose="020F0502020204030204" pitchFamily="34" charset="0"/>
              </a:rPr>
              <a:t>Are pursuing </a:t>
            </a:r>
            <a:r>
              <a:rPr lang="en-US" sz="2400" dirty="0">
                <a:solidFill>
                  <a:srgbClr val="000000"/>
                </a:solidFill>
                <a:effectLst/>
                <a:latin typeface="Arial" panose="020B0604020202020204" pitchFamily="34" charset="0"/>
                <a:ea typeface="Calibri" panose="020F0502020204030204" pitchFamily="34" charset="0"/>
              </a:rPr>
              <a:t>identification, validation, and integration of brain and mental health biomarkers to develop precision health care for Veterans as required by </a:t>
            </a:r>
            <a:r>
              <a:rPr lang="en-US" sz="2400" b="1" dirty="0">
                <a:solidFill>
                  <a:srgbClr val="000000"/>
                </a:solidFill>
                <a:effectLst/>
                <a:latin typeface="Arial" panose="020B0604020202020204" pitchFamily="34" charset="0"/>
                <a:ea typeface="Calibri" panose="020F0502020204030204" pitchFamily="34" charset="0"/>
              </a:rPr>
              <a:t>Section 305 of the Hannon Act.</a:t>
            </a:r>
          </a:p>
          <a:p>
            <a:r>
              <a:rPr lang="en-US" sz="2400" dirty="0">
                <a:solidFill>
                  <a:srgbClr val="000000"/>
                </a:solidFill>
                <a:effectLst/>
                <a:latin typeface="Arial" panose="020B0604020202020204" pitchFamily="34" charset="0"/>
                <a:ea typeface="Calibri" panose="020F0502020204030204" pitchFamily="34" charset="0"/>
              </a:rPr>
              <a:t>Managing</a:t>
            </a:r>
            <a:r>
              <a:rPr lang="en-US" sz="2400" b="1" dirty="0">
                <a:solidFill>
                  <a:srgbClr val="000000"/>
                </a:solidFill>
                <a:effectLst/>
                <a:latin typeface="Arial" panose="020B0604020202020204" pitchFamily="34" charset="0"/>
                <a:ea typeface="Calibri" panose="020F0502020204030204" pitchFamily="34" charset="0"/>
              </a:rPr>
              <a:t> </a:t>
            </a:r>
            <a:r>
              <a:rPr lang="en-US" sz="2400" dirty="0">
                <a:solidFill>
                  <a:srgbClr val="000000"/>
                </a:solidFill>
                <a:effectLst/>
                <a:latin typeface="Arial" panose="020B0604020202020204" pitchFamily="34" charset="0"/>
                <a:ea typeface="Calibri" panose="020F0502020204030204" pitchFamily="34" charset="0"/>
              </a:rPr>
              <a:t>national prospective cohorts enrolling </a:t>
            </a:r>
            <a:r>
              <a:rPr lang="en-US" sz="2400" b="1" dirty="0">
                <a:solidFill>
                  <a:srgbClr val="000000"/>
                </a:solidFill>
                <a:effectLst/>
                <a:latin typeface="Arial" panose="020B0604020202020204" pitchFamily="34" charset="0"/>
                <a:ea typeface="Calibri" panose="020F0502020204030204" pitchFamily="34" charset="0"/>
              </a:rPr>
              <a:t>over 4,000 Veterans </a:t>
            </a:r>
            <a:r>
              <a:rPr lang="en-US" sz="2400" dirty="0">
                <a:solidFill>
                  <a:srgbClr val="000000"/>
                </a:solidFill>
                <a:effectLst/>
                <a:latin typeface="Arial" panose="020B0604020202020204" pitchFamily="34" charset="0"/>
                <a:ea typeface="Calibri" panose="020F0502020204030204" pitchFamily="34" charset="0"/>
              </a:rPr>
              <a:t>based on comprehensive clinical and </a:t>
            </a:r>
            <a:r>
              <a:rPr lang="en-US" sz="2400" b="1" dirty="0">
                <a:solidFill>
                  <a:srgbClr val="000000"/>
                </a:solidFill>
                <a:effectLst/>
                <a:latin typeface="Arial" panose="020B0604020202020204" pitchFamily="34" charset="0"/>
                <a:ea typeface="Calibri" panose="020F0502020204030204" pitchFamily="34" charset="0"/>
              </a:rPr>
              <a:t>&gt;2.5 million Veterans </a:t>
            </a:r>
            <a:r>
              <a:rPr lang="en-US" sz="2400" dirty="0">
                <a:solidFill>
                  <a:srgbClr val="000000"/>
                </a:solidFill>
                <a:effectLst/>
                <a:latin typeface="Arial" panose="020B0604020202020204" pitchFamily="34" charset="0"/>
                <a:ea typeface="Calibri" panose="020F0502020204030204" pitchFamily="34" charset="0"/>
              </a:rPr>
              <a:t>from epidemiologic data sources (e.g., LIMBIC-CENC and TRACTS)</a:t>
            </a:r>
          </a:p>
          <a:p>
            <a:r>
              <a:rPr lang="en-US" sz="2400" dirty="0">
                <a:solidFill>
                  <a:srgbClr val="000000"/>
                </a:solidFill>
                <a:latin typeface="Arial" panose="020B0604020202020204" pitchFamily="34" charset="0"/>
                <a:ea typeface="Calibri" panose="020F0502020204030204" pitchFamily="34" charset="0"/>
              </a:rPr>
              <a:t>Collaborating with the Department of Defense and other organizations</a:t>
            </a:r>
            <a:endParaRPr lang="en-US" sz="2400" dirty="0">
              <a:solidFill>
                <a:srgbClr val="000000"/>
              </a:solidFill>
              <a:effectLst/>
              <a:latin typeface="Arial" panose="020B0604020202020204" pitchFamily="34" charset="0"/>
              <a:ea typeface="Calibri" panose="020F0502020204030204" pitchFamily="34" charset="0"/>
            </a:endParaRPr>
          </a:p>
          <a:p>
            <a:endParaRPr lang="en-US" sz="2000" dirty="0">
              <a:effectLst/>
              <a:latin typeface="Calibri" panose="020F0502020204030204" pitchFamily="34" charset="0"/>
              <a:ea typeface="Calibri" panose="020F0502020204030204" pitchFamily="34" charset="0"/>
            </a:endParaRPr>
          </a:p>
        </p:txBody>
      </p:sp>
      <p:sp>
        <p:nvSpPr>
          <p:cNvPr id="3" name="Title 2">
            <a:extLst>
              <a:ext uri="{FF2B5EF4-FFF2-40B4-BE49-F238E27FC236}">
                <a16:creationId xmlns:a16="http://schemas.microsoft.com/office/drawing/2014/main" id="{A8F4A6FE-6E42-028A-B1A1-7962418899B5}"/>
              </a:ext>
            </a:extLst>
          </p:cNvPr>
          <p:cNvSpPr>
            <a:spLocks noGrp="1"/>
          </p:cNvSpPr>
          <p:nvPr>
            <p:ph type="title"/>
          </p:nvPr>
        </p:nvSpPr>
        <p:spPr>
          <a:xfrm>
            <a:off x="224412" y="-77490"/>
            <a:ext cx="11606227" cy="1094265"/>
          </a:xfrm>
        </p:spPr>
        <p:txBody>
          <a:bodyPr>
            <a:normAutofit/>
          </a:bodyPr>
          <a:lstStyle/>
          <a:p>
            <a:r>
              <a:rPr lang="en-US" dirty="0"/>
              <a:t>Traumatic Brain Injury (TBI) - Overview</a:t>
            </a:r>
          </a:p>
        </p:txBody>
      </p:sp>
      <p:sp>
        <p:nvSpPr>
          <p:cNvPr id="4" name="Slide Number Placeholder 3">
            <a:extLst>
              <a:ext uri="{FF2B5EF4-FFF2-40B4-BE49-F238E27FC236}">
                <a16:creationId xmlns:a16="http://schemas.microsoft.com/office/drawing/2014/main" id="{5A0CB63B-0996-C0F5-A4A5-8E0EAA6C9580}"/>
              </a:ext>
            </a:extLst>
          </p:cNvPr>
          <p:cNvSpPr>
            <a:spLocks noGrp="1"/>
          </p:cNvSpPr>
          <p:nvPr>
            <p:ph type="sldNum" sz="quarter" idx="4"/>
          </p:nvPr>
        </p:nvSpPr>
        <p:spPr/>
        <p:txBody>
          <a:bodyPr/>
          <a:lstStyle/>
          <a:p>
            <a:fld id="{21672522-718F-5A4A-A967-5C1A35706813}" type="slidenum">
              <a:rPr lang="en-US" smtClean="0"/>
              <a:pPr/>
              <a:t>16</a:t>
            </a:fld>
            <a:endParaRPr lang="en-US" dirty="0"/>
          </a:p>
        </p:txBody>
      </p:sp>
    </p:spTree>
    <p:extLst>
      <p:ext uri="{BB962C8B-B14F-4D97-AF65-F5344CB8AC3E}">
        <p14:creationId xmlns:p14="http://schemas.microsoft.com/office/powerpoint/2010/main" val="1227465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82EC3E-D0C3-C215-3C29-100B548B7F78}"/>
              </a:ext>
            </a:extLst>
          </p:cNvPr>
          <p:cNvSpPr>
            <a:spLocks noGrp="1"/>
          </p:cNvSpPr>
          <p:nvPr>
            <p:ph idx="1"/>
          </p:nvPr>
        </p:nvSpPr>
        <p:spPr>
          <a:xfrm>
            <a:off x="437229" y="1377862"/>
            <a:ext cx="11016195" cy="5161050"/>
          </a:xfrm>
        </p:spPr>
        <p:txBody>
          <a:bodyPr/>
          <a:lstStyle/>
          <a:p>
            <a:pPr marL="0" marR="0" lvl="0" indent="0">
              <a:lnSpc>
                <a:spcPct val="110000"/>
              </a:lnSpc>
              <a:spcBef>
                <a:spcPts val="0"/>
              </a:spcBef>
              <a:spcAft>
                <a:spcPts val="1200"/>
              </a:spcAft>
              <a:buNone/>
              <a:tabLst>
                <a:tab pos="457200" algn="l"/>
              </a:tabLst>
            </a:pPr>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Long-Term Impact of Military-Relevant Brain Injury Consortium Chronic Effects of Neurotrauma Consortium (LIMBIC-CENC) </a:t>
            </a:r>
          </a:p>
          <a:p>
            <a:pPr>
              <a:spcAft>
                <a:spcPts val="1200"/>
              </a:spcAft>
              <a:tabLst>
                <a:tab pos="457200" algn="l"/>
              </a:tabLst>
            </a:pPr>
            <a:r>
              <a:rPr lang="en-US" sz="24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L</a:t>
            </a:r>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argest ongoing prospective longitudinal study of service-connected brain injury - 3,165 service members</a:t>
            </a:r>
            <a:r>
              <a:rPr lang="en-US" sz="1000" dirty="0">
                <a:effectLst/>
                <a:latin typeface="Calibri" panose="020F0502020204030204" pitchFamily="34" charset="0"/>
                <a:ea typeface="Calibri" panose="020F0502020204030204" pitchFamily="34" charset="0"/>
                <a:cs typeface="Times New Roman" panose="02020603050405020304" pitchFamily="18" charset="0"/>
              </a:rPr>
              <a:t> </a:t>
            </a:r>
            <a:r>
              <a:rPr lang="en-US" sz="2400" dirty="0">
                <a:solidFill>
                  <a:srgbClr val="000000"/>
                </a:solidFill>
                <a:latin typeface="Arial" panose="020B0604020202020204" pitchFamily="34" charset="0"/>
                <a:ea typeface="Calibri" panose="020F0502020204030204" pitchFamily="34" charset="0"/>
                <a:cs typeface="Times New Roman" panose="02020603050405020304" pitchFamily="18" charset="0"/>
              </a:rPr>
              <a:t> and </a:t>
            </a:r>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Veterans enrolled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1200"/>
              </a:spcAft>
              <a:tabLst>
                <a:tab pos="914400" algn="l"/>
              </a:tabLst>
            </a:pPr>
            <a:r>
              <a:rPr lang="en-US" sz="2400" b="1" dirty="0">
                <a:solidFill>
                  <a:srgbClr val="000000"/>
                </a:solidFill>
                <a:effectLst/>
                <a:latin typeface="Arial" panose="020B0604020202020204" pitchFamily="34" charset="0"/>
                <a:ea typeface="Times New Roman" panose="02020603050405020304" pitchFamily="18" charset="0"/>
              </a:rPr>
              <a:t>Goal: identify the best treatments</a:t>
            </a:r>
            <a:r>
              <a:rPr lang="en-US" sz="2400" dirty="0">
                <a:solidFill>
                  <a:srgbClr val="000000"/>
                </a:solidFill>
                <a:effectLst/>
                <a:latin typeface="Arial" panose="020B0604020202020204" pitchFamily="34" charset="0"/>
                <a:ea typeface="Times New Roman" panose="02020603050405020304" pitchFamily="18" charset="0"/>
              </a:rPr>
              <a:t> for chronic symptoms of mild TBI </a:t>
            </a:r>
            <a:r>
              <a:rPr lang="en-US" sz="2400" dirty="0">
                <a:solidFill>
                  <a:srgbClr val="000000"/>
                </a:solidFill>
                <a:latin typeface="Arial" panose="020B0604020202020204" pitchFamily="34" charset="0"/>
                <a:ea typeface="Times New Roman" panose="02020603050405020304" pitchFamily="18" charset="0"/>
              </a:rPr>
              <a:t>via </a:t>
            </a:r>
            <a:r>
              <a:rPr lang="en-US" sz="2400" dirty="0">
                <a:solidFill>
                  <a:srgbClr val="000000"/>
                </a:solidFill>
                <a:effectLst/>
                <a:latin typeface="Arial" panose="020B0604020202020204" pitchFamily="34" charset="0"/>
                <a:ea typeface="Times New Roman" panose="02020603050405020304" pitchFamily="18" charset="0"/>
              </a:rPr>
              <a:t>understanding how mild TBI affects the brain across the life course and</a:t>
            </a:r>
            <a:endParaRPr lang="en-US" sz="1800" dirty="0">
              <a:effectLst/>
              <a:latin typeface="Calibri" panose="020F0502020204030204" pitchFamily="34" charset="0"/>
              <a:ea typeface="Calibri" panose="020F0502020204030204" pitchFamily="34" charset="0"/>
            </a:endParaRPr>
          </a:p>
          <a:p>
            <a:pPr>
              <a:spcAft>
                <a:spcPts val="1200"/>
              </a:spcAft>
              <a:tabLst>
                <a:tab pos="914400" algn="l"/>
              </a:tabLst>
            </a:pPr>
            <a:r>
              <a:rPr lang="en-US" sz="2400" b="1" dirty="0">
                <a:solidFill>
                  <a:srgbClr val="000000"/>
                </a:solidFill>
                <a:effectLst/>
                <a:latin typeface="Arial" panose="020B0604020202020204" pitchFamily="34" charset="0"/>
                <a:ea typeface="Times New Roman" panose="02020603050405020304" pitchFamily="18" charset="0"/>
              </a:rPr>
              <a:t>Data:</a:t>
            </a:r>
            <a:r>
              <a:rPr lang="en-US" sz="2400" dirty="0">
                <a:solidFill>
                  <a:srgbClr val="000000"/>
                </a:solidFill>
                <a:effectLst/>
                <a:latin typeface="Arial" panose="020B0604020202020204" pitchFamily="34" charset="0"/>
                <a:ea typeface="Times New Roman" panose="02020603050405020304" pitchFamily="18" charset="0"/>
              </a:rPr>
              <a:t> Captures neuroimaging, fluid biomarker, genomic, &amp; electrophysiology assessments and data on lifestyle, blast, toxic exposure, dementia, suicide/mental health, seizures, long COVID</a:t>
            </a:r>
            <a:endParaRPr lang="en-US" sz="1800" dirty="0">
              <a:solidFill>
                <a:srgbClr val="000000"/>
              </a:solidFill>
              <a:latin typeface="Calibri" panose="020F0502020204030204" pitchFamily="34" charset="0"/>
              <a:ea typeface="Times New Roman" panose="02020603050405020304" pitchFamily="18" charset="0"/>
            </a:endParaRPr>
          </a:p>
          <a:p>
            <a:pPr marL="457200" marR="0" lvl="1" indent="0">
              <a:lnSpc>
                <a:spcPct val="110000"/>
              </a:lnSpc>
              <a:spcBef>
                <a:spcPts val="0"/>
              </a:spcBef>
              <a:spcAft>
                <a:spcPts val="0"/>
              </a:spcAft>
              <a:buNone/>
              <a:tabLst>
                <a:tab pos="914400" algn="l"/>
              </a:tabLst>
            </a:pPr>
            <a:endParaRPr lang="en-US" sz="1400" dirty="0">
              <a:solidFill>
                <a:srgbClr val="000000"/>
              </a:solidFill>
              <a:latin typeface="Calibri" panose="020F0502020204030204" pitchFamily="34" charset="0"/>
              <a:ea typeface="Times New Roman" panose="02020603050405020304" pitchFamily="18" charset="0"/>
            </a:endParaRPr>
          </a:p>
        </p:txBody>
      </p:sp>
      <p:sp>
        <p:nvSpPr>
          <p:cNvPr id="3" name="Title 2">
            <a:extLst>
              <a:ext uri="{FF2B5EF4-FFF2-40B4-BE49-F238E27FC236}">
                <a16:creationId xmlns:a16="http://schemas.microsoft.com/office/drawing/2014/main" id="{A8F4A6FE-6E42-028A-B1A1-7962418899B5}"/>
              </a:ext>
            </a:extLst>
          </p:cNvPr>
          <p:cNvSpPr>
            <a:spLocks noGrp="1"/>
          </p:cNvSpPr>
          <p:nvPr>
            <p:ph type="title"/>
          </p:nvPr>
        </p:nvSpPr>
        <p:spPr>
          <a:xfrm>
            <a:off x="224412" y="-77490"/>
            <a:ext cx="11606227" cy="1094265"/>
          </a:xfrm>
        </p:spPr>
        <p:txBody>
          <a:bodyPr>
            <a:normAutofit/>
          </a:bodyPr>
          <a:lstStyle/>
          <a:p>
            <a:r>
              <a:rPr lang="en-US" dirty="0"/>
              <a:t>TBI - LIMBIC-CENC</a:t>
            </a:r>
          </a:p>
        </p:txBody>
      </p:sp>
      <p:sp>
        <p:nvSpPr>
          <p:cNvPr id="4" name="Slide Number Placeholder 3">
            <a:extLst>
              <a:ext uri="{FF2B5EF4-FFF2-40B4-BE49-F238E27FC236}">
                <a16:creationId xmlns:a16="http://schemas.microsoft.com/office/drawing/2014/main" id="{5A0CB63B-0996-C0F5-A4A5-8E0EAA6C9580}"/>
              </a:ext>
            </a:extLst>
          </p:cNvPr>
          <p:cNvSpPr>
            <a:spLocks noGrp="1"/>
          </p:cNvSpPr>
          <p:nvPr>
            <p:ph type="sldNum" sz="quarter" idx="4"/>
          </p:nvPr>
        </p:nvSpPr>
        <p:spPr/>
        <p:txBody>
          <a:bodyPr/>
          <a:lstStyle/>
          <a:p>
            <a:fld id="{21672522-718F-5A4A-A967-5C1A35706813}" type="slidenum">
              <a:rPr lang="en-US" smtClean="0"/>
              <a:pPr/>
              <a:t>17</a:t>
            </a:fld>
            <a:endParaRPr lang="en-US" dirty="0"/>
          </a:p>
        </p:txBody>
      </p:sp>
    </p:spTree>
    <p:extLst>
      <p:ext uri="{BB962C8B-B14F-4D97-AF65-F5344CB8AC3E}">
        <p14:creationId xmlns:p14="http://schemas.microsoft.com/office/powerpoint/2010/main" val="1273067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82EC3E-D0C3-C215-3C29-100B548B7F78}"/>
              </a:ext>
            </a:extLst>
          </p:cNvPr>
          <p:cNvSpPr>
            <a:spLocks noGrp="1"/>
          </p:cNvSpPr>
          <p:nvPr>
            <p:ph idx="1"/>
          </p:nvPr>
        </p:nvSpPr>
        <p:spPr>
          <a:xfrm>
            <a:off x="519427" y="1275202"/>
            <a:ext cx="11016195" cy="5161050"/>
          </a:xfrm>
        </p:spPr>
        <p:txBody>
          <a:bodyPr/>
          <a:lstStyle/>
          <a:p>
            <a:pPr marL="0" indent="0">
              <a:buNone/>
              <a:tabLst>
                <a:tab pos="457200" algn="l"/>
              </a:tabLst>
            </a:pPr>
            <a:r>
              <a:rPr lang="en-US" sz="2000" dirty="0">
                <a:solidFill>
                  <a:srgbClr val="000000"/>
                </a:solidFill>
                <a:effectLst/>
                <a:latin typeface="+mj-lt"/>
                <a:ea typeface="Times New Roman" panose="02020603050405020304" pitchFamily="18" charset="0"/>
                <a:cs typeface="Times New Roman" panose="02020603050405020304" pitchFamily="18" charset="0"/>
              </a:rPr>
              <a:t>Translational Research Center for TBI and Stress Disorders (TRACTS): &gt;1,000 Veterans enrolled </a:t>
            </a:r>
            <a:endParaRPr lang="en-US" sz="2000" dirty="0">
              <a:latin typeface="+mj-lt"/>
              <a:ea typeface="Times New Roman" panose="02020603050405020304" pitchFamily="18" charset="0"/>
              <a:cs typeface="Times New Roman" panose="02020603050405020304" pitchFamily="18" charset="0"/>
            </a:endParaRPr>
          </a:p>
          <a:p>
            <a:pPr>
              <a:tabLst>
                <a:tab pos="457200" algn="l"/>
              </a:tabLst>
            </a:pPr>
            <a:r>
              <a:rPr lang="en-US" sz="2000" dirty="0">
                <a:solidFill>
                  <a:srgbClr val="000000"/>
                </a:solidFill>
                <a:effectLst/>
                <a:latin typeface="+mj-lt"/>
                <a:ea typeface="Times New Roman" panose="02020603050405020304" pitchFamily="18" charset="0"/>
              </a:rPr>
              <a:t>Assess predictors, molecular &amp; genomic factors, and trajectories of change regarding TBI/deployment conditions, e.g., brain marker associated with history of suicide attempt and future suicide attempts </a:t>
            </a:r>
            <a:r>
              <a:rPr lang="en-US" sz="2000" dirty="0">
                <a:effectLst/>
                <a:latin typeface="+mj-lt"/>
                <a:ea typeface="Times New Roman" panose="02020603050405020304" pitchFamily="18" charset="0"/>
              </a:rPr>
              <a:t>à</a:t>
            </a:r>
            <a:r>
              <a:rPr lang="en-US" sz="2000" dirty="0">
                <a:solidFill>
                  <a:srgbClr val="000000"/>
                </a:solidFill>
                <a:effectLst/>
                <a:latin typeface="+mj-lt"/>
                <a:ea typeface="Times New Roman" panose="02020603050405020304" pitchFamily="18" charset="0"/>
              </a:rPr>
              <a:t> brain circuitry may represent a risk factor for suicide.</a:t>
            </a:r>
            <a:endParaRPr lang="en-US" sz="2000" dirty="0">
              <a:effectLst/>
              <a:latin typeface="+mj-lt"/>
              <a:ea typeface="Calibri" panose="020F0502020204030204" pitchFamily="34" charset="0"/>
            </a:endParaRPr>
          </a:p>
          <a:p>
            <a:r>
              <a:rPr lang="en-US" sz="2000" dirty="0">
                <a:effectLst/>
                <a:latin typeface="+mj-lt"/>
                <a:ea typeface="Calibri" panose="020F0502020204030204" pitchFamily="34" charset="0"/>
              </a:rPr>
              <a:t>Total Brain Diagnostics – First part of the fulfilling the requirements of the </a:t>
            </a:r>
            <a:r>
              <a:rPr lang="en-US" sz="2000" b="1" dirty="0">
                <a:effectLst/>
                <a:latin typeface="+mj-lt"/>
                <a:ea typeface="Calibri" panose="020F0502020204030204" pitchFamily="34" charset="0"/>
              </a:rPr>
              <a:t>Hannon Act, section 305 </a:t>
            </a:r>
            <a:r>
              <a:rPr lang="en-US" sz="2000" dirty="0">
                <a:effectLst/>
                <a:latin typeface="+mj-lt"/>
                <a:ea typeface="Calibri" panose="020F0502020204030204" pitchFamily="34" charset="0"/>
              </a:rPr>
              <a:t>on Precision Brain and Mental Health. Currently in the initial proof of concept stage with investigators from LIMBIC and TRACTS harmonizing the data of the two large cohorts. The next step is to take the harmonized longitudinal data of </a:t>
            </a:r>
            <a:r>
              <a:rPr lang="en-US" sz="2000" b="1" dirty="0">
                <a:effectLst/>
                <a:latin typeface="+mj-lt"/>
                <a:ea typeface="Calibri" panose="020F0502020204030204" pitchFamily="34" charset="0"/>
              </a:rPr>
              <a:t>&gt;4,000 service members and Veterans</a:t>
            </a:r>
            <a:r>
              <a:rPr lang="en-US" sz="2000" dirty="0">
                <a:effectLst/>
                <a:latin typeface="+mj-lt"/>
                <a:ea typeface="Calibri" panose="020F0502020204030204" pitchFamily="34" charset="0"/>
              </a:rPr>
              <a:t>, to develop and train machine learning algorithms in order to assist VA clinicians in diagnosing complex brain and mental health conditions in Veterans.</a:t>
            </a:r>
          </a:p>
          <a:p>
            <a:r>
              <a:rPr lang="en-US" sz="2000" b="1" dirty="0">
                <a:effectLst/>
                <a:latin typeface="+mj-lt"/>
                <a:ea typeface="Calibri" panose="020F0502020204030204" pitchFamily="34" charset="0"/>
              </a:rPr>
              <a:t>Brain Health Coordinating Center </a:t>
            </a:r>
            <a:r>
              <a:rPr lang="en-US" sz="2000" dirty="0">
                <a:effectLst/>
                <a:latin typeface="+mj-lt"/>
                <a:ea typeface="Calibri" panose="020F0502020204030204" pitchFamily="34" charset="0"/>
              </a:rPr>
              <a:t>– A  communication, accelerator and translation platform between research and the clinic, that will </a:t>
            </a:r>
            <a:r>
              <a:rPr lang="en-US" sz="2000" b="1" dirty="0">
                <a:effectLst/>
                <a:latin typeface="+mj-lt"/>
                <a:ea typeface="Calibri" panose="020F0502020204030204" pitchFamily="34" charset="0"/>
              </a:rPr>
              <a:t>rapidly bring new validated research findings to the clinic</a:t>
            </a:r>
            <a:r>
              <a:rPr lang="en-US" sz="2000" dirty="0">
                <a:effectLst/>
                <a:latin typeface="+mj-lt"/>
                <a:ea typeface="Calibri" panose="020F0502020204030204" pitchFamily="34" charset="0"/>
              </a:rPr>
              <a:t> </a:t>
            </a:r>
            <a:r>
              <a:rPr lang="en-US" sz="2000" b="1" dirty="0">
                <a:effectLst/>
                <a:latin typeface="+mj-lt"/>
                <a:ea typeface="Calibri" panose="020F0502020204030204" pitchFamily="34" charset="0"/>
              </a:rPr>
              <a:t>and communicate areas where research is needed to improve Veteran care.</a:t>
            </a:r>
          </a:p>
          <a:p>
            <a:pPr marL="457200" marR="0" lvl="1" indent="0">
              <a:lnSpc>
                <a:spcPct val="110000"/>
              </a:lnSpc>
              <a:spcBef>
                <a:spcPts val="0"/>
              </a:spcBef>
              <a:spcAft>
                <a:spcPts val="0"/>
              </a:spcAft>
              <a:buNone/>
              <a:tabLst>
                <a:tab pos="914400" algn="l"/>
              </a:tabLst>
            </a:pPr>
            <a:endParaRPr lang="en-US" sz="2000" dirty="0">
              <a:solidFill>
                <a:srgbClr val="000000"/>
              </a:solidFill>
              <a:latin typeface="+mj-lt"/>
              <a:ea typeface="Times New Roman" panose="02020603050405020304" pitchFamily="18" charset="0"/>
            </a:endParaRPr>
          </a:p>
        </p:txBody>
      </p:sp>
      <p:sp>
        <p:nvSpPr>
          <p:cNvPr id="3" name="Title 2">
            <a:extLst>
              <a:ext uri="{FF2B5EF4-FFF2-40B4-BE49-F238E27FC236}">
                <a16:creationId xmlns:a16="http://schemas.microsoft.com/office/drawing/2014/main" id="{A8F4A6FE-6E42-028A-B1A1-7962418899B5}"/>
              </a:ext>
            </a:extLst>
          </p:cNvPr>
          <p:cNvSpPr>
            <a:spLocks noGrp="1"/>
          </p:cNvSpPr>
          <p:nvPr>
            <p:ph type="title"/>
          </p:nvPr>
        </p:nvSpPr>
        <p:spPr>
          <a:xfrm>
            <a:off x="224412" y="-77490"/>
            <a:ext cx="11606227" cy="1094265"/>
          </a:xfrm>
        </p:spPr>
        <p:txBody>
          <a:bodyPr>
            <a:normAutofit/>
          </a:bodyPr>
          <a:lstStyle/>
          <a:p>
            <a:r>
              <a:rPr lang="en-US" sz="3600" dirty="0"/>
              <a:t>TBI - TRACTS</a:t>
            </a:r>
          </a:p>
        </p:txBody>
      </p:sp>
      <p:sp>
        <p:nvSpPr>
          <p:cNvPr id="4" name="Slide Number Placeholder 3">
            <a:extLst>
              <a:ext uri="{FF2B5EF4-FFF2-40B4-BE49-F238E27FC236}">
                <a16:creationId xmlns:a16="http://schemas.microsoft.com/office/drawing/2014/main" id="{5A0CB63B-0996-C0F5-A4A5-8E0EAA6C9580}"/>
              </a:ext>
            </a:extLst>
          </p:cNvPr>
          <p:cNvSpPr>
            <a:spLocks noGrp="1"/>
          </p:cNvSpPr>
          <p:nvPr>
            <p:ph type="sldNum" sz="quarter" idx="4"/>
          </p:nvPr>
        </p:nvSpPr>
        <p:spPr/>
        <p:txBody>
          <a:bodyPr/>
          <a:lstStyle/>
          <a:p>
            <a:fld id="{21672522-718F-5A4A-A967-5C1A35706813}" type="slidenum">
              <a:rPr lang="en-US" smtClean="0"/>
              <a:pPr/>
              <a:t>18</a:t>
            </a:fld>
            <a:endParaRPr lang="en-US" dirty="0"/>
          </a:p>
        </p:txBody>
      </p:sp>
    </p:spTree>
    <p:extLst>
      <p:ext uri="{BB962C8B-B14F-4D97-AF65-F5344CB8AC3E}">
        <p14:creationId xmlns:p14="http://schemas.microsoft.com/office/powerpoint/2010/main" val="962710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250C3A-DD36-452B-83F7-94385D13EDB6}"/>
              </a:ext>
            </a:extLst>
          </p:cNvPr>
          <p:cNvSpPr>
            <a:spLocks noGrp="1"/>
          </p:cNvSpPr>
          <p:nvPr>
            <p:ph idx="10"/>
          </p:nvPr>
        </p:nvSpPr>
        <p:spPr>
          <a:xfrm>
            <a:off x="687977" y="1404329"/>
            <a:ext cx="5392254" cy="5161050"/>
          </a:xfrm>
        </p:spPr>
        <p:txBody>
          <a:bodyPr/>
          <a:lstStyle/>
          <a:p>
            <a:r>
              <a:rPr lang="en-US" sz="2000" dirty="0"/>
              <a:t>Interdisciplinary TBI rehabilitation program that treats the whole the person to improve function, reduce disability, and improve quality of life. </a:t>
            </a:r>
          </a:p>
          <a:p>
            <a:r>
              <a:rPr lang="en-US" sz="2000" dirty="0"/>
              <a:t>The complex sequalae from one or more mild TBIs often produces one or more symptoms that are often treated by multiple medical specialties. </a:t>
            </a:r>
          </a:p>
          <a:p>
            <a:pPr lvl="1"/>
            <a:r>
              <a:rPr lang="en-US" sz="1800" dirty="0"/>
              <a:t>Include PTSD, chronic pain, and sensory disturbances (vision, auditory, and balance). </a:t>
            </a:r>
          </a:p>
          <a:p>
            <a:r>
              <a:rPr lang="en-US" sz="2000" dirty="0"/>
              <a:t>390 active-duty service members and Veterans – VA Investigators are currently evaluating program outcomes across 5 sites.</a:t>
            </a:r>
          </a:p>
          <a:p>
            <a:pPr marL="0" indent="0">
              <a:buNone/>
            </a:pPr>
            <a:endParaRPr lang="en-US" sz="2000" dirty="0"/>
          </a:p>
          <a:p>
            <a:pPr marL="0" indent="0">
              <a:buNone/>
            </a:pPr>
            <a:endParaRPr lang="en-US" sz="2000" dirty="0"/>
          </a:p>
        </p:txBody>
      </p:sp>
      <p:sp>
        <p:nvSpPr>
          <p:cNvPr id="5" name="Content Placeholder 4">
            <a:extLst>
              <a:ext uri="{FF2B5EF4-FFF2-40B4-BE49-F238E27FC236}">
                <a16:creationId xmlns:a16="http://schemas.microsoft.com/office/drawing/2014/main" id="{FBE6C277-9460-2703-534F-8BC5308D21DD}"/>
              </a:ext>
            </a:extLst>
          </p:cNvPr>
          <p:cNvSpPr>
            <a:spLocks noGrp="1"/>
          </p:cNvSpPr>
          <p:nvPr>
            <p:ph idx="11"/>
          </p:nvPr>
        </p:nvSpPr>
        <p:spPr>
          <a:xfrm>
            <a:off x="6608189" y="1430244"/>
            <a:ext cx="4819634" cy="5161050"/>
          </a:xfrm>
        </p:spPr>
        <p:txBody>
          <a:bodyPr/>
          <a:lstStyle/>
          <a:p>
            <a:pPr marL="0" indent="0">
              <a:buNone/>
            </a:pPr>
            <a:r>
              <a:rPr lang="en-US" sz="2000" i="1" dirty="0">
                <a:solidFill>
                  <a:schemeClr val="tx2"/>
                </a:solidFill>
              </a:rPr>
              <a:t>“The best TBI care you'll get while in military service, and you'll go in learning – thinking you know a lot already and come out learning even more and having better tools for a lifelong plan instead of a one- or two-year plan.” </a:t>
            </a:r>
          </a:p>
          <a:p>
            <a:pPr marL="0" indent="0" algn="r">
              <a:buNone/>
            </a:pPr>
            <a:r>
              <a:rPr lang="en-US" sz="2000" i="1" dirty="0">
                <a:solidFill>
                  <a:schemeClr val="tx2"/>
                </a:solidFill>
              </a:rPr>
              <a:t>-service member participating in IETP</a:t>
            </a:r>
          </a:p>
          <a:p>
            <a:pPr marL="0" indent="0">
              <a:buNone/>
            </a:pPr>
            <a:endParaRPr lang="en-US" sz="2000" dirty="0">
              <a:solidFill>
                <a:schemeClr val="tx2"/>
              </a:solidFill>
            </a:endParaRPr>
          </a:p>
          <a:p>
            <a:endParaRPr lang="en-US" sz="2000" dirty="0">
              <a:solidFill>
                <a:schemeClr val="tx2"/>
              </a:solidFill>
            </a:endParaRPr>
          </a:p>
        </p:txBody>
      </p:sp>
      <p:sp>
        <p:nvSpPr>
          <p:cNvPr id="3" name="Title 2">
            <a:extLst>
              <a:ext uri="{FF2B5EF4-FFF2-40B4-BE49-F238E27FC236}">
                <a16:creationId xmlns:a16="http://schemas.microsoft.com/office/drawing/2014/main" id="{F74AAE75-A10E-A3EC-95B9-189948F4D96E}"/>
              </a:ext>
            </a:extLst>
          </p:cNvPr>
          <p:cNvSpPr>
            <a:spLocks noGrp="1"/>
          </p:cNvSpPr>
          <p:nvPr>
            <p:ph type="title"/>
          </p:nvPr>
        </p:nvSpPr>
        <p:spPr>
          <a:xfrm>
            <a:off x="224412" y="-77490"/>
            <a:ext cx="11769467" cy="1094265"/>
          </a:xfrm>
        </p:spPr>
        <p:txBody>
          <a:bodyPr>
            <a:normAutofit fontScale="90000"/>
          </a:bodyPr>
          <a:lstStyle/>
          <a:p>
            <a:r>
              <a:rPr lang="en-US" dirty="0"/>
              <a:t>TBI - Intensive Evaluation and Treatment Program</a:t>
            </a:r>
          </a:p>
        </p:txBody>
      </p:sp>
      <p:sp>
        <p:nvSpPr>
          <p:cNvPr id="4" name="Slide Number Placeholder 3">
            <a:extLst>
              <a:ext uri="{FF2B5EF4-FFF2-40B4-BE49-F238E27FC236}">
                <a16:creationId xmlns:a16="http://schemas.microsoft.com/office/drawing/2014/main" id="{C851E816-3904-F483-48E2-EF7E0720439D}"/>
              </a:ext>
            </a:extLst>
          </p:cNvPr>
          <p:cNvSpPr>
            <a:spLocks noGrp="1"/>
          </p:cNvSpPr>
          <p:nvPr>
            <p:ph type="sldNum" sz="quarter" idx="4"/>
          </p:nvPr>
        </p:nvSpPr>
        <p:spPr/>
        <p:txBody>
          <a:bodyPr/>
          <a:lstStyle/>
          <a:p>
            <a:fld id="{21672522-718F-5A4A-A967-5C1A35706813}" type="slidenum">
              <a:rPr lang="en-US" smtClean="0"/>
              <a:pPr/>
              <a:t>19</a:t>
            </a:fld>
            <a:endParaRPr lang="en-US"/>
          </a:p>
        </p:txBody>
      </p:sp>
      <p:sp>
        <p:nvSpPr>
          <p:cNvPr id="7" name="TextBox 6">
            <a:extLst>
              <a:ext uri="{FF2B5EF4-FFF2-40B4-BE49-F238E27FC236}">
                <a16:creationId xmlns:a16="http://schemas.microsoft.com/office/drawing/2014/main" id="{D656C443-58AE-B996-7386-B64A54E82DA3}"/>
              </a:ext>
            </a:extLst>
          </p:cNvPr>
          <p:cNvSpPr txBox="1"/>
          <p:nvPr/>
        </p:nvSpPr>
        <p:spPr>
          <a:xfrm>
            <a:off x="6570089" y="4109581"/>
            <a:ext cx="4895833" cy="2246769"/>
          </a:xfrm>
          <a:prstGeom prst="rect">
            <a:avLst/>
          </a:prstGeom>
          <a:noFill/>
        </p:spPr>
        <p:txBody>
          <a:bodyPr wrap="square">
            <a:spAutoFit/>
          </a:bodyPr>
          <a:lstStyle/>
          <a:p>
            <a:pPr marL="0" indent="0">
              <a:buNone/>
            </a:pPr>
            <a:r>
              <a:rPr lang="en-US" sz="2000" i="1" dirty="0">
                <a:solidFill>
                  <a:schemeClr val="tx2"/>
                </a:solidFill>
              </a:rPr>
              <a:t>“...the biggest thing is probably more patient and understanding of my kids and my wife and it – it helped me to appreciate them more because I wasn't just so worried about being able to – to function on a base level.”</a:t>
            </a:r>
          </a:p>
          <a:p>
            <a:pPr marL="0" indent="0" algn="r">
              <a:buNone/>
            </a:pPr>
            <a:r>
              <a:rPr lang="en-US" sz="2000" i="1" dirty="0">
                <a:solidFill>
                  <a:schemeClr val="tx2"/>
                </a:solidFill>
              </a:rPr>
              <a:t>-service member participating in IETP</a:t>
            </a:r>
          </a:p>
        </p:txBody>
      </p:sp>
    </p:spTree>
    <p:extLst>
      <p:ext uri="{BB962C8B-B14F-4D97-AF65-F5344CB8AC3E}">
        <p14:creationId xmlns:p14="http://schemas.microsoft.com/office/powerpoint/2010/main" val="11900413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82EC3E-D0C3-C215-3C29-100B548B7F78}"/>
              </a:ext>
            </a:extLst>
          </p:cNvPr>
          <p:cNvSpPr>
            <a:spLocks noGrp="1"/>
          </p:cNvSpPr>
          <p:nvPr>
            <p:ph idx="1"/>
          </p:nvPr>
        </p:nvSpPr>
        <p:spPr>
          <a:xfrm>
            <a:off x="224412" y="1377862"/>
            <a:ext cx="11606227" cy="5161050"/>
          </a:xfrm>
        </p:spPr>
        <p:txBody>
          <a:bodyPr/>
          <a:lstStyle/>
          <a:p>
            <a:pPr marL="0" indent="0">
              <a:buNone/>
            </a:pPr>
            <a:r>
              <a:rPr lang="en-US" sz="1800" b="1" dirty="0">
                <a:solidFill>
                  <a:srgbClr val="000000"/>
                </a:solidFill>
                <a:effectLst/>
                <a:latin typeface="+mj-lt"/>
                <a:ea typeface="Calibri" panose="020F0502020204030204" pitchFamily="34" charset="0"/>
              </a:rPr>
              <a:t>VA investigators are conducting TBI evaluations of: </a:t>
            </a:r>
          </a:p>
          <a:p>
            <a:r>
              <a:rPr lang="en-US" sz="1800" b="1" dirty="0">
                <a:solidFill>
                  <a:srgbClr val="000000"/>
                </a:solidFill>
                <a:effectLst/>
                <a:latin typeface="+mj-lt"/>
                <a:ea typeface="Calibri" panose="020F0502020204030204" pitchFamily="34" charset="0"/>
              </a:rPr>
              <a:t>Supported Employment, </a:t>
            </a:r>
            <a:r>
              <a:rPr lang="en-US" sz="1800" dirty="0">
                <a:solidFill>
                  <a:srgbClr val="000000"/>
                </a:solidFill>
                <a:effectLst/>
                <a:latin typeface="+mj-lt"/>
                <a:ea typeface="Calibri" panose="020F0502020204030204" pitchFamily="34" charset="0"/>
              </a:rPr>
              <a:t>a vocational rehabilitation practice for Veterans with TBI, implemented across 12 VA medical centers with </a:t>
            </a:r>
            <a:r>
              <a:rPr lang="en-US" sz="1800" dirty="0">
                <a:solidFill>
                  <a:srgbClr val="000000"/>
                </a:solidFill>
                <a:latin typeface="+mj-lt"/>
                <a:ea typeface="Calibri" panose="020F0502020204030204" pitchFamily="34" charset="0"/>
              </a:rPr>
              <a:t>n</a:t>
            </a:r>
            <a:r>
              <a:rPr lang="en-US" sz="1800" dirty="0">
                <a:solidFill>
                  <a:srgbClr val="000000"/>
                </a:solidFill>
                <a:effectLst/>
                <a:latin typeface="+mj-lt"/>
                <a:ea typeface="Calibri" panose="020F0502020204030204" pitchFamily="34" charset="0"/>
              </a:rPr>
              <a:t>early 60% of 107 enrolled Veterans obtaining at least 1 competitive job. </a:t>
            </a:r>
          </a:p>
          <a:p>
            <a:pPr lvl="1"/>
            <a:r>
              <a:rPr lang="en-US" sz="1600" i="1" dirty="0">
                <a:solidFill>
                  <a:schemeClr val="accent1"/>
                </a:solidFill>
                <a:effectLst/>
                <a:latin typeface="+mj-lt"/>
                <a:ea typeface="Calibri" panose="020F0502020204030204" pitchFamily="34" charset="0"/>
              </a:rPr>
              <a:t>“I've struggled over the past few years and more than anything just the support being given in a sense of with my mental health and, in general, my personal life as a Veteran.  One of the most beneficial parts of this program, and I do see it as something that had it not happened, I wouldn't be in this position now of having a job and being more stable in life.” -Veteran participating in Supported Employment</a:t>
            </a:r>
          </a:p>
          <a:p>
            <a:pPr lvl="1"/>
            <a:r>
              <a:rPr lang="en-US" sz="1600" i="1" dirty="0">
                <a:solidFill>
                  <a:schemeClr val="accent1"/>
                </a:solidFill>
                <a:effectLst/>
                <a:latin typeface="+mj-lt"/>
                <a:ea typeface="Calibri" panose="020F0502020204030204" pitchFamily="34" charset="0"/>
              </a:rPr>
              <a:t>“[The Supported Employment provider] has put in a lot of time but she is all ears, I mean I've done it with all the Compensated Work Therapy, I mean I know I'm just one of her clients but she makes me feel like I'm "the one" and when I suggest something she goes after it and you </a:t>
            </a:r>
            <a:r>
              <a:rPr lang="en-US" sz="1600" i="1" dirty="0" err="1">
                <a:solidFill>
                  <a:schemeClr val="accent1"/>
                </a:solidFill>
                <a:effectLst/>
                <a:latin typeface="+mj-lt"/>
                <a:ea typeface="Calibri" panose="020F0502020204030204" pitchFamily="34" charset="0"/>
              </a:rPr>
              <a:t>gotta</a:t>
            </a:r>
            <a:r>
              <a:rPr lang="en-US" sz="1600" i="1" dirty="0">
                <a:solidFill>
                  <a:schemeClr val="accent1"/>
                </a:solidFill>
                <a:effectLst/>
                <a:latin typeface="+mj-lt"/>
                <a:ea typeface="Calibri" panose="020F0502020204030204" pitchFamily="34" charset="0"/>
              </a:rPr>
              <a:t> have that....It's hard to get that kind of person who can counsel.” -Veteran participating in Supported Employment </a:t>
            </a:r>
          </a:p>
          <a:p>
            <a:r>
              <a:rPr lang="en-US" sz="1800" b="1" dirty="0">
                <a:latin typeface="+mj-lt"/>
                <a:ea typeface="Calibri" panose="020F0502020204030204" pitchFamily="34" charset="0"/>
              </a:rPr>
              <a:t>I</a:t>
            </a:r>
            <a:r>
              <a:rPr lang="en-US" sz="1800" b="1" dirty="0">
                <a:effectLst/>
                <a:latin typeface="+mj-lt"/>
                <a:ea typeface="Calibri" panose="020F0502020204030204" pitchFamily="34" charset="0"/>
              </a:rPr>
              <a:t>nitiation of stimulant medications and risk of incident SUD, hospitalization, and mortality in Veterans with TBI: </a:t>
            </a:r>
            <a:r>
              <a:rPr lang="en-US" sz="1800" dirty="0">
                <a:latin typeface="+mj-lt"/>
                <a:ea typeface="Calibri" panose="020F0502020204030204" pitchFamily="34" charset="0"/>
              </a:rPr>
              <a:t>Among</a:t>
            </a:r>
            <a:r>
              <a:rPr lang="en-US" sz="1800" b="1" dirty="0">
                <a:latin typeface="+mj-lt"/>
                <a:ea typeface="Calibri" panose="020F0502020204030204" pitchFamily="34" charset="0"/>
              </a:rPr>
              <a:t> </a:t>
            </a:r>
            <a:r>
              <a:rPr lang="en-US" sz="1800" dirty="0">
                <a:effectLst/>
                <a:latin typeface="+mj-lt"/>
                <a:ea typeface="Calibri" panose="020F0502020204030204" pitchFamily="34" charset="0"/>
              </a:rPr>
              <a:t>973,096 Veterans with a diagnosis of TBI, 28,596 (2.9%) were prevalent users of CNS stimulant drugs </a:t>
            </a:r>
            <a:endParaRPr lang="en-US" sz="1800" dirty="0">
              <a:latin typeface="+mj-lt"/>
              <a:ea typeface="Calibri" panose="020F0502020204030204" pitchFamily="34" charset="0"/>
              <a:sym typeface="Wingdings" panose="05000000000000000000" pitchFamily="2" charset="2"/>
            </a:endParaRPr>
          </a:p>
          <a:p>
            <a:pPr lvl="1"/>
            <a:r>
              <a:rPr lang="en-US" sz="1600" dirty="0">
                <a:effectLst/>
                <a:latin typeface="+mj-lt"/>
                <a:ea typeface="Calibri" panose="020F0502020204030204" pitchFamily="34" charset="0"/>
              </a:rPr>
              <a:t>higher prevalence of alcohol use disorder, opioid use disorder, &amp; tobacco use disorder; 50% of prevalent stimulant users had diagnosis of attention-deficit/hyperactivity disorder (ADHD), compared to 1% of nonusers. </a:t>
            </a:r>
          </a:p>
          <a:p>
            <a:endParaRPr lang="en-US" sz="1800" dirty="0">
              <a:effectLst/>
              <a:latin typeface="+mj-lt"/>
              <a:ea typeface="Calibri" panose="020F0502020204030204" pitchFamily="34" charset="0"/>
            </a:endParaRPr>
          </a:p>
        </p:txBody>
      </p:sp>
      <p:sp>
        <p:nvSpPr>
          <p:cNvPr id="3" name="Title 2">
            <a:extLst>
              <a:ext uri="{FF2B5EF4-FFF2-40B4-BE49-F238E27FC236}">
                <a16:creationId xmlns:a16="http://schemas.microsoft.com/office/drawing/2014/main" id="{A8F4A6FE-6E42-028A-B1A1-7962418899B5}"/>
              </a:ext>
            </a:extLst>
          </p:cNvPr>
          <p:cNvSpPr>
            <a:spLocks noGrp="1"/>
          </p:cNvSpPr>
          <p:nvPr>
            <p:ph type="title"/>
          </p:nvPr>
        </p:nvSpPr>
        <p:spPr>
          <a:xfrm>
            <a:off x="224412" y="-77490"/>
            <a:ext cx="11606227" cy="1094265"/>
          </a:xfrm>
        </p:spPr>
        <p:txBody>
          <a:bodyPr>
            <a:normAutofit/>
          </a:bodyPr>
          <a:lstStyle/>
          <a:p>
            <a:r>
              <a:rPr lang="en-US" sz="3600" dirty="0"/>
              <a:t>TBI -  Evaluations</a:t>
            </a:r>
          </a:p>
        </p:txBody>
      </p:sp>
      <p:sp>
        <p:nvSpPr>
          <p:cNvPr id="4" name="Slide Number Placeholder 3">
            <a:extLst>
              <a:ext uri="{FF2B5EF4-FFF2-40B4-BE49-F238E27FC236}">
                <a16:creationId xmlns:a16="http://schemas.microsoft.com/office/drawing/2014/main" id="{5A0CB63B-0996-C0F5-A4A5-8E0EAA6C9580}"/>
              </a:ext>
            </a:extLst>
          </p:cNvPr>
          <p:cNvSpPr>
            <a:spLocks noGrp="1"/>
          </p:cNvSpPr>
          <p:nvPr>
            <p:ph type="sldNum" sz="quarter" idx="4"/>
          </p:nvPr>
        </p:nvSpPr>
        <p:spPr/>
        <p:txBody>
          <a:bodyPr/>
          <a:lstStyle/>
          <a:p>
            <a:fld id="{21672522-718F-5A4A-A967-5C1A35706813}" type="slidenum">
              <a:rPr lang="en-US" smtClean="0"/>
              <a:pPr/>
              <a:t>20</a:t>
            </a:fld>
            <a:endParaRPr lang="en-US" dirty="0"/>
          </a:p>
        </p:txBody>
      </p:sp>
    </p:spTree>
    <p:extLst>
      <p:ext uri="{BB962C8B-B14F-4D97-AF65-F5344CB8AC3E}">
        <p14:creationId xmlns:p14="http://schemas.microsoft.com/office/powerpoint/2010/main" val="2514431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E9489E-4909-017E-7C5D-7D9E362E285F}"/>
              </a:ext>
            </a:extLst>
          </p:cNvPr>
          <p:cNvSpPr>
            <a:spLocks noGrp="1"/>
          </p:cNvSpPr>
          <p:nvPr>
            <p:ph idx="1"/>
          </p:nvPr>
        </p:nvSpPr>
        <p:spPr/>
        <p:txBody>
          <a:bodyPr/>
          <a:lstStyle/>
          <a:p>
            <a:pPr marL="0" indent="0">
              <a:buNone/>
            </a:pPr>
            <a:r>
              <a:rPr lang="en-US" sz="2000" dirty="0"/>
              <a:t>VA investigators are partnering with 8 federal departments to address </a:t>
            </a:r>
            <a:r>
              <a:rPr lang="en-US" sz="2000" b="1" dirty="0"/>
              <a:t>Section 501 of the PACT Act </a:t>
            </a:r>
            <a:r>
              <a:rPr lang="en-US" sz="2000" dirty="0"/>
              <a:t>and is leveraging existing VA data sources (MVP, EHR data) to build a </a:t>
            </a:r>
            <a:r>
              <a:rPr lang="en-US" sz="2000" b="1" dirty="0"/>
              <a:t>national cohort of ~24 million Veterans</a:t>
            </a:r>
            <a:r>
              <a:rPr lang="en-US" sz="2000" dirty="0"/>
              <a:t> to detect emerging (latent) health conditions and develop preventative approaches and innovative treatments for </a:t>
            </a:r>
            <a:r>
              <a:rPr lang="en-US" sz="2000" b="1" dirty="0"/>
              <a:t>a range of military exposures</a:t>
            </a:r>
            <a:r>
              <a:rPr lang="en-US" sz="2000" dirty="0"/>
              <a:t>, including depleted uranium, Agent Orange, ionizing radiation, airborne hazards, particulate matter, burn pits, and Gulf War deployment. </a:t>
            </a:r>
          </a:p>
          <a:p>
            <a:r>
              <a:rPr lang="en-US" sz="1800" dirty="0"/>
              <a:t>Incudes biospecimen and other data from the Million Veteran Program (MVP), the world’s largest cohort on genetics, lifestyle, military experiences and health within a health system, with </a:t>
            </a:r>
            <a:r>
              <a:rPr lang="en-US" sz="1800" b="1" dirty="0"/>
              <a:t>over 1,030,000 Veterans</a:t>
            </a:r>
            <a:r>
              <a:rPr lang="en-US" sz="1800" dirty="0"/>
              <a:t> enrolled and baseline genotyping on all participants, whole genome sequencing on ~150,000, methylation on ~45,000, with metabolomics underway</a:t>
            </a:r>
          </a:p>
          <a:p>
            <a:r>
              <a:rPr lang="en-US" sz="1800" dirty="0"/>
              <a:t>Examples of research:</a:t>
            </a:r>
          </a:p>
          <a:p>
            <a:pPr lvl="1"/>
            <a:r>
              <a:rPr lang="en-US" sz="1800" dirty="0"/>
              <a:t>Assess how toxic exposure (e.g., per- and polyfluoroalkyl substances) may affect female reproductive health, pregnancy, and birth outcomes (e.g., preterm birth)   </a:t>
            </a:r>
          </a:p>
          <a:p>
            <a:pPr lvl="1"/>
            <a:r>
              <a:rPr lang="en-US" sz="1800" dirty="0"/>
              <a:t>Identify how Agent Orange and smoke from burn pits may lead to lymphoid malignancies that can be targeted therapeutically</a:t>
            </a:r>
          </a:p>
          <a:p>
            <a:pPr lvl="1"/>
            <a:endParaRPr lang="en-US" sz="2000" dirty="0"/>
          </a:p>
        </p:txBody>
      </p:sp>
      <p:sp>
        <p:nvSpPr>
          <p:cNvPr id="3" name="Title 2">
            <a:extLst>
              <a:ext uri="{FF2B5EF4-FFF2-40B4-BE49-F238E27FC236}">
                <a16:creationId xmlns:a16="http://schemas.microsoft.com/office/drawing/2014/main" id="{551A51CF-C6E5-CAB7-BC45-EED215E4C34B}"/>
              </a:ext>
            </a:extLst>
          </p:cNvPr>
          <p:cNvSpPr>
            <a:spLocks noGrp="1"/>
          </p:cNvSpPr>
          <p:nvPr>
            <p:ph type="title"/>
          </p:nvPr>
        </p:nvSpPr>
        <p:spPr/>
        <p:txBody>
          <a:bodyPr>
            <a:normAutofit/>
          </a:bodyPr>
          <a:lstStyle/>
          <a:p>
            <a:r>
              <a:rPr lang="en-US" sz="3600" dirty="0"/>
              <a:t>Military Exposure Research</a:t>
            </a:r>
          </a:p>
        </p:txBody>
      </p:sp>
      <p:sp>
        <p:nvSpPr>
          <p:cNvPr id="4" name="Slide Number Placeholder 3">
            <a:extLst>
              <a:ext uri="{FF2B5EF4-FFF2-40B4-BE49-F238E27FC236}">
                <a16:creationId xmlns:a16="http://schemas.microsoft.com/office/drawing/2014/main" id="{2F50B055-769B-6FAF-3CD2-E9B49BB7C7BF}"/>
              </a:ext>
            </a:extLst>
          </p:cNvPr>
          <p:cNvSpPr>
            <a:spLocks noGrp="1"/>
          </p:cNvSpPr>
          <p:nvPr>
            <p:ph type="sldNum" sz="quarter" idx="4"/>
          </p:nvPr>
        </p:nvSpPr>
        <p:spPr/>
        <p:txBody>
          <a:bodyPr/>
          <a:lstStyle/>
          <a:p>
            <a:fld id="{21672522-718F-5A4A-A967-5C1A35706813}" type="slidenum">
              <a:rPr lang="en-US" smtClean="0"/>
              <a:pPr/>
              <a:t>21</a:t>
            </a:fld>
            <a:endParaRPr lang="en-US" dirty="0"/>
          </a:p>
        </p:txBody>
      </p:sp>
    </p:spTree>
    <p:extLst>
      <p:ext uri="{BB962C8B-B14F-4D97-AF65-F5344CB8AC3E}">
        <p14:creationId xmlns:p14="http://schemas.microsoft.com/office/powerpoint/2010/main" val="1356367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5A17BD-8631-B877-5CD3-E46D0DED7F3E}"/>
              </a:ext>
            </a:extLst>
          </p:cNvPr>
          <p:cNvSpPr>
            <a:spLocks noGrp="1"/>
          </p:cNvSpPr>
          <p:nvPr>
            <p:ph idx="1"/>
          </p:nvPr>
        </p:nvSpPr>
        <p:spPr>
          <a:xfrm>
            <a:off x="383713" y="1195300"/>
            <a:ext cx="11334796" cy="5161050"/>
          </a:xfrm>
        </p:spPr>
        <p:txBody>
          <a:bodyPr/>
          <a:lstStyle/>
          <a:p>
            <a:pPr marL="0" indent="0">
              <a:buNone/>
            </a:pPr>
            <a:r>
              <a:rPr lang="en-US" sz="2000" dirty="0"/>
              <a:t>VA Investigators:</a:t>
            </a:r>
          </a:p>
          <a:p>
            <a:r>
              <a:rPr lang="en-US" sz="2000" dirty="0"/>
              <a:t>Developed a method to </a:t>
            </a:r>
            <a:r>
              <a:rPr lang="en-US" sz="2000" b="1" dirty="0"/>
              <a:t>assess exposure </a:t>
            </a:r>
            <a:r>
              <a:rPr lang="en-US" sz="2000" dirty="0"/>
              <a:t>(determine presence of burn pit, an incinerator, and waste segregation methods) for specific military bases in Iraq and Afghanistan </a:t>
            </a:r>
            <a:endParaRPr lang="en-US" sz="2000" dirty="0">
              <a:sym typeface="Wingdings" panose="05000000000000000000" pitchFamily="2" charset="2"/>
            </a:endParaRPr>
          </a:p>
          <a:p>
            <a:pPr lvl="1"/>
            <a:r>
              <a:rPr lang="en-US" sz="1600" dirty="0"/>
              <a:t>86% of the Veterans in this study (~475,000) deployed at some point to bases with burn pits. </a:t>
            </a:r>
          </a:p>
          <a:p>
            <a:r>
              <a:rPr lang="en-US" sz="2000" dirty="0"/>
              <a:t>Conducted a national evaluation to understand to what extent military exposures (e.g., toxins at Camp Lejeune, Open Burn Pits) harmed Veterans during their period of service</a:t>
            </a:r>
          </a:p>
          <a:p>
            <a:pPr lvl="1"/>
            <a:r>
              <a:rPr lang="en-US" sz="1800" dirty="0"/>
              <a:t>Survey of a cohort of Camp Lejeune Veterans: </a:t>
            </a:r>
            <a:r>
              <a:rPr lang="en-US" sz="1800" b="1" dirty="0"/>
              <a:t>30% reported associated conditions, 10% reported presumptive conditions for toxic exposure.</a:t>
            </a:r>
            <a:r>
              <a:rPr lang="en-US" sz="1800" dirty="0"/>
              <a:t> Majority of respondents used VA health care and were satisfied with the care provided. The most common reason for not filing a claim was not knowing how. Nearly half of the respondents were not familiar with the Camp Lejeune Legislation or the 2017 Federal register identification of presumptive conditions. </a:t>
            </a:r>
          </a:p>
          <a:p>
            <a:pPr lvl="1"/>
            <a:r>
              <a:rPr lang="en-US" sz="1800" dirty="0"/>
              <a:t>50% (86,455/172,128) of Veterans who were stationed at Camp Lejeune between 1975-1985 have utilized VA health care</a:t>
            </a:r>
          </a:p>
          <a:p>
            <a:r>
              <a:rPr lang="en-US" sz="2000" dirty="0"/>
              <a:t>Are developing staffing models (evidence-based, population-based manpower guidelines) to support implementation of the </a:t>
            </a:r>
            <a:r>
              <a:rPr lang="en-US" sz="2000" b="1" dirty="0"/>
              <a:t>PACT Act </a:t>
            </a:r>
          </a:p>
        </p:txBody>
      </p:sp>
      <p:sp>
        <p:nvSpPr>
          <p:cNvPr id="3" name="Title 2">
            <a:extLst>
              <a:ext uri="{FF2B5EF4-FFF2-40B4-BE49-F238E27FC236}">
                <a16:creationId xmlns:a16="http://schemas.microsoft.com/office/drawing/2014/main" id="{B8EF0053-1452-048D-8964-5A59AFEEB6DB}"/>
              </a:ext>
            </a:extLst>
          </p:cNvPr>
          <p:cNvSpPr>
            <a:spLocks noGrp="1"/>
          </p:cNvSpPr>
          <p:nvPr>
            <p:ph type="title"/>
          </p:nvPr>
        </p:nvSpPr>
        <p:spPr>
          <a:xfrm>
            <a:off x="224413" y="-77490"/>
            <a:ext cx="11334796" cy="1094265"/>
          </a:xfrm>
        </p:spPr>
        <p:txBody>
          <a:bodyPr>
            <a:normAutofit/>
          </a:bodyPr>
          <a:lstStyle/>
          <a:p>
            <a:r>
              <a:rPr lang="en-US" sz="3600" dirty="0"/>
              <a:t>Military Exposure Research</a:t>
            </a:r>
          </a:p>
        </p:txBody>
      </p:sp>
      <p:sp>
        <p:nvSpPr>
          <p:cNvPr id="4" name="Slide Number Placeholder 3">
            <a:extLst>
              <a:ext uri="{FF2B5EF4-FFF2-40B4-BE49-F238E27FC236}">
                <a16:creationId xmlns:a16="http://schemas.microsoft.com/office/drawing/2014/main" id="{974CC390-3921-1DF1-A0C5-487BB27D1182}"/>
              </a:ext>
            </a:extLst>
          </p:cNvPr>
          <p:cNvSpPr>
            <a:spLocks noGrp="1"/>
          </p:cNvSpPr>
          <p:nvPr>
            <p:ph type="sldNum" sz="quarter" idx="4"/>
          </p:nvPr>
        </p:nvSpPr>
        <p:spPr/>
        <p:txBody>
          <a:bodyPr/>
          <a:lstStyle/>
          <a:p>
            <a:fld id="{21672522-718F-5A4A-A967-5C1A35706813}" type="slidenum">
              <a:rPr lang="en-US" smtClean="0"/>
              <a:pPr/>
              <a:t>22</a:t>
            </a:fld>
            <a:endParaRPr lang="en-US"/>
          </a:p>
        </p:txBody>
      </p:sp>
    </p:spTree>
    <p:extLst>
      <p:ext uri="{BB962C8B-B14F-4D97-AF65-F5344CB8AC3E}">
        <p14:creationId xmlns:p14="http://schemas.microsoft.com/office/powerpoint/2010/main" val="1734767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83A011-EF82-1961-900A-E6EC9A9D68A6}"/>
              </a:ext>
            </a:extLst>
          </p:cNvPr>
          <p:cNvSpPr>
            <a:spLocks noGrp="1"/>
          </p:cNvSpPr>
          <p:nvPr>
            <p:ph idx="1"/>
          </p:nvPr>
        </p:nvSpPr>
        <p:spPr>
          <a:xfrm>
            <a:off x="405698" y="1106037"/>
            <a:ext cx="11670688" cy="5161050"/>
          </a:xfrm>
        </p:spPr>
        <p:txBody>
          <a:bodyPr/>
          <a:lstStyle/>
          <a:p>
            <a:pPr marL="0" indent="0" fontAlgn="base">
              <a:lnSpc>
                <a:spcPct val="100000"/>
              </a:lnSpc>
              <a:spcBef>
                <a:spcPct val="0"/>
              </a:spcBef>
              <a:spcAft>
                <a:spcPts val="1200"/>
              </a:spcAft>
              <a:buNone/>
              <a:defRPr/>
            </a:pPr>
            <a:r>
              <a:rPr kumimoji="0" lang="en-US" altLang="en-US" sz="2400" i="0" u="none" strike="noStrike" kern="1200" cap="none" spc="0" normalizeH="0" baseline="0" noProof="0" dirty="0">
                <a:ln>
                  <a:noFill/>
                </a:ln>
                <a:solidFill>
                  <a:srgbClr val="000000"/>
                </a:solidFill>
                <a:effectLst/>
                <a:uLnTx/>
                <a:uFillTx/>
                <a:latin typeface="Arial"/>
                <a:ea typeface="+mn-ea"/>
                <a:cs typeface="Arial"/>
              </a:rPr>
              <a:t>VA Investigators have developed, tested, and implemented </a:t>
            </a:r>
            <a:r>
              <a:rPr kumimoji="0" lang="en-US" altLang="en-US" sz="2400" i="0" u="sng" strike="noStrike" kern="1200" cap="none" spc="0" normalizeH="0" baseline="0" noProof="0" dirty="0">
                <a:ln>
                  <a:noFill/>
                </a:ln>
                <a:solidFill>
                  <a:srgbClr val="000000"/>
                </a:solidFill>
                <a:effectLst/>
                <a:uLnTx/>
                <a:uFillTx/>
                <a:latin typeface="Arial"/>
                <a:ea typeface="+mn-ea"/>
                <a:cs typeface="Arial"/>
              </a:rPr>
              <a:t>lifesaving</a:t>
            </a:r>
            <a:r>
              <a:rPr kumimoji="0" lang="en-US" altLang="en-US" sz="2400" i="0" u="none" strike="noStrike" kern="1200" cap="none" spc="0" normalizeH="0" baseline="0" noProof="0" dirty="0">
                <a:ln>
                  <a:noFill/>
                </a:ln>
                <a:solidFill>
                  <a:srgbClr val="000000"/>
                </a:solidFill>
                <a:effectLst/>
                <a:uLnTx/>
                <a:uFillTx/>
                <a:latin typeface="Arial"/>
                <a:ea typeface="+mn-ea"/>
                <a:cs typeface="Arial"/>
              </a:rPr>
              <a:t> interventions preventing Veteran opiate overdoses:</a:t>
            </a:r>
          </a:p>
          <a:p>
            <a:pPr fontAlgn="base">
              <a:lnSpc>
                <a:spcPct val="100000"/>
              </a:lnSpc>
              <a:spcBef>
                <a:spcPct val="0"/>
              </a:spcBef>
              <a:spcAft>
                <a:spcPts val="0"/>
              </a:spcAft>
              <a:defRPr/>
            </a:pPr>
            <a:r>
              <a:rPr kumimoji="0" lang="en-US" altLang="en-US" sz="2400" b="1" i="0" strike="noStrike" kern="1200" cap="none" spc="0" normalizeH="0" baseline="0" noProof="0" dirty="0">
                <a:ln>
                  <a:noFill/>
                </a:ln>
                <a:solidFill>
                  <a:srgbClr val="000000"/>
                </a:solidFill>
                <a:effectLst/>
                <a:uLnTx/>
                <a:uFillTx/>
                <a:latin typeface="Arial"/>
                <a:ea typeface="+mn-ea"/>
                <a:cs typeface="Arial"/>
              </a:rPr>
              <a:t>Opioid Overdose Education and Naloxone Distribution (OEND)</a:t>
            </a:r>
          </a:p>
          <a:p>
            <a:pPr lvl="1" fontAlgn="base">
              <a:lnSpc>
                <a:spcPct val="100000"/>
              </a:lnSpc>
              <a:spcBef>
                <a:spcPct val="0"/>
              </a:spcBef>
              <a:spcAft>
                <a:spcPts val="0"/>
              </a:spcAft>
              <a:tabLst>
                <a:tab pos="168275" algn="l"/>
              </a:tabLst>
              <a:defRPr/>
            </a:pPr>
            <a:r>
              <a:rPr kumimoji="0" lang="en-US" altLang="en-US" i="0" u="none" strike="noStrike" kern="1200" cap="none" spc="0" normalizeH="0" baseline="0" noProof="0" dirty="0">
                <a:ln>
                  <a:noFill/>
                </a:ln>
                <a:solidFill>
                  <a:srgbClr val="000000"/>
                </a:solidFill>
                <a:effectLst/>
                <a:uLnTx/>
                <a:uFillTx/>
                <a:latin typeface="Arial"/>
                <a:ea typeface="+mn-ea"/>
                <a:cs typeface="Arial"/>
              </a:rPr>
              <a:t>More than 63,500 providers have delivered over </a:t>
            </a:r>
            <a:r>
              <a:rPr kumimoji="0" lang="en-US" altLang="en-US" b="1" i="0" u="none" strike="noStrike" kern="1200" cap="none" spc="0" normalizeH="0" baseline="0" noProof="0" dirty="0">
                <a:ln>
                  <a:noFill/>
                </a:ln>
                <a:solidFill>
                  <a:srgbClr val="000000"/>
                </a:solidFill>
                <a:effectLst/>
                <a:uLnTx/>
                <a:uFillTx/>
                <a:latin typeface="Arial"/>
                <a:ea typeface="+mn-ea"/>
                <a:cs typeface="Arial"/>
              </a:rPr>
              <a:t>1.3 million naloxone prescriptions </a:t>
            </a:r>
            <a:r>
              <a:rPr kumimoji="0" lang="en-US" altLang="en-US" i="0" u="none" strike="noStrike" kern="1200" cap="none" spc="0" normalizeH="0" baseline="0" noProof="0" dirty="0">
                <a:ln>
                  <a:noFill/>
                </a:ln>
                <a:solidFill>
                  <a:srgbClr val="000000"/>
                </a:solidFill>
                <a:effectLst/>
                <a:uLnTx/>
                <a:uFillTx/>
                <a:latin typeface="Arial"/>
                <a:ea typeface="+mn-ea"/>
                <a:cs typeface="Arial"/>
              </a:rPr>
              <a:t>to</a:t>
            </a:r>
            <a:r>
              <a:rPr kumimoji="0" lang="en-US" altLang="en-US" b="1" i="0" u="none" strike="noStrike" kern="1200" cap="none" spc="0" normalizeH="0" baseline="0" noProof="0" dirty="0">
                <a:ln>
                  <a:noFill/>
                </a:ln>
                <a:solidFill>
                  <a:srgbClr val="000000"/>
                </a:solidFill>
                <a:effectLst/>
                <a:uLnTx/>
                <a:uFillTx/>
                <a:latin typeface="Arial"/>
                <a:ea typeface="+mn-ea"/>
                <a:cs typeface="Arial"/>
              </a:rPr>
              <a:t> </a:t>
            </a:r>
            <a:r>
              <a:rPr kumimoji="0" lang="en-US" altLang="en-US" i="0" u="none" strike="noStrike" kern="1200" cap="none" spc="0" normalizeH="0" baseline="0" noProof="0" dirty="0">
                <a:ln>
                  <a:noFill/>
                </a:ln>
                <a:solidFill>
                  <a:srgbClr val="000000"/>
                </a:solidFill>
                <a:effectLst/>
                <a:uLnTx/>
                <a:uFillTx/>
                <a:latin typeface="Arial"/>
                <a:ea typeface="+mn-ea"/>
                <a:cs typeface="Arial"/>
              </a:rPr>
              <a:t>556,900+ Veterans</a:t>
            </a:r>
          </a:p>
          <a:p>
            <a:pPr lvl="1" fontAlgn="base">
              <a:lnSpc>
                <a:spcPct val="100000"/>
              </a:lnSpc>
              <a:spcBef>
                <a:spcPct val="0"/>
              </a:spcBef>
              <a:spcAft>
                <a:spcPts val="0"/>
              </a:spcAft>
              <a:tabLst>
                <a:tab pos="168275" algn="l"/>
              </a:tabLst>
              <a:defRPr/>
            </a:pPr>
            <a:r>
              <a:rPr lang="en-US" altLang="en-US" dirty="0">
                <a:solidFill>
                  <a:srgbClr val="000000"/>
                </a:solidFill>
                <a:latin typeface="Arial"/>
                <a:cs typeface="Arial"/>
              </a:rPr>
              <a:t>Has resulted in </a:t>
            </a:r>
            <a:r>
              <a:rPr kumimoji="0" lang="en-US" altLang="en-US" b="1" i="0" u="none" strike="noStrike" kern="1200" cap="none" spc="0" normalizeH="0" baseline="0" noProof="0" dirty="0">
                <a:ln>
                  <a:noFill/>
                </a:ln>
                <a:solidFill>
                  <a:srgbClr val="000000"/>
                </a:solidFill>
                <a:effectLst/>
                <a:uLnTx/>
                <a:uFillTx/>
                <a:latin typeface="Arial"/>
                <a:ea typeface="+mn-ea"/>
                <a:cs typeface="Arial"/>
              </a:rPr>
              <a:t>5,100+ life-saving opioid overdose reversals</a:t>
            </a:r>
          </a:p>
          <a:p>
            <a:pPr lvl="1" fontAlgn="base">
              <a:lnSpc>
                <a:spcPct val="100000"/>
              </a:lnSpc>
              <a:spcBef>
                <a:spcPct val="0"/>
              </a:spcBef>
              <a:spcAft>
                <a:spcPts val="0"/>
              </a:spcAft>
              <a:tabLst>
                <a:tab pos="168275" algn="l"/>
              </a:tabLst>
              <a:defRPr/>
            </a:pPr>
            <a:r>
              <a:rPr lang="en-US" altLang="en-US" dirty="0">
                <a:solidFill>
                  <a:srgbClr val="000000"/>
                </a:solidFill>
                <a:latin typeface="Arial"/>
                <a:cs typeface="Arial"/>
              </a:rPr>
              <a:t>Awarded the </a:t>
            </a:r>
            <a:r>
              <a:rPr kumimoji="0" lang="en-US" altLang="en-US" i="0" u="none" strike="noStrike" kern="1200" cap="none" spc="0" normalizeH="0" baseline="0" noProof="0" dirty="0">
                <a:ln>
                  <a:noFill/>
                </a:ln>
                <a:solidFill>
                  <a:srgbClr val="000000"/>
                </a:solidFill>
                <a:effectLst/>
                <a:uLnTx/>
                <a:uFillTx/>
                <a:latin typeface="Arial"/>
                <a:ea typeface="+mn-ea"/>
                <a:cs typeface="Arial"/>
              </a:rPr>
              <a:t>Joint Commission and National Quality Forum’s </a:t>
            </a:r>
            <a:r>
              <a:rPr kumimoji="0" lang="en-US" altLang="en-US" b="1" i="0" u="none" strike="noStrike" kern="1200" cap="none" spc="0" normalizeH="0" baseline="0" noProof="0" dirty="0">
                <a:ln>
                  <a:noFill/>
                </a:ln>
                <a:solidFill>
                  <a:srgbClr val="000000"/>
                </a:solidFill>
                <a:effectLst/>
                <a:uLnTx/>
                <a:uFillTx/>
                <a:latin typeface="Arial"/>
                <a:ea typeface="+mn-ea"/>
                <a:cs typeface="Arial"/>
              </a:rPr>
              <a:t>2020 John M. Eisenberg award for Innovation in Patient Safety and Quality </a:t>
            </a:r>
            <a:r>
              <a:rPr lang="en-US" dirty="0"/>
              <a:t>recognizing innovations that have made significant and long-lasting contributions to improving patient safety and health care quality. </a:t>
            </a:r>
            <a:r>
              <a:rPr kumimoji="0" lang="en-US" altLang="en-US" sz="2400" b="1" i="0" u="none" strike="noStrike" kern="1200" cap="none" spc="0" normalizeH="0" baseline="0" noProof="0" dirty="0">
                <a:ln>
                  <a:noFill/>
                </a:ln>
                <a:solidFill>
                  <a:srgbClr val="000000"/>
                </a:solidFill>
                <a:effectLst/>
                <a:uLnTx/>
                <a:uFillTx/>
                <a:latin typeface="Arial"/>
                <a:ea typeface="+mn-ea"/>
                <a:cs typeface="Arial"/>
              </a:rPr>
              <a:t>	</a:t>
            </a:r>
          </a:p>
          <a:p>
            <a:pPr marL="180975" marR="0" lvl="0" indent="0" algn="l" defTabSz="914400" rtl="0" eaLnBrk="1" fontAlgn="base" latinLnBrk="0" hangingPunct="1">
              <a:lnSpc>
                <a:spcPct val="100000"/>
              </a:lnSpc>
              <a:spcBef>
                <a:spcPct val="0"/>
              </a:spcBef>
              <a:spcAft>
                <a:spcPts val="0"/>
              </a:spcAft>
              <a:buClrTx/>
              <a:buSzTx/>
              <a:buNone/>
              <a:tabLst/>
              <a:defRPr/>
            </a:pPr>
            <a:endParaRPr lang="en-US" altLang="en-US" sz="2400" b="1" noProof="0" dirty="0">
              <a:solidFill>
                <a:srgbClr val="000000"/>
              </a:solidFill>
              <a:latin typeface="Arial" panose="020B0604020202020204" pitchFamily="34" charset="0"/>
              <a:cs typeface="Arial" panose="020B0604020202020204" pitchFamily="34" charset="0"/>
            </a:endParaRPr>
          </a:p>
          <a:p>
            <a:endParaRPr lang="en-US" sz="1600" dirty="0"/>
          </a:p>
        </p:txBody>
      </p:sp>
      <p:sp>
        <p:nvSpPr>
          <p:cNvPr id="3" name="Title 2">
            <a:extLst>
              <a:ext uri="{FF2B5EF4-FFF2-40B4-BE49-F238E27FC236}">
                <a16:creationId xmlns:a16="http://schemas.microsoft.com/office/drawing/2014/main" id="{B87133CC-3B86-2B3E-FE68-881499ADDC4E}"/>
              </a:ext>
            </a:extLst>
          </p:cNvPr>
          <p:cNvSpPr>
            <a:spLocks noGrp="1"/>
          </p:cNvSpPr>
          <p:nvPr>
            <p:ph type="title"/>
          </p:nvPr>
        </p:nvSpPr>
        <p:spPr>
          <a:xfrm>
            <a:off x="224413" y="-77490"/>
            <a:ext cx="12072690" cy="1094265"/>
          </a:xfrm>
        </p:spPr>
        <p:txBody>
          <a:bodyPr>
            <a:normAutofit/>
          </a:bodyPr>
          <a:lstStyle/>
          <a:p>
            <a:r>
              <a:rPr lang="en-US" sz="3600" dirty="0"/>
              <a:t>Opiate Use Disorders- Overdose Prevention </a:t>
            </a:r>
          </a:p>
        </p:txBody>
      </p:sp>
      <p:sp>
        <p:nvSpPr>
          <p:cNvPr id="4" name="Slide Number Placeholder 3">
            <a:extLst>
              <a:ext uri="{FF2B5EF4-FFF2-40B4-BE49-F238E27FC236}">
                <a16:creationId xmlns:a16="http://schemas.microsoft.com/office/drawing/2014/main" id="{AE3F813B-894A-9C41-548F-04E0054943A4}"/>
              </a:ext>
            </a:extLst>
          </p:cNvPr>
          <p:cNvSpPr>
            <a:spLocks noGrp="1"/>
          </p:cNvSpPr>
          <p:nvPr>
            <p:ph type="sldNum" sz="quarter" idx="4"/>
          </p:nvPr>
        </p:nvSpPr>
        <p:spPr/>
        <p:txBody>
          <a:bodyPr/>
          <a:lstStyle/>
          <a:p>
            <a:fld id="{21672522-718F-5A4A-A967-5C1A35706813}" type="slidenum">
              <a:rPr lang="en-US" smtClean="0"/>
              <a:pPr/>
              <a:t>23</a:t>
            </a:fld>
            <a:endParaRPr lang="en-US"/>
          </a:p>
        </p:txBody>
      </p:sp>
      <p:sp>
        <p:nvSpPr>
          <p:cNvPr id="5" name="TextBox 4">
            <a:extLst>
              <a:ext uri="{FF2B5EF4-FFF2-40B4-BE49-F238E27FC236}">
                <a16:creationId xmlns:a16="http://schemas.microsoft.com/office/drawing/2014/main" id="{8D7C2F16-353C-7778-A23B-25396079DF8C}"/>
              </a:ext>
            </a:extLst>
          </p:cNvPr>
          <p:cNvSpPr txBox="1"/>
          <p:nvPr/>
        </p:nvSpPr>
        <p:spPr>
          <a:xfrm>
            <a:off x="9309189" y="4700337"/>
            <a:ext cx="2626182" cy="1754326"/>
          </a:xfrm>
          <a:prstGeom prst="rect">
            <a:avLst/>
          </a:prstGeom>
          <a:noFill/>
        </p:spPr>
        <p:txBody>
          <a:bodyPr wrap="square">
            <a:spAutoFit/>
          </a:bodyPr>
          <a:lstStyle/>
          <a:p>
            <a:r>
              <a:rPr lang="en-US" sz="1600" i="1" dirty="0">
                <a:solidFill>
                  <a:schemeClr val="tx2"/>
                </a:solidFill>
              </a:rPr>
              <a:t>“</a:t>
            </a:r>
            <a:r>
              <a:rPr lang="en-US" i="1" dirty="0">
                <a:solidFill>
                  <a:schemeClr val="tx2"/>
                </a:solidFill>
              </a:rPr>
              <a:t>Narcan is good to have by and it's saved quite a few lives. It's like you need water for fire, or you know, or a fire extinguisher.”  (Veteran)</a:t>
            </a:r>
            <a:endParaRPr lang="en-US" dirty="0">
              <a:solidFill>
                <a:schemeClr val="tx2"/>
              </a:solidFill>
            </a:endParaRPr>
          </a:p>
        </p:txBody>
      </p:sp>
      <p:sp>
        <p:nvSpPr>
          <p:cNvPr id="7" name="TextBox 6">
            <a:extLst>
              <a:ext uri="{FF2B5EF4-FFF2-40B4-BE49-F238E27FC236}">
                <a16:creationId xmlns:a16="http://schemas.microsoft.com/office/drawing/2014/main" id="{6A21C8ED-F2C7-27AD-F93B-B8CCEC87B6D6}"/>
              </a:ext>
            </a:extLst>
          </p:cNvPr>
          <p:cNvSpPr txBox="1"/>
          <p:nvPr/>
        </p:nvSpPr>
        <p:spPr>
          <a:xfrm>
            <a:off x="405697" y="4847416"/>
            <a:ext cx="9137696" cy="1815882"/>
          </a:xfrm>
          <a:prstGeom prst="rect">
            <a:avLst/>
          </a:prstGeom>
          <a:noFill/>
        </p:spPr>
        <p:txBody>
          <a:bodyPr wrap="square">
            <a:spAutoFit/>
          </a:bodyPr>
          <a:lstStyle/>
          <a:p>
            <a:pPr marL="342900" indent="-342900" fontAlgn="base">
              <a:lnSpc>
                <a:spcPct val="100000"/>
              </a:lnSpc>
              <a:spcBef>
                <a:spcPct val="0"/>
              </a:spcBef>
              <a:spcAft>
                <a:spcPts val="0"/>
              </a:spcAft>
              <a:buFont typeface="Arial" panose="020B0604020202020204" pitchFamily="34" charset="0"/>
              <a:buChar char="•"/>
              <a:defRPr/>
            </a:pPr>
            <a:r>
              <a:rPr kumimoji="0" lang="en-US" altLang="en-US" sz="2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Homeless Overdose Prevention Expansion (HOPE)</a:t>
            </a:r>
          </a:p>
          <a:p>
            <a:pPr marL="742950" lvl="1" indent="-285750" fontAlgn="base">
              <a:lnSpc>
                <a:spcPct val="100000"/>
              </a:lnSpc>
              <a:spcBef>
                <a:spcPct val="0"/>
              </a:spcBef>
              <a:spcAft>
                <a:spcPts val="0"/>
              </a:spcAft>
              <a:buFont typeface="Courier New" panose="02070309020205020404" pitchFamily="49" charset="0"/>
              <a:buChar char="o"/>
              <a:defRPr/>
            </a:pPr>
            <a:r>
              <a:rPr kumimoji="0" lang="en-US" altLang="en-US" sz="2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Opioid overdose education and naloxone distribution to </a:t>
            </a:r>
            <a:r>
              <a:rPr kumimoji="0" lang="en-US" altLang="en-US" sz="2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reduce overdoses and deaths </a:t>
            </a:r>
            <a:r>
              <a:rPr kumimoji="0" lang="en-US" altLang="en-US" sz="2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among </a:t>
            </a:r>
            <a:r>
              <a:rPr kumimoji="0" lang="en-US" altLang="en-US" sz="2200" b="1" i="0"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homeless, unstably housed Veterans </a:t>
            </a:r>
            <a:endParaRPr lang="en-US" altLang="en-US" sz="2200" b="1" dirty="0">
              <a:solidFill>
                <a:srgbClr val="000000"/>
              </a:solidFill>
              <a:latin typeface="Arial" panose="020B0604020202020204" pitchFamily="34" charset="0"/>
              <a:cs typeface="Arial" panose="020B0604020202020204" pitchFamily="34" charset="0"/>
              <a:sym typeface="Wingdings" panose="05000000000000000000" pitchFamily="2" charset="2"/>
            </a:endParaRPr>
          </a:p>
          <a:p>
            <a:pPr marL="742950" lvl="1" indent="-285750" fontAlgn="base">
              <a:lnSpc>
                <a:spcPct val="100000"/>
              </a:lnSpc>
              <a:spcBef>
                <a:spcPct val="0"/>
              </a:spcBef>
              <a:spcAft>
                <a:spcPts val="0"/>
              </a:spcAft>
              <a:buFont typeface="Courier New" panose="02070309020205020404" pitchFamily="49" charset="0"/>
              <a:buChar char="o"/>
              <a:defRPr/>
            </a:pPr>
            <a:r>
              <a:rPr kumimoji="0" lang="en-US" altLang="en-US" sz="2200" i="0"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Wingdings" panose="05000000000000000000" pitchFamily="2" charset="2"/>
              </a:rPr>
              <a:t>To date, has been offered to </a:t>
            </a:r>
            <a:r>
              <a:rPr kumimoji="0" lang="en-US" altLang="en-US" sz="220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Wingdings" panose="05000000000000000000" pitchFamily="2" charset="2"/>
              </a:rPr>
              <a:t> 1,988 Veterans by </a:t>
            </a:r>
            <a:r>
              <a:rPr kumimoji="0" lang="en-US" altLang="en-US" sz="2200" i="0"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Wingdings" panose="05000000000000000000" pitchFamily="2" charset="2"/>
              </a:rPr>
              <a:t>2</a:t>
            </a:r>
            <a:r>
              <a:rPr kumimoji="0" lang="en-US" altLang="en-US" sz="220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Wingdings" panose="05000000000000000000" pitchFamily="2" charset="2"/>
              </a:rPr>
              <a:t>76 providers </a:t>
            </a:r>
            <a:endParaRPr kumimoji="0" lang="en-US" altLang="en-US" sz="2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p:txBody>
      </p:sp>
    </p:spTree>
    <p:extLst>
      <p:ext uri="{BB962C8B-B14F-4D97-AF65-F5344CB8AC3E}">
        <p14:creationId xmlns:p14="http://schemas.microsoft.com/office/powerpoint/2010/main" val="2193267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83A011-EF82-1961-900A-E6EC9A9D68A6}"/>
              </a:ext>
            </a:extLst>
          </p:cNvPr>
          <p:cNvSpPr>
            <a:spLocks noGrp="1"/>
          </p:cNvSpPr>
          <p:nvPr>
            <p:ph idx="1"/>
          </p:nvPr>
        </p:nvSpPr>
        <p:spPr>
          <a:xfrm>
            <a:off x="291661" y="1106037"/>
            <a:ext cx="11702219" cy="5161050"/>
          </a:xfrm>
        </p:spPr>
        <p:txBody>
          <a:bodyPr/>
          <a:lstStyle/>
          <a:p>
            <a:pPr marL="0" indent="0" fontAlgn="base">
              <a:lnSpc>
                <a:spcPct val="100000"/>
              </a:lnSpc>
              <a:spcBef>
                <a:spcPct val="0"/>
              </a:spcBef>
              <a:spcAft>
                <a:spcPts val="1200"/>
              </a:spcAft>
              <a:buNone/>
              <a:defRPr/>
            </a:pPr>
            <a:r>
              <a:rPr kumimoji="0" lang="en-US" altLang="en-US" sz="2400" i="0" u="none" strike="noStrike" kern="1200" cap="none" spc="0" normalizeH="0" baseline="0" noProof="0" dirty="0">
                <a:ln>
                  <a:noFill/>
                </a:ln>
                <a:solidFill>
                  <a:srgbClr val="000000"/>
                </a:solidFill>
                <a:effectLst/>
                <a:uLnTx/>
                <a:uFillTx/>
                <a:latin typeface="Arial"/>
                <a:ea typeface="+mn-ea"/>
                <a:cs typeface="Arial"/>
              </a:rPr>
              <a:t>VA Investigators have implemented evidence-based </a:t>
            </a:r>
            <a:r>
              <a:rPr kumimoji="0" lang="en-US" altLang="en-US" sz="2400" i="0" u="sng" strike="noStrike" kern="1200" cap="none" spc="0" normalizeH="0" baseline="0" noProof="0" dirty="0">
                <a:ln>
                  <a:noFill/>
                </a:ln>
                <a:solidFill>
                  <a:srgbClr val="000000"/>
                </a:solidFill>
                <a:effectLst/>
                <a:uLnTx/>
                <a:uFillTx/>
                <a:latin typeface="Arial"/>
                <a:ea typeface="+mn-ea"/>
                <a:cs typeface="Arial"/>
              </a:rPr>
              <a:t>treatment</a:t>
            </a:r>
            <a:r>
              <a:rPr lang="en-US" altLang="en-US" sz="2400" u="sng" dirty="0">
                <a:solidFill>
                  <a:srgbClr val="000000"/>
                </a:solidFill>
                <a:latin typeface="Arial"/>
                <a:cs typeface="Arial"/>
              </a:rPr>
              <a:t>s</a:t>
            </a:r>
            <a:r>
              <a:rPr lang="en-US" altLang="en-US" sz="2400" dirty="0">
                <a:solidFill>
                  <a:srgbClr val="000000"/>
                </a:solidFill>
                <a:latin typeface="Arial"/>
                <a:cs typeface="Arial"/>
              </a:rPr>
              <a:t> to help Veterans recover from Opiate Use Disorder:  </a:t>
            </a:r>
          </a:p>
          <a:p>
            <a:pPr fontAlgn="base">
              <a:lnSpc>
                <a:spcPct val="100000"/>
              </a:lnSpc>
              <a:spcBef>
                <a:spcPct val="0"/>
              </a:spcBef>
              <a:defRPr/>
            </a:pPr>
            <a:r>
              <a:rPr kumimoji="0" lang="en-US" altLang="en-US" sz="2400" b="1" i="0" strike="noStrike" kern="1200" cap="none" spc="0" normalizeH="0" baseline="0" noProof="0" dirty="0">
                <a:ln>
                  <a:noFill/>
                </a:ln>
                <a:solidFill>
                  <a:srgbClr val="000000"/>
                </a:solidFill>
                <a:effectLst/>
                <a:uLnTx/>
                <a:uFillTx/>
                <a:latin typeface="Arial"/>
                <a:ea typeface="+mn-ea"/>
                <a:cs typeface="Arial"/>
              </a:rPr>
              <a:t>Consortium to Disseminate and Understand Implementation of Opioid Use Disorder Treatment (CONDUIT)</a:t>
            </a:r>
          </a:p>
          <a:p>
            <a:pPr lvl="1" fontAlgn="base">
              <a:lnSpc>
                <a:spcPct val="100000"/>
              </a:lnSpc>
              <a:spcBef>
                <a:spcPct val="0"/>
              </a:spcBef>
              <a:spcAft>
                <a:spcPts val="0"/>
              </a:spcAft>
              <a:defRPr/>
            </a:pPr>
            <a:r>
              <a:rPr kumimoji="0" lang="en-US" altLang="en-US" b="1" i="0" u="none" strike="noStrike" kern="1200" cap="none" spc="0" normalizeH="0" baseline="0" noProof="0" dirty="0">
                <a:ln>
                  <a:noFill/>
                </a:ln>
                <a:solidFill>
                  <a:srgbClr val="000000"/>
                </a:solidFill>
                <a:effectLst/>
                <a:uLnTx/>
                <a:uFillTx/>
                <a:latin typeface="Arial"/>
                <a:ea typeface="+mn-ea"/>
                <a:cs typeface="Arial"/>
              </a:rPr>
              <a:t>6</a:t>
            </a:r>
            <a:r>
              <a:rPr kumimoji="0" lang="en-US" altLang="en-US" b="0" i="0" u="none" strike="noStrike" kern="1200" cap="none" spc="0" normalizeH="0" baseline="0" noProof="0" dirty="0">
                <a:ln>
                  <a:noFill/>
                </a:ln>
                <a:solidFill>
                  <a:srgbClr val="000000"/>
                </a:solidFill>
                <a:effectLst/>
                <a:uLnTx/>
                <a:uFillTx/>
                <a:latin typeface="Arial"/>
                <a:ea typeface="+mn-ea"/>
                <a:cs typeface="Arial"/>
              </a:rPr>
              <a:t> new and effective </a:t>
            </a:r>
            <a:r>
              <a:rPr lang="en-US" altLang="en-US" dirty="0">
                <a:solidFill>
                  <a:srgbClr val="000000"/>
                </a:solidFill>
                <a:latin typeface="Arial"/>
                <a:cs typeface="Arial"/>
              </a:rPr>
              <a:t>opiate use disorder treatment </a:t>
            </a:r>
            <a:r>
              <a:rPr kumimoji="0" lang="en-US" altLang="en-US" b="0" i="0" u="none" strike="noStrike" kern="1200" cap="none" spc="0" normalizeH="0" baseline="0" noProof="0" dirty="0">
                <a:ln>
                  <a:noFill/>
                </a:ln>
                <a:solidFill>
                  <a:srgbClr val="000000"/>
                </a:solidFill>
                <a:effectLst/>
                <a:uLnTx/>
                <a:uFillTx/>
                <a:latin typeface="Arial"/>
                <a:ea typeface="+mn-ea"/>
                <a:cs typeface="Arial"/>
              </a:rPr>
              <a:t>practices implemented</a:t>
            </a:r>
            <a:r>
              <a:rPr kumimoji="0" lang="en-US" altLang="en-US" b="1" i="0" u="none" strike="noStrike" kern="1200" cap="none" spc="0" normalizeH="0" baseline="0" noProof="0" dirty="0">
                <a:ln>
                  <a:noFill/>
                </a:ln>
                <a:solidFill>
                  <a:srgbClr val="000000"/>
                </a:solidFill>
                <a:effectLst/>
                <a:uLnTx/>
                <a:uFillTx/>
                <a:latin typeface="Arial"/>
                <a:ea typeface="+mn-ea"/>
                <a:cs typeface="Arial"/>
              </a:rPr>
              <a:t> </a:t>
            </a:r>
            <a:r>
              <a:rPr kumimoji="0" lang="en-US" altLang="en-US" b="0" i="0" u="none" strike="noStrike" kern="1200" cap="none" spc="0" normalizeH="0" baseline="0" noProof="0" dirty="0">
                <a:ln>
                  <a:noFill/>
                </a:ln>
                <a:solidFill>
                  <a:srgbClr val="000000"/>
                </a:solidFill>
                <a:effectLst/>
                <a:uLnTx/>
                <a:uFillTx/>
                <a:latin typeface="Arial"/>
                <a:ea typeface="+mn-ea"/>
                <a:cs typeface="Arial"/>
              </a:rPr>
              <a:t>in VA primary care, specialty care, hospitals, EDs, </a:t>
            </a:r>
            <a:endParaRPr lang="en-US" altLang="en-US" dirty="0">
              <a:solidFill>
                <a:srgbClr val="000000"/>
              </a:solidFill>
              <a:latin typeface="Arial"/>
              <a:cs typeface="Arial"/>
            </a:endParaRPr>
          </a:p>
          <a:p>
            <a:pPr lvl="1" fontAlgn="base">
              <a:lnSpc>
                <a:spcPct val="100000"/>
              </a:lnSpc>
              <a:spcBef>
                <a:spcPct val="0"/>
              </a:spcBef>
              <a:spcAft>
                <a:spcPts val="0"/>
              </a:spcAft>
              <a:defRPr/>
            </a:pPr>
            <a:r>
              <a:rPr kumimoji="0" lang="en-US" altLang="en-US" b="1" i="0" strike="noStrike" kern="1200" cap="none" spc="0" normalizeH="0" baseline="0" noProof="0" dirty="0">
                <a:ln>
                  <a:noFill/>
                </a:ln>
                <a:solidFill>
                  <a:srgbClr val="000000"/>
                </a:solidFill>
                <a:effectLst/>
                <a:uLnTx/>
                <a:uFillTx/>
                <a:latin typeface="Arial"/>
                <a:ea typeface="+mn-ea"/>
                <a:cs typeface="Arial"/>
              </a:rPr>
              <a:t>62 VA sites across 11 Veterans Integrated Service Networks (VISNs),</a:t>
            </a:r>
            <a:r>
              <a:rPr kumimoji="0" lang="en-US" altLang="en-US" b="0" i="0" strike="noStrike" kern="1200" cap="none" spc="0" normalizeH="0" baseline="0" noProof="0" dirty="0">
                <a:ln>
                  <a:noFill/>
                </a:ln>
                <a:solidFill>
                  <a:srgbClr val="000000"/>
                </a:solidFill>
                <a:effectLst/>
                <a:uLnTx/>
                <a:uFillTx/>
                <a:latin typeface="Arial"/>
                <a:ea typeface="+mn-ea"/>
                <a:cs typeface="Arial"/>
              </a:rPr>
              <a:t> </a:t>
            </a:r>
            <a:r>
              <a:rPr kumimoji="0" lang="en-US" altLang="en-US" b="0" i="0" u="none" strike="noStrike" kern="1200" cap="none" spc="0" normalizeH="0" baseline="0" noProof="0" dirty="0">
                <a:ln>
                  <a:noFill/>
                </a:ln>
                <a:solidFill>
                  <a:srgbClr val="000000"/>
                </a:solidFill>
                <a:effectLst/>
                <a:uLnTx/>
                <a:uFillTx/>
                <a:latin typeface="Arial"/>
                <a:ea typeface="+mn-ea"/>
                <a:cs typeface="Arial"/>
              </a:rPr>
              <a:t>supporting &gt;</a:t>
            </a:r>
            <a:r>
              <a:rPr kumimoji="0" lang="en-US" altLang="en-US" b="1" i="0" strike="noStrike" kern="1200" cap="none" spc="0" normalizeH="0" baseline="0" noProof="0" dirty="0">
                <a:ln>
                  <a:noFill/>
                </a:ln>
                <a:solidFill>
                  <a:srgbClr val="000000"/>
                </a:solidFill>
                <a:effectLst/>
                <a:uLnTx/>
                <a:uFillTx/>
                <a:latin typeface="Arial"/>
                <a:ea typeface="+mn-ea"/>
                <a:cs typeface="Arial"/>
              </a:rPr>
              <a:t>1,900 providers</a:t>
            </a:r>
          </a:p>
          <a:p>
            <a:pPr lvl="1" fontAlgn="base">
              <a:lnSpc>
                <a:spcPct val="100000"/>
              </a:lnSpc>
              <a:spcBef>
                <a:spcPct val="0"/>
              </a:spcBef>
              <a:spcAft>
                <a:spcPts val="0"/>
              </a:spcAft>
              <a:defRPr/>
            </a:pPr>
            <a:endParaRPr kumimoji="0" lang="en-US" altLang="en-US" sz="1100" b="1" i="0" strike="noStrike" kern="1200" cap="none" spc="0" normalizeH="0" baseline="0" noProof="0" dirty="0">
              <a:ln>
                <a:noFill/>
              </a:ln>
              <a:solidFill>
                <a:srgbClr val="000000"/>
              </a:solidFill>
              <a:effectLst/>
              <a:uLnTx/>
              <a:uFillTx/>
              <a:latin typeface="Arial"/>
              <a:ea typeface="+mn-ea"/>
              <a:cs typeface="Arial"/>
            </a:endParaRPr>
          </a:p>
          <a:p>
            <a:pPr fontAlgn="base">
              <a:lnSpc>
                <a:spcPct val="100000"/>
              </a:lnSpc>
              <a:spcBef>
                <a:spcPct val="0"/>
              </a:spcBef>
              <a:spcAft>
                <a:spcPts val="0"/>
              </a:spcAft>
              <a:defRPr/>
            </a:pPr>
            <a:r>
              <a:rPr kumimoji="0" lang="en-US" altLang="en-US" sz="2400" b="1" i="0" u="none" strike="noStrike" kern="1200" cap="none" spc="0" normalizeH="0" baseline="0" noProof="0" dirty="0">
                <a:ln>
                  <a:noFill/>
                </a:ln>
                <a:solidFill>
                  <a:srgbClr val="000000"/>
                </a:solidFill>
                <a:effectLst/>
                <a:uLnTx/>
                <a:uFillTx/>
                <a:latin typeface="Arial"/>
                <a:ea typeface="+mn-ea"/>
                <a:cs typeface="Arial"/>
              </a:rPr>
              <a:t>Stepped Care for Opioid Use Disorder Treatment (SCOUTT)</a:t>
            </a:r>
          </a:p>
          <a:p>
            <a:pPr lvl="1" fontAlgn="base">
              <a:lnSpc>
                <a:spcPct val="100000"/>
              </a:lnSpc>
              <a:spcBef>
                <a:spcPct val="0"/>
              </a:spcBef>
              <a:spcAft>
                <a:spcPts val="0"/>
              </a:spcAft>
              <a:defRPr/>
            </a:pPr>
            <a:r>
              <a:rPr lang="en-US" altLang="en-US" dirty="0">
                <a:solidFill>
                  <a:srgbClr val="000000"/>
                </a:solidFill>
                <a:latin typeface="Arial"/>
                <a:cs typeface="Arial"/>
              </a:rPr>
              <a:t>Phase 1: T</a:t>
            </a:r>
            <a:r>
              <a:rPr kumimoji="0" lang="en-US" altLang="en-US" i="0" u="none" strike="noStrike" kern="1200" cap="none" spc="0" normalizeH="0" baseline="0" noProof="0" dirty="0">
                <a:ln>
                  <a:noFill/>
                </a:ln>
                <a:solidFill>
                  <a:srgbClr val="000000"/>
                </a:solidFill>
                <a:effectLst/>
                <a:uLnTx/>
                <a:uFillTx/>
                <a:latin typeface="Arial"/>
                <a:ea typeface="+mn-ea"/>
                <a:cs typeface="Arial"/>
              </a:rPr>
              <a:t>rained 200+ providers across 8 facilities, resulting in over 300 Veterans receiving medications for OUD treatment</a:t>
            </a:r>
            <a:endParaRPr kumimoji="0" lang="en-US" altLang="en-US" sz="2600" b="1" i="0" strike="noStrike" kern="1200" cap="none" spc="0" normalizeH="0" baseline="0" noProof="0" dirty="0">
              <a:ln>
                <a:noFill/>
              </a:ln>
              <a:solidFill>
                <a:srgbClr val="000000"/>
              </a:solidFill>
              <a:effectLst/>
              <a:uLnTx/>
              <a:uFillTx/>
              <a:latin typeface="Arial"/>
              <a:ea typeface="+mn-ea"/>
              <a:cs typeface="Arial"/>
            </a:endParaRPr>
          </a:p>
          <a:p>
            <a:pPr lvl="1" fontAlgn="base">
              <a:lnSpc>
                <a:spcPct val="100000"/>
              </a:lnSpc>
              <a:spcBef>
                <a:spcPct val="0"/>
              </a:spcBef>
              <a:spcAft>
                <a:spcPts val="0"/>
              </a:spcAft>
              <a:defRPr/>
            </a:pPr>
            <a:r>
              <a:rPr lang="en-US" altLang="en-US" sz="2200" b="1" noProof="0" dirty="0">
                <a:solidFill>
                  <a:srgbClr val="000000"/>
                </a:solidFill>
                <a:latin typeface="Arial"/>
                <a:cs typeface="Arial"/>
              </a:rPr>
              <a:t>Phase 2: </a:t>
            </a:r>
            <a:r>
              <a:rPr lang="en-US" altLang="en-US" sz="2200" dirty="0">
                <a:solidFill>
                  <a:srgbClr val="000000"/>
                </a:solidFill>
                <a:latin typeface="Arial"/>
                <a:cs typeface="Arial"/>
                <a:sym typeface="Wingdings" panose="05000000000000000000" pitchFamily="2" charset="2"/>
              </a:rPr>
              <a:t>Facilitated implementation </a:t>
            </a:r>
            <a:r>
              <a:rPr kumimoji="0" lang="en-US" altLang="en-US" sz="2200" i="0" u="none" strike="noStrike" kern="1200" cap="none" spc="0" normalizeH="0" baseline="0" noProof="0" dirty="0">
                <a:ln>
                  <a:noFill/>
                </a:ln>
                <a:solidFill>
                  <a:srgbClr val="000000"/>
                </a:solidFill>
                <a:effectLst/>
                <a:uLnTx/>
                <a:uFillTx/>
                <a:latin typeface="Arial"/>
                <a:ea typeface="+mn-ea"/>
                <a:cs typeface="Arial"/>
              </a:rPr>
              <a:t>in primary care, mental health, and pain clinics) across over </a:t>
            </a:r>
            <a:r>
              <a:rPr kumimoji="0" lang="en-US" altLang="en-US" sz="2200" b="1" i="0" u="none" strike="noStrike" kern="1200" cap="none" spc="0" normalizeH="0" baseline="0" noProof="0" dirty="0">
                <a:ln>
                  <a:noFill/>
                </a:ln>
                <a:solidFill>
                  <a:srgbClr val="000000"/>
                </a:solidFill>
                <a:effectLst/>
                <a:uLnTx/>
                <a:uFillTx/>
                <a:latin typeface="Arial"/>
                <a:ea typeface="+mn-ea"/>
                <a:cs typeface="Arial"/>
              </a:rPr>
              <a:t>40 VA facilities </a:t>
            </a:r>
            <a:r>
              <a:rPr kumimoji="0" lang="en-US" altLang="en-US" sz="2200" i="0" u="none" strike="noStrike" kern="1200" cap="none" spc="0" normalizeH="0" baseline="0" noProof="0" dirty="0">
                <a:ln>
                  <a:noFill/>
                </a:ln>
                <a:solidFill>
                  <a:srgbClr val="000000"/>
                </a:solidFill>
                <a:effectLst/>
                <a:uLnTx/>
                <a:uFillTx/>
                <a:latin typeface="Arial"/>
                <a:ea typeface="+mn-ea"/>
                <a:cs typeface="Arial"/>
              </a:rPr>
              <a:t>nationally </a:t>
            </a:r>
          </a:p>
          <a:p>
            <a:pPr lvl="2"/>
            <a:r>
              <a:rPr kumimoji="0" lang="en-US" altLang="en-US" sz="2200" b="1" i="0" strike="noStrike" kern="1200" cap="none" spc="0" normalizeH="0" baseline="0" noProof="0" dirty="0">
                <a:ln>
                  <a:noFill/>
                </a:ln>
                <a:solidFill>
                  <a:srgbClr val="000000"/>
                </a:solidFill>
                <a:effectLst/>
                <a:uLnTx/>
                <a:uFillTx/>
                <a:latin typeface="Arial"/>
                <a:ea typeface="+mn-ea"/>
                <a:cs typeface="Arial"/>
              </a:rPr>
              <a:t>267% increase</a:t>
            </a:r>
            <a:r>
              <a:rPr kumimoji="0" lang="en-US" altLang="en-US" sz="2200" i="0" u="none" strike="noStrike" kern="1200" cap="none" spc="0" normalizeH="0" baseline="0" noProof="0" dirty="0">
                <a:ln>
                  <a:noFill/>
                </a:ln>
                <a:solidFill>
                  <a:srgbClr val="000000"/>
                </a:solidFill>
                <a:effectLst/>
                <a:uLnTx/>
                <a:uFillTx/>
                <a:latin typeface="Arial"/>
                <a:ea typeface="+mn-ea"/>
                <a:cs typeface="Arial"/>
              </a:rPr>
              <a:t> in number of Veterans receiving OUD </a:t>
            </a:r>
            <a:r>
              <a:rPr lang="en-US" altLang="en-US" sz="2200" dirty="0">
                <a:solidFill>
                  <a:srgbClr val="000000"/>
                </a:solidFill>
                <a:latin typeface="Arial"/>
                <a:cs typeface="Arial"/>
              </a:rPr>
              <a:t>treatment</a:t>
            </a:r>
            <a:endParaRPr lang="en-US" altLang="en-US" sz="2200" b="1" noProof="0" dirty="0">
              <a:solidFill>
                <a:srgbClr val="000000"/>
              </a:solidFill>
              <a:latin typeface="Arial" panose="020B0604020202020204" pitchFamily="34" charset="0"/>
              <a:cs typeface="Arial" panose="020B0604020202020204" pitchFamily="34" charset="0"/>
            </a:endParaRPr>
          </a:p>
          <a:p>
            <a:pPr lvl="1" fontAlgn="base">
              <a:lnSpc>
                <a:spcPct val="100000"/>
              </a:lnSpc>
              <a:spcBef>
                <a:spcPct val="0"/>
              </a:spcBef>
              <a:spcAft>
                <a:spcPts val="0"/>
              </a:spcAft>
              <a:defRPr/>
            </a:pPr>
            <a:endParaRPr lang="en-US" altLang="en-US" sz="800" b="1" noProof="0" dirty="0">
              <a:solidFill>
                <a:srgbClr val="000000"/>
              </a:solidFill>
              <a:latin typeface="Arial"/>
              <a:cs typeface="Arial"/>
            </a:endParaRPr>
          </a:p>
          <a:p>
            <a:pPr lvl="1" fontAlgn="base">
              <a:lnSpc>
                <a:spcPct val="100000"/>
              </a:lnSpc>
              <a:spcBef>
                <a:spcPct val="0"/>
              </a:spcBef>
              <a:spcAft>
                <a:spcPts val="0"/>
              </a:spcAft>
              <a:defRPr/>
            </a:pPr>
            <a:endParaRPr lang="en-US" altLang="en-US" sz="1200" dirty="0">
              <a:solidFill>
                <a:srgbClr val="000000"/>
              </a:solidFill>
              <a:latin typeface="Arial" panose="020B0604020202020204" pitchFamily="34" charset="0"/>
              <a:cs typeface="Arial" panose="020B0604020202020204" pitchFamily="34" charset="0"/>
              <a:sym typeface="Wingdings" panose="05000000000000000000" pitchFamily="2" charset="2"/>
            </a:endParaRPr>
          </a:p>
          <a:p>
            <a:pPr lvl="1" fontAlgn="base">
              <a:lnSpc>
                <a:spcPct val="100000"/>
              </a:lnSpc>
              <a:spcBef>
                <a:spcPct val="0"/>
              </a:spcBef>
              <a:spcAft>
                <a:spcPts val="0"/>
              </a:spcAft>
              <a:defRPr/>
            </a:pPr>
            <a:endParaRPr kumimoji="0" lang="en-US" altLang="en-US" sz="12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Wingdings" panose="05000000000000000000" pitchFamily="2" charset="2"/>
            </a:endParaRPr>
          </a:p>
          <a:p>
            <a:endParaRPr lang="en-US" sz="1600" dirty="0"/>
          </a:p>
        </p:txBody>
      </p:sp>
      <p:sp>
        <p:nvSpPr>
          <p:cNvPr id="3" name="Title 2">
            <a:extLst>
              <a:ext uri="{FF2B5EF4-FFF2-40B4-BE49-F238E27FC236}">
                <a16:creationId xmlns:a16="http://schemas.microsoft.com/office/drawing/2014/main" id="{B87133CC-3B86-2B3E-FE68-881499ADDC4E}"/>
              </a:ext>
            </a:extLst>
          </p:cNvPr>
          <p:cNvSpPr>
            <a:spLocks noGrp="1"/>
          </p:cNvSpPr>
          <p:nvPr>
            <p:ph type="title"/>
          </p:nvPr>
        </p:nvSpPr>
        <p:spPr>
          <a:xfrm>
            <a:off x="224413" y="-77490"/>
            <a:ext cx="12072690" cy="1094265"/>
          </a:xfrm>
        </p:spPr>
        <p:txBody>
          <a:bodyPr>
            <a:normAutofit/>
          </a:bodyPr>
          <a:lstStyle/>
          <a:p>
            <a:r>
              <a:rPr lang="en-US" sz="3600" dirty="0"/>
              <a:t>Opiate Use Disorders- Treatment </a:t>
            </a:r>
          </a:p>
        </p:txBody>
      </p:sp>
      <p:sp>
        <p:nvSpPr>
          <p:cNvPr id="4" name="Slide Number Placeholder 3">
            <a:extLst>
              <a:ext uri="{FF2B5EF4-FFF2-40B4-BE49-F238E27FC236}">
                <a16:creationId xmlns:a16="http://schemas.microsoft.com/office/drawing/2014/main" id="{AE3F813B-894A-9C41-548F-04E0054943A4}"/>
              </a:ext>
            </a:extLst>
          </p:cNvPr>
          <p:cNvSpPr>
            <a:spLocks noGrp="1"/>
          </p:cNvSpPr>
          <p:nvPr>
            <p:ph type="sldNum" sz="quarter" idx="4"/>
          </p:nvPr>
        </p:nvSpPr>
        <p:spPr/>
        <p:txBody>
          <a:bodyPr/>
          <a:lstStyle/>
          <a:p>
            <a:fld id="{21672522-718F-5A4A-A967-5C1A35706813}" type="slidenum">
              <a:rPr lang="en-US" smtClean="0"/>
              <a:pPr/>
              <a:t>24</a:t>
            </a:fld>
            <a:endParaRPr lang="en-US"/>
          </a:p>
        </p:txBody>
      </p:sp>
    </p:spTree>
    <p:extLst>
      <p:ext uri="{BB962C8B-B14F-4D97-AF65-F5344CB8AC3E}">
        <p14:creationId xmlns:p14="http://schemas.microsoft.com/office/powerpoint/2010/main" val="24494334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38AAF2-E336-912F-B489-87A0BD6ABEA7}"/>
              </a:ext>
            </a:extLst>
          </p:cNvPr>
          <p:cNvSpPr>
            <a:spLocks noGrp="1"/>
          </p:cNvSpPr>
          <p:nvPr>
            <p:ph idx="1"/>
          </p:nvPr>
        </p:nvSpPr>
        <p:spPr>
          <a:xfrm>
            <a:off x="334229" y="1106037"/>
            <a:ext cx="10649082" cy="5161050"/>
          </a:xfrm>
        </p:spPr>
        <p:txBody>
          <a:bodyPr/>
          <a:lstStyle/>
          <a:p>
            <a:r>
              <a:rPr lang="en-US" sz="2200" dirty="0"/>
              <a:t>In 2016, VA began distributing video-enabled tablets to Veterans with access barriers to facilitate Veterans' participation in home-based telehealth </a:t>
            </a:r>
          </a:p>
          <a:p>
            <a:r>
              <a:rPr lang="en-US" sz="2200" dirty="0"/>
              <a:t>Veterans were eligible to receive a tablet if they had an access barrier such as living 30 or more miles away from VA or another transportation challenge.</a:t>
            </a:r>
          </a:p>
          <a:p>
            <a:r>
              <a:rPr lang="en-US" sz="2200" dirty="0"/>
              <a:t>VA Investigators found:  (Gujral et al 2023)</a:t>
            </a:r>
          </a:p>
          <a:p>
            <a:pPr lvl="1"/>
            <a:r>
              <a:rPr lang="en-US" sz="2000" dirty="0"/>
              <a:t>21,684 Veterans with mental health &amp; substance use disorders received tablets </a:t>
            </a:r>
          </a:p>
          <a:p>
            <a:pPr lvl="1"/>
            <a:r>
              <a:rPr lang="en-US" sz="2000" b="1" dirty="0"/>
              <a:t>Distribution of video-enabled devices facilitates critical continuity of treatment for substance use disorder care </a:t>
            </a:r>
          </a:p>
          <a:p>
            <a:pPr lvl="2"/>
            <a:r>
              <a:rPr lang="en-US" sz="2000" dirty="0"/>
              <a:t>higher Veteran engagement with video psychotherapy (18% increase), group therapy (10% increase) and outpatient visits for substance use disorder care (4% increase)</a:t>
            </a:r>
          </a:p>
          <a:p>
            <a:pPr lvl="1"/>
            <a:r>
              <a:rPr lang="en-US" sz="2000" dirty="0"/>
              <a:t>Evaluation </a:t>
            </a:r>
            <a:r>
              <a:rPr lang="en-US" sz="2000" b="1" dirty="0"/>
              <a:t>informed VA’s decision to sustain the tablet distribution program </a:t>
            </a:r>
          </a:p>
        </p:txBody>
      </p:sp>
      <p:sp>
        <p:nvSpPr>
          <p:cNvPr id="3" name="Title 2">
            <a:extLst>
              <a:ext uri="{FF2B5EF4-FFF2-40B4-BE49-F238E27FC236}">
                <a16:creationId xmlns:a16="http://schemas.microsoft.com/office/drawing/2014/main" id="{C7FF479B-3FA2-AF18-59DE-DF10ECA3CE9E}"/>
              </a:ext>
            </a:extLst>
          </p:cNvPr>
          <p:cNvSpPr>
            <a:spLocks noGrp="1"/>
          </p:cNvSpPr>
          <p:nvPr>
            <p:ph type="title"/>
          </p:nvPr>
        </p:nvSpPr>
        <p:spPr>
          <a:xfrm>
            <a:off x="224412" y="-77490"/>
            <a:ext cx="11769467" cy="1094265"/>
          </a:xfrm>
        </p:spPr>
        <p:txBody>
          <a:bodyPr>
            <a:normAutofit fontScale="90000"/>
          </a:bodyPr>
          <a:lstStyle/>
          <a:p>
            <a:r>
              <a:rPr lang="en-US" dirty="0"/>
              <a:t>Substance Use Disorders - Digital Treatment Access</a:t>
            </a:r>
          </a:p>
        </p:txBody>
      </p:sp>
      <p:sp>
        <p:nvSpPr>
          <p:cNvPr id="4" name="Slide Number Placeholder 3">
            <a:extLst>
              <a:ext uri="{FF2B5EF4-FFF2-40B4-BE49-F238E27FC236}">
                <a16:creationId xmlns:a16="http://schemas.microsoft.com/office/drawing/2014/main" id="{68F90291-E720-CB86-EEDD-D492B4BFF0F0}"/>
              </a:ext>
            </a:extLst>
          </p:cNvPr>
          <p:cNvSpPr>
            <a:spLocks noGrp="1"/>
          </p:cNvSpPr>
          <p:nvPr>
            <p:ph type="sldNum" sz="quarter" idx="4"/>
          </p:nvPr>
        </p:nvSpPr>
        <p:spPr/>
        <p:txBody>
          <a:bodyPr/>
          <a:lstStyle/>
          <a:p>
            <a:fld id="{21672522-718F-5A4A-A967-5C1A35706813}" type="slidenum">
              <a:rPr lang="en-US" smtClean="0"/>
              <a:pPr/>
              <a:t>25</a:t>
            </a:fld>
            <a:endParaRPr lang="en-US"/>
          </a:p>
        </p:txBody>
      </p:sp>
      <p:sp>
        <p:nvSpPr>
          <p:cNvPr id="6" name="TextBox 5">
            <a:extLst>
              <a:ext uri="{FF2B5EF4-FFF2-40B4-BE49-F238E27FC236}">
                <a16:creationId xmlns:a16="http://schemas.microsoft.com/office/drawing/2014/main" id="{A65B986C-C168-2EBE-72BF-966926BBD62A}"/>
              </a:ext>
            </a:extLst>
          </p:cNvPr>
          <p:cNvSpPr txBox="1"/>
          <p:nvPr/>
        </p:nvSpPr>
        <p:spPr>
          <a:xfrm>
            <a:off x="-132430" y="5988553"/>
            <a:ext cx="11582399" cy="646331"/>
          </a:xfrm>
          <a:prstGeom prst="rect">
            <a:avLst/>
          </a:prstGeom>
          <a:noFill/>
        </p:spPr>
        <p:txBody>
          <a:bodyPr wrap="square">
            <a:spAutoFit/>
          </a:bodyPr>
          <a:lstStyle/>
          <a:p>
            <a:pPr marR="0" lvl="1" algn="ctr">
              <a:spcBef>
                <a:spcPts val="0"/>
              </a:spcBef>
              <a:spcAft>
                <a:spcPts val="0"/>
              </a:spcAft>
            </a:pPr>
            <a:r>
              <a:rPr lang="en-US" sz="1800" i="1" dirty="0">
                <a:solidFill>
                  <a:schemeClr val="accent1"/>
                </a:solidFill>
                <a:effectLst/>
                <a:latin typeface="+mj-lt"/>
                <a:ea typeface="Times New Roman" panose="02020603050405020304" pitchFamily="18" charset="0"/>
              </a:rPr>
              <a:t>“I get to see the provider just as if I came to VA in person so to me that is about the same or just as good.” </a:t>
            </a:r>
          </a:p>
          <a:p>
            <a:pPr marR="0" lvl="1" algn="ctr">
              <a:spcBef>
                <a:spcPts val="0"/>
              </a:spcBef>
              <a:spcAft>
                <a:spcPts val="0"/>
              </a:spcAft>
            </a:pPr>
            <a:r>
              <a:rPr lang="en-US" sz="1800" i="1" dirty="0">
                <a:solidFill>
                  <a:schemeClr val="accent1"/>
                </a:solidFill>
                <a:latin typeface="+mj-lt"/>
                <a:ea typeface="Times New Roman" panose="02020603050405020304" pitchFamily="18" charset="0"/>
              </a:rPr>
              <a:t>-</a:t>
            </a:r>
            <a:r>
              <a:rPr lang="en-US" sz="1800" i="1" dirty="0">
                <a:solidFill>
                  <a:schemeClr val="accent1"/>
                </a:solidFill>
                <a:effectLst/>
                <a:latin typeface="+mj-lt"/>
                <a:ea typeface="Times New Roman" panose="02020603050405020304" pitchFamily="18" charset="0"/>
              </a:rPr>
              <a:t>Veteran tablet recipient</a:t>
            </a:r>
          </a:p>
        </p:txBody>
      </p:sp>
    </p:spTree>
    <p:extLst>
      <p:ext uri="{BB962C8B-B14F-4D97-AF65-F5344CB8AC3E}">
        <p14:creationId xmlns:p14="http://schemas.microsoft.com/office/powerpoint/2010/main" val="23288349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5B452110-6168-065A-88D6-E82E118F96CD}"/>
              </a:ext>
            </a:extLst>
          </p:cNvPr>
          <p:cNvSpPr>
            <a:spLocks noGrp="1"/>
          </p:cNvSpPr>
          <p:nvPr>
            <p:ph idx="10"/>
          </p:nvPr>
        </p:nvSpPr>
        <p:spPr>
          <a:xfrm>
            <a:off x="330624" y="1134689"/>
            <a:ext cx="11188714" cy="5161050"/>
          </a:xfrm>
        </p:spPr>
        <p:txBody>
          <a:bodyPr/>
          <a:lstStyle/>
          <a:p>
            <a:r>
              <a:rPr lang="en-US" sz="2000" dirty="0"/>
              <a:t>VA investigators have documented that co-occurring </a:t>
            </a:r>
            <a:r>
              <a:rPr lang="en-US" sz="2000" b="1" dirty="0"/>
              <a:t>c</a:t>
            </a:r>
            <a:r>
              <a:rPr lang="en-US" sz="2000" dirty="0"/>
              <a:t>hronic pain and mental health conditions is common among Veterans (</a:t>
            </a:r>
            <a:r>
              <a:rPr lang="en-US" sz="2000" dirty="0" err="1"/>
              <a:t>Gaspari</a:t>
            </a:r>
            <a:r>
              <a:rPr lang="en-US" sz="2000" dirty="0"/>
              <a:t> et al 2021; Qureshi et al 2023) </a:t>
            </a:r>
            <a:endParaRPr lang="en-US" sz="2000" dirty="0">
              <a:sym typeface="Wingdings" panose="05000000000000000000" pitchFamily="2" charset="2"/>
            </a:endParaRPr>
          </a:p>
          <a:p>
            <a:pPr lvl="1"/>
            <a:r>
              <a:rPr lang="en-US" sz="1800" dirty="0"/>
              <a:t>moderate to severe pain associated with greater likelihood of </a:t>
            </a:r>
            <a:r>
              <a:rPr lang="en-US" sz="1800" b="1" dirty="0"/>
              <a:t>suicide attempt. </a:t>
            </a:r>
            <a:r>
              <a:rPr lang="en-US" sz="1800" dirty="0"/>
              <a:t>(Ashrafioun et al, 2019)</a:t>
            </a:r>
          </a:p>
          <a:p>
            <a:r>
              <a:rPr lang="en-US" sz="2000" dirty="0"/>
              <a:t>VA investigators evaluated delivery of pain management care by telehealth (Eccleston et al 2014; Connolly et al 2018, Mariano et al 2019)</a:t>
            </a:r>
          </a:p>
          <a:p>
            <a:pPr lvl="1"/>
            <a:r>
              <a:rPr lang="en-US" sz="2000" dirty="0"/>
              <a:t>Found to be effective </a:t>
            </a:r>
          </a:p>
          <a:p>
            <a:pPr lvl="1"/>
            <a:r>
              <a:rPr lang="en-US" sz="2000" dirty="0"/>
              <a:t>Allows delivery of interdisciplinary team management (a best practice</a:t>
            </a:r>
            <a:r>
              <a:rPr lang="en-US" sz="2000" b="1" dirty="0"/>
              <a:t>) to rural Veterans</a:t>
            </a:r>
          </a:p>
          <a:p>
            <a:pPr lvl="1"/>
            <a:r>
              <a:rPr lang="en-US" sz="2000" b="1" dirty="0"/>
              <a:t>From </a:t>
            </a:r>
            <a:r>
              <a:rPr lang="en-US" sz="2000" dirty="0"/>
              <a:t>FY22-FY24 </a:t>
            </a:r>
            <a:r>
              <a:rPr lang="en-US" sz="2000" b="1" dirty="0"/>
              <a:t>12,628+ Veterans were served across 84,007 Encounters</a:t>
            </a:r>
          </a:p>
          <a:p>
            <a:pPr lvl="1">
              <a:spcAft>
                <a:spcPts val="1800"/>
              </a:spcAft>
            </a:pPr>
            <a:r>
              <a:rPr lang="en-US" sz="2000" dirty="0">
                <a:sym typeface="Wingdings" panose="05000000000000000000" pitchFamily="2" charset="2"/>
              </a:rPr>
              <a:t>E</a:t>
            </a:r>
            <a:r>
              <a:rPr lang="en-US" sz="2000" dirty="0"/>
              <a:t>valuation informed </a:t>
            </a:r>
            <a:r>
              <a:rPr lang="en-US" sz="2000" b="1" dirty="0"/>
              <a:t>efficient resource allocation</a:t>
            </a:r>
            <a:r>
              <a:rPr lang="en-US" sz="2000" dirty="0"/>
              <a:t>, continuous improvement</a:t>
            </a:r>
          </a:p>
          <a:p>
            <a:pPr marL="0" indent="0" algn="ctr">
              <a:buNone/>
            </a:pPr>
            <a:r>
              <a:rPr lang="en-US" sz="1900" i="1" dirty="0">
                <a:solidFill>
                  <a:schemeClr val="accent1"/>
                </a:solidFill>
              </a:rPr>
              <a:t>“</a:t>
            </a:r>
            <a:r>
              <a:rPr lang="en-US" sz="1800" i="1" dirty="0">
                <a:solidFill>
                  <a:schemeClr val="accent1"/>
                </a:solidFill>
              </a:rPr>
              <a:t>The quality is excellent…I have never felt rushed or pushed out the door…I have had at least 45 minutes to one full hour, whether it be on the phone or in person with them. And I never get that with my private doctors. So the virtual, or the video visits are wonderful.” -Veteran receiving Tele-Pain Care</a:t>
            </a:r>
          </a:p>
          <a:p>
            <a:pPr marL="0" indent="0" algn="ctr">
              <a:buNone/>
            </a:pPr>
            <a:r>
              <a:rPr lang="en-US" sz="1800" i="1" dirty="0">
                <a:solidFill>
                  <a:schemeClr val="accent1"/>
                </a:solidFill>
              </a:rPr>
              <a:t>“What you’ve done for me in the last few weeks is more than what’s been done in the last 10 years. I feel like things are moving in a positive direction.” -Veteran receiving Tele-Pain Care</a:t>
            </a:r>
          </a:p>
          <a:p>
            <a:endParaRPr lang="en-US" sz="1900" dirty="0"/>
          </a:p>
          <a:p>
            <a:endParaRPr lang="en-US" sz="1900" dirty="0"/>
          </a:p>
          <a:p>
            <a:endParaRPr lang="en-US" sz="1900" dirty="0"/>
          </a:p>
        </p:txBody>
      </p:sp>
      <p:sp>
        <p:nvSpPr>
          <p:cNvPr id="6" name="Title 5">
            <a:extLst>
              <a:ext uri="{FF2B5EF4-FFF2-40B4-BE49-F238E27FC236}">
                <a16:creationId xmlns:a16="http://schemas.microsoft.com/office/drawing/2014/main" id="{2392E26D-1601-947F-ECCD-B06F8EDBEC07}"/>
              </a:ext>
            </a:extLst>
          </p:cNvPr>
          <p:cNvSpPr>
            <a:spLocks noGrp="1"/>
          </p:cNvSpPr>
          <p:nvPr>
            <p:ph type="title"/>
          </p:nvPr>
        </p:nvSpPr>
        <p:spPr>
          <a:xfrm>
            <a:off x="224412" y="-77490"/>
            <a:ext cx="11769467" cy="1094265"/>
          </a:xfrm>
        </p:spPr>
        <p:txBody>
          <a:bodyPr>
            <a:normAutofit fontScale="90000"/>
          </a:bodyPr>
          <a:lstStyle/>
          <a:p>
            <a:r>
              <a:rPr lang="en-US" dirty="0"/>
              <a:t>Chronic Pain - Virtual Interdisciplinary Pain Teams</a:t>
            </a:r>
          </a:p>
        </p:txBody>
      </p:sp>
      <p:sp>
        <p:nvSpPr>
          <p:cNvPr id="4" name="Slide Number Placeholder 3">
            <a:extLst>
              <a:ext uri="{FF2B5EF4-FFF2-40B4-BE49-F238E27FC236}">
                <a16:creationId xmlns:a16="http://schemas.microsoft.com/office/drawing/2014/main" id="{D3A266DF-C416-18C9-B061-43DB3508ADFC}"/>
              </a:ext>
            </a:extLst>
          </p:cNvPr>
          <p:cNvSpPr>
            <a:spLocks noGrp="1"/>
          </p:cNvSpPr>
          <p:nvPr>
            <p:ph type="sldNum" sz="quarter" idx="4"/>
          </p:nvPr>
        </p:nvSpPr>
        <p:spPr/>
        <p:txBody>
          <a:bodyPr/>
          <a:lstStyle/>
          <a:p>
            <a:fld id="{21672522-718F-5A4A-A967-5C1A35706813}" type="slidenum">
              <a:rPr lang="en-US" smtClean="0"/>
              <a:pPr/>
              <a:t>26</a:t>
            </a:fld>
            <a:endParaRPr lang="en-US" dirty="0"/>
          </a:p>
        </p:txBody>
      </p:sp>
    </p:spTree>
    <p:extLst>
      <p:ext uri="{BB962C8B-B14F-4D97-AF65-F5344CB8AC3E}">
        <p14:creationId xmlns:p14="http://schemas.microsoft.com/office/powerpoint/2010/main" val="3814606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83A011-EF82-1961-900A-E6EC9A9D68A6}"/>
              </a:ext>
            </a:extLst>
          </p:cNvPr>
          <p:cNvSpPr>
            <a:spLocks noGrp="1"/>
          </p:cNvSpPr>
          <p:nvPr>
            <p:ph idx="1"/>
          </p:nvPr>
        </p:nvSpPr>
        <p:spPr>
          <a:xfrm>
            <a:off x="393310" y="1195300"/>
            <a:ext cx="11344867" cy="5161050"/>
          </a:xfrm>
        </p:spPr>
        <p:txBody>
          <a:bodyPr/>
          <a:lstStyle/>
          <a:p>
            <a:pPr marL="0" indent="0">
              <a:buNone/>
            </a:pPr>
            <a:r>
              <a:rPr lang="en-US" sz="2400" b="1" dirty="0"/>
              <a:t>VA investigators are developing, evaluating and implementing evidence-based approaches to treat chronic pain: </a:t>
            </a:r>
          </a:p>
          <a:p>
            <a:pPr>
              <a:spcAft>
                <a:spcPts val="0"/>
              </a:spcAft>
            </a:pPr>
            <a:r>
              <a:rPr kumimoji="0" lang="en-US" altLang="en-US" sz="2000" b="1" i="0" u="none" strike="noStrike" kern="1200" cap="none" spc="0" normalizeH="0" baseline="0" noProof="0" dirty="0">
                <a:ln>
                  <a:noFill/>
                </a:ln>
                <a:solidFill>
                  <a:srgbClr val="000000"/>
                </a:solidFill>
                <a:effectLst/>
                <a:uLnTx/>
                <a:uFillTx/>
                <a:latin typeface="Arial"/>
                <a:ea typeface="+mn-ea"/>
                <a:cs typeface="Arial"/>
              </a:rPr>
              <a:t>Pain Interdisciplinary Reassessment Clinic: </a:t>
            </a:r>
            <a:r>
              <a:rPr kumimoji="0" lang="en-US" altLang="en-US" sz="2000" i="0" u="none" strike="noStrike" kern="1200" cap="none" spc="0" normalizeH="0" baseline="0" noProof="0" dirty="0">
                <a:ln>
                  <a:noFill/>
                </a:ln>
                <a:solidFill>
                  <a:srgbClr val="000000"/>
                </a:solidFill>
                <a:effectLst/>
                <a:uLnTx/>
                <a:uFillTx/>
                <a:latin typeface="Arial"/>
                <a:ea typeface="+mn-ea"/>
                <a:cs typeface="Arial"/>
              </a:rPr>
              <a:t>Integrated pain team (embedded in primary care) delivers evidence-based practices focused on the longitudinal co-management of pain and complex comorbidities</a:t>
            </a:r>
          </a:p>
          <a:p>
            <a:pPr lvl="1">
              <a:lnSpc>
                <a:spcPct val="105000"/>
              </a:lnSpc>
              <a:spcAft>
                <a:spcPts val="0"/>
              </a:spcAft>
            </a:pPr>
            <a:r>
              <a:rPr kumimoji="0" lang="en-US" altLang="en-US" sz="1800" i="0" u="none" strike="noStrike" kern="1200" cap="none" spc="0" normalizeH="0" baseline="0" noProof="0" dirty="0">
                <a:ln>
                  <a:noFill/>
                </a:ln>
                <a:solidFill>
                  <a:srgbClr val="000000"/>
                </a:solidFill>
                <a:effectLst/>
                <a:uLnTx/>
                <a:uFillTx/>
                <a:latin typeface="Arial"/>
                <a:ea typeface="+mn-ea"/>
                <a:cs typeface="Arial"/>
              </a:rPr>
              <a:t>2,160 Veterans treated across 6 sites </a:t>
            </a:r>
            <a:endParaRPr lang="en-US" altLang="en-US" sz="1800" dirty="0">
              <a:solidFill>
                <a:srgbClr val="000000"/>
              </a:solidFill>
              <a:latin typeface="Arial"/>
              <a:cs typeface="Arial"/>
              <a:sym typeface="Wingdings" panose="05000000000000000000" pitchFamily="2" charset="2"/>
            </a:endParaRPr>
          </a:p>
          <a:p>
            <a:pPr lvl="1">
              <a:lnSpc>
                <a:spcPct val="105000"/>
              </a:lnSpc>
              <a:spcAft>
                <a:spcPts val="0"/>
              </a:spcAft>
            </a:pPr>
            <a:r>
              <a:rPr kumimoji="0" lang="en-US" altLang="en-US" sz="1800" i="0" u="none" strike="noStrike" kern="1200" cap="none" spc="0" normalizeH="0" baseline="0" noProof="0" dirty="0">
                <a:ln>
                  <a:noFill/>
                </a:ln>
                <a:solidFill>
                  <a:srgbClr val="000000"/>
                </a:solidFill>
                <a:effectLst/>
                <a:uLnTx/>
                <a:uFillTx/>
                <a:latin typeface="Arial"/>
                <a:ea typeface="+mn-ea"/>
                <a:cs typeface="Arial"/>
              </a:rPr>
              <a:t>increase in non-pharmacologic treatments for pain </a:t>
            </a:r>
          </a:p>
          <a:p>
            <a:pPr lvl="1">
              <a:lnSpc>
                <a:spcPct val="105000"/>
              </a:lnSpc>
            </a:pPr>
            <a:r>
              <a:rPr kumimoji="0" lang="en-US" altLang="en-US" sz="1800" i="0" u="none" strike="noStrike" kern="1200" cap="none" spc="0" normalizeH="0" baseline="0" noProof="0" dirty="0">
                <a:ln>
                  <a:noFill/>
                </a:ln>
                <a:solidFill>
                  <a:srgbClr val="000000"/>
                </a:solidFill>
                <a:effectLst/>
                <a:uLnTx/>
                <a:uFillTx/>
                <a:latin typeface="Arial"/>
                <a:ea typeface="+mn-ea"/>
                <a:cs typeface="Arial"/>
              </a:rPr>
              <a:t>preliminary results: up to 93% opiate pain medicine dose reduction </a:t>
            </a:r>
            <a:endParaRPr lang="en-US" sz="1800" b="1" dirty="0"/>
          </a:p>
          <a:p>
            <a:r>
              <a:rPr lang="en-US" sz="2000" b="1" dirty="0"/>
              <a:t>Clinical Trials: </a:t>
            </a:r>
            <a:r>
              <a:rPr lang="en-US" sz="2000" dirty="0"/>
              <a:t>VA research is accelerating the uptake of effective pain treatments across Veteran health systems through partnering with VHA clinical lines and by promoting the cost-effective VA/DOD/NIH partnered research network comprised of 13 multi-site, pragmatic clinical trials and </a:t>
            </a:r>
            <a:r>
              <a:rPr lang="en-US" sz="2000" b="1" dirty="0"/>
              <a:t>over 15,000 Veterans and active-duty service members.</a:t>
            </a:r>
          </a:p>
          <a:p>
            <a:pPr>
              <a:spcAft>
                <a:spcPts val="0"/>
              </a:spcAft>
            </a:pPr>
            <a:r>
              <a:rPr kumimoji="0" lang="en-US" altLang="en-US" sz="2000" b="1" i="0" u="none" strike="noStrike" kern="1200" cap="none" spc="0" normalizeH="0" baseline="0" noProof="0" dirty="0">
                <a:ln>
                  <a:noFill/>
                </a:ln>
                <a:solidFill>
                  <a:srgbClr val="000000"/>
                </a:solidFill>
                <a:effectLst/>
                <a:uLnTx/>
                <a:uFillTx/>
                <a:latin typeface="Arial"/>
                <a:ea typeface="+mn-ea"/>
                <a:cs typeface="Arial"/>
              </a:rPr>
              <a:t>Evaluation of Whole Health System of Care: </a:t>
            </a:r>
            <a:r>
              <a:rPr kumimoji="0" lang="en-US" altLang="en-US" sz="2000" b="0" i="0" u="none" strike="noStrike" kern="1200" cap="none" spc="0" normalizeH="0" baseline="0" noProof="0" dirty="0">
                <a:ln>
                  <a:noFill/>
                </a:ln>
                <a:solidFill>
                  <a:srgbClr val="000000"/>
                </a:solidFill>
                <a:effectLst/>
                <a:uLnTx/>
                <a:uFillTx/>
                <a:latin typeface="Arial"/>
                <a:ea typeface="+mn-ea"/>
                <a:cs typeface="Arial"/>
              </a:rPr>
              <a:t>helps Veterans formulate personal health goals, engage in health care decisions, and </a:t>
            </a:r>
            <a:r>
              <a:rPr lang="en-US" altLang="en-US" sz="2000" dirty="0">
                <a:solidFill>
                  <a:srgbClr val="000000"/>
                </a:solidFill>
                <a:latin typeface="Arial"/>
                <a:cs typeface="Arial"/>
              </a:rPr>
              <a:t>adopt </a:t>
            </a:r>
            <a:r>
              <a:rPr kumimoji="0" lang="en-US" altLang="en-US" sz="2000" b="0" i="0" u="none" strike="noStrike" kern="1200" cap="none" spc="0" normalizeH="0" baseline="0" noProof="0" dirty="0">
                <a:ln>
                  <a:noFill/>
                </a:ln>
                <a:solidFill>
                  <a:srgbClr val="000000"/>
                </a:solidFill>
                <a:effectLst/>
                <a:uLnTx/>
                <a:uFillTx/>
                <a:latin typeface="Arial"/>
                <a:ea typeface="+mn-ea"/>
                <a:cs typeface="Arial"/>
              </a:rPr>
              <a:t>healthy behaviors/self-care </a:t>
            </a:r>
          </a:p>
          <a:p>
            <a:pPr lvl="1"/>
            <a:r>
              <a:rPr lang="en-US" altLang="en-US" sz="1800" dirty="0">
                <a:solidFill>
                  <a:srgbClr val="000000"/>
                </a:solidFill>
                <a:latin typeface="Arial"/>
                <a:cs typeface="Arial"/>
              </a:rPr>
              <a:t>associated with </a:t>
            </a:r>
            <a:r>
              <a:rPr kumimoji="0" lang="en-US" altLang="en-US" sz="1800" i="0" u="none" strike="noStrike" kern="1200" cap="none" spc="0" normalizeH="0" baseline="0" noProof="0" dirty="0">
                <a:ln>
                  <a:noFill/>
                </a:ln>
                <a:solidFill>
                  <a:srgbClr val="000000"/>
                </a:solidFill>
                <a:effectLst/>
                <a:uLnTx/>
                <a:uFillTx/>
                <a:latin typeface="Arial"/>
                <a:ea typeface="+mn-ea"/>
                <a:cs typeface="Arial"/>
              </a:rPr>
              <a:t>reductions in use of opioid pain medication </a:t>
            </a:r>
            <a:endParaRPr lang="en-US" sz="1800" dirty="0"/>
          </a:p>
        </p:txBody>
      </p:sp>
      <p:sp>
        <p:nvSpPr>
          <p:cNvPr id="3" name="Title 2">
            <a:extLst>
              <a:ext uri="{FF2B5EF4-FFF2-40B4-BE49-F238E27FC236}">
                <a16:creationId xmlns:a16="http://schemas.microsoft.com/office/drawing/2014/main" id="{B87133CC-3B86-2B3E-FE68-881499ADDC4E}"/>
              </a:ext>
            </a:extLst>
          </p:cNvPr>
          <p:cNvSpPr>
            <a:spLocks noGrp="1"/>
          </p:cNvSpPr>
          <p:nvPr>
            <p:ph type="title"/>
          </p:nvPr>
        </p:nvSpPr>
        <p:spPr>
          <a:xfrm>
            <a:off x="224412" y="-77490"/>
            <a:ext cx="11682665" cy="1094265"/>
          </a:xfrm>
        </p:spPr>
        <p:txBody>
          <a:bodyPr>
            <a:normAutofit/>
          </a:bodyPr>
          <a:lstStyle/>
          <a:p>
            <a:r>
              <a:rPr lang="en-US" sz="3600" dirty="0"/>
              <a:t>Chronic Pain - Evidence-based Approaches</a:t>
            </a:r>
          </a:p>
        </p:txBody>
      </p:sp>
      <p:sp>
        <p:nvSpPr>
          <p:cNvPr id="4" name="Slide Number Placeholder 3">
            <a:extLst>
              <a:ext uri="{FF2B5EF4-FFF2-40B4-BE49-F238E27FC236}">
                <a16:creationId xmlns:a16="http://schemas.microsoft.com/office/drawing/2014/main" id="{AE3F813B-894A-9C41-548F-04E0054943A4}"/>
              </a:ext>
            </a:extLst>
          </p:cNvPr>
          <p:cNvSpPr>
            <a:spLocks noGrp="1"/>
          </p:cNvSpPr>
          <p:nvPr>
            <p:ph type="sldNum" sz="quarter" idx="4"/>
          </p:nvPr>
        </p:nvSpPr>
        <p:spPr/>
        <p:txBody>
          <a:bodyPr/>
          <a:lstStyle/>
          <a:p>
            <a:fld id="{21672522-718F-5A4A-A967-5C1A35706813}" type="slidenum">
              <a:rPr lang="en-US" smtClean="0"/>
              <a:pPr/>
              <a:t>27</a:t>
            </a:fld>
            <a:endParaRPr lang="en-US"/>
          </a:p>
        </p:txBody>
      </p:sp>
    </p:spTree>
    <p:extLst>
      <p:ext uri="{BB962C8B-B14F-4D97-AF65-F5344CB8AC3E}">
        <p14:creationId xmlns:p14="http://schemas.microsoft.com/office/powerpoint/2010/main" val="3538667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250C3A-DD36-452B-83F7-94385D13EDB6}"/>
              </a:ext>
            </a:extLst>
          </p:cNvPr>
          <p:cNvSpPr>
            <a:spLocks noGrp="1"/>
          </p:cNvSpPr>
          <p:nvPr>
            <p:ph idx="1"/>
          </p:nvPr>
        </p:nvSpPr>
        <p:spPr>
          <a:xfrm>
            <a:off x="105103" y="1016775"/>
            <a:ext cx="12086897" cy="5161050"/>
          </a:xfrm>
        </p:spPr>
        <p:txBody>
          <a:bodyPr/>
          <a:lstStyle/>
          <a:p>
            <a:pPr>
              <a:lnSpc>
                <a:spcPct val="100000"/>
              </a:lnSpc>
            </a:pPr>
            <a:r>
              <a:rPr lang="en-US" sz="2000" b="1" dirty="0"/>
              <a:t>Dole Act: </a:t>
            </a:r>
            <a:r>
              <a:rPr lang="en-US" sz="2000" dirty="0"/>
              <a:t>Seeks to enhance Veteran health care access, benefits, and supportive services, including home and community-based long-term care options, mental health resources, education, job training and employment opportunities, assistance for homeless Veterans, and supports for family caregivers</a:t>
            </a:r>
            <a:endParaRPr lang="en-US" sz="800" dirty="0"/>
          </a:p>
          <a:p>
            <a:pPr>
              <a:spcAft>
                <a:spcPts val="300"/>
              </a:spcAft>
            </a:pPr>
            <a:r>
              <a:rPr lang="en-US" sz="2000" b="1" dirty="0"/>
              <a:t>VA Investigators are supporting the Dole Act by evaluating non-institutional long-term care  </a:t>
            </a:r>
          </a:p>
          <a:p>
            <a:pPr lvl="1">
              <a:lnSpc>
                <a:spcPct val="100000"/>
              </a:lnSpc>
              <a:spcAft>
                <a:spcPts val="300"/>
              </a:spcAft>
            </a:pPr>
            <a:r>
              <a:rPr lang="en-US" sz="1800" dirty="0">
                <a:solidFill>
                  <a:srgbClr val="000000"/>
                </a:solidFill>
                <a:effectLst/>
                <a:ea typeface="Times New Roman" panose="02020603050405020304" pitchFamily="18" charset="0"/>
              </a:rPr>
              <a:t>Identifying barriers/facilitators to accessing non-institutional long-term care services for caregivers of Veterans with long-term care needs</a:t>
            </a:r>
          </a:p>
          <a:p>
            <a:pPr lvl="1">
              <a:lnSpc>
                <a:spcPct val="100000"/>
              </a:lnSpc>
              <a:spcAft>
                <a:spcPts val="300"/>
              </a:spcAft>
            </a:pPr>
            <a:r>
              <a:rPr lang="en-US" sz="1800" dirty="0"/>
              <a:t>Evaluating VA’s Home-Based Primary Care Home Health Aide pilot, and other non-institutional alternatives, including impacts on costs  </a:t>
            </a:r>
          </a:p>
          <a:p>
            <a:pPr lvl="1">
              <a:lnSpc>
                <a:spcPct val="100000"/>
              </a:lnSpc>
              <a:spcAft>
                <a:spcPts val="300"/>
              </a:spcAft>
            </a:pPr>
            <a:r>
              <a:rPr lang="en-US" sz="1800" dirty="0">
                <a:solidFill>
                  <a:srgbClr val="000000"/>
                </a:solidFill>
                <a:effectLst/>
                <a:ea typeface="Times New Roman" panose="02020603050405020304" pitchFamily="18" charset="0"/>
              </a:rPr>
              <a:t>Evaluating a community-based geriatrics program designed to care for Veterans who are nursing home eligible but prefer to receive care in their home</a:t>
            </a:r>
            <a:endParaRPr lang="en-US" sz="1800" dirty="0"/>
          </a:p>
          <a:p>
            <a:pPr lvl="1">
              <a:lnSpc>
                <a:spcPct val="100000"/>
              </a:lnSpc>
              <a:spcAft>
                <a:spcPts val="300"/>
              </a:spcAft>
            </a:pPr>
            <a:r>
              <a:rPr lang="en-US" sz="1800" dirty="0">
                <a:solidFill>
                  <a:srgbClr val="000000"/>
                </a:solidFill>
                <a:effectLst/>
                <a:ea typeface="Times New Roman" panose="02020603050405020304" pitchFamily="18" charset="0"/>
              </a:rPr>
              <a:t>Identifying access, use, Veteran preferences, and best practices for Homemaker/Home Health Aides (H/HHA) to optimize Veteran outcomes, and estimating H/HHA impacts on Veteran outcomes and costs </a:t>
            </a:r>
          </a:p>
          <a:p>
            <a:pPr lvl="1">
              <a:lnSpc>
                <a:spcPct val="100000"/>
              </a:lnSpc>
              <a:spcAft>
                <a:spcPts val="300"/>
              </a:spcAft>
            </a:pPr>
            <a:r>
              <a:rPr lang="en-US" sz="1800" dirty="0">
                <a:solidFill>
                  <a:srgbClr val="000000"/>
                </a:solidFill>
                <a:effectLst/>
                <a:ea typeface="Times New Roman" panose="02020603050405020304" pitchFamily="18" charset="0"/>
              </a:rPr>
              <a:t>Quantifying the long-term effects of the VA’s Millennium Act home care expansion on Veterans’ use of non-institutional </a:t>
            </a:r>
            <a:r>
              <a:rPr lang="en-US" sz="1800" dirty="0">
                <a:solidFill>
                  <a:srgbClr val="000000"/>
                </a:solidFill>
                <a:effectLst/>
                <a:ea typeface="Times New Roman" panose="02020603050405020304" pitchFamily="18" charset="0"/>
                <a:cs typeface="Arial" panose="020B0604020202020204" pitchFamily="34" charset="0"/>
              </a:rPr>
              <a:t>long-term care, institutional long-term care, and unpaid/informal caregiving</a:t>
            </a:r>
            <a:endParaRPr lang="en-US" sz="1800" dirty="0"/>
          </a:p>
          <a:p>
            <a:pPr lvl="1">
              <a:lnSpc>
                <a:spcPct val="100000"/>
              </a:lnSpc>
              <a:spcAft>
                <a:spcPts val="300"/>
              </a:spcAft>
            </a:pPr>
            <a:r>
              <a:rPr lang="en-US" sz="1800" dirty="0">
                <a:solidFill>
                  <a:srgbClr val="000000"/>
                </a:solidFill>
                <a:ea typeface="Times New Roman" panose="02020603050405020304" pitchFamily="18" charset="0"/>
              </a:rPr>
              <a:t>E</a:t>
            </a:r>
            <a:r>
              <a:rPr lang="en-US" sz="1800" dirty="0">
                <a:solidFill>
                  <a:srgbClr val="000000"/>
                </a:solidFill>
                <a:effectLst/>
                <a:ea typeface="Times New Roman" panose="02020603050405020304" pitchFamily="18" charset="0"/>
              </a:rPr>
              <a:t>valuating the effects of expandin</a:t>
            </a:r>
            <a:r>
              <a:rPr lang="en-US" sz="1800" dirty="0">
                <a:solidFill>
                  <a:srgbClr val="000000"/>
                </a:solidFill>
                <a:ea typeface="Times New Roman" panose="02020603050405020304" pitchFamily="18" charset="0"/>
              </a:rPr>
              <a:t>g the </a:t>
            </a:r>
            <a:r>
              <a:rPr lang="en-US" sz="1800" dirty="0">
                <a:solidFill>
                  <a:srgbClr val="000000"/>
                </a:solidFill>
                <a:effectLst/>
                <a:ea typeface="Times New Roman" panose="02020603050405020304" pitchFamily="18" charset="0"/>
              </a:rPr>
              <a:t>Program of Comprehensive Assistance for Family Caregivers </a:t>
            </a:r>
          </a:p>
          <a:p>
            <a:pPr lvl="1">
              <a:lnSpc>
                <a:spcPct val="100000"/>
              </a:lnSpc>
              <a:spcAft>
                <a:spcPts val="300"/>
              </a:spcAft>
            </a:pPr>
            <a:r>
              <a:rPr lang="en-US" sz="1800" dirty="0">
                <a:solidFill>
                  <a:srgbClr val="000000"/>
                </a:solidFill>
                <a:effectLst/>
                <a:ea typeface="Times New Roman" panose="02020603050405020304" pitchFamily="18" charset="0"/>
              </a:rPr>
              <a:t>Applying natural language processing methods to improve operational models’ ability to predict Veterans’ long-term care needs, facilitating earlier intervention with non-institutional care services</a:t>
            </a:r>
          </a:p>
          <a:p>
            <a:pPr lvl="1">
              <a:lnSpc>
                <a:spcPct val="100000"/>
              </a:lnSpc>
              <a:spcAft>
                <a:spcPts val="300"/>
              </a:spcAft>
            </a:pPr>
            <a:r>
              <a:rPr lang="en-US" sz="1800" dirty="0">
                <a:effectLst/>
                <a:ea typeface="Calibri" panose="020F0502020204030204" pitchFamily="34" charset="0"/>
                <a:cs typeface="Calibri" panose="020F0502020204030204" pitchFamily="34" charset="0"/>
              </a:rPr>
              <a:t>Developing a tool to help family caregivers and home health aides detect and address early signs of adverse effects, so they don’t escalate and require emergency visits/hospitalizations.</a:t>
            </a:r>
          </a:p>
          <a:p>
            <a:pPr lvl="1">
              <a:lnSpc>
                <a:spcPct val="100000"/>
              </a:lnSpc>
              <a:spcAft>
                <a:spcPts val="800"/>
              </a:spcAft>
            </a:pPr>
            <a:endParaRPr lang="en-US" sz="1800" dirty="0">
              <a:solidFill>
                <a:srgbClr val="000000"/>
              </a:solidFill>
              <a:effectLst/>
              <a:latin typeface="Arial" panose="020B0604020202020204" pitchFamily="34" charset="0"/>
              <a:ea typeface="Times New Roman" panose="02020603050405020304" pitchFamily="18" charset="0"/>
            </a:endParaRPr>
          </a:p>
          <a:p>
            <a:pPr lvl="1">
              <a:spcAft>
                <a:spcPts val="400"/>
              </a:spcAft>
            </a:pPr>
            <a:endParaRPr lang="en-US" sz="1800" dirty="0"/>
          </a:p>
          <a:p>
            <a:pPr lvl="1">
              <a:spcAft>
                <a:spcPts val="400"/>
              </a:spcAft>
            </a:pPr>
            <a:endParaRPr lang="en-US" sz="2000" dirty="0"/>
          </a:p>
        </p:txBody>
      </p:sp>
      <p:sp>
        <p:nvSpPr>
          <p:cNvPr id="3" name="Title 2">
            <a:extLst>
              <a:ext uri="{FF2B5EF4-FFF2-40B4-BE49-F238E27FC236}">
                <a16:creationId xmlns:a16="http://schemas.microsoft.com/office/drawing/2014/main" id="{F74AAE75-A10E-A3EC-95B9-189948F4D96E}"/>
              </a:ext>
            </a:extLst>
          </p:cNvPr>
          <p:cNvSpPr>
            <a:spLocks noGrp="1"/>
          </p:cNvSpPr>
          <p:nvPr>
            <p:ph type="title"/>
          </p:nvPr>
        </p:nvSpPr>
        <p:spPr/>
        <p:txBody>
          <a:bodyPr>
            <a:normAutofit fontScale="90000"/>
          </a:bodyPr>
          <a:lstStyle/>
          <a:p>
            <a:r>
              <a:rPr lang="en-US" dirty="0"/>
              <a:t>Senator Elizabeth Dole 21st Century Veterans Healthcare and Benefits Improvement Act</a:t>
            </a:r>
          </a:p>
        </p:txBody>
      </p:sp>
      <p:sp>
        <p:nvSpPr>
          <p:cNvPr id="4" name="Slide Number Placeholder 3">
            <a:extLst>
              <a:ext uri="{FF2B5EF4-FFF2-40B4-BE49-F238E27FC236}">
                <a16:creationId xmlns:a16="http://schemas.microsoft.com/office/drawing/2014/main" id="{C851E816-3904-F483-48E2-EF7E0720439D}"/>
              </a:ext>
            </a:extLst>
          </p:cNvPr>
          <p:cNvSpPr>
            <a:spLocks noGrp="1"/>
          </p:cNvSpPr>
          <p:nvPr>
            <p:ph type="sldNum" sz="quarter" idx="4"/>
          </p:nvPr>
        </p:nvSpPr>
        <p:spPr/>
        <p:txBody>
          <a:bodyPr/>
          <a:lstStyle/>
          <a:p>
            <a:fld id="{21672522-718F-5A4A-A967-5C1A35706813}" type="slidenum">
              <a:rPr lang="en-US" smtClean="0"/>
              <a:pPr/>
              <a:t>28</a:t>
            </a:fld>
            <a:endParaRPr lang="en-US" dirty="0"/>
          </a:p>
        </p:txBody>
      </p:sp>
    </p:spTree>
    <p:extLst>
      <p:ext uri="{BB962C8B-B14F-4D97-AF65-F5344CB8AC3E}">
        <p14:creationId xmlns:p14="http://schemas.microsoft.com/office/powerpoint/2010/main" val="2858385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AC42CE-7B5F-0F53-3F8B-EF6F5DEAAD15}"/>
              </a:ext>
            </a:extLst>
          </p:cNvPr>
          <p:cNvSpPr>
            <a:spLocks noGrp="1"/>
          </p:cNvSpPr>
          <p:nvPr>
            <p:ph type="title"/>
          </p:nvPr>
        </p:nvSpPr>
        <p:spPr/>
        <p:txBody>
          <a:bodyPr/>
          <a:lstStyle/>
          <a:p>
            <a:r>
              <a:rPr lang="en-US" dirty="0"/>
              <a:t>VA Clinical Trials </a:t>
            </a:r>
          </a:p>
        </p:txBody>
      </p:sp>
      <p:sp>
        <p:nvSpPr>
          <p:cNvPr id="4" name="Slide Number Placeholder 3">
            <a:extLst>
              <a:ext uri="{FF2B5EF4-FFF2-40B4-BE49-F238E27FC236}">
                <a16:creationId xmlns:a16="http://schemas.microsoft.com/office/drawing/2014/main" id="{3CECB2CB-EBA6-44DB-58EC-41EB2AC50C75}"/>
              </a:ext>
            </a:extLst>
          </p:cNvPr>
          <p:cNvSpPr>
            <a:spLocks noGrp="1"/>
          </p:cNvSpPr>
          <p:nvPr>
            <p:ph type="sldNum" sz="quarter" idx="4"/>
          </p:nvPr>
        </p:nvSpPr>
        <p:spPr/>
        <p:txBody>
          <a:bodyPr/>
          <a:lstStyle/>
          <a:p>
            <a:fld id="{21672522-718F-5A4A-A967-5C1A35706813}" type="slidenum">
              <a:rPr lang="en-US" smtClean="0"/>
              <a:pPr/>
              <a:t>29</a:t>
            </a:fld>
            <a:endParaRPr lang="en-US"/>
          </a:p>
        </p:txBody>
      </p:sp>
      <p:sp>
        <p:nvSpPr>
          <p:cNvPr id="6" name="Content Placeholder 5">
            <a:extLst>
              <a:ext uri="{FF2B5EF4-FFF2-40B4-BE49-F238E27FC236}">
                <a16:creationId xmlns:a16="http://schemas.microsoft.com/office/drawing/2014/main" id="{3C6DBEDC-761A-C764-7AF8-A74FE8B9AD78}"/>
              </a:ext>
            </a:extLst>
          </p:cNvPr>
          <p:cNvSpPr>
            <a:spLocks noGrp="1"/>
          </p:cNvSpPr>
          <p:nvPr>
            <p:ph idx="1"/>
          </p:nvPr>
        </p:nvSpPr>
        <p:spPr>
          <a:xfrm>
            <a:off x="224413" y="1195300"/>
            <a:ext cx="11912426" cy="5161050"/>
          </a:xfrm>
        </p:spPr>
        <p:txBody>
          <a:bodyPr/>
          <a:lstStyle/>
          <a:p>
            <a:r>
              <a:rPr lang="en-US" dirty="0"/>
              <a:t>Over the past 5 years, </a:t>
            </a:r>
            <a:r>
              <a:rPr lang="en-US" sz="3200" b="1" dirty="0"/>
              <a:t>783,891</a:t>
            </a:r>
            <a:r>
              <a:rPr lang="en-US" dirty="0"/>
              <a:t> individuals have been enrolled in VA-funded clinical trials </a:t>
            </a:r>
          </a:p>
          <a:p>
            <a:pPr lvl="1">
              <a:spcAft>
                <a:spcPts val="1800"/>
              </a:spcAft>
            </a:pPr>
            <a:r>
              <a:rPr lang="en-US" sz="2800" b="1" dirty="0"/>
              <a:t>168,604</a:t>
            </a:r>
            <a:r>
              <a:rPr lang="en-US" dirty="0"/>
              <a:t> more are anticipated to enroll in active VA-funded clinical trials</a:t>
            </a:r>
          </a:p>
          <a:p>
            <a:r>
              <a:rPr lang="en-US" dirty="0"/>
              <a:t>Examples of VA-funded clinical trials </a:t>
            </a:r>
            <a:r>
              <a:rPr lang="en-US" u="sng" dirty="0"/>
              <a:t>currently enrolling</a:t>
            </a:r>
            <a:r>
              <a:rPr lang="en-US" dirty="0"/>
              <a:t> Veterans:</a:t>
            </a:r>
          </a:p>
          <a:p>
            <a:pPr lvl="1">
              <a:lnSpc>
                <a:spcPct val="100000"/>
              </a:lnSpc>
            </a:pPr>
            <a:r>
              <a:rPr lang="en-US" sz="1800" i="0" dirty="0">
                <a:solidFill>
                  <a:srgbClr val="333333"/>
                </a:solidFill>
                <a:effectLst/>
              </a:rPr>
              <a:t>Computerized Cognitive Behavioral Therapies for Suicide Prevention and Depression</a:t>
            </a:r>
          </a:p>
          <a:p>
            <a:pPr lvl="1">
              <a:lnSpc>
                <a:spcPct val="100000"/>
              </a:lnSpc>
            </a:pPr>
            <a:r>
              <a:rPr lang="en-US" sz="1800" dirty="0">
                <a:solidFill>
                  <a:srgbClr val="333333"/>
                </a:solidFill>
              </a:rPr>
              <a:t>MI-</a:t>
            </a:r>
            <a:r>
              <a:rPr lang="en-US" sz="1800" dirty="0" err="1">
                <a:solidFill>
                  <a:srgbClr val="333333"/>
                </a:solidFill>
              </a:rPr>
              <a:t>CBTech</a:t>
            </a:r>
            <a:r>
              <a:rPr lang="en-US" sz="1800" dirty="0">
                <a:solidFill>
                  <a:srgbClr val="333333"/>
                </a:solidFill>
              </a:rPr>
              <a:t>: A Mobile Intervention for Community Integration in Homeless-Experienced Veterans with Serious Mental Illness </a:t>
            </a:r>
          </a:p>
          <a:p>
            <a:pPr lvl="1">
              <a:lnSpc>
                <a:spcPct val="100000"/>
              </a:lnSpc>
            </a:pPr>
            <a:r>
              <a:rPr lang="en-US" sz="1800" i="0" dirty="0">
                <a:solidFill>
                  <a:srgbClr val="333333"/>
                </a:solidFill>
                <a:effectLst/>
              </a:rPr>
              <a:t>Transcranial Magnetic Stimulation to Improve Functioning in Veterans With PTSD </a:t>
            </a:r>
          </a:p>
          <a:p>
            <a:pPr lvl="1">
              <a:lnSpc>
                <a:spcPct val="100000"/>
              </a:lnSpc>
            </a:pPr>
            <a:r>
              <a:rPr lang="en-US" sz="1800" i="0" dirty="0">
                <a:solidFill>
                  <a:srgbClr val="333333"/>
                </a:solidFill>
                <a:effectLst/>
              </a:rPr>
              <a:t>A Balanced Assessment and Training Protocol (BATP) to Address Balance Disorders in Older and Neurologically Disabled Veterans</a:t>
            </a:r>
          </a:p>
          <a:p>
            <a:pPr lvl="1">
              <a:lnSpc>
                <a:spcPct val="100000"/>
              </a:lnSpc>
            </a:pPr>
            <a:r>
              <a:rPr lang="en-US" sz="1800" i="0" dirty="0">
                <a:solidFill>
                  <a:srgbClr val="333333"/>
                </a:solidFill>
                <a:effectLst/>
              </a:rPr>
              <a:t>Improving Socket Fit in Female and Male Veterans With Transtibial and Transfemoral Amputation </a:t>
            </a:r>
          </a:p>
          <a:p>
            <a:pPr lvl="1">
              <a:lnSpc>
                <a:spcPct val="100000"/>
              </a:lnSpc>
            </a:pPr>
            <a:r>
              <a:rPr lang="en-US" sz="1800" i="0" dirty="0">
                <a:solidFill>
                  <a:srgbClr val="333333"/>
                </a:solidFill>
                <a:effectLst/>
              </a:rPr>
              <a:t>Mobile Manual Standing Wheelchair for Spinal Cord Injury </a:t>
            </a:r>
          </a:p>
          <a:p>
            <a:pPr lvl="1">
              <a:lnSpc>
                <a:spcPct val="100000"/>
              </a:lnSpc>
            </a:pPr>
            <a:r>
              <a:rPr lang="en-US" sz="1800" i="0" dirty="0">
                <a:solidFill>
                  <a:srgbClr val="333333"/>
                </a:solidFill>
                <a:effectLst/>
              </a:rPr>
              <a:t>Developing a Telehealth Model to Improve Treatment Access for Rural Veterans With Substance Use Disorders </a:t>
            </a:r>
          </a:p>
          <a:p>
            <a:pPr lvl="1"/>
            <a:endParaRPr lang="en-US" sz="1600" b="1" i="0" dirty="0">
              <a:solidFill>
                <a:srgbClr val="333333"/>
              </a:solidFill>
              <a:effectLst/>
              <a:latin typeface="Roboto" panose="02000000000000000000" pitchFamily="2" charset="0"/>
            </a:endParaRPr>
          </a:p>
          <a:p>
            <a:pPr lvl="1"/>
            <a:endParaRPr lang="en-US" sz="2000" i="0" dirty="0">
              <a:solidFill>
                <a:srgbClr val="333333"/>
              </a:solidFill>
              <a:effectLst/>
            </a:endParaRPr>
          </a:p>
          <a:p>
            <a:pPr marL="457200" lvl="1" indent="0">
              <a:buNone/>
            </a:pPr>
            <a:endParaRPr lang="en-US" b="1" dirty="0">
              <a:solidFill>
                <a:srgbClr val="333333"/>
              </a:solidFill>
              <a:latin typeface="Roboto" panose="02000000000000000000" pitchFamily="2" charset="0"/>
            </a:endParaRPr>
          </a:p>
          <a:p>
            <a:pPr lvl="1"/>
            <a:endParaRPr lang="en-US" b="1" i="0" dirty="0">
              <a:solidFill>
                <a:srgbClr val="333333"/>
              </a:solidFill>
              <a:effectLst/>
              <a:latin typeface="Roboto" panose="02000000000000000000" pitchFamily="2" charset="0"/>
            </a:endParaRPr>
          </a:p>
          <a:p>
            <a:pPr marL="457200" lvl="1" indent="0">
              <a:buNone/>
            </a:pPr>
            <a:endParaRPr lang="en-US" dirty="0"/>
          </a:p>
        </p:txBody>
      </p:sp>
    </p:spTree>
    <p:extLst>
      <p:ext uri="{BB962C8B-B14F-4D97-AF65-F5344CB8AC3E}">
        <p14:creationId xmlns:p14="http://schemas.microsoft.com/office/powerpoint/2010/main" val="589518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413DB2-1D93-F8A5-47DB-8700E71AC7CF}"/>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7432167F-1691-D824-595D-05EEC4CE2603}"/>
              </a:ext>
            </a:extLst>
          </p:cNvPr>
          <p:cNvSpPr>
            <a:spLocks noGrp="1"/>
          </p:cNvSpPr>
          <p:nvPr>
            <p:ph type="title"/>
          </p:nvPr>
        </p:nvSpPr>
        <p:spPr/>
        <p:txBody>
          <a:bodyPr/>
          <a:lstStyle/>
          <a:p>
            <a:r>
              <a:rPr lang="en-US" dirty="0"/>
              <a:t>Cancer</a:t>
            </a:r>
          </a:p>
        </p:txBody>
      </p:sp>
      <p:sp>
        <p:nvSpPr>
          <p:cNvPr id="4" name="Slide Number Placeholder 3">
            <a:extLst>
              <a:ext uri="{FF2B5EF4-FFF2-40B4-BE49-F238E27FC236}">
                <a16:creationId xmlns:a16="http://schemas.microsoft.com/office/drawing/2014/main" id="{9EAC6C8B-4EA1-03FF-0376-47B2B9A61219}"/>
              </a:ext>
            </a:extLst>
          </p:cNvPr>
          <p:cNvSpPr>
            <a:spLocks noGrp="1"/>
          </p:cNvSpPr>
          <p:nvPr>
            <p:ph type="sldNum" sz="quarter" idx="4"/>
          </p:nvPr>
        </p:nvSpPr>
        <p:spPr/>
        <p:txBody>
          <a:bodyPr/>
          <a:lstStyle/>
          <a:p>
            <a:fld id="{21672522-718F-5A4A-A967-5C1A35706813}" type="slidenum">
              <a:rPr lang="en-US" smtClean="0"/>
              <a:pPr/>
              <a:t>30</a:t>
            </a:fld>
            <a:endParaRPr lang="en-US"/>
          </a:p>
        </p:txBody>
      </p:sp>
    </p:spTree>
    <p:extLst>
      <p:ext uri="{BB962C8B-B14F-4D97-AF65-F5344CB8AC3E}">
        <p14:creationId xmlns:p14="http://schemas.microsoft.com/office/powerpoint/2010/main" val="10396247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B28758-B833-8910-0679-B79AD51F11AC}"/>
              </a:ext>
            </a:extLst>
          </p:cNvPr>
          <p:cNvSpPr>
            <a:spLocks noGrp="1"/>
          </p:cNvSpPr>
          <p:nvPr>
            <p:ph idx="1"/>
          </p:nvPr>
        </p:nvSpPr>
        <p:spPr>
          <a:xfrm>
            <a:off x="721128" y="1013089"/>
            <a:ext cx="11016195" cy="5708385"/>
          </a:xfrm>
        </p:spPr>
        <p:txBody>
          <a:bodyPr/>
          <a:lstStyle/>
          <a:p>
            <a:r>
              <a:rPr lang="en-US" sz="2000" b="1" dirty="0"/>
              <a:t>Dole Act: </a:t>
            </a:r>
            <a:r>
              <a:rPr lang="en-US" sz="2000" dirty="0">
                <a:effectLst/>
                <a:latin typeface="Arial" panose="020B0604020202020204" pitchFamily="34" charset="0"/>
                <a:ea typeface="Calibri" panose="020F0502020204030204" pitchFamily="34" charset="0"/>
              </a:rPr>
              <a:t>A plan that provides for continual funding through the Office of Research and Development for supporting prostate cancer research designed to position the Department as a national resource for prostate cancer detection and treatment.</a:t>
            </a:r>
          </a:p>
          <a:p>
            <a:r>
              <a:rPr lang="en-US" sz="2000" dirty="0">
                <a:latin typeface="Arial" panose="020B0604020202020204" pitchFamily="34" charset="0"/>
              </a:rPr>
              <a:t>ORD completed CMR submission to Congress on August 26. 2023</a:t>
            </a:r>
          </a:p>
          <a:p>
            <a:r>
              <a:rPr lang="en-US" sz="2000" dirty="0">
                <a:latin typeface="Arial" panose="020B0604020202020204" pitchFamily="34" charset="0"/>
              </a:rPr>
              <a:t>Established Network coordination and governance structure that includes clinical program offices, research, and operations for shared decision making</a:t>
            </a:r>
          </a:p>
          <a:p>
            <a:r>
              <a:rPr lang="en-US" sz="2000" dirty="0">
                <a:latin typeface="Arial" panose="020B0604020202020204" pitchFamily="34" charset="0"/>
              </a:rPr>
              <a:t>Solicited and selected 6 hubs (in 6 VISNs, representing approximately 38 VAMCs) to serve as Cancer Clinical Research Centers; plan to add 6 centers annually over 3 </a:t>
            </a:r>
            <a:r>
              <a:rPr lang="en-US" sz="2000" dirty="0" err="1">
                <a:latin typeface="Arial" panose="020B0604020202020204" pitchFamily="34" charset="0"/>
              </a:rPr>
              <a:t>yrs</a:t>
            </a:r>
            <a:r>
              <a:rPr lang="en-US" sz="2000" dirty="0">
                <a:latin typeface="Arial" panose="020B0604020202020204" pitchFamily="34" charset="0"/>
              </a:rPr>
              <a:t> (1 per VISN/Hub and Spoke model)</a:t>
            </a:r>
          </a:p>
          <a:p>
            <a:pPr marL="742950" lvl="1" indent="-285750">
              <a:buFont typeface="Arial" panose="020B0604020202020204" pitchFamily="34" charset="0"/>
              <a:buChar char="•"/>
            </a:pPr>
            <a:r>
              <a:rPr lang="en-US" sz="1400" dirty="0"/>
              <a:t>Focus – systemic and equitable access to care, trials and research</a:t>
            </a:r>
          </a:p>
          <a:p>
            <a:pPr marL="742950" lvl="1" indent="-285750">
              <a:buFont typeface="Arial" panose="020B0604020202020204" pitchFamily="34" charset="0"/>
              <a:buChar char="•"/>
            </a:pPr>
            <a:r>
              <a:rPr lang="en-US" sz="1400" dirty="0"/>
              <a:t>Utilize well-established processes/policies to avoid duplicative funding and science</a:t>
            </a:r>
          </a:p>
          <a:p>
            <a:pPr marL="228600" lvl="1">
              <a:buFont typeface="Arial" panose="020B0604020202020204" pitchFamily="34" charset="0"/>
              <a:buChar char="•"/>
            </a:pPr>
            <a:r>
              <a:rPr lang="en-US" sz="2000" dirty="0">
                <a:latin typeface="Arial" panose="020B0604020202020204" pitchFamily="34" charset="0"/>
              </a:rPr>
              <a:t>Established and launched the “Actively Managed Portfolio” to address critical Veteran needs</a:t>
            </a:r>
          </a:p>
          <a:p>
            <a:pPr marL="742950" lvl="1" indent="-285750">
              <a:buFont typeface="Arial" panose="020B0604020202020204" pitchFamily="34" charset="0"/>
              <a:buChar char="•"/>
            </a:pPr>
            <a:r>
              <a:rPr lang="en-US" sz="1400" dirty="0"/>
              <a:t>Focused research to advance evidenced-based care /clinical decision making</a:t>
            </a:r>
          </a:p>
          <a:p>
            <a:pPr marL="742950" lvl="1" indent="-285750">
              <a:buFont typeface="Arial" panose="020B0604020202020204" pitchFamily="34" charset="0"/>
              <a:buChar char="•"/>
            </a:pPr>
            <a:r>
              <a:rPr lang="en-US" sz="1400" dirty="0"/>
              <a:t>Accelerate advancements through collaborative multidisciplinary team science </a:t>
            </a:r>
          </a:p>
          <a:p>
            <a:pPr marL="228600" lvl="1">
              <a:buFont typeface="Arial" panose="020B0604020202020204" pitchFamily="34" charset="0"/>
              <a:buChar char="•"/>
            </a:pPr>
            <a:r>
              <a:rPr lang="en-US" sz="2000" dirty="0">
                <a:latin typeface="Arial" panose="020B0604020202020204" pitchFamily="34" charset="0"/>
              </a:rPr>
              <a:t>Leverage partnerships – VA Program Offices, Federal, Academic Affiliates, Industry, </a:t>
            </a:r>
            <a:r>
              <a:rPr lang="en-US" sz="2000" dirty="0" err="1">
                <a:latin typeface="Arial" panose="020B0604020202020204" pitchFamily="34" charset="0"/>
              </a:rPr>
              <a:t>etc</a:t>
            </a:r>
            <a:endParaRPr lang="en-US" sz="2000" dirty="0">
              <a:latin typeface="Arial" panose="020B0604020202020204" pitchFamily="34" charset="0"/>
            </a:endParaRPr>
          </a:p>
          <a:p>
            <a:pPr marL="742950" lvl="1" indent="-285750">
              <a:buFont typeface="Arial" panose="020B0604020202020204" pitchFamily="34" charset="0"/>
              <a:buChar char="•"/>
            </a:pPr>
            <a:r>
              <a:rPr lang="en-US" sz="1400" dirty="0"/>
              <a:t>Use established portfolio management processes/policies to coordinate lines of research and maximize funding</a:t>
            </a:r>
          </a:p>
          <a:p>
            <a:pPr marL="457200" lvl="1" indent="0">
              <a:buNone/>
            </a:pPr>
            <a:endParaRPr lang="en-US" sz="1400" dirty="0"/>
          </a:p>
          <a:p>
            <a:pPr marL="457200" lvl="1" indent="0">
              <a:buNone/>
            </a:pPr>
            <a:endParaRPr lang="en-US" sz="1400" dirty="0"/>
          </a:p>
          <a:p>
            <a:endParaRPr lang="en-US" dirty="0"/>
          </a:p>
        </p:txBody>
      </p:sp>
      <p:sp>
        <p:nvSpPr>
          <p:cNvPr id="3" name="Title 2">
            <a:extLst>
              <a:ext uri="{FF2B5EF4-FFF2-40B4-BE49-F238E27FC236}">
                <a16:creationId xmlns:a16="http://schemas.microsoft.com/office/drawing/2014/main" id="{AC69CDA3-6578-D723-E373-6BFD90CFF9F8}"/>
              </a:ext>
            </a:extLst>
          </p:cNvPr>
          <p:cNvSpPr>
            <a:spLocks noGrp="1"/>
          </p:cNvSpPr>
          <p:nvPr>
            <p:ph type="title"/>
          </p:nvPr>
        </p:nvSpPr>
        <p:spPr>
          <a:xfrm>
            <a:off x="224413" y="-20204"/>
            <a:ext cx="10515600" cy="1094265"/>
          </a:xfrm>
        </p:spPr>
        <p:txBody>
          <a:bodyPr/>
          <a:lstStyle/>
          <a:p>
            <a:r>
              <a:rPr lang="en-US" dirty="0"/>
              <a:t>Cleland-Dole Act</a:t>
            </a:r>
          </a:p>
        </p:txBody>
      </p:sp>
      <p:sp>
        <p:nvSpPr>
          <p:cNvPr id="4" name="Slide Number Placeholder 3">
            <a:extLst>
              <a:ext uri="{FF2B5EF4-FFF2-40B4-BE49-F238E27FC236}">
                <a16:creationId xmlns:a16="http://schemas.microsoft.com/office/drawing/2014/main" id="{22B7756E-DA0F-EA2C-B47E-EDFFC26A16E6}"/>
              </a:ext>
            </a:extLst>
          </p:cNvPr>
          <p:cNvSpPr>
            <a:spLocks noGrp="1"/>
          </p:cNvSpPr>
          <p:nvPr>
            <p:ph type="sldNum" sz="quarter" idx="4"/>
          </p:nvPr>
        </p:nvSpPr>
        <p:spPr/>
        <p:txBody>
          <a:bodyPr/>
          <a:lstStyle/>
          <a:p>
            <a:fld id="{21672522-718F-5A4A-A967-5C1A35706813}" type="slidenum">
              <a:rPr lang="en-US" smtClean="0"/>
              <a:pPr/>
              <a:t>31</a:t>
            </a:fld>
            <a:endParaRPr lang="en-US" dirty="0"/>
          </a:p>
        </p:txBody>
      </p:sp>
    </p:spTree>
    <p:extLst>
      <p:ext uri="{BB962C8B-B14F-4D97-AF65-F5344CB8AC3E}">
        <p14:creationId xmlns:p14="http://schemas.microsoft.com/office/powerpoint/2010/main" val="25512244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6CB875-89EF-C8BC-7DB0-708DFA319AA4}"/>
              </a:ext>
            </a:extLst>
          </p:cNvPr>
          <p:cNvSpPr>
            <a:spLocks noGrp="1"/>
          </p:cNvSpPr>
          <p:nvPr>
            <p:ph idx="1"/>
          </p:nvPr>
        </p:nvSpPr>
        <p:spPr>
          <a:xfrm>
            <a:off x="353292" y="1048781"/>
            <a:ext cx="11502736" cy="5672693"/>
          </a:xfrm>
        </p:spPr>
        <p:txBody>
          <a:bodyPr/>
          <a:lstStyle/>
          <a:p>
            <a:r>
              <a:rPr lang="en-US" sz="1800" dirty="0"/>
              <a:t>Through the commitment of </a:t>
            </a:r>
            <a:r>
              <a:rPr lang="en-US" sz="1800" b="1" dirty="0"/>
              <a:t>$65 million</a:t>
            </a:r>
            <a:r>
              <a:rPr lang="en-US" sz="1800" dirty="0"/>
              <a:t>, an innovative public/private partnership between the VA and the Prostate Cancer Foundation (PCF) has resulted in more than </a:t>
            </a:r>
            <a:r>
              <a:rPr lang="en-US" sz="1800" b="1" dirty="0"/>
              <a:t>108,000 </a:t>
            </a:r>
            <a:r>
              <a:rPr lang="en-US" sz="1800" dirty="0"/>
              <a:t>Veterans having access to state-of-the art precision oncology prostate cancer care.</a:t>
            </a:r>
          </a:p>
          <a:p>
            <a:r>
              <a:rPr lang="en-US" sz="1800" dirty="0"/>
              <a:t>What began as an effort focused on the VA’s most prevalent cancer, expanded to include the creation of an entirely new, first of its kind, system-wide center of competency for a clinical specialty that was operationalized nationally, and scaled to cover multiple cancers prevalent in the population. </a:t>
            </a:r>
          </a:p>
          <a:p>
            <a:r>
              <a:rPr lang="en-US" sz="1800" dirty="0"/>
              <a:t>Today, </a:t>
            </a:r>
            <a:r>
              <a:rPr lang="en-US" sz="1800" b="1" dirty="0"/>
              <a:t>21</a:t>
            </a:r>
            <a:r>
              <a:rPr lang="en-US" sz="1800" dirty="0"/>
              <a:t> prostate cancer and genitourinary centers of excellence, whose teams meet regularly to continually innovate and grow the network, onboard and mentor new members and share expertise</a:t>
            </a:r>
          </a:p>
          <a:p>
            <a:r>
              <a:rPr lang="en-US" sz="1800" dirty="0"/>
              <a:t>More than </a:t>
            </a:r>
            <a:r>
              <a:rPr lang="en-US" sz="1800" b="1" dirty="0"/>
              <a:t>12,000 Veterans </a:t>
            </a:r>
            <a:r>
              <a:rPr lang="en-US" sz="1800" dirty="0"/>
              <a:t>with metastatic cancer have been genetically screened with somatic next generation testing and are eligible to receive new life saving therapies that would not have been identified without this program.</a:t>
            </a:r>
          </a:p>
          <a:p>
            <a:r>
              <a:rPr lang="en-US" sz="1800" dirty="0"/>
              <a:t>More than 21 innovative interventional multi-site clinical trials have been launched through this effort to speed breakthroughs to Veterans.</a:t>
            </a:r>
          </a:p>
          <a:p>
            <a:r>
              <a:rPr lang="en-US" sz="1800" dirty="0"/>
              <a:t>Established research platform of </a:t>
            </a:r>
            <a:r>
              <a:rPr lang="en-US" sz="1800" b="1" dirty="0"/>
              <a:t>11 million Veterans </a:t>
            </a:r>
            <a:r>
              <a:rPr lang="en-US" sz="1800" dirty="0"/>
              <a:t>as an invaluable research tool to study toxic exposures and burden of prostate cancer among Veterans. </a:t>
            </a:r>
          </a:p>
        </p:txBody>
      </p:sp>
      <p:sp>
        <p:nvSpPr>
          <p:cNvPr id="3" name="Title 2">
            <a:extLst>
              <a:ext uri="{FF2B5EF4-FFF2-40B4-BE49-F238E27FC236}">
                <a16:creationId xmlns:a16="http://schemas.microsoft.com/office/drawing/2014/main" id="{32CF0B07-52AA-11AC-2C79-D808429BA6ED}"/>
              </a:ext>
            </a:extLst>
          </p:cNvPr>
          <p:cNvSpPr>
            <a:spLocks noGrp="1"/>
          </p:cNvSpPr>
          <p:nvPr>
            <p:ph type="title"/>
          </p:nvPr>
        </p:nvSpPr>
        <p:spPr>
          <a:xfrm>
            <a:off x="245195" y="-45483"/>
            <a:ext cx="10515600" cy="1094265"/>
          </a:xfrm>
        </p:spPr>
        <p:txBody>
          <a:bodyPr>
            <a:normAutofit fontScale="90000"/>
          </a:bodyPr>
          <a:lstStyle/>
          <a:p>
            <a:r>
              <a:rPr lang="en-US" dirty="0"/>
              <a:t>Precision Oncology Program Cancer of the Prostate (</a:t>
            </a:r>
            <a:r>
              <a:rPr lang="en-US" dirty="0" err="1"/>
              <a:t>POPCaP</a:t>
            </a:r>
            <a:r>
              <a:rPr lang="en-US" dirty="0"/>
              <a:t>)</a:t>
            </a:r>
          </a:p>
        </p:txBody>
      </p:sp>
      <p:sp>
        <p:nvSpPr>
          <p:cNvPr id="4" name="Slide Number Placeholder 3">
            <a:extLst>
              <a:ext uri="{FF2B5EF4-FFF2-40B4-BE49-F238E27FC236}">
                <a16:creationId xmlns:a16="http://schemas.microsoft.com/office/drawing/2014/main" id="{F3F71A90-B627-8E04-E9F9-EC59F0EC43A0}"/>
              </a:ext>
            </a:extLst>
          </p:cNvPr>
          <p:cNvSpPr>
            <a:spLocks noGrp="1"/>
          </p:cNvSpPr>
          <p:nvPr>
            <p:ph type="sldNum" sz="quarter" idx="4"/>
          </p:nvPr>
        </p:nvSpPr>
        <p:spPr/>
        <p:txBody>
          <a:bodyPr/>
          <a:lstStyle/>
          <a:p>
            <a:fld id="{21672522-718F-5A4A-A967-5C1A35706813}" type="slidenum">
              <a:rPr lang="en-US" smtClean="0"/>
              <a:pPr/>
              <a:t>32</a:t>
            </a:fld>
            <a:endParaRPr lang="en-US"/>
          </a:p>
        </p:txBody>
      </p:sp>
    </p:spTree>
    <p:extLst>
      <p:ext uri="{BB962C8B-B14F-4D97-AF65-F5344CB8AC3E}">
        <p14:creationId xmlns:p14="http://schemas.microsoft.com/office/powerpoint/2010/main" val="8411144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BA889E-DF38-494F-7A4C-1813B78291C6}"/>
              </a:ext>
            </a:extLst>
          </p:cNvPr>
          <p:cNvSpPr>
            <a:spLocks noGrp="1"/>
          </p:cNvSpPr>
          <p:nvPr>
            <p:ph idx="1"/>
          </p:nvPr>
        </p:nvSpPr>
        <p:spPr>
          <a:xfrm>
            <a:off x="440573" y="1106036"/>
            <a:ext cx="11477800" cy="5561801"/>
          </a:xfrm>
        </p:spPr>
        <p:txBody>
          <a:bodyPr/>
          <a:lstStyle/>
          <a:p>
            <a:r>
              <a:rPr lang="en-US" sz="2000" b="1" dirty="0"/>
              <a:t>Goal: </a:t>
            </a:r>
            <a:r>
              <a:rPr lang="en-US" sz="2000" dirty="0"/>
              <a:t>Increase enterprise-wide access and number of Veterans enrolled in biomarker driven clinical trials using the most advanced therapies.</a:t>
            </a:r>
          </a:p>
          <a:p>
            <a:r>
              <a:rPr lang="en-US" sz="1600" dirty="0"/>
              <a:t>Over 5 years POPCAP opened </a:t>
            </a:r>
            <a:r>
              <a:rPr lang="en-US" sz="1600"/>
              <a:t>more than </a:t>
            </a:r>
            <a:r>
              <a:rPr lang="en-US" sz="1600" dirty="0"/>
              <a:t>21 novel clinical trials, screened 1000+ patients and enrolled 765 Veterans into </a:t>
            </a:r>
            <a:r>
              <a:rPr lang="en-US" sz="1600" u="sng" dirty="0"/>
              <a:t>interventional</a:t>
            </a:r>
            <a:r>
              <a:rPr lang="en-US" sz="1600" dirty="0"/>
              <a:t> VA trials.</a:t>
            </a:r>
          </a:p>
          <a:p>
            <a:r>
              <a:rPr lang="en-US" sz="1600" dirty="0"/>
              <a:t>Over 5 years POPCAP enrolled 2188 Veterans into </a:t>
            </a:r>
            <a:r>
              <a:rPr lang="en-US" sz="1600" u="sng" dirty="0"/>
              <a:t>non-interventional</a:t>
            </a:r>
            <a:r>
              <a:rPr lang="en-US" sz="1600" dirty="0"/>
              <a:t> trials (1576 in Seattle, 612 in MAPP-Seq)</a:t>
            </a:r>
          </a:p>
          <a:p>
            <a:pPr marL="0" indent="0">
              <a:buNone/>
            </a:pPr>
            <a:r>
              <a:rPr lang="en-US" sz="1400" dirty="0"/>
              <a:t>Examples of VA-funded </a:t>
            </a:r>
            <a:r>
              <a:rPr lang="en-US" sz="1400" dirty="0" err="1"/>
              <a:t>invterntional</a:t>
            </a:r>
            <a:r>
              <a:rPr lang="en-US" sz="1400" dirty="0"/>
              <a:t> multi-site clinical trials currently enrolling Veterans:</a:t>
            </a:r>
          </a:p>
          <a:p>
            <a:r>
              <a:rPr lang="en-US" sz="1400" b="1" dirty="0"/>
              <a:t>SOLAR: </a:t>
            </a:r>
            <a:r>
              <a:rPr lang="en-US" sz="1400" dirty="0"/>
              <a:t>Phase II study of </a:t>
            </a:r>
            <a:r>
              <a:rPr lang="en-US" sz="1400" kern="1200" dirty="0">
                <a:solidFill>
                  <a:srgbClr val="000000"/>
                </a:solidFill>
                <a:effectLst/>
                <a:ea typeface="Times New Roman" panose="02020603050405020304" pitchFamily="18" charset="0"/>
                <a:cs typeface="Calibri" panose="020F0502020204030204" pitchFamily="34" charset="0"/>
              </a:rPr>
              <a:t>Systematic and Tumor-Directed Therapy for </a:t>
            </a:r>
            <a:r>
              <a:rPr lang="en-US" sz="1400" kern="1200" dirty="0" err="1">
                <a:solidFill>
                  <a:srgbClr val="000000"/>
                </a:solidFill>
                <a:effectLst/>
                <a:ea typeface="Times New Roman" panose="02020603050405020304" pitchFamily="18" charset="0"/>
                <a:cs typeface="Calibri" panose="020F0502020204030204" pitchFamily="34" charset="0"/>
              </a:rPr>
              <a:t>Oligometastic</a:t>
            </a:r>
            <a:r>
              <a:rPr lang="en-US" sz="1400" kern="1200" dirty="0">
                <a:solidFill>
                  <a:srgbClr val="000000"/>
                </a:solidFill>
                <a:effectLst/>
                <a:ea typeface="Times New Roman" panose="02020603050405020304" pitchFamily="18" charset="0"/>
                <a:cs typeface="Calibri" panose="020F0502020204030204" pitchFamily="34" charset="0"/>
              </a:rPr>
              <a:t> Prostate Cancer</a:t>
            </a:r>
            <a:endParaRPr lang="en-US" sz="1400" dirty="0"/>
          </a:p>
          <a:p>
            <a:r>
              <a:rPr lang="en-US" sz="1400" b="1" dirty="0"/>
              <a:t>CHOMP:  </a:t>
            </a:r>
            <a:r>
              <a:rPr lang="en-US" sz="1400" dirty="0"/>
              <a:t>Open-label, phase II study of </a:t>
            </a:r>
            <a:r>
              <a:rPr lang="en-US" sz="1400" dirty="0" err="1"/>
              <a:t>CHeckpoint</a:t>
            </a:r>
            <a:r>
              <a:rPr lang="en-US" sz="1400" dirty="0"/>
              <a:t> inhibitors in men with </a:t>
            </a:r>
            <a:r>
              <a:rPr lang="en-US" sz="1400" dirty="0" err="1"/>
              <a:t>prOgressive</a:t>
            </a:r>
            <a:r>
              <a:rPr lang="en-US" sz="1400" dirty="0"/>
              <a:t> Metastatic castrate resistant Prostate cancer characterized by a mismatch repair deficiency or biallelic CDK12 inactivation</a:t>
            </a:r>
          </a:p>
          <a:p>
            <a:r>
              <a:rPr lang="en-US" sz="1400" b="1" dirty="0"/>
              <a:t>COBRA: </a:t>
            </a:r>
            <a:r>
              <a:rPr lang="en-US" sz="1400" dirty="0"/>
              <a:t>Open-label, multicenter phase II study to compare the efficacy of carboplatin as first-line followed by second-line </a:t>
            </a:r>
            <a:r>
              <a:rPr lang="en-US" sz="1400" dirty="0" err="1"/>
              <a:t>olaparib</a:t>
            </a:r>
            <a:r>
              <a:rPr lang="en-US" sz="1400" dirty="0"/>
              <a:t> versus </a:t>
            </a:r>
            <a:r>
              <a:rPr lang="en-US" sz="1400" dirty="0" err="1"/>
              <a:t>olaparib</a:t>
            </a:r>
            <a:r>
              <a:rPr lang="en-US" sz="1400" dirty="0"/>
              <a:t> as first-line followed by second-line carboplatin in the treatment of patients with castration resistant prostate cancer containing homologous recombination deficiency</a:t>
            </a:r>
          </a:p>
          <a:p>
            <a:r>
              <a:rPr lang="en-US" sz="1400" b="1" dirty="0"/>
              <a:t>BAT: </a:t>
            </a:r>
            <a:r>
              <a:rPr lang="en-US" sz="1400" dirty="0"/>
              <a:t>High-dose Testosterone in Men with Metastatic Castration-resistant Prostate Cancer and ATM, CDK12, or CHEK2 deficiency</a:t>
            </a:r>
          </a:p>
          <a:p>
            <a:r>
              <a:rPr lang="en-US" sz="1400" b="1" dirty="0"/>
              <a:t>STARPORT: </a:t>
            </a:r>
            <a:r>
              <a:rPr lang="en-US" sz="1400" cap="none" spc="0" dirty="0">
                <a:solidFill>
                  <a:schemeClr val="tx1"/>
                </a:solidFill>
              </a:rPr>
              <a:t>Phase II/III Randomized Trial of </a:t>
            </a:r>
            <a:r>
              <a:rPr lang="en-US" sz="1400" cap="none" spc="0" dirty="0" err="1">
                <a:solidFill>
                  <a:schemeClr val="tx1"/>
                </a:solidFill>
              </a:rPr>
              <a:t>STAndard</a:t>
            </a:r>
            <a:r>
              <a:rPr lang="en-US" sz="1400" cap="none" spc="0" dirty="0">
                <a:solidFill>
                  <a:schemeClr val="tx1"/>
                </a:solidFill>
              </a:rPr>
              <a:t> Systemic </a:t>
            </a:r>
            <a:r>
              <a:rPr lang="en-US" sz="1400" cap="none" spc="0" dirty="0" err="1">
                <a:solidFill>
                  <a:schemeClr val="tx1"/>
                </a:solidFill>
              </a:rPr>
              <a:t>theRapy</a:t>
            </a:r>
            <a:r>
              <a:rPr lang="en-US" sz="1400" cap="none" spc="0" dirty="0">
                <a:solidFill>
                  <a:schemeClr val="tx1"/>
                </a:solidFill>
              </a:rPr>
              <a:t> With or Without PET-directed Local Therapy for </a:t>
            </a:r>
            <a:r>
              <a:rPr lang="en-US" sz="1400" cap="none" spc="0" dirty="0" err="1">
                <a:solidFill>
                  <a:schemeClr val="tx1"/>
                </a:solidFill>
              </a:rPr>
              <a:t>OligoRecurrenT</a:t>
            </a:r>
            <a:r>
              <a:rPr lang="en-US" sz="1400" cap="none" spc="0" dirty="0">
                <a:solidFill>
                  <a:schemeClr val="tx1"/>
                </a:solidFill>
              </a:rPr>
              <a:t> Prostate Cancer</a:t>
            </a:r>
          </a:p>
          <a:p>
            <a:r>
              <a:rPr lang="en-US" sz="1400" b="1" dirty="0"/>
              <a:t>SNARE: </a:t>
            </a:r>
            <a:r>
              <a:rPr lang="en-US" sz="1400" dirty="0"/>
              <a:t>Phase II Study of Neoadjuvant Intensified Androgen Deprivation (leuprolide and abiraterone acetate) in Combination with AKT Inhibition (</a:t>
            </a:r>
            <a:r>
              <a:rPr lang="en-US" sz="1400" dirty="0" err="1"/>
              <a:t>capivasertib</a:t>
            </a:r>
            <a:r>
              <a:rPr lang="en-US" sz="1400" dirty="0"/>
              <a:t>) for High-Risk Localized Prostate Cancer with PTEN Loss</a:t>
            </a:r>
          </a:p>
          <a:p>
            <a:r>
              <a:rPr lang="en-US" sz="1400" b="1" dirty="0"/>
              <a:t>RESTORE</a:t>
            </a:r>
            <a:r>
              <a:rPr lang="en-US" sz="1400" dirty="0"/>
              <a:t>: Phase II study of </a:t>
            </a:r>
            <a:r>
              <a:rPr lang="en-US" sz="1400" kern="1200" dirty="0">
                <a:solidFill>
                  <a:schemeClr val="tx1"/>
                </a:solidFill>
                <a:effectLst/>
                <a:ea typeface="Times New Roman" panose="02020603050405020304" pitchFamily="18" charset="0"/>
                <a:cs typeface="Calibri" panose="020F0502020204030204" pitchFamily="34" charset="0"/>
              </a:rPr>
              <a:t>Target Radiation with no Castration for Metastatic Castration Resistant Prostate Cancer (</a:t>
            </a:r>
            <a:r>
              <a:rPr lang="en-US" sz="1400" kern="1200" dirty="0" err="1">
                <a:solidFill>
                  <a:schemeClr val="tx1"/>
                </a:solidFill>
                <a:effectLst/>
                <a:ea typeface="Times New Roman" panose="02020603050405020304" pitchFamily="18" charset="0"/>
                <a:cs typeface="Calibri" panose="020F0502020204030204" pitchFamily="34" charset="0"/>
              </a:rPr>
              <a:t>mCRPC</a:t>
            </a:r>
            <a:r>
              <a:rPr lang="en-US" sz="1400" kern="1200" dirty="0">
                <a:solidFill>
                  <a:schemeClr val="tx1"/>
                </a:solidFill>
                <a:effectLst/>
                <a:ea typeface="Times New Roman" panose="02020603050405020304" pitchFamily="18" charset="0"/>
                <a:cs typeface="Calibri" panose="020F0502020204030204" pitchFamily="34" charset="0"/>
              </a:rPr>
              <a:t>) </a:t>
            </a:r>
            <a:endParaRPr lang="en-US" sz="1400" dirty="0"/>
          </a:p>
        </p:txBody>
      </p:sp>
      <p:sp>
        <p:nvSpPr>
          <p:cNvPr id="3" name="Title 2">
            <a:extLst>
              <a:ext uri="{FF2B5EF4-FFF2-40B4-BE49-F238E27FC236}">
                <a16:creationId xmlns:a16="http://schemas.microsoft.com/office/drawing/2014/main" id="{5796D43F-C4C4-C0CC-1141-272B1AE2FE3D}"/>
              </a:ext>
            </a:extLst>
          </p:cNvPr>
          <p:cNvSpPr>
            <a:spLocks noGrp="1"/>
          </p:cNvSpPr>
          <p:nvPr>
            <p:ph type="title"/>
          </p:nvPr>
        </p:nvSpPr>
        <p:spPr/>
        <p:txBody>
          <a:bodyPr>
            <a:normAutofit/>
          </a:bodyPr>
          <a:lstStyle/>
          <a:p>
            <a:r>
              <a:rPr lang="en-US" sz="3200" dirty="0">
                <a:effectLst/>
                <a:latin typeface="Arial" panose="020B0604020202020204" pitchFamily="34" charset="0"/>
                <a:ea typeface="Calibri" panose="020F0502020204030204" pitchFamily="34" charset="0"/>
              </a:rPr>
              <a:t>POPCAP/GU </a:t>
            </a:r>
            <a:r>
              <a:rPr lang="en-US" sz="3200" dirty="0">
                <a:latin typeface="Arial" panose="020B0604020202020204" pitchFamily="34" charset="0"/>
                <a:ea typeface="Calibri" panose="020F0502020204030204" pitchFamily="34" charset="0"/>
              </a:rPr>
              <a:t>R</a:t>
            </a:r>
            <a:r>
              <a:rPr lang="en-US" sz="3200" dirty="0">
                <a:effectLst/>
                <a:latin typeface="Arial" panose="020B0604020202020204" pitchFamily="34" charset="0"/>
                <a:ea typeface="Calibri" panose="020F0502020204030204" pitchFamily="34" charset="0"/>
              </a:rPr>
              <a:t>esearch Efforts</a:t>
            </a:r>
            <a:endParaRPr lang="en-US" sz="3200" dirty="0"/>
          </a:p>
        </p:txBody>
      </p:sp>
    </p:spTree>
    <p:extLst>
      <p:ext uri="{BB962C8B-B14F-4D97-AF65-F5344CB8AC3E}">
        <p14:creationId xmlns:p14="http://schemas.microsoft.com/office/powerpoint/2010/main" val="214362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5F3854-CB93-0AE5-D697-0F988A38FB81}"/>
              </a:ext>
            </a:extLst>
          </p:cNvPr>
          <p:cNvSpPr>
            <a:spLocks noGrp="1"/>
          </p:cNvSpPr>
          <p:nvPr>
            <p:ph idx="1"/>
          </p:nvPr>
        </p:nvSpPr>
        <p:spPr/>
        <p:txBody>
          <a:bodyPr/>
          <a:lstStyle/>
          <a:p>
            <a:r>
              <a:rPr lang="en-US" dirty="0"/>
              <a:t>Focused on translating discoveries into new evidence with over 573 peer reviewed publications over the past 5 years</a:t>
            </a:r>
          </a:p>
          <a:p>
            <a:r>
              <a:rPr lang="en-US" dirty="0"/>
              <a:t>Innovative and impactful research to improve care include:</a:t>
            </a:r>
          </a:p>
          <a:p>
            <a:pPr lvl="1"/>
            <a:r>
              <a:rPr lang="en-US" dirty="0"/>
              <a:t>Real world evidence from VA to inform care of all men with prostate cancer</a:t>
            </a:r>
          </a:p>
          <a:p>
            <a:pPr lvl="1"/>
            <a:r>
              <a:rPr lang="en-US" dirty="0"/>
              <a:t>Uptake of active surveillance in men and veterans to avoid toxicities of therapy</a:t>
            </a:r>
          </a:p>
          <a:p>
            <a:pPr lvl="1"/>
            <a:r>
              <a:rPr lang="en-US" dirty="0"/>
              <a:t>Barriers to Precision Oncology Implementation </a:t>
            </a:r>
          </a:p>
          <a:p>
            <a:pPr lvl="1"/>
            <a:r>
              <a:rPr lang="en-US" dirty="0">
                <a:effectLst/>
                <a:ea typeface="Calibri" panose="020F0502020204030204" pitchFamily="34" charset="0"/>
                <a:cs typeface="Times New Roman" panose="02020603050405020304" pitchFamily="18" charset="0"/>
              </a:rPr>
              <a:t>Prostate cancer, Genetic Risk, and Equitable Screening Study (</a:t>
            </a:r>
            <a:r>
              <a:rPr lang="en-US" dirty="0" err="1">
                <a:effectLst/>
                <a:ea typeface="Calibri" panose="020F0502020204030204" pitchFamily="34" charset="0"/>
                <a:cs typeface="Times New Roman" panose="02020603050405020304" pitchFamily="18" charset="0"/>
              </a:rPr>
              <a:t>ProGRESS</a:t>
            </a:r>
            <a:r>
              <a:rPr lang="en-US" dirty="0">
                <a:effectLst/>
                <a:ea typeface="Calibri" panose="020F0502020204030204" pitchFamily="34" charset="0"/>
                <a:cs typeface="Times New Roman" panose="02020603050405020304" pitchFamily="18" charset="0"/>
              </a:rPr>
              <a:t>), a large clinical trial (5000 Veterans) of precision prostate screening among a diverse group of male Veterans nationwide</a:t>
            </a:r>
            <a:endParaRPr lang="en-US" dirty="0"/>
          </a:p>
        </p:txBody>
      </p:sp>
      <p:sp>
        <p:nvSpPr>
          <p:cNvPr id="3" name="Title 2">
            <a:extLst>
              <a:ext uri="{FF2B5EF4-FFF2-40B4-BE49-F238E27FC236}">
                <a16:creationId xmlns:a16="http://schemas.microsoft.com/office/drawing/2014/main" id="{BCF11007-4FB4-21CC-EB1E-FBF8698E0D7D}"/>
              </a:ext>
            </a:extLst>
          </p:cNvPr>
          <p:cNvSpPr>
            <a:spLocks noGrp="1"/>
          </p:cNvSpPr>
          <p:nvPr>
            <p:ph type="title"/>
          </p:nvPr>
        </p:nvSpPr>
        <p:spPr/>
        <p:txBody>
          <a:bodyPr/>
          <a:lstStyle/>
          <a:p>
            <a:r>
              <a:rPr lang="en-US" dirty="0" err="1"/>
              <a:t>POPCaP</a:t>
            </a:r>
            <a:r>
              <a:rPr lang="en-US"/>
              <a:t>/GU </a:t>
            </a:r>
            <a:r>
              <a:rPr lang="en-US" dirty="0"/>
              <a:t>Translational Studies</a:t>
            </a:r>
          </a:p>
        </p:txBody>
      </p:sp>
      <p:sp>
        <p:nvSpPr>
          <p:cNvPr id="4" name="Slide Number Placeholder 3">
            <a:extLst>
              <a:ext uri="{FF2B5EF4-FFF2-40B4-BE49-F238E27FC236}">
                <a16:creationId xmlns:a16="http://schemas.microsoft.com/office/drawing/2014/main" id="{B2F49C85-31BD-420F-3CEE-4F6898AF10EE}"/>
              </a:ext>
            </a:extLst>
          </p:cNvPr>
          <p:cNvSpPr>
            <a:spLocks noGrp="1"/>
          </p:cNvSpPr>
          <p:nvPr>
            <p:ph type="sldNum" sz="quarter" idx="4"/>
          </p:nvPr>
        </p:nvSpPr>
        <p:spPr/>
        <p:txBody>
          <a:bodyPr/>
          <a:lstStyle/>
          <a:p>
            <a:fld id="{21672522-718F-5A4A-A967-5C1A35706813}" type="slidenum">
              <a:rPr lang="en-US" smtClean="0"/>
              <a:pPr/>
              <a:t>34</a:t>
            </a:fld>
            <a:endParaRPr lang="en-US"/>
          </a:p>
        </p:txBody>
      </p:sp>
    </p:spTree>
    <p:extLst>
      <p:ext uri="{BB962C8B-B14F-4D97-AF65-F5344CB8AC3E}">
        <p14:creationId xmlns:p14="http://schemas.microsoft.com/office/powerpoint/2010/main" val="4375951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3E613A-F37C-CA2A-DB6B-2A8FAD2312D5}"/>
              </a:ext>
            </a:extLst>
          </p:cNvPr>
          <p:cNvSpPr>
            <a:spLocks noGrp="1"/>
          </p:cNvSpPr>
          <p:nvPr>
            <p:ph idx="1"/>
          </p:nvPr>
        </p:nvSpPr>
        <p:spPr/>
        <p:txBody>
          <a:bodyPr/>
          <a:lstStyle/>
          <a:p>
            <a:r>
              <a:rPr lang="en-US" sz="2000" dirty="0"/>
              <a:t>Veteran from outside Boise Idaho who developed metastatic, resistant prostate cancer</a:t>
            </a:r>
          </a:p>
          <a:p>
            <a:r>
              <a:rPr lang="en-US" sz="2000" dirty="0"/>
              <a:t>Genomic testing of his tumor tissue was coordinated in Seattle and found a BRCA2 alteration</a:t>
            </a:r>
          </a:p>
          <a:p>
            <a:r>
              <a:rPr lang="en-US" sz="2000" dirty="0"/>
              <a:t>The COBRA study was started up in Boise specifically for him and has been remotely performed between Seattle and Boise (no research coordinators in Boise)</a:t>
            </a:r>
          </a:p>
          <a:p>
            <a:r>
              <a:rPr lang="en-US" sz="2000" dirty="0"/>
              <a:t>At presentation in 6/2023 PSA was 119 and there were 12 liver metastases. He has been receiving experimental carboplatin on study now for almost 2 years, PSA is 0.38 and there is no evidence of liver metastasis.  He continues on treatment, doing well. </a:t>
            </a:r>
          </a:p>
          <a:p>
            <a:r>
              <a:rPr lang="en-US" sz="2000" dirty="0"/>
              <a:t>This is an example of how without POPCAP research, this rural veteran would not have had access to genomics or the research which has served him well. </a:t>
            </a:r>
          </a:p>
          <a:p>
            <a:endParaRPr lang="en-US" sz="2000" dirty="0"/>
          </a:p>
        </p:txBody>
      </p:sp>
      <p:sp>
        <p:nvSpPr>
          <p:cNvPr id="3" name="Title 2">
            <a:extLst>
              <a:ext uri="{FF2B5EF4-FFF2-40B4-BE49-F238E27FC236}">
                <a16:creationId xmlns:a16="http://schemas.microsoft.com/office/drawing/2014/main" id="{023023A3-B132-36B9-152D-1F0DDA324B3E}"/>
              </a:ext>
            </a:extLst>
          </p:cNvPr>
          <p:cNvSpPr>
            <a:spLocks noGrp="1"/>
          </p:cNvSpPr>
          <p:nvPr>
            <p:ph type="title"/>
          </p:nvPr>
        </p:nvSpPr>
        <p:spPr/>
        <p:txBody>
          <a:bodyPr/>
          <a:lstStyle/>
          <a:p>
            <a:r>
              <a:rPr lang="en-US" dirty="0"/>
              <a:t>Reach of POPCAP clinical research</a:t>
            </a:r>
          </a:p>
        </p:txBody>
      </p:sp>
      <p:sp>
        <p:nvSpPr>
          <p:cNvPr id="4" name="Slide Number Placeholder 3">
            <a:extLst>
              <a:ext uri="{FF2B5EF4-FFF2-40B4-BE49-F238E27FC236}">
                <a16:creationId xmlns:a16="http://schemas.microsoft.com/office/drawing/2014/main" id="{634EF3BF-FCF8-1F15-D9BD-4940143C4D86}"/>
              </a:ext>
            </a:extLst>
          </p:cNvPr>
          <p:cNvSpPr>
            <a:spLocks noGrp="1"/>
          </p:cNvSpPr>
          <p:nvPr>
            <p:ph type="sldNum" sz="quarter" idx="4"/>
          </p:nvPr>
        </p:nvSpPr>
        <p:spPr/>
        <p:txBody>
          <a:bodyPr/>
          <a:lstStyle/>
          <a:p>
            <a:fld id="{21672522-718F-5A4A-A967-5C1A35706813}" type="slidenum">
              <a:rPr lang="en-US" smtClean="0"/>
              <a:pPr/>
              <a:t>35</a:t>
            </a:fld>
            <a:endParaRPr lang="en-US"/>
          </a:p>
        </p:txBody>
      </p:sp>
    </p:spTree>
    <p:extLst>
      <p:ext uri="{BB962C8B-B14F-4D97-AF65-F5344CB8AC3E}">
        <p14:creationId xmlns:p14="http://schemas.microsoft.com/office/powerpoint/2010/main" val="10350251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B13119-9384-A2C4-B101-12DC3A2766D9}"/>
              </a:ext>
            </a:extLst>
          </p:cNvPr>
          <p:cNvSpPr>
            <a:spLocks noGrp="1"/>
          </p:cNvSpPr>
          <p:nvPr>
            <p:ph idx="1"/>
          </p:nvPr>
        </p:nvSpPr>
        <p:spPr>
          <a:xfrm>
            <a:off x="446810" y="1106037"/>
            <a:ext cx="11259342" cy="5161050"/>
          </a:xfrm>
        </p:spPr>
        <p:txBody>
          <a:bodyPr/>
          <a:lstStyle/>
          <a:p>
            <a:r>
              <a:rPr lang="en-US" sz="2000" dirty="0"/>
              <a:t>Approximately 7,700 Veterans using VHA services are diagnosed with lung cancer annually and about </a:t>
            </a:r>
            <a:r>
              <a:rPr lang="en-US" sz="2000" b="1" dirty="0"/>
              <a:t>5,000</a:t>
            </a:r>
            <a:r>
              <a:rPr lang="en-US" sz="2000" dirty="0"/>
              <a:t> die from lung cancer each year </a:t>
            </a:r>
          </a:p>
          <a:p>
            <a:r>
              <a:rPr lang="en-US" sz="2000" b="1" dirty="0"/>
              <a:t>Over</a:t>
            </a:r>
            <a:r>
              <a:rPr lang="en-US" sz="2000" dirty="0"/>
              <a:t> </a:t>
            </a:r>
            <a:r>
              <a:rPr lang="en-US" sz="2000" b="1" dirty="0"/>
              <a:t>1 million </a:t>
            </a:r>
            <a:r>
              <a:rPr lang="en-US" sz="2000" dirty="0"/>
              <a:t>Veterans are at high risk of developing lung cancer due to older age, smoking history, and environmental exposures during or after military service</a:t>
            </a:r>
          </a:p>
          <a:p>
            <a:r>
              <a:rPr lang="en-US" sz="2000" dirty="0"/>
              <a:t>Since 2021 VA developed a national network in lung cancer research and care bringing precision oncology lung cancer to Veterans in every VISN</a:t>
            </a:r>
          </a:p>
          <a:p>
            <a:r>
              <a:rPr lang="en-US" sz="2000" dirty="0"/>
              <a:t>Using a hub and spoke model, LPOP has 24 hubs and 87 spoke sites focused on:</a:t>
            </a:r>
          </a:p>
          <a:p>
            <a:pPr lvl="2"/>
            <a:r>
              <a:rPr lang="en-US" sz="1600" dirty="0"/>
              <a:t>Lung cancer screening – early detection of lung cancer via low dose computed tomography (LCDT) in high-risk Veterans</a:t>
            </a:r>
          </a:p>
          <a:p>
            <a:pPr lvl="2"/>
            <a:r>
              <a:rPr lang="en-US" sz="1600" dirty="0"/>
              <a:t>Smoking cessation – participate in treatment programs to help Veterans quit smoking</a:t>
            </a:r>
          </a:p>
          <a:p>
            <a:pPr lvl="2"/>
            <a:r>
              <a:rPr lang="en-US" sz="1600" dirty="0"/>
              <a:t>Genomic and clinical testing - improve access to precision therapy clinical trials</a:t>
            </a:r>
          </a:p>
          <a:p>
            <a:pPr lvl="2"/>
            <a:r>
              <a:rPr lang="en-US" sz="1600" dirty="0"/>
              <a:t>Therapeutic interventions – use of FDA approved, </a:t>
            </a:r>
            <a:r>
              <a:rPr lang="en-US" sz="1400" dirty="0">
                <a:effectLst/>
                <a:ea typeface="Calibri" panose="020F0502020204030204" pitchFamily="34" charset="0"/>
              </a:rPr>
              <a:t>novel and repurposed therapies</a:t>
            </a:r>
          </a:p>
          <a:p>
            <a:pPr lvl="2"/>
            <a:r>
              <a:rPr lang="en-US" sz="1600" dirty="0"/>
              <a:t>Rapid </a:t>
            </a:r>
            <a:r>
              <a:rPr lang="en-US" sz="1600" dirty="0">
                <a:effectLst/>
                <a:ea typeface="Calibri" panose="020F0502020204030204" pitchFamily="34" charset="0"/>
              </a:rPr>
              <a:t>translation of research discoveries into clinical care</a:t>
            </a:r>
            <a:endParaRPr lang="en-US" sz="1600" dirty="0"/>
          </a:p>
          <a:p>
            <a:r>
              <a:rPr lang="en-US" sz="2000" dirty="0"/>
              <a:t> </a:t>
            </a:r>
          </a:p>
        </p:txBody>
      </p:sp>
      <p:sp>
        <p:nvSpPr>
          <p:cNvPr id="3" name="Title 2">
            <a:extLst>
              <a:ext uri="{FF2B5EF4-FFF2-40B4-BE49-F238E27FC236}">
                <a16:creationId xmlns:a16="http://schemas.microsoft.com/office/drawing/2014/main" id="{300E8BD3-A6C5-2470-641D-FA696416B8B6}"/>
              </a:ext>
            </a:extLst>
          </p:cNvPr>
          <p:cNvSpPr>
            <a:spLocks noGrp="1"/>
          </p:cNvSpPr>
          <p:nvPr>
            <p:ph type="title"/>
          </p:nvPr>
        </p:nvSpPr>
        <p:spPr/>
        <p:txBody>
          <a:bodyPr/>
          <a:lstStyle/>
          <a:p>
            <a:r>
              <a:rPr lang="en-US" dirty="0"/>
              <a:t>Lung Precision Oncology Program (LPOP)</a:t>
            </a:r>
          </a:p>
        </p:txBody>
      </p:sp>
      <p:sp>
        <p:nvSpPr>
          <p:cNvPr id="4" name="Slide Number Placeholder 3">
            <a:extLst>
              <a:ext uri="{FF2B5EF4-FFF2-40B4-BE49-F238E27FC236}">
                <a16:creationId xmlns:a16="http://schemas.microsoft.com/office/drawing/2014/main" id="{67195EC8-FDDA-E4CE-B7C1-755B271505E1}"/>
              </a:ext>
            </a:extLst>
          </p:cNvPr>
          <p:cNvSpPr>
            <a:spLocks noGrp="1"/>
          </p:cNvSpPr>
          <p:nvPr>
            <p:ph type="sldNum" sz="quarter" idx="4"/>
          </p:nvPr>
        </p:nvSpPr>
        <p:spPr/>
        <p:txBody>
          <a:bodyPr/>
          <a:lstStyle/>
          <a:p>
            <a:fld id="{21672522-718F-5A4A-A967-5C1A35706813}" type="slidenum">
              <a:rPr lang="en-US" smtClean="0"/>
              <a:pPr/>
              <a:t>36</a:t>
            </a:fld>
            <a:endParaRPr lang="en-US"/>
          </a:p>
        </p:txBody>
      </p:sp>
    </p:spTree>
    <p:extLst>
      <p:ext uri="{BB962C8B-B14F-4D97-AF65-F5344CB8AC3E}">
        <p14:creationId xmlns:p14="http://schemas.microsoft.com/office/powerpoint/2010/main" val="21960624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D6C7CE-9BD5-4E87-B4DC-0A91269CC5EB}"/>
              </a:ext>
            </a:extLst>
          </p:cNvPr>
          <p:cNvSpPr>
            <a:spLocks noGrp="1"/>
          </p:cNvSpPr>
          <p:nvPr>
            <p:ph idx="1"/>
          </p:nvPr>
        </p:nvSpPr>
        <p:spPr>
          <a:xfrm>
            <a:off x="301336" y="1106037"/>
            <a:ext cx="11890663" cy="5615438"/>
          </a:xfrm>
        </p:spPr>
        <p:txBody>
          <a:bodyPr/>
          <a:lstStyle/>
          <a:p>
            <a:r>
              <a:rPr lang="en-US" dirty="0"/>
              <a:t>Impact of LPOP on lung cancer screening (LCS)</a:t>
            </a:r>
          </a:p>
          <a:p>
            <a:pPr lvl="1"/>
            <a:r>
              <a:rPr lang="en-US" sz="1800" b="1" dirty="0">
                <a:ea typeface="Times New Roman" panose="02020603050405020304" pitchFamily="18" charset="0"/>
                <a:cs typeface="Times New Roman" panose="02020603050405020304" pitchFamily="18" charset="0"/>
              </a:rPr>
              <a:t>L</a:t>
            </a:r>
            <a:r>
              <a:rPr lang="en-US" sz="1800" b="1" dirty="0">
                <a:effectLst/>
                <a:ea typeface="Times New Roman" panose="02020603050405020304" pitchFamily="18" charset="0"/>
                <a:cs typeface="Times New Roman" panose="02020603050405020304" pitchFamily="18" charset="0"/>
              </a:rPr>
              <a:t>argest LCS program nationally</a:t>
            </a:r>
            <a:r>
              <a:rPr lang="en-US" sz="1800" dirty="0">
                <a:effectLst/>
                <a:ea typeface="Times New Roman" panose="02020603050405020304" pitchFamily="18" charset="0"/>
                <a:cs typeface="Times New Roman" panose="02020603050405020304" pitchFamily="18" charset="0"/>
              </a:rPr>
              <a:t>, </a:t>
            </a:r>
            <a:r>
              <a:rPr lang="en-US" sz="1800" dirty="0">
                <a:solidFill>
                  <a:srgbClr val="000000"/>
                </a:solidFill>
                <a:effectLst/>
                <a:ea typeface="Times New Roman" panose="02020603050405020304" pitchFamily="18" charset="0"/>
                <a:cs typeface="Times New Roman" panose="02020603050405020304" pitchFamily="18" charset="0"/>
              </a:rPr>
              <a:t>standards consistent with public benchmark and practice guidelines </a:t>
            </a:r>
          </a:p>
          <a:p>
            <a:pPr lvl="1"/>
            <a:r>
              <a:rPr lang="en-US" sz="1800" b="1" dirty="0"/>
              <a:t>98 of 111 LPOP sites actively engaged in lung cancer screening</a:t>
            </a:r>
          </a:p>
          <a:p>
            <a:pPr lvl="1"/>
            <a:r>
              <a:rPr lang="en-US" sz="1800" dirty="0"/>
              <a:t>Instituted a </a:t>
            </a:r>
            <a:r>
              <a:rPr lang="en-US" sz="1800" b="1" dirty="0"/>
              <a:t>national Lung Cancer Screening Platform (LCSP) </a:t>
            </a:r>
            <a:r>
              <a:rPr lang="en-US" sz="1800" dirty="0"/>
              <a:t>that democratizes best practices, operational efficiency, standardize approach in screening Veterans for lung cancer </a:t>
            </a:r>
          </a:p>
          <a:p>
            <a:pPr lvl="1"/>
            <a:r>
              <a:rPr lang="en-US" sz="1800" dirty="0"/>
              <a:t>Achieved </a:t>
            </a:r>
            <a:r>
              <a:rPr lang="en-US" sz="1800" b="1" dirty="0"/>
              <a:t>&gt;90% LCS adherence </a:t>
            </a:r>
            <a:r>
              <a:rPr lang="en-US" sz="1800" dirty="0"/>
              <a:t>in sites using LCSP (vs ~60% in other VA sites and ~30% in non-VA sites)</a:t>
            </a:r>
          </a:p>
          <a:p>
            <a:pPr lvl="1"/>
            <a:r>
              <a:rPr lang="en-US" sz="1800" dirty="0">
                <a:effectLst/>
                <a:ea typeface="Calibri" panose="020F0502020204030204" pitchFamily="34" charset="0"/>
              </a:rPr>
              <a:t>Instituted </a:t>
            </a:r>
            <a:r>
              <a:rPr lang="en-US" sz="1800" b="1" dirty="0">
                <a:effectLst/>
                <a:ea typeface="Calibri" panose="020F0502020204030204" pitchFamily="34" charset="0"/>
              </a:rPr>
              <a:t>standardized radiology dictation template </a:t>
            </a:r>
            <a:r>
              <a:rPr lang="en-US" sz="1800" dirty="0">
                <a:effectLst/>
                <a:ea typeface="Calibri" panose="020F0502020204030204" pitchFamily="34" charset="0"/>
              </a:rPr>
              <a:t>across all LPOP sites to meet national standards (</a:t>
            </a:r>
            <a:r>
              <a:rPr lang="en-US" sz="1800" dirty="0">
                <a:effectLst/>
                <a:latin typeface="Calibri" panose="020F0502020204030204" pitchFamily="34" charset="0"/>
                <a:ea typeface="Calibri" panose="020F0502020204030204" pitchFamily="34" charset="0"/>
              </a:rPr>
              <a:t>American College of Radiology)</a:t>
            </a:r>
            <a:endParaRPr lang="en-US" sz="1800" dirty="0">
              <a:effectLst/>
              <a:ea typeface="Calibri" panose="020F0502020204030204" pitchFamily="34" charset="0"/>
            </a:endParaRPr>
          </a:p>
          <a:p>
            <a:pPr lvl="1"/>
            <a:r>
              <a:rPr lang="en-US" sz="1800" dirty="0"/>
              <a:t>Since 2021 (when LPOP began) </a:t>
            </a:r>
            <a:r>
              <a:rPr lang="en-US" sz="1800" b="1" dirty="0"/>
              <a:t>VA completed 681,204 LCS scans on 351,088 Veterans</a:t>
            </a:r>
          </a:p>
          <a:p>
            <a:pPr lvl="1"/>
            <a:r>
              <a:rPr lang="en-US" sz="1800" dirty="0"/>
              <a:t>VA increased LCS by</a:t>
            </a:r>
            <a:r>
              <a:rPr lang="en-US" sz="1800" b="1" dirty="0"/>
              <a:t> nearly 700%, with over 190,000 new Veterans </a:t>
            </a:r>
            <a:r>
              <a:rPr lang="en-US" sz="1800" dirty="0"/>
              <a:t>accepting screening since 2021. VA remains a national</a:t>
            </a:r>
            <a:r>
              <a:rPr lang="en-US" sz="1800" b="1" dirty="0"/>
              <a:t> </a:t>
            </a:r>
            <a:r>
              <a:rPr lang="en-US" sz="1800" dirty="0"/>
              <a:t>leader in lung cancer screening and early detection of lung cancer</a:t>
            </a:r>
          </a:p>
          <a:p>
            <a:pPr lvl="1"/>
            <a:r>
              <a:rPr lang="en-US" sz="1800" b="1" dirty="0"/>
              <a:t>VA leads the country in diagnosing lung cancer at early stage (when most treatable)</a:t>
            </a:r>
            <a:r>
              <a:rPr lang="en-US" sz="1800" dirty="0"/>
              <a:t>, thanks to LPOP investment in LCS – thus preventing Veteran deaths from lung cancer</a:t>
            </a:r>
          </a:p>
          <a:p>
            <a:pPr marL="228600" lvl="1">
              <a:buFont typeface="Arial" panose="020B0604020202020204" pitchFamily="34" charset="0"/>
              <a:buChar char="•"/>
            </a:pPr>
            <a:endParaRPr lang="en-US" sz="2600" dirty="0"/>
          </a:p>
        </p:txBody>
      </p:sp>
      <p:sp>
        <p:nvSpPr>
          <p:cNvPr id="3" name="Title 2">
            <a:extLst>
              <a:ext uri="{FF2B5EF4-FFF2-40B4-BE49-F238E27FC236}">
                <a16:creationId xmlns:a16="http://schemas.microsoft.com/office/drawing/2014/main" id="{16801AD2-7E83-605C-09E1-8EFCFF752581}"/>
              </a:ext>
            </a:extLst>
          </p:cNvPr>
          <p:cNvSpPr>
            <a:spLocks noGrp="1"/>
          </p:cNvSpPr>
          <p:nvPr>
            <p:ph type="title"/>
          </p:nvPr>
        </p:nvSpPr>
        <p:spPr/>
        <p:txBody>
          <a:bodyPr/>
          <a:lstStyle/>
          <a:p>
            <a:r>
              <a:rPr lang="en-US" dirty="0"/>
              <a:t>LPOP Impacting Veterans</a:t>
            </a:r>
          </a:p>
        </p:txBody>
      </p:sp>
      <p:sp>
        <p:nvSpPr>
          <p:cNvPr id="4" name="Slide Number Placeholder 3">
            <a:extLst>
              <a:ext uri="{FF2B5EF4-FFF2-40B4-BE49-F238E27FC236}">
                <a16:creationId xmlns:a16="http://schemas.microsoft.com/office/drawing/2014/main" id="{557B5B7E-1B9E-F331-6C22-9D2A44667D6E}"/>
              </a:ext>
            </a:extLst>
          </p:cNvPr>
          <p:cNvSpPr>
            <a:spLocks noGrp="1"/>
          </p:cNvSpPr>
          <p:nvPr>
            <p:ph type="sldNum" sz="quarter" idx="4"/>
          </p:nvPr>
        </p:nvSpPr>
        <p:spPr/>
        <p:txBody>
          <a:bodyPr/>
          <a:lstStyle/>
          <a:p>
            <a:fld id="{21672522-718F-5A4A-A967-5C1A35706813}" type="slidenum">
              <a:rPr lang="en-US" smtClean="0"/>
              <a:pPr/>
              <a:t>37</a:t>
            </a:fld>
            <a:endParaRPr lang="en-US"/>
          </a:p>
        </p:txBody>
      </p:sp>
    </p:spTree>
    <p:extLst>
      <p:ext uri="{BB962C8B-B14F-4D97-AF65-F5344CB8AC3E}">
        <p14:creationId xmlns:p14="http://schemas.microsoft.com/office/powerpoint/2010/main" val="8406009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DAEE9A-3F96-C023-02CF-C519D202E8E5}"/>
              </a:ext>
            </a:extLst>
          </p:cNvPr>
          <p:cNvSpPr>
            <a:spLocks noGrp="1"/>
          </p:cNvSpPr>
          <p:nvPr>
            <p:ph idx="1"/>
          </p:nvPr>
        </p:nvSpPr>
        <p:spPr>
          <a:xfrm>
            <a:off x="587902" y="1195299"/>
            <a:ext cx="11016195" cy="5526175"/>
          </a:xfrm>
        </p:spPr>
        <p:txBody>
          <a:bodyPr/>
          <a:lstStyle/>
          <a:p>
            <a:r>
              <a:rPr lang="en-US" sz="2400" b="1" dirty="0"/>
              <a:t>ORD Investigators:</a:t>
            </a:r>
          </a:p>
          <a:p>
            <a:pPr lvl="1"/>
            <a:r>
              <a:rPr lang="en-US" sz="1600" dirty="0"/>
              <a:t>Leading the world’s largest randomized clinical trial evaluating non-surgical treatments for early-stage lung cancer. </a:t>
            </a:r>
            <a:r>
              <a:rPr lang="en-US" sz="1600" b="1" dirty="0"/>
              <a:t>Over 435 of 670 Veterans are currently enrolled in the trial</a:t>
            </a:r>
          </a:p>
          <a:p>
            <a:pPr lvl="1"/>
            <a:r>
              <a:rPr lang="en-US" sz="1600" dirty="0"/>
              <a:t>Commencing a randomized trial to increase lung cancer screening among Veterans predicted to benefit most. This trial will improve efficiency, effectiveness, and patient-centeredness of lung cancer screening and influence USPTF guidelines. Target </a:t>
            </a:r>
            <a:r>
              <a:rPr lang="en-US" sz="1600" b="1" dirty="0"/>
              <a:t>enrollment of 23,520 Veterans from across 28 VA medical centers </a:t>
            </a:r>
          </a:p>
          <a:p>
            <a:pPr lvl="1"/>
            <a:r>
              <a:rPr lang="en-US" sz="1600" dirty="0"/>
              <a:t>Initiated studies to enable personalized Veteran lung cancer screening (i.e., improve criteria and eligibility for LCS) and diagnosis (differentiate benign vs cancerous nodules on CT images) by incorporating</a:t>
            </a:r>
            <a:r>
              <a:rPr lang="en-US" sz="1600" dirty="0">
                <a:solidFill>
                  <a:schemeClr val="tx1"/>
                </a:solidFill>
                <a:cs typeface="Calibri" panose="020F0502020204030204" pitchFamily="34" charset="0"/>
              </a:rPr>
              <a:t> Veterans personal (COPD, tobacco-related cancer, family history of cancer) and service-related exposure into screening</a:t>
            </a:r>
          </a:p>
          <a:p>
            <a:pPr lvl="1"/>
            <a:r>
              <a:rPr lang="en-US" sz="1600" dirty="0">
                <a:cs typeface="Calibri" panose="020F0502020204030204" pitchFamily="34" charset="0"/>
              </a:rPr>
              <a:t>Evaluating mobile lung cancer screening to improve access to LCS among rural Veterans</a:t>
            </a:r>
            <a:endParaRPr lang="en-US" sz="1600" dirty="0">
              <a:solidFill>
                <a:schemeClr val="tx1"/>
              </a:solidFill>
              <a:cs typeface="Calibri" panose="020F0502020204030204" pitchFamily="34" charset="0"/>
            </a:endParaRPr>
          </a:p>
          <a:p>
            <a:pPr lvl="1"/>
            <a:r>
              <a:rPr lang="en-US" sz="1600" b="1" dirty="0">
                <a:cs typeface="Calibri" panose="020F0502020204030204" pitchFamily="34" charset="0"/>
              </a:rPr>
              <a:t>Enrolling Veterans in 41 clinical trials enterprise-wide and impacting the care of 3881 Veterans</a:t>
            </a:r>
          </a:p>
          <a:p>
            <a:pPr marL="228600" lvl="1">
              <a:buFont typeface="Arial" panose="020B0604020202020204" pitchFamily="34" charset="0"/>
              <a:buChar char="•"/>
            </a:pPr>
            <a:r>
              <a:rPr lang="en-US" sz="2400" b="1" dirty="0"/>
              <a:t>Informing healthcare policy</a:t>
            </a:r>
          </a:p>
          <a:p>
            <a:pPr marL="685800" lvl="2"/>
            <a:r>
              <a:rPr lang="en-US" sz="1600" dirty="0">
                <a:effectLst/>
                <a:ea typeface="Calibri" panose="020F0502020204030204" pitchFamily="34" charset="0"/>
              </a:rPr>
              <a:t>Facilitated elimination of Veteran co-pays for initial or annual lung cancer screening LDCTs (CPT code 71271)</a:t>
            </a:r>
          </a:p>
          <a:p>
            <a:pPr lvl="1"/>
            <a:r>
              <a:rPr lang="en-US" sz="1600" dirty="0">
                <a:effectLst/>
                <a:ea typeface="Calibri" panose="020F0502020204030204" pitchFamily="34" charset="0"/>
              </a:rPr>
              <a:t>Facilitated national </a:t>
            </a:r>
            <a:r>
              <a:rPr lang="en-US" sz="1600" b="0" i="0" u="none" strike="noStrike" baseline="0" dirty="0">
                <a:solidFill>
                  <a:srgbClr val="000000"/>
                </a:solidFill>
              </a:rPr>
              <a:t>VHA DIRECTIVE 1417 </a:t>
            </a:r>
            <a:r>
              <a:rPr lang="en-US" sz="1600" dirty="0"/>
              <a:t>that mandates </a:t>
            </a:r>
            <a:r>
              <a:rPr lang="en-US" sz="1600" b="0" i="0" u="none" strike="noStrike" baseline="0" dirty="0">
                <a:solidFill>
                  <a:srgbClr val="000000"/>
                </a:solidFill>
              </a:rPr>
              <a:t>lung cancer screening at all VA medical facilities; making early lung cancer detection widely available to Veterans</a:t>
            </a:r>
          </a:p>
          <a:p>
            <a:pPr lvl="1"/>
            <a:r>
              <a:rPr lang="en-US" sz="1600" b="0" i="0" u="none" strike="noStrike" baseline="0" dirty="0">
                <a:solidFill>
                  <a:srgbClr val="000000"/>
                </a:solidFill>
              </a:rPr>
              <a:t>Developed metrics used to track lung cancer screening uptake and quality across VHA enterprise </a:t>
            </a:r>
          </a:p>
          <a:p>
            <a:endParaRPr lang="en-US" b="1" dirty="0"/>
          </a:p>
        </p:txBody>
      </p:sp>
      <p:sp>
        <p:nvSpPr>
          <p:cNvPr id="3" name="Title 2">
            <a:extLst>
              <a:ext uri="{FF2B5EF4-FFF2-40B4-BE49-F238E27FC236}">
                <a16:creationId xmlns:a16="http://schemas.microsoft.com/office/drawing/2014/main" id="{D0B9203F-FD09-DC17-AE98-5D9E334B1872}"/>
              </a:ext>
            </a:extLst>
          </p:cNvPr>
          <p:cNvSpPr>
            <a:spLocks noGrp="1"/>
          </p:cNvSpPr>
          <p:nvPr>
            <p:ph type="title"/>
          </p:nvPr>
        </p:nvSpPr>
        <p:spPr/>
        <p:txBody>
          <a:bodyPr>
            <a:normAutofit fontScale="90000"/>
          </a:bodyPr>
          <a:lstStyle/>
          <a:p>
            <a:r>
              <a:rPr lang="en-US" dirty="0"/>
              <a:t>LPOP Developing New Evidence to Guide Care</a:t>
            </a:r>
          </a:p>
        </p:txBody>
      </p:sp>
      <p:sp>
        <p:nvSpPr>
          <p:cNvPr id="4" name="Slide Number Placeholder 3">
            <a:extLst>
              <a:ext uri="{FF2B5EF4-FFF2-40B4-BE49-F238E27FC236}">
                <a16:creationId xmlns:a16="http://schemas.microsoft.com/office/drawing/2014/main" id="{7BAB21E7-509C-6CCF-413F-981658457FC0}"/>
              </a:ext>
            </a:extLst>
          </p:cNvPr>
          <p:cNvSpPr>
            <a:spLocks noGrp="1"/>
          </p:cNvSpPr>
          <p:nvPr>
            <p:ph type="sldNum" sz="quarter" idx="4"/>
          </p:nvPr>
        </p:nvSpPr>
        <p:spPr/>
        <p:txBody>
          <a:bodyPr/>
          <a:lstStyle/>
          <a:p>
            <a:fld id="{21672522-718F-5A4A-A967-5C1A35706813}" type="slidenum">
              <a:rPr lang="en-US" smtClean="0"/>
              <a:pPr/>
              <a:t>38</a:t>
            </a:fld>
            <a:endParaRPr lang="en-US"/>
          </a:p>
        </p:txBody>
      </p:sp>
    </p:spTree>
    <p:extLst>
      <p:ext uri="{BB962C8B-B14F-4D97-AF65-F5344CB8AC3E}">
        <p14:creationId xmlns:p14="http://schemas.microsoft.com/office/powerpoint/2010/main" val="14038929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23EC12-DAE9-F696-280E-F8650EEB7107}"/>
              </a:ext>
            </a:extLst>
          </p:cNvPr>
          <p:cNvSpPr>
            <a:spLocks noGrp="1"/>
          </p:cNvSpPr>
          <p:nvPr>
            <p:ph idx="1"/>
          </p:nvPr>
        </p:nvSpPr>
        <p:spPr>
          <a:xfrm>
            <a:off x="224413" y="1016775"/>
            <a:ext cx="11496532" cy="5161050"/>
          </a:xfrm>
        </p:spPr>
        <p:txBody>
          <a:bodyPr/>
          <a:lstStyle/>
          <a:p>
            <a:r>
              <a:rPr lang="en-US" sz="2400" dirty="0"/>
              <a:t>ORD and NOP collaboratively developed policy for accelerated review within Precision Oncology Actively Managed Portfolio</a:t>
            </a:r>
          </a:p>
          <a:p>
            <a:r>
              <a:rPr lang="en-US" sz="2400" dirty="0"/>
              <a:t>To be selected for accelerated peer review, a project must be prioritized by the clinical program office and be multidisciplinary</a:t>
            </a:r>
          </a:p>
          <a:p>
            <a:r>
              <a:rPr lang="en-US" sz="2400" dirty="0"/>
              <a:t>Examples of projects selected for funding include:</a:t>
            </a:r>
          </a:p>
          <a:p>
            <a:pPr lvl="1"/>
            <a:r>
              <a:rPr lang="en-US" sz="1800" dirty="0"/>
              <a:t>Predicting metastatic progression of high risk localized prostate cancer</a:t>
            </a:r>
          </a:p>
          <a:p>
            <a:pPr lvl="1"/>
            <a:r>
              <a:rPr lang="en-US" sz="1800" dirty="0"/>
              <a:t>Imaging AI-driven predictive chemoradiation response tool for Veterans with oropharyngeal cancer</a:t>
            </a:r>
          </a:p>
          <a:p>
            <a:pPr lvl="1"/>
            <a:r>
              <a:rPr lang="en-US" sz="1800" dirty="0"/>
              <a:t>Identifying mutational signatures that underpin tumor development due to toxic military exposure</a:t>
            </a:r>
          </a:p>
          <a:p>
            <a:pPr lvl="1"/>
            <a:r>
              <a:rPr lang="en-US" sz="1800" dirty="0"/>
              <a:t>Using tumor genetics and patient characteristics to predict outcomes and improve treatment selection</a:t>
            </a:r>
          </a:p>
          <a:p>
            <a:pPr lvl="1"/>
            <a:r>
              <a:rPr lang="en-US" sz="1800" dirty="0"/>
              <a:t>Biomarker-directed trial in Veterans with relapsed small cell lung cancer (SCLC)</a:t>
            </a:r>
          </a:p>
          <a:p>
            <a:pPr lvl="1"/>
            <a:r>
              <a:rPr lang="en-US" sz="1800" dirty="0"/>
              <a:t>Targeted radiation with no castration for metastatic castration resistant prostate cancer</a:t>
            </a:r>
          </a:p>
          <a:p>
            <a:pPr lvl="1"/>
            <a:r>
              <a:rPr lang="en-US" sz="1800" dirty="0"/>
              <a:t>Repositioning immunotherapy in Veterans with lung cancer</a:t>
            </a:r>
          </a:p>
        </p:txBody>
      </p:sp>
      <p:sp>
        <p:nvSpPr>
          <p:cNvPr id="3" name="Title 2">
            <a:extLst>
              <a:ext uri="{FF2B5EF4-FFF2-40B4-BE49-F238E27FC236}">
                <a16:creationId xmlns:a16="http://schemas.microsoft.com/office/drawing/2014/main" id="{E85E0E5A-778D-CA3C-4231-39210B9F11D6}"/>
              </a:ext>
            </a:extLst>
          </p:cNvPr>
          <p:cNvSpPr>
            <a:spLocks noGrp="1"/>
          </p:cNvSpPr>
          <p:nvPr>
            <p:ph type="title"/>
          </p:nvPr>
        </p:nvSpPr>
        <p:spPr/>
        <p:txBody>
          <a:bodyPr>
            <a:normAutofit/>
          </a:bodyPr>
          <a:lstStyle/>
          <a:p>
            <a:r>
              <a:rPr lang="en-US" dirty="0"/>
              <a:t>Speeding Up Impactful Research</a:t>
            </a:r>
          </a:p>
        </p:txBody>
      </p:sp>
      <p:sp>
        <p:nvSpPr>
          <p:cNvPr id="4" name="Slide Number Placeholder 3">
            <a:extLst>
              <a:ext uri="{FF2B5EF4-FFF2-40B4-BE49-F238E27FC236}">
                <a16:creationId xmlns:a16="http://schemas.microsoft.com/office/drawing/2014/main" id="{BD723E8D-8332-E95D-BD78-B1C14BBF99E3}"/>
              </a:ext>
            </a:extLst>
          </p:cNvPr>
          <p:cNvSpPr>
            <a:spLocks noGrp="1"/>
          </p:cNvSpPr>
          <p:nvPr>
            <p:ph type="sldNum" sz="quarter" idx="4"/>
          </p:nvPr>
        </p:nvSpPr>
        <p:spPr/>
        <p:txBody>
          <a:bodyPr/>
          <a:lstStyle/>
          <a:p>
            <a:fld id="{21672522-718F-5A4A-A967-5C1A35706813}" type="slidenum">
              <a:rPr lang="en-US" smtClean="0"/>
              <a:pPr/>
              <a:t>39</a:t>
            </a:fld>
            <a:endParaRPr lang="en-US"/>
          </a:p>
        </p:txBody>
      </p:sp>
    </p:spTree>
    <p:extLst>
      <p:ext uri="{BB962C8B-B14F-4D97-AF65-F5344CB8AC3E}">
        <p14:creationId xmlns:p14="http://schemas.microsoft.com/office/powerpoint/2010/main" val="38405786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7F6AA3-BB57-6C24-39A3-8CA35C7F5BA6}"/>
              </a:ext>
            </a:extLst>
          </p:cNvPr>
          <p:cNvSpPr>
            <a:spLocks noGrp="1"/>
          </p:cNvSpPr>
          <p:nvPr>
            <p:ph idx="1"/>
          </p:nvPr>
        </p:nvSpPr>
        <p:spPr>
          <a:xfrm>
            <a:off x="351904" y="1001324"/>
            <a:ext cx="11488191" cy="5856676"/>
          </a:xfrm>
        </p:spPr>
        <p:txBody>
          <a:bodyPr/>
          <a:lstStyle/>
          <a:p>
            <a:r>
              <a:rPr lang="en-US" sz="2000" dirty="0">
                <a:latin typeface="Arial" panose="020B0604020202020204" pitchFamily="34" charset="0"/>
                <a:cs typeface="Arial" panose="020B0604020202020204" pitchFamily="34" charset="0"/>
              </a:rPr>
              <a:t>In VA, cancer care is driven by detailed clinical pathways.  These can be informed by real-world data from VA care. ORD piloted an effort to improve the quality and efficiency of this process, focused on the prostate cancer clinical pathway.</a:t>
            </a:r>
          </a:p>
          <a:p>
            <a:r>
              <a:rPr lang="en-US" sz="2000" dirty="0">
                <a:latin typeface="Arial" panose="020B0604020202020204" pitchFamily="34" charset="0"/>
                <a:cs typeface="Arial" panose="020B0604020202020204" pitchFamily="34" charset="0"/>
              </a:rPr>
              <a:t>5 impactful analyses have gone from concept to completion.</a:t>
            </a:r>
          </a:p>
          <a:p>
            <a:r>
              <a:rPr lang="en-US" sz="2000" dirty="0">
                <a:latin typeface="Arial" panose="020B0604020202020204" pitchFamily="34" charset="0"/>
                <a:cs typeface="Arial" panose="020B0604020202020204" pitchFamily="34" charset="0"/>
              </a:rPr>
              <a:t>They include:</a:t>
            </a:r>
          </a:p>
          <a:p>
            <a:pPr lvl="1"/>
            <a:r>
              <a:rPr lang="en-US" sz="1700" dirty="0">
                <a:latin typeface="Arial" panose="020B0604020202020204" pitchFamily="34" charset="0"/>
                <a:cs typeface="Arial" panose="020B0604020202020204" pitchFamily="34" charset="0"/>
              </a:rPr>
              <a:t>Comparing how docetaxel vs </a:t>
            </a:r>
            <a:r>
              <a:rPr lang="en-US" sz="1700" dirty="0" err="1">
                <a:latin typeface="Arial" panose="020B0604020202020204" pitchFamily="34" charset="0"/>
                <a:cs typeface="Arial" panose="020B0604020202020204" pitchFamily="34" charset="0"/>
              </a:rPr>
              <a:t>cabazitaxel</a:t>
            </a:r>
            <a:r>
              <a:rPr lang="en-US" sz="1700" dirty="0">
                <a:latin typeface="Arial" panose="020B0604020202020204" pitchFamily="34" charset="0"/>
                <a:cs typeface="Arial" panose="020B0604020202020204" pitchFamily="34" charset="0"/>
              </a:rPr>
              <a:t> are used in advanced prostate cancer after one drug already failed</a:t>
            </a:r>
          </a:p>
          <a:p>
            <a:pPr lvl="2"/>
            <a:r>
              <a:rPr lang="en-US" sz="1400" b="1" dirty="0">
                <a:latin typeface="Arial" panose="020B0604020202020204" pitchFamily="34" charset="0"/>
                <a:cs typeface="Arial" panose="020B0604020202020204" pitchFamily="34" charset="0"/>
              </a:rPr>
              <a:t>Result: Docetaxel works significantly better in this setting and more effective. VA prostate cancer clinical pathway is considering this for adoption for clinical use</a:t>
            </a:r>
          </a:p>
          <a:p>
            <a:pPr lvl="1"/>
            <a:r>
              <a:rPr lang="en-US" sz="1700" dirty="0">
                <a:latin typeface="Arial" panose="020B0604020202020204" pitchFamily="34" charset="0"/>
                <a:cs typeface="Arial" panose="020B0604020202020204" pitchFamily="34" charset="0"/>
              </a:rPr>
              <a:t>Comparing how well magnetic resonance imaging (MRI) works in monitoring patients with early-stage cancer vs taking tumor biopsy (NCCN guidelines consider both to be equally acceptable). </a:t>
            </a:r>
          </a:p>
          <a:p>
            <a:pPr lvl="2"/>
            <a:r>
              <a:rPr lang="en-US" sz="1400" b="1" dirty="0">
                <a:latin typeface="Arial" panose="020B0604020202020204" pitchFamily="34" charset="0"/>
                <a:cs typeface="Arial" panose="020B0604020202020204" pitchFamily="34" charset="0"/>
              </a:rPr>
              <a:t>Result: Biopsy works better than MRI in most context and should be the preferred option. Finding is informing VA prostate cancer clinical pathway and NCCN guideline committee for clinical adoption </a:t>
            </a:r>
          </a:p>
          <a:p>
            <a:pPr lvl="1"/>
            <a:r>
              <a:rPr lang="en-US" sz="1700" dirty="0">
                <a:latin typeface="Arial" panose="020B0604020202020204" pitchFamily="34" charset="0"/>
                <a:cs typeface="Arial" panose="020B0604020202020204" pitchFamily="34" charset="0"/>
              </a:rPr>
              <a:t>Evaluate whether 5-alpha reductase inhibitor slow progression of early-stage prostate cancer to more advanced cancer</a:t>
            </a:r>
          </a:p>
          <a:p>
            <a:pPr lvl="2"/>
            <a:r>
              <a:rPr lang="en-US" sz="1400" b="1" dirty="0">
                <a:latin typeface="Arial" panose="020B0604020202020204" pitchFamily="34" charset="0"/>
                <a:cs typeface="Arial" panose="020B0604020202020204" pitchFamily="34" charset="0"/>
              </a:rPr>
              <a:t>Result: Evidence suggest the drug slow progression to advanced disease. Results are informing VA clinical pathway</a:t>
            </a:r>
            <a:r>
              <a:rPr lang="en-US" sz="1400" b="1">
                <a:latin typeface="Arial" panose="020B0604020202020204" pitchFamily="34" charset="0"/>
                <a:cs typeface="Arial" panose="020B0604020202020204" pitchFamily="34" charset="0"/>
              </a:rPr>
              <a:t>, a potential </a:t>
            </a:r>
            <a:r>
              <a:rPr lang="en-US" sz="1400" b="1" dirty="0">
                <a:latin typeface="Arial" panose="020B0604020202020204" pitchFamily="34" charset="0"/>
                <a:cs typeface="Arial" panose="020B0604020202020204" pitchFamily="34" charset="0"/>
              </a:rPr>
              <a:t>pragmatic trial and FDA regulatory consideration to remove black box warning placed on it over 10 yrs.</a:t>
            </a:r>
          </a:p>
          <a:p>
            <a:r>
              <a:rPr lang="en-US" sz="1700" dirty="0">
                <a:latin typeface="Arial" panose="020B0604020202020204" pitchFamily="34" charset="0"/>
                <a:cs typeface="Arial" panose="020B0604020202020204" pitchFamily="34" charset="0"/>
              </a:rPr>
              <a:t>In addition to speed, the cost of the analyses is substantially reduced due to leveraging of multidisciplinary panel of clinical/scientific/methodological experts and leveraging ORD supported CSP bioinformatics infrastructure </a:t>
            </a:r>
            <a:endParaRPr lang="en-US" sz="1700" dirty="0"/>
          </a:p>
        </p:txBody>
      </p:sp>
      <p:sp>
        <p:nvSpPr>
          <p:cNvPr id="3" name="Title 2">
            <a:extLst>
              <a:ext uri="{FF2B5EF4-FFF2-40B4-BE49-F238E27FC236}">
                <a16:creationId xmlns:a16="http://schemas.microsoft.com/office/drawing/2014/main" id="{869D2FAE-42E1-B166-65E0-554C25707F28}"/>
              </a:ext>
            </a:extLst>
          </p:cNvPr>
          <p:cNvSpPr>
            <a:spLocks noGrp="1"/>
          </p:cNvSpPr>
          <p:nvPr>
            <p:ph type="title"/>
          </p:nvPr>
        </p:nvSpPr>
        <p:spPr>
          <a:xfrm>
            <a:off x="224413" y="-20204"/>
            <a:ext cx="10515600" cy="1094265"/>
          </a:xfrm>
        </p:spPr>
        <p:txBody>
          <a:bodyPr>
            <a:normAutofit/>
          </a:bodyPr>
          <a:lstStyle/>
          <a:p>
            <a:r>
              <a:rPr lang="en-US" sz="3200" dirty="0"/>
              <a:t>Targeted Real-World Data Analysis – New Evidence for care</a:t>
            </a:r>
          </a:p>
        </p:txBody>
      </p:sp>
      <p:sp>
        <p:nvSpPr>
          <p:cNvPr id="4" name="Slide Number Placeholder 3">
            <a:extLst>
              <a:ext uri="{FF2B5EF4-FFF2-40B4-BE49-F238E27FC236}">
                <a16:creationId xmlns:a16="http://schemas.microsoft.com/office/drawing/2014/main" id="{4A5BE03A-B7D6-FDDC-E132-26591E879773}"/>
              </a:ext>
            </a:extLst>
          </p:cNvPr>
          <p:cNvSpPr>
            <a:spLocks noGrp="1"/>
          </p:cNvSpPr>
          <p:nvPr>
            <p:ph type="sldNum" sz="quarter" idx="4"/>
          </p:nvPr>
        </p:nvSpPr>
        <p:spPr/>
        <p:txBody>
          <a:bodyPr/>
          <a:lstStyle/>
          <a:p>
            <a:fld id="{21672522-718F-5A4A-A967-5C1A35706813}" type="slidenum">
              <a:rPr lang="en-US" smtClean="0"/>
              <a:pPr/>
              <a:t>40</a:t>
            </a:fld>
            <a:endParaRPr lang="en-US" dirty="0"/>
          </a:p>
        </p:txBody>
      </p:sp>
    </p:spTree>
    <p:extLst>
      <p:ext uri="{BB962C8B-B14F-4D97-AF65-F5344CB8AC3E}">
        <p14:creationId xmlns:p14="http://schemas.microsoft.com/office/powerpoint/2010/main" val="31246212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2AA20E-1510-629D-E6A3-D62ECFF58DC3}"/>
              </a:ext>
            </a:extLst>
          </p:cNvPr>
          <p:cNvSpPr>
            <a:spLocks noGrp="1"/>
          </p:cNvSpPr>
          <p:nvPr>
            <p:ph idx="1"/>
          </p:nvPr>
        </p:nvSpPr>
        <p:spPr>
          <a:xfrm>
            <a:off x="436418" y="1106036"/>
            <a:ext cx="11294918" cy="5615439"/>
          </a:xfrm>
        </p:spPr>
        <p:txBody>
          <a:bodyPr/>
          <a:lstStyle/>
          <a:p>
            <a:r>
              <a:rPr lang="en-US" sz="2400" dirty="0"/>
              <a:t>APOLLO Project</a:t>
            </a:r>
          </a:p>
          <a:p>
            <a:pPr lvl="1"/>
            <a:r>
              <a:rPr lang="en-US" sz="1600" dirty="0"/>
              <a:t>DoD, NCI, VA collaboration on the contribution of RNA, proteins, and DNA to cancer.</a:t>
            </a:r>
          </a:p>
          <a:p>
            <a:pPr lvl="1"/>
            <a:r>
              <a:rPr lang="en-US" sz="1600" dirty="0"/>
              <a:t>Samples collected during surgery, blood, and image, pathology and clinical data </a:t>
            </a:r>
          </a:p>
          <a:p>
            <a:pPr lvl="1"/>
            <a:r>
              <a:rPr lang="en-US" sz="1600" dirty="0"/>
              <a:t>VA submitted over </a:t>
            </a:r>
            <a:r>
              <a:rPr lang="en-US" sz="1600" b="1" dirty="0"/>
              <a:t>550 samples </a:t>
            </a:r>
            <a:r>
              <a:rPr lang="en-US" sz="1600" dirty="0"/>
              <a:t>from 7 vanguard sites</a:t>
            </a:r>
          </a:p>
          <a:p>
            <a:pPr lvl="1"/>
            <a:r>
              <a:rPr lang="en-US" sz="1600" dirty="0"/>
              <a:t>8 new VA sites will be added (14 VISNs will have an APOLLO site)</a:t>
            </a:r>
          </a:p>
          <a:p>
            <a:pPr marL="0" indent="0">
              <a:buNone/>
            </a:pPr>
            <a:r>
              <a:rPr lang="en-US" sz="2400" dirty="0"/>
              <a:t>National Cancer Institute Collaborations</a:t>
            </a:r>
          </a:p>
          <a:p>
            <a:r>
              <a:rPr lang="en-US" sz="1800" dirty="0"/>
              <a:t>National Cancer Institute (NCI) and VA Interagency Group to Accelerate Trials Enrollment (NAVIGATE)</a:t>
            </a:r>
          </a:p>
          <a:p>
            <a:pPr lvl="1"/>
            <a:r>
              <a:rPr lang="en-US" sz="1400" dirty="0"/>
              <a:t>16 VAMCs</a:t>
            </a:r>
          </a:p>
          <a:p>
            <a:pPr lvl="1"/>
            <a:r>
              <a:rPr lang="en-US" sz="1400" dirty="0"/>
              <a:t>Opened </a:t>
            </a:r>
            <a:r>
              <a:rPr lang="en-US" sz="1400" b="1" dirty="0"/>
              <a:t>100+ clinical trials </a:t>
            </a:r>
            <a:r>
              <a:rPr lang="en-US" sz="1400" dirty="0"/>
              <a:t>in various domains (Lung, GU, GI,   Heme, Breast)</a:t>
            </a:r>
          </a:p>
          <a:p>
            <a:pPr lvl="1"/>
            <a:r>
              <a:rPr lang="en-US" sz="1400" b="1" dirty="0"/>
              <a:t>Enrolled over 1,100 Veterans </a:t>
            </a:r>
            <a:r>
              <a:rPr lang="en-US" sz="1400" dirty="0"/>
              <a:t>into NCI-sponsored trials</a:t>
            </a:r>
          </a:p>
          <a:p>
            <a:pPr lvl="1"/>
            <a:r>
              <a:rPr lang="en-US" sz="1400" dirty="0"/>
              <a:t>Approximately 24% African Americans, 68% White</a:t>
            </a:r>
          </a:p>
          <a:p>
            <a:r>
              <a:rPr lang="en-US" sz="2400" dirty="0"/>
              <a:t>Cancer Screening Research Network (CSRN) </a:t>
            </a:r>
          </a:p>
          <a:p>
            <a:pPr lvl="1"/>
            <a:r>
              <a:rPr lang="en-US" sz="1400" dirty="0"/>
              <a:t>Network to assess emerging approaches to cancer screening (e.g., multi-cancer early detection blood-based screening)</a:t>
            </a:r>
          </a:p>
          <a:p>
            <a:pPr lvl="1"/>
            <a:r>
              <a:rPr lang="en-US" sz="1400" dirty="0"/>
              <a:t>VA serving as an Accrual, Enrollment, and Screening Site (ACCESS) Hub</a:t>
            </a:r>
          </a:p>
          <a:p>
            <a:pPr lvl="1"/>
            <a:r>
              <a:rPr lang="en-US" sz="1400" b="1" dirty="0"/>
              <a:t>VA will contribute to the enrollment of 24,000 patients in the VANGUARD study</a:t>
            </a:r>
          </a:p>
          <a:p>
            <a:endParaRPr lang="en-US" sz="2000" dirty="0"/>
          </a:p>
        </p:txBody>
      </p:sp>
      <p:sp>
        <p:nvSpPr>
          <p:cNvPr id="3" name="Title 2">
            <a:extLst>
              <a:ext uri="{FF2B5EF4-FFF2-40B4-BE49-F238E27FC236}">
                <a16:creationId xmlns:a16="http://schemas.microsoft.com/office/drawing/2014/main" id="{FBA7AF3B-8D00-33C9-6977-4832B0F041DF}"/>
              </a:ext>
            </a:extLst>
          </p:cNvPr>
          <p:cNvSpPr>
            <a:spLocks noGrp="1"/>
          </p:cNvSpPr>
          <p:nvPr>
            <p:ph type="title"/>
          </p:nvPr>
        </p:nvSpPr>
        <p:spPr/>
        <p:txBody>
          <a:bodyPr>
            <a:normAutofit fontScale="90000"/>
          </a:bodyPr>
          <a:lstStyle/>
          <a:p>
            <a:r>
              <a:rPr lang="en-US" dirty="0"/>
              <a:t>Key Partners in Interagency Collaborations</a:t>
            </a:r>
          </a:p>
        </p:txBody>
      </p:sp>
      <p:sp>
        <p:nvSpPr>
          <p:cNvPr id="4" name="Slide Number Placeholder 3">
            <a:extLst>
              <a:ext uri="{FF2B5EF4-FFF2-40B4-BE49-F238E27FC236}">
                <a16:creationId xmlns:a16="http://schemas.microsoft.com/office/drawing/2014/main" id="{AE15478B-8D40-6FAA-33B6-2C887E82168A}"/>
              </a:ext>
            </a:extLst>
          </p:cNvPr>
          <p:cNvSpPr>
            <a:spLocks noGrp="1"/>
          </p:cNvSpPr>
          <p:nvPr>
            <p:ph type="sldNum" sz="quarter" idx="4"/>
          </p:nvPr>
        </p:nvSpPr>
        <p:spPr/>
        <p:txBody>
          <a:bodyPr/>
          <a:lstStyle/>
          <a:p>
            <a:fld id="{21672522-718F-5A4A-A967-5C1A35706813}" type="slidenum">
              <a:rPr lang="en-US" smtClean="0"/>
              <a:pPr/>
              <a:t>41</a:t>
            </a:fld>
            <a:endParaRPr lang="en-US"/>
          </a:p>
        </p:txBody>
      </p:sp>
    </p:spTree>
    <p:extLst>
      <p:ext uri="{BB962C8B-B14F-4D97-AF65-F5344CB8AC3E}">
        <p14:creationId xmlns:p14="http://schemas.microsoft.com/office/powerpoint/2010/main" val="23626469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259AD-6D2E-1113-5CD8-30E539983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1583F-68AA-D4DF-FEC6-9EAE8F2AA6FE}"/>
              </a:ext>
            </a:extLst>
          </p:cNvPr>
          <p:cNvSpPr>
            <a:spLocks noGrp="1"/>
          </p:cNvSpPr>
          <p:nvPr>
            <p:ph type="title"/>
          </p:nvPr>
        </p:nvSpPr>
        <p:spPr/>
        <p:txBody>
          <a:bodyPr>
            <a:normAutofit fontScale="90000"/>
          </a:bodyPr>
          <a:lstStyle/>
          <a:p>
            <a:r>
              <a:rPr lang="en-US" dirty="0"/>
              <a:t>2024 Key Accomplishments (NRAC)*</a:t>
            </a:r>
          </a:p>
        </p:txBody>
      </p:sp>
      <p:sp>
        <p:nvSpPr>
          <p:cNvPr id="4" name="Slide Number Placeholder 3">
            <a:extLst>
              <a:ext uri="{FF2B5EF4-FFF2-40B4-BE49-F238E27FC236}">
                <a16:creationId xmlns:a16="http://schemas.microsoft.com/office/drawing/2014/main" id="{16D58E84-48BB-3543-44F4-8FC795C8F70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DE3B400F-1451-9EEA-138A-B700076A9782}"/>
              </a:ext>
            </a:extLst>
          </p:cNvPr>
          <p:cNvSpPr txBox="1"/>
          <p:nvPr/>
        </p:nvSpPr>
        <p:spPr>
          <a:xfrm>
            <a:off x="133344" y="1442261"/>
            <a:ext cx="10409965" cy="1692771"/>
          </a:xfrm>
          <a:prstGeom prst="rect">
            <a:avLst/>
          </a:prstGeom>
          <a:noFill/>
        </p:spPr>
        <p:txBody>
          <a:bodyPr wrap="square">
            <a:spAutoFit/>
          </a:bodyPr>
          <a:lstStyle/>
          <a:p>
            <a:r>
              <a:rPr lang="en-US" sz="2400" b="1" dirty="0"/>
              <a:t>A program to prescribe Veterans at elevated risk of suicide with gun lockboxes</a:t>
            </a:r>
            <a:r>
              <a:rPr lang="en-US" sz="2200" b="1" dirty="0"/>
              <a:t>.</a:t>
            </a:r>
          </a:p>
          <a:p>
            <a:r>
              <a:rPr lang="en-US" sz="2000" dirty="0"/>
              <a:t>Firearms are the number-one lethal means used in Veteran suicides. This new Firearm Lockbox Program was launched in late 2024 by the Rocky Mountain MREC. The lockboxes will be provided at no cost to Veterans who want to participate in the program, slowing access to firearms and helping to prevent suicides for Veterans in crisis.</a:t>
            </a:r>
          </a:p>
        </p:txBody>
      </p:sp>
      <p:pic>
        <p:nvPicPr>
          <p:cNvPr id="12" name="Picture 11">
            <a:extLst>
              <a:ext uri="{FF2B5EF4-FFF2-40B4-BE49-F238E27FC236}">
                <a16:creationId xmlns:a16="http://schemas.microsoft.com/office/drawing/2014/main" id="{D5F7E7DA-94B1-BABF-7590-28EBD956CFE0}"/>
              </a:ext>
            </a:extLst>
          </p:cNvPr>
          <p:cNvPicPr>
            <a:picLocks noChangeAspect="1"/>
          </p:cNvPicPr>
          <p:nvPr/>
        </p:nvPicPr>
        <p:blipFill>
          <a:blip r:embed="rId3"/>
          <a:stretch>
            <a:fillRect/>
          </a:stretch>
        </p:blipFill>
        <p:spPr>
          <a:xfrm>
            <a:off x="10342418" y="1674512"/>
            <a:ext cx="1690254" cy="1132868"/>
          </a:xfrm>
          <a:prstGeom prst="rect">
            <a:avLst/>
          </a:prstGeom>
        </p:spPr>
      </p:pic>
      <p:sp>
        <p:nvSpPr>
          <p:cNvPr id="14" name="TextBox 13">
            <a:extLst>
              <a:ext uri="{FF2B5EF4-FFF2-40B4-BE49-F238E27FC236}">
                <a16:creationId xmlns:a16="http://schemas.microsoft.com/office/drawing/2014/main" id="{DFDE886B-B870-E415-F809-F764FE675393}"/>
              </a:ext>
            </a:extLst>
          </p:cNvPr>
          <p:cNvSpPr txBox="1"/>
          <p:nvPr/>
        </p:nvSpPr>
        <p:spPr>
          <a:xfrm>
            <a:off x="1372732" y="3996995"/>
            <a:ext cx="10659940" cy="1692771"/>
          </a:xfrm>
          <a:prstGeom prst="rect">
            <a:avLst/>
          </a:prstGeom>
          <a:noFill/>
        </p:spPr>
        <p:txBody>
          <a:bodyPr wrap="square">
            <a:spAutoFit/>
          </a:bodyPr>
          <a:lstStyle/>
          <a:p>
            <a:pPr algn="r"/>
            <a:r>
              <a:rPr lang="en-US" sz="2400" b="1" dirty="0"/>
              <a:t>A neuro-prosthetic system to provide sensory feedback from a prosthetic hand.</a:t>
            </a:r>
          </a:p>
          <a:p>
            <a:pPr algn="r"/>
            <a:r>
              <a:rPr lang="en-US" sz="2000" dirty="0"/>
              <a:t>VA researchers at the Cleveland VA conducted the first human trials on a direct interface implanted in a user’s peripheral nerve. Sensors on a prosthetic hand transmit impulses to the brain that are interpreted as tactile perceptions on the missing body part directly related to touch on the prosthesis. </a:t>
            </a:r>
          </a:p>
        </p:txBody>
      </p:sp>
      <p:pic>
        <p:nvPicPr>
          <p:cNvPr id="16" name="Picture 15">
            <a:extLst>
              <a:ext uri="{FF2B5EF4-FFF2-40B4-BE49-F238E27FC236}">
                <a16:creationId xmlns:a16="http://schemas.microsoft.com/office/drawing/2014/main" id="{15824581-4811-BD1A-1243-8560186B5C41}"/>
              </a:ext>
            </a:extLst>
          </p:cNvPr>
          <p:cNvPicPr>
            <a:picLocks noChangeAspect="1"/>
          </p:cNvPicPr>
          <p:nvPr/>
        </p:nvPicPr>
        <p:blipFill>
          <a:blip r:embed="rId4"/>
          <a:stretch>
            <a:fillRect/>
          </a:stretch>
        </p:blipFill>
        <p:spPr>
          <a:xfrm>
            <a:off x="189903" y="3927789"/>
            <a:ext cx="1444936" cy="1431074"/>
          </a:xfrm>
          <a:prstGeom prst="rect">
            <a:avLst/>
          </a:prstGeom>
        </p:spPr>
      </p:pic>
      <p:sp>
        <p:nvSpPr>
          <p:cNvPr id="3" name="TextBox 2">
            <a:extLst>
              <a:ext uri="{FF2B5EF4-FFF2-40B4-BE49-F238E27FC236}">
                <a16:creationId xmlns:a16="http://schemas.microsoft.com/office/drawing/2014/main" id="{FEC5B40A-3971-ED56-C8F1-77F68A6F2DD8}"/>
              </a:ext>
            </a:extLst>
          </p:cNvPr>
          <p:cNvSpPr txBox="1"/>
          <p:nvPr/>
        </p:nvSpPr>
        <p:spPr>
          <a:xfrm>
            <a:off x="912371" y="6488668"/>
            <a:ext cx="7314888" cy="369332"/>
          </a:xfrm>
          <a:prstGeom prst="rect">
            <a:avLst/>
          </a:prstGeom>
          <a:noFill/>
        </p:spPr>
        <p:txBody>
          <a:bodyPr wrap="none" rtlCol="0">
            <a:spAutoFit/>
          </a:bodyPr>
          <a:lstStyle/>
          <a:p>
            <a:r>
              <a:rPr lang="en-US" dirty="0"/>
              <a:t>Presented at the March 2025 National Research Advisory Committee</a:t>
            </a:r>
          </a:p>
        </p:txBody>
      </p:sp>
    </p:spTree>
    <p:extLst>
      <p:ext uri="{BB962C8B-B14F-4D97-AF65-F5344CB8AC3E}">
        <p14:creationId xmlns:p14="http://schemas.microsoft.com/office/powerpoint/2010/main" val="33595303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B41F8-54A5-F0E5-A737-86E2D6B16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02772-F5C2-76FD-C845-0005ED454D47}"/>
              </a:ext>
            </a:extLst>
          </p:cNvPr>
          <p:cNvSpPr>
            <a:spLocks noGrp="1"/>
          </p:cNvSpPr>
          <p:nvPr>
            <p:ph type="title"/>
          </p:nvPr>
        </p:nvSpPr>
        <p:spPr/>
        <p:txBody>
          <a:bodyPr>
            <a:normAutofit fontScale="90000"/>
          </a:bodyPr>
          <a:lstStyle/>
          <a:p>
            <a:r>
              <a:rPr lang="en-US" dirty="0"/>
              <a:t>2024 Key Accomplishments (NRAC)</a:t>
            </a:r>
          </a:p>
        </p:txBody>
      </p:sp>
      <p:sp>
        <p:nvSpPr>
          <p:cNvPr id="4" name="Slide Number Placeholder 3">
            <a:extLst>
              <a:ext uri="{FF2B5EF4-FFF2-40B4-BE49-F238E27FC236}">
                <a16:creationId xmlns:a16="http://schemas.microsoft.com/office/drawing/2014/main" id="{422B3786-4E8A-2B34-087E-22D9CF59EC8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F7D7FD8A-AB88-470F-742D-54E971BABA58}"/>
              </a:ext>
            </a:extLst>
          </p:cNvPr>
          <p:cNvSpPr txBox="1"/>
          <p:nvPr/>
        </p:nvSpPr>
        <p:spPr>
          <a:xfrm>
            <a:off x="133344" y="1137451"/>
            <a:ext cx="10409965"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The identification of 12 gene variants that increase the risk of suicide attempts</a:t>
            </a:r>
            <a: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Results from the largest-ever genetic study of suicide. An international effort used data from the Million Veteran Program (MVP) and the International Suicide Genetics Consortium to analyze the genomes of over 43,000 people with documented suicide attempts and 915,000 controls without a history of suicidal behavior. Results showed suicide attempts share genetic risk factors with several other conditions, such as attention deficit hyperactivity disorder, smoking, and risk tolerance, which is associated with engaging in dangerous behavior. </a:t>
            </a:r>
          </a:p>
        </p:txBody>
      </p:sp>
      <p:sp>
        <p:nvSpPr>
          <p:cNvPr id="14" name="TextBox 13">
            <a:extLst>
              <a:ext uri="{FF2B5EF4-FFF2-40B4-BE49-F238E27FC236}">
                <a16:creationId xmlns:a16="http://schemas.microsoft.com/office/drawing/2014/main" id="{83E0AB0E-7E0A-A9ED-F38B-DE98E6BC9AE1}"/>
              </a:ext>
            </a:extLst>
          </p:cNvPr>
          <p:cNvSpPr txBox="1"/>
          <p:nvPr/>
        </p:nvSpPr>
        <p:spPr>
          <a:xfrm>
            <a:off x="2105890" y="3793728"/>
            <a:ext cx="9926781" cy="2062103"/>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AI algorithm to analyze MRI scans for better diagnosis and classification of rectal cancer.</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 four-year study to optimize and validate a new AI algorithm to help Veterans with rectal cancer avoid invasive treatments and maintain the best quality of life. Preliminary findings show the new tool can significantly help clinicians determine the best course of treatment for Veterans with colorectal cancer, the third most common type of cancer Veterans. </a:t>
            </a:r>
          </a:p>
        </p:txBody>
      </p:sp>
      <p:pic>
        <p:nvPicPr>
          <p:cNvPr id="5" name="Picture 4">
            <a:extLst>
              <a:ext uri="{FF2B5EF4-FFF2-40B4-BE49-F238E27FC236}">
                <a16:creationId xmlns:a16="http://schemas.microsoft.com/office/drawing/2014/main" id="{DEA10873-C00F-4518-819A-66FA1DF29EB4}"/>
              </a:ext>
            </a:extLst>
          </p:cNvPr>
          <p:cNvPicPr>
            <a:picLocks noChangeAspect="1"/>
          </p:cNvPicPr>
          <p:nvPr/>
        </p:nvPicPr>
        <p:blipFill>
          <a:blip r:embed="rId3"/>
          <a:stretch>
            <a:fillRect/>
          </a:stretch>
        </p:blipFill>
        <p:spPr>
          <a:xfrm>
            <a:off x="10339137" y="1360051"/>
            <a:ext cx="1520354" cy="1863124"/>
          </a:xfrm>
          <a:prstGeom prst="rect">
            <a:avLst/>
          </a:prstGeom>
        </p:spPr>
      </p:pic>
      <p:pic>
        <p:nvPicPr>
          <p:cNvPr id="7" name="Picture 6">
            <a:extLst>
              <a:ext uri="{FF2B5EF4-FFF2-40B4-BE49-F238E27FC236}">
                <a16:creationId xmlns:a16="http://schemas.microsoft.com/office/drawing/2014/main" id="{4B615CE7-5E93-DC53-1C61-C76B2D0B30CF}"/>
              </a:ext>
            </a:extLst>
          </p:cNvPr>
          <p:cNvPicPr>
            <a:picLocks noChangeAspect="1"/>
          </p:cNvPicPr>
          <p:nvPr/>
        </p:nvPicPr>
        <p:blipFill>
          <a:blip r:embed="rId4"/>
          <a:stretch>
            <a:fillRect/>
          </a:stretch>
        </p:blipFill>
        <p:spPr>
          <a:xfrm>
            <a:off x="285750" y="4091512"/>
            <a:ext cx="1746038" cy="1466534"/>
          </a:xfrm>
          <a:prstGeom prst="rect">
            <a:avLst/>
          </a:prstGeom>
          <a:effectLst>
            <a:innerShdw blurRad="63500" dist="50800" dir="2700000">
              <a:prstClr val="black">
                <a:alpha val="50000"/>
              </a:prstClr>
            </a:innerShdw>
          </a:effectLst>
        </p:spPr>
      </p:pic>
    </p:spTree>
    <p:extLst>
      <p:ext uri="{BB962C8B-B14F-4D97-AF65-F5344CB8AC3E}">
        <p14:creationId xmlns:p14="http://schemas.microsoft.com/office/powerpoint/2010/main" val="13277930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81DCF-00F9-408B-B68F-3C5D8BB3132B}"/>
              </a:ext>
            </a:extLst>
          </p:cNvPr>
          <p:cNvSpPr>
            <a:spLocks noGrp="1"/>
          </p:cNvSpPr>
          <p:nvPr>
            <p:ph type="title"/>
          </p:nvPr>
        </p:nvSpPr>
        <p:spPr/>
        <p:txBody>
          <a:bodyPr>
            <a:normAutofit fontScale="90000"/>
          </a:bodyPr>
          <a:lstStyle/>
          <a:p>
            <a:r>
              <a:rPr lang="en-US" dirty="0"/>
              <a:t>Military Environmental Exposures (NRAC)</a:t>
            </a:r>
          </a:p>
        </p:txBody>
      </p:sp>
      <p:sp>
        <p:nvSpPr>
          <p:cNvPr id="3" name="Content Placeholder 2">
            <a:extLst>
              <a:ext uri="{FF2B5EF4-FFF2-40B4-BE49-F238E27FC236}">
                <a16:creationId xmlns:a16="http://schemas.microsoft.com/office/drawing/2014/main" id="{522AFE2E-468C-4E2A-B1A7-6A1D8E3E1CBD}"/>
              </a:ext>
            </a:extLst>
          </p:cNvPr>
          <p:cNvSpPr>
            <a:spLocks noGrp="1"/>
          </p:cNvSpPr>
          <p:nvPr>
            <p:ph idx="1"/>
          </p:nvPr>
        </p:nvSpPr>
        <p:spPr>
          <a:xfrm>
            <a:off x="147468" y="1046216"/>
            <a:ext cx="7603829" cy="504917"/>
          </a:xfrm>
        </p:spPr>
        <p:txBody>
          <a:bodyPr/>
          <a:lstStyle/>
          <a:p>
            <a:pPr marL="0" indent="0">
              <a:buNone/>
            </a:pPr>
            <a:r>
              <a:rPr lang="en-US" sz="2400" b="1" u="sng" dirty="0"/>
              <a:t>Selected 2024 Research Accomplishments</a:t>
            </a:r>
          </a:p>
          <a:p>
            <a:pPr lvl="1"/>
            <a:endParaRPr lang="en-US" u="sng"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422E05A-3281-4F62-B58A-0CA682E65120}"/>
              </a:ext>
            </a:extLst>
          </p:cNvPr>
          <p:cNvSpPr>
            <a:spLocks noGrp="1"/>
          </p:cNvSpPr>
          <p:nvPr>
            <p:ph type="sldNum" sz="quarter" idx="12"/>
          </p:nvPr>
        </p:nvSpPr>
        <p:spPr/>
        <p:txBody>
          <a:bodyPr/>
          <a:lstStyle/>
          <a:p>
            <a:fld id="{670A9334-4E67-F94F-A05E-0CE8B74A054E}" type="slidenum">
              <a:rPr lang="en-US" smtClean="0"/>
              <a:t>44</a:t>
            </a:fld>
            <a:endParaRPr lang="en-US" dirty="0"/>
          </a:p>
        </p:txBody>
      </p:sp>
      <p:sp>
        <p:nvSpPr>
          <p:cNvPr id="5" name="TextBox 4">
            <a:extLst>
              <a:ext uri="{FF2B5EF4-FFF2-40B4-BE49-F238E27FC236}">
                <a16:creationId xmlns:a16="http://schemas.microsoft.com/office/drawing/2014/main" id="{67E29CC1-63CC-4604-D22A-1D6EBD48D029}"/>
              </a:ext>
            </a:extLst>
          </p:cNvPr>
          <p:cNvSpPr txBox="1"/>
          <p:nvPr/>
        </p:nvSpPr>
        <p:spPr>
          <a:xfrm>
            <a:off x="143859" y="1490108"/>
            <a:ext cx="11869950" cy="4667945"/>
          </a:xfrm>
          <a:prstGeom prst="rect">
            <a:avLst/>
          </a:prstGeom>
          <a:noFill/>
        </p:spPr>
        <p:txBody>
          <a:bodyPr wrap="square" rtlCol="0">
            <a:spAutoFit/>
          </a:bodyPr>
          <a:lstStyle/>
          <a:p>
            <a:pPr marL="285750" indent="-285750">
              <a:spcAft>
                <a:spcPts val="800"/>
              </a:spcAft>
              <a:buFont typeface="Arial" panose="020B0604020202020204" pitchFamily="34" charset="0"/>
              <a:buChar char="•"/>
            </a:pPr>
            <a:r>
              <a:rPr lang="en-US" sz="2400" dirty="0"/>
              <a:t>Participated in the White House Office of Science and Technology’s (OSTP) workgroups on </a:t>
            </a:r>
            <a:r>
              <a:rPr lang="en-US" sz="2400" dirty="0" err="1"/>
              <a:t>Perand</a:t>
            </a:r>
            <a:r>
              <a:rPr lang="en-US" sz="2400" dirty="0"/>
              <a:t> Polyfluoroalkyl Substances (PFAS) Federal R&amp;D Strategic Plan and data sharing practices related to -omics techniques.</a:t>
            </a:r>
          </a:p>
          <a:p>
            <a:pPr marL="285750" indent="-285750">
              <a:spcAft>
                <a:spcPts val="800"/>
              </a:spcAft>
              <a:buFont typeface="Arial" panose="020B0604020202020204" pitchFamily="34" charset="0"/>
              <a:buChar char="•"/>
            </a:pPr>
            <a:r>
              <a:rPr lang="en-US" sz="2400" dirty="0"/>
              <a:t>Supported planning to transfer Ranch Hand (Agent Orange) specimens from the Air Force to VA.</a:t>
            </a:r>
          </a:p>
          <a:p>
            <a:pPr marL="285750" indent="-285750">
              <a:spcAft>
                <a:spcPts val="800"/>
              </a:spcAft>
              <a:buFont typeface="Arial" panose="020B0604020202020204" pitchFamily="34" charset="0"/>
              <a:buChar char="•"/>
            </a:pPr>
            <a:r>
              <a:rPr lang="en-US" sz="2400" dirty="0"/>
              <a:t>Demonstrated an increased risk for respiratory and cardiovascular conditions in Veterans exposed to open burn pits.</a:t>
            </a:r>
          </a:p>
          <a:p>
            <a:pPr marL="285750" indent="-285750">
              <a:spcAft>
                <a:spcPts val="800"/>
              </a:spcAft>
              <a:buFont typeface="Arial" panose="020B0604020202020204" pitchFamily="34" charset="0"/>
              <a:buChar char="•"/>
            </a:pPr>
            <a:r>
              <a:rPr lang="en-US" sz="2400" dirty="0"/>
              <a:t>Learned Camp Lejeune toxic exposure is linked to faster Parkinson’s disease progression.</a:t>
            </a:r>
          </a:p>
          <a:p>
            <a:pPr marL="285750" indent="-285750">
              <a:spcAft>
                <a:spcPts val="800"/>
              </a:spcAft>
              <a:buFont typeface="Arial" panose="020B0604020202020204" pitchFamily="34" charset="0"/>
              <a:buChar char="•"/>
            </a:pPr>
            <a:r>
              <a:rPr lang="en-US" sz="2400" dirty="0"/>
              <a:t>Found almost half of recent Veterans report toxic exposure in military service.</a:t>
            </a:r>
          </a:p>
          <a:p>
            <a:pPr marL="285750" indent="-285750">
              <a:spcAft>
                <a:spcPts val="800"/>
              </a:spcAft>
              <a:buFont typeface="Arial" panose="020B0604020202020204" pitchFamily="34" charset="0"/>
              <a:buChar char="•"/>
            </a:pPr>
            <a:r>
              <a:rPr lang="en-US" sz="2400" dirty="0"/>
              <a:t>Showed exposure to burn pit smoke increases the risk of breathing trouble and chronic bronchitis.</a:t>
            </a:r>
          </a:p>
        </p:txBody>
      </p:sp>
    </p:spTree>
    <p:extLst>
      <p:ext uri="{BB962C8B-B14F-4D97-AF65-F5344CB8AC3E}">
        <p14:creationId xmlns:p14="http://schemas.microsoft.com/office/powerpoint/2010/main" val="41956126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81DCF-00F9-408B-B68F-3C5D8BB3132B}"/>
              </a:ext>
            </a:extLst>
          </p:cNvPr>
          <p:cNvSpPr>
            <a:spLocks noGrp="1"/>
          </p:cNvSpPr>
          <p:nvPr>
            <p:ph type="title"/>
          </p:nvPr>
        </p:nvSpPr>
        <p:spPr/>
        <p:txBody>
          <a:bodyPr>
            <a:normAutofit fontScale="90000"/>
          </a:bodyPr>
          <a:lstStyle/>
          <a:p>
            <a:r>
              <a:rPr lang="en-US" dirty="0"/>
              <a:t>Traumatic Brain Injury / Brain Health (NRAC)</a:t>
            </a:r>
          </a:p>
        </p:txBody>
      </p:sp>
      <p:sp>
        <p:nvSpPr>
          <p:cNvPr id="3" name="Content Placeholder 2">
            <a:extLst>
              <a:ext uri="{FF2B5EF4-FFF2-40B4-BE49-F238E27FC236}">
                <a16:creationId xmlns:a16="http://schemas.microsoft.com/office/drawing/2014/main" id="{522AFE2E-468C-4E2A-B1A7-6A1D8E3E1CBD}"/>
              </a:ext>
            </a:extLst>
          </p:cNvPr>
          <p:cNvSpPr>
            <a:spLocks noGrp="1"/>
          </p:cNvSpPr>
          <p:nvPr>
            <p:ph idx="1"/>
          </p:nvPr>
        </p:nvSpPr>
        <p:spPr>
          <a:xfrm>
            <a:off x="147469" y="974500"/>
            <a:ext cx="8583172" cy="504917"/>
          </a:xfrm>
        </p:spPr>
        <p:txBody>
          <a:bodyPr/>
          <a:lstStyle/>
          <a:p>
            <a:pPr marL="0" indent="0">
              <a:buNone/>
            </a:pPr>
            <a:r>
              <a:rPr lang="en-US" sz="2400" b="1" u="sng" dirty="0"/>
              <a:t>Selected 2024 Research  Accomplishments</a:t>
            </a:r>
          </a:p>
          <a:p>
            <a:pPr lvl="1"/>
            <a:endParaRPr lang="en-US" u="sng"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422E05A-3281-4F62-B58A-0CA682E65120}"/>
              </a:ext>
            </a:extLst>
          </p:cNvPr>
          <p:cNvSpPr>
            <a:spLocks noGrp="1"/>
          </p:cNvSpPr>
          <p:nvPr>
            <p:ph type="sldNum" sz="quarter" idx="12"/>
          </p:nvPr>
        </p:nvSpPr>
        <p:spPr/>
        <p:txBody>
          <a:bodyPr/>
          <a:lstStyle/>
          <a:p>
            <a:fld id="{670A9334-4E67-F94F-A05E-0CE8B74A054E}" type="slidenum">
              <a:rPr lang="en-US" smtClean="0"/>
              <a:t>45</a:t>
            </a:fld>
            <a:endParaRPr lang="en-US" dirty="0"/>
          </a:p>
        </p:txBody>
      </p:sp>
      <p:sp>
        <p:nvSpPr>
          <p:cNvPr id="5" name="TextBox 4">
            <a:extLst>
              <a:ext uri="{FF2B5EF4-FFF2-40B4-BE49-F238E27FC236}">
                <a16:creationId xmlns:a16="http://schemas.microsoft.com/office/drawing/2014/main" id="{67E29CC1-63CC-4604-D22A-1D6EBD48D029}"/>
              </a:ext>
            </a:extLst>
          </p:cNvPr>
          <p:cNvSpPr txBox="1"/>
          <p:nvPr/>
        </p:nvSpPr>
        <p:spPr>
          <a:xfrm>
            <a:off x="143859" y="1381158"/>
            <a:ext cx="11630607" cy="5309146"/>
          </a:xfrm>
          <a:prstGeom prst="rect">
            <a:avLst/>
          </a:prstGeom>
          <a:noFill/>
        </p:spPr>
        <p:txBody>
          <a:bodyPr wrap="square" rtlCol="0">
            <a:spAutoFit/>
          </a:bodyPr>
          <a:lstStyle/>
          <a:p>
            <a:pPr marL="285750" indent="-285750">
              <a:spcAft>
                <a:spcPts val="800"/>
              </a:spcAft>
              <a:buFont typeface="Arial" panose="020B0604020202020204" pitchFamily="34" charset="0"/>
              <a:buChar char="•"/>
            </a:pPr>
            <a:r>
              <a:rPr lang="en-US" sz="2300" dirty="0"/>
              <a:t>Demonstrated neurobehavioral therapy lowered the number of non-epileptic seizures in patients with TBI from 17 a month to seven.</a:t>
            </a:r>
          </a:p>
          <a:p>
            <a:pPr marL="285750" indent="-285750">
              <a:spcAft>
                <a:spcPts val="800"/>
              </a:spcAft>
              <a:buFont typeface="Arial" panose="020B0604020202020204" pitchFamily="34" charset="0"/>
              <a:buChar char="•"/>
            </a:pPr>
            <a:r>
              <a:rPr lang="en-US" sz="2300" dirty="0"/>
              <a:t>Discovered post-9/11 Service members diagnosed with TBI were at an increased risk of developing one of two types of irregular heart rhythms: atrial fibrillation and atrial flutter.</a:t>
            </a:r>
          </a:p>
          <a:p>
            <a:pPr marL="285750" indent="-285750">
              <a:spcAft>
                <a:spcPts val="800"/>
              </a:spcAft>
              <a:buFont typeface="Arial" panose="020B0604020202020204" pitchFamily="34" charset="0"/>
              <a:buChar char="•"/>
            </a:pPr>
            <a:r>
              <a:rPr lang="en-US" sz="2300" dirty="0"/>
              <a:t>Identified damage to three brain regions from penetrating TBI is linked to PTSD.</a:t>
            </a:r>
          </a:p>
          <a:p>
            <a:pPr marL="285750" indent="-285750">
              <a:spcAft>
                <a:spcPts val="800"/>
              </a:spcAft>
              <a:buFont typeface="Arial" panose="020B0604020202020204" pitchFamily="34" charset="0"/>
              <a:buChar char="•"/>
            </a:pPr>
            <a:r>
              <a:rPr lang="en-US" sz="2300" dirty="0"/>
              <a:t>Learned TBI close to the time of an epilepsy onset dramatically increased the hazard of an early death.</a:t>
            </a:r>
          </a:p>
          <a:p>
            <a:pPr marL="285750" indent="-285750">
              <a:spcAft>
                <a:spcPts val="800"/>
              </a:spcAft>
              <a:buFont typeface="Arial" panose="020B0604020202020204" pitchFamily="34" charset="0"/>
              <a:buChar char="•"/>
            </a:pPr>
            <a:r>
              <a:rPr lang="en-US" sz="2300" dirty="0"/>
              <a:t>Showed older adults who were healthier and wealthier were more likely to sustain TBIs.</a:t>
            </a:r>
          </a:p>
          <a:p>
            <a:pPr marL="285750" indent="-285750">
              <a:spcAft>
                <a:spcPts val="800"/>
              </a:spcAft>
              <a:buFont typeface="Arial" panose="020B0604020202020204" pitchFamily="34" charset="0"/>
              <a:buChar char="•"/>
            </a:pPr>
            <a:r>
              <a:rPr lang="en-US" sz="2300" dirty="0"/>
              <a:t>Found TBIs may be a risk factor for brain cancer in Veterans.</a:t>
            </a:r>
          </a:p>
          <a:p>
            <a:pPr marL="285750" indent="-285750">
              <a:spcAft>
                <a:spcPts val="800"/>
              </a:spcAft>
              <a:buFont typeface="Arial" panose="020B0604020202020204" pitchFamily="34" charset="0"/>
              <a:buChar char="•"/>
            </a:pPr>
            <a:r>
              <a:rPr lang="en-US" sz="2300" dirty="0"/>
              <a:t>Learned Service members and Veterans with TBIs, both from blast exposure and from other causes, were three to four times more likely to report recurring dizziness.</a:t>
            </a:r>
          </a:p>
        </p:txBody>
      </p:sp>
    </p:spTree>
    <p:extLst>
      <p:ext uri="{BB962C8B-B14F-4D97-AF65-F5344CB8AC3E}">
        <p14:creationId xmlns:p14="http://schemas.microsoft.com/office/powerpoint/2010/main" val="40837207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81DCF-00F9-408B-B68F-3C5D8BB3132B}"/>
              </a:ext>
            </a:extLst>
          </p:cNvPr>
          <p:cNvSpPr>
            <a:spLocks noGrp="1"/>
          </p:cNvSpPr>
          <p:nvPr>
            <p:ph type="title"/>
          </p:nvPr>
        </p:nvSpPr>
        <p:spPr/>
        <p:txBody>
          <a:bodyPr>
            <a:normAutofit fontScale="90000"/>
          </a:bodyPr>
          <a:lstStyle/>
          <a:p>
            <a:r>
              <a:rPr lang="en-US" dirty="0"/>
              <a:t>Cancer and Precision Oncology (NRAC)</a:t>
            </a:r>
          </a:p>
        </p:txBody>
      </p:sp>
      <p:sp>
        <p:nvSpPr>
          <p:cNvPr id="3" name="Content Placeholder 2">
            <a:extLst>
              <a:ext uri="{FF2B5EF4-FFF2-40B4-BE49-F238E27FC236}">
                <a16:creationId xmlns:a16="http://schemas.microsoft.com/office/drawing/2014/main" id="{522AFE2E-468C-4E2A-B1A7-6A1D8E3E1CBD}"/>
              </a:ext>
            </a:extLst>
          </p:cNvPr>
          <p:cNvSpPr>
            <a:spLocks noGrp="1"/>
          </p:cNvSpPr>
          <p:nvPr>
            <p:ph idx="1"/>
          </p:nvPr>
        </p:nvSpPr>
        <p:spPr>
          <a:xfrm>
            <a:off x="147468" y="992429"/>
            <a:ext cx="7463153" cy="504917"/>
          </a:xfrm>
        </p:spPr>
        <p:txBody>
          <a:bodyPr/>
          <a:lstStyle/>
          <a:p>
            <a:pPr marL="0" indent="0">
              <a:buNone/>
            </a:pPr>
            <a:r>
              <a:rPr lang="en-US" sz="2400" b="1" u="sng" dirty="0"/>
              <a:t>Selected 2024 Research  Accomplishments</a:t>
            </a:r>
          </a:p>
          <a:p>
            <a:pPr lvl="1"/>
            <a:endParaRPr lang="en-US" u="sng"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422E05A-3281-4F62-B58A-0CA682E65120}"/>
              </a:ext>
            </a:extLst>
          </p:cNvPr>
          <p:cNvSpPr>
            <a:spLocks noGrp="1"/>
          </p:cNvSpPr>
          <p:nvPr>
            <p:ph type="sldNum" sz="quarter" idx="12"/>
          </p:nvPr>
        </p:nvSpPr>
        <p:spPr/>
        <p:txBody>
          <a:bodyPr/>
          <a:lstStyle/>
          <a:p>
            <a:fld id="{670A9334-4E67-F94F-A05E-0CE8B74A054E}" type="slidenum">
              <a:rPr lang="en-US" smtClean="0"/>
              <a:t>46</a:t>
            </a:fld>
            <a:endParaRPr lang="en-US" dirty="0"/>
          </a:p>
        </p:txBody>
      </p:sp>
      <p:sp>
        <p:nvSpPr>
          <p:cNvPr id="5" name="TextBox 4">
            <a:extLst>
              <a:ext uri="{FF2B5EF4-FFF2-40B4-BE49-F238E27FC236}">
                <a16:creationId xmlns:a16="http://schemas.microsoft.com/office/drawing/2014/main" id="{67E29CC1-63CC-4604-D22A-1D6EBD48D029}"/>
              </a:ext>
            </a:extLst>
          </p:cNvPr>
          <p:cNvSpPr txBox="1"/>
          <p:nvPr/>
        </p:nvSpPr>
        <p:spPr>
          <a:xfrm>
            <a:off x="143859" y="1417016"/>
            <a:ext cx="11900672" cy="4667945"/>
          </a:xfrm>
          <a:prstGeom prst="rect">
            <a:avLst/>
          </a:prstGeom>
          <a:noFill/>
        </p:spPr>
        <p:txBody>
          <a:bodyPr wrap="square" rtlCol="0">
            <a:spAutoFit/>
          </a:bodyPr>
          <a:lstStyle/>
          <a:p>
            <a:pPr marL="285750" indent="-285750">
              <a:spcAft>
                <a:spcPts val="800"/>
              </a:spcAft>
              <a:buFont typeface="Arial" panose="020B0604020202020204" pitchFamily="34" charset="0"/>
              <a:buChar char="•"/>
            </a:pPr>
            <a:r>
              <a:rPr lang="en-US" sz="2300" dirty="0"/>
              <a:t>Completed more than 680,000 lung cancer screenings for over 350,000 Veterans since 2021, the highest rate of lung cancer screening in the nation.</a:t>
            </a:r>
          </a:p>
          <a:p>
            <a:pPr marL="285750" indent="-285750">
              <a:spcAft>
                <a:spcPts val="800"/>
              </a:spcAft>
              <a:buFont typeface="Arial" panose="020B0604020202020204" pitchFamily="34" charset="0"/>
              <a:buChar char="•"/>
            </a:pPr>
            <a:r>
              <a:rPr lang="en-US" sz="2300" dirty="0"/>
              <a:t>Learned testicular cancer survivors had a three-times greater hazard of erectile dysfunction and a nearly seven-times greater hazard of testosterone deficiency.</a:t>
            </a:r>
          </a:p>
          <a:p>
            <a:pPr marL="285750" indent="-285750">
              <a:spcAft>
                <a:spcPts val="800"/>
              </a:spcAft>
              <a:buFont typeface="Arial" panose="020B0604020202020204" pitchFamily="34" charset="0"/>
              <a:buChar char="•"/>
            </a:pPr>
            <a:r>
              <a:rPr lang="en-US" sz="2300" dirty="0"/>
              <a:t>Demonstrated a drug used to treat diabetic neuropathy could make lung cancer chemotherapy treatments more effective.</a:t>
            </a:r>
          </a:p>
          <a:p>
            <a:pPr marL="285750" indent="-285750">
              <a:spcAft>
                <a:spcPts val="800"/>
              </a:spcAft>
              <a:buFont typeface="Arial" panose="020B0604020202020204" pitchFamily="34" charset="0"/>
              <a:buChar char="•"/>
            </a:pPr>
            <a:r>
              <a:rPr lang="en-US" sz="2300" dirty="0"/>
              <a:t>Found Veterans with rheumatoid arthritis (RA) had a greater than 50% increased risk of lung cancer, while those with interstitial lung disease, a known complication of RA, had a threefold increase in lung cancer risk.</a:t>
            </a:r>
          </a:p>
          <a:p>
            <a:pPr marL="285750" indent="-285750">
              <a:spcAft>
                <a:spcPts val="800"/>
              </a:spcAft>
              <a:buFont typeface="Arial" panose="020B0604020202020204" pitchFamily="34" charset="0"/>
              <a:buChar char="•"/>
            </a:pPr>
            <a:r>
              <a:rPr lang="en-US" sz="2300" dirty="0"/>
              <a:t>Learned the schizophrenia medication clozapine may increase the risk of blood cancers.</a:t>
            </a:r>
          </a:p>
          <a:p>
            <a:pPr marL="285750" indent="-285750">
              <a:spcAft>
                <a:spcPts val="800"/>
              </a:spcAft>
              <a:buFont typeface="Arial" panose="020B0604020202020204" pitchFamily="34" charset="0"/>
              <a:buChar char="•"/>
            </a:pPr>
            <a:r>
              <a:rPr lang="en-US" sz="2300" dirty="0"/>
              <a:t>Discovered traumatic brain injuries may be a risk factor for brain cancer in Veterans</a:t>
            </a:r>
          </a:p>
        </p:txBody>
      </p:sp>
    </p:spTree>
    <p:extLst>
      <p:ext uri="{BB962C8B-B14F-4D97-AF65-F5344CB8AC3E}">
        <p14:creationId xmlns:p14="http://schemas.microsoft.com/office/powerpoint/2010/main" val="20074999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81DCF-00F9-408B-B68F-3C5D8BB3132B}"/>
              </a:ext>
            </a:extLst>
          </p:cNvPr>
          <p:cNvSpPr>
            <a:spLocks noGrp="1"/>
          </p:cNvSpPr>
          <p:nvPr>
            <p:ph type="title"/>
          </p:nvPr>
        </p:nvSpPr>
        <p:spPr/>
        <p:txBody>
          <a:bodyPr>
            <a:normAutofit fontScale="90000"/>
          </a:bodyPr>
          <a:lstStyle/>
          <a:p>
            <a:r>
              <a:rPr lang="en-US" dirty="0"/>
              <a:t>Suicide Prevention (NRAC)</a:t>
            </a:r>
          </a:p>
        </p:txBody>
      </p:sp>
      <p:sp>
        <p:nvSpPr>
          <p:cNvPr id="3" name="Content Placeholder 2">
            <a:extLst>
              <a:ext uri="{FF2B5EF4-FFF2-40B4-BE49-F238E27FC236}">
                <a16:creationId xmlns:a16="http://schemas.microsoft.com/office/drawing/2014/main" id="{522AFE2E-468C-4E2A-B1A7-6A1D8E3E1CBD}"/>
              </a:ext>
            </a:extLst>
          </p:cNvPr>
          <p:cNvSpPr>
            <a:spLocks noGrp="1"/>
          </p:cNvSpPr>
          <p:nvPr>
            <p:ph idx="1"/>
          </p:nvPr>
        </p:nvSpPr>
        <p:spPr>
          <a:xfrm>
            <a:off x="147468" y="992429"/>
            <a:ext cx="9760619" cy="504917"/>
          </a:xfrm>
        </p:spPr>
        <p:txBody>
          <a:bodyPr/>
          <a:lstStyle/>
          <a:p>
            <a:pPr marL="0" indent="0">
              <a:buNone/>
            </a:pPr>
            <a:r>
              <a:rPr lang="en-US" sz="2400" b="1" u="sng" dirty="0"/>
              <a:t>Selected 2024 Research  Accomplishments</a:t>
            </a:r>
          </a:p>
          <a:p>
            <a:pPr lvl="1"/>
            <a:endParaRPr lang="en-US" u="sng"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422E05A-3281-4F62-B58A-0CA682E6512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7E29CC1-63CC-4604-D22A-1D6EBD48D029}"/>
              </a:ext>
            </a:extLst>
          </p:cNvPr>
          <p:cNvSpPr txBox="1"/>
          <p:nvPr/>
        </p:nvSpPr>
        <p:spPr>
          <a:xfrm>
            <a:off x="143859" y="1363229"/>
            <a:ext cx="11900673" cy="456535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Created a suicide prevention clinical trial database to be used for future systematic reviews or clinical practice guidelines, for identifying research gaps, and as an information resource.</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Found 40% of Veterans who have been both homeless and have higher debt report suicidal ideations.</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Partnered with the Veteran Informed Safety Intervention &amp; Outreach Network to show incorporating suicide prevention into firearm courses may be effective and well-received.</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Learned women Veterans retain higher feelings of social rejection and institutional betrayal and lower self-compassion and autonomy than male Veterans after a nonfatal suicide attempt.</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Showed the text-based Caring Contacts program holds promise as a means of suicide prevention for Veterans transitioning from military service to civilian life.</a:t>
            </a:r>
          </a:p>
        </p:txBody>
      </p:sp>
    </p:spTree>
    <p:extLst>
      <p:ext uri="{BB962C8B-B14F-4D97-AF65-F5344CB8AC3E}">
        <p14:creationId xmlns:p14="http://schemas.microsoft.com/office/powerpoint/2010/main" val="10848917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81DCF-00F9-408B-B68F-3C5D8BB3132B}"/>
              </a:ext>
            </a:extLst>
          </p:cNvPr>
          <p:cNvSpPr>
            <a:spLocks noGrp="1"/>
          </p:cNvSpPr>
          <p:nvPr>
            <p:ph type="title"/>
          </p:nvPr>
        </p:nvSpPr>
        <p:spPr/>
        <p:txBody>
          <a:bodyPr>
            <a:normAutofit fontScale="90000"/>
          </a:bodyPr>
          <a:lstStyle/>
          <a:p>
            <a:r>
              <a:rPr lang="en-US" dirty="0"/>
              <a:t>Pain and Opioid Use (NRAC)</a:t>
            </a:r>
          </a:p>
        </p:txBody>
      </p:sp>
      <p:sp>
        <p:nvSpPr>
          <p:cNvPr id="3" name="Content Placeholder 2">
            <a:extLst>
              <a:ext uri="{FF2B5EF4-FFF2-40B4-BE49-F238E27FC236}">
                <a16:creationId xmlns:a16="http://schemas.microsoft.com/office/drawing/2014/main" id="{522AFE2E-468C-4E2A-B1A7-6A1D8E3E1CBD}"/>
              </a:ext>
            </a:extLst>
          </p:cNvPr>
          <p:cNvSpPr>
            <a:spLocks noGrp="1"/>
          </p:cNvSpPr>
          <p:nvPr>
            <p:ph idx="1"/>
          </p:nvPr>
        </p:nvSpPr>
        <p:spPr>
          <a:xfrm>
            <a:off x="158621" y="1077592"/>
            <a:ext cx="8295073" cy="504917"/>
          </a:xfrm>
        </p:spPr>
        <p:txBody>
          <a:bodyPr/>
          <a:lstStyle/>
          <a:p>
            <a:pPr marL="0" indent="0">
              <a:buNone/>
            </a:pPr>
            <a:r>
              <a:rPr lang="en-US" sz="2400" b="1" u="sng" dirty="0"/>
              <a:t>Selected 2024 Research  Accomplishments</a:t>
            </a:r>
          </a:p>
          <a:p>
            <a:pPr lvl="1"/>
            <a:endParaRPr lang="en-US" u="sng"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422E05A-3281-4F62-B58A-0CA682E6512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7E29CC1-63CC-4604-D22A-1D6EBD48D029}"/>
              </a:ext>
            </a:extLst>
          </p:cNvPr>
          <p:cNvSpPr txBox="1"/>
          <p:nvPr/>
        </p:nvSpPr>
        <p:spPr>
          <a:xfrm>
            <a:off x="176086" y="1535451"/>
            <a:ext cx="11900672" cy="466794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Learned Veterans health measures such as meditation, yoga, or acupuncture, had a 55% lower likelihood of receiving an opioid prescription over two years and better pain-related outcomes.</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Showed a leg prosthesis implanted directly to the bone improves walking and reduces lower back pain in people with amputation.</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Found women Veterans were more likely to have multiple chronic pain conditions and higher pain intensity and more interference with their daily lives.</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Identified 126 genetic locations that affect a person’s susceptibility to chronic pain, 69 of which were previously unknown.</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Created an injectable gel that shows potential as a treatment for degenerative disc disease.</a:t>
            </a:r>
          </a:p>
          <a:p>
            <a:pPr marL="285750" marR="0" lvl="0" indent="-285750" algn="l" defTabSz="91440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Learned Veterans with opioid prescriptions had a 16% higher risk of cardiovascular disease.</a:t>
            </a:r>
          </a:p>
        </p:txBody>
      </p:sp>
    </p:spTree>
    <p:extLst>
      <p:ext uri="{BB962C8B-B14F-4D97-AF65-F5344CB8AC3E}">
        <p14:creationId xmlns:p14="http://schemas.microsoft.com/office/powerpoint/2010/main" val="38046003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QUERI">
      <a:dk1>
        <a:srgbClr val="000000"/>
      </a:dk1>
      <a:lt1>
        <a:srgbClr val="FFFFFF"/>
      </a:lt1>
      <a:dk2>
        <a:srgbClr val="003F71"/>
      </a:dk2>
      <a:lt2>
        <a:srgbClr val="E8E8E8"/>
      </a:lt2>
      <a:accent1>
        <a:srgbClr val="003F71"/>
      </a:accent1>
      <a:accent2>
        <a:srgbClr val="0083BE"/>
      </a:accent2>
      <a:accent3>
        <a:srgbClr val="78BE20"/>
      </a:accent3>
      <a:accent4>
        <a:srgbClr val="6BCABA"/>
      </a:accent4>
      <a:accent5>
        <a:srgbClr val="01A8CE"/>
      </a:accent5>
      <a:accent6>
        <a:srgbClr val="78BD1E"/>
      </a:accent6>
      <a:hlink>
        <a:srgbClr val="022E53"/>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ov2024_HSR-QUERI_PPT-Temp" id="{B94F87C4-30B0-6344-AB85-2194428973AD}" vid="{8C3E0777-B518-FC40-BCA8-B0227CEBD76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ocumentType xmlns="46ade7e5-a61b-41ef-8b65-1672892065de">Presentations and Other Documents</DocumentType>
    <Topic xmlns="46ade7e5-a61b-41ef-8b65-1672892065de">Suicide Prevention</Topic>
    <TaxCatchAll xmlns="6fd99b86-a2da-47ef-ab26-55e7009dfe6e" xsi:nil="true"/>
    <lcf76f155ced4ddcb4097134ff3c332f xmlns="46ade7e5-a61b-41ef-8b65-1672892065de">
      <Terms xmlns="http://schemas.microsoft.com/office/infopath/2007/PartnerControls"/>
    </lcf76f155ced4ddcb4097134ff3c332f>
    <PageReference xmlns="46ade7e5-a61b-41ef-8b65-1672892065d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670CDE65625E449B41BBE9E2A9D6E5A" ma:contentTypeVersion="14" ma:contentTypeDescription="Create a new document." ma:contentTypeScope="" ma:versionID="8b6d79dcc5f754c7cfb59536e3674b4c">
  <xsd:schema xmlns:xsd="http://www.w3.org/2001/XMLSchema" xmlns:xs="http://www.w3.org/2001/XMLSchema" xmlns:p="http://schemas.microsoft.com/office/2006/metadata/properties" xmlns:ns2="46ade7e5-a61b-41ef-8b65-1672892065de" xmlns:ns3="6fd99b86-a2da-47ef-ab26-55e7009dfe6e" targetNamespace="http://schemas.microsoft.com/office/2006/metadata/properties" ma:root="true" ma:fieldsID="64eb71bd406154cbfd68acd3ef293514" ns2:_="" ns3:_="">
    <xsd:import namespace="46ade7e5-a61b-41ef-8b65-1672892065de"/>
    <xsd:import namespace="6fd99b86-a2da-47ef-ab26-55e7009dfe6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Topic"/>
                <xsd:element ref="ns2:DocumentType"/>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PageReferenc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de7e5-a61b-41ef-8b65-1672892065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Topic" ma:index="12" ma:displayName="Topic" ma:format="Dropdown" ma:internalName="Topic">
      <xsd:simpleType>
        <xsd:restriction base="dms:Choice">
          <xsd:enumeration value="Animal Research"/>
          <xsd:enumeration value="Artificial Intelligence (AI)"/>
          <xsd:enumeration value="Budget"/>
          <xsd:enumeration value="Cannabis"/>
          <xsd:enumeration value="Centers"/>
          <xsd:enumeration value="Clinical Trials"/>
          <xsd:enumeration value="Community Care"/>
          <xsd:enumeration value="Congress"/>
          <xsd:enumeration value="COVID"/>
          <xsd:enumeration value="Enterprise Transformation"/>
          <xsd:enumeration value="General ORD"/>
          <xsd:enumeration value="Mental Health"/>
          <xsd:enumeration value="Mortality Data"/>
          <xsd:enumeration value="MVP"/>
          <xsd:enumeration value="NRAC"/>
          <xsd:enumeration value="Precision Oncology"/>
          <xsd:enumeration value="Psychedelics"/>
          <xsd:enumeration value="Rural Health"/>
          <xsd:enumeration value="Spinal Cord Injury (SCI)"/>
          <xsd:enumeration value="Suicide Prevention"/>
          <xsd:enumeration value="Traumatic Brain Injury (TBI)"/>
          <xsd:enumeration value="Technology Transfer Program"/>
          <xsd:enumeration value="Toxic Exposure - MERP"/>
          <xsd:enumeration value="VA Secretary"/>
          <xsd:enumeration value="VHA USH"/>
          <xsd:enumeration value="Women’s Health – Maternity and Infertility"/>
        </xsd:restriction>
      </xsd:simpleType>
    </xsd:element>
    <xsd:element name="DocumentType" ma:index="13" ma:displayName="Document Type" ma:format="Dropdown" ma:internalName="DocumentType">
      <xsd:simpleType>
        <xsd:restriction base="dms:Choice">
          <xsd:enumeration value="Briefing Papers - Congress"/>
          <xsd:enumeration value="Briefing Papers - VA-VHA"/>
          <xsd:enumeration value="Briefing Papers - Other"/>
          <xsd:enumeration value="Budget Justification"/>
          <xsd:enumeration value="GAO"/>
          <xsd:enumeration value="Mandated Congressional Reports"/>
          <xsd:enumeration value="News Articles"/>
          <xsd:enumeration value="Press Releases"/>
          <xsd:enumeration value="Publications-Studies"/>
          <xsd:enumeration value="RFA"/>
          <xsd:enumeration value="RFI - Congress"/>
          <xsd:enumeration value="Slide Presentations"/>
          <xsd:enumeration value="Talking Points - Congress"/>
          <xsd:enumeration value="Testimony - Congress Speeches"/>
          <xsd:enumeration value="Talking Points - VA-VHA"/>
          <xsd:enumeration value="Talking Points - Other"/>
          <xsd:enumeration value="Other-Misc Documents"/>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0ac6538-d41a-4f9a-bd67-5f7ae81a6d74"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PageReference" ma:index="21" nillable="true" ma:displayName="Page Reference" ma:description="provide a page reference for longer documents" ma:format="Dropdown" ma:internalName="PageReferenc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fd99b86-a2da-47ef-ab26-55e7009dfe6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736d572-348b-4845-bc48-0c7ae7dc85c2}" ma:internalName="TaxCatchAll" ma:showField="CatchAllData" ma:web="6fd99b86-a2da-47ef-ab26-55e7009dfe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BB905A-2E02-4B68-8975-77920B904F1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EE15DE0-5042-44F2-BAE4-B18B07C1A4BC}">
  <ds:schemaRefs>
    <ds:schemaRef ds:uri="http://schemas.microsoft.com/sharepoint/v3/contenttype/forms"/>
  </ds:schemaRefs>
</ds:datastoreItem>
</file>

<file path=customXml/itemProps3.xml><?xml version="1.0" encoding="utf-8"?>
<ds:datastoreItem xmlns:ds="http://schemas.openxmlformats.org/officeDocument/2006/customXml" ds:itemID="{E9B80331-8A8A-4F12-896F-6A044E445C53}"/>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otalTime>21289</TotalTime>
  <Words>9357</Words>
  <Application>Microsoft Office PowerPoint</Application>
  <PresentationFormat>Widescreen</PresentationFormat>
  <Paragraphs>542</Paragraphs>
  <Slides>48</Slides>
  <Notes>28</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62" baseType="lpstr">
      <vt:lpstr>Aptos</vt:lpstr>
      <vt:lpstr>Arial</vt:lpstr>
      <vt:lpstr>Calibri</vt:lpstr>
      <vt:lpstr>Courier New</vt:lpstr>
      <vt:lpstr>Georgia</vt:lpstr>
      <vt:lpstr>Helvetica</vt:lpstr>
      <vt:lpstr>Roboto</vt:lpstr>
      <vt:lpstr>System Font Regular</vt:lpstr>
      <vt:lpstr>Times New Roman</vt:lpstr>
      <vt:lpstr>TimesNewRomanPS-BoldMT</vt:lpstr>
      <vt:lpstr>TimesNewRomanPSMT</vt:lpstr>
      <vt:lpstr>Wingdings</vt:lpstr>
      <vt:lpstr>1_Office Theme</vt:lpstr>
      <vt:lpstr>think-cell Slide</vt:lpstr>
      <vt:lpstr>PowerPoint Presentation</vt:lpstr>
      <vt:lpstr>Suicide Prevention – Overview of Research </vt:lpstr>
      <vt:lpstr>Suicide Prevention –Transitioning Service Members</vt:lpstr>
      <vt:lpstr>Suicide Prevention – Caring Contacts</vt:lpstr>
      <vt:lpstr>Suicide Prevention – Caring Letters</vt:lpstr>
      <vt:lpstr>Suicide Prevention – Virtual Access to Care</vt:lpstr>
      <vt:lpstr>Suicide Prevention - Lethal Means Safety</vt:lpstr>
      <vt:lpstr>Suicide Prevention – Evaluations of Legislation</vt:lpstr>
      <vt:lpstr>Suicide Prevention – Generating Knowledge</vt:lpstr>
      <vt:lpstr>Suicide Prevention: Knowledge to Clinical Care –Leveraging the Million Veteran Program Data</vt:lpstr>
      <vt:lpstr>Homeless Veteran Care – Developing, Testing, and Implementing Interventions</vt:lpstr>
      <vt:lpstr>Homeless Veteran Care – Evaluating VA Programs and Legislation</vt:lpstr>
      <vt:lpstr>Homeless Veteran Care – Developing Data Resources</vt:lpstr>
      <vt:lpstr>Supporting Employment and Resources for Veterans’ Economic Security (SERVES) Consortium </vt:lpstr>
      <vt:lpstr>Using Information in the EHR to Predict Housing Instability in Veterans</vt:lpstr>
      <vt:lpstr>Traumatic Brain Injury (TBI) - Overview</vt:lpstr>
      <vt:lpstr>TBI - LIMBIC-CENC</vt:lpstr>
      <vt:lpstr>TBI - TRACTS</vt:lpstr>
      <vt:lpstr>TBI - Intensive Evaluation and Treatment Program</vt:lpstr>
      <vt:lpstr>TBI -  Evaluations</vt:lpstr>
      <vt:lpstr>Military Exposure Research</vt:lpstr>
      <vt:lpstr>Military Exposure Research</vt:lpstr>
      <vt:lpstr>Opiate Use Disorders- Overdose Prevention </vt:lpstr>
      <vt:lpstr>Opiate Use Disorders- Treatment </vt:lpstr>
      <vt:lpstr>Substance Use Disorders - Digital Treatment Access</vt:lpstr>
      <vt:lpstr>Chronic Pain - Virtual Interdisciplinary Pain Teams</vt:lpstr>
      <vt:lpstr>Chronic Pain - Evidence-based Approaches</vt:lpstr>
      <vt:lpstr>Senator Elizabeth Dole 21st Century Veterans Healthcare and Benefits Improvement Act</vt:lpstr>
      <vt:lpstr>VA Clinical Trials </vt:lpstr>
      <vt:lpstr>Cancer</vt:lpstr>
      <vt:lpstr>Cleland-Dole Act</vt:lpstr>
      <vt:lpstr>Precision Oncology Program Cancer of the Prostate (POPCaP)</vt:lpstr>
      <vt:lpstr>POPCAP/GU Research Efforts</vt:lpstr>
      <vt:lpstr>POPCaP/GU Translational Studies</vt:lpstr>
      <vt:lpstr>Reach of POPCAP clinical research</vt:lpstr>
      <vt:lpstr>Lung Precision Oncology Program (LPOP)</vt:lpstr>
      <vt:lpstr>LPOP Impacting Veterans</vt:lpstr>
      <vt:lpstr>LPOP Developing New Evidence to Guide Care</vt:lpstr>
      <vt:lpstr>Speeding Up Impactful Research</vt:lpstr>
      <vt:lpstr>Targeted Real-World Data Analysis – New Evidence for care</vt:lpstr>
      <vt:lpstr>Key Partners in Interagency Collaborations</vt:lpstr>
      <vt:lpstr>2024 Key Accomplishments (NRAC)*</vt:lpstr>
      <vt:lpstr>2024 Key Accomplishments (NRAC)</vt:lpstr>
      <vt:lpstr>Military Environmental Exposures (NRAC)</vt:lpstr>
      <vt:lpstr>Traumatic Brain Injury / Brain Health (NRAC)</vt:lpstr>
      <vt:lpstr>Cancer and Precision Oncology (NRAC)</vt:lpstr>
      <vt:lpstr>Suicide Prevention (NRAC)</vt:lpstr>
      <vt:lpstr>Pain and Opioid Use (NRAC)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 Research / QUERI Initiatives and Impacts</dc:title>
  <dc:creator>Melissa Braganza</dc:creator>
  <cp:lastModifiedBy>Muralidhar, Sumitra</cp:lastModifiedBy>
  <cp:revision>31</cp:revision>
  <dcterms:created xsi:type="dcterms:W3CDTF">2024-12-23T18:02:16Z</dcterms:created>
  <dcterms:modified xsi:type="dcterms:W3CDTF">2025-03-26T14:42:27Z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0x010100F670CDE65625E449B41BBE9E2A9D6E5A</vt:lpwstr>
  </property>
  <property fmtid="{D5CDD505-2E9C-101B-9397-08002B2CF9AE}" pid="3" name="MediaServiceImageTags">
    <vt:lpwstr/>
  </property>
</Properties>
</file>