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4"/>
    <p:sldMasterId id="2147484870" r:id="rId5"/>
    <p:sldMasterId id="2147484862" r:id="rId6"/>
  </p:sldMasterIdLst>
  <p:notesMasterIdLst>
    <p:notesMasterId r:id="rId31"/>
  </p:notesMasterIdLst>
  <p:handoutMasterIdLst>
    <p:handoutMasterId r:id="rId32"/>
  </p:handoutMasterIdLst>
  <p:sldIdLst>
    <p:sldId id="3181" r:id="rId7"/>
    <p:sldId id="3180" r:id="rId8"/>
    <p:sldId id="3182" r:id="rId9"/>
    <p:sldId id="2147482537" r:id="rId10"/>
    <p:sldId id="3183" r:id="rId11"/>
    <p:sldId id="3184" r:id="rId12"/>
    <p:sldId id="2147482527" r:id="rId13"/>
    <p:sldId id="3185" r:id="rId14"/>
    <p:sldId id="2147482516" r:id="rId15"/>
    <p:sldId id="2147482528" r:id="rId16"/>
    <p:sldId id="2147482529" r:id="rId17"/>
    <p:sldId id="2147482530" r:id="rId18"/>
    <p:sldId id="2147482532" r:id="rId19"/>
    <p:sldId id="2147482531" r:id="rId20"/>
    <p:sldId id="2147482533" r:id="rId21"/>
    <p:sldId id="2147479208" r:id="rId22"/>
    <p:sldId id="2147482518" r:id="rId23"/>
    <p:sldId id="2147482519" r:id="rId24"/>
    <p:sldId id="2147482520" r:id="rId25"/>
    <p:sldId id="2147482534" r:id="rId26"/>
    <p:sldId id="2147482522" r:id="rId27"/>
    <p:sldId id="2147482523" r:id="rId28"/>
    <p:sldId id="2147482524" r:id="rId29"/>
    <p:sldId id="2147482535" r:id="rId30"/>
  </p:sldIdLst>
  <p:sldSz cx="9144000" cy="6858000" type="screen4x3"/>
  <p:notesSz cx="7010400" cy="92964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E13426-11A9-7368-72ED-62E55AA353EC}" name="Crowe, Chris" initials="CC" userId="S::Chris.Crowe@va.gov::6970ba53-8265-42c7-91d3-00e256e15378" providerId="AD"/>
  <p188:author id="{8ADE664F-EBF6-F8F5-64FC-95B95DF9B2D1}" name="Crowe, Chris" initials="CC" userId="S::chris.crowe@va.gov::6970ba53-8265-42c7-91d3-00e256e15378" providerId="AD"/>
  <p188:author id="{DA424B55-F816-9019-2559-6E67E2B73C56}" name="Oliver, Ciara M." initials="OC" userId="S::ciara.oliver@va.gov::93692256-2fd5-4ec9-8d3a-a1a48ff0bde4" providerId="AD"/>
  <p188:author id="{47E3D964-C68B-7680-038D-3553DB1DA0BA}" name="Jones, Lacinda A." initials="LJ" userId="S::Lacinda.Jones@va.gov::b1363938-d062-4ada-bffe-8a044623e25b" providerId="AD"/>
  <p188:author id="{14FA34A7-A93F-3346-3DF4-FBD254020ECB}" name="Jones, Lacinda A." initials="JL" userId="S::lacinda.jones@va.gov::b1363938-d062-4ada-bffe-8a044623e2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Department of Veterans Affairs" initials="DoV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002F56"/>
    <a:srgbClr val="003D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17" d="100"/>
          <a:sy n="117" d="100"/>
        </p:scale>
        <p:origin x="1928" y="168"/>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8/10/relationships/authors" Target="authors.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7BACBC94-ED5A-4167-A18A-AC4F25ED66D4}" type="datetimeFigureOut">
              <a:rPr lang="en-US" smtClean="0"/>
              <a:t>10/20/25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BB1AE1E3-F2F8-47FD-A4F8-C33348A375A7}" type="slidenum">
              <a:rPr lang="en-US" smtClean="0"/>
              <a:t>‹#›</a:t>
            </a:fld>
            <a:endParaRPr lang="en-US"/>
          </a:p>
        </p:txBody>
      </p:sp>
    </p:spTree>
    <p:extLst>
      <p:ext uri="{BB962C8B-B14F-4D97-AF65-F5344CB8AC3E}">
        <p14:creationId xmlns:p14="http://schemas.microsoft.com/office/powerpoint/2010/main" val="85832980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EDE499EE-2D9F-4E82-8CEA-F4B67D4E6FEC}" type="datetimeFigureOut">
              <a:rPr lang="en-US" smtClean="0"/>
              <a:t>10/20/25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A6F7D25-770E-4F77-8331-8C84F68246BD}" type="slidenum">
              <a:rPr lang="en-US" smtClean="0"/>
              <a:t>‹#›</a:t>
            </a:fld>
            <a:endParaRPr lang="en-US"/>
          </a:p>
        </p:txBody>
      </p:sp>
    </p:spTree>
    <p:extLst>
      <p:ext uri="{BB962C8B-B14F-4D97-AF65-F5344CB8AC3E}">
        <p14:creationId xmlns:p14="http://schemas.microsoft.com/office/powerpoint/2010/main" val="265046958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nature.com/nm"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Confirm Arial font throughout</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A6F7D25-770E-4F77-8331-8C84F68246BD}" type="slidenum">
              <a:rPr lang="en-US" smtClean="0"/>
              <a:t>1</a:t>
            </a:fld>
            <a:endParaRPr lang="en-US"/>
          </a:p>
        </p:txBody>
      </p:sp>
    </p:spTree>
    <p:extLst>
      <p:ext uri="{BB962C8B-B14F-4D97-AF65-F5344CB8AC3E}">
        <p14:creationId xmlns:p14="http://schemas.microsoft.com/office/powerpoint/2010/main" val="1088844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A6F7D25-770E-4F77-8331-8C84F68246BD}" type="slidenum">
              <a:rPr lang="en-US" smtClean="0"/>
              <a:t>2</a:t>
            </a:fld>
            <a:endParaRPr lang="en-US"/>
          </a:p>
        </p:txBody>
      </p:sp>
    </p:spTree>
    <p:extLst>
      <p:ext uri="{BB962C8B-B14F-4D97-AF65-F5344CB8AC3E}">
        <p14:creationId xmlns:p14="http://schemas.microsoft.com/office/powerpoint/2010/main" val="2821526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a:t>
            </a:r>
          </a:p>
          <a:p>
            <a:r>
              <a:rPr lang="en-US"/>
              <a:t>•Mackey KM, Anderson JK, Williams BE, Ward RM, Parr NJ. Evidence Brief: Psychedelic Medications for Mental Health and Substance Use Disorders. Washington, DC: Evidence Synthesis Program, Health Services Research and Development Service, Office of Research and Development, Department of Veterans Affairs. VA ESP Project #09-199; 2022. </a:t>
            </a:r>
          </a:p>
          <a:p>
            <a:r>
              <a:rPr lang="en-US" dirty="0"/>
              <a:t>•Mackey KM, Anderson JK, Williams BE, Parr NJ. Evidence Assist: Psychedelic Medications for Mental Health and Substance Use Disorders. Washington, DC: Evidence Synthesis Program, Health Services Research and Development Service, Office of Research and Development, Department of Veterans Affairs. VA ESP Project 09-199; 2023.</a:t>
            </a:r>
            <a:endParaRPr lang="en-US" dirty="0">
              <a:ea typeface="Calibri"/>
              <a:cs typeface="Calibri"/>
            </a:endParaRPr>
          </a:p>
          <a:p>
            <a:r>
              <a:rPr lang="en-US" dirty="0"/>
              <a:t>•Wolfgang, A. S., </a:t>
            </a:r>
            <a:r>
              <a:rPr lang="en-US" dirty="0" err="1"/>
              <a:t>McClair</a:t>
            </a:r>
            <a:r>
              <a:rPr lang="en-US" dirty="0"/>
              <a:t>, V. L., Schnurr, P. P., </a:t>
            </a:r>
            <a:r>
              <a:rPr lang="en-US" dirty="0" err="1"/>
              <a:t>Holtzheimer</a:t>
            </a:r>
            <a:r>
              <a:rPr lang="en-US" dirty="0"/>
              <a:t>, P. E., Woolley, J. D., Stauffer, C. S., ... &amp; Wiechers, I. R. (2025). Research and implementation of psychedelic-assisted therapy in the veterans health administration. American Journal of Psychiatry, 182(1), 17-20.</a:t>
            </a:r>
            <a:endParaRPr lang="en-US" dirty="0">
              <a:ea typeface="Calibri"/>
              <a:cs typeface="Calibri"/>
            </a:endParaRPr>
          </a:p>
          <a:p>
            <a:endParaRPr lang="en-US" dirty="0">
              <a:ea typeface="Calibri"/>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A6F7D25-770E-4F77-8331-8C84F68246BD}" type="slidenum">
              <a:rPr lang="en-US" smtClean="0"/>
              <a:t>3</a:t>
            </a:fld>
            <a:endParaRPr lang="en-US"/>
          </a:p>
        </p:txBody>
      </p:sp>
    </p:spTree>
    <p:extLst>
      <p:ext uri="{BB962C8B-B14F-4D97-AF65-F5344CB8AC3E}">
        <p14:creationId xmlns:p14="http://schemas.microsoft.com/office/powerpoint/2010/main" val="1311200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F1DF3BF3-E8F4-581A-A2DA-E89082AF7B3E}"/>
            </a:ext>
          </a:extLst>
        </p:cNvPr>
        <p:cNvGrpSpPr/>
        <p:nvPr/>
      </p:nvGrpSpPr>
      <p:grpSpPr>
        <a:xfrm>
          <a:off x="0" y="0"/>
          <a:ext cx="0" cy="0"/>
          <a:chOff x="0" y="0"/>
          <a:chExt cx="0" cy="0"/>
        </a:xfrm>
      </p:grpSpPr>
      <p:sp>
        <p:nvSpPr>
          <p:cNvPr id="242" name="Google Shape;242;g2617b331358_0_102:notes">
            <a:extLst>
              <a:ext uri="{FF2B5EF4-FFF2-40B4-BE49-F238E27FC236}">
                <a16:creationId xmlns:a16="http://schemas.microsoft.com/office/drawing/2014/main" id="{87018929-3076-9FB6-3960-7F9C1001BE8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617b331358_0_102:notes">
            <a:extLst>
              <a:ext uri="{FF2B5EF4-FFF2-40B4-BE49-F238E27FC236}">
                <a16:creationId xmlns:a16="http://schemas.microsoft.com/office/drawing/2014/main" id="{9E46B29D-315E-B60B-8ECD-F418D13709B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solidFill>
                  <a:srgbClr val="212121"/>
                </a:solidFill>
              </a:rPr>
              <a:t>Mitchell JM et al. MDMA-assisted therapy for severe PTSD: a randomized, double-blind, placebo-controlled phase 3 study. Nat Med. 2021 Jun;27(6):1025-1033. </a:t>
            </a:r>
            <a:endParaRPr lang="en-US" dirty="0"/>
          </a:p>
          <a:p>
            <a:r>
              <a:rPr lang="en-US" dirty="0">
                <a:solidFill>
                  <a:srgbClr val="212121"/>
                </a:solidFill>
              </a:rPr>
              <a:t>Mitchell JM et al. </a:t>
            </a:r>
            <a:r>
              <a:rPr lang="en-US" dirty="0"/>
              <a:t>MDMA-assisted therapy for moderate to severe PTSD: a randomized, placebo-controlled phase 3 trial. Nat Med. 2</a:t>
            </a:r>
            <a:r>
              <a:rPr lang="en-US" dirty="0">
                <a:solidFill>
                  <a:srgbClr val="5B616B"/>
                </a:solidFill>
              </a:rPr>
              <a:t>023 Oct;29(10):2473-2480.</a:t>
            </a:r>
            <a:endParaRPr lang="en-US" dirty="0"/>
          </a:p>
          <a:p>
            <a:endParaRPr lang="en-US" dirty="0">
              <a:ea typeface="Calibri" panose="020F0502020204030204"/>
              <a:cs typeface="Calibri" panose="020F0502020204030204"/>
            </a:endParaRPr>
          </a:p>
        </p:txBody>
      </p:sp>
      <p:sp>
        <p:nvSpPr>
          <p:cNvPr id="244" name="Google Shape;244;g2617b331358_0_102:notes">
            <a:extLst>
              <a:ext uri="{FF2B5EF4-FFF2-40B4-BE49-F238E27FC236}">
                <a16:creationId xmlns:a16="http://schemas.microsoft.com/office/drawing/2014/main" id="{8D983770-48D2-A90A-136B-3F4BE70DC54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47944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•Chen M-H, Cheng S-L, Kao Y-C, Tseng P-T, Hsu C-W, Yu C-L, Yang F-C, Thompson T, Hsu T-W and Liang C-S. The association between diverse psychological protocols and the efficacy of psilocybin assisted therapy for clinical depressive symptoms: a Bayesian meta-analysis. </a:t>
            </a:r>
            <a:r>
              <a:rPr lang="en-US" i="1" dirty="0"/>
              <a:t>Front. Psychiatry. </a:t>
            </a:r>
            <a:r>
              <a:rPr lang="en-US" dirty="0"/>
              <a:t>2024;15:1439347. </a:t>
            </a:r>
            <a:r>
              <a:rPr lang="en-US" dirty="0" err="1"/>
              <a:t>doi</a:t>
            </a:r>
            <a:r>
              <a:rPr lang="en-US" dirty="0"/>
              <a:t>: 10.3389/fpsyt.2024.1439347.</a:t>
            </a:r>
          </a:p>
          <a:p>
            <a:r>
              <a:rPr lang="en-US" dirty="0"/>
              <a:t>•Horton, Morrison, &amp; Schmidt. Systematized Review of Psychotherapeutic Components of Psilocybin-Assisted Psychotherapy</a:t>
            </a:r>
            <a:r>
              <a:rPr lang="en-US" i="1" dirty="0"/>
              <a:t>. Am J </a:t>
            </a:r>
            <a:r>
              <a:rPr lang="en-US" i="1" dirty="0" err="1"/>
              <a:t>Psychother</a:t>
            </a:r>
            <a:r>
              <a:rPr lang="en-US" i="1" dirty="0"/>
              <a:t> </a:t>
            </a:r>
            <a:r>
              <a:rPr lang="en-US" dirty="0"/>
              <a:t>74:4, 2021</a:t>
            </a:r>
            <a:endParaRPr lang="en-US" dirty="0">
              <a:ea typeface="Calibri"/>
              <a:cs typeface="Calibri"/>
            </a:endParaRPr>
          </a:p>
          <a:p>
            <a:endParaRPr lang="en-US" dirty="0">
              <a:ea typeface="Calibri"/>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A6F7D25-770E-4F77-8331-8C84F68246BD}" type="slidenum">
              <a:rPr lang="en-US" smtClean="0"/>
              <a:t>11</a:t>
            </a:fld>
            <a:endParaRPr lang="en-US"/>
          </a:p>
        </p:txBody>
      </p:sp>
    </p:spTree>
    <p:extLst>
      <p:ext uri="{BB962C8B-B14F-4D97-AF65-F5344CB8AC3E}">
        <p14:creationId xmlns:p14="http://schemas.microsoft.com/office/powerpoint/2010/main" val="4223469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a:solidFill>
                  <a:srgbClr val="222222"/>
                </a:solidFill>
              </a:rPr>
              <a:t>Goodwin, G. M., Aaronson, S. T., Alvarez, O., Arden, P. C., Baker, A., Bennett, J. C., ... &amp; </a:t>
            </a:r>
            <a:r>
              <a:rPr lang="en-US" dirty="0" err="1">
                <a:solidFill>
                  <a:srgbClr val="222222"/>
                </a:solidFill>
              </a:rPr>
              <a:t>Malievskaia</a:t>
            </a:r>
            <a:r>
              <a:rPr lang="en-US" dirty="0">
                <a:solidFill>
                  <a:srgbClr val="222222"/>
                </a:solidFill>
              </a:rPr>
              <a:t>, E. (2022). Single-dose psilocybin for a treatment-resistant episode of major depression. </a:t>
            </a:r>
            <a:r>
              <a:rPr lang="en-US" i="1" dirty="0">
                <a:solidFill>
                  <a:srgbClr val="222222"/>
                </a:solidFill>
              </a:rPr>
              <a:t>New England Journal of Medicine</a:t>
            </a:r>
            <a:r>
              <a:rPr lang="en-US" dirty="0">
                <a:solidFill>
                  <a:srgbClr val="222222"/>
                </a:solidFill>
              </a:rPr>
              <a:t>, </a:t>
            </a:r>
            <a:r>
              <a:rPr lang="en-US" i="1" dirty="0">
                <a:solidFill>
                  <a:srgbClr val="222222"/>
                </a:solidFill>
              </a:rPr>
              <a:t>387</a:t>
            </a:r>
            <a:r>
              <a:rPr lang="en-US" dirty="0">
                <a:solidFill>
                  <a:srgbClr val="222222"/>
                </a:solidFill>
              </a:rPr>
              <a:t>(18), 1637-1648.</a:t>
            </a:r>
            <a:endParaRPr lang="en-US" dirty="0"/>
          </a:p>
          <a:p>
            <a:r>
              <a:rPr lang="en-US" dirty="0"/>
              <a:t>•</a:t>
            </a:r>
            <a:r>
              <a:rPr lang="en-US" dirty="0">
                <a:solidFill>
                  <a:srgbClr val="222222"/>
                </a:solidFill>
              </a:rPr>
              <a:t>Raison, C. L., </a:t>
            </a:r>
            <a:r>
              <a:rPr lang="en-US" dirty="0" err="1">
                <a:solidFill>
                  <a:srgbClr val="222222"/>
                </a:solidFill>
              </a:rPr>
              <a:t>Sanacora</a:t>
            </a:r>
            <a:r>
              <a:rPr lang="en-US" dirty="0">
                <a:solidFill>
                  <a:srgbClr val="222222"/>
                </a:solidFill>
              </a:rPr>
              <a:t>, G., Woolley, J., Heinzerling, K., Dunlop, B. W., Brown, R. T., ... &amp; Griffiths, R. R. (2023). Single-dose psilocybin treatment for major depressive disorder: a randomized clinical trial. </a:t>
            </a:r>
            <a:r>
              <a:rPr lang="en-US" i="1" dirty="0">
                <a:solidFill>
                  <a:srgbClr val="222222"/>
                </a:solidFill>
              </a:rPr>
              <a:t>Jama</a:t>
            </a:r>
            <a:r>
              <a:rPr lang="en-US" dirty="0">
                <a:solidFill>
                  <a:srgbClr val="222222"/>
                </a:solidFill>
              </a:rPr>
              <a:t>, </a:t>
            </a:r>
            <a:r>
              <a:rPr lang="en-US" i="1" dirty="0">
                <a:solidFill>
                  <a:srgbClr val="222222"/>
                </a:solidFill>
              </a:rPr>
              <a:t>330</a:t>
            </a:r>
            <a:r>
              <a:rPr lang="en-US" dirty="0">
                <a:solidFill>
                  <a:srgbClr val="222222"/>
                </a:solidFill>
              </a:rPr>
              <a:t>(9), 843-853.</a:t>
            </a:r>
            <a:endParaRPr lang="en-US" dirty="0"/>
          </a:p>
          <a:p>
            <a:endParaRPr lang="en-US" dirty="0">
              <a:ea typeface="Calibri"/>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A6F7D25-770E-4F77-8331-8C84F68246BD}" type="slidenum">
              <a:rPr lang="en-US" smtClean="0"/>
              <a:t>12</a:t>
            </a:fld>
            <a:endParaRPr lang="en-US"/>
          </a:p>
        </p:txBody>
      </p:sp>
    </p:spTree>
    <p:extLst>
      <p:ext uri="{BB962C8B-B14F-4D97-AF65-F5344CB8AC3E}">
        <p14:creationId xmlns:p14="http://schemas.microsoft.com/office/powerpoint/2010/main" val="74582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222222"/>
                </a:solidFill>
                <a:ea typeface="Calibri"/>
                <a:cs typeface="Calibri"/>
              </a:rPr>
              <a:t>Noller et al. </a:t>
            </a:r>
            <a:r>
              <a:rPr lang="en-US" dirty="0">
                <a:solidFill>
                  <a:srgbClr val="212121"/>
                </a:solidFill>
              </a:rPr>
              <a:t>Ibogaine treatment outcomes for opioid dependence from a twelve-month follow-up observational study. </a:t>
            </a:r>
            <a:r>
              <a:rPr lang="en-US">
                <a:solidFill>
                  <a:srgbClr val="0071BC"/>
                </a:solidFill>
              </a:rPr>
              <a:t>Am J Drug Alcohol Abuse. </a:t>
            </a:r>
            <a:r>
              <a:rPr lang="en-US">
                <a:solidFill>
                  <a:srgbClr val="5B616B"/>
                </a:solidFill>
              </a:rPr>
              <a:t>2018;44(1):37-46.</a:t>
            </a:r>
            <a:endParaRPr lang="en-US">
              <a:ea typeface="Calibri"/>
              <a:cs typeface="Calibri"/>
            </a:endParaRPr>
          </a:p>
          <a:p>
            <a:endParaRPr lang="en-US" dirty="0">
              <a:solidFill>
                <a:srgbClr val="222222"/>
              </a:solidFill>
              <a:ea typeface="Calibri"/>
              <a:cs typeface="Calibri"/>
            </a:endParaRPr>
          </a:p>
          <a:p>
            <a:r>
              <a:rPr lang="en-US" dirty="0">
                <a:solidFill>
                  <a:srgbClr val="222222"/>
                </a:solidFill>
              </a:rPr>
              <a:t>Cherian et al. Magnesium–ibogaine therapy in veterans with traumatic brain injuries. </a:t>
            </a:r>
            <a:r>
              <a:rPr lang="en-US" i="1" u="sng" dirty="0">
                <a:solidFill>
                  <a:srgbClr val="006699"/>
                </a:solidFill>
                <a:hlinkClick r:id="rId3"/>
              </a:rPr>
              <a:t>Nature Medicine</a:t>
            </a:r>
            <a:r>
              <a:rPr lang="en-US" dirty="0">
                <a:solidFill>
                  <a:srgbClr val="222222"/>
                </a:solidFill>
              </a:rPr>
              <a:t> </a:t>
            </a:r>
            <a:r>
              <a:rPr lang="en-US" b="1" dirty="0">
                <a:solidFill>
                  <a:srgbClr val="222222"/>
                </a:solidFill>
              </a:rPr>
              <a:t>volume 30</a:t>
            </a:r>
            <a:r>
              <a:rPr lang="en-US" dirty="0">
                <a:solidFill>
                  <a:srgbClr val="222222"/>
                </a:solidFill>
              </a:rPr>
              <a:t>, pages373–381 (2024).</a:t>
            </a:r>
            <a:endParaRPr lang="en-US">
              <a:ea typeface="Calibri"/>
              <a:cs typeface="Calibri"/>
            </a:endParaRPr>
          </a:p>
          <a:p>
            <a:endParaRPr lang="en-US" dirty="0">
              <a:ea typeface="Calibri"/>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A6F7D25-770E-4F77-8331-8C84F68246BD}" type="slidenum">
              <a:rPr lang="en-US" smtClean="0"/>
              <a:t>15</a:t>
            </a:fld>
            <a:endParaRPr lang="en-US"/>
          </a:p>
        </p:txBody>
      </p:sp>
    </p:spTree>
    <p:extLst>
      <p:ext uri="{BB962C8B-B14F-4D97-AF65-F5344CB8AC3E}">
        <p14:creationId xmlns:p14="http://schemas.microsoft.com/office/powerpoint/2010/main" val="383900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E2A7E0-0736-493F-998F-8B599A7E84B4}" type="slidenum">
              <a:rPr lang="en-US" smtClean="0"/>
              <a:t>16</a:t>
            </a:fld>
            <a:endParaRPr lang="en-US"/>
          </a:p>
        </p:txBody>
      </p:sp>
    </p:spTree>
    <p:extLst>
      <p:ext uri="{BB962C8B-B14F-4D97-AF65-F5344CB8AC3E}">
        <p14:creationId xmlns:p14="http://schemas.microsoft.com/office/powerpoint/2010/main" val="3647645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40EAD-5D5D-61A1-77DC-1D5D4AC70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57439-8078-39AC-92F1-776EF87C7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19535-392C-313B-D863-EA2250265C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035032-CF1E-960D-6360-A667E662AD0D}"/>
              </a:ext>
            </a:extLst>
          </p:cNvPr>
          <p:cNvSpPr>
            <a:spLocks noGrp="1"/>
          </p:cNvSpPr>
          <p:nvPr>
            <p:ph type="sldNum" sz="quarter" idx="5"/>
          </p:nvPr>
        </p:nvSpPr>
        <p:spPr/>
        <p:txBody>
          <a:bodyPr/>
          <a:lstStyle/>
          <a:p>
            <a:fld id="{EDE2A7E0-0736-493F-998F-8B599A7E84B4}" type="slidenum">
              <a:rPr lang="en-US" smtClean="0"/>
              <a:t>19</a:t>
            </a:fld>
            <a:endParaRPr lang="en-US"/>
          </a:p>
        </p:txBody>
      </p:sp>
    </p:spTree>
    <p:extLst>
      <p:ext uri="{BB962C8B-B14F-4D97-AF65-F5344CB8AC3E}">
        <p14:creationId xmlns:p14="http://schemas.microsoft.com/office/powerpoint/2010/main" val="2209147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C56C-EF2C-CD67-EED1-AF4CE0984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B0322-992E-49EC-2D93-101A778B5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C2795-B458-4BDA-A8AE-BB7EC214E8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644284-F043-03C1-37D1-F0D2705E2460}"/>
              </a:ext>
            </a:extLst>
          </p:cNvPr>
          <p:cNvSpPr>
            <a:spLocks noGrp="1"/>
          </p:cNvSpPr>
          <p:nvPr>
            <p:ph type="sldNum" sz="quarter" idx="5"/>
          </p:nvPr>
        </p:nvSpPr>
        <p:spPr/>
        <p:txBody>
          <a:bodyPr/>
          <a:lstStyle/>
          <a:p>
            <a:fld id="{EDE2A7E0-0736-493F-998F-8B599A7E84B4}" type="slidenum">
              <a:rPr lang="en-US" smtClean="0"/>
              <a:t>20</a:t>
            </a:fld>
            <a:endParaRPr lang="en-US"/>
          </a:p>
        </p:txBody>
      </p:sp>
    </p:spTree>
    <p:extLst>
      <p:ext uri="{BB962C8B-B14F-4D97-AF65-F5344CB8AC3E}">
        <p14:creationId xmlns:p14="http://schemas.microsoft.com/office/powerpoint/2010/main" val="2295818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E057B-9B2C-83E3-9969-FEDB6C2F7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111C5-0229-2A93-EE33-637B9628F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4FFDF-E890-F84F-C7B5-6FEBA5F4B5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C19B14-4A97-0136-EEC5-9A9A4D41E2F9}"/>
              </a:ext>
            </a:extLst>
          </p:cNvPr>
          <p:cNvSpPr>
            <a:spLocks noGrp="1"/>
          </p:cNvSpPr>
          <p:nvPr>
            <p:ph type="sldNum" sz="quarter" idx="5"/>
          </p:nvPr>
        </p:nvSpPr>
        <p:spPr/>
        <p:txBody>
          <a:bodyPr/>
          <a:lstStyle/>
          <a:p>
            <a:fld id="{EDE2A7E0-0736-493F-998F-8B599A7E84B4}" type="slidenum">
              <a:rPr lang="en-US" smtClean="0"/>
              <a:t>21</a:t>
            </a:fld>
            <a:endParaRPr lang="en-US"/>
          </a:p>
        </p:txBody>
      </p:sp>
    </p:spTree>
    <p:extLst>
      <p:ext uri="{BB962C8B-B14F-4D97-AF65-F5344CB8AC3E}">
        <p14:creationId xmlns:p14="http://schemas.microsoft.com/office/powerpoint/2010/main" val="3689636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3A9A9-2286-4FCE-B7F9-1972C951A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EFC90-BF51-6315-7FE3-5668666A6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4D107-653F-AAC6-7A74-50B1D1C23E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B46D6D-F60C-30D3-D3FF-B86BF658C958}"/>
              </a:ext>
            </a:extLst>
          </p:cNvPr>
          <p:cNvSpPr>
            <a:spLocks noGrp="1"/>
          </p:cNvSpPr>
          <p:nvPr>
            <p:ph type="sldNum" sz="quarter" idx="5"/>
          </p:nvPr>
        </p:nvSpPr>
        <p:spPr/>
        <p:txBody>
          <a:bodyPr/>
          <a:lstStyle/>
          <a:p>
            <a:fld id="{EDE2A7E0-0736-493F-998F-8B599A7E84B4}" type="slidenum">
              <a:rPr lang="en-US" smtClean="0"/>
              <a:t>22</a:t>
            </a:fld>
            <a:endParaRPr lang="en-US"/>
          </a:p>
        </p:txBody>
      </p:sp>
    </p:spTree>
    <p:extLst>
      <p:ext uri="{BB962C8B-B14F-4D97-AF65-F5344CB8AC3E}">
        <p14:creationId xmlns:p14="http://schemas.microsoft.com/office/powerpoint/2010/main" val="496182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BE92A-A8A9-AA7D-C35F-29BD921E4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6F877-7360-E8E6-77B7-5ABFCE9B2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7FFD5-6F24-DA61-DD81-1E8B54DFCD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AE6131-CBFD-A787-06A7-76AD8923C3CA}"/>
              </a:ext>
            </a:extLst>
          </p:cNvPr>
          <p:cNvSpPr>
            <a:spLocks noGrp="1"/>
          </p:cNvSpPr>
          <p:nvPr>
            <p:ph type="sldNum" sz="quarter" idx="5"/>
          </p:nvPr>
        </p:nvSpPr>
        <p:spPr/>
        <p:txBody>
          <a:bodyPr/>
          <a:lstStyle/>
          <a:p>
            <a:fld id="{EDE2A7E0-0736-493F-998F-8B599A7E84B4}" type="slidenum">
              <a:rPr lang="en-US" smtClean="0"/>
              <a:t>23</a:t>
            </a:fld>
            <a:endParaRPr lang="en-US"/>
          </a:p>
        </p:txBody>
      </p:sp>
    </p:spTree>
    <p:extLst>
      <p:ext uri="{BB962C8B-B14F-4D97-AF65-F5344CB8AC3E}">
        <p14:creationId xmlns:p14="http://schemas.microsoft.com/office/powerpoint/2010/main" val="1476699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4F44B-B5AA-EB42-B8D9-B1B442873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E1EE9-36ED-B75D-9BF5-6324A7CBD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961FF5-E261-03EC-43AB-383690264E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582484-AD0C-68A5-D155-B433FECDA3EA}"/>
              </a:ext>
            </a:extLst>
          </p:cNvPr>
          <p:cNvSpPr>
            <a:spLocks noGrp="1"/>
          </p:cNvSpPr>
          <p:nvPr>
            <p:ph type="sldNum" sz="quarter" idx="5"/>
          </p:nvPr>
        </p:nvSpPr>
        <p:spPr/>
        <p:txBody>
          <a:bodyPr/>
          <a:lstStyle/>
          <a:p>
            <a:fld id="{EDE2A7E0-0736-493F-998F-8B599A7E84B4}" type="slidenum">
              <a:rPr lang="en-US" smtClean="0"/>
              <a:t>24</a:t>
            </a:fld>
            <a:endParaRPr lang="en-US"/>
          </a:p>
        </p:txBody>
      </p:sp>
    </p:spTree>
    <p:extLst>
      <p:ext uri="{BB962C8B-B14F-4D97-AF65-F5344CB8AC3E}">
        <p14:creationId xmlns:p14="http://schemas.microsoft.com/office/powerpoint/2010/main" val="4160117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74CEB8DE-2E0F-6AE1-DDD0-6FA6E4AF813A}"/>
              </a:ext>
            </a:extLst>
          </p:cNvPr>
          <p:cNvSpPr>
            <a:spLocks noGrp="1"/>
          </p:cNvSpPr>
          <p:nvPr>
            <p:ph sz="quarter" idx="14"/>
          </p:nvPr>
        </p:nvSpPr>
        <p:spPr>
          <a:xfrm>
            <a:off x="304800" y="4038600"/>
            <a:ext cx="6248400" cy="1828800"/>
          </a:xfrm>
          <a:prstGeom prst="rect">
            <a:avLst/>
          </a:prstGeom>
        </p:spPr>
        <p:txBody>
          <a:bodyPr/>
          <a:lstStyle>
            <a:lvl1pPr marL="0" indent="0">
              <a:spcBef>
                <a:spcPts val="0"/>
              </a:spcBef>
              <a:buNone/>
              <a:defRPr sz="2800">
                <a:solidFill>
                  <a:srgbClr val="898989"/>
                </a:solidFill>
                <a:latin typeface="Arial" panose="020B0604020202020204" pitchFamily="34" charset="0"/>
                <a:cs typeface="Arial" panose="020B0604020202020204" pitchFamily="34" charset="0"/>
              </a:defRPr>
            </a:lvl1pPr>
          </a:lstStyle>
          <a:p>
            <a:pPr lvl="0"/>
            <a:endParaRPr lang="en-US"/>
          </a:p>
        </p:txBody>
      </p:sp>
      <p:sp>
        <p:nvSpPr>
          <p:cNvPr id="9" name="Text Placeholder 8">
            <a:extLst>
              <a:ext uri="{FF2B5EF4-FFF2-40B4-BE49-F238E27FC236}">
                <a16:creationId xmlns:a16="http://schemas.microsoft.com/office/drawing/2014/main" id="{9A974A82-5EF8-EEAC-74A8-ECBEF2D9C2D0}"/>
              </a:ext>
            </a:extLst>
          </p:cNvPr>
          <p:cNvSpPr>
            <a:spLocks noGrp="1"/>
          </p:cNvSpPr>
          <p:nvPr>
            <p:ph type="body" sz="quarter" idx="13" hasCustomPrompt="1"/>
          </p:nvPr>
        </p:nvSpPr>
        <p:spPr>
          <a:xfrm>
            <a:off x="628650" y="1844766"/>
            <a:ext cx="7886700" cy="1279434"/>
          </a:xfrm>
          <a:prstGeom prst="rect">
            <a:avLst/>
          </a:prstGeom>
        </p:spPr>
        <p:txBody>
          <a:bodyPr anchor="ctr"/>
          <a:lstStyle>
            <a:lvl1pPr marL="0" indent="0" algn="ctr">
              <a:buNone/>
              <a:defRPr sz="4000">
                <a:latin typeface="Arial" panose="020B0604020202020204" pitchFamily="34" charset="0"/>
                <a:cs typeface="Arial" panose="020B0604020202020204" pitchFamily="34" charset="0"/>
              </a:defRPr>
            </a:lvl1pPr>
          </a:lstStyle>
          <a:p>
            <a:pPr lvl="0"/>
            <a:r>
              <a:rPr lang="en-US"/>
              <a:t>Subject of Briefing</a:t>
            </a:r>
          </a:p>
        </p:txBody>
      </p:sp>
      <p:sp>
        <p:nvSpPr>
          <p:cNvPr id="3" name="Slide Number Placeholder 2">
            <a:extLst>
              <a:ext uri="{FF2B5EF4-FFF2-40B4-BE49-F238E27FC236}">
                <a16:creationId xmlns:a16="http://schemas.microsoft.com/office/drawing/2014/main" id="{115AAE1D-361A-EF3D-E0B1-19A1C6A0450B}"/>
              </a:ext>
            </a:extLst>
          </p:cNvPr>
          <p:cNvSpPr>
            <a:spLocks noGrp="1"/>
          </p:cNvSpPr>
          <p:nvPr>
            <p:ph type="sldNum" sz="quarter" idx="10"/>
          </p:nvPr>
        </p:nvSpPr>
        <p:spPr>
          <a:xfrm>
            <a:off x="6858000" y="6356441"/>
            <a:ext cx="2133600" cy="365125"/>
          </a:xfrm>
          <a:prstGeom prst="rect">
            <a:avLst/>
          </a:prstGeom>
        </p:spPr>
        <p:txBody>
          <a:bodyPr/>
          <a:lstStyle>
            <a:lvl1pPr>
              <a:defRPr sz="1200"/>
            </a:lvl1p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4" name="Footer Placeholder 3">
            <a:extLst>
              <a:ext uri="{FF2B5EF4-FFF2-40B4-BE49-F238E27FC236}">
                <a16:creationId xmlns:a16="http://schemas.microsoft.com/office/drawing/2014/main" id="{B246E5AD-089C-0DB5-099C-06134454C973}"/>
              </a:ext>
            </a:extLst>
          </p:cNvPr>
          <p:cNvSpPr>
            <a:spLocks noGrp="1"/>
          </p:cNvSpPr>
          <p:nvPr>
            <p:ph type="ftr" sz="quarter" idx="11"/>
          </p:nvPr>
        </p:nvSpPr>
        <p:spPr>
          <a:xfrm>
            <a:off x="3009900" y="6356441"/>
            <a:ext cx="3124200" cy="365125"/>
          </a:xfrm>
          <a:prstGeom prst="rect">
            <a:avLst/>
          </a:prstGeom>
        </p:spPr>
        <p:txBody>
          <a:bodyPr/>
          <a:lstStyle>
            <a:lvl1pPr>
              <a:defRPr b="1"/>
            </a:lvl1pPr>
          </a:lstStyle>
          <a:p>
            <a:pPr defTabSz="457200"/>
            <a:r>
              <a:rPr lang="en-US"/>
              <a:t>PRE-DECISIONAL</a:t>
            </a:r>
          </a:p>
        </p:txBody>
      </p:sp>
      <p:sp>
        <p:nvSpPr>
          <p:cNvPr id="16" name="Title Placeholder 15">
            <a:extLst>
              <a:ext uri="{FF2B5EF4-FFF2-40B4-BE49-F238E27FC236}">
                <a16:creationId xmlns:a16="http://schemas.microsoft.com/office/drawing/2014/main" id="{004F8E97-C006-A76C-5B35-3E4133509A8B}"/>
              </a:ext>
            </a:extLst>
          </p:cNvPr>
          <p:cNvSpPr>
            <a:spLocks noGrp="1"/>
          </p:cNvSpPr>
          <p:nvPr>
            <p:ph type="title" hasCustomPrompt="1"/>
          </p:nvPr>
        </p:nvSpPr>
        <p:spPr>
          <a:xfrm>
            <a:off x="628650" y="228599"/>
            <a:ext cx="7886700" cy="1143001"/>
          </a:xfrm>
          <a:prstGeom prst="rect">
            <a:avLst/>
          </a:prstGeom>
        </p:spPr>
        <p:txBody>
          <a:bodyPr vert="horz" lIns="91440" tIns="45720" rIns="91440" bIns="45720" rtlCol="0" anchor="ctr">
            <a:normAutofit/>
          </a:bodyPr>
          <a:lstStyle>
            <a:lvl1pPr>
              <a:defRPr sz="3200" b="1">
                <a:latin typeface="Arial" panose="020B0604020202020204" pitchFamily="34" charset="0"/>
                <a:cs typeface="Arial" panose="020B0604020202020204" pitchFamily="34" charset="0"/>
              </a:defRPr>
            </a:lvl1pPr>
          </a:lstStyle>
          <a:p>
            <a:r>
              <a:rPr lang="en-US"/>
              <a:t>VETERANS HEALTH ADMINISTRATION</a:t>
            </a:r>
          </a:p>
        </p:txBody>
      </p:sp>
    </p:spTree>
    <p:extLst>
      <p:ext uri="{BB962C8B-B14F-4D97-AF65-F5344CB8AC3E}">
        <p14:creationId xmlns:p14="http://schemas.microsoft.com/office/powerpoint/2010/main" val="3614437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6EF412B5-6897-A14D-E2E6-3D0ACA5A95C2}"/>
              </a:ext>
            </a:extLst>
          </p:cNvPr>
          <p:cNvSpPr>
            <a:spLocks noGrp="1"/>
          </p:cNvSpPr>
          <p:nvPr>
            <p:ph type="body" sz="quarter" idx="10"/>
          </p:nvPr>
        </p:nvSpPr>
        <p:spPr>
          <a:xfrm>
            <a:off x="457200" y="838200"/>
            <a:ext cx="8229600" cy="4724400"/>
          </a:xfrm>
          <a:prstGeom prst="rect">
            <a:avLst/>
          </a:prstGeom>
        </p:spPr>
        <p:txBody>
          <a:bodyPr/>
          <a:lstStyle>
            <a:lvl1pPr>
              <a:spcBef>
                <a:spcPts val="0"/>
              </a:spcBef>
              <a:defRPr sz="2000">
                <a:latin typeface="Arial" panose="020B0604020202020204" pitchFamily="34" charset="0"/>
                <a:cs typeface="Arial" panose="020B0604020202020204" pitchFamily="34" charset="0"/>
              </a:defRPr>
            </a:lvl1pPr>
            <a:lvl2pPr>
              <a:spcBef>
                <a:spcPts val="0"/>
              </a:spcBef>
              <a:defRPr sz="1800">
                <a:latin typeface="Arial" panose="020B0604020202020204" pitchFamily="34" charset="0"/>
                <a:cs typeface="Arial" panose="020B0604020202020204" pitchFamily="34" charset="0"/>
              </a:defRPr>
            </a:lvl2pPr>
            <a:lvl3pPr>
              <a:spcBef>
                <a:spcPts val="0"/>
              </a:spcBef>
              <a:defRPr sz="1600">
                <a:latin typeface="Arial" panose="020B0604020202020204" pitchFamily="34" charset="0"/>
                <a:cs typeface="Arial" panose="020B0604020202020204" pitchFamily="34" charset="0"/>
              </a:defRPr>
            </a:lvl3pPr>
            <a:lvl4pPr>
              <a:spcBef>
                <a:spcPts val="0"/>
              </a:spcBef>
              <a:defRPr sz="1400">
                <a:latin typeface="Arial" panose="020B0604020202020204" pitchFamily="34" charset="0"/>
                <a:cs typeface="Arial" panose="020B0604020202020204" pitchFamily="34" charset="0"/>
              </a:defRPr>
            </a:lvl4pPr>
            <a:lvl5pPr>
              <a:spcBef>
                <a:spcPts val="0"/>
              </a:spcBef>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01118021"/>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1589" y="1589"/>
                        <a:ext cx="1587" cy="1587"/>
                      </a:xfrm>
                      <a:prstGeom prst="rect">
                        <a:avLst/>
                      </a:prstGeom>
                    </p:spPr>
                  </p:pic>
                </p:oleObj>
              </mc:Fallback>
            </mc:AlternateContent>
          </a:graphicData>
        </a:graphic>
      </p:graphicFrame>
      <p:sp>
        <p:nvSpPr>
          <p:cNvPr id="5" name="Rectangle 4"/>
          <p:cNvSpPr/>
          <p:nvPr userDrawn="1"/>
        </p:nvSpPr>
        <p:spPr>
          <a:xfrm>
            <a:off x="0" y="94"/>
            <a:ext cx="9144000" cy="68579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a:xfrm>
            <a:off x="0" y="0"/>
            <a:ext cx="9144000" cy="685800"/>
          </a:xfrm>
          <a:prstGeom prst="rect">
            <a:avLst/>
          </a:prstGeom>
        </p:spPr>
        <p:txBody>
          <a:bodyPr anchor="ctr">
            <a:noAutofit/>
          </a:bodyPr>
          <a:lstStyle>
            <a:lvl1pPr>
              <a:defRPr sz="24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8" name="Slide Number Placeholder 2">
            <a:extLst>
              <a:ext uri="{FF2B5EF4-FFF2-40B4-BE49-F238E27FC236}">
                <a16:creationId xmlns:a16="http://schemas.microsoft.com/office/drawing/2014/main" id="{95B4A93B-EFBE-17FB-7D61-3CCFCE3F0C07}"/>
              </a:ext>
            </a:extLst>
          </p:cNvPr>
          <p:cNvSpPr>
            <a:spLocks noGrp="1"/>
          </p:cNvSpPr>
          <p:nvPr>
            <p:ph type="sldNum" sz="quarter" idx="4"/>
          </p:nvPr>
        </p:nvSpPr>
        <p:spPr>
          <a:xfrm>
            <a:off x="6858000" y="6356441"/>
            <a:ext cx="2133600" cy="365125"/>
          </a:xfrm>
          <a:prstGeom prst="rect">
            <a:avLst/>
          </a:prstGeom>
        </p:spPr>
        <p:txBody>
          <a:bodyPr anchor="ctr"/>
          <a:lstStyle>
            <a:lvl1pPr algn="r">
              <a:defRPr sz="1200">
                <a:solidFill>
                  <a:schemeClr val="bg1"/>
                </a:solidFill>
                <a:latin typeface="Arial" panose="020B0604020202020204" pitchFamily="34" charset="0"/>
                <a:cs typeface="Arial" panose="020B0604020202020204" pitchFamily="34" charset="0"/>
              </a:defRPr>
            </a:lvl1pPr>
          </a:lstStyle>
          <a:p>
            <a:pPr defTabSz="457200"/>
            <a:fld id="{D983F1FA-211D-3044-9E35-958DFBC26156}" type="slidenum">
              <a:rPr lang="en-US" smtClean="0"/>
              <a:pPr defTabSz="457200"/>
              <a:t>‹#›</a:t>
            </a:fld>
            <a:endParaRPr lang="en-US"/>
          </a:p>
        </p:txBody>
      </p:sp>
      <p:sp>
        <p:nvSpPr>
          <p:cNvPr id="9" name="Footer Placeholder 3">
            <a:extLst>
              <a:ext uri="{FF2B5EF4-FFF2-40B4-BE49-F238E27FC236}">
                <a16:creationId xmlns:a16="http://schemas.microsoft.com/office/drawing/2014/main" id="{29CCF995-3521-8817-E845-1A81ACEBA5DB}"/>
              </a:ext>
            </a:extLst>
          </p:cNvPr>
          <p:cNvSpPr>
            <a:spLocks noGrp="1"/>
          </p:cNvSpPr>
          <p:nvPr>
            <p:ph type="ftr" sz="quarter" idx="3"/>
          </p:nvPr>
        </p:nvSpPr>
        <p:spPr>
          <a:xfrm>
            <a:off x="3009900" y="6356441"/>
            <a:ext cx="3124200" cy="365125"/>
          </a:xfrm>
          <a:prstGeom prst="rect">
            <a:avLst/>
          </a:prstGeom>
        </p:spPr>
        <p:txBody>
          <a:bodyPr anchor="ctr"/>
          <a:lstStyle>
            <a:lvl1pPr algn="ctr">
              <a:defRPr b="1">
                <a:solidFill>
                  <a:schemeClr val="accent1"/>
                </a:solidFill>
                <a:latin typeface="Arial" panose="020B0604020202020204" pitchFamily="34" charset="0"/>
                <a:cs typeface="Arial" panose="020B0604020202020204" pitchFamily="34" charset="0"/>
              </a:defRPr>
            </a:lvl1pPr>
          </a:lstStyle>
          <a:p>
            <a:pPr defTabSz="457200"/>
            <a:r>
              <a:rPr lang="en-US"/>
              <a:t>PRE-DECISIONAL</a:t>
            </a:r>
          </a:p>
        </p:txBody>
      </p:sp>
    </p:spTree>
    <p:extLst>
      <p:ext uri="{BB962C8B-B14F-4D97-AF65-F5344CB8AC3E}">
        <p14:creationId xmlns:p14="http://schemas.microsoft.com/office/powerpoint/2010/main" val="2575144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defTabSz="685800">
              <a:defRPr/>
            </a:pPr>
            <a:endParaRPr lang="en-US" sz="900" b="0">
              <a:solidFill>
                <a:prstClr val="black">
                  <a:tint val="75000"/>
                </a:prstClr>
              </a:solidFill>
              <a:latin typeface="Calibri" panose="020F0502020204030204"/>
              <a:cs typeface="+mn-cs"/>
            </a:endParaRPr>
          </a:p>
        </p:txBody>
      </p:sp>
      <p:sp>
        <p:nvSpPr>
          <p:cNvPr id="4" name="Slide Number Placeholder 3"/>
          <p:cNvSpPr>
            <a:spLocks noGrp="1"/>
          </p:cNvSpPr>
          <p:nvPr>
            <p:ph type="sldNum" sz="quarter" idx="12"/>
          </p:nvPr>
        </p:nvSpPr>
        <p:spPr>
          <a:xfrm>
            <a:off x="7021028" y="6356351"/>
            <a:ext cx="2057400" cy="365125"/>
          </a:xfrm>
        </p:spPr>
        <p:txBody>
          <a:bodyPr/>
          <a:lstStyle/>
          <a:p>
            <a:pPr defTabSz="685800">
              <a:defRPr/>
            </a:pPr>
            <a:fld id="{670A9334-4E67-F94F-A05E-0CE8B74A054E}" type="slidenum">
              <a:rPr lang="en-US" sz="900" smtClean="0">
                <a:solidFill>
                  <a:prstClr val="black">
                    <a:tint val="75000"/>
                  </a:prstClr>
                </a:solidFill>
                <a:latin typeface="Calibri" panose="020F0502020204030204"/>
                <a:cs typeface="+mn-cs"/>
              </a:rPr>
              <a:pPr defTabSz="685800">
                <a:defRPr/>
              </a:pPr>
              <a:t>‹#›</a:t>
            </a:fld>
            <a:endParaRPr lang="en-US" sz="900">
              <a:solidFill>
                <a:prstClr val="black">
                  <a:tint val="75000"/>
                </a:prstClr>
              </a:solidFill>
              <a:latin typeface="Calibri" panose="020F0502020204030204"/>
              <a:cs typeface="+mn-cs"/>
            </a:endParaRPr>
          </a:p>
        </p:txBody>
      </p:sp>
    </p:spTree>
    <p:extLst>
      <p:ext uri="{BB962C8B-B14F-4D97-AF65-F5344CB8AC3E}">
        <p14:creationId xmlns:p14="http://schemas.microsoft.com/office/powerpoint/2010/main" val="347484515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956057" y="6356351"/>
            <a:ext cx="20574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115676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19"/>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Slide Number Placeholder 5"/>
          <p:cNvSpPr txBox="1">
            <a:spLocks/>
          </p:cNvSpPr>
          <p:nvPr userDrawn="1"/>
        </p:nvSpPr>
        <p:spPr>
          <a:xfrm>
            <a:off x="6937831" y="640023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48626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429635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23769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141"/>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142"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998330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93"/>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40"/>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8448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444"/>
            <a:ext cx="2133600" cy="365125"/>
          </a:xfrm>
          <a:prstGeom prst="rect">
            <a:avLst/>
          </a:prstGeom>
        </p:spPr>
        <p:txBody>
          <a:bodyPr lIns="91440" tIns="45720" rIns="91440" bIns="45720"/>
          <a:lstStyle/>
          <a:p>
            <a:pPr defTabSz="457200"/>
            <a:endParaRPr lang="en-US">
              <a:solidFill>
                <a:srgbClr val="000000"/>
              </a:solidFill>
            </a:endParaRPr>
          </a:p>
        </p:txBody>
      </p:sp>
      <p:sp>
        <p:nvSpPr>
          <p:cNvPr id="5" name="Footer Placeholder 4"/>
          <p:cNvSpPr>
            <a:spLocks noGrp="1"/>
          </p:cNvSpPr>
          <p:nvPr>
            <p:ph type="ftr" sz="quarter" idx="11"/>
          </p:nvPr>
        </p:nvSpPr>
        <p:spPr>
          <a:xfrm>
            <a:off x="3124200" y="6356444"/>
            <a:ext cx="2895600" cy="365125"/>
          </a:xfrm>
          <a:prstGeom prst="rect">
            <a:avLst/>
          </a:prstGeom>
        </p:spPr>
        <p:txBody>
          <a:bodyPr lIns="91440" tIns="45720" rIns="91440" bIns="45720"/>
          <a:lstStyle/>
          <a:p>
            <a:pPr defTabSz="457200"/>
            <a:r>
              <a:rPr lang="en-US">
                <a:solidFill>
                  <a:srgbClr val="000000"/>
                </a:solidFill>
              </a:rPr>
              <a:t>Working Draft, Pre-Decisional, Deliberative Documet - Internal VA Use Only</a:t>
            </a:r>
          </a:p>
        </p:txBody>
      </p:sp>
      <p:sp>
        <p:nvSpPr>
          <p:cNvPr id="6" name="Slide Number Placeholder 5"/>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64833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31"/>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731"/>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444"/>
            <a:ext cx="2133600" cy="365125"/>
          </a:xfrm>
          <a:prstGeom prst="rect">
            <a:avLst/>
          </a:prstGeom>
        </p:spPr>
        <p:txBody>
          <a:bodyPr lIns="91440" tIns="45720" rIns="91440" bIns="45720"/>
          <a:lstStyle/>
          <a:p>
            <a:pPr defTabSz="457200"/>
            <a:endParaRPr lang="en-US">
              <a:solidFill>
                <a:srgbClr val="000000"/>
              </a:solidFill>
            </a:endParaRPr>
          </a:p>
        </p:txBody>
      </p:sp>
      <p:sp>
        <p:nvSpPr>
          <p:cNvPr id="5" name="Footer Placeholder 4"/>
          <p:cNvSpPr>
            <a:spLocks noGrp="1"/>
          </p:cNvSpPr>
          <p:nvPr>
            <p:ph type="ftr" sz="quarter" idx="11"/>
          </p:nvPr>
        </p:nvSpPr>
        <p:spPr>
          <a:xfrm>
            <a:off x="3124200" y="6356444"/>
            <a:ext cx="2895600" cy="365125"/>
          </a:xfrm>
          <a:prstGeom prst="rect">
            <a:avLst/>
          </a:prstGeom>
        </p:spPr>
        <p:txBody>
          <a:bodyPr lIns="91440" tIns="45720" rIns="91440" bIns="45720"/>
          <a:lstStyle/>
          <a:p>
            <a:pPr defTabSz="457200"/>
            <a:r>
              <a:rPr lang="en-US">
                <a:solidFill>
                  <a:srgbClr val="000000"/>
                </a:solidFill>
              </a:rPr>
              <a:t>Working Draft, Pre-Decisional, Deliberative Documet - Internal VA Use Only</a:t>
            </a:r>
          </a:p>
        </p:txBody>
      </p:sp>
      <p:sp>
        <p:nvSpPr>
          <p:cNvPr id="6" name="Slide Number Placeholder 5"/>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9624759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xml"/><Relationship Id="rId7" Type="http://schemas.openxmlformats.org/officeDocument/2006/relationships/image" Target="../media/image3.emf"/><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tags" Target="../tags/tag2.xml"/><Relationship Id="rId4" Type="http://schemas.openxmlformats.org/officeDocument/2006/relationships/theme" Target="../theme/theme2.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10" Type="http://schemas.openxmlformats.org/officeDocument/2006/relationships/image" Target="../media/image1.png"/><Relationship Id="rId4" Type="http://schemas.openxmlformats.org/officeDocument/2006/relationships/slideLayout" Target="../slideLayouts/slideLayout8.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p:nvSpPr>
        <p:spPr>
          <a:xfrm>
            <a:off x="0" y="6140680"/>
            <a:ext cx="9144000" cy="7318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a:solidFill>
                <a:prstClr val="white"/>
              </a:solidFill>
            </a:endParaRPr>
          </a:p>
        </p:txBody>
      </p:sp>
      <p:pic>
        <p:nvPicPr>
          <p:cNvPr id="19" name="Picture 2" descr="C:\Users\vacoGrovem\AppData\Local\Microsoft\Windows\Temporary Internet Files\Content.Outlook\83QVOJUE\CHOOSE-VA-rev.png">
            <a:extLst>
              <a:ext uri="{FF2B5EF4-FFF2-40B4-BE49-F238E27FC236}">
                <a16:creationId xmlns:a16="http://schemas.microsoft.com/office/drawing/2014/main" id="{45E6EDA7-777B-25EB-BF90-DF09084B27AF}"/>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52400" y="6172200"/>
            <a:ext cx="2037558" cy="5486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3. VA-PRIMARY-HORIZONTAL-WHITE-VECTOR2.png">
            <a:extLst>
              <a:ext uri="{FF2B5EF4-FFF2-40B4-BE49-F238E27FC236}">
                <a16:creationId xmlns:a16="http://schemas.microsoft.com/office/drawing/2014/main" id="{245F4E0A-3307-28F2-30BA-A4693A21B8C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290974" y="6271500"/>
            <a:ext cx="2209800" cy="491987"/>
          </a:xfrm>
          <a:prstGeom prst="rect">
            <a:avLst/>
          </a:prstGeom>
        </p:spPr>
      </p:pic>
      <p:sp>
        <p:nvSpPr>
          <p:cNvPr id="4" name="Slide Number Placeholder 2">
            <a:extLst>
              <a:ext uri="{FF2B5EF4-FFF2-40B4-BE49-F238E27FC236}">
                <a16:creationId xmlns:a16="http://schemas.microsoft.com/office/drawing/2014/main" id="{6F59CEF7-8D9B-6397-FB38-A972DD8D656C}"/>
              </a:ext>
            </a:extLst>
          </p:cNvPr>
          <p:cNvSpPr>
            <a:spLocks noGrp="1"/>
          </p:cNvSpPr>
          <p:nvPr>
            <p:ph type="sldNum" sz="quarter" idx="4"/>
          </p:nvPr>
        </p:nvSpPr>
        <p:spPr>
          <a:xfrm>
            <a:off x="6858000" y="6356441"/>
            <a:ext cx="2133600" cy="365125"/>
          </a:xfrm>
          <a:prstGeom prst="rect">
            <a:avLst/>
          </a:prstGeom>
        </p:spPr>
        <p:txBody>
          <a:bodyPr anchor="ctr"/>
          <a:lstStyle>
            <a:lvl1pPr algn="r">
              <a:defRPr sz="1200">
                <a:solidFill>
                  <a:schemeClr val="bg1"/>
                </a:solidFill>
                <a:latin typeface="Arial" panose="020B0604020202020204" pitchFamily="34" charset="0"/>
                <a:cs typeface="Arial" panose="020B0604020202020204" pitchFamily="34" charset="0"/>
              </a:defRPr>
            </a:lvl1pPr>
          </a:lstStyle>
          <a:p>
            <a:pPr defTabSz="457200"/>
            <a:fld id="{D983F1FA-211D-3044-9E35-958DFBC26156}" type="slidenum">
              <a:rPr lang="en-US" smtClean="0"/>
              <a:pPr defTabSz="457200"/>
              <a:t>‹#›</a:t>
            </a:fld>
            <a:endParaRPr lang="en-US"/>
          </a:p>
        </p:txBody>
      </p:sp>
      <p:sp>
        <p:nvSpPr>
          <p:cNvPr id="5" name="Footer Placeholder 3">
            <a:extLst>
              <a:ext uri="{FF2B5EF4-FFF2-40B4-BE49-F238E27FC236}">
                <a16:creationId xmlns:a16="http://schemas.microsoft.com/office/drawing/2014/main" id="{BF9299CF-6D3A-06E4-CC5A-567F42C2F31F}"/>
              </a:ext>
            </a:extLst>
          </p:cNvPr>
          <p:cNvSpPr>
            <a:spLocks noGrp="1"/>
          </p:cNvSpPr>
          <p:nvPr>
            <p:ph type="ftr" sz="quarter" idx="3"/>
          </p:nvPr>
        </p:nvSpPr>
        <p:spPr>
          <a:xfrm>
            <a:off x="3009900" y="6356441"/>
            <a:ext cx="3124200" cy="365125"/>
          </a:xfrm>
          <a:prstGeom prst="rect">
            <a:avLst/>
          </a:prstGeom>
        </p:spPr>
        <p:txBody>
          <a:bodyPr anchor="ctr"/>
          <a:lstStyle>
            <a:lvl1pPr algn="ctr">
              <a:defRPr b="1">
                <a:solidFill>
                  <a:schemeClr val="accent1"/>
                </a:solidFill>
                <a:latin typeface="Arial" panose="020B0604020202020204" pitchFamily="34" charset="0"/>
                <a:cs typeface="Arial" panose="020B0604020202020204" pitchFamily="34" charset="0"/>
              </a:defRPr>
            </a:lvl1pPr>
          </a:lstStyle>
          <a:p>
            <a:pPr defTabSz="457200"/>
            <a:r>
              <a:rPr lang="en-US"/>
              <a:t>PRE-DECISIONAL</a:t>
            </a:r>
          </a:p>
        </p:txBody>
      </p:sp>
    </p:spTree>
    <p:extLst>
      <p:ext uri="{BB962C8B-B14F-4D97-AF65-F5344CB8AC3E}">
        <p14:creationId xmlns:p14="http://schemas.microsoft.com/office/powerpoint/2010/main" val="1165508087"/>
      </p:ext>
    </p:extLst>
  </p:cSld>
  <p:clrMap bg1="lt1" tx1="dk1" bg2="lt2" tx2="dk2" accent1="accent1" accent2="accent2" accent3="accent3" accent4="accent4" accent5="accent5" accent6="accent6" hlink="hlink" folHlink="folHlink"/>
  <p:sldLayoutIdLst>
    <p:sldLayoutId id="2147483665" r:id="rId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5"/>
            </p:custDataLst>
            <p:extLst>
              <p:ext uri="{D42A27DB-BD31-4B8C-83A1-F6EECF244321}">
                <p14:modId xmlns:p14="http://schemas.microsoft.com/office/powerpoint/2010/main" val="581743501"/>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4" name="Object 3" hidden="1"/>
                      <p:cNvPicPr/>
                      <p:nvPr/>
                    </p:nvPicPr>
                    <p:blipFill>
                      <a:blip r:embed="rId7"/>
                      <a:stretch>
                        <a:fillRect/>
                      </a:stretch>
                    </p:blipFill>
                    <p:spPr>
                      <a:xfrm>
                        <a:off x="1589" y="1589"/>
                        <a:ext cx="1587"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DF0AD542-23E7-57C3-3D31-D455BD1CCE07}"/>
              </a:ext>
            </a:extLst>
          </p:cNvPr>
          <p:cNvSpPr/>
          <p:nvPr userDrawn="1"/>
        </p:nvSpPr>
        <p:spPr>
          <a:xfrm>
            <a:off x="0" y="6140680"/>
            <a:ext cx="9144000" cy="7318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a:solidFill>
                <a:prstClr val="white"/>
              </a:solidFill>
            </a:endParaRPr>
          </a:p>
        </p:txBody>
      </p:sp>
      <p:pic>
        <p:nvPicPr>
          <p:cNvPr id="3" name="Picture 2" descr="C:\Users\vacoGrovem\AppData\Local\Microsoft\Windows\Temporary Internet Files\Content.Outlook\83QVOJUE\CHOOSE-VA-rev.png">
            <a:extLst>
              <a:ext uri="{FF2B5EF4-FFF2-40B4-BE49-F238E27FC236}">
                <a16:creationId xmlns:a16="http://schemas.microsoft.com/office/drawing/2014/main" id="{3ECBC0A6-262C-0CC5-83A9-8ACCEA9CCE6B}"/>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52400" y="6172200"/>
            <a:ext cx="2037558" cy="5486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3. VA-PRIMARY-HORIZONTAL-WHITE-VECTOR2.png">
            <a:extLst>
              <a:ext uri="{FF2B5EF4-FFF2-40B4-BE49-F238E27FC236}">
                <a16:creationId xmlns:a16="http://schemas.microsoft.com/office/drawing/2014/main" id="{91BEFBF0-4DF0-7306-1185-57FEDB48AA6F}"/>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6290974" y="6271500"/>
            <a:ext cx="2209800" cy="491987"/>
          </a:xfrm>
          <a:prstGeom prst="rect">
            <a:avLst/>
          </a:prstGeom>
        </p:spPr>
      </p:pic>
      <p:sp>
        <p:nvSpPr>
          <p:cNvPr id="6" name="Slide Number Placeholder 2">
            <a:extLst>
              <a:ext uri="{FF2B5EF4-FFF2-40B4-BE49-F238E27FC236}">
                <a16:creationId xmlns:a16="http://schemas.microsoft.com/office/drawing/2014/main" id="{B9798185-5EC5-0BF6-D852-C8457F2DCB9E}"/>
              </a:ext>
            </a:extLst>
          </p:cNvPr>
          <p:cNvSpPr>
            <a:spLocks noGrp="1"/>
          </p:cNvSpPr>
          <p:nvPr>
            <p:ph type="sldNum" sz="quarter" idx="4"/>
          </p:nvPr>
        </p:nvSpPr>
        <p:spPr>
          <a:xfrm>
            <a:off x="6858000" y="6356441"/>
            <a:ext cx="2133600" cy="365125"/>
          </a:xfrm>
          <a:prstGeom prst="rect">
            <a:avLst/>
          </a:prstGeom>
        </p:spPr>
        <p:txBody>
          <a:bodyPr anchor="ctr"/>
          <a:lstStyle>
            <a:lvl1pPr algn="r">
              <a:defRPr sz="1200">
                <a:solidFill>
                  <a:schemeClr val="bg1"/>
                </a:solidFill>
                <a:latin typeface="Arial" panose="020B0604020202020204" pitchFamily="34" charset="0"/>
                <a:cs typeface="Arial" panose="020B0604020202020204" pitchFamily="34" charset="0"/>
              </a:defRPr>
            </a:lvl1pPr>
          </a:lstStyle>
          <a:p>
            <a:pPr defTabSz="457200"/>
            <a:fld id="{D983F1FA-211D-3044-9E35-958DFBC26156}" type="slidenum">
              <a:rPr lang="en-US" smtClean="0"/>
              <a:pPr defTabSz="457200"/>
              <a:t>‹#›</a:t>
            </a:fld>
            <a:endParaRPr lang="en-US"/>
          </a:p>
        </p:txBody>
      </p:sp>
      <p:sp>
        <p:nvSpPr>
          <p:cNvPr id="7" name="Footer Placeholder 3">
            <a:extLst>
              <a:ext uri="{FF2B5EF4-FFF2-40B4-BE49-F238E27FC236}">
                <a16:creationId xmlns:a16="http://schemas.microsoft.com/office/drawing/2014/main" id="{22E52B93-A985-BEBB-3F0C-F54C12E89879}"/>
              </a:ext>
            </a:extLst>
          </p:cNvPr>
          <p:cNvSpPr>
            <a:spLocks noGrp="1"/>
          </p:cNvSpPr>
          <p:nvPr>
            <p:ph type="ftr" sz="quarter" idx="3"/>
          </p:nvPr>
        </p:nvSpPr>
        <p:spPr>
          <a:xfrm>
            <a:off x="3009900" y="6356441"/>
            <a:ext cx="3124200" cy="365125"/>
          </a:xfrm>
          <a:prstGeom prst="rect">
            <a:avLst/>
          </a:prstGeom>
        </p:spPr>
        <p:txBody>
          <a:bodyPr anchor="ctr"/>
          <a:lstStyle>
            <a:lvl1pPr algn="ctr">
              <a:defRPr b="1">
                <a:solidFill>
                  <a:schemeClr val="accent1"/>
                </a:solidFill>
                <a:latin typeface="Arial" panose="020B0604020202020204" pitchFamily="34" charset="0"/>
                <a:cs typeface="Arial" panose="020B0604020202020204" pitchFamily="34" charset="0"/>
              </a:defRPr>
            </a:lvl1pPr>
          </a:lstStyle>
          <a:p>
            <a:pPr defTabSz="457200"/>
            <a:r>
              <a:rPr lang="en-US"/>
              <a:t>PRE-DECISIONAL</a:t>
            </a:r>
          </a:p>
        </p:txBody>
      </p:sp>
      <p:sp>
        <p:nvSpPr>
          <p:cNvPr id="8" name="Rectangle 7">
            <a:extLst>
              <a:ext uri="{FF2B5EF4-FFF2-40B4-BE49-F238E27FC236}">
                <a16:creationId xmlns:a16="http://schemas.microsoft.com/office/drawing/2014/main" id="{9F7523F9-92FA-C765-DEED-85F70FA80E49}"/>
              </a:ext>
            </a:extLst>
          </p:cNvPr>
          <p:cNvSpPr/>
          <p:nvPr userDrawn="1"/>
        </p:nvSpPr>
        <p:spPr>
          <a:xfrm>
            <a:off x="0" y="94"/>
            <a:ext cx="9144000" cy="68579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09363740"/>
      </p:ext>
    </p:extLst>
  </p:cSld>
  <p:clrMap bg1="lt1" tx1="dk1" bg2="lt2" tx2="dk2" accent1="accent1" accent2="accent2" accent3="accent3" accent4="accent4" accent5="accent5" accent6="accent6" hlink="hlink" folHlink="folHlink"/>
  <p:sldLayoutIdLst>
    <p:sldLayoutId id="2147484871" r:id="rId1"/>
    <p:sldLayoutId id="2147484872" r:id="rId2"/>
    <p:sldLayoutId id="2147484873" r:id="rId3"/>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9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p:nvSpPr>
        <p:spPr>
          <a:xfrm>
            <a:off x="0" y="6140680"/>
            <a:ext cx="9144000" cy="7318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a:solidFill>
                <a:prstClr val="white"/>
              </a:solidFill>
            </a:endParaRPr>
          </a:p>
        </p:txBody>
      </p:sp>
      <p:pic>
        <p:nvPicPr>
          <p:cNvPr id="9" name="Picture 8" descr="3. VA-PRIMARY-HORIZONTAL-WHITE-VECTOR2.png"/>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90974" y="6271500"/>
            <a:ext cx="2209800" cy="491987"/>
          </a:xfrm>
          <a:prstGeom prst="rect">
            <a:avLst/>
          </a:prstGeom>
        </p:spPr>
      </p:pic>
      <p:sp>
        <p:nvSpPr>
          <p:cNvPr id="6" name="Slide Number Placeholder 5"/>
          <p:cNvSpPr>
            <a:spLocks noGrp="1"/>
          </p:cNvSpPr>
          <p:nvPr>
            <p:ph type="sldNum" sz="quarter" idx="4"/>
          </p:nvPr>
        </p:nvSpPr>
        <p:spPr>
          <a:xfrm>
            <a:off x="6937831" y="6400232"/>
            <a:ext cx="2133600" cy="365125"/>
          </a:xfrm>
          <a:prstGeom prst="rect">
            <a:avLst/>
          </a:prstGeom>
        </p:spPr>
        <p:txBody>
          <a:bodyPr vert="horz" lIns="91440" tIns="45720" rIns="91440" bIns="45720" rtlCol="0" anchor="ctr"/>
          <a:lstStyle>
            <a:lvl1pPr algn="r">
              <a:defRPr sz="1200">
                <a:solidFill>
                  <a:schemeClr val="bg1"/>
                </a:solidFill>
              </a:defRPr>
            </a:lvl1pPr>
          </a:lstStyle>
          <a:p>
            <a:pPr defTabSz="457200"/>
            <a:fld id="{D983F1FA-211D-3044-9E35-958DFBC26156}" type="slidenum">
              <a:rPr lang="en-US" smtClean="0">
                <a:solidFill>
                  <a:prstClr val="white"/>
                </a:solidFill>
              </a:rPr>
              <a:pPr defTabSz="457200"/>
              <a:t>‹#›</a:t>
            </a:fld>
            <a:endParaRPr lang="en-US">
              <a:solidFill>
                <a:prstClr val="white"/>
              </a:solidFill>
            </a:endParaRPr>
          </a:p>
        </p:txBody>
      </p:sp>
      <p:pic>
        <p:nvPicPr>
          <p:cNvPr id="7" name="Picture 2" descr="C:\Users\vacoGrovem\AppData\Local\Microsoft\Windows\Temporary Internet Files\Content.Outlook\83QVOJUE\CHOOSE-VA-rev.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52400" y="6172200"/>
            <a:ext cx="203755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902900"/>
      </p:ext>
    </p:extLst>
  </p:cSld>
  <p:clrMap bg1="lt1" tx1="dk1" bg2="lt2" tx2="dk2" accent1="accent1" accent2="accent2" accent3="accent3" accent4="accent4" accent5="accent5" accent6="accent6" hlink="hlink" folHlink="folHlink"/>
  <p:sldLayoutIdLst>
    <p:sldLayoutId id="2147484863" r:id="rId1"/>
    <p:sldLayoutId id="2147484864" r:id="rId2"/>
    <p:sldLayoutId id="2147484865" r:id="rId3"/>
    <p:sldLayoutId id="2147484866" r:id="rId4"/>
    <p:sldLayoutId id="2147484867" r:id="rId5"/>
    <p:sldLayoutId id="2147484868" r:id="rId6"/>
    <p:sldLayoutId id="2147484869" r:id="rId7"/>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veterans.senate.gov/2025/8/separating-fact-from-fiction-exploring-alternative-therapies-for-veterans-mental-health" TargetMode="External"/><Relationship Id="rId2" Type="http://schemas.openxmlformats.org/officeDocument/2006/relationships/hyperlink" Target="https://docs.house.gov/Committee/Calendar/ByEvent.aspx?EventID=116447" TargetMode="External"/><Relationship Id="rId1" Type="http://schemas.openxmlformats.org/officeDocument/2006/relationships/slideLayout" Target="../slideLayouts/slideLayout2.xml"/><Relationship Id="rId4" Type="http://schemas.openxmlformats.org/officeDocument/2006/relationships/hyperlink" Target="https://www.congress.gov/bill/119th-congress/house-bill/2623/text/ih"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F678F2-FEF6-66E5-8A2F-AD739551CD0C}"/>
              </a:ext>
            </a:extLst>
          </p:cNvPr>
          <p:cNvSpPr>
            <a:spLocks noGrp="1"/>
          </p:cNvSpPr>
          <p:nvPr>
            <p:ph sz="quarter" idx="14"/>
          </p:nvPr>
        </p:nvSpPr>
        <p:spPr>
          <a:xfrm>
            <a:off x="1447800" y="5105400"/>
            <a:ext cx="6248400" cy="762000"/>
          </a:xfrm>
        </p:spPr>
        <p:txBody>
          <a:bodyPr lIns="91440" tIns="45720" rIns="91440" bIns="45720" anchor="t"/>
          <a:lstStyle/>
          <a:p>
            <a:pPr algn="ctr">
              <a:defRPr/>
            </a:pPr>
            <a:r>
              <a:rPr lang="en-US" sz="1200" b="1" dirty="0">
                <a:solidFill>
                  <a:schemeClr val="tx1"/>
                </a:solidFill>
                <a:latin typeface="Arial"/>
                <a:cs typeface="Arial"/>
              </a:rPr>
              <a:t>Presenters</a:t>
            </a:r>
            <a:r>
              <a:rPr lang="en-US" sz="1200" dirty="0">
                <a:solidFill>
                  <a:schemeClr val="tx1"/>
                </a:solidFill>
                <a:latin typeface="Arial"/>
                <a:cs typeface="Arial"/>
              </a:rPr>
              <a:t>: </a:t>
            </a:r>
          </a:p>
          <a:p>
            <a:pPr algn="ctr">
              <a:defRPr/>
            </a:pPr>
            <a:r>
              <a:rPr lang="en-US" sz="1200" dirty="0">
                <a:solidFill>
                  <a:schemeClr val="tx1"/>
                </a:solidFill>
                <a:latin typeface="Arial"/>
                <a:cs typeface="Arial"/>
              </a:rPr>
              <a:t>Dr. Ilse Wiechers, Acting Deputy Assistant Undersecretary for Health for Patient Care Services, Veterans Health Administration (VHA)</a:t>
            </a:r>
          </a:p>
          <a:p>
            <a:pPr algn="ctr">
              <a:defRPr/>
            </a:pPr>
            <a:r>
              <a:rPr lang="en-US" sz="1200" dirty="0">
                <a:solidFill>
                  <a:schemeClr val="tx1"/>
                </a:solidFill>
                <a:latin typeface="Arial"/>
                <a:cs typeface="Arial"/>
              </a:rPr>
              <a:t>Dr. Wendy </a:t>
            </a:r>
            <a:r>
              <a:rPr lang="en-US" sz="1200" dirty="0" err="1">
                <a:solidFill>
                  <a:schemeClr val="tx1"/>
                </a:solidFill>
                <a:latin typeface="Arial"/>
                <a:cs typeface="Arial"/>
              </a:rPr>
              <a:t>Tenhula</a:t>
            </a:r>
            <a:r>
              <a:rPr lang="en-US" sz="1200" dirty="0">
                <a:solidFill>
                  <a:schemeClr val="tx1"/>
                </a:solidFill>
                <a:latin typeface="Arial"/>
                <a:cs typeface="Arial"/>
              </a:rPr>
              <a:t>, Deputy Chief Research and Development Officer, Office of Research and Development (ORD), VHA</a:t>
            </a:r>
            <a:endParaRPr lang="en-US" sz="1200" b="1" dirty="0">
              <a:solidFill>
                <a:schemeClr val="tx1"/>
              </a:solidFill>
              <a:latin typeface="Arial"/>
              <a:cs typeface="Arial"/>
            </a:endParaRPr>
          </a:p>
        </p:txBody>
      </p:sp>
      <p:sp>
        <p:nvSpPr>
          <p:cNvPr id="3" name="Text Placeholder 2">
            <a:extLst>
              <a:ext uri="{FF2B5EF4-FFF2-40B4-BE49-F238E27FC236}">
                <a16:creationId xmlns:a16="http://schemas.microsoft.com/office/drawing/2014/main" id="{CCD29F8A-368D-4A6C-BDDD-1EB589B44D57}"/>
              </a:ext>
            </a:extLst>
          </p:cNvPr>
          <p:cNvSpPr>
            <a:spLocks noGrp="1"/>
          </p:cNvSpPr>
          <p:nvPr>
            <p:ph type="body" sz="quarter" idx="13"/>
          </p:nvPr>
        </p:nvSpPr>
        <p:spPr>
          <a:xfrm>
            <a:off x="628650" y="2905124"/>
            <a:ext cx="7886700" cy="219075"/>
          </a:xfrm>
        </p:spPr>
        <p:txBody>
          <a:bodyPr lIns="91440" tIns="45720" rIns="91440" bIns="45720" anchor="ctr"/>
          <a:lstStyle/>
          <a:p>
            <a:r>
              <a:rPr lang="en-US" sz="2800" b="1" dirty="0">
                <a:latin typeface="Arial"/>
                <a:ea typeface="Calibri"/>
                <a:cs typeface="Arial"/>
              </a:rPr>
              <a:t>Psychedelic Treatments: </a:t>
            </a:r>
          </a:p>
          <a:p>
            <a:r>
              <a:rPr lang="en-US" sz="2800" b="1" dirty="0">
                <a:latin typeface="Arial"/>
                <a:ea typeface="Calibri"/>
                <a:cs typeface="Arial"/>
              </a:rPr>
              <a:t>Overview and Current Status in VA</a:t>
            </a:r>
          </a:p>
          <a:p>
            <a:r>
              <a:rPr lang="en-US" sz="2800" b="1" dirty="0">
                <a:latin typeface="Arial"/>
                <a:ea typeface="Calibri"/>
                <a:cs typeface="Arial"/>
              </a:rPr>
              <a:t> October 2025</a:t>
            </a:r>
            <a:endParaRPr lang="en-US" sz="2800" dirty="0">
              <a:latin typeface="Arial"/>
              <a:ea typeface="Calibri"/>
              <a:cs typeface="Arial"/>
            </a:endParaRPr>
          </a:p>
          <a:p>
            <a:endParaRPr lang="en-US"/>
          </a:p>
        </p:txBody>
      </p:sp>
      <p:sp>
        <p:nvSpPr>
          <p:cNvPr id="4" name="Slide Number Placeholder 3">
            <a:extLst>
              <a:ext uri="{FF2B5EF4-FFF2-40B4-BE49-F238E27FC236}">
                <a16:creationId xmlns:a16="http://schemas.microsoft.com/office/drawing/2014/main" id="{A9741B36-B958-F113-72CF-82F087F31051}"/>
              </a:ext>
            </a:extLst>
          </p:cNvPr>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1</a:t>
            </a:fld>
            <a:endParaRPr lang="en-US">
              <a:solidFill>
                <a:prstClr val="white"/>
              </a:solidFill>
            </a:endParaRPr>
          </a:p>
        </p:txBody>
      </p:sp>
      <p:sp>
        <p:nvSpPr>
          <p:cNvPr id="5" name="Footer Placeholder 4">
            <a:extLst>
              <a:ext uri="{FF2B5EF4-FFF2-40B4-BE49-F238E27FC236}">
                <a16:creationId xmlns:a16="http://schemas.microsoft.com/office/drawing/2014/main" id="{C705958A-2744-263F-187F-1F616C59B69E}"/>
              </a:ext>
            </a:extLst>
          </p:cNvPr>
          <p:cNvSpPr>
            <a:spLocks noGrp="1"/>
          </p:cNvSpPr>
          <p:nvPr>
            <p:ph type="ftr" sz="quarter" idx="11"/>
          </p:nvPr>
        </p:nvSpPr>
        <p:spPr/>
        <p:txBody>
          <a:bodyPr/>
          <a:lstStyle/>
          <a:p>
            <a:pPr defTabSz="457200"/>
            <a:r>
              <a:rPr lang="en-US"/>
              <a:t>PRE-DECISIONAL</a:t>
            </a:r>
          </a:p>
        </p:txBody>
      </p:sp>
      <p:sp>
        <p:nvSpPr>
          <p:cNvPr id="6" name="Title 5">
            <a:extLst>
              <a:ext uri="{FF2B5EF4-FFF2-40B4-BE49-F238E27FC236}">
                <a16:creationId xmlns:a16="http://schemas.microsoft.com/office/drawing/2014/main" id="{63541407-B0E2-8655-1848-25C977BAA62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723493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CE1F18-0812-D542-D4B5-D882C75BAE1E}"/>
              </a:ext>
            </a:extLst>
          </p:cNvPr>
          <p:cNvSpPr>
            <a:spLocks noGrp="1"/>
          </p:cNvSpPr>
          <p:nvPr>
            <p:ph type="body" sz="quarter" idx="10"/>
          </p:nvPr>
        </p:nvSpPr>
        <p:spPr/>
        <p:txBody>
          <a:bodyPr lIns="91440" tIns="45720" rIns="91440" bIns="45720" anchor="t"/>
          <a:lstStyle/>
          <a:p>
            <a:endParaRPr lang="en-US">
              <a:latin typeface="Arial"/>
              <a:cs typeface="Arial"/>
            </a:endParaRPr>
          </a:p>
          <a:p>
            <a:r>
              <a:rPr lang="en-US" dirty="0">
                <a:latin typeface="Arial"/>
                <a:cs typeface="Arial"/>
              </a:rPr>
              <a:t>Review state of the science for psychedelic treatments</a:t>
            </a:r>
            <a:endParaRPr lang="en-US" dirty="0">
              <a:latin typeface="Arial"/>
              <a:ea typeface="Calibri"/>
              <a:cs typeface="Arial"/>
            </a:endParaRPr>
          </a:p>
          <a:p>
            <a:endParaRPr lang="en-US">
              <a:latin typeface="Arial"/>
              <a:cs typeface="Arial"/>
            </a:endParaRPr>
          </a:p>
          <a:p>
            <a:r>
              <a:rPr lang="en-US" dirty="0">
                <a:latin typeface="Arial"/>
                <a:cs typeface="Arial"/>
              </a:rPr>
              <a:t>Review state of VA psychedelic</a:t>
            </a:r>
            <a:r>
              <a:rPr lang="en-US" dirty="0">
                <a:solidFill>
                  <a:srgbClr val="FF0000"/>
                </a:solidFill>
                <a:latin typeface="Arial"/>
                <a:cs typeface="Arial"/>
              </a:rPr>
              <a:t> </a:t>
            </a:r>
            <a:r>
              <a:rPr lang="en-US" dirty="0">
                <a:latin typeface="Arial"/>
                <a:cs typeface="Arial"/>
              </a:rPr>
              <a:t>research </a:t>
            </a:r>
            <a:endParaRPr lang="en-US">
              <a:latin typeface="Arial"/>
              <a:ea typeface="Calibri"/>
              <a:cs typeface="Arial"/>
            </a:endParaRPr>
          </a:p>
          <a:p>
            <a:endParaRPr lang="en-US">
              <a:latin typeface="Arial"/>
              <a:cs typeface="Arial"/>
            </a:endParaRPr>
          </a:p>
          <a:p>
            <a:r>
              <a:rPr lang="en-US" dirty="0">
                <a:latin typeface="Arial"/>
                <a:cs typeface="Arial"/>
              </a:rPr>
              <a:t>Proposed FY26 Priorities for Psychedelic Integrated Project Team (IPT)</a:t>
            </a:r>
            <a:endParaRPr lang="en-US" dirty="0"/>
          </a:p>
        </p:txBody>
      </p:sp>
      <p:sp>
        <p:nvSpPr>
          <p:cNvPr id="3" name="Title 2">
            <a:extLst>
              <a:ext uri="{FF2B5EF4-FFF2-40B4-BE49-F238E27FC236}">
                <a16:creationId xmlns:a16="http://schemas.microsoft.com/office/drawing/2014/main" id="{0B76A44F-6BD7-0884-A97D-4702A5D11386}"/>
              </a:ext>
            </a:extLst>
          </p:cNvPr>
          <p:cNvSpPr>
            <a:spLocks noGrp="1"/>
          </p:cNvSpPr>
          <p:nvPr>
            <p:ph type="title"/>
          </p:nvPr>
        </p:nvSpPr>
        <p:spPr/>
        <p:txBody>
          <a:bodyPr/>
          <a:lstStyle/>
          <a:p>
            <a:r>
              <a:rPr lang="en-US"/>
              <a:t>Agenda </a:t>
            </a:r>
          </a:p>
        </p:txBody>
      </p:sp>
      <p:sp>
        <p:nvSpPr>
          <p:cNvPr id="4" name="Slide Number Placeholder 3">
            <a:extLst>
              <a:ext uri="{FF2B5EF4-FFF2-40B4-BE49-F238E27FC236}">
                <a16:creationId xmlns:a16="http://schemas.microsoft.com/office/drawing/2014/main" id="{EC3300BA-251E-C7F5-D32B-22F19386F228}"/>
              </a:ext>
            </a:extLst>
          </p:cNvPr>
          <p:cNvSpPr>
            <a:spLocks noGrp="1"/>
          </p:cNvSpPr>
          <p:nvPr>
            <p:ph type="sldNum" sz="quarter" idx="4"/>
          </p:nvPr>
        </p:nvSpPr>
        <p:spPr/>
        <p:txBody>
          <a:bodyPr/>
          <a:lstStyle/>
          <a:p>
            <a:pPr defTabSz="457200"/>
            <a:fld id="{D983F1FA-211D-3044-9E35-958DFBC26156}" type="slidenum">
              <a:rPr lang="en-US" smtClean="0"/>
              <a:pPr defTabSz="457200"/>
              <a:t>2</a:t>
            </a:fld>
            <a:endParaRPr lang="en-US"/>
          </a:p>
        </p:txBody>
      </p:sp>
      <p:sp>
        <p:nvSpPr>
          <p:cNvPr id="5" name="Footer Placeholder 4">
            <a:extLst>
              <a:ext uri="{FF2B5EF4-FFF2-40B4-BE49-F238E27FC236}">
                <a16:creationId xmlns:a16="http://schemas.microsoft.com/office/drawing/2014/main" id="{249147CC-F8E5-2E48-7B55-CF620F441E8C}"/>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32418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EF41B1-2D2B-B973-86CF-8F7A404565E1}"/>
              </a:ext>
            </a:extLst>
          </p:cNvPr>
          <p:cNvSpPr>
            <a:spLocks noGrp="1"/>
          </p:cNvSpPr>
          <p:nvPr>
            <p:ph type="body" sz="quarter" idx="10"/>
          </p:nvPr>
        </p:nvSpPr>
        <p:spPr>
          <a:xfrm>
            <a:off x="457200" y="838200"/>
            <a:ext cx="8229600" cy="4983480"/>
          </a:xfrm>
        </p:spPr>
        <p:txBody>
          <a:bodyPr lIns="91440" tIns="45720" rIns="91440" bIns="45720" anchor="t"/>
          <a:lstStyle/>
          <a:p>
            <a:pPr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In recent years, scientific evidence has been building on the effectiveness of psychedelic </a:t>
            </a:r>
            <a:r>
              <a:rPr lang="en-US" sz="1600" dirty="0">
                <a:latin typeface="Arial"/>
                <a:cs typeface="Arial"/>
              </a:rPr>
              <a:t>drugs</a:t>
            </a:r>
            <a:r>
              <a:rPr lang="en-US" sz="1600" dirty="0">
                <a:solidFill>
                  <a:srgbClr val="000000"/>
                </a:solidFill>
                <a:latin typeface="Arial"/>
                <a:cs typeface="Arial"/>
              </a:rPr>
              <a:t> in the treatment of mental health conditions (Mackey et al, 2022 &amp; 2023). </a:t>
            </a:r>
          </a:p>
          <a:p>
            <a:pPr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VA’s Office of Research and Development (ORD) and Office of Mental Health (OMH) have been working closely to position VA to conduct psychedelic research and plan</a:t>
            </a:r>
            <a:r>
              <a:rPr lang="en-US" sz="1600" dirty="0">
                <a:solidFill>
                  <a:srgbClr val="FF0000"/>
                </a:solidFill>
                <a:latin typeface="Arial"/>
                <a:cs typeface="Arial"/>
              </a:rPr>
              <a:t> </a:t>
            </a:r>
            <a:r>
              <a:rPr lang="en-US" sz="1600" dirty="0">
                <a:solidFill>
                  <a:srgbClr val="000000"/>
                </a:solidFill>
                <a:latin typeface="Arial"/>
                <a:cs typeface="Arial"/>
              </a:rPr>
              <a:t>for potential future clinical implementation of psychedelic treatments (Wolfgang et al, 2025). </a:t>
            </a:r>
          </a:p>
          <a:p>
            <a:pPr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VA researchers are conducting psychedelic</a:t>
            </a:r>
            <a:r>
              <a:rPr lang="en-US" sz="1600" dirty="0">
                <a:solidFill>
                  <a:srgbClr val="FF0000"/>
                </a:solidFill>
                <a:latin typeface="Arial"/>
                <a:cs typeface="Arial"/>
              </a:rPr>
              <a:t> </a:t>
            </a:r>
            <a:r>
              <a:rPr lang="en-US" sz="1600" dirty="0">
                <a:solidFill>
                  <a:srgbClr val="000000"/>
                </a:solidFill>
                <a:latin typeface="Arial"/>
                <a:cs typeface="Arial"/>
              </a:rPr>
              <a:t>research funded by external sources and ORD is beginning to fund</a:t>
            </a:r>
            <a:r>
              <a:rPr lang="en-US" sz="1600" dirty="0">
                <a:latin typeface="Arial"/>
                <a:cs typeface="Arial"/>
              </a:rPr>
              <a:t> research</a:t>
            </a:r>
            <a:r>
              <a:rPr lang="en-US" sz="1600" dirty="0">
                <a:solidFill>
                  <a:srgbClr val="000000"/>
                </a:solidFill>
                <a:latin typeface="Arial"/>
                <a:cs typeface="Arial"/>
              </a:rPr>
              <a:t> studies on psychedelic drugs through its intramural research program.</a:t>
            </a:r>
          </a:p>
          <a:p>
            <a:pPr lvl="0"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As with all VA research, treatments are conducted in a clinical setting with strict safety protocols in place and in compliance with Federal guidelines for conducting research with controlled substances.</a:t>
            </a:r>
          </a:p>
          <a:p>
            <a:pPr lvl="0"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VA will only begin clinical use of these treatments once they are approved, guidance on rescheduling is released, and effective training and safety protocols are in place.</a:t>
            </a:r>
          </a:p>
          <a:p>
            <a:pPr marL="0" indent="0">
              <a:buNone/>
            </a:pPr>
            <a:endParaRPr lang="en-US"/>
          </a:p>
        </p:txBody>
      </p:sp>
      <p:sp>
        <p:nvSpPr>
          <p:cNvPr id="3" name="Title 2">
            <a:extLst>
              <a:ext uri="{FF2B5EF4-FFF2-40B4-BE49-F238E27FC236}">
                <a16:creationId xmlns:a16="http://schemas.microsoft.com/office/drawing/2014/main" id="{DF934289-BC10-D17A-1179-88F47263C979}"/>
              </a:ext>
            </a:extLst>
          </p:cNvPr>
          <p:cNvSpPr>
            <a:spLocks noGrp="1"/>
          </p:cNvSpPr>
          <p:nvPr>
            <p:ph type="title"/>
          </p:nvPr>
        </p:nvSpPr>
        <p:spPr/>
        <p:txBody>
          <a:bodyPr/>
          <a:lstStyle/>
          <a:p>
            <a:r>
              <a:rPr lang="en-US"/>
              <a:t>Overview </a:t>
            </a:r>
          </a:p>
        </p:txBody>
      </p:sp>
      <p:sp>
        <p:nvSpPr>
          <p:cNvPr id="4" name="Slide Number Placeholder 3">
            <a:extLst>
              <a:ext uri="{FF2B5EF4-FFF2-40B4-BE49-F238E27FC236}">
                <a16:creationId xmlns:a16="http://schemas.microsoft.com/office/drawing/2014/main" id="{646FF968-E2E3-2551-68B5-39BF6B4CBF3D}"/>
              </a:ext>
            </a:extLst>
          </p:cNvPr>
          <p:cNvSpPr>
            <a:spLocks noGrp="1"/>
          </p:cNvSpPr>
          <p:nvPr>
            <p:ph type="sldNum" sz="quarter" idx="4"/>
          </p:nvPr>
        </p:nvSpPr>
        <p:spPr/>
        <p:txBody>
          <a:bodyPr/>
          <a:lstStyle/>
          <a:p>
            <a:pPr defTabSz="457200"/>
            <a:fld id="{D983F1FA-211D-3044-9E35-958DFBC26156}" type="slidenum">
              <a:rPr lang="en-US" smtClean="0"/>
              <a:pPr defTabSz="457200"/>
              <a:t>3</a:t>
            </a:fld>
            <a:endParaRPr lang="en-US"/>
          </a:p>
        </p:txBody>
      </p:sp>
      <p:sp>
        <p:nvSpPr>
          <p:cNvPr id="5" name="Footer Placeholder 4">
            <a:extLst>
              <a:ext uri="{FF2B5EF4-FFF2-40B4-BE49-F238E27FC236}">
                <a16:creationId xmlns:a16="http://schemas.microsoft.com/office/drawing/2014/main" id="{CBB9B2EC-2C8F-808D-2290-8FF836C51FFB}"/>
              </a:ext>
            </a:extLst>
          </p:cNvPr>
          <p:cNvSpPr>
            <a:spLocks noGrp="1"/>
          </p:cNvSpPr>
          <p:nvPr>
            <p:ph type="ftr" sz="quarter" idx="3"/>
          </p:nvPr>
        </p:nvSpPr>
        <p:spPr/>
        <p:txBody>
          <a:bodyPr/>
          <a:lstStyle/>
          <a:p>
            <a:pPr defTabSz="457200"/>
            <a:r>
              <a:rPr lang="en-US"/>
              <a:t>PRE-DECISIONAL</a:t>
            </a:r>
          </a:p>
        </p:txBody>
      </p:sp>
      <p:sp>
        <p:nvSpPr>
          <p:cNvPr id="6" name="TextBox 5">
            <a:extLst>
              <a:ext uri="{FF2B5EF4-FFF2-40B4-BE49-F238E27FC236}">
                <a16:creationId xmlns:a16="http://schemas.microsoft.com/office/drawing/2014/main" id="{F3AE8F2E-BAF5-614C-BB55-9030F7078BE8}"/>
              </a:ext>
            </a:extLst>
          </p:cNvPr>
          <p:cNvSpPr txBox="1"/>
          <p:nvPr/>
        </p:nvSpPr>
        <p:spPr>
          <a:xfrm>
            <a:off x="0" y="582334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ea typeface="Calibri"/>
                <a:cs typeface="Calibri"/>
              </a:rPr>
              <a:t>Full references in Notes</a:t>
            </a:r>
          </a:p>
        </p:txBody>
      </p:sp>
    </p:spTree>
    <p:extLst>
      <p:ext uri="{BB962C8B-B14F-4D97-AF65-F5344CB8AC3E}">
        <p14:creationId xmlns:p14="http://schemas.microsoft.com/office/powerpoint/2010/main" val="815250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03FBDE-A3A1-F8F9-1F0F-E2A7C36EA15D}"/>
              </a:ext>
            </a:extLst>
          </p:cNvPr>
          <p:cNvSpPr>
            <a:spLocks noGrp="1"/>
          </p:cNvSpPr>
          <p:nvPr>
            <p:ph type="body" sz="quarter" idx="10"/>
          </p:nvPr>
        </p:nvSpPr>
        <p:spPr/>
        <p:txBody>
          <a:bodyPr lIns="91440" tIns="45720" rIns="91440" bIns="45720" anchor="t"/>
          <a:lstStyle/>
          <a:p>
            <a:r>
              <a:rPr lang="en-US" sz="1800" dirty="0">
                <a:latin typeface="Arial"/>
                <a:cs typeface="Arial"/>
              </a:rPr>
              <a:t>June 2023 House Veterans Affairs Committee, Subcommittee on Health Roundtable on Psychedelic Treatment (VHA participants: Dr. Carolyn Clancy, Dr. Christopher Bever, Dr. Miriam Smyth)</a:t>
            </a:r>
          </a:p>
          <a:p>
            <a:r>
              <a:rPr lang="en-US" sz="1800" dirty="0">
                <a:latin typeface="Arial"/>
                <a:cs typeface="Arial"/>
              </a:rPr>
              <a:t>November 2023 House Veterans Affairs Committee, Subcommittee on Health Hearing: </a:t>
            </a:r>
            <a:r>
              <a:rPr lang="en-US" sz="1800" dirty="0">
                <a:latin typeface="Arial"/>
                <a:cs typeface="Arial"/>
                <a:hlinkClick r:id="rId2"/>
              </a:rPr>
              <a:t>Emerging Therapies: Breakthroughs in the Battle Against Suicide?</a:t>
            </a:r>
            <a:r>
              <a:rPr lang="en-US" sz="1800" dirty="0">
                <a:latin typeface="Arial"/>
                <a:cs typeface="Arial"/>
              </a:rPr>
              <a:t> (VHA witnesses: Dr. Carolyn Clancy, Dr. Ilse Wiechers, Dr. Rachel Yehuda).</a:t>
            </a:r>
          </a:p>
          <a:p>
            <a:r>
              <a:rPr lang="en-US" sz="1800" dirty="0">
                <a:latin typeface="Arial"/>
                <a:cs typeface="Arial"/>
              </a:rPr>
              <a:t>September 2024 House Veterans Affairs Committee Roundtable on Emerging Therapies (VHA participants: Dr. Carolyn Clancy, Dr. Ilse Wiechers, Dr. Wendy </a:t>
            </a:r>
            <a:r>
              <a:rPr lang="en-US" sz="1800" err="1">
                <a:latin typeface="Arial"/>
                <a:cs typeface="Arial"/>
              </a:rPr>
              <a:t>Tenhula</a:t>
            </a:r>
            <a:r>
              <a:rPr lang="en-US" sz="1800" dirty="0">
                <a:latin typeface="Arial"/>
                <a:cs typeface="Arial"/>
              </a:rPr>
              <a:t>)</a:t>
            </a:r>
            <a:endParaRPr lang="en-US" sz="1800">
              <a:latin typeface="Arial"/>
              <a:ea typeface="Calibri"/>
              <a:cs typeface="Arial"/>
            </a:endParaRPr>
          </a:p>
          <a:p>
            <a:r>
              <a:rPr lang="en-US" sz="1800" dirty="0">
                <a:latin typeface="Arial"/>
                <a:cs typeface="Arial"/>
              </a:rPr>
              <a:t>August 2025 Senate Veterans Affairs Committee Field Hearing </a:t>
            </a:r>
            <a:r>
              <a:rPr lang="en-US" sz="1800" dirty="0">
                <a:latin typeface="Arial"/>
                <a:cs typeface="Arial"/>
                <a:hlinkClick r:id="rId3"/>
              </a:rPr>
              <a:t>Separating Fact from Fiction: Exploring Alternative Therapies for Veterans Mental Health</a:t>
            </a:r>
            <a:r>
              <a:rPr lang="en-US" sz="1800" dirty="0">
                <a:latin typeface="Arial"/>
                <a:cs typeface="Arial"/>
              </a:rPr>
              <a:t> (VHA Witnesses: Dr. Ilse Wiechers, Dr. Miriam Smyth)</a:t>
            </a:r>
            <a:endParaRPr lang="en-US" sz="1800" dirty="0">
              <a:latin typeface="Arial"/>
              <a:ea typeface="Calibri"/>
              <a:cs typeface="Arial"/>
            </a:endParaRPr>
          </a:p>
          <a:p>
            <a:r>
              <a:rPr lang="en-US" sz="1800" dirty="0">
                <a:latin typeface="Arial"/>
                <a:cs typeface="Arial"/>
                <a:hlinkClick r:id="rId4"/>
              </a:rPr>
              <a:t>H.R. 2623 - </a:t>
            </a:r>
            <a:r>
              <a:rPr lang="en-US" sz="1800" dirty="0">
                <a:solidFill>
                  <a:srgbClr val="000000"/>
                </a:solidFill>
                <a:latin typeface="Arial"/>
                <a:cs typeface="Arial"/>
                <a:hlinkClick r:id="rId4"/>
              </a:rPr>
              <a:t>Innovative Therapies Centers of Excellence Act of 2025</a:t>
            </a:r>
            <a:r>
              <a:rPr lang="en-US" sz="1800" dirty="0">
                <a:solidFill>
                  <a:srgbClr val="202A43"/>
                </a:solidFill>
                <a:latin typeface="Arial"/>
                <a:cs typeface="Arial"/>
              </a:rPr>
              <a:t> (bill</a:t>
            </a:r>
            <a:r>
              <a:rPr lang="en-US" sz="1800" dirty="0">
                <a:latin typeface="Arial"/>
                <a:cs typeface="Arial"/>
              </a:rPr>
              <a:t> would authorize VA to establish psychedelic treatment Centers of Excellence)  </a:t>
            </a:r>
            <a:endParaRPr lang="en-US" sz="1800" dirty="0">
              <a:latin typeface="Arial"/>
              <a:ea typeface="Calibri"/>
              <a:cs typeface="Arial"/>
            </a:endParaRPr>
          </a:p>
          <a:p>
            <a:r>
              <a:rPr lang="en-US" sz="1800" dirty="0">
                <a:latin typeface="Arial"/>
                <a:cs typeface="Arial"/>
              </a:rPr>
              <a:t>One Congressionally Mandated Report and several request for information in fiscal year 2025</a:t>
            </a:r>
            <a:endParaRPr lang="en-US" sz="1800" dirty="0">
              <a:latin typeface="Arial"/>
              <a:ea typeface="Calibri"/>
              <a:cs typeface="Arial"/>
            </a:endParaRPr>
          </a:p>
          <a:p>
            <a:endParaRPr lang="en-US" dirty="0"/>
          </a:p>
          <a:p>
            <a:endParaRPr lang="en-US" dirty="0"/>
          </a:p>
          <a:p>
            <a:endParaRPr lang="en-US" dirty="0"/>
          </a:p>
        </p:txBody>
      </p:sp>
      <p:sp>
        <p:nvSpPr>
          <p:cNvPr id="3" name="Title 2">
            <a:extLst>
              <a:ext uri="{FF2B5EF4-FFF2-40B4-BE49-F238E27FC236}">
                <a16:creationId xmlns:a16="http://schemas.microsoft.com/office/drawing/2014/main" id="{5230C5A7-B16B-F592-F1E8-FDB4DA67F97C}"/>
              </a:ext>
            </a:extLst>
          </p:cNvPr>
          <p:cNvSpPr>
            <a:spLocks noGrp="1"/>
          </p:cNvSpPr>
          <p:nvPr>
            <p:ph type="title"/>
          </p:nvPr>
        </p:nvSpPr>
        <p:spPr/>
        <p:txBody>
          <a:bodyPr lIns="91440" tIns="45720" rIns="91440" bIns="45720" anchor="ctr">
            <a:noAutofit/>
          </a:bodyPr>
          <a:lstStyle/>
          <a:p>
            <a:r>
              <a:rPr lang="en-US" dirty="0">
                <a:latin typeface="Arial"/>
                <a:cs typeface="Arial"/>
              </a:rPr>
              <a:t>Congressional Interest and Engagement</a:t>
            </a:r>
            <a:endParaRPr lang="en-US" dirty="0"/>
          </a:p>
        </p:txBody>
      </p:sp>
      <p:sp>
        <p:nvSpPr>
          <p:cNvPr id="4" name="Slide Number Placeholder 3">
            <a:extLst>
              <a:ext uri="{FF2B5EF4-FFF2-40B4-BE49-F238E27FC236}">
                <a16:creationId xmlns:a16="http://schemas.microsoft.com/office/drawing/2014/main" id="{7CD2B4C5-37EF-8CA6-637A-A4921C39BC0B}"/>
              </a:ext>
            </a:extLst>
          </p:cNvPr>
          <p:cNvSpPr>
            <a:spLocks noGrp="1"/>
          </p:cNvSpPr>
          <p:nvPr>
            <p:ph type="sldNum" sz="quarter" idx="4"/>
          </p:nvPr>
        </p:nvSpPr>
        <p:spPr/>
        <p:txBody>
          <a:bodyPr/>
          <a:lstStyle/>
          <a:p>
            <a:pPr defTabSz="457200"/>
            <a:fld id="{D983F1FA-211D-3044-9E35-958DFBC26156}" type="slidenum">
              <a:rPr lang="en-US" smtClean="0"/>
              <a:pPr defTabSz="457200"/>
              <a:t>4</a:t>
            </a:fld>
            <a:endParaRPr lang="en-US"/>
          </a:p>
        </p:txBody>
      </p:sp>
      <p:sp>
        <p:nvSpPr>
          <p:cNvPr id="5" name="Footer Placeholder 4">
            <a:extLst>
              <a:ext uri="{FF2B5EF4-FFF2-40B4-BE49-F238E27FC236}">
                <a16:creationId xmlns:a16="http://schemas.microsoft.com/office/drawing/2014/main" id="{06EE020F-B97D-A444-2640-4659322B1E7A}"/>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3560441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DA7AD0-995D-5F23-9987-D13255593A74}"/>
              </a:ext>
            </a:extLst>
          </p:cNvPr>
          <p:cNvSpPr>
            <a:spLocks noGrp="1"/>
          </p:cNvSpPr>
          <p:nvPr>
            <p:ph type="body" sz="quarter" idx="10"/>
          </p:nvPr>
        </p:nvSpPr>
        <p:spPr>
          <a:xfrm>
            <a:off x="457200" y="838200"/>
            <a:ext cx="8229600" cy="5024120"/>
          </a:xfrm>
        </p:spPr>
        <p:txBody>
          <a:bodyPr lIns="91440" tIns="45720" rIns="91440" bIns="45720" anchor="t"/>
          <a:lstStyle/>
          <a:p>
            <a:pPr lvl="0">
              <a:buFont typeface="Symbol" panose="05050102010706020507" pitchFamily="18" charset="2"/>
              <a:buChar char=""/>
            </a:pPr>
            <a:r>
              <a:rPr lang="en-US" kern="100">
                <a:ea typeface="Tahoma" panose="020B0604030504040204" pitchFamily="34" charset="0"/>
              </a:rPr>
              <a:t>Psychedelic drugs are a class of substances that alter consciousness or awareness and may be organically or synthetically produced. </a:t>
            </a:r>
          </a:p>
          <a:p>
            <a:pPr lvl="0"/>
            <a:endParaRPr lang="en-US" kern="100">
              <a:ea typeface="Tahoma" panose="020B0604030504040204" pitchFamily="34" charset="0"/>
            </a:endParaRPr>
          </a:p>
          <a:p>
            <a:pPr marL="285750" indent="-285750">
              <a:buFont typeface="Arial" panose="020B0604020202020204" pitchFamily="34" charset="0"/>
              <a:buChar char="•"/>
            </a:pPr>
            <a:r>
              <a:rPr lang="en-US" b="1">
                <a:latin typeface="Arial"/>
                <a:ea typeface="Tahoma"/>
                <a:cs typeface="Arial"/>
              </a:rPr>
              <a:t>Classical psychedelics</a:t>
            </a:r>
            <a:r>
              <a:rPr lang="en-US">
                <a:latin typeface="Arial"/>
                <a:ea typeface="Tahoma"/>
                <a:cs typeface="Arial"/>
              </a:rPr>
              <a:t>: (e.g. psilocybin, l</a:t>
            </a:r>
            <a:r>
              <a:rPr lang="en-US"/>
              <a:t>ysergic acid </a:t>
            </a:r>
            <a:r>
              <a:rPr lang="en-US" err="1"/>
              <a:t>diethylamid</a:t>
            </a:r>
            <a:r>
              <a:rPr lang="en-US"/>
              <a:t> (LSD)</a:t>
            </a:r>
            <a:r>
              <a:rPr lang="en-US">
                <a:latin typeface="Arial"/>
                <a:ea typeface="Tahoma"/>
                <a:cs typeface="Arial"/>
              </a:rPr>
              <a:t>, and ayahuasca)</a:t>
            </a:r>
          </a:p>
          <a:p>
            <a:pPr lvl="1" indent="-342900">
              <a:buFont typeface="Arial" panose="020B0604020202020204" pitchFamily="34" charset="0"/>
              <a:buChar char="•"/>
            </a:pPr>
            <a:r>
              <a:rPr lang="en-US" sz="2000">
                <a:latin typeface="Arial"/>
                <a:ea typeface="Tahoma"/>
                <a:cs typeface="Arial"/>
              </a:rPr>
              <a:t>Serotonin-2A receptor agonist drugs - powerful dose-related effects on perception, cognition, and emotion</a:t>
            </a:r>
          </a:p>
          <a:p>
            <a:pPr marL="0" indent="0">
              <a:buNone/>
            </a:pPr>
            <a:endParaRPr lang="en-US">
              <a:ea typeface="Tahoma" panose="020B0604030504040204" pitchFamily="34" charset="0"/>
            </a:endParaRPr>
          </a:p>
          <a:p>
            <a:pPr>
              <a:buFont typeface="Arial" panose="020B0604020202020204" pitchFamily="34" charset="0"/>
              <a:buChar char="•"/>
            </a:pPr>
            <a:r>
              <a:rPr lang="en-US" b="1">
                <a:latin typeface="Arial"/>
                <a:ea typeface="Tahoma"/>
                <a:cs typeface="Arial"/>
              </a:rPr>
              <a:t>Empathogens or entactogens</a:t>
            </a:r>
            <a:r>
              <a:rPr lang="en-US">
                <a:latin typeface="Arial"/>
                <a:ea typeface="Tahoma"/>
                <a:cs typeface="Arial"/>
              </a:rPr>
              <a:t>: (e.g. Methylenedioxymethamphetamine</a:t>
            </a:r>
            <a:r>
              <a:rPr lang="en-US"/>
              <a:t>(MDMA)</a:t>
            </a:r>
            <a:r>
              <a:rPr lang="en-US">
                <a:latin typeface="Arial"/>
                <a:ea typeface="Tahoma"/>
                <a:cs typeface="Arial"/>
              </a:rPr>
              <a:t>, ibogaine)</a:t>
            </a:r>
          </a:p>
          <a:p>
            <a:pPr marL="1028700" lvl="1" indent="-342900">
              <a:buFont typeface="Arial" panose="020B0604020202020204" pitchFamily="34" charset="0"/>
              <a:buChar char="•"/>
            </a:pPr>
            <a:r>
              <a:rPr lang="en-US" sz="2000">
                <a:latin typeface="Arial"/>
                <a:ea typeface="Tahoma"/>
                <a:cs typeface="Arial"/>
              </a:rPr>
              <a:t>Do not directly stimulate the serotonin-2A receptor but potently release serotonin and other monoamines and produce dose-related effects on self-perception and social relationships but are devoid of hallucinogenic properties</a:t>
            </a:r>
            <a:endParaRPr lang="en-US" sz="2000" i="1">
              <a:solidFill>
                <a:srgbClr val="000000"/>
              </a:solidFill>
              <a:latin typeface="Arial"/>
              <a:ea typeface="Tahoma"/>
              <a:cs typeface="Arial"/>
            </a:endParaRPr>
          </a:p>
          <a:p>
            <a:pPr marL="0" indent="0">
              <a:buNone/>
            </a:pPr>
            <a:r>
              <a:rPr lang="en-US" i="1">
                <a:solidFill>
                  <a:srgbClr val="000000"/>
                </a:solidFill>
                <a:latin typeface="Corbel" panose="020B0503020204020204" pitchFamily="34" charset="0"/>
              </a:rPr>
              <a:t>								       </a:t>
            </a:r>
          </a:p>
          <a:p>
            <a:pPr marL="3543300" lvl="8" indent="0">
              <a:buNone/>
            </a:pPr>
            <a:r>
              <a:rPr lang="en-US" i="1">
                <a:solidFill>
                  <a:srgbClr val="000000"/>
                </a:solidFill>
                <a:latin typeface="Corbel" panose="020B0503020204020204" pitchFamily="34" charset="0"/>
              </a:rPr>
              <a:t>				</a:t>
            </a:r>
            <a:r>
              <a:rPr lang="en-US" sz="1200" i="1">
                <a:solidFill>
                  <a:srgbClr val="000000"/>
                </a:solidFill>
                <a:latin typeface="Arial" panose="020B0604020202020204" pitchFamily="34" charset="0"/>
                <a:cs typeface="Arial" panose="020B0604020202020204" pitchFamily="34" charset="0"/>
              </a:rPr>
              <a:t>American Psychiatric Association </a:t>
            </a:r>
            <a:endParaRPr lang="en-US" sz="1200">
              <a:latin typeface="Arial" panose="020B0604020202020204" pitchFamily="34" charset="0"/>
              <a:ea typeface="Tahoma" panose="020B0604030504040204" pitchFamily="34" charset="0"/>
              <a:cs typeface="Arial" panose="020B0604020202020204" pitchFamily="34" charset="0"/>
            </a:endParaRPr>
          </a:p>
          <a:p>
            <a:pPr marL="0" indent="0">
              <a:buNone/>
            </a:pPr>
            <a:endParaRPr lang="en-US"/>
          </a:p>
        </p:txBody>
      </p:sp>
      <p:sp>
        <p:nvSpPr>
          <p:cNvPr id="3" name="Title 2">
            <a:extLst>
              <a:ext uri="{FF2B5EF4-FFF2-40B4-BE49-F238E27FC236}">
                <a16:creationId xmlns:a16="http://schemas.microsoft.com/office/drawing/2014/main" id="{FCE6F1EC-2835-EBB0-3B0F-1DD5CB19515D}"/>
              </a:ext>
            </a:extLst>
          </p:cNvPr>
          <p:cNvSpPr>
            <a:spLocks noGrp="1"/>
          </p:cNvSpPr>
          <p:nvPr>
            <p:ph type="title"/>
          </p:nvPr>
        </p:nvSpPr>
        <p:spPr/>
        <p:txBody>
          <a:bodyPr/>
          <a:lstStyle/>
          <a:p>
            <a:r>
              <a:rPr lang="en-US"/>
              <a:t>What are Psychedelics?</a:t>
            </a:r>
          </a:p>
        </p:txBody>
      </p:sp>
      <p:sp>
        <p:nvSpPr>
          <p:cNvPr id="4" name="Slide Number Placeholder 3">
            <a:extLst>
              <a:ext uri="{FF2B5EF4-FFF2-40B4-BE49-F238E27FC236}">
                <a16:creationId xmlns:a16="http://schemas.microsoft.com/office/drawing/2014/main" id="{26563DA1-0A47-A879-0E7B-61599E64E658}"/>
              </a:ext>
            </a:extLst>
          </p:cNvPr>
          <p:cNvSpPr>
            <a:spLocks noGrp="1"/>
          </p:cNvSpPr>
          <p:nvPr>
            <p:ph type="sldNum" sz="quarter" idx="4"/>
          </p:nvPr>
        </p:nvSpPr>
        <p:spPr/>
        <p:txBody>
          <a:bodyPr/>
          <a:lstStyle/>
          <a:p>
            <a:pPr defTabSz="457200"/>
            <a:fld id="{D983F1FA-211D-3044-9E35-958DFBC26156}" type="slidenum">
              <a:rPr lang="en-US" smtClean="0"/>
              <a:pPr defTabSz="457200"/>
              <a:t>5</a:t>
            </a:fld>
            <a:endParaRPr lang="en-US"/>
          </a:p>
        </p:txBody>
      </p:sp>
      <p:sp>
        <p:nvSpPr>
          <p:cNvPr id="5" name="Footer Placeholder 4">
            <a:extLst>
              <a:ext uri="{FF2B5EF4-FFF2-40B4-BE49-F238E27FC236}">
                <a16:creationId xmlns:a16="http://schemas.microsoft.com/office/drawing/2014/main" id="{84C9FB87-E127-BB87-0D58-82C80BF8CEA1}"/>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725407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21DFBA-B320-9347-874F-DD26EDB99501}"/>
              </a:ext>
            </a:extLst>
          </p:cNvPr>
          <p:cNvSpPr>
            <a:spLocks noGrp="1"/>
          </p:cNvSpPr>
          <p:nvPr>
            <p:ph type="body" sz="quarter" idx="10"/>
          </p:nvPr>
        </p:nvSpPr>
        <p:spPr/>
        <p:txBody>
          <a:bodyPr lIns="91440" tIns="45720" rIns="91440" bIns="45720" anchor="t"/>
          <a:lstStyle/>
          <a:p>
            <a:pPr>
              <a:buFont typeface="Arial" panose="020B0604020202020204" pitchFamily="34" charset="0"/>
              <a:buChar char="•"/>
            </a:pPr>
            <a:r>
              <a:rPr lang="en-US" sz="1700" kern="100" dirty="0">
                <a:latin typeface="Arial"/>
                <a:ea typeface="Tahoma"/>
                <a:cs typeface="Arial"/>
              </a:rPr>
              <a:t>Psychedelics are classified as Schedule 1 substances – Drug Enforcement Administration (DEA) finds no currently accepted medical use and a high potential for abuse</a:t>
            </a:r>
          </a:p>
          <a:p>
            <a:pPr>
              <a:buFont typeface="Arial" panose="020B0604020202020204" pitchFamily="34" charset="0"/>
              <a:buChar char="•"/>
            </a:pPr>
            <a:r>
              <a:rPr lang="en-US" sz="1700" dirty="0">
                <a:latin typeface="Arial"/>
                <a:ea typeface="Tahoma"/>
                <a:cs typeface="Arial"/>
              </a:rPr>
              <a:t>Research may be conducted with appropriate regulatory approvals including </a:t>
            </a:r>
            <a:r>
              <a:rPr lang="en-US" sz="1700" kern="100" dirty="0">
                <a:latin typeface="Arial"/>
                <a:ea typeface="Tahoma"/>
                <a:cs typeface="Arial"/>
              </a:rPr>
              <a:t>review of the study protocol by the Food and Drug Administration (FDA) and obtaining a research registration from DEA</a:t>
            </a:r>
          </a:p>
          <a:p>
            <a:pPr>
              <a:buFont typeface="Arial" panose="020B0604020202020204" pitchFamily="34" charset="0"/>
              <a:buChar char="•"/>
            </a:pPr>
            <a:r>
              <a:rPr lang="en-US" sz="1700" dirty="0">
                <a:latin typeface="Arial"/>
                <a:cs typeface="Arial"/>
              </a:rPr>
              <a:t>FDA “Breakthrough Therapy” designation for MDMA for posttraumatic stress disorder (PTSD)(2017), psilocybin for treatment resistant depression (2018) and LSD for anxiety (2024)</a:t>
            </a:r>
          </a:p>
          <a:p>
            <a:pPr marL="800100" lvl="1" indent="-342900">
              <a:buFont typeface="Arial" panose="020B0604020202020204" pitchFamily="34" charset="0"/>
              <a:buChar char="•"/>
            </a:pPr>
            <a:r>
              <a:rPr lang="en-US" sz="1700" dirty="0">
                <a:latin typeface="Arial"/>
                <a:cs typeface="Arial"/>
              </a:rPr>
              <a:t>In 2024 MDMA in combination with psychotherapy was reviewed by the FDA and was not approved, FDA requested additional phase 3 studies </a:t>
            </a:r>
            <a:endParaRPr lang="en-US" sz="1700" dirty="0">
              <a:latin typeface="Arial"/>
              <a:ea typeface="Calibri" panose="020F0502020204030204"/>
              <a:cs typeface="Arial"/>
            </a:endParaRPr>
          </a:p>
          <a:p>
            <a:pPr marL="800100" lvl="1" indent="-342900">
              <a:buFont typeface="Arial" panose="020B0604020202020204" pitchFamily="34" charset="0"/>
              <a:buChar char="•"/>
            </a:pPr>
            <a:r>
              <a:rPr lang="en-US" sz="1700" dirty="0">
                <a:latin typeface="Arial"/>
                <a:cs typeface="Arial"/>
              </a:rPr>
              <a:t>Psilocybin Phase 3 clinical trials are underway with an estimated 1-2-year timeline for submission to FDA for possible approval</a:t>
            </a:r>
            <a:endParaRPr lang="en-US" sz="1700" dirty="0">
              <a:latin typeface="Arial"/>
              <a:ea typeface="Calibri" panose="020F0502020204030204"/>
              <a:cs typeface="Arial"/>
            </a:endParaRPr>
          </a:p>
          <a:p>
            <a:pPr marL="800100" lvl="1" indent="-342900">
              <a:buFont typeface="Arial" panose="020B0604020202020204" pitchFamily="34" charset="0"/>
              <a:buChar char="•"/>
            </a:pPr>
            <a:r>
              <a:rPr lang="en-US" sz="1700" dirty="0">
                <a:latin typeface="Arial"/>
                <a:cs typeface="Arial"/>
              </a:rPr>
              <a:t>LSD is only just beginning Phase 3 clinical trials, so is further down the pipeline</a:t>
            </a:r>
            <a:endParaRPr lang="en-US" sz="1700" dirty="0">
              <a:latin typeface="Arial"/>
              <a:ea typeface="Calibri" panose="020F0502020204030204"/>
              <a:cs typeface="Arial"/>
            </a:endParaRPr>
          </a:p>
          <a:p>
            <a:pPr>
              <a:buFont typeface="Arial" panose="020B0604020202020204" pitchFamily="34" charset="0"/>
              <a:buChar char="•"/>
            </a:pPr>
            <a:r>
              <a:rPr lang="en-US" sz="1700" dirty="0">
                <a:latin typeface="Arial"/>
                <a:cs typeface="Arial"/>
              </a:rPr>
              <a:t>Several states and local jurisdictions have enacted legislation or pilot programs allowing individuals access to psychedelic treatments under regulated conditions</a:t>
            </a:r>
          </a:p>
          <a:p>
            <a:pPr>
              <a:buFont typeface="Arial" panose="020B0604020202020204" pitchFamily="34" charset="0"/>
              <a:buChar char="•"/>
            </a:pPr>
            <a:r>
              <a:rPr lang="en-US" sz="1700" dirty="0">
                <a:latin typeface="Arial"/>
                <a:cs typeface="Arial"/>
              </a:rPr>
              <a:t>Because psychedelics are not approved for clinical use at this time, VA is unable to either provide or pay for these services (except in the context of research)</a:t>
            </a:r>
          </a:p>
          <a:p>
            <a:endParaRPr lang="en-US" dirty="0"/>
          </a:p>
        </p:txBody>
      </p:sp>
      <p:sp>
        <p:nvSpPr>
          <p:cNvPr id="3" name="Title 2">
            <a:extLst>
              <a:ext uri="{FF2B5EF4-FFF2-40B4-BE49-F238E27FC236}">
                <a16:creationId xmlns:a16="http://schemas.microsoft.com/office/drawing/2014/main" id="{4494A684-BFE2-C6CC-D9F4-614179D03B16}"/>
              </a:ext>
            </a:extLst>
          </p:cNvPr>
          <p:cNvSpPr>
            <a:spLocks noGrp="1"/>
          </p:cNvSpPr>
          <p:nvPr>
            <p:ph type="title"/>
          </p:nvPr>
        </p:nvSpPr>
        <p:spPr/>
        <p:txBody>
          <a:bodyPr/>
          <a:lstStyle/>
          <a:p>
            <a:r>
              <a:rPr lang="en-US"/>
              <a:t>Regulatory Considerations</a:t>
            </a:r>
          </a:p>
        </p:txBody>
      </p:sp>
      <p:sp>
        <p:nvSpPr>
          <p:cNvPr id="4" name="Slide Number Placeholder 3">
            <a:extLst>
              <a:ext uri="{FF2B5EF4-FFF2-40B4-BE49-F238E27FC236}">
                <a16:creationId xmlns:a16="http://schemas.microsoft.com/office/drawing/2014/main" id="{6A9B1C2B-059C-1DE4-5E24-D6AAADC035AC}"/>
              </a:ext>
            </a:extLst>
          </p:cNvPr>
          <p:cNvSpPr>
            <a:spLocks noGrp="1"/>
          </p:cNvSpPr>
          <p:nvPr>
            <p:ph type="sldNum" sz="quarter" idx="4"/>
          </p:nvPr>
        </p:nvSpPr>
        <p:spPr/>
        <p:txBody>
          <a:bodyPr/>
          <a:lstStyle/>
          <a:p>
            <a:pPr defTabSz="457200"/>
            <a:fld id="{D983F1FA-211D-3044-9E35-958DFBC26156}" type="slidenum">
              <a:rPr lang="en-US" smtClean="0"/>
              <a:pPr defTabSz="457200"/>
              <a:t>6</a:t>
            </a:fld>
            <a:endParaRPr lang="en-US"/>
          </a:p>
        </p:txBody>
      </p:sp>
      <p:sp>
        <p:nvSpPr>
          <p:cNvPr id="5" name="Footer Placeholder 4">
            <a:extLst>
              <a:ext uri="{FF2B5EF4-FFF2-40B4-BE49-F238E27FC236}">
                <a16:creationId xmlns:a16="http://schemas.microsoft.com/office/drawing/2014/main" id="{1190AF21-0C4A-DDF6-A924-CFE92975AD64}"/>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3347711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61F58-D041-6321-35B9-B361813103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8976B1-8A09-10D6-5D2A-5FBEF636FACB}"/>
              </a:ext>
            </a:extLst>
          </p:cNvPr>
          <p:cNvSpPr>
            <a:spLocks noGrp="1"/>
          </p:cNvSpPr>
          <p:nvPr>
            <p:ph type="body" sz="quarter" idx="10"/>
          </p:nvPr>
        </p:nvSpPr>
        <p:spPr/>
        <p:txBody>
          <a:bodyPr lIns="91440" tIns="45720" rIns="91440" bIns="45720" anchor="t"/>
          <a:lstStyle/>
          <a:p>
            <a:r>
              <a:rPr lang="en-US" dirty="0">
                <a:latin typeface="Arial"/>
                <a:cs typeface="Arial"/>
              </a:rPr>
              <a:t>MDMA has been studied in randomized clinical trials using a protocol that combines MDMA with psychotherapy</a:t>
            </a:r>
          </a:p>
          <a:p>
            <a:pPr marL="0" indent="0">
              <a:buNone/>
            </a:pPr>
            <a:endParaRPr lang="en-US"/>
          </a:p>
          <a:p>
            <a:pPr lvl="1"/>
            <a:r>
              <a:rPr lang="en-US" sz="2000" dirty="0">
                <a:latin typeface="Arial"/>
                <a:cs typeface="Calibri"/>
              </a:rPr>
              <a:t>MDMA is taken for three 8-hour sessions, scheduled 3-5 weeks apart, with a 2-person therapy team</a:t>
            </a:r>
            <a:endParaRPr lang="en-US" sz="2000" dirty="0">
              <a:latin typeface="Arial"/>
              <a:ea typeface="Calibri"/>
              <a:cs typeface="Calibri"/>
            </a:endParaRPr>
          </a:p>
          <a:p>
            <a:pPr lvl="1"/>
            <a:r>
              <a:rPr lang="en-US" sz="2000" dirty="0">
                <a:latin typeface="Arial"/>
                <a:cs typeface="Calibri"/>
              </a:rPr>
              <a:t>Course of treatment also includes 12 therapy session (90 minutes each) for preparation and integration </a:t>
            </a:r>
          </a:p>
          <a:p>
            <a:pPr marL="457200" lvl="2" indent="0">
              <a:buClr>
                <a:schemeClr val="tx1"/>
              </a:buClr>
              <a:buSzPct val="100000"/>
              <a:buNone/>
            </a:pPr>
            <a:endParaRPr lang="en-US" sz="2000">
              <a:ea typeface="Calibri"/>
              <a:cs typeface="Calibri"/>
            </a:endParaRPr>
          </a:p>
          <a:p>
            <a:pPr marL="257175" lvl="1" indent="-257175">
              <a:lnSpc>
                <a:spcPct val="90000"/>
              </a:lnSpc>
              <a:buClr>
                <a:schemeClr val="tx1"/>
              </a:buClr>
              <a:buSzPct val="100000"/>
              <a:buFont typeface="Arial"/>
              <a:buChar char="•"/>
            </a:pPr>
            <a:r>
              <a:rPr lang="en-US" sz="2000" dirty="0">
                <a:latin typeface="Arial"/>
                <a:cs typeface="Calibri"/>
              </a:rPr>
              <a:t>Industry-funded Phase II studies showed promising results for improving PTSD in non-Veterans; one study of Veterans and first-responders also was positive</a:t>
            </a:r>
            <a:endParaRPr lang="en-US" sz="2000" dirty="0">
              <a:latin typeface="Arial"/>
              <a:ea typeface="Calibri"/>
              <a:cs typeface="Calibri"/>
            </a:endParaRPr>
          </a:p>
          <a:p>
            <a:pPr marL="1114425" lvl="3" indent="-257175">
              <a:lnSpc>
                <a:spcPct val="90000"/>
              </a:lnSpc>
              <a:buClr>
                <a:schemeClr val="tx1"/>
              </a:buClr>
              <a:buSzPct val="100000"/>
            </a:pPr>
            <a:r>
              <a:rPr lang="en-US" sz="1800" dirty="0">
                <a:latin typeface="Arial"/>
                <a:cs typeface="Calibri"/>
              </a:rPr>
              <a:t>Studies used active placebo and 2 used inactive placebo</a:t>
            </a:r>
          </a:p>
          <a:p>
            <a:pPr marL="0" indent="0">
              <a:buNone/>
            </a:pPr>
            <a:endParaRPr lang="en-US"/>
          </a:p>
        </p:txBody>
      </p:sp>
      <p:sp>
        <p:nvSpPr>
          <p:cNvPr id="3" name="Title 2">
            <a:extLst>
              <a:ext uri="{FF2B5EF4-FFF2-40B4-BE49-F238E27FC236}">
                <a16:creationId xmlns:a16="http://schemas.microsoft.com/office/drawing/2014/main" id="{13E5E845-8AE2-82ED-C616-B552701FEDAC}"/>
              </a:ext>
            </a:extLst>
          </p:cNvPr>
          <p:cNvSpPr>
            <a:spLocks noGrp="1"/>
          </p:cNvSpPr>
          <p:nvPr>
            <p:ph type="title"/>
          </p:nvPr>
        </p:nvSpPr>
        <p:spPr/>
        <p:txBody>
          <a:bodyPr/>
          <a:lstStyle/>
          <a:p>
            <a:r>
              <a:rPr lang="en-US"/>
              <a:t>MDMA Research </a:t>
            </a:r>
          </a:p>
        </p:txBody>
      </p:sp>
      <p:sp>
        <p:nvSpPr>
          <p:cNvPr id="4" name="Slide Number Placeholder 3">
            <a:extLst>
              <a:ext uri="{FF2B5EF4-FFF2-40B4-BE49-F238E27FC236}">
                <a16:creationId xmlns:a16="http://schemas.microsoft.com/office/drawing/2014/main" id="{E69B4836-FF70-7130-0962-EA32A66000EF}"/>
              </a:ext>
            </a:extLst>
          </p:cNvPr>
          <p:cNvSpPr>
            <a:spLocks noGrp="1"/>
          </p:cNvSpPr>
          <p:nvPr>
            <p:ph type="sldNum" sz="quarter" idx="4"/>
          </p:nvPr>
        </p:nvSpPr>
        <p:spPr/>
        <p:txBody>
          <a:bodyPr/>
          <a:lstStyle/>
          <a:p>
            <a:pPr defTabSz="457200"/>
            <a:fld id="{D983F1FA-211D-3044-9E35-958DFBC26156}" type="slidenum">
              <a:rPr lang="en-US" smtClean="0"/>
              <a:pPr defTabSz="457200"/>
              <a:t>7</a:t>
            </a:fld>
            <a:endParaRPr lang="en-US"/>
          </a:p>
        </p:txBody>
      </p:sp>
      <p:sp>
        <p:nvSpPr>
          <p:cNvPr id="5" name="Footer Placeholder 4">
            <a:extLst>
              <a:ext uri="{FF2B5EF4-FFF2-40B4-BE49-F238E27FC236}">
                <a16:creationId xmlns:a16="http://schemas.microsoft.com/office/drawing/2014/main" id="{9F30E275-0559-37D2-FB49-E3E54826486A}"/>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1250760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44342-B071-8A2E-7A89-C307AE757A3A}"/>
              </a:ext>
            </a:extLst>
          </p:cNvPr>
          <p:cNvSpPr>
            <a:spLocks noGrp="1"/>
          </p:cNvSpPr>
          <p:nvPr>
            <p:ph type="body" sz="quarter" idx="10"/>
          </p:nvPr>
        </p:nvSpPr>
        <p:spPr/>
        <p:txBody>
          <a:bodyPr lIns="91440" tIns="45720" rIns="91440" bIns="45720" anchor="t"/>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Arial"/>
                <a:cs typeface="Arial"/>
              </a:rPr>
              <a:t>Two Phase III trials </a:t>
            </a:r>
            <a:r>
              <a:rPr kumimoji="0" lang="en-US" b="0" i="0" u="none" strike="noStrike" kern="1200" cap="none" spc="0" normalizeH="0" baseline="0" noProof="0" dirty="0">
                <a:ln>
                  <a:noFill/>
                </a:ln>
                <a:effectLst/>
                <a:uLnTx/>
                <a:uFillTx/>
                <a:latin typeface="Arial"/>
                <a:cs typeface="Arial"/>
              </a:rPr>
              <a:t>funded by industry were presented to the FDA for approval</a:t>
            </a:r>
            <a:endParaRPr lang="en-US" b="0" i="0" u="none" strike="noStrike" kern="1200" cap="none" spc="0" normalizeH="0" baseline="0" noProof="0" dirty="0">
              <a:ln>
                <a:noFill/>
              </a:ln>
              <a:effectLst/>
              <a:uLnTx/>
              <a:uFillTx/>
              <a:latin typeface="Arial"/>
              <a:cs typeface="Arial"/>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Arial"/>
                <a:cs typeface="Arial"/>
              </a:rPr>
              <a:t>Both studies used inactive placebo</a:t>
            </a:r>
            <a:endParaRPr lang="en-US" b="0" i="0" u="none" strike="noStrike" kern="1200" cap="none" spc="0" normalizeH="0" baseline="0" noProof="0" dirty="0">
              <a:ln>
                <a:noFill/>
              </a:ln>
              <a:solidFill>
                <a:prstClr val="black"/>
              </a:solidFill>
              <a:effectLst/>
              <a:uLnTx/>
              <a:uFillTx/>
              <a:latin typeface="Arial"/>
              <a:cs typeface="Arial"/>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Arial"/>
                <a:cs typeface="Arial"/>
              </a:rPr>
              <a:t>Most participants were non-Veteran females</a:t>
            </a:r>
            <a:endParaRPr lang="en-US" b="0" i="0" u="none" strike="noStrike" kern="1200" cap="none" spc="0" normalizeH="0" baseline="0" noProof="0" dirty="0">
              <a:ln>
                <a:noFill/>
              </a:ln>
              <a:solidFill>
                <a:prstClr val="black"/>
              </a:solidFill>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cs typeface="Arial"/>
              </a:rPr>
              <a:t>Study 1 (N=90): 82% female, 15% Veteran (N=16)</a:t>
            </a:r>
            <a:endParaRPr kumimoji="0" lang="en-US" sz="2000" b="0" i="0" u="none" strike="noStrike" kern="1200" cap="none" spc="0" normalizeH="0" baseline="0" noProof="0" dirty="0">
              <a:ln>
                <a:noFill/>
              </a:ln>
              <a:solidFill>
                <a:prstClr val="black"/>
              </a:solidFill>
              <a:effectLst/>
              <a:uLnTx/>
              <a:uFillTx/>
              <a:latin typeface="Arial"/>
              <a:ea typeface="Calibri"/>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cs typeface="Arial"/>
              </a:rPr>
              <a:t>Study 2 (N=104): 82% female, 15% Veteran (N=16)</a:t>
            </a:r>
            <a:endParaRPr kumimoji="0" lang="en-US" sz="2000" b="0" i="0" u="none" strike="noStrike" kern="1200" cap="none" spc="0" normalizeH="0" baseline="0" noProof="0" dirty="0">
              <a:ln>
                <a:noFill/>
              </a:ln>
              <a:solidFill>
                <a:prstClr val="black"/>
              </a:solidFill>
              <a:effectLst/>
              <a:uLnTx/>
              <a:uFillTx/>
              <a:latin typeface="Arial"/>
              <a:ea typeface="Calibri"/>
              <a:cs typeface="Arial"/>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Arial"/>
                <a:cs typeface="Arial"/>
              </a:rPr>
              <a:t>No significant safety problems with MDMA</a:t>
            </a:r>
            <a:endParaRPr lang="en-US" b="0" i="0" u="none" strike="noStrike" kern="1200" cap="none" spc="0" normalizeH="0" baseline="0" noProof="0" dirty="0">
              <a:ln>
                <a:noFill/>
              </a:ln>
              <a:solidFill>
                <a:prstClr val="black"/>
              </a:solidFill>
              <a:effectLst/>
              <a:uLnTx/>
              <a:uFillTx/>
              <a:latin typeface="Arial"/>
              <a:cs typeface="Arial"/>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Arial"/>
                <a:cs typeface="Arial"/>
              </a:rPr>
              <a:t>Most participants were unblinded, despite the blinded randomization</a:t>
            </a:r>
            <a:endParaRPr lang="en-US" b="0" i="0" u="none" strike="noStrike" kern="1200" cap="none" spc="0" normalizeH="0" baseline="0" noProof="0" dirty="0">
              <a:ln>
                <a:noFill/>
              </a:ln>
              <a:solidFill>
                <a:prstClr val="black"/>
              </a:solidFill>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cs typeface="Arial"/>
              </a:rPr>
              <a:t>Study 1: 84% of placebo and 96% of MDMA were unblinded</a:t>
            </a:r>
            <a:endParaRPr kumimoji="0" lang="en-US" sz="2000" b="0" i="0" u="none" strike="noStrike" kern="1200" cap="none" spc="0" normalizeH="0" baseline="0" noProof="0" dirty="0">
              <a:ln>
                <a:noFill/>
              </a:ln>
              <a:solidFill>
                <a:prstClr val="black"/>
              </a:solidFill>
              <a:effectLst/>
              <a:uLnTx/>
              <a:uFillTx/>
              <a:latin typeface="Arial"/>
              <a:ea typeface="Calibri"/>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cs typeface="Arial"/>
              </a:rPr>
              <a:t>Study 2: 75% of placebo and 94% of MDMA were unblinded</a:t>
            </a:r>
            <a:endParaRPr kumimoji="0" lang="en-US" sz="2000" b="0" i="0" u="none" strike="noStrike" kern="1200" cap="none" spc="0" normalizeH="0" baseline="0" noProof="0" dirty="0">
              <a:ln>
                <a:noFill/>
              </a:ln>
              <a:solidFill>
                <a:prstClr val="black"/>
              </a:solidFill>
              <a:effectLst/>
              <a:uLnTx/>
              <a:uFillTx/>
              <a:latin typeface="Arial"/>
              <a:ea typeface="Calibri"/>
              <a:cs typeface="Arial"/>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Arial"/>
                <a:ea typeface="Calibri"/>
                <a:cs typeface="Arial"/>
              </a:rPr>
              <a:t>MDMA vs. placebo had better outcomes for PTSD and functioning</a:t>
            </a:r>
            <a:endParaRPr lang="en-US" b="0" i="0" u="none" strike="noStrike" kern="1200" cap="none" spc="0" normalizeH="0" baseline="0" noProof="0" dirty="0">
              <a:ln>
                <a:noFill/>
              </a:ln>
              <a:solidFill>
                <a:prstClr val="black"/>
              </a:solidFill>
              <a:effectLst/>
              <a:uLnTx/>
              <a:uFillTx/>
              <a:latin typeface="Arial"/>
              <a:ea typeface="Calibri"/>
              <a:cs typeface="Arial"/>
            </a:endParaRPr>
          </a:p>
          <a:p>
            <a:pPr marL="0" indent="0">
              <a:buNone/>
            </a:pPr>
            <a:endParaRPr lang="en-US"/>
          </a:p>
        </p:txBody>
      </p:sp>
      <p:sp>
        <p:nvSpPr>
          <p:cNvPr id="3" name="Title 2">
            <a:extLst>
              <a:ext uri="{FF2B5EF4-FFF2-40B4-BE49-F238E27FC236}">
                <a16:creationId xmlns:a16="http://schemas.microsoft.com/office/drawing/2014/main" id="{B02BEC51-0C82-CD83-FB1B-6A944EE21726}"/>
              </a:ext>
            </a:extLst>
          </p:cNvPr>
          <p:cNvSpPr>
            <a:spLocks noGrp="1"/>
          </p:cNvSpPr>
          <p:nvPr>
            <p:ph type="title"/>
          </p:nvPr>
        </p:nvSpPr>
        <p:spPr/>
        <p:txBody>
          <a:bodyPr lIns="91440" tIns="45720" rIns="91440" bIns="45720" anchor="ctr">
            <a:noAutofit/>
          </a:bodyPr>
          <a:lstStyle/>
          <a:p>
            <a:r>
              <a:rPr lang="en-US">
                <a:latin typeface="Arial"/>
                <a:cs typeface="Arial"/>
              </a:rPr>
              <a:t>MDMA Research (continued)  </a:t>
            </a:r>
          </a:p>
        </p:txBody>
      </p:sp>
      <p:sp>
        <p:nvSpPr>
          <p:cNvPr id="4" name="Slide Number Placeholder 3">
            <a:extLst>
              <a:ext uri="{FF2B5EF4-FFF2-40B4-BE49-F238E27FC236}">
                <a16:creationId xmlns:a16="http://schemas.microsoft.com/office/drawing/2014/main" id="{AF9F7304-F539-62F4-705A-0A05839D6E7A}"/>
              </a:ext>
            </a:extLst>
          </p:cNvPr>
          <p:cNvSpPr>
            <a:spLocks noGrp="1"/>
          </p:cNvSpPr>
          <p:nvPr>
            <p:ph type="sldNum" sz="quarter" idx="4"/>
          </p:nvPr>
        </p:nvSpPr>
        <p:spPr/>
        <p:txBody>
          <a:bodyPr/>
          <a:lstStyle/>
          <a:p>
            <a:pPr defTabSz="457200"/>
            <a:fld id="{D983F1FA-211D-3044-9E35-958DFBC26156}" type="slidenum">
              <a:rPr lang="en-US" smtClean="0"/>
              <a:pPr defTabSz="457200"/>
              <a:t>8</a:t>
            </a:fld>
            <a:endParaRPr lang="en-US"/>
          </a:p>
        </p:txBody>
      </p:sp>
      <p:sp>
        <p:nvSpPr>
          <p:cNvPr id="5" name="Footer Placeholder 4">
            <a:extLst>
              <a:ext uri="{FF2B5EF4-FFF2-40B4-BE49-F238E27FC236}">
                <a16:creationId xmlns:a16="http://schemas.microsoft.com/office/drawing/2014/main" id="{118739DF-8DAB-614A-90EC-EB65DC0AA3E7}"/>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1378285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5">
          <a:extLst>
            <a:ext uri="{FF2B5EF4-FFF2-40B4-BE49-F238E27FC236}">
              <a16:creationId xmlns:a16="http://schemas.microsoft.com/office/drawing/2014/main" id="{13DEEAF1-1F41-B6B7-0F6D-89B1E3FD2B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010DFC-D587-3A41-066C-EF8602BD611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rcRect t="839"/>
          <a:stretch/>
        </p:blipFill>
        <p:spPr>
          <a:xfrm>
            <a:off x="85837" y="2172001"/>
            <a:ext cx="4337950" cy="2926492"/>
          </a:xfrm>
          <a:prstGeom prst="rect">
            <a:avLst/>
          </a:prstGeom>
        </p:spPr>
      </p:pic>
      <p:pic>
        <p:nvPicPr>
          <p:cNvPr id="3" name="Google Shape;277;g2617b331358_0_93">
            <a:extLst>
              <a:ext uri="{FF2B5EF4-FFF2-40B4-BE49-F238E27FC236}">
                <a16:creationId xmlns:a16="http://schemas.microsoft.com/office/drawing/2014/main" id="{41EE7518-6385-30B7-1A55-C11121F49B62}"/>
              </a:ext>
            </a:extLst>
          </p:cNvPr>
          <p:cNvPicPr preferRelativeResize="0"/>
          <p:nvPr/>
        </p:nvPicPr>
        <p:blipFill>
          <a:blip r:embed="rId5">
            <a:alphaModFix/>
          </a:blip>
          <a:stretch>
            <a:fillRect/>
          </a:stretch>
        </p:blipFill>
        <p:spPr>
          <a:xfrm>
            <a:off x="4520045" y="2294543"/>
            <a:ext cx="4337951" cy="2926493"/>
          </a:xfrm>
          <a:prstGeom prst="rect">
            <a:avLst/>
          </a:prstGeom>
          <a:noFill/>
          <a:ln>
            <a:noFill/>
          </a:ln>
        </p:spPr>
      </p:pic>
      <p:sp>
        <p:nvSpPr>
          <p:cNvPr id="6" name="TextBox 5">
            <a:extLst>
              <a:ext uri="{FF2B5EF4-FFF2-40B4-BE49-F238E27FC236}">
                <a16:creationId xmlns:a16="http://schemas.microsoft.com/office/drawing/2014/main" id="{B5FD7679-7A54-4BBB-A84F-62206F7F3E65}"/>
              </a:ext>
            </a:extLst>
          </p:cNvPr>
          <p:cNvSpPr txBox="1"/>
          <p:nvPr/>
        </p:nvSpPr>
        <p:spPr>
          <a:xfrm>
            <a:off x="1471038" y="1692513"/>
            <a:ext cx="1947969" cy="415498"/>
          </a:xfrm>
          <a:prstGeom prst="rect">
            <a:avLst/>
          </a:prstGeom>
          <a:noFill/>
        </p:spPr>
        <p:txBody>
          <a:bodyPr wrap="none" lIns="91440" tIns="45720" rIns="91440" bIns="45720" rtlCol="0" anchor="t">
            <a:spAutoFit/>
          </a:bodyPr>
          <a:lstStyle/>
          <a:p>
            <a:r>
              <a:rPr lang="en-US" sz="2100">
                <a:solidFill>
                  <a:schemeClr val="tx2"/>
                </a:solidFill>
                <a:latin typeface="Arial"/>
                <a:cs typeface="Arial"/>
              </a:rPr>
              <a:t>MAPP1 (2021)</a:t>
            </a:r>
          </a:p>
        </p:txBody>
      </p:sp>
      <p:sp>
        <p:nvSpPr>
          <p:cNvPr id="7" name="TextBox 6">
            <a:extLst>
              <a:ext uri="{FF2B5EF4-FFF2-40B4-BE49-F238E27FC236}">
                <a16:creationId xmlns:a16="http://schemas.microsoft.com/office/drawing/2014/main" id="{5D0CB530-2EB8-27F6-A628-E8168BDEA5BA}"/>
              </a:ext>
            </a:extLst>
          </p:cNvPr>
          <p:cNvSpPr txBox="1"/>
          <p:nvPr/>
        </p:nvSpPr>
        <p:spPr>
          <a:xfrm>
            <a:off x="5627794" y="1715558"/>
            <a:ext cx="1976823" cy="415498"/>
          </a:xfrm>
          <a:prstGeom prst="rect">
            <a:avLst/>
          </a:prstGeom>
          <a:noFill/>
        </p:spPr>
        <p:txBody>
          <a:bodyPr wrap="none" lIns="91440" tIns="45720" rIns="91440" bIns="45720" rtlCol="0" anchor="t">
            <a:spAutoFit/>
          </a:bodyPr>
          <a:lstStyle/>
          <a:p>
            <a:pPr algn="ctr"/>
            <a:r>
              <a:rPr lang="en-US" sz="2100">
                <a:solidFill>
                  <a:schemeClr val="tx2"/>
                </a:solidFill>
                <a:latin typeface="Arial"/>
                <a:cs typeface="Arial"/>
              </a:rPr>
              <a:t>MAPP2 (2023)</a:t>
            </a:r>
          </a:p>
        </p:txBody>
      </p:sp>
      <p:sp>
        <p:nvSpPr>
          <p:cNvPr id="8" name="Title 1">
            <a:extLst>
              <a:ext uri="{FF2B5EF4-FFF2-40B4-BE49-F238E27FC236}">
                <a16:creationId xmlns:a16="http://schemas.microsoft.com/office/drawing/2014/main" id="{2658B900-83CA-2C05-1383-5928EF8F8494}"/>
              </a:ext>
            </a:extLst>
          </p:cNvPr>
          <p:cNvSpPr txBox="1">
            <a:spLocks/>
          </p:cNvSpPr>
          <p:nvPr/>
        </p:nvSpPr>
        <p:spPr>
          <a:xfrm>
            <a:off x="2446038" y="191732"/>
            <a:ext cx="7886700" cy="463789"/>
          </a:xfrm>
          <a:prstGeom prst="rect">
            <a:avLst/>
          </a:prstGeom>
        </p:spPr>
        <p:txBody>
          <a:bodyPr lIns="68580" tIns="34290" rIns="68580" bIns="34290" anchor="t"/>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sz="2400">
                <a:latin typeface="Arial"/>
                <a:cs typeface="Arial"/>
              </a:rPr>
              <a:t>Key Findings Presented to FDA</a:t>
            </a:r>
          </a:p>
        </p:txBody>
      </p:sp>
      <p:sp>
        <p:nvSpPr>
          <p:cNvPr id="4" name="TextBox 3">
            <a:extLst>
              <a:ext uri="{FF2B5EF4-FFF2-40B4-BE49-F238E27FC236}">
                <a16:creationId xmlns:a16="http://schemas.microsoft.com/office/drawing/2014/main" id="{2E53E3A1-531F-060C-B440-7CD00605FEED}"/>
              </a:ext>
            </a:extLst>
          </p:cNvPr>
          <p:cNvSpPr txBox="1"/>
          <p:nvPr/>
        </p:nvSpPr>
        <p:spPr>
          <a:xfrm>
            <a:off x="88068" y="5876520"/>
            <a:ext cx="8806960" cy="28469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400" i="1" dirty="0">
                <a:solidFill>
                  <a:srgbClr val="000000"/>
                </a:solidFill>
                <a:latin typeface="Calibri" panose="020F0502020204030204"/>
                <a:ea typeface="Calibri"/>
                <a:cs typeface="Calibri" panose="020F0502020204030204"/>
              </a:rPr>
              <a:t>Full references in Notes</a:t>
            </a:r>
          </a:p>
        </p:txBody>
      </p:sp>
      <p:sp>
        <p:nvSpPr>
          <p:cNvPr id="9" name="TextBox 8">
            <a:extLst>
              <a:ext uri="{FF2B5EF4-FFF2-40B4-BE49-F238E27FC236}">
                <a16:creationId xmlns:a16="http://schemas.microsoft.com/office/drawing/2014/main" id="{63F44C9B-F9D6-25AB-5D81-709EAC465B8A}"/>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spTree>
    <p:extLst>
      <p:ext uri="{BB962C8B-B14F-4D97-AF65-F5344CB8AC3E}">
        <p14:creationId xmlns:p14="http://schemas.microsoft.com/office/powerpoint/2010/main" val="173453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7480-ACD2-C649-439D-6C3B1286F65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873902-0757-5DF5-290B-F4E88C6C9E5A}"/>
              </a:ext>
            </a:extLst>
          </p:cNvPr>
          <p:cNvSpPr>
            <a:spLocks noGrp="1"/>
          </p:cNvSpPr>
          <p:nvPr>
            <p:ph type="body" sz="quarter" idx="10"/>
          </p:nvPr>
        </p:nvSpPr>
        <p:spPr>
          <a:xfrm>
            <a:off x="457200" y="960120"/>
            <a:ext cx="8229600" cy="4724400"/>
          </a:xfrm>
        </p:spPr>
        <p:txBody>
          <a:bodyPr lIns="91440" tIns="45720" rIns="91440" bIns="45720" anchor="t"/>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cs typeface="Arial"/>
              </a:rPr>
              <a:t>Key Concerns Raised by the FDA ab</a:t>
            </a:r>
            <a:r>
              <a:rPr kumimoji="0" lang="en-US" sz="2400" b="0" i="0" u="none" strike="noStrike" kern="1200" cap="none" spc="0" normalizeH="0" baseline="0" noProof="0" dirty="0">
                <a:ln>
                  <a:noFill/>
                </a:ln>
                <a:effectLst/>
                <a:uLnTx/>
                <a:uFillTx/>
                <a:latin typeface="Arial"/>
                <a:cs typeface="Arial"/>
              </a:rPr>
              <a:t>out industry-funded MDMA Phase III Trials</a:t>
            </a:r>
            <a:endParaRPr lang="en-US" sz="2400" b="0" i="0" u="none" strike="noStrike" kern="1200" cap="none" spc="0" normalizeH="0" baseline="0" noProof="0" dirty="0">
              <a:ln>
                <a:noFill/>
              </a:ln>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cs typeface="Arial"/>
              </a:rPr>
              <a:t>“Functional” unblinding of patients and therapists (attempts to blind participants were unsuccessful)</a:t>
            </a:r>
            <a:endParaRPr lang="en-US" sz="2400" b="0" i="0" u="none" strike="noStrike" kern="1200" cap="none" spc="0" normalizeH="0" baseline="0" noProof="0" dirty="0">
              <a:ln>
                <a:noFill/>
              </a:ln>
              <a:solidFill>
                <a:prstClr val="black"/>
              </a:solidFill>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cs typeface="Arial"/>
              </a:rPr>
              <a:t>Expectancy based on participants’ prior MDMA use (which may have contrib</a:t>
            </a:r>
            <a:r>
              <a:rPr kumimoji="0" lang="en-US" sz="2400" b="0" i="0" u="none" strike="noStrike" kern="1200" cap="none" spc="0" normalizeH="0" baseline="0" noProof="0" dirty="0">
                <a:ln>
                  <a:noFill/>
                </a:ln>
                <a:effectLst/>
                <a:uLnTx/>
                <a:uFillTx/>
                <a:latin typeface="Arial"/>
                <a:cs typeface="Arial"/>
              </a:rPr>
              <a:t>uted to the failure to achieve blinding)</a:t>
            </a:r>
            <a:endParaRPr lang="en-US" sz="2400" b="0" i="0" u="none" strike="noStrike" kern="1200" cap="none" spc="0" normalizeH="0" baseline="0" noProof="0" dirty="0">
              <a:ln>
                <a:noFill/>
              </a:ln>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cs typeface="Arial"/>
              </a:rPr>
              <a:t>Inadequate safety monitoring (did not assess potential abuse/addiction outcomes, short follow-up)</a:t>
            </a:r>
            <a:endParaRPr lang="en-US" sz="2400" b="0" i="0" u="none" strike="noStrike" kern="1200" cap="none" spc="0" normalizeH="0" baseline="0" noProof="0" dirty="0">
              <a:ln>
                <a:noFill/>
              </a:ln>
              <a:solidFill>
                <a:prstClr val="black"/>
              </a:solidFill>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cs typeface="Arial"/>
              </a:rPr>
              <a:t>Limited follow-up (18 weeks from initial prep session)</a:t>
            </a:r>
            <a:endParaRPr lang="en-US" sz="2400" b="0" i="0" u="none" strike="noStrike" kern="1200" cap="none" spc="0" normalizeH="0" baseline="0" noProof="0" dirty="0">
              <a:ln>
                <a:noFill/>
              </a:ln>
              <a:solidFill>
                <a:prstClr val="black"/>
              </a:solidFill>
              <a:effectLst/>
              <a:uLnTx/>
              <a:uFillTx/>
              <a:latin typeface="Arial"/>
              <a:cs typeface="Arial"/>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cs typeface="Arial"/>
              </a:rPr>
              <a:t>Non-evidence-based psychotherapy</a:t>
            </a:r>
            <a:endParaRPr lang="en-US" sz="2400" b="0" i="0" u="none" strike="noStrike" kern="1200" cap="none" spc="0" normalizeH="0" baseline="0" noProof="0" dirty="0">
              <a:ln>
                <a:noFill/>
              </a:ln>
              <a:solidFill>
                <a:prstClr val="black"/>
              </a:solidFill>
              <a:effectLst/>
              <a:uLnTx/>
              <a:uFillTx/>
              <a:latin typeface="Arial"/>
              <a:cs typeface="Arial"/>
            </a:endParaRPr>
          </a:p>
          <a:p>
            <a:pPr marL="0" indent="0">
              <a:buNone/>
            </a:pPr>
            <a:endParaRPr lang="en-US"/>
          </a:p>
        </p:txBody>
      </p:sp>
      <p:sp>
        <p:nvSpPr>
          <p:cNvPr id="3" name="Title 2">
            <a:extLst>
              <a:ext uri="{FF2B5EF4-FFF2-40B4-BE49-F238E27FC236}">
                <a16:creationId xmlns:a16="http://schemas.microsoft.com/office/drawing/2014/main" id="{4AD066EE-F01F-A7E0-2B56-E89EBDFC1910}"/>
              </a:ext>
            </a:extLst>
          </p:cNvPr>
          <p:cNvSpPr>
            <a:spLocks noGrp="1"/>
          </p:cNvSpPr>
          <p:nvPr>
            <p:ph type="title"/>
          </p:nvPr>
        </p:nvSpPr>
        <p:spPr/>
        <p:txBody>
          <a:bodyPr/>
          <a:lstStyle/>
          <a:p>
            <a:r>
              <a:rPr lang="en-US"/>
              <a:t>Key Concerns Raised by FDA</a:t>
            </a:r>
          </a:p>
        </p:txBody>
      </p:sp>
      <p:sp>
        <p:nvSpPr>
          <p:cNvPr id="4" name="Slide Number Placeholder 3">
            <a:extLst>
              <a:ext uri="{FF2B5EF4-FFF2-40B4-BE49-F238E27FC236}">
                <a16:creationId xmlns:a16="http://schemas.microsoft.com/office/drawing/2014/main" id="{5F634EA2-1688-C87F-2A44-A4DBDD8C53D2}"/>
              </a:ext>
            </a:extLst>
          </p:cNvPr>
          <p:cNvSpPr>
            <a:spLocks noGrp="1"/>
          </p:cNvSpPr>
          <p:nvPr>
            <p:ph type="sldNum" sz="quarter" idx="4"/>
          </p:nvPr>
        </p:nvSpPr>
        <p:spPr/>
        <p:txBody>
          <a:bodyPr/>
          <a:lstStyle/>
          <a:p>
            <a:pPr defTabSz="457200"/>
            <a:fld id="{D983F1FA-211D-3044-9E35-958DFBC26156}" type="slidenum">
              <a:rPr lang="en-US" smtClean="0"/>
              <a:pPr defTabSz="457200"/>
              <a:t>10</a:t>
            </a:fld>
            <a:endParaRPr lang="en-US"/>
          </a:p>
        </p:txBody>
      </p:sp>
      <p:sp>
        <p:nvSpPr>
          <p:cNvPr id="5" name="Footer Placeholder 4">
            <a:extLst>
              <a:ext uri="{FF2B5EF4-FFF2-40B4-BE49-F238E27FC236}">
                <a16:creationId xmlns:a16="http://schemas.microsoft.com/office/drawing/2014/main" id="{0ACE3BF8-6CEE-9673-BD61-18A4B40ADA04}"/>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3958035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35E8C-1749-8761-9BBC-056BDB650C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73B21A-3F6A-9135-6A01-49DE406933F5}"/>
              </a:ext>
            </a:extLst>
          </p:cNvPr>
          <p:cNvSpPr>
            <a:spLocks noGrp="1"/>
          </p:cNvSpPr>
          <p:nvPr>
            <p:ph type="body" sz="quarter" idx="10"/>
          </p:nvPr>
        </p:nvSpPr>
        <p:spPr/>
        <p:txBody>
          <a:bodyPr lIns="91440" tIns="45720" rIns="91440" bIns="45720" anchor="t"/>
          <a:lstStyle/>
          <a:p>
            <a:pPr marL="0" indent="0" defTabSz="914400">
              <a:buNone/>
              <a:defRPr/>
            </a:pPr>
            <a:r>
              <a:rPr kumimoji="0" lang="en-US" sz="1800" b="0" i="0" u="none" strike="noStrike" kern="1200" cap="none" spc="0" normalizeH="0" baseline="0" noProof="0" dirty="0">
                <a:ln>
                  <a:noFill/>
                </a:ln>
                <a:solidFill>
                  <a:prstClr val="black"/>
                </a:solidFill>
                <a:effectLst/>
                <a:uLnTx/>
                <a:uFillTx/>
                <a:latin typeface="Arial"/>
                <a:cs typeface="Arial"/>
              </a:rPr>
              <a:t>Psilocybin has been combined with various psychotherapeutic components in at least 9 randomized clinical trials</a:t>
            </a:r>
            <a:r>
              <a:rPr lang="en-US" sz="1800" dirty="0">
                <a:solidFill>
                  <a:prstClr val="black"/>
                </a:solidFill>
                <a:latin typeface="Arial"/>
                <a:cs typeface="Arial"/>
              </a:rPr>
              <a:t> (RCTs)</a:t>
            </a:r>
            <a:r>
              <a:rPr kumimoji="0" lang="en-US" sz="1800" b="0" i="0" u="none" strike="noStrike" kern="1200" cap="none" spc="0" normalizeH="0" baseline="0" noProof="0" dirty="0">
                <a:ln>
                  <a:noFill/>
                </a:ln>
                <a:solidFill>
                  <a:prstClr val="black"/>
                </a:solidFill>
                <a:effectLst/>
                <a:uLnTx/>
                <a:uFillTx/>
                <a:latin typeface="Arial"/>
                <a:cs typeface="Arial"/>
              </a:rPr>
              <a:t> (N=~519) for depression or treatment-resistant depression </a:t>
            </a:r>
            <a:endParaRPr kumimoji="0" lang="en-US" sz="1800" b="0" i="0" u="none" strike="noStrike" kern="1200" cap="none" spc="0" normalizeH="0" baseline="0" noProof="0" dirty="0">
              <a:ln>
                <a:noFill/>
              </a:ln>
              <a:solidFill>
                <a:prstClr val="black"/>
              </a:solidFill>
              <a:effectLst/>
              <a:uLnTx/>
              <a:uFillTx/>
              <a:latin typeface="Arial"/>
              <a:ea typeface="Calibri"/>
              <a:cs typeface="Arial"/>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rial"/>
                <a:cs typeface="Arial"/>
              </a:rPr>
              <a:t>Psilocybin is taken during 1-3 ~6-hour sessions, typically with a 2-person facilitator team</a:t>
            </a:r>
            <a:endParaRPr kumimoji="0" lang="en-US" b="0" i="0" u="none" strike="noStrike" kern="1200" cap="none" spc="0" normalizeH="0" baseline="0" noProof="0" dirty="0">
              <a:ln>
                <a:noFill/>
              </a:ln>
              <a:solidFill>
                <a:prstClr val="black"/>
              </a:solidFill>
              <a:effectLst/>
              <a:uLnTx/>
              <a:uFillTx/>
              <a:latin typeface="Arial"/>
              <a:ea typeface="Calibri"/>
              <a:cs typeface="Arial"/>
            </a:endParaRPr>
          </a:p>
          <a:p>
            <a:pPr marL="714375" lvl="2" indent="-257175" defTabSz="914400">
              <a:buClr>
                <a:prstClr val="black"/>
              </a:buClr>
              <a:buSzPct val="100000"/>
              <a:defRPr/>
            </a:pPr>
            <a:r>
              <a:rPr kumimoji="0" lang="en-US" sz="1800" b="0" i="0" u="none" strike="noStrike" kern="1200" cap="none" spc="0" normalizeH="0" baseline="0" noProof="0" dirty="0">
                <a:ln>
                  <a:noFill/>
                </a:ln>
                <a:solidFill>
                  <a:prstClr val="black"/>
                </a:solidFill>
                <a:effectLst/>
                <a:uLnTx/>
                <a:uFillTx/>
                <a:latin typeface="Arial"/>
                <a:cs typeface="Arial"/>
              </a:rPr>
              <a:t>A supportive psychotherapeutic framework consists of preparation</a:t>
            </a:r>
            <a:r>
              <a:rPr lang="en-US" sz="1800" dirty="0">
                <a:solidFill>
                  <a:prstClr val="black"/>
                </a:solidFill>
                <a:latin typeface="Arial"/>
                <a:cs typeface="Arial"/>
              </a:rPr>
              <a:t> sessions </a:t>
            </a:r>
            <a:r>
              <a:rPr kumimoji="0" lang="en-US" sz="1800" b="0" i="0" u="none" strike="noStrike" kern="1200" cap="none" spc="0" normalizeH="0" baseline="0" noProof="0" dirty="0">
                <a:ln>
                  <a:noFill/>
                </a:ln>
                <a:solidFill>
                  <a:prstClr val="black"/>
                </a:solidFill>
                <a:effectLst/>
                <a:uLnTx/>
                <a:uFillTx/>
                <a:latin typeface="Arial"/>
                <a:cs typeface="Arial"/>
              </a:rPr>
              <a:t>before and integration sessions after dosing +/- various evidence-based therapy (Chen et al., 2024; Horton, Morrison, &amp; Schmidt, 2021)</a:t>
            </a:r>
            <a:endParaRPr kumimoji="0" lang="en-US" sz="1800" b="0" i="0" u="none" strike="noStrike" kern="1200" cap="none" spc="0" normalizeH="0" baseline="0" noProof="0" dirty="0">
              <a:ln>
                <a:noFill/>
              </a:ln>
              <a:solidFill>
                <a:prstClr val="black"/>
              </a:solidFill>
              <a:effectLst/>
              <a:uLnTx/>
              <a:uFillTx/>
              <a:latin typeface="Arial"/>
              <a:ea typeface="Calibri"/>
              <a:cs typeface="Arial"/>
            </a:endParaRPr>
          </a:p>
          <a:p>
            <a:pPr marL="257175" marR="0" lvl="1" indent="-257175" algn="l" defTabSz="914400" rtl="0" eaLnBrk="1" fontAlgn="auto" latinLnBrk="0" hangingPunct="1">
              <a:lnSpc>
                <a:spcPct val="100000"/>
              </a:lnSpc>
              <a:spcBef>
                <a:spcPts val="0"/>
              </a:spcBef>
              <a:spcAft>
                <a:spcPts val="0"/>
              </a:spcAft>
              <a:buClr>
                <a:prstClr val="black"/>
              </a:buClr>
              <a:buSzPct val="100000"/>
              <a:buFont typeface="Arial"/>
              <a:buChar char="•"/>
              <a:tabLst/>
              <a:defRPr/>
            </a:pPr>
            <a:r>
              <a:rPr kumimoji="0" lang="en-US" b="0" i="0" u="none" strike="noStrike" kern="1200" cap="none" spc="0" normalizeH="0" baseline="0" noProof="0" dirty="0">
                <a:ln>
                  <a:noFill/>
                </a:ln>
                <a:solidFill>
                  <a:prstClr val="black"/>
                </a:solidFill>
                <a:effectLst/>
                <a:uLnTx/>
                <a:uFillTx/>
                <a:latin typeface="Arial"/>
                <a:cs typeface="Arial"/>
              </a:rPr>
              <a:t>RCTs have shown promising results for improving depression symptoms in primarily non-Veteran samples</a:t>
            </a:r>
            <a:endParaRPr kumimoji="0" lang="en-US" b="0" i="0" u="none" strike="noStrike" kern="1200" cap="none" spc="0" normalizeH="0" baseline="0" noProof="0" dirty="0">
              <a:ln>
                <a:noFill/>
              </a:ln>
              <a:solidFill>
                <a:prstClr val="black"/>
              </a:solidFill>
              <a:effectLst/>
              <a:uLnTx/>
              <a:uFillTx/>
              <a:latin typeface="Arial"/>
              <a:ea typeface="Calibri"/>
              <a:cs typeface="Arial"/>
            </a:endParaRPr>
          </a:p>
          <a:p>
            <a:pPr marL="714375" marR="0" lvl="2" indent="-257175" algn="l" defTabSz="914400" rtl="0" eaLnBrk="1" fontAlgn="auto" latinLnBrk="0" hangingPunct="1">
              <a:lnSpc>
                <a:spcPct val="100000"/>
              </a:lnSpc>
              <a:spcBef>
                <a:spcPts val="0"/>
              </a:spcBef>
              <a:spcAft>
                <a:spcPts val="0"/>
              </a:spcAft>
              <a:buClr>
                <a:srgbClr val="000000"/>
              </a:buClr>
              <a:buSzPct val="100000"/>
              <a:buFont typeface="Arial"/>
              <a:buChar char="•"/>
              <a:tabLst/>
              <a:defRPr/>
            </a:pPr>
            <a:r>
              <a:rPr kumimoji="0" lang="en-US" sz="1800" b="0" i="0" u="none" strike="noStrike" kern="1200" cap="none" spc="0" normalizeH="0" baseline="0" noProof="0" dirty="0">
                <a:ln>
                  <a:noFill/>
                </a:ln>
                <a:solidFill>
                  <a:prstClr val="black"/>
                </a:solidFill>
                <a:effectLst/>
                <a:uLnTx/>
                <a:uFillTx/>
                <a:latin typeface="Arial"/>
                <a:cs typeface="Arial"/>
              </a:rPr>
              <a:t>1 study used inactive placebo, 5 studies used 'active placebo' such as niacin or low-dose psilocybin, 1 used low-dose psilocybin and escitalopram, 2 used delayed treatment comparator</a:t>
            </a:r>
            <a:endParaRPr kumimoji="0" lang="en-US" sz="1800" b="0" i="0" u="none" strike="noStrike" kern="1200" cap="none" spc="0" normalizeH="0" baseline="0" noProof="0" dirty="0">
              <a:ln>
                <a:noFill/>
              </a:ln>
              <a:solidFill>
                <a:prstClr val="black"/>
              </a:solidFill>
              <a:effectLst/>
              <a:uLnTx/>
              <a:uFillTx/>
              <a:latin typeface="Arial"/>
              <a:ea typeface="Calibri"/>
              <a:cs typeface="Arial"/>
            </a:endParaRPr>
          </a:p>
          <a:p>
            <a:pPr marL="0" indent="0">
              <a:buNone/>
            </a:pPr>
            <a:endParaRPr lang="en-US"/>
          </a:p>
        </p:txBody>
      </p:sp>
      <p:sp>
        <p:nvSpPr>
          <p:cNvPr id="3" name="Title 2">
            <a:extLst>
              <a:ext uri="{FF2B5EF4-FFF2-40B4-BE49-F238E27FC236}">
                <a16:creationId xmlns:a16="http://schemas.microsoft.com/office/drawing/2014/main" id="{DD120997-0605-C416-268B-E295FD317907}"/>
              </a:ext>
            </a:extLst>
          </p:cNvPr>
          <p:cNvSpPr>
            <a:spLocks noGrp="1"/>
          </p:cNvSpPr>
          <p:nvPr>
            <p:ph type="title"/>
          </p:nvPr>
        </p:nvSpPr>
        <p:spPr/>
        <p:txBody>
          <a:bodyPr/>
          <a:lstStyle/>
          <a:p>
            <a:r>
              <a:rPr lang="en-US"/>
              <a:t>Psilocybin Research Studies</a:t>
            </a:r>
          </a:p>
        </p:txBody>
      </p:sp>
      <p:sp>
        <p:nvSpPr>
          <p:cNvPr id="4" name="Slide Number Placeholder 3">
            <a:extLst>
              <a:ext uri="{FF2B5EF4-FFF2-40B4-BE49-F238E27FC236}">
                <a16:creationId xmlns:a16="http://schemas.microsoft.com/office/drawing/2014/main" id="{A6757647-4837-2B00-7B99-2CC5C04C1BA7}"/>
              </a:ext>
            </a:extLst>
          </p:cNvPr>
          <p:cNvSpPr>
            <a:spLocks noGrp="1"/>
          </p:cNvSpPr>
          <p:nvPr>
            <p:ph type="sldNum" sz="quarter" idx="4"/>
          </p:nvPr>
        </p:nvSpPr>
        <p:spPr/>
        <p:txBody>
          <a:bodyPr/>
          <a:lstStyle/>
          <a:p>
            <a:pPr defTabSz="457200"/>
            <a:fld id="{D983F1FA-211D-3044-9E35-958DFBC26156}" type="slidenum">
              <a:rPr lang="en-US" smtClean="0"/>
              <a:pPr defTabSz="457200"/>
              <a:t>11</a:t>
            </a:fld>
            <a:endParaRPr lang="en-US"/>
          </a:p>
        </p:txBody>
      </p:sp>
      <p:sp>
        <p:nvSpPr>
          <p:cNvPr id="5" name="Footer Placeholder 4">
            <a:extLst>
              <a:ext uri="{FF2B5EF4-FFF2-40B4-BE49-F238E27FC236}">
                <a16:creationId xmlns:a16="http://schemas.microsoft.com/office/drawing/2014/main" id="{1CF59252-713E-6A53-697D-4DBAB9ABF6D3}"/>
              </a:ext>
            </a:extLst>
          </p:cNvPr>
          <p:cNvSpPr>
            <a:spLocks noGrp="1"/>
          </p:cNvSpPr>
          <p:nvPr>
            <p:ph type="ftr" sz="quarter" idx="3"/>
          </p:nvPr>
        </p:nvSpPr>
        <p:spPr/>
        <p:txBody>
          <a:bodyPr/>
          <a:lstStyle/>
          <a:p>
            <a:pPr defTabSz="457200"/>
            <a:r>
              <a:rPr lang="en-US"/>
              <a:t>PRE-DECISIONAL</a:t>
            </a:r>
          </a:p>
        </p:txBody>
      </p:sp>
      <p:sp>
        <p:nvSpPr>
          <p:cNvPr id="7" name="TextBox 6">
            <a:extLst>
              <a:ext uri="{FF2B5EF4-FFF2-40B4-BE49-F238E27FC236}">
                <a16:creationId xmlns:a16="http://schemas.microsoft.com/office/drawing/2014/main" id="{035132F0-F342-1332-AA0E-DD1548E53353}"/>
              </a:ext>
            </a:extLst>
          </p:cNvPr>
          <p:cNvSpPr txBox="1"/>
          <p:nvPr/>
        </p:nvSpPr>
        <p:spPr>
          <a:xfrm>
            <a:off x="88068" y="5876520"/>
            <a:ext cx="8806960" cy="28469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400" i="1" dirty="0">
                <a:solidFill>
                  <a:srgbClr val="000000"/>
                </a:solidFill>
                <a:latin typeface="Calibri" panose="020F0502020204030204"/>
                <a:ea typeface="Calibri"/>
                <a:cs typeface="Calibri" panose="020F0502020204030204"/>
              </a:rPr>
              <a:t>Full references in Notes</a:t>
            </a:r>
          </a:p>
        </p:txBody>
      </p:sp>
    </p:spTree>
    <p:extLst>
      <p:ext uri="{BB962C8B-B14F-4D97-AF65-F5344CB8AC3E}">
        <p14:creationId xmlns:p14="http://schemas.microsoft.com/office/powerpoint/2010/main" val="423773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FDD1-04B3-2DDA-74D1-AF4A5782D2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8AAD21-30E6-5A6A-46EB-18C66B92B87A}"/>
              </a:ext>
            </a:extLst>
          </p:cNvPr>
          <p:cNvSpPr>
            <a:spLocks noGrp="1"/>
          </p:cNvSpPr>
          <p:nvPr>
            <p:ph type="body" sz="quarter" idx="10"/>
          </p:nvPr>
        </p:nvSpPr>
        <p:spPr>
          <a:xfrm>
            <a:off x="457200" y="838200"/>
            <a:ext cx="8229600" cy="5105400"/>
          </a:xfrm>
        </p:spPr>
        <p:txBody>
          <a:bodyPr lIns="91440" tIns="45720" rIns="91440" bIns="45720" anchor="t"/>
          <a:lstStyle/>
          <a:p>
            <a:r>
              <a:rPr lang="en-US" dirty="0">
                <a:latin typeface="Arial"/>
                <a:cs typeface="Calibri"/>
              </a:rPr>
              <a:t>Two multisite Phase II RCTs have been completed:</a:t>
            </a:r>
            <a:endParaRPr lang="en-US" dirty="0">
              <a:latin typeface="Arial"/>
              <a:ea typeface="Calibri"/>
              <a:cs typeface="Calibri"/>
            </a:endParaRPr>
          </a:p>
          <a:p>
            <a:r>
              <a:rPr lang="en-US" dirty="0">
                <a:latin typeface="Arial"/>
                <a:cs typeface="Calibri"/>
              </a:rPr>
              <a:t>Goodwin et al., 2022 (n=233)</a:t>
            </a:r>
            <a:endParaRPr lang="en-US" dirty="0">
              <a:latin typeface="Arial"/>
              <a:ea typeface="Calibri"/>
              <a:cs typeface="Calibri"/>
            </a:endParaRPr>
          </a:p>
          <a:p>
            <a:pPr lvl="1">
              <a:buFont typeface="Arial" panose="020B0604020202020204" pitchFamily="34" charset="0"/>
              <a:buChar char="•"/>
            </a:pPr>
            <a:r>
              <a:rPr lang="en-US" sz="2000" dirty="0">
                <a:latin typeface="Arial"/>
                <a:ea typeface="Calibri"/>
                <a:cs typeface="Calibri"/>
              </a:rPr>
              <a:t>Psilocybin 25mg vs 10mg vs 1mg (control) + psychological support</a:t>
            </a:r>
          </a:p>
          <a:p>
            <a:pPr lvl="2">
              <a:buFont typeface="Arial" panose="020B0604020202020204" pitchFamily="34" charset="0"/>
              <a:buChar char="•"/>
            </a:pPr>
            <a:r>
              <a:rPr lang="en-US" sz="2000" dirty="0">
                <a:latin typeface="Arial"/>
                <a:ea typeface="Calibri"/>
                <a:cs typeface="Calibri"/>
              </a:rPr>
              <a:t>25mg vs 1mg, </a:t>
            </a:r>
            <a:r>
              <a:rPr lang="en-US" sz="2000" i="1" dirty="0">
                <a:latin typeface="Arial"/>
                <a:ea typeface="Calibri"/>
                <a:cs typeface="Calibri"/>
              </a:rPr>
              <a:t>p</a:t>
            </a:r>
            <a:r>
              <a:rPr lang="en-US" sz="2000" dirty="0">
                <a:latin typeface="Arial"/>
                <a:ea typeface="Calibri"/>
                <a:cs typeface="Calibri"/>
              </a:rPr>
              <a:t>&lt;0.001; 10mg vs 1mg, </a:t>
            </a:r>
            <a:r>
              <a:rPr lang="en-US" sz="2000" i="1" dirty="0">
                <a:latin typeface="Arial"/>
                <a:ea typeface="Calibri"/>
                <a:cs typeface="Calibri"/>
              </a:rPr>
              <a:t>p</a:t>
            </a:r>
            <a:r>
              <a:rPr lang="en-US" sz="2000" dirty="0">
                <a:latin typeface="Arial"/>
                <a:ea typeface="Calibri"/>
                <a:cs typeface="Calibri"/>
              </a:rPr>
              <a:t>=0.18</a:t>
            </a:r>
          </a:p>
          <a:p>
            <a:pPr lvl="1">
              <a:buFont typeface="Arial" panose="020B0604020202020204" pitchFamily="34" charset="0"/>
              <a:buChar char="•"/>
            </a:pPr>
            <a:r>
              <a:rPr lang="en-US" sz="2000" dirty="0">
                <a:latin typeface="Arial"/>
                <a:ea typeface="Calibri"/>
                <a:cs typeface="Calibri"/>
              </a:rPr>
              <a:t>Serious Adverse Events (SAEs)</a:t>
            </a:r>
            <a:r>
              <a:rPr lang="en-US" sz="2000" dirty="0">
                <a:latin typeface="Arial"/>
                <a:cs typeface="Calibri"/>
              </a:rPr>
              <a:t> in 25mg group: suicidal ideation (2), </a:t>
            </a:r>
            <a:r>
              <a:rPr lang="en-US" sz="2000" err="1">
                <a:latin typeface="Arial"/>
                <a:cs typeface="Calibri"/>
              </a:rPr>
              <a:t>nonsuicidal</a:t>
            </a:r>
            <a:r>
              <a:rPr lang="en-US" sz="2000" dirty="0">
                <a:latin typeface="Arial"/>
                <a:cs typeface="Calibri"/>
              </a:rPr>
              <a:t> self-injury (2)</a:t>
            </a:r>
            <a:endParaRPr lang="en-US" sz="2000" dirty="0">
              <a:latin typeface="Arial"/>
              <a:ea typeface="Calibri"/>
              <a:cs typeface="Calibri"/>
            </a:endParaRPr>
          </a:p>
          <a:p>
            <a:pPr lvl="1">
              <a:buFont typeface="Arial" panose="020B0604020202020204" pitchFamily="34" charset="0"/>
              <a:buChar char="•"/>
            </a:pPr>
            <a:r>
              <a:rPr lang="en-US" sz="2000" dirty="0">
                <a:latin typeface="Arial"/>
                <a:ea typeface="Calibri"/>
                <a:cs typeface="Calibri"/>
              </a:rPr>
              <a:t>SAEs in 10mg group: suicidal ideation (1), </a:t>
            </a:r>
            <a:r>
              <a:rPr lang="en-US" sz="2000" dirty="0" err="1">
                <a:latin typeface="Arial"/>
                <a:ea typeface="Calibri"/>
                <a:cs typeface="Calibri"/>
              </a:rPr>
              <a:t>nonsuicidal</a:t>
            </a:r>
            <a:r>
              <a:rPr lang="en-US" sz="2000" dirty="0">
                <a:latin typeface="Arial"/>
                <a:ea typeface="Calibri"/>
                <a:cs typeface="Calibri"/>
              </a:rPr>
              <a:t> self-injury (1), hospitalization for severe depression (1)</a:t>
            </a:r>
          </a:p>
          <a:p>
            <a:pPr lvl="1">
              <a:buFont typeface="Arial" panose="020B0604020202020204" pitchFamily="34" charset="0"/>
              <a:buChar char="•"/>
            </a:pPr>
            <a:r>
              <a:rPr lang="en-US" sz="2000" dirty="0">
                <a:latin typeface="Arial"/>
                <a:ea typeface="Calibri"/>
                <a:cs typeface="Calibri"/>
              </a:rPr>
              <a:t>SAEs in 1mg group: none</a:t>
            </a:r>
            <a:endParaRPr lang="en-US" sz="2000" dirty="0">
              <a:latin typeface="Arial"/>
              <a:cs typeface="Calibri"/>
            </a:endParaRPr>
          </a:p>
          <a:p>
            <a:pPr lvl="1">
              <a:buFont typeface="Arial" panose="020B0604020202020204" pitchFamily="34" charset="0"/>
              <a:buChar char="•"/>
            </a:pPr>
            <a:r>
              <a:rPr lang="en-US" sz="2000" dirty="0">
                <a:latin typeface="Arial"/>
                <a:ea typeface="Calibri"/>
                <a:cs typeface="Calibri"/>
              </a:rPr>
              <a:t>Blinding not assessed</a:t>
            </a:r>
            <a:endParaRPr lang="en-US" sz="2000" dirty="0">
              <a:latin typeface="Arial"/>
              <a:cs typeface="Calibri"/>
            </a:endParaRPr>
          </a:p>
          <a:p>
            <a:r>
              <a:rPr lang="en-US" dirty="0">
                <a:latin typeface="Arial"/>
                <a:cs typeface="Calibri"/>
              </a:rPr>
              <a:t>Raison et al., 2023 (n=104)</a:t>
            </a:r>
            <a:endParaRPr lang="en-US" dirty="0">
              <a:latin typeface="Arial"/>
              <a:ea typeface="Calibri"/>
              <a:cs typeface="Calibri"/>
            </a:endParaRPr>
          </a:p>
          <a:p>
            <a:pPr lvl="1">
              <a:buFont typeface="Arial" panose="020B0604020202020204" pitchFamily="34" charset="0"/>
              <a:buChar char="•"/>
            </a:pPr>
            <a:r>
              <a:rPr lang="en-US" sz="2000" dirty="0">
                <a:latin typeface="Arial"/>
                <a:cs typeface="Calibri"/>
              </a:rPr>
              <a:t>Psilocybin 25mg vs niacin + psychological support, </a:t>
            </a:r>
            <a:r>
              <a:rPr lang="en-US" sz="2000" i="1" dirty="0">
                <a:latin typeface="Arial"/>
                <a:cs typeface="Calibri"/>
              </a:rPr>
              <a:t>p</a:t>
            </a:r>
            <a:r>
              <a:rPr lang="en-US" sz="2000" dirty="0">
                <a:latin typeface="Arial"/>
                <a:cs typeface="Calibri"/>
              </a:rPr>
              <a:t>&lt;0.001</a:t>
            </a:r>
            <a:endParaRPr lang="en-US" sz="2000" dirty="0">
              <a:latin typeface="Arial"/>
              <a:ea typeface="Calibri"/>
              <a:cs typeface="Calibri"/>
            </a:endParaRPr>
          </a:p>
          <a:p>
            <a:pPr lvl="1">
              <a:buFont typeface="Arial" panose="020B0604020202020204" pitchFamily="34" charset="0"/>
              <a:buChar char="•"/>
            </a:pPr>
            <a:r>
              <a:rPr lang="en-US" sz="2000" dirty="0">
                <a:latin typeface="Arial"/>
                <a:ea typeface="Calibri"/>
                <a:cs typeface="Calibri"/>
              </a:rPr>
              <a:t>No treatment-emergent SAEs</a:t>
            </a:r>
          </a:p>
          <a:p>
            <a:pPr lvl="1">
              <a:buFont typeface="Arial" panose="020B0604020202020204" pitchFamily="34" charset="0"/>
              <a:buChar char="•"/>
            </a:pPr>
            <a:r>
              <a:rPr lang="en-US" sz="2000" dirty="0">
                <a:latin typeface="Arial"/>
                <a:ea typeface="Calibri"/>
                <a:cs typeface="Calibri"/>
              </a:rPr>
              <a:t>Blinding not assessed</a:t>
            </a:r>
          </a:p>
          <a:p>
            <a:pPr marL="0" indent="0">
              <a:buNone/>
            </a:pPr>
            <a:endParaRPr lang="en-US"/>
          </a:p>
        </p:txBody>
      </p:sp>
      <p:sp>
        <p:nvSpPr>
          <p:cNvPr id="3" name="Title 2">
            <a:extLst>
              <a:ext uri="{FF2B5EF4-FFF2-40B4-BE49-F238E27FC236}">
                <a16:creationId xmlns:a16="http://schemas.microsoft.com/office/drawing/2014/main" id="{1863D22A-9D1A-89E1-E4BF-7BD2E160DAEE}"/>
              </a:ext>
            </a:extLst>
          </p:cNvPr>
          <p:cNvSpPr>
            <a:spLocks noGrp="1"/>
          </p:cNvSpPr>
          <p:nvPr>
            <p:ph type="title"/>
          </p:nvPr>
        </p:nvSpPr>
        <p:spPr/>
        <p:txBody>
          <a:bodyPr lIns="91440" tIns="45720" rIns="91440" bIns="45720" anchor="ctr">
            <a:noAutofit/>
          </a:bodyPr>
          <a:lstStyle/>
          <a:p>
            <a:r>
              <a:rPr lang="en-US">
                <a:latin typeface="Arial"/>
                <a:cs typeface="Arial"/>
              </a:rPr>
              <a:t>Psilocybin Research Studies (continued)</a:t>
            </a:r>
            <a:endParaRPr lang="en-US"/>
          </a:p>
        </p:txBody>
      </p:sp>
      <p:sp>
        <p:nvSpPr>
          <p:cNvPr id="4" name="Slide Number Placeholder 3">
            <a:extLst>
              <a:ext uri="{FF2B5EF4-FFF2-40B4-BE49-F238E27FC236}">
                <a16:creationId xmlns:a16="http://schemas.microsoft.com/office/drawing/2014/main" id="{6A1C9ED8-407C-5B9A-C15B-0E0D8C751617}"/>
              </a:ext>
            </a:extLst>
          </p:cNvPr>
          <p:cNvSpPr>
            <a:spLocks noGrp="1"/>
          </p:cNvSpPr>
          <p:nvPr>
            <p:ph type="sldNum" sz="quarter" idx="4"/>
          </p:nvPr>
        </p:nvSpPr>
        <p:spPr/>
        <p:txBody>
          <a:bodyPr/>
          <a:lstStyle/>
          <a:p>
            <a:pPr defTabSz="457200"/>
            <a:fld id="{D983F1FA-211D-3044-9E35-958DFBC26156}" type="slidenum">
              <a:rPr lang="en-US" smtClean="0"/>
              <a:pPr defTabSz="457200"/>
              <a:t>12</a:t>
            </a:fld>
            <a:endParaRPr lang="en-US"/>
          </a:p>
        </p:txBody>
      </p:sp>
      <p:sp>
        <p:nvSpPr>
          <p:cNvPr id="5" name="Footer Placeholder 4">
            <a:extLst>
              <a:ext uri="{FF2B5EF4-FFF2-40B4-BE49-F238E27FC236}">
                <a16:creationId xmlns:a16="http://schemas.microsoft.com/office/drawing/2014/main" id="{8CF0FB77-AED2-09A6-1F19-821F187C7CC1}"/>
              </a:ext>
            </a:extLst>
          </p:cNvPr>
          <p:cNvSpPr>
            <a:spLocks noGrp="1"/>
          </p:cNvSpPr>
          <p:nvPr>
            <p:ph type="ftr" sz="quarter" idx="3"/>
          </p:nvPr>
        </p:nvSpPr>
        <p:spPr/>
        <p:txBody>
          <a:bodyPr/>
          <a:lstStyle/>
          <a:p>
            <a:pPr defTabSz="457200"/>
            <a:r>
              <a:rPr lang="en-US"/>
              <a:t>PRE-DECISIONAL</a:t>
            </a:r>
          </a:p>
        </p:txBody>
      </p:sp>
      <p:sp>
        <p:nvSpPr>
          <p:cNvPr id="7" name="TextBox 6">
            <a:extLst>
              <a:ext uri="{FF2B5EF4-FFF2-40B4-BE49-F238E27FC236}">
                <a16:creationId xmlns:a16="http://schemas.microsoft.com/office/drawing/2014/main" id="{2B496F80-3510-FCA0-47B3-AB10BBFE53A2}"/>
              </a:ext>
            </a:extLst>
          </p:cNvPr>
          <p:cNvSpPr txBox="1"/>
          <p:nvPr/>
        </p:nvSpPr>
        <p:spPr>
          <a:xfrm>
            <a:off x="88068" y="5876520"/>
            <a:ext cx="8806960" cy="28469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400" i="1" dirty="0">
                <a:solidFill>
                  <a:srgbClr val="000000"/>
                </a:solidFill>
                <a:latin typeface="Calibri" panose="020F0502020204030204"/>
                <a:ea typeface="Calibri"/>
                <a:cs typeface="Calibri" panose="020F0502020204030204"/>
              </a:rPr>
              <a:t>Full references in Notes</a:t>
            </a:r>
          </a:p>
        </p:txBody>
      </p:sp>
    </p:spTree>
    <p:extLst>
      <p:ext uri="{BB962C8B-B14F-4D97-AF65-F5344CB8AC3E}">
        <p14:creationId xmlns:p14="http://schemas.microsoft.com/office/powerpoint/2010/main" val="3301470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05A6-A1BF-F4C6-D465-9DD9AD3F982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6460098-2FCC-5F6A-9B2D-EDBB90B2F0B9}"/>
              </a:ext>
            </a:extLst>
          </p:cNvPr>
          <p:cNvSpPr>
            <a:spLocks noGrp="1"/>
          </p:cNvSpPr>
          <p:nvPr>
            <p:ph type="body" sz="quarter" idx="10"/>
          </p:nvPr>
        </p:nvSpPr>
        <p:spPr/>
        <p:txBody>
          <a:bodyPr lIns="91440" tIns="45720" rIns="91440" bIns="45720" anchor="t"/>
          <a:lstStyle/>
          <a:p>
            <a:r>
              <a:rPr lang="en-US">
                <a:latin typeface="Arial"/>
                <a:cs typeface="Calibri"/>
              </a:rPr>
              <a:t>Two Phase III trials of psilocybin + psychological support for Major Depressive Disorder (MDD) or Treatment-Resistant Depression (TRD) are ongoing, including one trial with 5 VA sites</a:t>
            </a:r>
            <a:endParaRPr lang="en-US">
              <a:latin typeface="Arial"/>
              <a:ea typeface="Calibri"/>
              <a:cs typeface="Calibri"/>
            </a:endParaRPr>
          </a:p>
          <a:p>
            <a:r>
              <a:rPr lang="en-US">
                <a:ea typeface="Calibri"/>
                <a:cs typeface="Calibri"/>
              </a:rPr>
              <a:t>Functional unblinding and expectancy are also key concerns for psilocybin </a:t>
            </a:r>
          </a:p>
          <a:p>
            <a:r>
              <a:rPr lang="en-US">
                <a:ea typeface="Calibri"/>
                <a:cs typeface="Calibri"/>
              </a:rPr>
              <a:t>No agreed upon standard for psychotherapy framework/psychological support</a:t>
            </a:r>
          </a:p>
          <a:p>
            <a:r>
              <a:rPr lang="en-US">
                <a:ea typeface="Calibri"/>
                <a:cs typeface="Calibri"/>
              </a:rPr>
              <a:t>Psilocybin RCTs have also shown preliminary promise for alcohol use disorder, cancer-related anxiety/palliative care, and headache disorders</a:t>
            </a:r>
          </a:p>
          <a:p>
            <a:pPr marL="0" indent="0">
              <a:buNone/>
            </a:pPr>
            <a:endParaRPr lang="en-US"/>
          </a:p>
        </p:txBody>
      </p:sp>
      <p:sp>
        <p:nvSpPr>
          <p:cNvPr id="3" name="Title 2">
            <a:extLst>
              <a:ext uri="{FF2B5EF4-FFF2-40B4-BE49-F238E27FC236}">
                <a16:creationId xmlns:a16="http://schemas.microsoft.com/office/drawing/2014/main" id="{50DD5276-72EC-F800-4F46-E7036B27D3BB}"/>
              </a:ext>
            </a:extLst>
          </p:cNvPr>
          <p:cNvSpPr>
            <a:spLocks noGrp="1"/>
          </p:cNvSpPr>
          <p:nvPr>
            <p:ph type="title"/>
          </p:nvPr>
        </p:nvSpPr>
        <p:spPr/>
        <p:txBody>
          <a:bodyPr lIns="91440" tIns="45720" rIns="91440" bIns="45720" anchor="ctr">
            <a:noAutofit/>
          </a:bodyPr>
          <a:lstStyle/>
          <a:p>
            <a:r>
              <a:rPr lang="en-US">
                <a:latin typeface="Arial"/>
                <a:cs typeface="Arial"/>
              </a:rPr>
              <a:t>Psilocybin Research Studies (continued)</a:t>
            </a:r>
            <a:endParaRPr lang="en-US"/>
          </a:p>
        </p:txBody>
      </p:sp>
      <p:sp>
        <p:nvSpPr>
          <p:cNvPr id="4" name="Slide Number Placeholder 3">
            <a:extLst>
              <a:ext uri="{FF2B5EF4-FFF2-40B4-BE49-F238E27FC236}">
                <a16:creationId xmlns:a16="http://schemas.microsoft.com/office/drawing/2014/main" id="{58BB5978-2B2F-6CB6-493A-BD0CF9A683C6}"/>
              </a:ext>
            </a:extLst>
          </p:cNvPr>
          <p:cNvSpPr>
            <a:spLocks noGrp="1"/>
          </p:cNvSpPr>
          <p:nvPr>
            <p:ph type="sldNum" sz="quarter" idx="4"/>
          </p:nvPr>
        </p:nvSpPr>
        <p:spPr/>
        <p:txBody>
          <a:bodyPr/>
          <a:lstStyle/>
          <a:p>
            <a:pPr defTabSz="457200"/>
            <a:fld id="{D983F1FA-211D-3044-9E35-958DFBC26156}" type="slidenum">
              <a:rPr lang="en-US" smtClean="0"/>
              <a:pPr defTabSz="457200"/>
              <a:t>13</a:t>
            </a:fld>
            <a:endParaRPr lang="en-US"/>
          </a:p>
        </p:txBody>
      </p:sp>
      <p:sp>
        <p:nvSpPr>
          <p:cNvPr id="5" name="Footer Placeholder 4">
            <a:extLst>
              <a:ext uri="{FF2B5EF4-FFF2-40B4-BE49-F238E27FC236}">
                <a16:creationId xmlns:a16="http://schemas.microsoft.com/office/drawing/2014/main" id="{8124EDF3-78C1-E28A-2551-9A5160F445FF}"/>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1436605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8482F-4C11-547A-BB2F-160FE5740C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BBEC26-0994-72C3-297C-47B8AD280A5E}"/>
              </a:ext>
            </a:extLst>
          </p:cNvPr>
          <p:cNvSpPr>
            <a:spLocks noGrp="1"/>
          </p:cNvSpPr>
          <p:nvPr>
            <p:ph type="body" sz="quarter" idx="10"/>
          </p:nvPr>
        </p:nvSpPr>
        <p:spPr/>
        <p:txBody>
          <a:bodyPr lIns="91440" tIns="45720" rIns="91440" bIns="45720" anchor="t"/>
          <a:lstStyle/>
          <a:p>
            <a:pPr lvl="0"/>
            <a:r>
              <a:rPr lang="en-US" sz="2400">
                <a:latin typeface="Arial"/>
                <a:cs typeface="Arial"/>
              </a:rPr>
              <a:t>FDA granted Breakthrough Therapy designation in 2024 to LSD d-tartrate (MM-120; Mind Medicine) for the treatment of generalized anxiety disorder (GAD)</a:t>
            </a:r>
            <a:endParaRPr lang="en-US" sz="2400">
              <a:latin typeface="Arial"/>
              <a:ea typeface="Calibri"/>
              <a:cs typeface="Arial"/>
            </a:endParaRPr>
          </a:p>
          <a:p>
            <a:pPr lvl="0"/>
            <a:r>
              <a:rPr lang="en-US" sz="2400">
                <a:latin typeface="Arial"/>
                <a:cs typeface="Arial"/>
              </a:rPr>
              <a:t>Clinical trials ongoing for GAD and other indications (depression, alcohol use disorder, cluster headache, palliative care, others)</a:t>
            </a:r>
            <a:endParaRPr lang="en-US" sz="2400">
              <a:latin typeface="Arial"/>
              <a:ea typeface="Calibri"/>
              <a:cs typeface="Arial"/>
            </a:endParaRPr>
          </a:p>
          <a:p>
            <a:r>
              <a:rPr lang="en-US" sz="2400">
                <a:latin typeface="Arial"/>
                <a:cs typeface="Arial"/>
              </a:rPr>
              <a:t>Shows promise as a treatment for various mental health conditions, including depression, anxiety, and addiction.</a:t>
            </a:r>
            <a:endParaRPr lang="en-US" sz="2400">
              <a:latin typeface="Arial"/>
              <a:ea typeface="Calibri"/>
              <a:cs typeface="Arial"/>
            </a:endParaRPr>
          </a:p>
          <a:p>
            <a:r>
              <a:rPr lang="en-US" sz="2400">
                <a:latin typeface="Arial"/>
                <a:cs typeface="Arial"/>
              </a:rPr>
              <a:t>Currently, 5 active interventional studies in the US, all with status of “recruiting” for MDD and GAD (1</a:t>
            </a:r>
            <a:r>
              <a:rPr lang="en-US" sz="2400">
                <a:latin typeface="Arial"/>
                <a:ea typeface="Calibri"/>
                <a:cs typeface="Calibri"/>
              </a:rPr>
              <a:t> study ongoing at VA)</a:t>
            </a:r>
          </a:p>
          <a:p>
            <a:pPr marL="0" indent="0">
              <a:buNone/>
            </a:pPr>
            <a:endParaRPr lang="en-US"/>
          </a:p>
        </p:txBody>
      </p:sp>
      <p:sp>
        <p:nvSpPr>
          <p:cNvPr id="3" name="Title 2">
            <a:extLst>
              <a:ext uri="{FF2B5EF4-FFF2-40B4-BE49-F238E27FC236}">
                <a16:creationId xmlns:a16="http://schemas.microsoft.com/office/drawing/2014/main" id="{5160641C-9295-F23B-2E11-D666B4B0C8BB}"/>
              </a:ext>
            </a:extLst>
          </p:cNvPr>
          <p:cNvSpPr>
            <a:spLocks noGrp="1"/>
          </p:cNvSpPr>
          <p:nvPr>
            <p:ph type="title"/>
          </p:nvPr>
        </p:nvSpPr>
        <p:spPr/>
        <p:txBody>
          <a:bodyPr/>
          <a:lstStyle/>
          <a:p>
            <a:r>
              <a:rPr lang="en-US"/>
              <a:t>Lysergic acid diethylamide (LSD)</a:t>
            </a:r>
          </a:p>
        </p:txBody>
      </p:sp>
      <p:sp>
        <p:nvSpPr>
          <p:cNvPr id="4" name="Slide Number Placeholder 3">
            <a:extLst>
              <a:ext uri="{FF2B5EF4-FFF2-40B4-BE49-F238E27FC236}">
                <a16:creationId xmlns:a16="http://schemas.microsoft.com/office/drawing/2014/main" id="{EDE04384-BC07-3ACE-F3F6-113C799A0DF1}"/>
              </a:ext>
            </a:extLst>
          </p:cNvPr>
          <p:cNvSpPr>
            <a:spLocks noGrp="1"/>
          </p:cNvSpPr>
          <p:nvPr>
            <p:ph type="sldNum" sz="quarter" idx="4"/>
          </p:nvPr>
        </p:nvSpPr>
        <p:spPr/>
        <p:txBody>
          <a:bodyPr/>
          <a:lstStyle/>
          <a:p>
            <a:pPr defTabSz="457200"/>
            <a:fld id="{D983F1FA-211D-3044-9E35-958DFBC26156}" type="slidenum">
              <a:rPr lang="en-US" smtClean="0"/>
              <a:pPr defTabSz="457200"/>
              <a:t>14</a:t>
            </a:fld>
            <a:endParaRPr lang="en-US"/>
          </a:p>
        </p:txBody>
      </p:sp>
      <p:sp>
        <p:nvSpPr>
          <p:cNvPr id="5" name="Footer Placeholder 4">
            <a:extLst>
              <a:ext uri="{FF2B5EF4-FFF2-40B4-BE49-F238E27FC236}">
                <a16:creationId xmlns:a16="http://schemas.microsoft.com/office/drawing/2014/main" id="{E439BCB6-833D-477E-31A8-971DC7790A6C}"/>
              </a:ext>
            </a:extLst>
          </p:cNvPr>
          <p:cNvSpPr>
            <a:spLocks noGrp="1"/>
          </p:cNvSpPr>
          <p:nvPr>
            <p:ph type="ftr" sz="quarter" idx="3"/>
          </p:nvPr>
        </p:nvSpPr>
        <p:spPr/>
        <p:txBody>
          <a:bodyPr/>
          <a:lstStyle/>
          <a:p>
            <a:pPr defTabSz="457200"/>
            <a:r>
              <a:rPr lang="en-US"/>
              <a:t>PRE-DECISIONAL</a:t>
            </a:r>
          </a:p>
        </p:txBody>
      </p:sp>
    </p:spTree>
    <p:extLst>
      <p:ext uri="{BB962C8B-B14F-4D97-AF65-F5344CB8AC3E}">
        <p14:creationId xmlns:p14="http://schemas.microsoft.com/office/powerpoint/2010/main" val="3390568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8FF28-384D-6529-FD07-9F3814611B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1602AB-D7EE-27B9-FE7A-7EA6F3270436}"/>
              </a:ext>
            </a:extLst>
          </p:cNvPr>
          <p:cNvSpPr>
            <a:spLocks noGrp="1"/>
          </p:cNvSpPr>
          <p:nvPr>
            <p:ph type="body" sz="quarter" idx="10"/>
          </p:nvPr>
        </p:nvSpPr>
        <p:spPr/>
        <p:txBody>
          <a:bodyPr lIns="91440" tIns="45720" rIns="91440" bIns="45720" anchor="t"/>
          <a:lstStyle/>
          <a:p>
            <a:r>
              <a:rPr lang="en-US" sz="1800" dirty="0">
                <a:latin typeface="Arial"/>
                <a:cs typeface="Arial"/>
              </a:rPr>
              <a:t>Shows promise for treating opioid use disorder (previous patent for this indication, now expired) by reducing withdrawal symptoms and cravings</a:t>
            </a:r>
            <a:endParaRPr lang="en-US" sz="1800" dirty="0">
              <a:latin typeface="Arial"/>
              <a:ea typeface="Calibri"/>
              <a:cs typeface="Arial"/>
            </a:endParaRPr>
          </a:p>
          <a:p>
            <a:pPr lvl="1"/>
            <a:r>
              <a:rPr lang="en-US" sz="1600" dirty="0">
                <a:solidFill>
                  <a:srgbClr val="000000"/>
                </a:solidFill>
                <a:latin typeface="Arial"/>
                <a:cs typeface="Arial"/>
              </a:rPr>
              <a:t>Studies have shown longer term abstinence (up to 12 months) following a single dose of ibogaine (Noller et al 2018)</a:t>
            </a:r>
            <a:endParaRPr lang="en-US" dirty="0"/>
          </a:p>
          <a:p>
            <a:r>
              <a:rPr lang="en-US" sz="1800" dirty="0">
                <a:latin typeface="Arial"/>
                <a:cs typeface="Arial"/>
              </a:rPr>
              <a:t>Open-label observational studies in Veterans with traumatic brain injury (TBI) and PTSD (received treatment outside U.S.) </a:t>
            </a:r>
            <a:endParaRPr lang="en-US" sz="1800">
              <a:latin typeface="Arial"/>
              <a:ea typeface="Calibri"/>
              <a:cs typeface="Arial"/>
            </a:endParaRPr>
          </a:p>
          <a:p>
            <a:pPr lvl="1"/>
            <a:r>
              <a:rPr lang="en-US" dirty="0">
                <a:latin typeface="Arial"/>
                <a:cs typeface="Arial"/>
              </a:rPr>
              <a:t>In 30 male special operations forces veterans with TBI, magnesium-ibogaine therapy resulted in significant improvements in functioning both immediately and at 1 month as well as significant improvements on PTSD, depression and anxiety at 1 month after treatments (Cherian 2024)</a:t>
            </a:r>
          </a:p>
          <a:p>
            <a:r>
              <a:rPr lang="en-US" sz="1800" dirty="0">
                <a:latin typeface="Arial"/>
                <a:cs typeface="Arial"/>
              </a:rPr>
              <a:t>Safety concerns including cardiotoxicity and seizures, may be mitigated by dosing with magnesium</a:t>
            </a:r>
          </a:p>
          <a:p>
            <a:pPr lvl="0"/>
            <a:r>
              <a:rPr lang="en-US" sz="1800" dirty="0">
                <a:latin typeface="Arial"/>
                <a:cs typeface="Arial"/>
              </a:rPr>
              <a:t>Recent state-level legislation for research (Texas $50 million bill to support research).</a:t>
            </a:r>
            <a:endParaRPr lang="en-US" sz="1800">
              <a:latin typeface="Arial"/>
              <a:ea typeface="Calibri"/>
              <a:cs typeface="Arial"/>
            </a:endParaRPr>
          </a:p>
          <a:p>
            <a:r>
              <a:rPr lang="en-US" sz="1800" dirty="0">
                <a:latin typeface="Arial"/>
                <a:cs typeface="Arial"/>
              </a:rPr>
              <a:t>Currently, no active interventional studies in the US. </a:t>
            </a:r>
            <a:endParaRPr lang="en-US" sz="1800">
              <a:latin typeface="Arial"/>
              <a:ea typeface="Calibri"/>
              <a:cs typeface="Arial"/>
            </a:endParaRPr>
          </a:p>
          <a:p>
            <a:pPr marL="0" indent="0">
              <a:buNone/>
            </a:pPr>
            <a:endParaRPr lang="en-US" sz="1800" dirty="0"/>
          </a:p>
        </p:txBody>
      </p:sp>
      <p:sp>
        <p:nvSpPr>
          <p:cNvPr id="3" name="Title 2">
            <a:extLst>
              <a:ext uri="{FF2B5EF4-FFF2-40B4-BE49-F238E27FC236}">
                <a16:creationId xmlns:a16="http://schemas.microsoft.com/office/drawing/2014/main" id="{58BC68A7-B3E5-A16E-6AB2-F78FF240EDDB}"/>
              </a:ext>
            </a:extLst>
          </p:cNvPr>
          <p:cNvSpPr>
            <a:spLocks noGrp="1"/>
          </p:cNvSpPr>
          <p:nvPr>
            <p:ph type="title"/>
          </p:nvPr>
        </p:nvSpPr>
        <p:spPr/>
        <p:txBody>
          <a:bodyPr/>
          <a:lstStyle/>
          <a:p>
            <a:r>
              <a:rPr lang="en-US"/>
              <a:t>Ibogaine </a:t>
            </a:r>
          </a:p>
        </p:txBody>
      </p:sp>
      <p:sp>
        <p:nvSpPr>
          <p:cNvPr id="4" name="Slide Number Placeholder 3">
            <a:extLst>
              <a:ext uri="{FF2B5EF4-FFF2-40B4-BE49-F238E27FC236}">
                <a16:creationId xmlns:a16="http://schemas.microsoft.com/office/drawing/2014/main" id="{950732D0-C28E-1BF7-967C-22623914D0C7}"/>
              </a:ext>
            </a:extLst>
          </p:cNvPr>
          <p:cNvSpPr>
            <a:spLocks noGrp="1"/>
          </p:cNvSpPr>
          <p:nvPr>
            <p:ph type="sldNum" sz="quarter" idx="4"/>
          </p:nvPr>
        </p:nvSpPr>
        <p:spPr/>
        <p:txBody>
          <a:bodyPr/>
          <a:lstStyle/>
          <a:p>
            <a:pPr defTabSz="457200"/>
            <a:fld id="{D983F1FA-211D-3044-9E35-958DFBC26156}" type="slidenum">
              <a:rPr lang="en-US" smtClean="0"/>
              <a:pPr defTabSz="457200"/>
              <a:t>15</a:t>
            </a:fld>
            <a:endParaRPr lang="en-US"/>
          </a:p>
        </p:txBody>
      </p:sp>
      <p:sp>
        <p:nvSpPr>
          <p:cNvPr id="5" name="Footer Placeholder 4">
            <a:extLst>
              <a:ext uri="{FF2B5EF4-FFF2-40B4-BE49-F238E27FC236}">
                <a16:creationId xmlns:a16="http://schemas.microsoft.com/office/drawing/2014/main" id="{259BC10D-86AC-15FC-92D8-395E09482BC3}"/>
              </a:ext>
            </a:extLst>
          </p:cNvPr>
          <p:cNvSpPr>
            <a:spLocks noGrp="1"/>
          </p:cNvSpPr>
          <p:nvPr>
            <p:ph type="ftr" sz="quarter" idx="3"/>
          </p:nvPr>
        </p:nvSpPr>
        <p:spPr/>
        <p:txBody>
          <a:bodyPr/>
          <a:lstStyle/>
          <a:p>
            <a:pPr defTabSz="457200"/>
            <a:r>
              <a:rPr lang="en-US"/>
              <a:t>PRE-DECISIONAL</a:t>
            </a:r>
          </a:p>
        </p:txBody>
      </p:sp>
      <p:sp>
        <p:nvSpPr>
          <p:cNvPr id="7" name="TextBox 6">
            <a:extLst>
              <a:ext uri="{FF2B5EF4-FFF2-40B4-BE49-F238E27FC236}">
                <a16:creationId xmlns:a16="http://schemas.microsoft.com/office/drawing/2014/main" id="{A00EDCEA-3A8C-D10E-3BF9-73C6DBC0F28E}"/>
              </a:ext>
            </a:extLst>
          </p:cNvPr>
          <p:cNvSpPr txBox="1"/>
          <p:nvPr/>
        </p:nvSpPr>
        <p:spPr>
          <a:xfrm>
            <a:off x="88068" y="5876520"/>
            <a:ext cx="8806960" cy="28469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400" i="1" dirty="0">
                <a:solidFill>
                  <a:srgbClr val="000000"/>
                </a:solidFill>
                <a:latin typeface="Calibri" panose="020F0502020204030204"/>
                <a:ea typeface="Calibri"/>
                <a:cs typeface="Calibri" panose="020F0502020204030204"/>
              </a:rPr>
              <a:t>Full references in Notes</a:t>
            </a:r>
          </a:p>
        </p:txBody>
      </p:sp>
    </p:spTree>
    <p:extLst>
      <p:ext uri="{BB962C8B-B14F-4D97-AF65-F5344CB8AC3E}">
        <p14:creationId xmlns:p14="http://schemas.microsoft.com/office/powerpoint/2010/main" val="1716733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F0280-FAE2-2973-BB05-4BE398A7157A}"/>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Psychedelic Research in the Veteran Population</a:t>
            </a:r>
          </a:p>
        </p:txBody>
      </p:sp>
      <p:sp>
        <p:nvSpPr>
          <p:cNvPr id="3" name="Slide Number Placeholder 2">
            <a:extLst>
              <a:ext uri="{FF2B5EF4-FFF2-40B4-BE49-F238E27FC236}">
                <a16:creationId xmlns:a16="http://schemas.microsoft.com/office/drawing/2014/main" id="{2DFB7B8C-8DA9-CDE9-3A6A-6E8982E2AF06}"/>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16</a:t>
            </a:fld>
            <a:endParaRPr lang="en-US" sz="900">
              <a:solidFill>
                <a:prstClr val="black">
                  <a:tint val="75000"/>
                </a:prstClr>
              </a:solidFill>
              <a:latin typeface="Calibri" panose="020F0502020204030204"/>
              <a:cs typeface="+mn-cs"/>
            </a:endParaRPr>
          </a:p>
        </p:txBody>
      </p:sp>
      <p:sp>
        <p:nvSpPr>
          <p:cNvPr id="6" name="TextBox 5">
            <a:extLst>
              <a:ext uri="{FF2B5EF4-FFF2-40B4-BE49-F238E27FC236}">
                <a16:creationId xmlns:a16="http://schemas.microsoft.com/office/drawing/2014/main" id="{62B1A84F-888D-7A9E-B139-9E28808ABA74}"/>
              </a:ext>
            </a:extLst>
          </p:cNvPr>
          <p:cNvSpPr txBox="1"/>
          <p:nvPr/>
        </p:nvSpPr>
        <p:spPr>
          <a:xfrm>
            <a:off x="116901" y="775579"/>
            <a:ext cx="8251086" cy="6547946"/>
          </a:xfrm>
          <a:prstGeom prst="rect">
            <a:avLst/>
          </a:prstGeom>
          <a:noFill/>
        </p:spPr>
        <p:txBody>
          <a:bodyPr wrap="square">
            <a:spAutoFit/>
          </a:bodyPr>
          <a:lstStyle/>
          <a:p>
            <a:r>
              <a:rPr lang="en-US" sz="2000" b="1">
                <a:solidFill>
                  <a:srgbClr val="002F56"/>
                </a:solidFill>
                <a:latin typeface="Arial" panose="020B0604020202020204" pitchFamily="34" charset="0"/>
                <a:ea typeface="Times New Roman" panose="02020603050405020304" pitchFamily="18" charset="0"/>
                <a:cs typeface="Arial" panose="020B0604020202020204" pitchFamily="34" charset="0"/>
              </a:rPr>
              <a:t>It is critical to validate findings in the Veteran population</a:t>
            </a:r>
          </a:p>
          <a:p>
            <a:endParaRPr lang="en-US" sz="2000" b="1">
              <a:solidFill>
                <a:srgbClr val="002F56"/>
              </a:solidFill>
              <a:latin typeface="Arial" panose="020B0604020202020204" pitchFamily="34" charset="0"/>
              <a:ea typeface="Times New Roman" panose="02020603050405020304" pitchFamily="18" charset="0"/>
              <a:cs typeface="Arial" panose="020B0604020202020204" pitchFamily="34" charset="0"/>
            </a:endParaRPr>
          </a:p>
          <a:p>
            <a:pPr marL="257175" indent="-257175">
              <a:buFont typeface="Arial" panose="020B0604020202020204" pitchFamily="34" charset="0"/>
              <a:buChar char="•"/>
            </a:pPr>
            <a:r>
              <a:rPr lang="en-US" sz="2000">
                <a:latin typeface="Arial" panose="020B0604020202020204" pitchFamily="34" charset="0"/>
                <a:ea typeface="Tahoma" panose="020B0604030504040204" pitchFamily="34" charset="0"/>
                <a:cs typeface="Arial" panose="020B0604020202020204" pitchFamily="34" charset="0"/>
              </a:rPr>
              <a:t>VA is committed to safely exploring all avenues that promote the health of our Nation’s Veterans </a:t>
            </a:r>
            <a:endParaRPr lang="en-US" sz="2000">
              <a:solidFill>
                <a:srgbClr val="212121"/>
              </a:solidFill>
              <a:latin typeface="Arial" panose="020B0604020202020204" pitchFamily="34" charset="0"/>
              <a:ea typeface="Tahoma" panose="020B0604030504040204" pitchFamily="34" charset="0"/>
              <a:cs typeface="Arial" panose="020B0604020202020204" pitchFamily="34" charset="0"/>
            </a:endParaRPr>
          </a:p>
          <a:p>
            <a:pPr marL="257175" indent="-257175">
              <a:buFont typeface="Arial" panose="020B0604020202020204" pitchFamily="34" charset="0"/>
              <a:buChar char="•"/>
            </a:pPr>
            <a:r>
              <a:rPr lang="en-US" sz="2000">
                <a:solidFill>
                  <a:srgbClr val="212121"/>
                </a:solidFill>
                <a:latin typeface="Arial" panose="020B0604020202020204" pitchFamily="34" charset="0"/>
                <a:ea typeface="Tahoma" panose="020B0604030504040204" pitchFamily="34" charset="0"/>
                <a:cs typeface="Arial" panose="020B0604020202020204" pitchFamily="34" charset="0"/>
              </a:rPr>
              <a:t>Veterans often have more complex mental health disorders and treatment needs than the general population.</a:t>
            </a:r>
          </a:p>
          <a:p>
            <a:pPr marL="257175" indent="-257175">
              <a:buFont typeface="Arial" panose="020B0604020202020204" pitchFamily="34" charset="0"/>
              <a:buChar char="•"/>
            </a:pPr>
            <a:r>
              <a:rPr lang="en-US" sz="2000">
                <a:solidFill>
                  <a:srgbClr val="212121"/>
                </a:solidFill>
                <a:latin typeface="Arial" panose="020B0604020202020204" pitchFamily="34" charset="0"/>
                <a:ea typeface="Tahoma" panose="020B0604030504040204" pitchFamily="34" charset="0"/>
                <a:cs typeface="Arial" panose="020B0604020202020204" pitchFamily="34" charset="0"/>
              </a:rPr>
              <a:t>S</a:t>
            </a:r>
            <a:r>
              <a:rPr lang="en-US" sz="2000">
                <a:latin typeface="Arial" panose="020B0604020202020204" pitchFamily="34" charset="0"/>
                <a:ea typeface="Times New Roman" panose="02020603050405020304" pitchFamily="18" charset="0"/>
                <a:cs typeface="Arial" panose="020B0604020202020204" pitchFamily="34" charset="0"/>
              </a:rPr>
              <a:t>ome treatments for PTSD and depression that have proven effective in the general population have subsequently been found to be ineffective or less effective in the Veteran population</a:t>
            </a:r>
          </a:p>
          <a:p>
            <a:endParaRPr lang="en-US" sz="2000">
              <a:latin typeface="Arial" panose="020B0604020202020204" pitchFamily="34" charset="0"/>
              <a:ea typeface="Times New Roman" panose="02020603050405020304" pitchFamily="18" charset="0"/>
              <a:cs typeface="Arial" panose="020B0604020202020204" pitchFamily="34" charset="0"/>
            </a:endParaRPr>
          </a:p>
          <a:p>
            <a:r>
              <a:rPr lang="en-US" sz="2000" b="1">
                <a:solidFill>
                  <a:srgbClr val="002F56"/>
                </a:solidFill>
                <a:latin typeface="Arial" panose="020B0604020202020204" pitchFamily="34" charset="0"/>
                <a:ea typeface="Times New Roman" panose="02020603050405020304" pitchFamily="18" charset="0"/>
                <a:cs typeface="Arial" panose="020B0604020202020204" pitchFamily="34" charset="0"/>
              </a:rPr>
              <a:t>Methodological and Implementation Considerations</a:t>
            </a:r>
          </a:p>
          <a:p>
            <a:endParaRPr lang="en-US" sz="2000" b="1">
              <a:solidFill>
                <a:srgbClr val="002F56"/>
              </a:solidFill>
              <a:latin typeface="Arial" panose="020B0604020202020204" pitchFamily="34" charset="0"/>
              <a:ea typeface="Times New Roman" panose="02020603050405020304" pitchFamily="18" charset="0"/>
              <a:cs typeface="Arial" panose="020B0604020202020204" pitchFamily="34" charset="0"/>
            </a:endParaRPr>
          </a:p>
          <a:p>
            <a:pPr marL="257175" indent="-257175">
              <a:buFont typeface="Arial" panose="020B0604020202020204" pitchFamily="34" charset="0"/>
              <a:buChar char="•"/>
            </a:pPr>
            <a:r>
              <a:rPr lang="en-US" sz="2000">
                <a:latin typeface="Arial" panose="020B0604020202020204" pitchFamily="34" charset="0"/>
                <a:ea typeface="Times New Roman" panose="02020603050405020304" pitchFamily="18" charset="0"/>
                <a:cs typeface="Arial" panose="020B0604020202020204" pitchFamily="34" charset="0"/>
              </a:rPr>
              <a:t>Functional unblinding due to psychoactive effects of these compounds</a:t>
            </a:r>
          </a:p>
          <a:p>
            <a:pPr marL="257175" indent="-257175">
              <a:buFont typeface="Arial" panose="020B0604020202020204" pitchFamily="34" charset="0"/>
              <a:buChar char="•"/>
            </a:pPr>
            <a:r>
              <a:rPr lang="en-US" sz="2000">
                <a:latin typeface="Arial" panose="020B0604020202020204" pitchFamily="34" charset="0"/>
                <a:ea typeface="Times New Roman" panose="02020603050405020304" pitchFamily="18" charset="0"/>
                <a:cs typeface="Arial" panose="020B0604020202020204" pitchFamily="34" charset="0"/>
              </a:rPr>
              <a:t>Treatment protocols vary across studies and are very different from current standard clinical workflows – space redesign, clinician time, training, etc.</a:t>
            </a:r>
          </a:p>
          <a:p>
            <a:endParaRPr lang="en-US" sz="1500">
              <a:latin typeface="Arial" panose="020B0604020202020204" pitchFamily="34" charset="0"/>
              <a:ea typeface="Times New Roman" panose="02020603050405020304" pitchFamily="18" charset="0"/>
              <a:cs typeface="Arial" panose="020B0604020202020204" pitchFamily="34" charset="0"/>
            </a:endParaRPr>
          </a:p>
          <a:p>
            <a:endParaRPr lang="en-US" sz="1500">
              <a:latin typeface="Arial" panose="020B0604020202020204" pitchFamily="34" charset="0"/>
              <a:ea typeface="Times New Roman" panose="02020603050405020304" pitchFamily="18" charset="0"/>
              <a:cs typeface="Arial" panose="020B0604020202020204" pitchFamily="34" charset="0"/>
            </a:endParaRPr>
          </a:p>
          <a:p>
            <a:pPr algn="ctr"/>
            <a:endParaRPr lang="en-US" sz="1650" b="1">
              <a:solidFill>
                <a:srgbClr val="002F56"/>
              </a:solidFill>
              <a:latin typeface="Arial" panose="020B0604020202020204" pitchFamily="34" charset="0"/>
              <a:ea typeface="Times New Roman" panose="02020603050405020304" pitchFamily="18" charset="0"/>
              <a:cs typeface="Arial" panose="020B0604020202020204" pitchFamily="34" charset="0"/>
            </a:endParaRPr>
          </a:p>
          <a:p>
            <a:pPr algn="ctr"/>
            <a:endParaRPr lang="en-US" sz="1500">
              <a:solidFill>
                <a:srgbClr val="212121"/>
              </a:solidFill>
              <a:latin typeface="Tahoma" panose="020B0604030504040204" pitchFamily="34" charset="0"/>
              <a:ea typeface="Tahoma" panose="020B0604030504040204" pitchFamily="34" charset="0"/>
              <a:cs typeface="Tahoma" panose="020B0604030504040204" pitchFamily="34" charset="0"/>
            </a:endParaRPr>
          </a:p>
          <a:p>
            <a:endParaRPr lang="en-US">
              <a:solidFill>
                <a:srgbClr val="21212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E0B28D44-6400-D199-5CED-FEC65D1BBB58}"/>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spTree>
    <p:extLst>
      <p:ext uri="{BB962C8B-B14F-4D97-AF65-F5344CB8AC3E}">
        <p14:creationId xmlns:p14="http://schemas.microsoft.com/office/powerpoint/2010/main" val="2952070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3CABF7-0607-4751-96D0-E472D4F068EF}"/>
              </a:ext>
            </a:extLst>
          </p:cNvPr>
          <p:cNvSpPr>
            <a:spLocks noGrp="1"/>
          </p:cNvSpPr>
          <p:nvPr>
            <p:ph type="sldNum" sz="quarter" idx="12"/>
          </p:nvPr>
        </p:nvSpPr>
        <p:spPr/>
        <p:txBody>
          <a:bodyPr/>
          <a:lstStyle/>
          <a:p>
            <a:pPr defTabSz="685800">
              <a:defRPr/>
            </a:pPr>
            <a:fld id="{670A9334-4E67-F94F-A05E-0CE8B74A054E}" type="slidenum">
              <a:rPr lang="en-US" sz="900" smtClean="0">
                <a:solidFill>
                  <a:prstClr val="black">
                    <a:tint val="75000"/>
                  </a:prstClr>
                </a:solidFill>
                <a:latin typeface="Calibri" panose="020F0502020204030204"/>
                <a:cs typeface="+mn-cs"/>
              </a:rPr>
              <a:pPr defTabSz="685800">
                <a:defRPr/>
              </a:pPr>
              <a:t>17</a:t>
            </a:fld>
            <a:endParaRPr lang="en-US" sz="900">
              <a:solidFill>
                <a:prstClr val="black">
                  <a:tint val="75000"/>
                </a:prstClr>
              </a:solidFill>
              <a:latin typeface="Calibri" panose="020F0502020204030204"/>
              <a:cs typeface="+mn-cs"/>
            </a:endParaRPr>
          </a:p>
        </p:txBody>
      </p:sp>
      <p:sp>
        <p:nvSpPr>
          <p:cNvPr id="3" name="TextBox 2">
            <a:extLst>
              <a:ext uri="{FF2B5EF4-FFF2-40B4-BE49-F238E27FC236}">
                <a16:creationId xmlns:a16="http://schemas.microsoft.com/office/drawing/2014/main" id="{1DEB0B8E-69D4-FB52-4923-9773D6BE6562}"/>
              </a:ext>
            </a:extLst>
          </p:cNvPr>
          <p:cNvSpPr txBox="1"/>
          <p:nvPr/>
        </p:nvSpPr>
        <p:spPr>
          <a:xfrm>
            <a:off x="274320" y="853585"/>
            <a:ext cx="8631025" cy="4812600"/>
          </a:xfrm>
          <a:prstGeom prst="rect">
            <a:avLst/>
          </a:prstGeom>
          <a:noFill/>
        </p:spPr>
        <p:txBody>
          <a:bodyPr wrap="square" lIns="91440" tIns="45720" rIns="91440" bIns="45720" rtlCol="0" anchor="t">
            <a:spAutoFit/>
          </a:bodyPr>
          <a:lstStyle/>
          <a:p>
            <a:pPr lvl="0" defTabSz="457200">
              <a:lnSpc>
                <a:spcPct val="110000"/>
              </a:lnSpc>
              <a:spcBef>
                <a:spcPct val="20000"/>
              </a:spcBef>
              <a:spcAft>
                <a:spcPts val="500"/>
              </a:spcAft>
              <a:defRPr/>
            </a:pPr>
            <a:r>
              <a:rPr lang="en-US" dirty="0">
                <a:solidFill>
                  <a:srgbClr val="000000"/>
                </a:solidFill>
                <a:latin typeface="Arial"/>
                <a:cs typeface="Arial"/>
              </a:rPr>
              <a:t>VHA has proactively been preparing for the potential future clinical deployment of psychedelic medicine for some time.</a:t>
            </a:r>
          </a:p>
          <a:p>
            <a:pPr marL="342900" lvl="0" indent="-342900" defTabSz="457200">
              <a:lnSpc>
                <a:spcPct val="110000"/>
              </a:lnSpc>
              <a:spcBef>
                <a:spcPct val="20000"/>
              </a:spcBef>
              <a:spcAft>
                <a:spcPts val="500"/>
              </a:spcAft>
              <a:buFont typeface="Arial" panose="020B0604020202020204" pitchFamily="34" charset="0"/>
              <a:buChar char="•"/>
              <a:defRPr/>
            </a:pPr>
            <a:r>
              <a:rPr lang="en-US" dirty="0">
                <a:solidFill>
                  <a:srgbClr val="000000"/>
                </a:solidFill>
                <a:latin typeface="Arial"/>
                <a:cs typeface="Arial"/>
              </a:rPr>
              <a:t>For several years, OMH and ORD have been meeting to monitor the developing scientific literature on psychedelics and to explore issues related to possible future clinical implementation of psychedelic medicine in VHA.</a:t>
            </a:r>
          </a:p>
          <a:p>
            <a:pPr marL="342900" lvl="0" indent="-342900" defTabSz="457200">
              <a:lnSpc>
                <a:spcPct val="110000"/>
              </a:lnSpc>
              <a:spcBef>
                <a:spcPct val="20000"/>
              </a:spcBef>
              <a:spcAft>
                <a:spcPts val="500"/>
              </a:spcAft>
              <a:buFont typeface="Arial" panose="020B0604020202020204" pitchFamily="34" charset="0"/>
              <a:buChar char="•"/>
              <a:defRPr/>
            </a:pPr>
            <a:r>
              <a:rPr lang="en-US" dirty="0">
                <a:solidFill>
                  <a:srgbClr val="000000"/>
                </a:solidFill>
                <a:latin typeface="Arial"/>
                <a:cs typeface="Arial"/>
              </a:rPr>
              <a:t>A State of the Art (SOTA) Conference was held in September 2023 exploring preclinical and translational research, clinical research, clinical practice logistics and implementation, as well as system-wide clinical decision-making.</a:t>
            </a:r>
          </a:p>
          <a:p>
            <a:pPr marL="342900" lvl="0" indent="-342900" defTabSz="457200">
              <a:lnSpc>
                <a:spcPct val="110000"/>
              </a:lnSpc>
              <a:spcBef>
                <a:spcPct val="20000"/>
              </a:spcBef>
              <a:spcAft>
                <a:spcPts val="500"/>
              </a:spcAft>
              <a:buFont typeface="Arial" panose="020B0604020202020204" pitchFamily="34" charset="0"/>
              <a:buChar char="•"/>
              <a:defRPr/>
            </a:pPr>
            <a:r>
              <a:rPr lang="en-US" dirty="0">
                <a:solidFill>
                  <a:srgbClr val="000000"/>
                </a:solidFill>
                <a:latin typeface="Arial"/>
                <a:cs typeface="Arial"/>
              </a:rPr>
              <a:t>VA’s ORD published its first Request for Application (RFA) for psychedelics research in January 2024. The first study was selected for funding in fall 2024, and three additional studies have been selected for funding in subsequent scientific review cycles.</a:t>
            </a:r>
          </a:p>
          <a:p>
            <a:pPr marL="342900" indent="-342900" defTabSz="457200">
              <a:lnSpc>
                <a:spcPct val="110000"/>
              </a:lnSpc>
              <a:spcBef>
                <a:spcPct val="20000"/>
              </a:spcBef>
              <a:spcAft>
                <a:spcPts val="500"/>
              </a:spcAft>
              <a:buFont typeface="Arial" panose="020B0604020202020204" pitchFamily="34" charset="0"/>
              <a:buChar char="•"/>
              <a:defRPr/>
            </a:pPr>
            <a:r>
              <a:rPr lang="en-US" dirty="0">
                <a:solidFill>
                  <a:srgbClr val="000000"/>
                </a:solidFill>
                <a:latin typeface="Arial"/>
                <a:cs typeface="Arial"/>
              </a:rPr>
              <a:t>In April 2024 VHA formally chartered an IPT that is co-chaired by OMH and ORD.</a:t>
            </a:r>
          </a:p>
        </p:txBody>
      </p:sp>
      <p:sp>
        <p:nvSpPr>
          <p:cNvPr id="5" name="TextBox 4">
            <a:extLst>
              <a:ext uri="{FF2B5EF4-FFF2-40B4-BE49-F238E27FC236}">
                <a16:creationId xmlns:a16="http://schemas.microsoft.com/office/drawing/2014/main" id="{AE85C43D-3033-E1F3-AB00-3665308639F0}"/>
              </a:ext>
            </a:extLst>
          </p:cNvPr>
          <p:cNvSpPr txBox="1"/>
          <p:nvPr/>
        </p:nvSpPr>
        <p:spPr>
          <a:xfrm>
            <a:off x="1754440" y="135895"/>
            <a:ext cx="6689037" cy="461665"/>
          </a:xfrm>
          <a:prstGeom prst="rect">
            <a:avLst/>
          </a:prstGeom>
          <a:noFill/>
        </p:spPr>
        <p:txBody>
          <a:bodyPr wrap="square" lIns="91440" tIns="45720" rIns="91440" bIns="45720" rtlCol="0" anchor="t">
            <a:spAutoFit/>
          </a:bodyPr>
          <a:lstStyle/>
          <a:p>
            <a:r>
              <a:rPr lang="en-US" sz="2400" b="1">
                <a:solidFill>
                  <a:schemeClr val="bg1"/>
                </a:solidFill>
                <a:latin typeface="Arial"/>
                <a:cs typeface="Arial"/>
              </a:rPr>
              <a:t>VHA’s Psychedelic Medicine Background </a:t>
            </a:r>
          </a:p>
        </p:txBody>
      </p:sp>
      <p:sp>
        <p:nvSpPr>
          <p:cNvPr id="7" name="Footer Placeholder 4">
            <a:extLst>
              <a:ext uri="{FF2B5EF4-FFF2-40B4-BE49-F238E27FC236}">
                <a16:creationId xmlns:a16="http://schemas.microsoft.com/office/drawing/2014/main" id="{DE52DFC0-1CB4-AC6C-7ABA-51F75B8C10EA}"/>
              </a:ext>
            </a:extLst>
          </p:cNvPr>
          <p:cNvSpPr txBox="1">
            <a:spLocks/>
          </p:cNvSpPr>
          <p:nvPr/>
        </p:nvSpPr>
        <p:spPr>
          <a:xfrm>
            <a:off x="3009900" y="6356441"/>
            <a:ext cx="3124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r>
              <a:rPr lang="en-US" b="1">
                <a:solidFill>
                  <a:srgbClr val="C00000"/>
                </a:solidFill>
                <a:latin typeface="Arial"/>
                <a:cs typeface="Arial"/>
              </a:rPr>
              <a:t>PRE-DECISIONAL</a:t>
            </a:r>
          </a:p>
        </p:txBody>
      </p:sp>
    </p:spTree>
    <p:extLst>
      <p:ext uri="{BB962C8B-B14F-4D97-AF65-F5344CB8AC3E}">
        <p14:creationId xmlns:p14="http://schemas.microsoft.com/office/powerpoint/2010/main" val="2847511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11B03F-0211-EB0A-8EE1-8FB62592D8D3}"/>
              </a:ext>
            </a:extLst>
          </p:cNvPr>
          <p:cNvSpPr>
            <a:spLocks noGrp="1"/>
          </p:cNvSpPr>
          <p:nvPr>
            <p:ph type="sldNum" sz="quarter" idx="12"/>
          </p:nvPr>
        </p:nvSpPr>
        <p:spPr/>
        <p:txBody>
          <a:bodyPr/>
          <a:lstStyle/>
          <a:p>
            <a:pPr defTabSz="685800">
              <a:defRPr/>
            </a:pPr>
            <a:fld id="{670A9334-4E67-F94F-A05E-0CE8B74A054E}" type="slidenum">
              <a:rPr lang="en-US" sz="900" smtClean="0">
                <a:solidFill>
                  <a:prstClr val="black">
                    <a:tint val="75000"/>
                  </a:prstClr>
                </a:solidFill>
                <a:latin typeface="Calibri" panose="020F0502020204030204"/>
                <a:cs typeface="+mn-cs"/>
              </a:rPr>
              <a:pPr defTabSz="685800">
                <a:defRPr/>
              </a:pPr>
              <a:t>18</a:t>
            </a:fld>
            <a:endParaRPr lang="en-US" sz="900">
              <a:solidFill>
                <a:prstClr val="black">
                  <a:tint val="75000"/>
                </a:prstClr>
              </a:solidFill>
              <a:latin typeface="Calibri" panose="020F0502020204030204"/>
              <a:cs typeface="+mn-cs"/>
            </a:endParaRPr>
          </a:p>
        </p:txBody>
      </p:sp>
      <p:sp>
        <p:nvSpPr>
          <p:cNvPr id="3" name="TextBox 2">
            <a:extLst>
              <a:ext uri="{FF2B5EF4-FFF2-40B4-BE49-F238E27FC236}">
                <a16:creationId xmlns:a16="http://schemas.microsoft.com/office/drawing/2014/main" id="{34E6A9A3-858E-877B-058D-7C1F7F0A7E9B}"/>
              </a:ext>
            </a:extLst>
          </p:cNvPr>
          <p:cNvSpPr txBox="1"/>
          <p:nvPr/>
        </p:nvSpPr>
        <p:spPr>
          <a:xfrm>
            <a:off x="274320" y="929424"/>
            <a:ext cx="4416552" cy="3853363"/>
          </a:xfrm>
          <a:prstGeom prst="rect">
            <a:avLst/>
          </a:prstGeom>
          <a:noFill/>
        </p:spPr>
        <p:txBody>
          <a:bodyPr wrap="square" lIns="91440" tIns="45720" rIns="91440" bIns="45720" rtlCol="0" anchor="t">
            <a:spAutoFit/>
          </a:bodyPr>
          <a:lstStyle/>
          <a:p>
            <a:pPr marL="342900" indent="-342900" fontAlgn="base">
              <a:lnSpc>
                <a:spcPct val="110000"/>
              </a:lnSpc>
              <a:spcAft>
                <a:spcPts val="500"/>
              </a:spcAft>
              <a:buFont typeface="Arial" panose="020B0604020202020204" pitchFamily="34" charset="0"/>
              <a:buChar char="•"/>
            </a:pPr>
            <a:r>
              <a:rPr lang="en-US" dirty="0">
                <a:solidFill>
                  <a:srgbClr val="000000"/>
                </a:solidFill>
                <a:latin typeface="Arial"/>
                <a:cs typeface="Arial"/>
              </a:rPr>
              <a:t>VA published a funding opportunity announcement and RFA from the VA research community in January 2024. </a:t>
            </a:r>
          </a:p>
          <a:p>
            <a:pPr marL="342900" indent="-342900" fontAlgn="base">
              <a:lnSpc>
                <a:spcPct val="110000"/>
              </a:lnSpc>
              <a:spcAft>
                <a:spcPts val="500"/>
              </a:spcAft>
              <a:buFont typeface="Arial" panose="020B0604020202020204" pitchFamily="34" charset="0"/>
              <a:buChar char="•"/>
            </a:pPr>
            <a:r>
              <a:rPr lang="en-US" dirty="0">
                <a:solidFill>
                  <a:srgbClr val="000000"/>
                </a:solidFill>
                <a:latin typeface="Arial"/>
                <a:cs typeface="Arial"/>
              </a:rPr>
              <a:t>Scientific peer review of new proposals from VA researchers is ongoing and funding decisions occur on a rolling basis.</a:t>
            </a:r>
            <a:endParaRPr lang="en-US" dirty="0">
              <a:solidFill>
                <a:srgbClr val="000000"/>
              </a:solidFill>
              <a:latin typeface="Arial" panose="020B0604020202020204" pitchFamily="34" charset="0"/>
              <a:cs typeface="Arial" panose="020B0604020202020204" pitchFamily="34" charset="0"/>
            </a:endParaRPr>
          </a:p>
          <a:p>
            <a:pPr marL="342900" indent="-342900" fontAlgn="base">
              <a:lnSpc>
                <a:spcPct val="110000"/>
              </a:lnSpc>
              <a:spcAft>
                <a:spcPts val="500"/>
              </a:spcAft>
              <a:buFont typeface="Arial" panose="020B0604020202020204" pitchFamily="34" charset="0"/>
              <a:buChar char="•"/>
            </a:pPr>
            <a:r>
              <a:rPr lang="en-US" dirty="0">
                <a:solidFill>
                  <a:srgbClr val="000000"/>
                </a:solidFill>
                <a:latin typeface="Arial"/>
                <a:cs typeface="Arial"/>
              </a:rPr>
              <a:t>VA ORD staff will work with Principal Investigators (PI) to coordinate the start-up of </a:t>
            </a:r>
            <a:r>
              <a:rPr lang="en-US" dirty="0">
                <a:latin typeface="Arial"/>
                <a:cs typeface="Arial"/>
              </a:rPr>
              <a:t>studies approved for VA funding and inform/coordinate with VA leadership.</a:t>
            </a:r>
          </a:p>
        </p:txBody>
      </p:sp>
      <p:pic>
        <p:nvPicPr>
          <p:cNvPr id="4" name="Picture 3">
            <a:extLst>
              <a:ext uri="{FF2B5EF4-FFF2-40B4-BE49-F238E27FC236}">
                <a16:creationId xmlns:a16="http://schemas.microsoft.com/office/drawing/2014/main" id="{D315D1AA-AB9A-F53C-ECD0-4D2502EEFD8D}"/>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025901" y="929424"/>
            <a:ext cx="3726825" cy="2398728"/>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552AA89A-6892-9A9A-CAF7-E3A9EA63B404}"/>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25901" y="3429000"/>
            <a:ext cx="3726825" cy="2398728"/>
          </a:xfrm>
          <a:prstGeom prst="rect">
            <a:avLst/>
          </a:prstGeom>
          <a:effectLst>
            <a:outerShdw blurRad="50800" dist="38100" dir="5400000" algn="t" rotWithShape="0">
              <a:prstClr val="black">
                <a:alpha val="40000"/>
              </a:prstClr>
            </a:outerShdw>
          </a:effectLst>
        </p:spPr>
      </p:pic>
      <p:sp>
        <p:nvSpPr>
          <p:cNvPr id="6" name="Title 1">
            <a:extLst>
              <a:ext uri="{FF2B5EF4-FFF2-40B4-BE49-F238E27FC236}">
                <a16:creationId xmlns:a16="http://schemas.microsoft.com/office/drawing/2014/main" id="{E9F6E375-32DB-7200-85E1-0E36B54CABDC}"/>
              </a:ext>
            </a:extLst>
          </p:cNvPr>
          <p:cNvSpPr txBox="1">
            <a:spLocks/>
          </p:cNvSpPr>
          <p:nvPr/>
        </p:nvSpPr>
        <p:spPr>
          <a:xfrm>
            <a:off x="210480" y="136524"/>
            <a:ext cx="8574082" cy="510167"/>
          </a:xfrm>
        </p:spPr>
        <p:txBody>
          <a:bodyPr lIns="91440" tIns="45720" rIns="91440" bIns="45720" anchor="t"/>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latin typeface="Arial"/>
                <a:cs typeface="Arial"/>
              </a:rPr>
              <a:t>Launch of VA Funded Research</a:t>
            </a:r>
            <a:r>
              <a:rPr lang="en-US" sz="2400">
                <a:solidFill>
                  <a:schemeClr val="bg1"/>
                </a:solidFill>
                <a:latin typeface="Arial"/>
                <a:cs typeface="Arial"/>
              </a:rPr>
              <a:t> </a:t>
            </a:r>
          </a:p>
        </p:txBody>
      </p:sp>
      <p:sp>
        <p:nvSpPr>
          <p:cNvPr id="8" name="Footer Placeholder 4">
            <a:extLst>
              <a:ext uri="{FF2B5EF4-FFF2-40B4-BE49-F238E27FC236}">
                <a16:creationId xmlns:a16="http://schemas.microsoft.com/office/drawing/2014/main" id="{BEA2D0A2-F0B8-2766-2345-CCA0BE9D53E9}"/>
              </a:ext>
            </a:extLst>
          </p:cNvPr>
          <p:cNvSpPr txBox="1">
            <a:spLocks/>
          </p:cNvSpPr>
          <p:nvPr/>
        </p:nvSpPr>
        <p:spPr>
          <a:xfrm>
            <a:off x="3009900" y="6356441"/>
            <a:ext cx="3124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r>
              <a:rPr lang="en-US" b="1">
                <a:solidFill>
                  <a:srgbClr val="C00000"/>
                </a:solidFill>
                <a:latin typeface="Arial"/>
                <a:cs typeface="Arial"/>
              </a:rPr>
              <a:t>PRE-DECISIONAL</a:t>
            </a:r>
          </a:p>
        </p:txBody>
      </p:sp>
    </p:spTree>
    <p:extLst>
      <p:ext uri="{BB962C8B-B14F-4D97-AF65-F5344CB8AC3E}">
        <p14:creationId xmlns:p14="http://schemas.microsoft.com/office/powerpoint/2010/main" val="3201280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0745-A67F-DE3F-515B-DE0717B6E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F54D5-5D09-B13E-EB53-AAD8247D7618}"/>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Current State of VA Research</a:t>
            </a:r>
            <a:r>
              <a:rPr lang="en-US" sz="2400">
                <a:solidFill>
                  <a:schemeClr val="bg1"/>
                </a:solidFill>
                <a:latin typeface="Arial"/>
                <a:cs typeface="Arial"/>
              </a:rPr>
              <a:t> </a:t>
            </a:r>
          </a:p>
        </p:txBody>
      </p:sp>
      <p:sp>
        <p:nvSpPr>
          <p:cNvPr id="3" name="Slide Number Placeholder 2">
            <a:extLst>
              <a:ext uri="{FF2B5EF4-FFF2-40B4-BE49-F238E27FC236}">
                <a16:creationId xmlns:a16="http://schemas.microsoft.com/office/drawing/2014/main" id="{B9B3C968-56AC-F924-8139-146F5E20E273}"/>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19</a:t>
            </a:fld>
            <a:endParaRPr lang="en-US" sz="900">
              <a:solidFill>
                <a:prstClr val="black">
                  <a:tint val="75000"/>
                </a:prstClr>
              </a:solidFill>
              <a:latin typeface="Calibri" panose="020F0502020204030204"/>
              <a:cs typeface="+mn-cs"/>
            </a:endParaRPr>
          </a:p>
        </p:txBody>
      </p:sp>
      <p:sp>
        <p:nvSpPr>
          <p:cNvPr id="6" name="TextBox 5">
            <a:extLst>
              <a:ext uri="{FF2B5EF4-FFF2-40B4-BE49-F238E27FC236}">
                <a16:creationId xmlns:a16="http://schemas.microsoft.com/office/drawing/2014/main" id="{612B073A-79A3-00DB-C34F-D39065CEC907}"/>
              </a:ext>
            </a:extLst>
          </p:cNvPr>
          <p:cNvSpPr txBox="1"/>
          <p:nvPr/>
        </p:nvSpPr>
        <p:spPr>
          <a:xfrm>
            <a:off x="116901" y="775579"/>
            <a:ext cx="8251086" cy="6143220"/>
          </a:xfrm>
          <a:prstGeom prst="rect">
            <a:avLst/>
          </a:prstGeom>
          <a:noFill/>
        </p:spPr>
        <p:txBody>
          <a:bodyPr wrap="square" lIns="91440" tIns="45720" rIns="91440" bIns="45720" anchor="t">
            <a:spAutoFit/>
          </a:bodyPr>
          <a:lstStyle/>
          <a:p>
            <a:pPr marL="342900" lvl="0" indent="-342900" defTabSz="457200"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As of October 2025, there are a total of 24 studies in active status:</a:t>
            </a:r>
          </a:p>
          <a:p>
            <a:pPr marL="800100" lvl="1" indent="-342900" defTabSz="457200" eaLnBrk="0" fontAlgn="base" hangingPunct="0">
              <a:buFont typeface="Arial" panose="020B0604020202020204" pitchFamily="34" charset="0"/>
              <a:buChar char="•"/>
              <a:defRPr/>
            </a:pPr>
            <a:r>
              <a:rPr lang="en-US" sz="1600" dirty="0">
                <a:solidFill>
                  <a:srgbClr val="000000"/>
                </a:solidFill>
                <a:latin typeface="Arial"/>
                <a:cs typeface="Arial"/>
              </a:rPr>
              <a:t>16 clinical studies for mental health conditions</a:t>
            </a:r>
          </a:p>
          <a:p>
            <a:pPr marL="800100" lvl="1" indent="-342900" defTabSz="457200" eaLnBrk="0" fontAlgn="base" hangingPunct="0">
              <a:buFont typeface="Arial" panose="020B0604020202020204" pitchFamily="34" charset="0"/>
              <a:buChar char="•"/>
              <a:defRPr/>
            </a:pPr>
            <a:r>
              <a:rPr lang="en-US" sz="1600" dirty="0">
                <a:solidFill>
                  <a:srgbClr val="000000"/>
                </a:solidFill>
                <a:latin typeface="Arial"/>
                <a:cs typeface="Arial"/>
              </a:rPr>
              <a:t>2 non-clinical for mental health condition</a:t>
            </a:r>
          </a:p>
          <a:p>
            <a:pPr marL="800100" lvl="1" indent="-342900" defTabSz="457200" eaLnBrk="0" fontAlgn="base" hangingPunct="0">
              <a:buFont typeface="Arial" panose="020B0604020202020204" pitchFamily="34" charset="0"/>
              <a:buChar char="•"/>
              <a:defRPr/>
            </a:pPr>
            <a:r>
              <a:rPr lang="en-US" sz="1600" dirty="0">
                <a:solidFill>
                  <a:srgbClr val="000000"/>
                </a:solidFill>
                <a:latin typeface="Arial"/>
                <a:cs typeface="Arial"/>
              </a:rPr>
              <a:t>5 clinical studies for other conditions (e.g. headache, pain)</a:t>
            </a:r>
          </a:p>
          <a:p>
            <a:pPr marL="800100" lvl="1" indent="-342900" defTabSz="457200" eaLnBrk="0" fontAlgn="base" hangingPunct="0">
              <a:buFont typeface="Arial" panose="020B0604020202020204" pitchFamily="34" charset="0"/>
              <a:buChar char="•"/>
              <a:defRPr/>
            </a:pPr>
            <a:r>
              <a:rPr lang="en-US" sz="1600" dirty="0">
                <a:solidFill>
                  <a:srgbClr val="000000"/>
                </a:solidFill>
                <a:latin typeface="Arial"/>
                <a:cs typeface="Arial"/>
              </a:rPr>
              <a:t>1 non-clinical for other conditions</a:t>
            </a:r>
          </a:p>
          <a:p>
            <a:pPr lvl="1" defTabSz="457200">
              <a:defRPr/>
            </a:pPr>
            <a:endParaRPr lang="en-US" sz="1600" dirty="0">
              <a:solidFill>
                <a:srgbClr val="000000"/>
              </a:solidFill>
              <a:latin typeface="Arial"/>
              <a:cs typeface="Arial"/>
            </a:endParaRPr>
          </a:p>
          <a:p>
            <a:pPr marL="342900" lvl="0" indent="-342900" defTabSz="457200" eaLnBrk="0" fontAlgn="base" hangingPunct="0">
              <a:lnSpc>
                <a:spcPct val="110000"/>
              </a:lnSpc>
              <a:buFont typeface="Arial" panose="020B0604020202020204" pitchFamily="34" charset="0"/>
              <a:buChar char="•"/>
              <a:defRPr/>
            </a:pPr>
            <a:r>
              <a:rPr lang="en-US" sz="1600" dirty="0">
                <a:solidFill>
                  <a:srgbClr val="000000"/>
                </a:solidFill>
                <a:latin typeface="Arial"/>
                <a:cs typeface="Arial"/>
              </a:rPr>
              <a:t>Three ORD funded clinical trials have been selected for funding are preparing to begin:</a:t>
            </a:r>
          </a:p>
          <a:p>
            <a:pPr marL="800100" lvl="1" indent="-342900" defTabSz="457200" eaLnBrk="0" fontAlgn="base" hangingPunct="0">
              <a:lnSpc>
                <a:spcPct val="110000"/>
              </a:lnSpc>
              <a:buFont typeface="Arial" panose="020B0604020202020204" pitchFamily="34" charset="0"/>
              <a:buChar char="•"/>
              <a:defRPr/>
            </a:pPr>
            <a:r>
              <a:rPr lang="en-US" sz="1600" dirty="0">
                <a:solidFill>
                  <a:srgbClr val="000000"/>
                </a:solidFill>
                <a:latin typeface="Arial"/>
                <a:cs typeface="Arial"/>
              </a:rPr>
              <a:t>MDMA-Assisted Therapy for Veterans with PTSD and Alcohol Use Disorder: A Randomized Controlled Trial</a:t>
            </a:r>
          </a:p>
          <a:p>
            <a:pPr marL="800100" lvl="1" indent="-342900" defTabSz="457200" eaLnBrk="0" fontAlgn="base" hangingPunct="0">
              <a:lnSpc>
                <a:spcPct val="110000"/>
              </a:lnSpc>
              <a:buFont typeface="Arial" panose="020B0604020202020204" pitchFamily="34" charset="0"/>
              <a:buChar char="•"/>
              <a:defRPr/>
            </a:pPr>
            <a:r>
              <a:rPr lang="en-US" sz="1600" dirty="0">
                <a:solidFill>
                  <a:srgbClr val="000000"/>
                </a:solidFill>
                <a:latin typeface="Arial"/>
                <a:cs typeface="Arial"/>
              </a:rPr>
              <a:t>A Multi-site Randomized Controlled Trial of Psilocybin for TRD in Veterans</a:t>
            </a:r>
          </a:p>
          <a:p>
            <a:pPr marL="800100" lvl="1" indent="-342900" defTabSz="457200" eaLnBrk="0" fontAlgn="base" hangingPunct="0">
              <a:lnSpc>
                <a:spcPct val="110000"/>
              </a:lnSpc>
              <a:buFont typeface="Arial" panose="020B0604020202020204" pitchFamily="34" charset="0"/>
              <a:buChar char="•"/>
              <a:defRPr/>
            </a:pPr>
            <a:r>
              <a:rPr lang="en-US" sz="1600" dirty="0">
                <a:solidFill>
                  <a:srgbClr val="000000"/>
                </a:solidFill>
                <a:latin typeface="Arial"/>
                <a:cs typeface="Arial"/>
              </a:rPr>
              <a:t>Safety, efficacy, and mechanisms of psilocybin-assisted Acceptance and Commitment Therapy (PACT) in treating MDD among Veterans</a:t>
            </a:r>
          </a:p>
          <a:p>
            <a:pPr lvl="1" defTabSz="457200">
              <a:lnSpc>
                <a:spcPct val="110000"/>
              </a:lnSpc>
              <a:defRPr/>
            </a:pPr>
            <a:endParaRPr lang="en-US" sz="1600" dirty="0">
              <a:solidFill>
                <a:srgbClr val="000000"/>
              </a:solidFill>
              <a:latin typeface="Arial"/>
              <a:cs typeface="Arial"/>
            </a:endParaRPr>
          </a:p>
          <a:p>
            <a:pPr marL="342900" lvl="0" indent="-342900" defTabSz="457200"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One pre-clinical study at the Baltimore VA has been selected for ORD funding</a:t>
            </a:r>
          </a:p>
          <a:p>
            <a:pPr marL="342900" lvl="0" indent="-342900" defTabSz="457200" eaLnBrk="0" fontAlgn="base" hangingPunct="0">
              <a:lnSpc>
                <a:spcPct val="110000"/>
              </a:lnSpc>
              <a:spcAft>
                <a:spcPts val="1500"/>
              </a:spcAft>
              <a:buFont typeface="Arial" panose="020B0604020202020204" pitchFamily="34" charset="0"/>
              <a:buChar char="•"/>
              <a:defRPr/>
            </a:pPr>
            <a:r>
              <a:rPr lang="en-US" sz="1600" dirty="0">
                <a:solidFill>
                  <a:srgbClr val="000000"/>
                </a:solidFill>
                <a:latin typeface="Arial"/>
                <a:cs typeface="Arial"/>
              </a:rPr>
              <a:t>It is estimated that non-VA funding sources will provide over $23 million to VA for psychedelic research</a:t>
            </a:r>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500">
              <a:latin typeface="Arial" panose="020B0604020202020204" pitchFamily="34" charset="0"/>
              <a:ea typeface="Times New Roman" panose="02020603050405020304" pitchFamily="18" charset="0"/>
              <a:cs typeface="Arial" panose="020B0604020202020204" pitchFamily="34" charset="0"/>
            </a:endParaRPr>
          </a:p>
          <a:p>
            <a:pPr algn="ctr"/>
            <a:endParaRPr lang="en-US" sz="1650" b="1">
              <a:solidFill>
                <a:srgbClr val="002F56"/>
              </a:solidFill>
              <a:latin typeface="Arial" panose="020B0604020202020204" pitchFamily="34" charset="0"/>
              <a:ea typeface="Times New Roman" panose="02020603050405020304" pitchFamily="18" charset="0"/>
              <a:cs typeface="Arial" panose="020B0604020202020204" pitchFamily="34" charset="0"/>
            </a:endParaRPr>
          </a:p>
          <a:p>
            <a:pPr algn="ctr"/>
            <a:endParaRPr lang="en-US" sz="1500">
              <a:solidFill>
                <a:srgbClr val="212121"/>
              </a:solidFill>
              <a:latin typeface="Tahoma" panose="020B0604030504040204" pitchFamily="34" charset="0"/>
              <a:ea typeface="Tahoma" panose="020B0604030504040204" pitchFamily="34" charset="0"/>
              <a:cs typeface="Tahoma" panose="020B0604030504040204" pitchFamily="34" charset="0"/>
            </a:endParaRPr>
          </a:p>
          <a:p>
            <a:endParaRPr lang="en-US">
              <a:solidFill>
                <a:srgbClr val="21212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F4A5DD48-E834-072B-8477-738C821369B3}"/>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spTree>
    <p:extLst>
      <p:ext uri="{BB962C8B-B14F-4D97-AF65-F5344CB8AC3E}">
        <p14:creationId xmlns:p14="http://schemas.microsoft.com/office/powerpoint/2010/main" val="1684782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94FF5-E376-97DC-2C36-0ABD58095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9B55A-7BC6-6965-4324-95C298F17DF2}"/>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Current Sites of Clinical Mental Health Studies </a:t>
            </a:r>
            <a:endParaRPr lang="en-US" sz="2400">
              <a:solidFill>
                <a:schemeClr val="bg1"/>
              </a:solidFill>
              <a:latin typeface="Arial"/>
              <a:cs typeface="Arial"/>
            </a:endParaRPr>
          </a:p>
        </p:txBody>
      </p:sp>
      <p:sp>
        <p:nvSpPr>
          <p:cNvPr id="3" name="Slide Number Placeholder 2">
            <a:extLst>
              <a:ext uri="{FF2B5EF4-FFF2-40B4-BE49-F238E27FC236}">
                <a16:creationId xmlns:a16="http://schemas.microsoft.com/office/drawing/2014/main" id="{C6F1AA21-924D-6061-3146-2E16047FD1B9}"/>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20</a:t>
            </a:fld>
            <a:endParaRPr lang="en-US" sz="900">
              <a:solidFill>
                <a:prstClr val="black">
                  <a:tint val="75000"/>
                </a:prstClr>
              </a:solidFill>
              <a:latin typeface="Calibri" panose="020F0502020204030204"/>
              <a:cs typeface="+mn-cs"/>
            </a:endParaRPr>
          </a:p>
        </p:txBody>
      </p:sp>
      <p:sp>
        <p:nvSpPr>
          <p:cNvPr id="6" name="TextBox 5">
            <a:extLst>
              <a:ext uri="{FF2B5EF4-FFF2-40B4-BE49-F238E27FC236}">
                <a16:creationId xmlns:a16="http://schemas.microsoft.com/office/drawing/2014/main" id="{37F80141-8526-1FAE-A528-F906DA9E780A}"/>
              </a:ext>
            </a:extLst>
          </p:cNvPr>
          <p:cNvSpPr txBox="1"/>
          <p:nvPr/>
        </p:nvSpPr>
        <p:spPr>
          <a:xfrm>
            <a:off x="116901" y="775579"/>
            <a:ext cx="8251086" cy="1084912"/>
          </a:xfrm>
          <a:prstGeom prst="rect">
            <a:avLst/>
          </a:prstGeom>
          <a:noFill/>
        </p:spPr>
        <p:txBody>
          <a:bodyPr wrap="square">
            <a:spAutoFit/>
          </a:bodyPr>
          <a:lstStyle/>
          <a:p>
            <a:endParaRPr lang="en-US" sz="1500">
              <a:latin typeface="Arial" panose="020B0604020202020204" pitchFamily="34" charset="0"/>
              <a:ea typeface="Times New Roman" panose="02020603050405020304" pitchFamily="18" charset="0"/>
              <a:cs typeface="Arial" panose="020B0604020202020204" pitchFamily="34" charset="0"/>
            </a:endParaRPr>
          </a:p>
          <a:p>
            <a:pPr algn="ctr"/>
            <a:endParaRPr lang="en-US" sz="1650" b="1">
              <a:solidFill>
                <a:srgbClr val="002F56"/>
              </a:solidFill>
              <a:latin typeface="Arial" panose="020B0604020202020204" pitchFamily="34" charset="0"/>
              <a:ea typeface="Times New Roman" panose="02020603050405020304" pitchFamily="18" charset="0"/>
              <a:cs typeface="Arial" panose="020B0604020202020204" pitchFamily="34" charset="0"/>
            </a:endParaRPr>
          </a:p>
          <a:p>
            <a:pPr algn="ctr"/>
            <a:endParaRPr lang="en-US" sz="1500">
              <a:solidFill>
                <a:srgbClr val="212121"/>
              </a:solidFill>
              <a:latin typeface="Tahoma" panose="020B0604030504040204" pitchFamily="34" charset="0"/>
              <a:ea typeface="Tahoma" panose="020B0604030504040204" pitchFamily="34" charset="0"/>
              <a:cs typeface="Tahoma" panose="020B0604030504040204" pitchFamily="34" charset="0"/>
            </a:endParaRPr>
          </a:p>
          <a:p>
            <a:endParaRPr lang="en-US">
              <a:solidFill>
                <a:srgbClr val="21212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36E97096-2A1A-B68C-AE80-4839745CED99}"/>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pic>
        <p:nvPicPr>
          <p:cNvPr id="302" name="Picture 301">
            <a:extLst>
              <a:ext uri="{FF2B5EF4-FFF2-40B4-BE49-F238E27FC236}">
                <a16:creationId xmlns:a16="http://schemas.microsoft.com/office/drawing/2014/main" id="{0A911ABD-7D28-5328-EDB9-8E02F45C2152}"/>
              </a:ext>
            </a:extLst>
          </p:cNvPr>
          <p:cNvPicPr>
            <a:picLocks noChangeAspect="1"/>
          </p:cNvPicPr>
          <p:nvPr/>
        </p:nvPicPr>
        <p:blipFill>
          <a:blip r:embed="rId3"/>
          <a:stretch>
            <a:fillRect/>
          </a:stretch>
        </p:blipFill>
        <p:spPr>
          <a:xfrm>
            <a:off x="208788" y="1327404"/>
            <a:ext cx="8550656" cy="4203506"/>
          </a:xfrm>
          <a:prstGeom prst="rect">
            <a:avLst/>
          </a:prstGeom>
        </p:spPr>
      </p:pic>
    </p:spTree>
    <p:extLst>
      <p:ext uri="{BB962C8B-B14F-4D97-AF65-F5344CB8AC3E}">
        <p14:creationId xmlns:p14="http://schemas.microsoft.com/office/powerpoint/2010/main" val="3155791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33F35-865C-E84D-B889-373DBF2DF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B73CF-B819-772F-90BA-0C44BBFCCA79}"/>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VHA Psychedelics IPT Overview </a:t>
            </a:r>
          </a:p>
        </p:txBody>
      </p:sp>
      <p:sp>
        <p:nvSpPr>
          <p:cNvPr id="3" name="Slide Number Placeholder 2">
            <a:extLst>
              <a:ext uri="{FF2B5EF4-FFF2-40B4-BE49-F238E27FC236}">
                <a16:creationId xmlns:a16="http://schemas.microsoft.com/office/drawing/2014/main" id="{F199B18B-7416-C39B-6021-4930989C55C5}"/>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21</a:t>
            </a:fld>
            <a:endParaRPr lang="en-US" sz="900">
              <a:solidFill>
                <a:prstClr val="black">
                  <a:tint val="75000"/>
                </a:prstClr>
              </a:solidFill>
              <a:latin typeface="Calibri" panose="020F0502020204030204"/>
              <a:cs typeface="+mn-cs"/>
            </a:endParaRPr>
          </a:p>
        </p:txBody>
      </p:sp>
      <p:sp>
        <p:nvSpPr>
          <p:cNvPr id="5" name="TextBox 4">
            <a:extLst>
              <a:ext uri="{FF2B5EF4-FFF2-40B4-BE49-F238E27FC236}">
                <a16:creationId xmlns:a16="http://schemas.microsoft.com/office/drawing/2014/main" id="{035A52E5-5D80-8E6E-CA8F-89C88300E9B7}"/>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sp>
        <p:nvSpPr>
          <p:cNvPr id="25" name="Slide Number Placeholder 3">
            <a:extLst>
              <a:ext uri="{FF2B5EF4-FFF2-40B4-BE49-F238E27FC236}">
                <a16:creationId xmlns:a16="http://schemas.microsoft.com/office/drawing/2014/main" id="{C743F73B-FD69-8C6E-A1E8-9E1BB04066AE}"/>
              </a:ext>
            </a:extLst>
          </p:cNvPr>
          <p:cNvSpPr txBox="1">
            <a:spLocks/>
          </p:cNvSpPr>
          <p:nvPr/>
        </p:nvSpPr>
        <p:spPr>
          <a:xfrm>
            <a:off x="8610600" y="635635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000000"/>
              </a:buClr>
              <a:buSzPts val="1320"/>
              <a:buFont typeface="Arial"/>
              <a:buNone/>
              <a:defRPr/>
            </a:pPr>
            <a:fld id="{00000000-1234-1234-1234-123412341234}" type="slidenum">
              <a:rPr lang="en-US" sz="1165" smtClean="0">
                <a:solidFill>
                  <a:srgbClr val="888888"/>
                </a:solidFill>
                <a:cs typeface="Calibri"/>
                <a:sym typeface="Calibri"/>
              </a:rPr>
              <a:pPr>
                <a:buClr>
                  <a:srgbClr val="000000"/>
                </a:buClr>
                <a:buSzPts val="1320"/>
                <a:buFont typeface="Arial"/>
                <a:buNone/>
                <a:defRPr/>
              </a:pPr>
              <a:t>21</a:t>
            </a:fld>
            <a:endParaRPr lang="en-US" sz="1165">
              <a:solidFill>
                <a:srgbClr val="888888"/>
              </a:solidFill>
              <a:cs typeface="Calibri"/>
              <a:sym typeface="Calibri"/>
            </a:endParaRPr>
          </a:p>
        </p:txBody>
      </p:sp>
      <p:pic>
        <p:nvPicPr>
          <p:cNvPr id="26" name="Picture 25" descr="Abstract gray gradient hexagon on white background with soft light blur">
            <a:extLst>
              <a:ext uri="{FF2B5EF4-FFF2-40B4-BE49-F238E27FC236}">
                <a16:creationId xmlns:a16="http://schemas.microsoft.com/office/drawing/2014/main" id="{2A74C813-4C01-7F74-7756-A57CE4A48A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591055"/>
            <a:ext cx="9144000" cy="4533109"/>
          </a:xfrm>
          <a:prstGeom prst="rect">
            <a:avLst/>
          </a:prstGeom>
          <a:gradFill>
            <a:gsLst>
              <a:gs pos="85000">
                <a:srgbClr val="5B9BD5">
                  <a:lumMod val="60000"/>
                  <a:lumOff val="40000"/>
                </a:srgbClr>
              </a:gs>
              <a:gs pos="23000">
                <a:srgbClr val="5B9BD5">
                  <a:lumMod val="20000"/>
                  <a:lumOff val="80000"/>
                </a:srgbClr>
              </a:gs>
            </a:gsLst>
            <a:path path="circle">
              <a:fillToRect l="100000" t="100000"/>
            </a:path>
          </a:gradFill>
        </p:spPr>
      </p:pic>
      <p:pic>
        <p:nvPicPr>
          <p:cNvPr id="27" name="Picture 26">
            <a:extLst>
              <a:ext uri="{FF2B5EF4-FFF2-40B4-BE49-F238E27FC236}">
                <a16:creationId xmlns:a16="http://schemas.microsoft.com/office/drawing/2014/main" id="{875BDBB5-A8D8-A072-F4CE-A1EC650CC0E7}"/>
              </a:ext>
            </a:extLst>
          </p:cNvPr>
          <p:cNvPicPr>
            <a:picLocks noChangeAspect="1"/>
          </p:cNvPicPr>
          <p:nvPr/>
        </p:nvPicPr>
        <p:blipFill>
          <a:blip r:embed="rId4"/>
          <a:stretch>
            <a:fillRect/>
          </a:stretch>
        </p:blipFill>
        <p:spPr>
          <a:xfrm>
            <a:off x="259568" y="1068715"/>
            <a:ext cx="3130074" cy="4442041"/>
          </a:xfrm>
          <a:prstGeom prst="rect">
            <a:avLst/>
          </a:prstGeom>
          <a:effectLst>
            <a:outerShdw blurRad="50800" dist="38100" dir="5400000" algn="t" rotWithShape="0">
              <a:prstClr val="black">
                <a:alpha val="40000"/>
              </a:prstClr>
            </a:outerShdw>
          </a:effectLst>
        </p:spPr>
      </p:pic>
      <p:sp>
        <p:nvSpPr>
          <p:cNvPr id="28" name="Oval 27">
            <a:extLst>
              <a:ext uri="{FF2B5EF4-FFF2-40B4-BE49-F238E27FC236}">
                <a16:creationId xmlns:a16="http://schemas.microsoft.com/office/drawing/2014/main" id="{903829C9-9687-A0E7-8E84-6C388FCD72CF}"/>
              </a:ext>
            </a:extLst>
          </p:cNvPr>
          <p:cNvSpPr/>
          <p:nvPr/>
        </p:nvSpPr>
        <p:spPr>
          <a:xfrm>
            <a:off x="3422708" y="1287485"/>
            <a:ext cx="964734" cy="1049529"/>
          </a:xfrm>
          <a:prstGeom prst="ellipse">
            <a:avLst/>
          </a:prstGeom>
          <a:solidFill>
            <a:srgbClr val="002060"/>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9" name="Group 28">
            <a:extLst>
              <a:ext uri="{FF2B5EF4-FFF2-40B4-BE49-F238E27FC236}">
                <a16:creationId xmlns:a16="http://schemas.microsoft.com/office/drawing/2014/main" id="{206879A7-8BE6-713F-C3CB-00B6109B8CC1}"/>
              </a:ext>
            </a:extLst>
          </p:cNvPr>
          <p:cNvGrpSpPr/>
          <p:nvPr/>
        </p:nvGrpSpPr>
        <p:grpSpPr>
          <a:xfrm>
            <a:off x="3649211" y="1287485"/>
            <a:ext cx="5364246" cy="1098931"/>
            <a:chOff x="3649211" y="1287485"/>
            <a:chExt cx="8212822" cy="1098931"/>
          </a:xfrm>
        </p:grpSpPr>
        <p:sp>
          <p:nvSpPr>
            <p:cNvPr id="30" name="Rectangle: Rounded Corners 29">
              <a:extLst>
                <a:ext uri="{FF2B5EF4-FFF2-40B4-BE49-F238E27FC236}">
                  <a16:creationId xmlns:a16="http://schemas.microsoft.com/office/drawing/2014/main" id="{62D0D2A2-CF8A-E227-3D48-3B0404D3AA63}"/>
                </a:ext>
              </a:extLst>
            </p:cNvPr>
            <p:cNvSpPr/>
            <p:nvPr/>
          </p:nvSpPr>
          <p:spPr>
            <a:xfrm>
              <a:off x="3649211" y="1287485"/>
              <a:ext cx="8212822" cy="1060700"/>
            </a:xfrm>
            <a:prstGeom prst="roundRect">
              <a:avLst>
                <a:gd name="adj" fmla="val 50000"/>
              </a:avLst>
            </a:prstGeom>
            <a:gradFill flip="none" rotWithShape="1">
              <a:gsLst>
                <a:gs pos="100000">
                  <a:srgbClr val="5B9BD5">
                    <a:lumMod val="60000"/>
                    <a:lumOff val="40000"/>
                  </a:srgbClr>
                </a:gs>
                <a:gs pos="23000">
                  <a:srgbClr val="5B9BD5">
                    <a:lumMod val="20000"/>
                    <a:lumOff val="80000"/>
                  </a:srgbClr>
                </a:gs>
              </a:gsLst>
              <a:path path="circle">
                <a:fillToRect l="100000" t="100000"/>
              </a:path>
              <a:tileRect r="-100000" b="-100000"/>
            </a:gradFill>
            <a:ln w="127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E166CA21-4CA6-8D0C-473B-060E3E4406D0}"/>
                </a:ext>
              </a:extLst>
            </p:cNvPr>
            <p:cNvSpPr txBox="1"/>
            <p:nvPr/>
          </p:nvSpPr>
          <p:spPr>
            <a:xfrm>
              <a:off x="4127382" y="1327152"/>
              <a:ext cx="7555509" cy="1059264"/>
            </a:xfrm>
            <a:prstGeom prst="rect">
              <a:avLst/>
            </a:prstGeom>
            <a:noFill/>
          </p:spPr>
          <p:txBody>
            <a:bodyPr wrap="square" lIns="91440" tIns="45720" rIns="91440" bIns="45720" rtlCol="0" anchor="t">
              <a:spAutoFit/>
            </a:bodyPr>
            <a:lstStyle/>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a:cs typeface="Arial"/>
                </a:rPr>
                <a:t>Purpose of IPT:</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Arial"/>
                  <a:cs typeface="Arial"/>
                </a:rPr>
                <a:t>The VHA Psychedelics IPT is chartered to develop a comprehensive implementation plan for the future clinical deployment of safe and effective psychedelic treatments for mental health conditions in VHA</a:t>
              </a:r>
              <a:r>
                <a:rPr kumimoji="0" lang="en-US" sz="1400" b="0" i="0" u="none" strike="noStrike" kern="0" cap="none" spc="0" normalizeH="0" baseline="0" noProof="0">
                  <a:ln>
                    <a:noFill/>
                  </a:ln>
                  <a:solidFill>
                    <a:srgbClr val="000000"/>
                  </a:solidFill>
                  <a:effectLst/>
                  <a:uLnTx/>
                  <a:uFillTx/>
                  <a:latin typeface="Arial"/>
                  <a:cs typeface="Arial"/>
                </a:rPr>
                <a:t>.  </a:t>
              </a:r>
            </a:p>
          </p:txBody>
        </p:sp>
      </p:grpSp>
      <p:sp>
        <p:nvSpPr>
          <p:cNvPr id="32" name="Oval 31">
            <a:extLst>
              <a:ext uri="{FF2B5EF4-FFF2-40B4-BE49-F238E27FC236}">
                <a16:creationId xmlns:a16="http://schemas.microsoft.com/office/drawing/2014/main" id="{96800444-DE50-A540-4D49-030CF1889A38}"/>
              </a:ext>
            </a:extLst>
          </p:cNvPr>
          <p:cNvSpPr/>
          <p:nvPr/>
        </p:nvSpPr>
        <p:spPr>
          <a:xfrm>
            <a:off x="3422707" y="2627524"/>
            <a:ext cx="1140903" cy="1518091"/>
          </a:xfrm>
          <a:prstGeom prst="ellipse">
            <a:avLst/>
          </a:prstGeom>
          <a:solidFill>
            <a:srgbClr val="002060"/>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863F03C9-BA59-7A58-B714-08810592C1E3}"/>
              </a:ext>
            </a:extLst>
          </p:cNvPr>
          <p:cNvGrpSpPr/>
          <p:nvPr/>
        </p:nvGrpSpPr>
        <p:grpSpPr>
          <a:xfrm>
            <a:off x="3649212" y="2569200"/>
            <a:ext cx="5364246" cy="1707929"/>
            <a:chOff x="3649211" y="2723289"/>
            <a:chExt cx="8212821" cy="1707929"/>
          </a:xfrm>
        </p:grpSpPr>
        <p:sp>
          <p:nvSpPr>
            <p:cNvPr id="34" name="Rectangle: Rounded Corners 33">
              <a:extLst>
                <a:ext uri="{FF2B5EF4-FFF2-40B4-BE49-F238E27FC236}">
                  <a16:creationId xmlns:a16="http://schemas.microsoft.com/office/drawing/2014/main" id="{09EAB9A8-8E80-69EC-BBE1-75103C1683DF}"/>
                </a:ext>
              </a:extLst>
            </p:cNvPr>
            <p:cNvSpPr/>
            <p:nvPr/>
          </p:nvSpPr>
          <p:spPr>
            <a:xfrm>
              <a:off x="3649211" y="2723289"/>
              <a:ext cx="8212821" cy="1707929"/>
            </a:xfrm>
            <a:prstGeom prst="roundRect">
              <a:avLst>
                <a:gd name="adj" fmla="val 50000"/>
              </a:avLst>
            </a:prstGeom>
            <a:gradFill flip="none" rotWithShape="1">
              <a:gsLst>
                <a:gs pos="100000">
                  <a:srgbClr val="5B9BD5">
                    <a:lumMod val="60000"/>
                    <a:lumOff val="40000"/>
                  </a:srgbClr>
                </a:gs>
                <a:gs pos="23000">
                  <a:srgbClr val="5B9BD5">
                    <a:lumMod val="20000"/>
                    <a:lumOff val="80000"/>
                  </a:srgbClr>
                </a:gs>
              </a:gsLst>
              <a:path path="circle">
                <a:fillToRect l="100000" t="100000"/>
              </a:path>
              <a:tileRect r="-100000" b="-100000"/>
            </a:gradFill>
            <a:ln w="127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prstClr val="white"/>
                </a:solidFill>
                <a:effectLst/>
                <a:uLnTx/>
                <a:uFillTx/>
                <a:latin typeface="Arial" panose="020B0604020202020204"/>
              </a:endParaRPr>
            </a:p>
          </p:txBody>
        </p:sp>
        <p:sp>
          <p:nvSpPr>
            <p:cNvPr id="35" name="TextBox 34">
              <a:extLst>
                <a:ext uri="{FF2B5EF4-FFF2-40B4-BE49-F238E27FC236}">
                  <a16:creationId xmlns:a16="http://schemas.microsoft.com/office/drawing/2014/main" id="{C8DD1825-3AA2-FE7B-00C5-1AD8BB0EF03E}"/>
                </a:ext>
              </a:extLst>
            </p:cNvPr>
            <p:cNvSpPr txBox="1"/>
            <p:nvPr/>
          </p:nvSpPr>
          <p:spPr>
            <a:xfrm>
              <a:off x="4127382" y="2781613"/>
              <a:ext cx="7555512" cy="1428596"/>
            </a:xfrm>
            <a:prstGeom prst="rect">
              <a:avLst/>
            </a:prstGeom>
            <a:noFill/>
          </p:spPr>
          <p:txBody>
            <a:bodyPr wrap="square" lIns="91440" tIns="45720" rIns="91440" bIns="45720" rtlCol="0" anchor="t">
              <a:spAutoFit/>
            </a:bodyPr>
            <a:lstStyle/>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cs typeface="Arial"/>
                </a:rPr>
                <a:t>Efforts of the IPT will accomplish the following:</a:t>
              </a:r>
            </a:p>
            <a:p>
              <a:pPr marL="285750" indent="-285750">
                <a:buFont typeface="Arial" panose="020B0604020202020204" pitchFamily="34" charset="0"/>
                <a:buChar char="•"/>
                <a:defRPr/>
              </a:pPr>
              <a:r>
                <a:rPr kumimoji="0" lang="en-US" sz="1200" b="0" i="0" u="none" strike="noStrike" kern="0" cap="none" spc="0" normalizeH="0" baseline="0" noProof="0" dirty="0">
                  <a:ln>
                    <a:noFill/>
                  </a:ln>
                  <a:solidFill>
                    <a:srgbClr val="000000"/>
                  </a:solidFill>
                  <a:effectLst/>
                  <a:uLnTx/>
                  <a:uFillTx/>
                  <a:latin typeface="Arial"/>
                  <a:cs typeface="Arial"/>
                </a:rPr>
                <a:t>Advise Under Secretary for Health</a:t>
              </a:r>
              <a:r>
                <a:rPr lang="en-US" sz="1200" kern="0" dirty="0">
                  <a:solidFill>
                    <a:srgbClr val="000000"/>
                  </a:solidFill>
                  <a:latin typeface="Arial"/>
                  <a:cs typeface="Arial"/>
                </a:rPr>
                <a:t> </a:t>
              </a:r>
              <a:r>
                <a:rPr kumimoji="0" lang="en-US" sz="1200" b="0" i="0" u="none" strike="noStrike" kern="0" cap="none" spc="0" normalizeH="0" baseline="0" noProof="0" dirty="0">
                  <a:ln>
                    <a:noFill/>
                  </a:ln>
                  <a:solidFill>
                    <a:srgbClr val="000000"/>
                  </a:solidFill>
                  <a:effectLst/>
                  <a:uLnTx/>
                  <a:uFillTx/>
                  <a:latin typeface="Arial"/>
                  <a:cs typeface="Arial"/>
                </a:rPr>
                <a:t>(USH)</a:t>
              </a:r>
              <a:r>
                <a:rPr lang="en-US" sz="1200" kern="0" dirty="0">
                  <a:solidFill>
                    <a:srgbClr val="000000"/>
                  </a:solidFill>
                  <a:latin typeface="Arial"/>
                  <a:cs typeface="Arial"/>
                </a:rPr>
                <a:t> on</a:t>
              </a:r>
              <a:r>
                <a:rPr kumimoji="0" lang="en-US" sz="1200" b="0" i="0" u="none" strike="noStrike" kern="0" cap="none" spc="0" normalizeH="0" baseline="0" noProof="0" dirty="0">
                  <a:ln>
                    <a:noFill/>
                  </a:ln>
                  <a:solidFill>
                    <a:srgbClr val="000000"/>
                  </a:solidFill>
                  <a:effectLst/>
                  <a:uLnTx/>
                  <a:uFillTx/>
                  <a:latin typeface="Arial"/>
                  <a:cs typeface="Arial"/>
                </a:rPr>
                <a:t> key issues associated with psychedelic medicine for mental health treatment.</a:t>
              </a:r>
              <a:endParaRPr lang="en-US" sz="1200" b="0" i="0" u="none" strike="noStrike" kern="0" cap="none" spc="0" normalizeH="0" baseline="0" noProof="0" dirty="0">
                <a:ln>
                  <a:noFill/>
                </a:ln>
                <a:solidFill>
                  <a:srgbClr val="000000"/>
                </a:solidFill>
                <a:effectLst/>
                <a:uLnTx/>
                <a:uFillTx/>
                <a:latin typeface="Arial"/>
                <a:cs typeface="Arial"/>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Arial"/>
                  <a:cs typeface="Arial"/>
                </a:rPr>
                <a:t>Develop written guidance for research and clinical deployment of psychedelic medicine in VHA.</a:t>
              </a:r>
              <a:endParaRPr lang="en-US" sz="1200" b="0" i="0" u="none" strike="noStrike" kern="0" cap="none" spc="0" normalizeH="0" baseline="0" noProof="0" dirty="0">
                <a:ln>
                  <a:noFill/>
                </a:ln>
                <a:solidFill>
                  <a:srgbClr val="000000"/>
                </a:solidFill>
                <a:effectLst/>
                <a:uLnTx/>
                <a:uFillTx/>
                <a:latin typeface="Arial"/>
                <a:cs typeface="Arial"/>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Arial"/>
                  <a:cs typeface="Arial"/>
                </a:rPr>
                <a:t>Develop a program evaluation structure that supports data-driven decisions about psychedelic medicine in VHA</a:t>
              </a:r>
              <a:r>
                <a:rPr kumimoji="0" lang="en-US" sz="1400" b="0" i="0" u="none" strike="noStrike" kern="0" cap="none" spc="0" normalizeH="0" baseline="0" noProof="0" dirty="0">
                  <a:ln>
                    <a:noFill/>
                  </a:ln>
                  <a:solidFill>
                    <a:srgbClr val="000000"/>
                  </a:solidFill>
                  <a:effectLst/>
                  <a:uLnTx/>
                  <a:uFillTx/>
                  <a:latin typeface="Arial"/>
                  <a:cs typeface="Arial"/>
                </a:rPr>
                <a:t>.</a:t>
              </a:r>
              <a:endParaRPr lang="en-US" sz="1400" b="0" i="0" u="none" strike="noStrike" kern="0" cap="none" spc="0" normalizeH="0" baseline="0" noProof="0" dirty="0">
                <a:ln>
                  <a:noFill/>
                </a:ln>
                <a:solidFill>
                  <a:srgbClr val="000000"/>
                </a:solidFill>
                <a:effectLst/>
                <a:uLnTx/>
                <a:uFillTx/>
                <a:latin typeface="Arial"/>
                <a:cs typeface="Arial"/>
              </a:endParaRPr>
            </a:p>
          </p:txBody>
        </p:sp>
      </p:grpSp>
      <p:sp>
        <p:nvSpPr>
          <p:cNvPr id="36" name="Oval 35">
            <a:extLst>
              <a:ext uri="{FF2B5EF4-FFF2-40B4-BE49-F238E27FC236}">
                <a16:creationId xmlns:a16="http://schemas.microsoft.com/office/drawing/2014/main" id="{3160A295-9A8C-71DF-7D57-6A16A07444F0}"/>
              </a:ext>
            </a:extLst>
          </p:cNvPr>
          <p:cNvSpPr/>
          <p:nvPr/>
        </p:nvSpPr>
        <p:spPr>
          <a:xfrm>
            <a:off x="3422708" y="4567639"/>
            <a:ext cx="1031846" cy="1215943"/>
          </a:xfrm>
          <a:prstGeom prst="ellipse">
            <a:avLst/>
          </a:prstGeom>
          <a:solidFill>
            <a:srgbClr val="002060"/>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7" name="Group 36">
            <a:extLst>
              <a:ext uri="{FF2B5EF4-FFF2-40B4-BE49-F238E27FC236}">
                <a16:creationId xmlns:a16="http://schemas.microsoft.com/office/drawing/2014/main" id="{15C1E443-4D10-D70C-94CB-4AFE0932D4A8}"/>
              </a:ext>
            </a:extLst>
          </p:cNvPr>
          <p:cNvGrpSpPr/>
          <p:nvPr/>
        </p:nvGrpSpPr>
        <p:grpSpPr>
          <a:xfrm>
            <a:off x="3649212" y="4498144"/>
            <a:ext cx="5364245" cy="1298747"/>
            <a:chOff x="3649212" y="4498144"/>
            <a:chExt cx="8212820" cy="1298747"/>
          </a:xfrm>
        </p:grpSpPr>
        <p:sp>
          <p:nvSpPr>
            <p:cNvPr id="38" name="Rectangle: Rounded Corners 37">
              <a:extLst>
                <a:ext uri="{FF2B5EF4-FFF2-40B4-BE49-F238E27FC236}">
                  <a16:creationId xmlns:a16="http://schemas.microsoft.com/office/drawing/2014/main" id="{FA124431-10B5-50F6-2D9E-6903B6971166}"/>
                </a:ext>
              </a:extLst>
            </p:cNvPr>
            <p:cNvSpPr/>
            <p:nvPr/>
          </p:nvSpPr>
          <p:spPr>
            <a:xfrm>
              <a:off x="3649212" y="4498144"/>
              <a:ext cx="8212820" cy="1298747"/>
            </a:xfrm>
            <a:prstGeom prst="roundRect">
              <a:avLst>
                <a:gd name="adj" fmla="val 50000"/>
              </a:avLst>
            </a:prstGeom>
            <a:gradFill flip="none" rotWithShape="1">
              <a:gsLst>
                <a:gs pos="100000">
                  <a:srgbClr val="5B9BD5">
                    <a:lumMod val="60000"/>
                    <a:lumOff val="40000"/>
                  </a:srgbClr>
                </a:gs>
                <a:gs pos="23000">
                  <a:srgbClr val="5B9BD5">
                    <a:lumMod val="20000"/>
                    <a:lumOff val="80000"/>
                  </a:srgbClr>
                </a:gs>
              </a:gsLst>
              <a:path path="circle">
                <a:fillToRect l="100000" t="100000"/>
              </a:path>
              <a:tileRect r="-100000" b="-100000"/>
            </a:gradFill>
            <a:ln w="12700"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prstClr val="white"/>
                </a:solidFill>
                <a:effectLst/>
                <a:uLnTx/>
                <a:uFillTx/>
                <a:latin typeface="Arial" panose="020B0604020202020204"/>
              </a:endParaRPr>
            </a:p>
          </p:txBody>
        </p:sp>
        <p:sp>
          <p:nvSpPr>
            <p:cNvPr id="39" name="TextBox 38">
              <a:extLst>
                <a:ext uri="{FF2B5EF4-FFF2-40B4-BE49-F238E27FC236}">
                  <a16:creationId xmlns:a16="http://schemas.microsoft.com/office/drawing/2014/main" id="{82479D30-C12A-76B7-F0FE-A73F9444D89E}"/>
                </a:ext>
              </a:extLst>
            </p:cNvPr>
            <p:cNvSpPr txBox="1"/>
            <p:nvPr/>
          </p:nvSpPr>
          <p:spPr>
            <a:xfrm>
              <a:off x="4127382" y="4561615"/>
              <a:ext cx="7555511" cy="1090042"/>
            </a:xfrm>
            <a:prstGeom prst="rect">
              <a:avLst/>
            </a:prstGeom>
            <a:noFill/>
          </p:spPr>
          <p:txBody>
            <a:bodyPr wrap="square" lIns="91440" tIns="45720" rIns="91440" bIns="45720" rtlCol="0" anchor="t">
              <a:spAutoFit/>
            </a:bodyPr>
            <a:lstStyle/>
            <a:p>
              <a:pPr marL="0" marR="0" lvl="0" indent="0" defTabSz="914400" eaLnBrk="1" fontAlgn="auto" latinLnBrk="0" hangingPunct="1">
                <a:lnSpc>
                  <a:spcPct val="100000"/>
                </a:lnSpc>
                <a:spcBef>
                  <a:spcPts val="0"/>
                </a:spcBef>
                <a:spcAft>
                  <a:spcPts val="100"/>
                </a:spcAft>
                <a:buClrTx/>
                <a:buSzTx/>
                <a:buFontTx/>
                <a:buNone/>
                <a:tabLst/>
                <a:defRPr/>
              </a:pPr>
              <a:r>
                <a:rPr kumimoji="0" lang="en-US" sz="1000" b="1" i="0" u="none" strike="noStrike" kern="0" cap="none" spc="0" normalizeH="0" baseline="0" noProof="0">
                  <a:ln>
                    <a:noFill/>
                  </a:ln>
                  <a:solidFill>
                    <a:srgbClr val="000000"/>
                  </a:solidFill>
                  <a:effectLst/>
                  <a:uLnTx/>
                  <a:uFillTx/>
                  <a:latin typeface="Arial"/>
                  <a:cs typeface="Arial"/>
                </a:rPr>
                <a:t>Scope: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Arial"/>
                  <a:cs typeface="Arial"/>
                </a:rPr>
                <a:t>The IPT focuses on psychedelic treatment applications for mental health treatment only.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Arial"/>
                  <a:cs typeface="Arial"/>
                </a:rPr>
                <a:t>Non-mental health applications are not addressed by this IPT.</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Arial"/>
                  <a:cs typeface="Arial"/>
                </a:rPr>
                <a:t>Initial focus of efforts will be on psychedelic treatments in Phase 3 Clinical trials for mental health conditions. Efforts may expand over time</a:t>
              </a:r>
              <a:r>
                <a:rPr kumimoji="0" lang="en-US" sz="1400" b="0" i="0" u="none" strike="noStrike" kern="0" cap="none" spc="0" normalizeH="0" baseline="0" noProof="0">
                  <a:ln>
                    <a:noFill/>
                  </a:ln>
                  <a:solidFill>
                    <a:srgbClr val="000000"/>
                  </a:solidFill>
                  <a:effectLst/>
                  <a:uLnTx/>
                  <a:uFillTx/>
                  <a:latin typeface="Arial"/>
                  <a:cs typeface="Arial"/>
                </a:rPr>
                <a:t>.</a:t>
              </a:r>
            </a:p>
          </p:txBody>
        </p:sp>
      </p:grpSp>
    </p:spTree>
    <p:extLst>
      <p:ext uri="{BB962C8B-B14F-4D97-AF65-F5344CB8AC3E}">
        <p14:creationId xmlns:p14="http://schemas.microsoft.com/office/powerpoint/2010/main" val="2856566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F2FEB-3C10-C81C-B6E1-AFB40E600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EEEF8-FDFD-49E7-31D9-17900C93CCCA}"/>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VHA Psychedelics IPT </a:t>
            </a:r>
            <a:r>
              <a:rPr lang="en-US" sz="2400" b="1" err="1">
                <a:solidFill>
                  <a:schemeClr val="bg1"/>
                </a:solidFill>
                <a:latin typeface="Arial"/>
                <a:cs typeface="Arial"/>
              </a:rPr>
              <a:t>Metaframework</a:t>
            </a:r>
            <a:r>
              <a:rPr lang="en-US" sz="2400" b="1">
                <a:solidFill>
                  <a:schemeClr val="bg1"/>
                </a:solidFill>
                <a:latin typeface="Arial"/>
                <a:cs typeface="Arial"/>
              </a:rPr>
              <a:t> </a:t>
            </a:r>
          </a:p>
        </p:txBody>
      </p:sp>
      <p:sp>
        <p:nvSpPr>
          <p:cNvPr id="3" name="Slide Number Placeholder 2">
            <a:extLst>
              <a:ext uri="{FF2B5EF4-FFF2-40B4-BE49-F238E27FC236}">
                <a16:creationId xmlns:a16="http://schemas.microsoft.com/office/drawing/2014/main" id="{BBF21557-69E9-20D2-0AFF-DFEEF441C3E1}"/>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22</a:t>
            </a:fld>
            <a:endParaRPr lang="en-US" sz="900">
              <a:solidFill>
                <a:prstClr val="black">
                  <a:tint val="75000"/>
                </a:prstClr>
              </a:solidFill>
              <a:latin typeface="Calibri" panose="020F0502020204030204"/>
              <a:cs typeface="+mn-cs"/>
            </a:endParaRPr>
          </a:p>
        </p:txBody>
      </p:sp>
      <p:sp>
        <p:nvSpPr>
          <p:cNvPr id="5" name="TextBox 4">
            <a:extLst>
              <a:ext uri="{FF2B5EF4-FFF2-40B4-BE49-F238E27FC236}">
                <a16:creationId xmlns:a16="http://schemas.microsoft.com/office/drawing/2014/main" id="{089AB0FF-3D8E-0927-BFC1-ED0A6021CFF3}"/>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cxnSp>
        <p:nvCxnSpPr>
          <p:cNvPr id="6" name="Straight Connector 5">
            <a:extLst>
              <a:ext uri="{FF2B5EF4-FFF2-40B4-BE49-F238E27FC236}">
                <a16:creationId xmlns:a16="http://schemas.microsoft.com/office/drawing/2014/main" id="{DE3D38FA-FB55-9A5A-0BA0-43FB2CDCDE2E}"/>
              </a:ext>
            </a:extLst>
          </p:cNvPr>
          <p:cNvCxnSpPr>
            <a:cxnSpLocks/>
          </p:cNvCxnSpPr>
          <p:nvPr/>
        </p:nvCxnSpPr>
        <p:spPr>
          <a:xfrm flipV="1">
            <a:off x="8127550" y="3001262"/>
            <a:ext cx="0" cy="1165359"/>
          </a:xfrm>
          <a:prstGeom prst="line">
            <a:avLst/>
          </a:prstGeom>
          <a:ln w="19050"/>
          <a:effectLst/>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04B01B55-066F-541B-51F4-CD0B777A3571}"/>
              </a:ext>
            </a:extLst>
          </p:cNvPr>
          <p:cNvCxnSpPr>
            <a:cxnSpLocks/>
            <a:stCxn id="22" idx="2"/>
          </p:cNvCxnSpPr>
          <p:nvPr/>
        </p:nvCxnSpPr>
        <p:spPr>
          <a:xfrm flipV="1">
            <a:off x="2692439" y="3021794"/>
            <a:ext cx="9254" cy="1100616"/>
          </a:xfrm>
          <a:prstGeom prst="line">
            <a:avLst/>
          </a:prstGeom>
          <a:ln w="19050"/>
          <a:effectLst/>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C89BF075-FD5A-D76E-1919-E5A74CD8BC2B}"/>
              </a:ext>
            </a:extLst>
          </p:cNvPr>
          <p:cNvCxnSpPr>
            <a:cxnSpLocks/>
            <a:stCxn id="26" idx="2"/>
          </p:cNvCxnSpPr>
          <p:nvPr/>
        </p:nvCxnSpPr>
        <p:spPr>
          <a:xfrm flipV="1">
            <a:off x="6460198" y="3021794"/>
            <a:ext cx="766" cy="1100616"/>
          </a:xfrm>
          <a:prstGeom prst="line">
            <a:avLst/>
          </a:prstGeom>
          <a:ln w="19050"/>
          <a:effectLst/>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59B283A6-4CDF-01F5-ED68-84796D39AAB1}"/>
              </a:ext>
            </a:extLst>
          </p:cNvPr>
          <p:cNvCxnSpPr>
            <a:cxnSpLocks/>
          </p:cNvCxnSpPr>
          <p:nvPr/>
        </p:nvCxnSpPr>
        <p:spPr>
          <a:xfrm flipV="1">
            <a:off x="637624" y="3001262"/>
            <a:ext cx="0" cy="902271"/>
          </a:xfrm>
          <a:prstGeom prst="line">
            <a:avLst/>
          </a:prstGeom>
          <a:ln w="19050"/>
          <a:effectLst/>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55A19677-CA14-4018-8698-A934573B9C58}"/>
              </a:ext>
            </a:extLst>
          </p:cNvPr>
          <p:cNvCxnSpPr>
            <a:cxnSpLocks/>
          </p:cNvCxnSpPr>
          <p:nvPr/>
        </p:nvCxnSpPr>
        <p:spPr>
          <a:xfrm>
            <a:off x="7489731" y="1893561"/>
            <a:ext cx="0" cy="701781"/>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74E1CE4A-ADC7-706E-ABE0-765E05C9FEC9}"/>
              </a:ext>
            </a:extLst>
          </p:cNvPr>
          <p:cNvCxnSpPr>
            <a:cxnSpLocks/>
            <a:stCxn id="79" idx="2"/>
          </p:cNvCxnSpPr>
          <p:nvPr/>
        </p:nvCxnSpPr>
        <p:spPr>
          <a:xfrm>
            <a:off x="1669298" y="1701096"/>
            <a:ext cx="3572" cy="810806"/>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738A0E49-4B65-714A-42FA-33B51484A578}"/>
              </a:ext>
            </a:extLst>
          </p:cNvPr>
          <p:cNvCxnSpPr>
            <a:cxnSpLocks/>
            <a:stCxn id="15" idx="2"/>
            <a:endCxn id="24" idx="2"/>
          </p:cNvCxnSpPr>
          <p:nvPr/>
        </p:nvCxnSpPr>
        <p:spPr>
          <a:xfrm flipH="1">
            <a:off x="4558451" y="1068275"/>
            <a:ext cx="13549" cy="3054135"/>
          </a:xfrm>
          <a:prstGeom prst="line">
            <a:avLst/>
          </a:prstGeom>
          <a:ln w="19050"/>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34D3BC9F-2FFA-AA85-1487-20E532E515DF}"/>
              </a:ext>
            </a:extLst>
          </p:cNvPr>
          <p:cNvSpPr txBox="1"/>
          <p:nvPr/>
        </p:nvSpPr>
        <p:spPr>
          <a:xfrm>
            <a:off x="3335673" y="861078"/>
            <a:ext cx="2472653" cy="207197"/>
          </a:xfrm>
          <a:prstGeom prst="rect">
            <a:avLst/>
          </a:prstGeom>
          <a:solidFill>
            <a:schemeClr val="bg1"/>
          </a:solidFill>
          <a:ln>
            <a:solidFill>
              <a:schemeClr val="accent6">
                <a:lumMod val="10000"/>
              </a:schemeClr>
            </a:solidFill>
          </a:ln>
        </p:spPr>
        <p:txBody>
          <a:bodyPr wrap="square" anchor="ctr">
            <a:noAutofit/>
          </a:bodyPr>
          <a:lstStyle/>
          <a:p>
            <a:pPr algn="ctr" defTabSz="685800">
              <a:lnSpc>
                <a:spcPct val="80000"/>
              </a:lnSpc>
              <a:defRPr/>
            </a:pPr>
            <a:r>
              <a:rPr lang="en-US" sz="825" b="1">
                <a:solidFill>
                  <a:srgbClr val="000000"/>
                </a:solidFill>
                <a:latin typeface="Arial" panose="020B0604020202020204" pitchFamily="34" charset="0"/>
                <a:cs typeface="Arial" panose="020B0604020202020204" pitchFamily="34" charset="0"/>
              </a:rPr>
              <a:t>VHA Under Secretary for Health</a:t>
            </a:r>
          </a:p>
        </p:txBody>
      </p:sp>
      <p:sp>
        <p:nvSpPr>
          <p:cNvPr id="16" name="TextBox 15">
            <a:extLst>
              <a:ext uri="{FF2B5EF4-FFF2-40B4-BE49-F238E27FC236}">
                <a16:creationId xmlns:a16="http://schemas.microsoft.com/office/drawing/2014/main" id="{C9500021-DDE4-9A85-E746-B650A2D7000D}"/>
              </a:ext>
            </a:extLst>
          </p:cNvPr>
          <p:cNvSpPr txBox="1"/>
          <p:nvPr/>
        </p:nvSpPr>
        <p:spPr>
          <a:xfrm>
            <a:off x="3337299" y="1114729"/>
            <a:ext cx="2472653" cy="207197"/>
          </a:xfrm>
          <a:prstGeom prst="rect">
            <a:avLst/>
          </a:prstGeom>
          <a:solidFill>
            <a:schemeClr val="bg1"/>
          </a:solidFill>
          <a:ln>
            <a:solidFill>
              <a:schemeClr val="accent6">
                <a:lumMod val="10000"/>
              </a:schemeClr>
            </a:solidFill>
          </a:ln>
        </p:spPr>
        <p:txBody>
          <a:bodyPr wrap="square" anchor="ctr">
            <a:noAutofit/>
          </a:bodyPr>
          <a:lstStyle/>
          <a:p>
            <a:pPr algn="ctr" defTabSz="685800">
              <a:lnSpc>
                <a:spcPct val="80000"/>
              </a:lnSpc>
              <a:defRPr/>
            </a:pPr>
            <a:r>
              <a:rPr lang="en-US" sz="825" b="1">
                <a:solidFill>
                  <a:srgbClr val="000000"/>
                </a:solidFill>
                <a:latin typeface="Arial" panose="020B0604020202020204" pitchFamily="34" charset="0"/>
                <a:cs typeface="Arial" panose="020B0604020202020204" pitchFamily="34" charset="0"/>
              </a:rPr>
              <a:t>Deputy Under Secretary for Health</a:t>
            </a:r>
          </a:p>
        </p:txBody>
      </p:sp>
      <p:sp>
        <p:nvSpPr>
          <p:cNvPr id="17" name="TextBox 16">
            <a:extLst>
              <a:ext uri="{FF2B5EF4-FFF2-40B4-BE49-F238E27FC236}">
                <a16:creationId xmlns:a16="http://schemas.microsoft.com/office/drawing/2014/main" id="{11754473-342D-C7EB-0D32-95AA8146DBE6}"/>
              </a:ext>
            </a:extLst>
          </p:cNvPr>
          <p:cNvSpPr txBox="1"/>
          <p:nvPr/>
        </p:nvSpPr>
        <p:spPr>
          <a:xfrm>
            <a:off x="3336747" y="1368381"/>
            <a:ext cx="2472653" cy="306006"/>
          </a:xfrm>
          <a:prstGeom prst="rect">
            <a:avLst/>
          </a:prstGeom>
          <a:solidFill>
            <a:schemeClr val="bg1"/>
          </a:solidFill>
          <a:ln>
            <a:solidFill>
              <a:schemeClr val="accent6">
                <a:lumMod val="10000"/>
              </a:schemeClr>
            </a:solidFill>
          </a:ln>
        </p:spPr>
        <p:txBody>
          <a:bodyPr wrap="square" anchor="ctr">
            <a:noAutofit/>
          </a:bodyPr>
          <a:lstStyle/>
          <a:p>
            <a:pPr algn="ctr" defTabSz="685800">
              <a:lnSpc>
                <a:spcPct val="110000"/>
              </a:lnSpc>
              <a:spcAft>
                <a:spcPts val="75"/>
              </a:spcAft>
              <a:defRPr/>
            </a:pPr>
            <a:r>
              <a:rPr lang="en-US" sz="825" b="1">
                <a:solidFill>
                  <a:srgbClr val="000000"/>
                </a:solidFill>
                <a:latin typeface="Arial" panose="020B0604020202020204" pitchFamily="34" charset="0"/>
                <a:cs typeface="Arial" panose="020B0604020202020204" pitchFamily="34" charset="0"/>
              </a:rPr>
              <a:t>Executive Sponsor</a:t>
            </a:r>
          </a:p>
          <a:p>
            <a:pPr algn="ctr" defTabSz="685800">
              <a:lnSpc>
                <a:spcPct val="110000"/>
              </a:lnSpc>
              <a:defRPr/>
            </a:pPr>
            <a:r>
              <a:rPr lang="en-US" sz="788">
                <a:solidFill>
                  <a:srgbClr val="000000"/>
                </a:solidFill>
                <a:latin typeface="Arial" panose="020B0604020202020204" pitchFamily="34" charset="0"/>
                <a:cs typeface="Arial" panose="020B0604020202020204" pitchFamily="34" charset="0"/>
              </a:rPr>
              <a:t>Exec Sponsor: Dr. Lisa Kearney</a:t>
            </a:r>
          </a:p>
        </p:txBody>
      </p:sp>
      <p:sp>
        <p:nvSpPr>
          <p:cNvPr id="18" name="TextBox 17">
            <a:extLst>
              <a:ext uri="{FF2B5EF4-FFF2-40B4-BE49-F238E27FC236}">
                <a16:creationId xmlns:a16="http://schemas.microsoft.com/office/drawing/2014/main" id="{415E584A-5491-3785-93CF-A9CD2E8299BD}"/>
              </a:ext>
            </a:extLst>
          </p:cNvPr>
          <p:cNvSpPr txBox="1"/>
          <p:nvPr/>
        </p:nvSpPr>
        <p:spPr>
          <a:xfrm>
            <a:off x="3328898" y="2207440"/>
            <a:ext cx="2472653" cy="256822"/>
          </a:xfrm>
          <a:prstGeom prst="rect">
            <a:avLst/>
          </a:prstGeom>
          <a:solidFill>
            <a:schemeClr val="bg1"/>
          </a:solidFill>
          <a:ln>
            <a:solidFill>
              <a:schemeClr val="accent6">
                <a:lumMod val="10000"/>
              </a:schemeClr>
            </a:solidFill>
          </a:ln>
        </p:spPr>
        <p:txBody>
          <a:bodyPr wrap="square" anchor="ctr">
            <a:noAutofit/>
          </a:bodyPr>
          <a:lstStyle/>
          <a:p>
            <a:pPr algn="ctr" defTabSz="685800">
              <a:lnSpc>
                <a:spcPct val="80000"/>
              </a:lnSpc>
              <a:defRPr/>
            </a:pPr>
            <a:r>
              <a:rPr lang="en-US" sz="825" b="1">
                <a:solidFill>
                  <a:srgbClr val="000000"/>
                </a:solidFill>
                <a:latin typeface="Arial" panose="020B0604020202020204" pitchFamily="34" charset="0"/>
                <a:cs typeface="Arial" panose="020B0604020202020204" pitchFamily="34" charset="0"/>
              </a:rPr>
              <a:t>Executive Steering Committee</a:t>
            </a:r>
          </a:p>
        </p:txBody>
      </p:sp>
      <p:sp>
        <p:nvSpPr>
          <p:cNvPr id="19" name="Rectangle 18">
            <a:extLst>
              <a:ext uri="{FF2B5EF4-FFF2-40B4-BE49-F238E27FC236}">
                <a16:creationId xmlns:a16="http://schemas.microsoft.com/office/drawing/2014/main" id="{A51DC4F2-F7D6-137D-AC4B-B0222A39E75B}"/>
              </a:ext>
            </a:extLst>
          </p:cNvPr>
          <p:cNvSpPr/>
          <p:nvPr/>
        </p:nvSpPr>
        <p:spPr>
          <a:xfrm>
            <a:off x="85499" y="3126398"/>
            <a:ext cx="1481669" cy="342350"/>
          </a:xfrm>
          <a:prstGeom prst="rect">
            <a:avLst/>
          </a:prstGeom>
          <a:solidFill>
            <a:srgbClr val="FFFFD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sz="900" b="1">
                <a:solidFill>
                  <a:srgbClr val="000000"/>
                </a:solidFill>
                <a:latin typeface="Arial" panose="020B0604020202020204" pitchFamily="34" charset="0"/>
                <a:cs typeface="Arial" panose="020B0604020202020204" pitchFamily="34" charset="0"/>
              </a:rPr>
              <a:t>WS 1: Research</a:t>
            </a:r>
          </a:p>
        </p:txBody>
      </p:sp>
      <p:sp>
        <p:nvSpPr>
          <p:cNvPr id="20" name="Rectangle 19">
            <a:extLst>
              <a:ext uri="{FF2B5EF4-FFF2-40B4-BE49-F238E27FC236}">
                <a16:creationId xmlns:a16="http://schemas.microsoft.com/office/drawing/2014/main" id="{5B29A445-740F-2A4D-9C0A-DDA8CDB1F47E}"/>
              </a:ext>
            </a:extLst>
          </p:cNvPr>
          <p:cNvSpPr/>
          <p:nvPr/>
        </p:nvSpPr>
        <p:spPr>
          <a:xfrm>
            <a:off x="86245" y="3553431"/>
            <a:ext cx="1481669" cy="568979"/>
          </a:xfrm>
          <a:prstGeom prst="rect">
            <a:avLst/>
          </a:prstGeom>
          <a:solidFill>
            <a:srgbClr val="FFFFD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defTabSz="685800">
              <a:lnSpc>
                <a:spcPct val="110000"/>
              </a:lnSpc>
              <a:spcAft>
                <a:spcPts val="75"/>
              </a:spcAft>
              <a:defRPr/>
            </a:pPr>
            <a:r>
              <a:rPr lang="en-US" sz="900" b="1">
                <a:solidFill>
                  <a:srgbClr val="000000"/>
                </a:solidFill>
                <a:latin typeface="Arial" panose="020B0604020202020204" pitchFamily="34" charset="0"/>
                <a:cs typeface="Arial" panose="020B0604020202020204" pitchFamily="34" charset="0"/>
              </a:rPr>
              <a:t>Workstream Co-Leads:</a:t>
            </a:r>
          </a:p>
          <a:p>
            <a:pPr algn="ctr" defTabSz="685800">
              <a:lnSpc>
                <a:spcPct val="110000"/>
              </a:lnSpc>
              <a:defRPr/>
            </a:pPr>
            <a:r>
              <a:rPr lang="en-US" sz="825">
                <a:solidFill>
                  <a:srgbClr val="000000"/>
                </a:solidFill>
                <a:latin typeface="Arial" panose="020B0604020202020204" pitchFamily="34" charset="0"/>
                <a:cs typeface="Arial" panose="020B0604020202020204" pitchFamily="34" charset="0"/>
              </a:rPr>
              <a:t>Paula Schnurr (NCPTSD)</a:t>
            </a:r>
          </a:p>
          <a:p>
            <a:pPr algn="ctr" defTabSz="685800">
              <a:lnSpc>
                <a:spcPct val="110000"/>
              </a:lnSpc>
              <a:defRPr/>
            </a:pPr>
            <a:r>
              <a:rPr lang="en-US" sz="825">
                <a:solidFill>
                  <a:srgbClr val="000000"/>
                </a:solidFill>
                <a:latin typeface="Arial" panose="020B0604020202020204" pitchFamily="34" charset="0"/>
                <a:cs typeface="Arial" panose="020B0604020202020204" pitchFamily="34" charset="0"/>
              </a:rPr>
              <a:t>Miriam Smyth (ORD)</a:t>
            </a:r>
          </a:p>
        </p:txBody>
      </p:sp>
      <p:sp>
        <p:nvSpPr>
          <p:cNvPr id="21" name="Rectangle 20">
            <a:extLst>
              <a:ext uri="{FF2B5EF4-FFF2-40B4-BE49-F238E27FC236}">
                <a16:creationId xmlns:a16="http://schemas.microsoft.com/office/drawing/2014/main" id="{D517A701-65F7-8749-51E3-B53F74C957D2}"/>
              </a:ext>
            </a:extLst>
          </p:cNvPr>
          <p:cNvSpPr/>
          <p:nvPr/>
        </p:nvSpPr>
        <p:spPr>
          <a:xfrm>
            <a:off x="1952256" y="3126398"/>
            <a:ext cx="1481669" cy="342350"/>
          </a:xfrm>
          <a:prstGeom prst="rect">
            <a:avLst/>
          </a:prstGeom>
          <a:solidFill>
            <a:srgbClr val="FBE5D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sz="900" b="1">
                <a:solidFill>
                  <a:srgbClr val="000000"/>
                </a:solidFill>
                <a:latin typeface="Arial" panose="020B0604020202020204" pitchFamily="34" charset="0"/>
                <a:cs typeface="Arial" panose="020B0604020202020204" pitchFamily="34" charset="0"/>
              </a:rPr>
              <a:t>WS 2: Clinical Implementation </a:t>
            </a:r>
          </a:p>
        </p:txBody>
      </p:sp>
      <p:sp>
        <p:nvSpPr>
          <p:cNvPr id="22" name="Rectangle 21">
            <a:extLst>
              <a:ext uri="{FF2B5EF4-FFF2-40B4-BE49-F238E27FC236}">
                <a16:creationId xmlns:a16="http://schemas.microsoft.com/office/drawing/2014/main" id="{E61EF1DF-C04F-BCC0-2DFD-F4440014F72D}"/>
              </a:ext>
            </a:extLst>
          </p:cNvPr>
          <p:cNvSpPr/>
          <p:nvPr/>
        </p:nvSpPr>
        <p:spPr>
          <a:xfrm>
            <a:off x="1950954" y="3554919"/>
            <a:ext cx="1482971" cy="567491"/>
          </a:xfrm>
          <a:prstGeom prst="rect">
            <a:avLst/>
          </a:prstGeom>
          <a:solidFill>
            <a:srgbClr val="FBE5D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defTabSz="685800">
              <a:lnSpc>
                <a:spcPct val="110000"/>
              </a:lnSpc>
              <a:spcAft>
                <a:spcPts val="75"/>
              </a:spcAft>
              <a:defRPr/>
            </a:pPr>
            <a:r>
              <a:rPr lang="en-US" sz="900" b="1">
                <a:solidFill>
                  <a:srgbClr val="000000"/>
                </a:solidFill>
                <a:latin typeface="Arial"/>
                <a:cs typeface="Arial"/>
              </a:rPr>
              <a:t>Workstream Lead:</a:t>
            </a:r>
          </a:p>
          <a:p>
            <a:pPr algn="ctr" defTabSz="685800">
              <a:lnSpc>
                <a:spcPct val="110000"/>
              </a:lnSpc>
              <a:defRPr/>
            </a:pPr>
            <a:r>
              <a:rPr lang="en-US" sz="825">
                <a:solidFill>
                  <a:srgbClr val="000000"/>
                </a:solidFill>
                <a:latin typeface="Arial"/>
                <a:cs typeface="Arial"/>
              </a:rPr>
              <a:t>Eric Hermes (OMH)</a:t>
            </a:r>
          </a:p>
        </p:txBody>
      </p:sp>
      <p:sp>
        <p:nvSpPr>
          <p:cNvPr id="23" name="Rectangle 22">
            <a:extLst>
              <a:ext uri="{FF2B5EF4-FFF2-40B4-BE49-F238E27FC236}">
                <a16:creationId xmlns:a16="http://schemas.microsoft.com/office/drawing/2014/main" id="{DAFE20EF-BC44-EEEB-1504-5254979C1CB1}"/>
              </a:ext>
            </a:extLst>
          </p:cNvPr>
          <p:cNvSpPr/>
          <p:nvPr/>
        </p:nvSpPr>
        <p:spPr>
          <a:xfrm>
            <a:off x="3819013" y="3126398"/>
            <a:ext cx="1483104" cy="342350"/>
          </a:xfrm>
          <a:prstGeom prst="rect">
            <a:avLst/>
          </a:prstGeom>
          <a:solidFill>
            <a:srgbClr val="E2EFD9"/>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sz="900" b="1">
                <a:solidFill>
                  <a:srgbClr val="000000"/>
                </a:solidFill>
                <a:latin typeface="Arial" panose="020B0604020202020204" pitchFamily="34" charset="0"/>
                <a:cs typeface="Arial" panose="020B0604020202020204" pitchFamily="34" charset="0"/>
              </a:rPr>
              <a:t>WS 3: Training</a:t>
            </a:r>
          </a:p>
        </p:txBody>
      </p:sp>
      <p:sp>
        <p:nvSpPr>
          <p:cNvPr id="24" name="Rectangle 23">
            <a:extLst>
              <a:ext uri="{FF2B5EF4-FFF2-40B4-BE49-F238E27FC236}">
                <a16:creationId xmlns:a16="http://schemas.microsoft.com/office/drawing/2014/main" id="{1182D469-AA28-A213-F9C7-7D8CB14BFCCA}"/>
              </a:ext>
            </a:extLst>
          </p:cNvPr>
          <p:cNvSpPr/>
          <p:nvPr/>
        </p:nvSpPr>
        <p:spPr>
          <a:xfrm>
            <a:off x="3816899" y="3554919"/>
            <a:ext cx="1483104" cy="567491"/>
          </a:xfrm>
          <a:prstGeom prst="rect">
            <a:avLst/>
          </a:prstGeom>
          <a:solidFill>
            <a:srgbClr val="E2EFD9"/>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defTabSz="685800">
              <a:lnSpc>
                <a:spcPct val="110000"/>
              </a:lnSpc>
              <a:spcAft>
                <a:spcPts val="75"/>
              </a:spcAft>
              <a:defRPr/>
            </a:pPr>
            <a:r>
              <a:rPr lang="en-US" sz="900" b="1">
                <a:solidFill>
                  <a:srgbClr val="000000"/>
                </a:solidFill>
                <a:latin typeface="Arial"/>
                <a:cs typeface="Arial"/>
              </a:rPr>
              <a:t>Workstream Co-Leads:</a:t>
            </a:r>
          </a:p>
          <a:p>
            <a:pPr algn="ctr" defTabSz="685800">
              <a:lnSpc>
                <a:spcPct val="110000"/>
              </a:lnSpc>
              <a:defRPr/>
            </a:pPr>
            <a:r>
              <a:rPr lang="en-US" sz="825">
                <a:solidFill>
                  <a:srgbClr val="000000"/>
                </a:solidFill>
                <a:latin typeface="Arial"/>
                <a:cs typeface="Arial"/>
              </a:rPr>
              <a:t>Stacey Pollack (OMH)</a:t>
            </a:r>
          </a:p>
          <a:p>
            <a:pPr algn="ctr" defTabSz="685800">
              <a:lnSpc>
                <a:spcPct val="110000"/>
              </a:lnSpc>
              <a:defRPr/>
            </a:pPr>
            <a:r>
              <a:rPr lang="en-US" sz="825">
                <a:solidFill>
                  <a:srgbClr val="000000"/>
                </a:solidFill>
                <a:latin typeface="Arial"/>
                <a:cs typeface="Arial"/>
              </a:rPr>
              <a:t>Dave Oslin (VISN)</a:t>
            </a:r>
          </a:p>
        </p:txBody>
      </p:sp>
      <p:sp>
        <p:nvSpPr>
          <p:cNvPr id="25" name="Rectangle 24">
            <a:extLst>
              <a:ext uri="{FF2B5EF4-FFF2-40B4-BE49-F238E27FC236}">
                <a16:creationId xmlns:a16="http://schemas.microsoft.com/office/drawing/2014/main" id="{93110C44-17CD-9791-B018-253031C24B3B}"/>
              </a:ext>
            </a:extLst>
          </p:cNvPr>
          <p:cNvSpPr/>
          <p:nvPr/>
        </p:nvSpPr>
        <p:spPr>
          <a:xfrm>
            <a:off x="5687205" y="3126399"/>
            <a:ext cx="1483104" cy="342349"/>
          </a:xfrm>
          <a:prstGeom prst="rect">
            <a:avLst/>
          </a:prstGeom>
          <a:solidFill>
            <a:srgbClr val="DEEBF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sz="900" b="1">
                <a:solidFill>
                  <a:srgbClr val="000000"/>
                </a:solidFill>
                <a:latin typeface="Arial" panose="020B0604020202020204" pitchFamily="34" charset="0"/>
                <a:cs typeface="Arial" panose="020B0604020202020204" pitchFamily="34" charset="0"/>
              </a:rPr>
              <a:t>WS 4: Informatics &amp; Evaluation</a:t>
            </a:r>
          </a:p>
        </p:txBody>
      </p:sp>
      <p:sp>
        <p:nvSpPr>
          <p:cNvPr id="26" name="Rectangle 25">
            <a:extLst>
              <a:ext uri="{FF2B5EF4-FFF2-40B4-BE49-F238E27FC236}">
                <a16:creationId xmlns:a16="http://schemas.microsoft.com/office/drawing/2014/main" id="{3A00CC91-604F-42D6-44BE-1B8DF5075DFA}"/>
              </a:ext>
            </a:extLst>
          </p:cNvPr>
          <p:cNvSpPr/>
          <p:nvPr/>
        </p:nvSpPr>
        <p:spPr>
          <a:xfrm>
            <a:off x="5718646" y="3554919"/>
            <a:ext cx="1483104" cy="567491"/>
          </a:xfrm>
          <a:prstGeom prst="rect">
            <a:avLst/>
          </a:prstGeom>
          <a:solidFill>
            <a:srgbClr val="DEEBF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lnSpc>
                <a:spcPct val="110000"/>
              </a:lnSpc>
              <a:spcAft>
                <a:spcPts val="75"/>
              </a:spcAft>
              <a:defRPr/>
            </a:pPr>
            <a:r>
              <a:rPr lang="en-US" sz="900" b="1">
                <a:solidFill>
                  <a:srgbClr val="000000"/>
                </a:solidFill>
                <a:latin typeface="Arial" panose="020B0604020202020204" pitchFamily="34" charset="0"/>
                <a:cs typeface="Arial" panose="020B0604020202020204" pitchFamily="34" charset="0"/>
              </a:rPr>
              <a:t>Workstream Co-Leads:</a:t>
            </a:r>
          </a:p>
          <a:p>
            <a:pPr algn="ctr" defTabSz="685800">
              <a:lnSpc>
                <a:spcPct val="110000"/>
              </a:lnSpc>
              <a:defRPr/>
            </a:pPr>
            <a:r>
              <a:rPr lang="en-US" sz="825">
                <a:solidFill>
                  <a:srgbClr val="000000"/>
                </a:solidFill>
                <a:latin typeface="Arial" panose="020B0604020202020204" pitchFamily="34" charset="0"/>
                <a:cs typeface="Arial" panose="020B0604020202020204" pitchFamily="34" charset="0"/>
              </a:rPr>
              <a:t>Ilan Harpaz-Rotem (NEPEC)</a:t>
            </a:r>
          </a:p>
        </p:txBody>
      </p:sp>
      <p:cxnSp>
        <p:nvCxnSpPr>
          <p:cNvPr id="27" name="Straight Connector 26">
            <a:extLst>
              <a:ext uri="{FF2B5EF4-FFF2-40B4-BE49-F238E27FC236}">
                <a16:creationId xmlns:a16="http://schemas.microsoft.com/office/drawing/2014/main" id="{7AD31836-9114-CD07-59D6-E4E41AE981C4}"/>
              </a:ext>
            </a:extLst>
          </p:cNvPr>
          <p:cNvCxnSpPr>
            <a:cxnSpLocks/>
          </p:cNvCxnSpPr>
          <p:nvPr/>
        </p:nvCxnSpPr>
        <p:spPr>
          <a:xfrm flipV="1">
            <a:off x="637624" y="3001262"/>
            <a:ext cx="7489926" cy="4147"/>
          </a:xfrm>
          <a:prstGeom prst="line">
            <a:avLst/>
          </a:prstGeom>
          <a:ln w="19050"/>
          <a:effectLst/>
        </p:spPr>
        <p:style>
          <a:lnRef idx="2">
            <a:schemeClr val="dk1"/>
          </a:lnRef>
          <a:fillRef idx="0">
            <a:schemeClr val="dk1"/>
          </a:fillRef>
          <a:effectRef idx="1">
            <a:schemeClr val="dk1"/>
          </a:effectRef>
          <a:fontRef idx="minor">
            <a:schemeClr val="tx1"/>
          </a:fontRef>
        </p:style>
      </p:cxnSp>
      <p:sp>
        <p:nvSpPr>
          <p:cNvPr id="28" name="Rectangle 27">
            <a:extLst>
              <a:ext uri="{FF2B5EF4-FFF2-40B4-BE49-F238E27FC236}">
                <a16:creationId xmlns:a16="http://schemas.microsoft.com/office/drawing/2014/main" id="{D2DA3514-8AD4-B884-8251-A9154E2AEF9D}"/>
              </a:ext>
            </a:extLst>
          </p:cNvPr>
          <p:cNvSpPr/>
          <p:nvPr/>
        </p:nvSpPr>
        <p:spPr>
          <a:xfrm>
            <a:off x="86881" y="2524698"/>
            <a:ext cx="8946028" cy="426203"/>
          </a:xfrm>
          <a:prstGeom prst="rect">
            <a:avLst/>
          </a:prstGeom>
          <a:solidFill>
            <a:srgbClr val="BFEBFF"/>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defTabSz="685800">
              <a:lnSpc>
                <a:spcPct val="110000"/>
              </a:lnSpc>
              <a:spcAft>
                <a:spcPts val="75"/>
              </a:spcAft>
              <a:defRPr/>
            </a:pPr>
            <a:r>
              <a:rPr lang="en-US" sz="900" b="1">
                <a:solidFill>
                  <a:srgbClr val="000000"/>
                </a:solidFill>
                <a:latin typeface="Arial"/>
                <a:cs typeface="Arial"/>
              </a:rPr>
              <a:t>Change Management and Communications (Operational/Strategic)</a:t>
            </a:r>
          </a:p>
        </p:txBody>
      </p:sp>
      <p:sp>
        <p:nvSpPr>
          <p:cNvPr id="29" name="TextBox 28">
            <a:extLst>
              <a:ext uri="{FF2B5EF4-FFF2-40B4-BE49-F238E27FC236}">
                <a16:creationId xmlns:a16="http://schemas.microsoft.com/office/drawing/2014/main" id="{16C00DA9-9185-A785-1B4D-F77397E70F32}"/>
              </a:ext>
            </a:extLst>
          </p:cNvPr>
          <p:cNvSpPr txBox="1"/>
          <p:nvPr/>
        </p:nvSpPr>
        <p:spPr>
          <a:xfrm>
            <a:off x="3335673" y="1720842"/>
            <a:ext cx="2472653" cy="440144"/>
          </a:xfrm>
          <a:prstGeom prst="rect">
            <a:avLst/>
          </a:prstGeom>
          <a:solidFill>
            <a:schemeClr val="bg1"/>
          </a:solidFill>
          <a:ln>
            <a:solidFill>
              <a:schemeClr val="accent6">
                <a:lumMod val="10000"/>
              </a:schemeClr>
            </a:solidFill>
          </a:ln>
        </p:spPr>
        <p:txBody>
          <a:bodyPr wrap="square" lIns="68580" tIns="34290" rIns="68580" bIns="34290" anchor="ctr">
            <a:noAutofit/>
          </a:bodyPr>
          <a:lstStyle/>
          <a:p>
            <a:pPr algn="ctr" defTabSz="685800">
              <a:lnSpc>
                <a:spcPct val="110000"/>
              </a:lnSpc>
              <a:spcAft>
                <a:spcPts val="75"/>
              </a:spcAft>
              <a:defRPr/>
            </a:pPr>
            <a:r>
              <a:rPr lang="en-US" sz="825" b="1">
                <a:solidFill>
                  <a:srgbClr val="000000"/>
                </a:solidFill>
                <a:latin typeface="Arial"/>
                <a:cs typeface="Arial"/>
              </a:rPr>
              <a:t>Executive Leads</a:t>
            </a:r>
          </a:p>
          <a:p>
            <a:pPr algn="ctr" defTabSz="685800">
              <a:lnSpc>
                <a:spcPct val="110000"/>
              </a:lnSpc>
              <a:spcAft>
                <a:spcPts val="75"/>
              </a:spcAft>
              <a:defRPr/>
            </a:pPr>
            <a:r>
              <a:rPr lang="en-US" sz="788">
                <a:solidFill>
                  <a:srgbClr val="000000"/>
                </a:solidFill>
                <a:latin typeface="Arial"/>
                <a:cs typeface="Arial"/>
              </a:rPr>
              <a:t>Dr. Ilse Wiechers (OMH)</a:t>
            </a:r>
          </a:p>
          <a:p>
            <a:pPr algn="ctr" defTabSz="685800">
              <a:lnSpc>
                <a:spcPct val="110000"/>
              </a:lnSpc>
              <a:spcAft>
                <a:spcPts val="75"/>
              </a:spcAft>
              <a:defRPr/>
            </a:pPr>
            <a:r>
              <a:rPr lang="en-US" sz="788">
                <a:solidFill>
                  <a:srgbClr val="000000"/>
                </a:solidFill>
                <a:latin typeface="Arial" panose="020B0604020202020204" pitchFamily="34" charset="0"/>
                <a:cs typeface="Arial" panose="020B0604020202020204" pitchFamily="34" charset="0"/>
              </a:rPr>
              <a:t>Dr. Wendy </a:t>
            </a:r>
            <a:r>
              <a:rPr lang="en-US" sz="788" err="1">
                <a:solidFill>
                  <a:srgbClr val="000000"/>
                </a:solidFill>
                <a:latin typeface="Arial" panose="020B0604020202020204" pitchFamily="34" charset="0"/>
                <a:cs typeface="Arial" panose="020B0604020202020204" pitchFamily="34" charset="0"/>
              </a:rPr>
              <a:t>Tenhula</a:t>
            </a:r>
            <a:r>
              <a:rPr lang="en-US" sz="788">
                <a:solidFill>
                  <a:srgbClr val="000000"/>
                </a:solidFill>
                <a:latin typeface="Arial" panose="020B0604020202020204" pitchFamily="34" charset="0"/>
                <a:cs typeface="Arial" panose="020B0604020202020204" pitchFamily="34" charset="0"/>
              </a:rPr>
              <a:t> (ORD)</a:t>
            </a:r>
          </a:p>
        </p:txBody>
      </p:sp>
      <p:grpSp>
        <p:nvGrpSpPr>
          <p:cNvPr id="30" name="Group 29">
            <a:extLst>
              <a:ext uri="{FF2B5EF4-FFF2-40B4-BE49-F238E27FC236}">
                <a16:creationId xmlns:a16="http://schemas.microsoft.com/office/drawing/2014/main" id="{75149A36-E5F0-8D49-793C-2ADF24575EC9}"/>
              </a:ext>
            </a:extLst>
          </p:cNvPr>
          <p:cNvGrpSpPr/>
          <p:nvPr/>
        </p:nvGrpSpPr>
        <p:grpSpPr>
          <a:xfrm>
            <a:off x="5895621" y="855719"/>
            <a:ext cx="3142880" cy="1067679"/>
            <a:chOff x="7863299" y="867410"/>
            <a:chExt cx="4190506" cy="1423573"/>
          </a:xfrm>
        </p:grpSpPr>
        <p:grpSp>
          <p:nvGrpSpPr>
            <p:cNvPr id="31" name="Group 30">
              <a:extLst>
                <a:ext uri="{FF2B5EF4-FFF2-40B4-BE49-F238E27FC236}">
                  <a16:creationId xmlns:a16="http://schemas.microsoft.com/office/drawing/2014/main" id="{458E5F99-6183-D1B5-5AE0-BC7DB0D607BC}"/>
                </a:ext>
              </a:extLst>
            </p:cNvPr>
            <p:cNvGrpSpPr/>
            <p:nvPr/>
          </p:nvGrpSpPr>
          <p:grpSpPr>
            <a:xfrm>
              <a:off x="7863299" y="867410"/>
              <a:ext cx="4190506" cy="1423573"/>
              <a:chOff x="7902054" y="752027"/>
              <a:chExt cx="4215222" cy="1423573"/>
            </a:xfrm>
          </p:grpSpPr>
          <p:sp>
            <p:nvSpPr>
              <p:cNvPr id="34" name="Rectangle 33">
                <a:extLst>
                  <a:ext uri="{FF2B5EF4-FFF2-40B4-BE49-F238E27FC236}">
                    <a16:creationId xmlns:a16="http://schemas.microsoft.com/office/drawing/2014/main" id="{4D1D6E76-80D4-35F7-AD4D-0B7937ABC72A}"/>
                  </a:ext>
                </a:extLst>
              </p:cNvPr>
              <p:cNvSpPr/>
              <p:nvPr/>
            </p:nvSpPr>
            <p:spPr>
              <a:xfrm>
                <a:off x="7902054" y="752027"/>
                <a:ext cx="4215222" cy="1389791"/>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525">
                  <a:solidFill>
                    <a:prstClr val="white"/>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9DF926FD-7D90-EF65-48B4-9AADA76575BC}"/>
                  </a:ext>
                </a:extLst>
              </p:cNvPr>
              <p:cNvSpPr txBox="1"/>
              <p:nvPr/>
            </p:nvSpPr>
            <p:spPr>
              <a:xfrm>
                <a:off x="7923973" y="781928"/>
                <a:ext cx="4162314" cy="292388"/>
              </a:xfrm>
              <a:prstGeom prst="rect">
                <a:avLst/>
              </a:prstGeom>
              <a:solidFill>
                <a:schemeClr val="accent4">
                  <a:lumMod val="40000"/>
                  <a:lumOff val="60000"/>
                </a:schemeClr>
              </a:solidFill>
            </p:spPr>
            <p:txBody>
              <a:bodyPr wrap="square" rtlCol="0">
                <a:spAutoFit/>
              </a:bodyPr>
              <a:lstStyle/>
              <a:p>
                <a:pPr algn="ctr" defTabSz="685800">
                  <a:defRPr/>
                </a:pPr>
                <a:r>
                  <a:rPr lang="en-US" sz="825" b="1">
                    <a:solidFill>
                      <a:srgbClr val="000000"/>
                    </a:solidFill>
                    <a:latin typeface="Arial" panose="020B0604020202020204" pitchFamily="34" charset="0"/>
                    <a:cs typeface="Arial" panose="020B0604020202020204" pitchFamily="34" charset="0"/>
                  </a:rPr>
                  <a:t>Internal VA Stakeholders: VA Program Offices &amp; Staff</a:t>
                </a:r>
              </a:p>
            </p:txBody>
          </p:sp>
          <p:grpSp>
            <p:nvGrpSpPr>
              <p:cNvPr id="36" name="Group 35">
                <a:extLst>
                  <a:ext uri="{FF2B5EF4-FFF2-40B4-BE49-F238E27FC236}">
                    <a16:creationId xmlns:a16="http://schemas.microsoft.com/office/drawing/2014/main" id="{24FDF2D8-70AA-4315-CB2A-CB49399976FC}"/>
                  </a:ext>
                </a:extLst>
              </p:cNvPr>
              <p:cNvGrpSpPr/>
              <p:nvPr/>
            </p:nvGrpSpPr>
            <p:grpSpPr>
              <a:xfrm>
                <a:off x="7919499" y="1055069"/>
                <a:ext cx="4152892" cy="1120531"/>
                <a:chOff x="7919499" y="1055069"/>
                <a:chExt cx="4152892" cy="1120531"/>
              </a:xfrm>
            </p:grpSpPr>
            <p:grpSp>
              <p:nvGrpSpPr>
                <p:cNvPr id="37" name="Group 36">
                  <a:extLst>
                    <a:ext uri="{FF2B5EF4-FFF2-40B4-BE49-F238E27FC236}">
                      <a16:creationId xmlns:a16="http://schemas.microsoft.com/office/drawing/2014/main" id="{0CC2C8FC-604E-DD57-E9C4-00AFDFEC3295}"/>
                    </a:ext>
                  </a:extLst>
                </p:cNvPr>
                <p:cNvGrpSpPr/>
                <p:nvPr/>
              </p:nvGrpSpPr>
              <p:grpSpPr>
                <a:xfrm>
                  <a:off x="7937869" y="1062263"/>
                  <a:ext cx="4134522" cy="384426"/>
                  <a:chOff x="147399" y="1042083"/>
                  <a:chExt cx="4134522" cy="384426"/>
                </a:xfrm>
              </p:grpSpPr>
              <p:grpSp>
                <p:nvGrpSpPr>
                  <p:cNvPr id="64" name="Group 63">
                    <a:extLst>
                      <a:ext uri="{FF2B5EF4-FFF2-40B4-BE49-F238E27FC236}">
                        <a16:creationId xmlns:a16="http://schemas.microsoft.com/office/drawing/2014/main" id="{DD2BE388-F806-73FE-F1C1-4281C4A0001D}"/>
                      </a:ext>
                    </a:extLst>
                  </p:cNvPr>
                  <p:cNvGrpSpPr/>
                  <p:nvPr/>
                </p:nvGrpSpPr>
                <p:grpSpPr>
                  <a:xfrm>
                    <a:off x="147399" y="1042083"/>
                    <a:ext cx="4134522" cy="232501"/>
                    <a:chOff x="147399" y="1042083"/>
                    <a:chExt cx="4134522" cy="232501"/>
                  </a:xfrm>
                </p:grpSpPr>
                <p:sp>
                  <p:nvSpPr>
                    <p:cNvPr id="66" name="TextBox 65">
                      <a:extLst>
                        <a:ext uri="{FF2B5EF4-FFF2-40B4-BE49-F238E27FC236}">
                          <a16:creationId xmlns:a16="http://schemas.microsoft.com/office/drawing/2014/main" id="{27B62F5A-CC16-5228-6109-79FAEF0C09B0}"/>
                        </a:ext>
                      </a:extLst>
                    </p:cNvPr>
                    <p:cNvSpPr txBox="1"/>
                    <p:nvPr/>
                  </p:nvSpPr>
                  <p:spPr>
                    <a:xfrm>
                      <a:off x="147399"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endParaRPr lang="en-US" sz="525">
                        <a:solidFill>
                          <a:srgbClr val="000000"/>
                        </a:solidFill>
                        <a:latin typeface="Arial" panose="020B0604020202020204" pitchFamily="34" charset="0"/>
                        <a:cs typeface="Arial" panose="020B0604020202020204" pitchFamily="34" charset="0"/>
                      </a:endParaRPr>
                    </a:p>
                  </p:txBody>
                </p:sp>
                <p:sp>
                  <p:nvSpPr>
                    <p:cNvPr id="67" name="TextBox 66">
                      <a:extLst>
                        <a:ext uri="{FF2B5EF4-FFF2-40B4-BE49-F238E27FC236}">
                          <a16:creationId xmlns:a16="http://schemas.microsoft.com/office/drawing/2014/main" id="{C4F64E28-E3EF-EA87-3985-E7FD90EBD50F}"/>
                        </a:ext>
                      </a:extLst>
                    </p:cNvPr>
                    <p:cNvSpPr txBox="1"/>
                    <p:nvPr/>
                  </p:nvSpPr>
                  <p:spPr>
                    <a:xfrm>
                      <a:off x="3650154"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VEO</a:t>
                      </a:r>
                    </a:p>
                  </p:txBody>
                </p:sp>
                <p:sp>
                  <p:nvSpPr>
                    <p:cNvPr id="68" name="TextBox 67">
                      <a:extLst>
                        <a:ext uri="{FF2B5EF4-FFF2-40B4-BE49-F238E27FC236}">
                          <a16:creationId xmlns:a16="http://schemas.microsoft.com/office/drawing/2014/main" id="{625BC0D0-114D-4461-961D-778ED06E74D5}"/>
                        </a:ext>
                      </a:extLst>
                    </p:cNvPr>
                    <p:cNvSpPr txBox="1"/>
                    <p:nvPr/>
                  </p:nvSpPr>
                  <p:spPr>
                    <a:xfrm>
                      <a:off x="1541488" y="1043704"/>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CBI</a:t>
                      </a:r>
                    </a:p>
                  </p:txBody>
                </p:sp>
                <p:sp>
                  <p:nvSpPr>
                    <p:cNvPr id="69" name="TextBox 68">
                      <a:extLst>
                        <a:ext uri="{FF2B5EF4-FFF2-40B4-BE49-F238E27FC236}">
                          <a16:creationId xmlns:a16="http://schemas.microsoft.com/office/drawing/2014/main" id="{EAD8B2AE-2CB2-0715-2FE9-36CEB3366F7F}"/>
                        </a:ext>
                      </a:extLst>
                    </p:cNvPr>
                    <p:cNvSpPr txBox="1"/>
                    <p:nvPr/>
                  </p:nvSpPr>
                  <p:spPr>
                    <a:xfrm>
                      <a:off x="844187" y="1043004"/>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sp>
                  <p:nvSpPr>
                    <p:cNvPr id="70" name="TextBox 69">
                      <a:extLst>
                        <a:ext uri="{FF2B5EF4-FFF2-40B4-BE49-F238E27FC236}">
                          <a16:creationId xmlns:a16="http://schemas.microsoft.com/office/drawing/2014/main" id="{2D158A0A-6C7B-7709-9A1F-997EAD396F92}"/>
                        </a:ext>
                      </a:extLst>
                    </p:cNvPr>
                    <p:cNvSpPr txBox="1"/>
                    <p:nvPr/>
                  </p:nvSpPr>
                  <p:spPr>
                    <a:xfrm>
                      <a:off x="2240005"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Ops</a:t>
                      </a:r>
                    </a:p>
                  </p:txBody>
                </p:sp>
                <p:sp>
                  <p:nvSpPr>
                    <p:cNvPr id="71" name="TextBox 70">
                      <a:extLst>
                        <a:ext uri="{FF2B5EF4-FFF2-40B4-BE49-F238E27FC236}">
                          <a16:creationId xmlns:a16="http://schemas.microsoft.com/office/drawing/2014/main" id="{D644D90A-6514-ED65-494B-60ED9CFD0254}"/>
                        </a:ext>
                      </a:extLst>
                    </p:cNvPr>
                    <p:cNvSpPr txBox="1"/>
                    <p:nvPr/>
                  </p:nvSpPr>
                  <p:spPr>
                    <a:xfrm>
                      <a:off x="2934796" y="1043752"/>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grpSp>
              <p:sp>
                <p:nvSpPr>
                  <p:cNvPr id="65" name="TextBox 64">
                    <a:extLst>
                      <a:ext uri="{FF2B5EF4-FFF2-40B4-BE49-F238E27FC236}">
                        <a16:creationId xmlns:a16="http://schemas.microsoft.com/office/drawing/2014/main" id="{313F1DE7-C6C9-68F5-4261-0873013AD6E8}"/>
                      </a:ext>
                    </a:extLst>
                  </p:cNvPr>
                  <p:cNvSpPr txBox="1"/>
                  <p:nvPr/>
                </p:nvSpPr>
                <p:spPr>
                  <a:xfrm>
                    <a:off x="2978839" y="1044867"/>
                    <a:ext cx="542183" cy="381642"/>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Clinical Services</a:t>
                    </a:r>
                  </a:p>
                </p:txBody>
              </p:sp>
            </p:grpSp>
            <p:grpSp>
              <p:nvGrpSpPr>
                <p:cNvPr id="38" name="Group 37">
                  <a:extLst>
                    <a:ext uri="{FF2B5EF4-FFF2-40B4-BE49-F238E27FC236}">
                      <a16:creationId xmlns:a16="http://schemas.microsoft.com/office/drawing/2014/main" id="{205E5524-7D97-7EEF-9D5F-966DFBC367A1}"/>
                    </a:ext>
                  </a:extLst>
                </p:cNvPr>
                <p:cNvGrpSpPr/>
                <p:nvPr/>
              </p:nvGrpSpPr>
              <p:grpSpPr>
                <a:xfrm>
                  <a:off x="7937052" y="1349509"/>
                  <a:ext cx="4134522" cy="470603"/>
                  <a:chOff x="147399" y="1042083"/>
                  <a:chExt cx="4134522" cy="470603"/>
                </a:xfrm>
              </p:grpSpPr>
              <p:grpSp>
                <p:nvGrpSpPr>
                  <p:cNvPr id="56" name="Group 55">
                    <a:extLst>
                      <a:ext uri="{FF2B5EF4-FFF2-40B4-BE49-F238E27FC236}">
                        <a16:creationId xmlns:a16="http://schemas.microsoft.com/office/drawing/2014/main" id="{F62CAB43-F252-E5B7-6AEF-F5BFD7D9B2A6}"/>
                      </a:ext>
                    </a:extLst>
                  </p:cNvPr>
                  <p:cNvGrpSpPr/>
                  <p:nvPr/>
                </p:nvGrpSpPr>
                <p:grpSpPr>
                  <a:xfrm>
                    <a:off x="147399" y="1042083"/>
                    <a:ext cx="4134522" cy="232501"/>
                    <a:chOff x="147399" y="1042083"/>
                    <a:chExt cx="4134522" cy="232501"/>
                  </a:xfrm>
                </p:grpSpPr>
                <p:sp>
                  <p:nvSpPr>
                    <p:cNvPr id="58" name="TextBox 57">
                      <a:extLst>
                        <a:ext uri="{FF2B5EF4-FFF2-40B4-BE49-F238E27FC236}">
                          <a16:creationId xmlns:a16="http://schemas.microsoft.com/office/drawing/2014/main" id="{8251D80F-5091-5935-E801-08E68732BC59}"/>
                        </a:ext>
                      </a:extLst>
                    </p:cNvPr>
                    <p:cNvSpPr txBox="1"/>
                    <p:nvPr/>
                  </p:nvSpPr>
                  <p:spPr>
                    <a:xfrm>
                      <a:off x="147399"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QSV</a:t>
                      </a:r>
                    </a:p>
                  </p:txBody>
                </p:sp>
                <p:sp>
                  <p:nvSpPr>
                    <p:cNvPr id="59" name="TextBox 58">
                      <a:extLst>
                        <a:ext uri="{FF2B5EF4-FFF2-40B4-BE49-F238E27FC236}">
                          <a16:creationId xmlns:a16="http://schemas.microsoft.com/office/drawing/2014/main" id="{6AEDCFC7-1C82-A0D7-292A-BF8F429BF3B3}"/>
                        </a:ext>
                      </a:extLst>
                    </p:cNvPr>
                    <p:cNvSpPr txBox="1"/>
                    <p:nvPr/>
                  </p:nvSpPr>
                  <p:spPr>
                    <a:xfrm>
                      <a:off x="3650154"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WMC</a:t>
                      </a:r>
                    </a:p>
                  </p:txBody>
                </p:sp>
                <p:sp>
                  <p:nvSpPr>
                    <p:cNvPr id="60" name="TextBox 59">
                      <a:extLst>
                        <a:ext uri="{FF2B5EF4-FFF2-40B4-BE49-F238E27FC236}">
                          <a16:creationId xmlns:a16="http://schemas.microsoft.com/office/drawing/2014/main" id="{E422E5BA-882F-534C-23F9-E96224BCFB2A}"/>
                        </a:ext>
                      </a:extLst>
                    </p:cNvPr>
                    <p:cNvSpPr txBox="1"/>
                    <p:nvPr/>
                  </p:nvSpPr>
                  <p:spPr>
                    <a:xfrm>
                      <a:off x="1541488" y="1043704"/>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CSO</a:t>
                      </a:r>
                    </a:p>
                  </p:txBody>
                </p:sp>
                <p:sp>
                  <p:nvSpPr>
                    <p:cNvPr id="61" name="TextBox 60">
                      <a:extLst>
                        <a:ext uri="{FF2B5EF4-FFF2-40B4-BE49-F238E27FC236}">
                          <a16:creationId xmlns:a16="http://schemas.microsoft.com/office/drawing/2014/main" id="{C4EDDCB2-FA94-50F9-D7B5-4937883B5099}"/>
                        </a:ext>
                      </a:extLst>
                    </p:cNvPr>
                    <p:cNvSpPr txBox="1"/>
                    <p:nvPr/>
                  </p:nvSpPr>
                  <p:spPr>
                    <a:xfrm>
                      <a:off x="844187" y="1043004"/>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HOC</a:t>
                      </a:r>
                    </a:p>
                  </p:txBody>
                </p:sp>
                <p:sp>
                  <p:nvSpPr>
                    <p:cNvPr id="62" name="TextBox 61">
                      <a:extLst>
                        <a:ext uri="{FF2B5EF4-FFF2-40B4-BE49-F238E27FC236}">
                          <a16:creationId xmlns:a16="http://schemas.microsoft.com/office/drawing/2014/main" id="{668231EB-B0ED-E741-633E-66A9A4E68715}"/>
                        </a:ext>
                      </a:extLst>
                    </p:cNvPr>
                    <p:cNvSpPr txBox="1"/>
                    <p:nvPr/>
                  </p:nvSpPr>
                  <p:spPr>
                    <a:xfrm>
                      <a:off x="2240005"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Risk Mgt</a:t>
                      </a:r>
                    </a:p>
                  </p:txBody>
                </p:sp>
                <p:sp>
                  <p:nvSpPr>
                    <p:cNvPr id="63" name="TextBox 62">
                      <a:extLst>
                        <a:ext uri="{FF2B5EF4-FFF2-40B4-BE49-F238E27FC236}">
                          <a16:creationId xmlns:a16="http://schemas.microsoft.com/office/drawing/2014/main" id="{1D34C288-EE0B-0453-7275-9A0DBD187221}"/>
                        </a:ext>
                      </a:extLst>
                    </p:cNvPr>
                    <p:cNvSpPr txBox="1"/>
                    <p:nvPr/>
                  </p:nvSpPr>
                  <p:spPr>
                    <a:xfrm>
                      <a:off x="2934796" y="1043752"/>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grpSp>
              <p:sp>
                <p:nvSpPr>
                  <p:cNvPr id="57" name="TextBox 56">
                    <a:extLst>
                      <a:ext uri="{FF2B5EF4-FFF2-40B4-BE49-F238E27FC236}">
                        <a16:creationId xmlns:a16="http://schemas.microsoft.com/office/drawing/2014/main" id="{4B23986F-2897-6497-7860-D7AC912B70A8}"/>
                      </a:ext>
                    </a:extLst>
                  </p:cNvPr>
                  <p:cNvSpPr txBox="1"/>
                  <p:nvPr/>
                </p:nvSpPr>
                <p:spPr>
                  <a:xfrm>
                    <a:off x="2978839" y="1044867"/>
                    <a:ext cx="542183" cy="467819"/>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Support Services</a:t>
                    </a:r>
                  </a:p>
                </p:txBody>
              </p:sp>
            </p:grpSp>
            <p:grpSp>
              <p:nvGrpSpPr>
                <p:cNvPr id="39" name="Group 38">
                  <a:extLst>
                    <a:ext uri="{FF2B5EF4-FFF2-40B4-BE49-F238E27FC236}">
                      <a16:creationId xmlns:a16="http://schemas.microsoft.com/office/drawing/2014/main" id="{4D07E3F8-C070-8362-3993-39AF7A54B74C}"/>
                    </a:ext>
                  </a:extLst>
                </p:cNvPr>
                <p:cNvGrpSpPr/>
                <p:nvPr/>
              </p:nvGrpSpPr>
              <p:grpSpPr>
                <a:xfrm>
                  <a:off x="7937869" y="1609796"/>
                  <a:ext cx="4134522" cy="384426"/>
                  <a:chOff x="147399" y="1042083"/>
                  <a:chExt cx="4134522" cy="384426"/>
                </a:xfrm>
              </p:grpSpPr>
              <p:grpSp>
                <p:nvGrpSpPr>
                  <p:cNvPr id="48" name="Group 47">
                    <a:extLst>
                      <a:ext uri="{FF2B5EF4-FFF2-40B4-BE49-F238E27FC236}">
                        <a16:creationId xmlns:a16="http://schemas.microsoft.com/office/drawing/2014/main" id="{8CEA5EAF-828B-462D-AE59-804694A3E09B}"/>
                      </a:ext>
                    </a:extLst>
                  </p:cNvPr>
                  <p:cNvGrpSpPr/>
                  <p:nvPr/>
                </p:nvGrpSpPr>
                <p:grpSpPr>
                  <a:xfrm>
                    <a:off x="147399" y="1042083"/>
                    <a:ext cx="4134522" cy="232501"/>
                    <a:chOff x="147399" y="1042083"/>
                    <a:chExt cx="4134522" cy="232501"/>
                  </a:xfrm>
                </p:grpSpPr>
                <p:sp>
                  <p:nvSpPr>
                    <p:cNvPr id="50" name="TextBox 49">
                      <a:extLst>
                        <a:ext uri="{FF2B5EF4-FFF2-40B4-BE49-F238E27FC236}">
                          <a16:creationId xmlns:a16="http://schemas.microsoft.com/office/drawing/2014/main" id="{FCA4036E-9A78-39DD-5D3B-14796FC91F5A}"/>
                        </a:ext>
                      </a:extLst>
                    </p:cNvPr>
                    <p:cNvSpPr txBox="1"/>
                    <p:nvPr/>
                  </p:nvSpPr>
                  <p:spPr>
                    <a:xfrm>
                      <a:off x="147399"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VISNs</a:t>
                      </a:r>
                    </a:p>
                  </p:txBody>
                </p:sp>
                <p:sp>
                  <p:nvSpPr>
                    <p:cNvPr id="51" name="TextBox 50">
                      <a:extLst>
                        <a:ext uri="{FF2B5EF4-FFF2-40B4-BE49-F238E27FC236}">
                          <a16:creationId xmlns:a16="http://schemas.microsoft.com/office/drawing/2014/main" id="{12D8EA92-AEFD-B930-4C53-6A9DFFA8EECF}"/>
                        </a:ext>
                      </a:extLst>
                    </p:cNvPr>
                    <p:cNvSpPr txBox="1"/>
                    <p:nvPr/>
                  </p:nvSpPr>
                  <p:spPr>
                    <a:xfrm>
                      <a:off x="3650154"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err="1">
                          <a:solidFill>
                            <a:srgbClr val="000000"/>
                          </a:solidFill>
                          <a:latin typeface="Arial" panose="020B0604020202020204" pitchFamily="34" charset="0"/>
                          <a:cs typeface="Arial" panose="020B0604020202020204" pitchFamily="34" charset="0"/>
                        </a:rPr>
                        <a:t>iLEAD</a:t>
                      </a:r>
                      <a:endParaRPr lang="en-US" sz="525">
                        <a:solidFill>
                          <a:srgbClr val="000000"/>
                        </a:solidFill>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1322B0CD-1E31-B10B-C8FC-E4FAD3E7893E}"/>
                        </a:ext>
                      </a:extLst>
                    </p:cNvPr>
                    <p:cNvSpPr txBox="1"/>
                    <p:nvPr/>
                  </p:nvSpPr>
                  <p:spPr>
                    <a:xfrm>
                      <a:off x="1541488" y="1043704"/>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DEAN</a:t>
                      </a:r>
                    </a:p>
                  </p:txBody>
                </p:sp>
                <p:sp>
                  <p:nvSpPr>
                    <p:cNvPr id="53" name="TextBox 52">
                      <a:extLst>
                        <a:ext uri="{FF2B5EF4-FFF2-40B4-BE49-F238E27FC236}">
                          <a16:creationId xmlns:a16="http://schemas.microsoft.com/office/drawing/2014/main" id="{138EA9E2-F342-6431-D371-04AEE7D69649}"/>
                        </a:ext>
                      </a:extLst>
                    </p:cNvPr>
                    <p:cNvSpPr txBox="1"/>
                    <p:nvPr/>
                  </p:nvSpPr>
                  <p:spPr>
                    <a:xfrm>
                      <a:off x="844187" y="1043004"/>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OIT</a:t>
                      </a:r>
                    </a:p>
                  </p:txBody>
                </p:sp>
                <p:sp>
                  <p:nvSpPr>
                    <p:cNvPr id="54" name="TextBox 53">
                      <a:extLst>
                        <a:ext uri="{FF2B5EF4-FFF2-40B4-BE49-F238E27FC236}">
                          <a16:creationId xmlns:a16="http://schemas.microsoft.com/office/drawing/2014/main" id="{F9091301-0827-C742-94F4-A606D7C7B647}"/>
                        </a:ext>
                      </a:extLst>
                    </p:cNvPr>
                    <p:cNvSpPr txBox="1"/>
                    <p:nvPr/>
                  </p:nvSpPr>
                  <p:spPr>
                    <a:xfrm>
                      <a:off x="2240005" y="1042083"/>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endParaRPr lang="en-US" sz="525">
                        <a:solidFill>
                          <a:srgbClr val="000000"/>
                        </a:solidFill>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84B0EAFC-41FD-EFB1-26C7-DBEE4AEF165E}"/>
                        </a:ext>
                      </a:extLst>
                    </p:cNvPr>
                    <p:cNvSpPr txBox="1"/>
                    <p:nvPr/>
                  </p:nvSpPr>
                  <p:spPr>
                    <a:xfrm>
                      <a:off x="2934796" y="1043752"/>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grpSp>
              <p:sp>
                <p:nvSpPr>
                  <p:cNvPr id="49" name="TextBox 48">
                    <a:extLst>
                      <a:ext uri="{FF2B5EF4-FFF2-40B4-BE49-F238E27FC236}">
                        <a16:creationId xmlns:a16="http://schemas.microsoft.com/office/drawing/2014/main" id="{83212EB6-5E3B-7A20-5BBF-3B30656BCE75}"/>
                      </a:ext>
                    </a:extLst>
                  </p:cNvPr>
                  <p:cNvSpPr txBox="1"/>
                  <p:nvPr/>
                </p:nvSpPr>
                <p:spPr>
                  <a:xfrm>
                    <a:off x="2978839" y="1044867"/>
                    <a:ext cx="542183" cy="381642"/>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VHA Finance</a:t>
                    </a:r>
                  </a:p>
                </p:txBody>
              </p:sp>
            </p:grpSp>
            <p:grpSp>
              <p:nvGrpSpPr>
                <p:cNvPr id="40" name="Group 39">
                  <a:extLst>
                    <a:ext uri="{FF2B5EF4-FFF2-40B4-BE49-F238E27FC236}">
                      <a16:creationId xmlns:a16="http://schemas.microsoft.com/office/drawing/2014/main" id="{E53F112D-F31A-71BB-C47A-1BED13293074}"/>
                    </a:ext>
                  </a:extLst>
                </p:cNvPr>
                <p:cNvGrpSpPr/>
                <p:nvPr/>
              </p:nvGrpSpPr>
              <p:grpSpPr>
                <a:xfrm>
                  <a:off x="8294072" y="1877737"/>
                  <a:ext cx="2026020" cy="231531"/>
                  <a:chOff x="504419" y="1043005"/>
                  <a:chExt cx="2026020" cy="231531"/>
                </a:xfrm>
              </p:grpSpPr>
              <p:sp>
                <p:nvSpPr>
                  <p:cNvPr id="45" name="TextBox 44">
                    <a:extLst>
                      <a:ext uri="{FF2B5EF4-FFF2-40B4-BE49-F238E27FC236}">
                        <a16:creationId xmlns:a16="http://schemas.microsoft.com/office/drawing/2014/main" id="{01C57C78-F417-7E1A-FCE0-E0B27C436B39}"/>
                      </a:ext>
                    </a:extLst>
                  </p:cNvPr>
                  <p:cNvSpPr txBox="1"/>
                  <p:nvPr/>
                </p:nvSpPr>
                <p:spPr>
                  <a:xfrm>
                    <a:off x="504419" y="1043005"/>
                    <a:ext cx="631765"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endParaRPr lang="en-US" sz="525">
                      <a:solidFill>
                        <a:srgbClr val="000000"/>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867F3FF5-AA22-144E-A9C1-56F3BB437C09}"/>
                      </a:ext>
                    </a:extLst>
                  </p:cNvPr>
                  <p:cNvSpPr txBox="1"/>
                  <p:nvPr/>
                </p:nvSpPr>
                <p:spPr>
                  <a:xfrm>
                    <a:off x="1898674" y="1043704"/>
                    <a:ext cx="631765"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API</a:t>
                    </a:r>
                  </a:p>
                </p:txBody>
              </p:sp>
              <p:sp>
                <p:nvSpPr>
                  <p:cNvPr id="47" name="TextBox 46">
                    <a:extLst>
                      <a:ext uri="{FF2B5EF4-FFF2-40B4-BE49-F238E27FC236}">
                        <a16:creationId xmlns:a16="http://schemas.microsoft.com/office/drawing/2014/main" id="{37FB3854-E21D-A0D9-72A5-B485A65AA4AF}"/>
                      </a:ext>
                    </a:extLst>
                  </p:cNvPr>
                  <p:cNvSpPr txBox="1"/>
                  <p:nvPr/>
                </p:nvSpPr>
                <p:spPr>
                  <a:xfrm>
                    <a:off x="1201380" y="1043005"/>
                    <a:ext cx="631765"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VAMCs</a:t>
                    </a:r>
                  </a:p>
                </p:txBody>
              </p:sp>
            </p:grpSp>
            <p:sp>
              <p:nvSpPr>
                <p:cNvPr id="41" name="TextBox 40">
                  <a:extLst>
                    <a:ext uri="{FF2B5EF4-FFF2-40B4-BE49-F238E27FC236}">
                      <a16:creationId xmlns:a16="http://schemas.microsoft.com/office/drawing/2014/main" id="{DF1F722E-3140-F259-6E16-43313CE42183}"/>
                    </a:ext>
                  </a:extLst>
                </p:cNvPr>
                <p:cNvSpPr txBox="1"/>
                <p:nvPr/>
              </p:nvSpPr>
              <p:spPr>
                <a:xfrm>
                  <a:off x="7919499" y="1055069"/>
                  <a:ext cx="692546" cy="381643"/>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PC</a:t>
                  </a:r>
                </a:p>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PBM/Ethics</a:t>
                  </a:r>
                </a:p>
              </p:txBody>
            </p:sp>
            <p:sp>
              <p:nvSpPr>
                <p:cNvPr id="42" name="TextBox 41">
                  <a:extLst>
                    <a:ext uri="{FF2B5EF4-FFF2-40B4-BE49-F238E27FC236}">
                      <a16:creationId xmlns:a16="http://schemas.microsoft.com/office/drawing/2014/main" id="{B7D7327B-7392-B642-D1D8-6F8105F43ED0}"/>
                    </a:ext>
                  </a:extLst>
                </p:cNvPr>
                <p:cNvSpPr txBox="1"/>
                <p:nvPr/>
              </p:nvSpPr>
              <p:spPr>
                <a:xfrm>
                  <a:off x="8600554" y="1062798"/>
                  <a:ext cx="692546" cy="295465"/>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VHA Comms</a:t>
                  </a:r>
                </a:p>
              </p:txBody>
            </p:sp>
            <p:sp>
              <p:nvSpPr>
                <p:cNvPr id="43" name="TextBox 42">
                  <a:extLst>
                    <a:ext uri="{FF2B5EF4-FFF2-40B4-BE49-F238E27FC236}">
                      <a16:creationId xmlns:a16="http://schemas.microsoft.com/office/drawing/2014/main" id="{6C838BC5-0C19-36A0-605A-A6CDF1275A21}"/>
                    </a:ext>
                  </a:extLst>
                </p:cNvPr>
                <p:cNvSpPr txBox="1"/>
                <p:nvPr/>
              </p:nvSpPr>
              <p:spPr>
                <a:xfrm>
                  <a:off x="10016741" y="1601007"/>
                  <a:ext cx="692546" cy="295465"/>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Clinical </a:t>
                  </a:r>
                </a:p>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Staff</a:t>
                  </a:r>
                </a:p>
              </p:txBody>
            </p:sp>
            <p:sp>
              <p:nvSpPr>
                <p:cNvPr id="44" name="TextBox 43">
                  <a:extLst>
                    <a:ext uri="{FF2B5EF4-FFF2-40B4-BE49-F238E27FC236}">
                      <a16:creationId xmlns:a16="http://schemas.microsoft.com/office/drawing/2014/main" id="{283BC18A-1D87-AAB0-6FC0-6CE1473BC5BB}"/>
                    </a:ext>
                  </a:extLst>
                </p:cNvPr>
                <p:cNvSpPr txBox="1"/>
                <p:nvPr/>
              </p:nvSpPr>
              <p:spPr>
                <a:xfrm>
                  <a:off x="8263979" y="1880135"/>
                  <a:ext cx="692546" cy="295465"/>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Connected Care</a:t>
                  </a:r>
                </a:p>
              </p:txBody>
            </p:sp>
          </p:grpSp>
        </p:grpSp>
        <p:sp>
          <p:nvSpPr>
            <p:cNvPr id="32" name="TextBox 31">
              <a:extLst>
                <a:ext uri="{FF2B5EF4-FFF2-40B4-BE49-F238E27FC236}">
                  <a16:creationId xmlns:a16="http://schemas.microsoft.com/office/drawing/2014/main" id="{B00FE3DC-FE53-D742-236F-CA73EDFBCEA9}"/>
                </a:ext>
              </a:extLst>
            </p:cNvPr>
            <p:cNvSpPr txBox="1"/>
            <p:nvPr/>
          </p:nvSpPr>
          <p:spPr>
            <a:xfrm>
              <a:off x="11024245" y="2005663"/>
              <a:ext cx="628063"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OCLA</a:t>
              </a:r>
            </a:p>
          </p:txBody>
        </p:sp>
        <p:sp>
          <p:nvSpPr>
            <p:cNvPr id="33" name="TextBox 32">
              <a:extLst>
                <a:ext uri="{FF2B5EF4-FFF2-40B4-BE49-F238E27FC236}">
                  <a16:creationId xmlns:a16="http://schemas.microsoft.com/office/drawing/2014/main" id="{59ECCE92-DEED-74E0-72C2-F5A63C904A94}"/>
                </a:ext>
              </a:extLst>
            </p:cNvPr>
            <p:cNvSpPr txBox="1"/>
            <p:nvPr/>
          </p:nvSpPr>
          <p:spPr>
            <a:xfrm>
              <a:off x="10330795" y="1997436"/>
              <a:ext cx="628063"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OGC</a:t>
              </a:r>
            </a:p>
          </p:txBody>
        </p:sp>
      </p:grpSp>
      <p:sp>
        <p:nvSpPr>
          <p:cNvPr id="72" name="TextBox 71">
            <a:extLst>
              <a:ext uri="{FF2B5EF4-FFF2-40B4-BE49-F238E27FC236}">
                <a16:creationId xmlns:a16="http://schemas.microsoft.com/office/drawing/2014/main" id="{A70C1555-611C-B724-60AD-7354CB3A6C25}"/>
              </a:ext>
            </a:extLst>
          </p:cNvPr>
          <p:cNvSpPr txBox="1"/>
          <p:nvPr/>
        </p:nvSpPr>
        <p:spPr>
          <a:xfrm>
            <a:off x="3435778" y="5911638"/>
            <a:ext cx="1262205" cy="196208"/>
          </a:xfrm>
          <a:prstGeom prst="rect">
            <a:avLst/>
          </a:prstGeom>
          <a:noFill/>
        </p:spPr>
        <p:txBody>
          <a:bodyPr wrap="none" lIns="68580" tIns="34290" rIns="68580" bIns="34290" rtlCol="0" anchor="t">
            <a:spAutoFit/>
          </a:bodyPr>
          <a:lstStyle/>
          <a:p>
            <a:pPr defTabSz="685800">
              <a:defRPr/>
            </a:pPr>
            <a:r>
              <a:rPr lang="en-US" sz="825" b="1" i="1">
                <a:solidFill>
                  <a:srgbClr val="000000"/>
                </a:solidFill>
                <a:latin typeface="Arial"/>
                <a:cs typeface="Arial"/>
              </a:rPr>
              <a:t>Updated October 2025</a:t>
            </a:r>
          </a:p>
        </p:txBody>
      </p:sp>
      <p:sp>
        <p:nvSpPr>
          <p:cNvPr id="73" name="Rectangle 72">
            <a:extLst>
              <a:ext uri="{FF2B5EF4-FFF2-40B4-BE49-F238E27FC236}">
                <a16:creationId xmlns:a16="http://schemas.microsoft.com/office/drawing/2014/main" id="{012E7D05-5934-326A-4617-B0DE06C1A000}"/>
              </a:ext>
            </a:extLst>
          </p:cNvPr>
          <p:cNvSpPr/>
          <p:nvPr/>
        </p:nvSpPr>
        <p:spPr>
          <a:xfrm>
            <a:off x="7546408" y="3108245"/>
            <a:ext cx="1483104" cy="342349"/>
          </a:xfrm>
          <a:prstGeom prst="rect">
            <a:avLst/>
          </a:prstGeom>
          <a:solidFill>
            <a:schemeClr val="accent5">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sz="900" b="1">
                <a:solidFill>
                  <a:srgbClr val="000000"/>
                </a:solidFill>
                <a:latin typeface="Arial" panose="020B0604020202020204" pitchFamily="34" charset="0"/>
                <a:cs typeface="Arial" panose="020B0604020202020204" pitchFamily="34" charset="0"/>
              </a:rPr>
              <a:t>WS 5: Community Care</a:t>
            </a:r>
          </a:p>
        </p:txBody>
      </p:sp>
      <p:sp>
        <p:nvSpPr>
          <p:cNvPr id="74" name="Rectangle 73">
            <a:extLst>
              <a:ext uri="{FF2B5EF4-FFF2-40B4-BE49-F238E27FC236}">
                <a16:creationId xmlns:a16="http://schemas.microsoft.com/office/drawing/2014/main" id="{6EAC82DF-B0A5-79E8-8FC0-E0B9A880E937}"/>
              </a:ext>
            </a:extLst>
          </p:cNvPr>
          <p:cNvSpPr/>
          <p:nvPr/>
        </p:nvSpPr>
        <p:spPr>
          <a:xfrm>
            <a:off x="7555397" y="3532389"/>
            <a:ext cx="1483104" cy="590022"/>
          </a:xfrm>
          <a:prstGeom prst="rect">
            <a:avLst/>
          </a:prstGeom>
          <a:solidFill>
            <a:schemeClr val="accent5">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defTabSz="685800">
              <a:lnSpc>
                <a:spcPct val="110000"/>
              </a:lnSpc>
              <a:spcAft>
                <a:spcPts val="75"/>
              </a:spcAft>
              <a:defRPr/>
            </a:pPr>
            <a:r>
              <a:rPr lang="en-US" sz="900" b="1">
                <a:solidFill>
                  <a:srgbClr val="000000"/>
                </a:solidFill>
                <a:latin typeface="Arial" panose="020B0604020202020204" pitchFamily="34" charset="0"/>
                <a:cs typeface="Arial" panose="020B0604020202020204" pitchFamily="34" charset="0"/>
              </a:rPr>
              <a:t>Workstream Co-Leads:</a:t>
            </a:r>
          </a:p>
          <a:p>
            <a:pPr algn="ctr" defTabSz="685800">
              <a:lnSpc>
                <a:spcPct val="110000"/>
              </a:lnSpc>
              <a:defRPr/>
            </a:pPr>
            <a:r>
              <a:rPr lang="en-US" sz="825" err="1">
                <a:solidFill>
                  <a:srgbClr val="000000"/>
                </a:solidFill>
                <a:latin typeface="Arial"/>
                <a:cs typeface="Arial"/>
              </a:rPr>
              <a:t>Allyene</a:t>
            </a:r>
            <a:r>
              <a:rPr lang="en-US" sz="825">
                <a:solidFill>
                  <a:srgbClr val="000000"/>
                </a:solidFill>
                <a:latin typeface="Arial"/>
                <a:cs typeface="Arial"/>
              </a:rPr>
              <a:t> Lacey (IVC)</a:t>
            </a:r>
          </a:p>
          <a:p>
            <a:pPr algn="ctr" defTabSz="685800">
              <a:lnSpc>
                <a:spcPct val="110000"/>
              </a:lnSpc>
              <a:defRPr/>
            </a:pPr>
            <a:r>
              <a:rPr lang="en-US" sz="825">
                <a:solidFill>
                  <a:srgbClr val="000000"/>
                </a:solidFill>
                <a:latin typeface="Arial"/>
                <a:cs typeface="Arial"/>
              </a:rPr>
              <a:t>Eric Hermes (OMH)</a:t>
            </a:r>
          </a:p>
        </p:txBody>
      </p:sp>
      <p:grpSp>
        <p:nvGrpSpPr>
          <p:cNvPr id="75" name="Group 74">
            <a:extLst>
              <a:ext uri="{FF2B5EF4-FFF2-40B4-BE49-F238E27FC236}">
                <a16:creationId xmlns:a16="http://schemas.microsoft.com/office/drawing/2014/main" id="{A607D5C5-51A3-193D-95C8-60DA931F7291}"/>
              </a:ext>
            </a:extLst>
          </p:cNvPr>
          <p:cNvGrpSpPr/>
          <p:nvPr/>
        </p:nvGrpSpPr>
        <p:grpSpPr>
          <a:xfrm>
            <a:off x="88589" y="853607"/>
            <a:ext cx="3161417" cy="918861"/>
            <a:chOff x="120589" y="864594"/>
            <a:chExt cx="4215222" cy="1225148"/>
          </a:xfrm>
        </p:grpSpPr>
        <p:grpSp>
          <p:nvGrpSpPr>
            <p:cNvPr id="76" name="Group 75">
              <a:extLst>
                <a:ext uri="{FF2B5EF4-FFF2-40B4-BE49-F238E27FC236}">
                  <a16:creationId xmlns:a16="http://schemas.microsoft.com/office/drawing/2014/main" id="{8D072B3C-0E8D-1C90-FE61-C0FFA0A2A09E}"/>
                </a:ext>
              </a:extLst>
            </p:cNvPr>
            <p:cNvGrpSpPr/>
            <p:nvPr/>
          </p:nvGrpSpPr>
          <p:grpSpPr>
            <a:xfrm>
              <a:off x="120589" y="864594"/>
              <a:ext cx="4215222" cy="1225148"/>
              <a:chOff x="129954" y="752027"/>
              <a:chExt cx="4215222" cy="1228993"/>
            </a:xfrm>
            <a:effectLst/>
          </p:grpSpPr>
          <p:sp>
            <p:nvSpPr>
              <p:cNvPr id="79" name="Rectangle 78">
                <a:extLst>
                  <a:ext uri="{FF2B5EF4-FFF2-40B4-BE49-F238E27FC236}">
                    <a16:creationId xmlns:a16="http://schemas.microsoft.com/office/drawing/2014/main" id="{39D33060-A28F-17F0-F92F-B148587694D1}"/>
                  </a:ext>
                </a:extLst>
              </p:cNvPr>
              <p:cNvSpPr/>
              <p:nvPr/>
            </p:nvSpPr>
            <p:spPr>
              <a:xfrm>
                <a:off x="129954" y="752027"/>
                <a:ext cx="4215222" cy="1133531"/>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525">
                  <a:solidFill>
                    <a:prstClr val="white"/>
                  </a:solidFill>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F3051860-8D95-843D-6F47-6740710B3F59}"/>
                  </a:ext>
                </a:extLst>
              </p:cNvPr>
              <p:cNvSpPr txBox="1"/>
              <p:nvPr/>
            </p:nvSpPr>
            <p:spPr>
              <a:xfrm>
                <a:off x="147401" y="790317"/>
                <a:ext cx="4162314" cy="293305"/>
              </a:xfrm>
              <a:prstGeom prst="rect">
                <a:avLst/>
              </a:prstGeom>
              <a:solidFill>
                <a:schemeClr val="accent4">
                  <a:lumMod val="40000"/>
                  <a:lumOff val="60000"/>
                </a:schemeClr>
              </a:solidFill>
            </p:spPr>
            <p:txBody>
              <a:bodyPr wrap="square" rtlCol="0">
                <a:spAutoFit/>
              </a:bodyPr>
              <a:lstStyle/>
              <a:p>
                <a:pPr algn="ctr" defTabSz="685800">
                  <a:defRPr/>
                </a:pPr>
                <a:r>
                  <a:rPr lang="en-US" sz="825" b="1">
                    <a:solidFill>
                      <a:srgbClr val="000000"/>
                    </a:solidFill>
                    <a:latin typeface="Arial" panose="020B0604020202020204" pitchFamily="34" charset="0"/>
                    <a:cs typeface="Arial" panose="020B0604020202020204" pitchFamily="34" charset="0"/>
                  </a:rPr>
                  <a:t>External VA Stakeholders</a:t>
                </a:r>
              </a:p>
            </p:txBody>
          </p:sp>
          <p:grpSp>
            <p:nvGrpSpPr>
              <p:cNvPr id="81" name="Group 80">
                <a:extLst>
                  <a:ext uri="{FF2B5EF4-FFF2-40B4-BE49-F238E27FC236}">
                    <a16:creationId xmlns:a16="http://schemas.microsoft.com/office/drawing/2014/main" id="{EE384AB3-F944-2C6D-E661-895D5397B6A0}"/>
                  </a:ext>
                </a:extLst>
              </p:cNvPr>
              <p:cNvGrpSpPr/>
              <p:nvPr/>
            </p:nvGrpSpPr>
            <p:grpSpPr>
              <a:xfrm>
                <a:off x="165212" y="1023738"/>
                <a:ext cx="4134522" cy="351974"/>
                <a:chOff x="147399" y="989311"/>
                <a:chExt cx="4134522" cy="351974"/>
              </a:xfrm>
            </p:grpSpPr>
            <p:grpSp>
              <p:nvGrpSpPr>
                <p:cNvPr id="91" name="Group 90">
                  <a:extLst>
                    <a:ext uri="{FF2B5EF4-FFF2-40B4-BE49-F238E27FC236}">
                      <a16:creationId xmlns:a16="http://schemas.microsoft.com/office/drawing/2014/main" id="{B78C3F42-D06F-3384-5852-A57424F4EBC8}"/>
                    </a:ext>
                  </a:extLst>
                </p:cNvPr>
                <p:cNvGrpSpPr/>
                <p:nvPr/>
              </p:nvGrpSpPr>
              <p:grpSpPr>
                <a:xfrm>
                  <a:off x="147399" y="989311"/>
                  <a:ext cx="4134522" cy="339617"/>
                  <a:chOff x="147399" y="989311"/>
                  <a:chExt cx="4134522" cy="339617"/>
                </a:xfrm>
              </p:grpSpPr>
              <p:sp>
                <p:nvSpPr>
                  <p:cNvPr id="93" name="TextBox 92">
                    <a:extLst>
                      <a:ext uri="{FF2B5EF4-FFF2-40B4-BE49-F238E27FC236}">
                        <a16:creationId xmlns:a16="http://schemas.microsoft.com/office/drawing/2014/main" id="{CED027F5-1076-7C6C-CE72-9A81C09574D0}"/>
                      </a:ext>
                    </a:extLst>
                  </p:cNvPr>
                  <p:cNvSpPr txBox="1"/>
                  <p:nvPr/>
                </p:nvSpPr>
                <p:spPr>
                  <a:xfrm>
                    <a:off x="147399" y="1041720"/>
                    <a:ext cx="631767"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Veterans</a:t>
                    </a:r>
                  </a:p>
                </p:txBody>
              </p:sp>
              <p:sp>
                <p:nvSpPr>
                  <p:cNvPr id="94" name="TextBox 93">
                    <a:extLst>
                      <a:ext uri="{FF2B5EF4-FFF2-40B4-BE49-F238E27FC236}">
                        <a16:creationId xmlns:a16="http://schemas.microsoft.com/office/drawing/2014/main" id="{71A8C2F9-16A5-A134-76C8-FF25E753B183}"/>
                      </a:ext>
                    </a:extLst>
                  </p:cNvPr>
                  <p:cNvSpPr txBox="1"/>
                  <p:nvPr/>
                </p:nvSpPr>
                <p:spPr>
                  <a:xfrm>
                    <a:off x="3650154" y="1041720"/>
                    <a:ext cx="631767"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Media</a:t>
                    </a:r>
                  </a:p>
                </p:txBody>
              </p:sp>
              <p:sp>
                <p:nvSpPr>
                  <p:cNvPr id="95" name="TextBox 94">
                    <a:extLst>
                      <a:ext uri="{FF2B5EF4-FFF2-40B4-BE49-F238E27FC236}">
                        <a16:creationId xmlns:a16="http://schemas.microsoft.com/office/drawing/2014/main" id="{F587521C-A819-0C43-4F3A-86AF0517EB71}"/>
                      </a:ext>
                    </a:extLst>
                  </p:cNvPr>
                  <p:cNvSpPr txBox="1"/>
                  <p:nvPr/>
                </p:nvSpPr>
                <p:spPr>
                  <a:xfrm>
                    <a:off x="1541487" y="989311"/>
                    <a:ext cx="631767" cy="339617"/>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Caregivers</a:t>
                    </a:r>
                  </a:p>
                </p:txBody>
              </p:sp>
              <p:sp>
                <p:nvSpPr>
                  <p:cNvPr id="96" name="TextBox 95">
                    <a:extLst>
                      <a:ext uri="{FF2B5EF4-FFF2-40B4-BE49-F238E27FC236}">
                        <a16:creationId xmlns:a16="http://schemas.microsoft.com/office/drawing/2014/main" id="{4E1A057A-7298-DDE9-B949-B6B0B6DF9A53}"/>
                      </a:ext>
                    </a:extLst>
                  </p:cNvPr>
                  <p:cNvSpPr txBox="1"/>
                  <p:nvPr/>
                </p:nvSpPr>
                <p:spPr>
                  <a:xfrm>
                    <a:off x="844187" y="1042642"/>
                    <a:ext cx="631767"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Families</a:t>
                    </a:r>
                  </a:p>
                </p:txBody>
              </p:sp>
              <p:sp>
                <p:nvSpPr>
                  <p:cNvPr id="97" name="TextBox 96">
                    <a:extLst>
                      <a:ext uri="{FF2B5EF4-FFF2-40B4-BE49-F238E27FC236}">
                        <a16:creationId xmlns:a16="http://schemas.microsoft.com/office/drawing/2014/main" id="{CEBBE01B-04A1-5260-DB4F-2A5601274750}"/>
                      </a:ext>
                    </a:extLst>
                  </p:cNvPr>
                  <p:cNvSpPr txBox="1"/>
                  <p:nvPr/>
                </p:nvSpPr>
                <p:spPr>
                  <a:xfrm>
                    <a:off x="2240004" y="1041720"/>
                    <a:ext cx="631767"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VSOs</a:t>
                    </a:r>
                  </a:p>
                </p:txBody>
              </p:sp>
              <p:sp>
                <p:nvSpPr>
                  <p:cNvPr id="98" name="TextBox 97">
                    <a:extLst>
                      <a:ext uri="{FF2B5EF4-FFF2-40B4-BE49-F238E27FC236}">
                        <a16:creationId xmlns:a16="http://schemas.microsoft.com/office/drawing/2014/main" id="{FFDBDBF6-E17E-9C93-E764-9BCDE938C3F6}"/>
                      </a:ext>
                    </a:extLst>
                  </p:cNvPr>
                  <p:cNvSpPr txBox="1"/>
                  <p:nvPr/>
                </p:nvSpPr>
                <p:spPr>
                  <a:xfrm>
                    <a:off x="2934796" y="1043389"/>
                    <a:ext cx="631767"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grpSp>
            <p:sp>
              <p:nvSpPr>
                <p:cNvPr id="92" name="TextBox 91">
                  <a:extLst>
                    <a:ext uri="{FF2B5EF4-FFF2-40B4-BE49-F238E27FC236}">
                      <a16:creationId xmlns:a16="http://schemas.microsoft.com/office/drawing/2014/main" id="{D1800A2D-1B6A-D987-E9FB-92FA89337F23}"/>
                    </a:ext>
                  </a:extLst>
                </p:cNvPr>
                <p:cNvSpPr txBox="1"/>
                <p:nvPr/>
              </p:nvSpPr>
              <p:spPr>
                <a:xfrm>
                  <a:off x="2978839" y="1044893"/>
                  <a:ext cx="542183" cy="296392"/>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General Public</a:t>
                  </a:r>
                </a:p>
              </p:txBody>
            </p:sp>
          </p:grpSp>
          <p:grpSp>
            <p:nvGrpSpPr>
              <p:cNvPr id="82" name="Group 81">
                <a:extLst>
                  <a:ext uri="{FF2B5EF4-FFF2-40B4-BE49-F238E27FC236}">
                    <a16:creationId xmlns:a16="http://schemas.microsoft.com/office/drawing/2014/main" id="{D997EBF2-100E-2473-9290-269994CCB074}"/>
                  </a:ext>
                </a:extLst>
              </p:cNvPr>
              <p:cNvGrpSpPr/>
              <p:nvPr/>
            </p:nvGrpSpPr>
            <p:grpSpPr>
              <a:xfrm>
                <a:off x="1547293" y="1598180"/>
                <a:ext cx="643411" cy="382840"/>
                <a:chOff x="1546473" y="1555897"/>
                <a:chExt cx="643411" cy="382840"/>
              </a:xfrm>
            </p:grpSpPr>
            <p:sp>
              <p:nvSpPr>
                <p:cNvPr id="89" name="TextBox 88">
                  <a:extLst>
                    <a:ext uri="{FF2B5EF4-FFF2-40B4-BE49-F238E27FC236}">
                      <a16:creationId xmlns:a16="http://schemas.microsoft.com/office/drawing/2014/main" id="{3BD8F844-4ECF-E226-8556-C75D7148A58A}"/>
                    </a:ext>
                  </a:extLst>
                </p:cNvPr>
                <p:cNvSpPr txBox="1"/>
                <p:nvPr/>
              </p:nvSpPr>
              <p:spPr>
                <a:xfrm>
                  <a:off x="1554486" y="1564033"/>
                  <a:ext cx="631767"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sp>
              <p:nvSpPr>
                <p:cNvPr id="90" name="TextBox 89">
                  <a:extLst>
                    <a:ext uri="{FF2B5EF4-FFF2-40B4-BE49-F238E27FC236}">
                      <a16:creationId xmlns:a16="http://schemas.microsoft.com/office/drawing/2014/main" id="{95CA5EED-5E47-596C-1761-527DDD885217}"/>
                    </a:ext>
                  </a:extLst>
                </p:cNvPr>
                <p:cNvSpPr txBox="1"/>
                <p:nvPr/>
              </p:nvSpPr>
              <p:spPr>
                <a:xfrm>
                  <a:off x="1546473" y="1555897"/>
                  <a:ext cx="643411" cy="382840"/>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Private</a:t>
                  </a:r>
                </a:p>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Healthcare</a:t>
                  </a:r>
                </a:p>
              </p:txBody>
            </p:sp>
          </p:grpSp>
          <p:grpSp>
            <p:nvGrpSpPr>
              <p:cNvPr id="83" name="Group 82">
                <a:extLst>
                  <a:ext uri="{FF2B5EF4-FFF2-40B4-BE49-F238E27FC236}">
                    <a16:creationId xmlns:a16="http://schemas.microsoft.com/office/drawing/2014/main" id="{5E08791C-BE79-D551-D418-763617ABBBBC}"/>
                  </a:ext>
                </a:extLst>
              </p:cNvPr>
              <p:cNvGrpSpPr/>
              <p:nvPr/>
            </p:nvGrpSpPr>
            <p:grpSpPr>
              <a:xfrm>
                <a:off x="1233065" y="1282296"/>
                <a:ext cx="2004958" cy="438014"/>
                <a:chOff x="1224845" y="1249173"/>
                <a:chExt cx="2004958" cy="438014"/>
              </a:xfrm>
            </p:grpSpPr>
            <p:sp>
              <p:nvSpPr>
                <p:cNvPr id="84" name="TextBox 83">
                  <a:extLst>
                    <a:ext uri="{FF2B5EF4-FFF2-40B4-BE49-F238E27FC236}">
                      <a16:creationId xmlns:a16="http://schemas.microsoft.com/office/drawing/2014/main" id="{0424BBA2-9F5C-773E-849B-AE1E5793E85A}"/>
                    </a:ext>
                  </a:extLst>
                </p:cNvPr>
                <p:cNvSpPr txBox="1"/>
                <p:nvPr/>
              </p:nvSpPr>
              <p:spPr>
                <a:xfrm>
                  <a:off x="1910891" y="1309702"/>
                  <a:ext cx="631766" cy="231557"/>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sp>
              <p:nvSpPr>
                <p:cNvPr id="85" name="TextBox 84">
                  <a:extLst>
                    <a:ext uri="{FF2B5EF4-FFF2-40B4-BE49-F238E27FC236}">
                      <a16:creationId xmlns:a16="http://schemas.microsoft.com/office/drawing/2014/main" id="{246CC98F-828B-AC32-AAAD-EFF04E321684}"/>
                    </a:ext>
                  </a:extLst>
                </p:cNvPr>
                <p:cNvSpPr txBox="1"/>
                <p:nvPr/>
              </p:nvSpPr>
              <p:spPr>
                <a:xfrm>
                  <a:off x="1224845" y="1249173"/>
                  <a:ext cx="631766" cy="339617"/>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Congress</a:t>
                  </a:r>
                </a:p>
              </p:txBody>
            </p:sp>
            <p:sp>
              <p:nvSpPr>
                <p:cNvPr id="86" name="TextBox 85">
                  <a:extLst>
                    <a:ext uri="{FF2B5EF4-FFF2-40B4-BE49-F238E27FC236}">
                      <a16:creationId xmlns:a16="http://schemas.microsoft.com/office/drawing/2014/main" id="{CD7ADA98-CD3C-D14E-2C0F-5CCBF9103027}"/>
                    </a:ext>
                  </a:extLst>
                </p:cNvPr>
                <p:cNvSpPr txBox="1"/>
                <p:nvPr/>
              </p:nvSpPr>
              <p:spPr>
                <a:xfrm>
                  <a:off x="2591371" y="1311232"/>
                  <a:ext cx="631766" cy="231556"/>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sp>
              <p:nvSpPr>
                <p:cNvPr id="87" name="TextBox 86">
                  <a:extLst>
                    <a:ext uri="{FF2B5EF4-FFF2-40B4-BE49-F238E27FC236}">
                      <a16:creationId xmlns:a16="http://schemas.microsoft.com/office/drawing/2014/main" id="{F6A992BD-5336-6A22-3321-ACABCA4A092F}"/>
                    </a:ext>
                  </a:extLst>
                </p:cNvPr>
                <p:cNvSpPr txBox="1"/>
                <p:nvPr/>
              </p:nvSpPr>
              <p:spPr>
                <a:xfrm>
                  <a:off x="2585337" y="1304347"/>
                  <a:ext cx="644466" cy="382840"/>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Other Gov.</a:t>
                  </a:r>
                </a:p>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Agencies</a:t>
                  </a:r>
                </a:p>
              </p:txBody>
            </p:sp>
            <p:sp>
              <p:nvSpPr>
                <p:cNvPr id="88" name="TextBox 87">
                  <a:extLst>
                    <a:ext uri="{FF2B5EF4-FFF2-40B4-BE49-F238E27FC236}">
                      <a16:creationId xmlns:a16="http://schemas.microsoft.com/office/drawing/2014/main" id="{2106AB2B-85A8-8A18-46D1-6C2FFD93B128}"/>
                    </a:ext>
                  </a:extLst>
                </p:cNvPr>
                <p:cNvSpPr txBox="1"/>
                <p:nvPr/>
              </p:nvSpPr>
              <p:spPr>
                <a:xfrm>
                  <a:off x="1968418" y="1315615"/>
                  <a:ext cx="542182" cy="296392"/>
                </a:xfrm>
                <a:prstGeom prst="rect">
                  <a:avLst/>
                </a:prstGeom>
                <a:noFill/>
              </p:spPr>
              <p:txBody>
                <a:bodyPr wrap="square" rtlCol="0">
                  <a:spAutoFit/>
                </a:bodyPr>
                <a:lstStyle/>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White</a:t>
                  </a:r>
                </a:p>
                <a:p>
                  <a:pPr algn="ctr" defTabSz="685800">
                    <a:lnSpc>
                      <a:spcPct val="80000"/>
                    </a:lnSpc>
                    <a:defRPr/>
                  </a:pPr>
                  <a:r>
                    <a:rPr lang="en-US" sz="525">
                      <a:solidFill>
                        <a:srgbClr val="000000"/>
                      </a:solidFill>
                      <a:latin typeface="Arial" panose="020B0604020202020204" pitchFamily="34" charset="0"/>
                      <a:cs typeface="Arial" panose="020B0604020202020204" pitchFamily="34" charset="0"/>
                    </a:rPr>
                    <a:t>House</a:t>
                  </a:r>
                </a:p>
              </p:txBody>
            </p:sp>
          </p:grpSp>
        </p:grpSp>
        <p:sp>
          <p:nvSpPr>
            <p:cNvPr id="77" name="TextBox 76">
              <a:extLst>
                <a:ext uri="{FF2B5EF4-FFF2-40B4-BE49-F238E27FC236}">
                  <a16:creationId xmlns:a16="http://schemas.microsoft.com/office/drawing/2014/main" id="{42EB3C23-E8F5-B669-7A05-4A9E11B705E5}"/>
                </a:ext>
              </a:extLst>
            </p:cNvPr>
            <p:cNvSpPr txBox="1"/>
            <p:nvPr/>
          </p:nvSpPr>
          <p:spPr>
            <a:xfrm>
              <a:off x="2271577" y="1717406"/>
              <a:ext cx="631767" cy="230832"/>
            </a:xfrm>
            <a:prstGeom prst="rect">
              <a:avLst/>
            </a:prstGeom>
            <a:solidFill>
              <a:schemeClr val="bg1"/>
            </a:solidFill>
            <a:ln>
              <a:solidFill>
                <a:schemeClr val="accent6">
                  <a:lumMod val="50000"/>
                </a:schemeClr>
              </a:solidFill>
            </a:ln>
          </p:spPr>
          <p:txBody>
            <a:bodyPr wrap="square" rtlCol="0" anchor="ctr">
              <a:spAutoFit/>
            </a:bodyPr>
            <a:lstStyle/>
            <a:p>
              <a:pPr algn="ctr" defTabSz="685800">
                <a:defRPr/>
              </a:pPr>
              <a:r>
                <a:rPr lang="en-US" sz="525">
                  <a:solidFill>
                    <a:srgbClr val="000000"/>
                  </a:solidFill>
                  <a:latin typeface="Arial" panose="020B0604020202020204" pitchFamily="34" charset="0"/>
                  <a:cs typeface="Arial" panose="020B0604020202020204" pitchFamily="34" charset="0"/>
                </a:rPr>
                <a:t> </a:t>
              </a:r>
            </a:p>
          </p:txBody>
        </p:sp>
        <p:sp>
          <p:nvSpPr>
            <p:cNvPr id="78" name="TextBox 77">
              <a:extLst>
                <a:ext uri="{FF2B5EF4-FFF2-40B4-BE49-F238E27FC236}">
                  <a16:creationId xmlns:a16="http://schemas.microsoft.com/office/drawing/2014/main" id="{A33BCC1C-D2BF-52FD-2E60-132D281D1011}"/>
                </a:ext>
              </a:extLst>
            </p:cNvPr>
            <p:cNvSpPr txBox="1"/>
            <p:nvPr/>
          </p:nvSpPr>
          <p:spPr>
            <a:xfrm>
              <a:off x="2183139" y="1722513"/>
              <a:ext cx="800479" cy="270844"/>
            </a:xfrm>
            <a:prstGeom prst="rect">
              <a:avLst/>
            </a:prstGeom>
            <a:noFill/>
          </p:spPr>
          <p:txBody>
            <a:bodyPr wrap="square" rtlCol="0">
              <a:spAutoFit/>
            </a:bodyPr>
            <a:lstStyle/>
            <a:p>
              <a:pPr algn="ctr" defTabSz="685800">
                <a:lnSpc>
                  <a:spcPct val="80000"/>
                </a:lnSpc>
                <a:defRPr/>
              </a:pPr>
              <a:r>
                <a:rPr lang="en-US" sz="450">
                  <a:solidFill>
                    <a:srgbClr val="000000"/>
                  </a:solidFill>
                  <a:latin typeface="Arial" panose="020B0604020202020204" pitchFamily="34" charset="0"/>
                  <a:cs typeface="Arial" panose="020B0604020202020204" pitchFamily="34" charset="0"/>
                </a:rPr>
                <a:t>Pharmaceutical Companies</a:t>
              </a:r>
            </a:p>
          </p:txBody>
        </p:sp>
      </p:grpSp>
      <p:sp>
        <p:nvSpPr>
          <p:cNvPr id="4" name="TextBox 3">
            <a:extLst>
              <a:ext uri="{FF2B5EF4-FFF2-40B4-BE49-F238E27FC236}">
                <a16:creationId xmlns:a16="http://schemas.microsoft.com/office/drawing/2014/main" id="{63C22B0D-37D5-D51F-FA10-844B3427EAFA}"/>
              </a:ext>
            </a:extLst>
          </p:cNvPr>
          <p:cNvSpPr txBox="1"/>
          <p:nvPr/>
        </p:nvSpPr>
        <p:spPr>
          <a:xfrm>
            <a:off x="256717" y="4309171"/>
            <a:ext cx="823204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IPT members are meeting regularly with key NGOs and other federal agencies:</a:t>
            </a:r>
          </a:p>
          <a:p>
            <a:pPr marL="285750" indent="-285750">
              <a:buFont typeface="Arial"/>
              <a:buChar char="•"/>
            </a:pPr>
            <a:r>
              <a:rPr lang="en-US" dirty="0">
                <a:ea typeface="Calibri"/>
                <a:cs typeface="Calibri"/>
              </a:rPr>
              <a:t>Compass Pathways</a:t>
            </a:r>
          </a:p>
          <a:p>
            <a:pPr marL="285750" indent="-285750">
              <a:buFont typeface="Arial"/>
              <a:buChar char="•"/>
            </a:pPr>
            <a:r>
              <a:rPr lang="en-US" dirty="0">
                <a:ea typeface="Calibri"/>
                <a:cs typeface="Calibri"/>
              </a:rPr>
              <a:t>Resilient Pharmaceuticals (formerly Lykos)</a:t>
            </a:r>
          </a:p>
          <a:p>
            <a:pPr marL="285750" indent="-285750">
              <a:buFont typeface="Arial"/>
              <a:buChar char="•"/>
            </a:pPr>
            <a:r>
              <a:rPr lang="en-US">
                <a:ea typeface="Calibri"/>
                <a:cs typeface="Calibri"/>
              </a:rPr>
              <a:t>Usona</a:t>
            </a:r>
            <a:endParaRPr lang="en-US" dirty="0">
              <a:ea typeface="Calibri"/>
              <a:cs typeface="Calibri"/>
            </a:endParaRPr>
          </a:p>
          <a:p>
            <a:pPr marL="285750" indent="-285750">
              <a:buFont typeface="Arial"/>
              <a:buChar char="•"/>
            </a:pPr>
            <a:r>
              <a:rPr lang="en-US" dirty="0">
                <a:ea typeface="Calibri"/>
                <a:cs typeface="Calibri"/>
              </a:rPr>
              <a:t>SAMHSA</a:t>
            </a:r>
          </a:p>
          <a:p>
            <a:pPr marL="285750" indent="-285750">
              <a:buFont typeface="Arial"/>
              <a:buChar char="•"/>
            </a:pPr>
            <a:endParaRPr lang="en-US" dirty="0">
              <a:ea typeface="Calibri"/>
              <a:cs typeface="Calibri"/>
            </a:endParaRPr>
          </a:p>
        </p:txBody>
      </p:sp>
    </p:spTree>
    <p:extLst>
      <p:ext uri="{BB962C8B-B14F-4D97-AF65-F5344CB8AC3E}">
        <p14:creationId xmlns:p14="http://schemas.microsoft.com/office/powerpoint/2010/main" val="1597355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92875-9EDE-E1EF-FDF2-D0DF575ED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0EF17-C280-B27F-8565-AC69F0F0D6D9}"/>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Proposed FY26 Priorities for Psychedelic IPT</a:t>
            </a:r>
          </a:p>
        </p:txBody>
      </p:sp>
      <p:sp>
        <p:nvSpPr>
          <p:cNvPr id="3" name="Slide Number Placeholder 2">
            <a:extLst>
              <a:ext uri="{FF2B5EF4-FFF2-40B4-BE49-F238E27FC236}">
                <a16:creationId xmlns:a16="http://schemas.microsoft.com/office/drawing/2014/main" id="{454E7FB1-79CE-F2CC-0973-07B0D8558C4B}"/>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23</a:t>
            </a:fld>
            <a:endParaRPr lang="en-US" sz="900">
              <a:solidFill>
                <a:prstClr val="black">
                  <a:tint val="75000"/>
                </a:prstClr>
              </a:solidFill>
              <a:latin typeface="Calibri" panose="020F0502020204030204"/>
              <a:cs typeface="+mn-cs"/>
            </a:endParaRPr>
          </a:p>
        </p:txBody>
      </p:sp>
      <p:sp>
        <p:nvSpPr>
          <p:cNvPr id="6" name="TextBox 5">
            <a:extLst>
              <a:ext uri="{FF2B5EF4-FFF2-40B4-BE49-F238E27FC236}">
                <a16:creationId xmlns:a16="http://schemas.microsoft.com/office/drawing/2014/main" id="{09253365-B792-B861-44FD-A87E70B0C710}"/>
              </a:ext>
            </a:extLst>
          </p:cNvPr>
          <p:cNvSpPr txBox="1"/>
          <p:nvPr/>
        </p:nvSpPr>
        <p:spPr>
          <a:xfrm>
            <a:off x="116901" y="775579"/>
            <a:ext cx="8251086" cy="5717976"/>
          </a:xfrm>
          <a:prstGeom prst="rect">
            <a:avLst/>
          </a:prstGeom>
          <a:noFill/>
        </p:spPr>
        <p:txBody>
          <a:bodyPr wrap="square" lIns="91440" tIns="45720" rIns="91440" bIns="45720" anchor="t">
            <a:spAutoFit/>
          </a:bodyPr>
          <a:lstStyle/>
          <a:p>
            <a:pPr marL="342900" lvl="0" indent="-342900">
              <a:lnSpc>
                <a:spcPct val="90000"/>
              </a:lnSpc>
              <a:spcBef>
                <a:spcPts val="1000"/>
              </a:spcBef>
              <a:buAutoNum type="arabicPeriod"/>
            </a:pPr>
            <a:r>
              <a:rPr lang="en-US" dirty="0">
                <a:solidFill>
                  <a:prstClr val="black"/>
                </a:solidFill>
                <a:latin typeface="Arial" panose="020B0604020202020204" pitchFamily="34" charset="0"/>
                <a:ea typeface="Calibri"/>
                <a:cs typeface="Arial" panose="020B0604020202020204" pitchFamily="34" charset="0"/>
              </a:rPr>
              <a:t>Establish and implement plan for VA leadership vetting process for psychedelic related activities</a:t>
            </a:r>
            <a:endParaRPr lang="en-US"/>
          </a:p>
          <a:p>
            <a:pPr marL="685800" lvl="1"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Research/Investigator activities (facility based)</a:t>
            </a:r>
          </a:p>
          <a:p>
            <a:pPr marL="685800" lvl="1"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IPT activities (VHACO based)</a:t>
            </a:r>
          </a:p>
          <a:p>
            <a:pPr marL="685800" lvl="1"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ORD activities (VHACO based)</a:t>
            </a:r>
          </a:p>
          <a:p>
            <a:pPr marL="342900" lvl="0" indent="-342900">
              <a:lnSpc>
                <a:spcPct val="90000"/>
              </a:lnSpc>
              <a:spcBef>
                <a:spcPts val="1000"/>
              </a:spcBef>
              <a:buAutoNum type="arabicPeriod"/>
            </a:pPr>
            <a:r>
              <a:rPr lang="en-US" dirty="0">
                <a:solidFill>
                  <a:prstClr val="black"/>
                </a:solidFill>
                <a:latin typeface="Arial" panose="020B0604020202020204" pitchFamily="34" charset="0"/>
                <a:ea typeface="Calibri"/>
                <a:cs typeface="Arial" panose="020B0604020202020204" pitchFamily="34" charset="0"/>
              </a:rPr>
              <a:t>Training and education</a:t>
            </a:r>
          </a:p>
          <a:p>
            <a:pPr marL="685800" lvl="1"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Create general provider training </a:t>
            </a:r>
          </a:p>
          <a:p>
            <a:pPr marL="1143000" lvl="2"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Enduring content available (optional) for front line providers that will educate on state of the science and regulatory landscape to support their conversations with Veterans asking about psychedelics</a:t>
            </a:r>
          </a:p>
          <a:p>
            <a:pPr marL="685800" lvl="1"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Establish plan for training providers to prepare for future potential clinical implementation</a:t>
            </a:r>
          </a:p>
          <a:p>
            <a:pPr marL="1143000" lvl="2"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Identify which protocols should be prioritized</a:t>
            </a:r>
          </a:p>
          <a:p>
            <a:pPr marL="1143000" lvl="2"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Determine internal VA training program vs external training programs</a:t>
            </a:r>
          </a:p>
          <a:p>
            <a:pPr marL="1143000" lvl="2" indent="-228600">
              <a:lnSpc>
                <a:spcPct val="90000"/>
              </a:lnSpc>
              <a:spcBef>
                <a:spcPts val="500"/>
              </a:spcBef>
              <a:buFont typeface="Arial" panose="020B0604020202020204" pitchFamily="34" charset="0"/>
              <a:buChar char="•"/>
            </a:pPr>
            <a:r>
              <a:rPr lang="en-US" dirty="0">
                <a:solidFill>
                  <a:prstClr val="black"/>
                </a:solidFill>
                <a:latin typeface="Arial" panose="020B0604020202020204" pitchFamily="34" charset="0"/>
                <a:ea typeface="Calibri"/>
                <a:cs typeface="Arial" panose="020B0604020202020204" pitchFamily="34" charset="0"/>
              </a:rPr>
              <a:t>How to prioritize providers/sites to receive training</a:t>
            </a:r>
          </a:p>
          <a:p>
            <a:pPr marL="342900" lvl="0" indent="-342900">
              <a:lnSpc>
                <a:spcPct val="90000"/>
              </a:lnSpc>
              <a:spcBef>
                <a:spcPts val="1000"/>
              </a:spcBef>
              <a:buAutoNum type="arabicPeriod"/>
            </a:pPr>
            <a:r>
              <a:rPr lang="en-US" dirty="0">
                <a:solidFill>
                  <a:prstClr val="black"/>
                </a:solidFill>
                <a:latin typeface="Arial"/>
                <a:ea typeface="Calibri"/>
                <a:cs typeface="Arial"/>
              </a:rPr>
              <a:t>Continued support for VA research </a:t>
            </a:r>
          </a:p>
          <a:p>
            <a:pPr algn="ctr"/>
            <a:endParaRPr lang="en-US" dirty="0">
              <a:solidFill>
                <a:srgbClr val="212121"/>
              </a:solidFill>
              <a:latin typeface="Arial" panose="020B0604020202020204" pitchFamily="34" charset="0"/>
              <a:ea typeface="Tahoma" panose="020B0604030504040204" pitchFamily="34" charset="0"/>
              <a:cs typeface="Arial" panose="020B0604020202020204" pitchFamily="34" charset="0"/>
            </a:endParaRPr>
          </a:p>
          <a:p>
            <a:endParaRPr lang="en-US" dirty="0">
              <a:solidFill>
                <a:srgbClr val="21212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B54A4C7A-61AA-3950-16DC-D0BF94230C45}"/>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spTree>
    <p:extLst>
      <p:ext uri="{BB962C8B-B14F-4D97-AF65-F5344CB8AC3E}">
        <p14:creationId xmlns:p14="http://schemas.microsoft.com/office/powerpoint/2010/main" val="2782660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28C3A-948C-8AF1-A323-90841357A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EC4A5-D35B-8575-86D7-E9968A6A79D6}"/>
              </a:ext>
            </a:extLst>
          </p:cNvPr>
          <p:cNvSpPr>
            <a:spLocks noGrp="1"/>
          </p:cNvSpPr>
          <p:nvPr>
            <p:ph type="title"/>
          </p:nvPr>
        </p:nvSpPr>
        <p:spPr>
          <a:xfrm>
            <a:off x="210480" y="136524"/>
            <a:ext cx="8574082" cy="510167"/>
          </a:xfrm>
        </p:spPr>
        <p:txBody>
          <a:bodyPr lIns="91440" tIns="45720" rIns="91440" bIns="45720" anchor="t"/>
          <a:lstStyle/>
          <a:p>
            <a:pPr algn="ctr"/>
            <a:r>
              <a:rPr lang="en-US" sz="2400" b="1">
                <a:solidFill>
                  <a:schemeClr val="bg1"/>
                </a:solidFill>
                <a:latin typeface="Arial"/>
                <a:cs typeface="Arial"/>
              </a:rPr>
              <a:t>Discussion</a:t>
            </a:r>
          </a:p>
        </p:txBody>
      </p:sp>
      <p:sp>
        <p:nvSpPr>
          <p:cNvPr id="3" name="Slide Number Placeholder 2">
            <a:extLst>
              <a:ext uri="{FF2B5EF4-FFF2-40B4-BE49-F238E27FC236}">
                <a16:creationId xmlns:a16="http://schemas.microsoft.com/office/drawing/2014/main" id="{B333FBFB-2528-6B53-CB84-A9CD2A765A44}"/>
              </a:ext>
            </a:extLst>
          </p:cNvPr>
          <p:cNvSpPr>
            <a:spLocks noGrp="1"/>
          </p:cNvSpPr>
          <p:nvPr>
            <p:ph type="sldNum" sz="quarter" idx="12"/>
          </p:nvPr>
        </p:nvSpPr>
        <p:spPr/>
        <p:txBody>
          <a:bodyPr/>
          <a:lstStyle/>
          <a:p>
            <a:pPr defTabSz="685800">
              <a:defRPr/>
            </a:pPr>
            <a:fld id="{670A9334-4E67-F94F-A05E-0CE8B74A054E}" type="slidenum">
              <a:rPr lang="en-US" sz="900">
                <a:solidFill>
                  <a:prstClr val="black">
                    <a:tint val="75000"/>
                  </a:prstClr>
                </a:solidFill>
                <a:latin typeface="Calibri" panose="020F0502020204030204"/>
                <a:cs typeface="+mn-cs"/>
              </a:rPr>
              <a:pPr defTabSz="685800">
                <a:defRPr/>
              </a:pPr>
              <a:t>24</a:t>
            </a:fld>
            <a:endParaRPr lang="en-US" sz="900">
              <a:solidFill>
                <a:prstClr val="black">
                  <a:tint val="75000"/>
                </a:prstClr>
              </a:solidFill>
              <a:latin typeface="Calibri" panose="020F0502020204030204"/>
              <a:cs typeface="+mn-cs"/>
            </a:endParaRPr>
          </a:p>
        </p:txBody>
      </p:sp>
      <p:sp>
        <p:nvSpPr>
          <p:cNvPr id="6" name="TextBox 5">
            <a:extLst>
              <a:ext uri="{FF2B5EF4-FFF2-40B4-BE49-F238E27FC236}">
                <a16:creationId xmlns:a16="http://schemas.microsoft.com/office/drawing/2014/main" id="{1404DA73-3BDA-891F-1FFC-FF62C0F95386}"/>
              </a:ext>
            </a:extLst>
          </p:cNvPr>
          <p:cNvSpPr txBox="1"/>
          <p:nvPr/>
        </p:nvSpPr>
        <p:spPr>
          <a:xfrm>
            <a:off x="116901" y="775579"/>
            <a:ext cx="9027099" cy="646331"/>
          </a:xfrm>
          <a:prstGeom prst="rect">
            <a:avLst/>
          </a:prstGeom>
          <a:noFill/>
        </p:spPr>
        <p:txBody>
          <a:bodyPr wrap="square">
            <a:spAutoFit/>
          </a:bodyPr>
          <a:lstStyle/>
          <a:p>
            <a:pPr algn="ctr"/>
            <a:endParaRPr lang="en-US">
              <a:solidFill>
                <a:srgbClr val="212121"/>
              </a:solidFill>
              <a:latin typeface="Arial" panose="020B0604020202020204" pitchFamily="34" charset="0"/>
              <a:ea typeface="Tahoma" panose="020B0604030504040204" pitchFamily="34" charset="0"/>
              <a:cs typeface="Arial" panose="020B0604020202020204" pitchFamily="34" charset="0"/>
            </a:endParaRPr>
          </a:p>
          <a:p>
            <a:endParaRPr lang="en-US">
              <a:solidFill>
                <a:srgbClr val="21212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41C7A467-F46C-B34B-C322-47B9783B021A}"/>
              </a:ext>
            </a:extLst>
          </p:cNvPr>
          <p:cNvSpPr txBox="1"/>
          <p:nvPr/>
        </p:nvSpPr>
        <p:spPr>
          <a:xfrm>
            <a:off x="3519488" y="6354445"/>
            <a:ext cx="4962524" cy="369332"/>
          </a:xfrm>
          <a:prstGeom prst="rect">
            <a:avLst/>
          </a:prstGeom>
          <a:noFill/>
        </p:spPr>
        <p:txBody>
          <a:bodyPr wrap="square" lIns="91440" tIns="45720" rIns="91440" bIns="45720" anchor="t">
            <a:spAutoFit/>
          </a:bodyPr>
          <a:lstStyle/>
          <a:p>
            <a:r>
              <a:rPr lang="en-US" b="1">
                <a:solidFill>
                  <a:schemeClr val="accent1"/>
                </a:solidFill>
                <a:latin typeface="Arial"/>
                <a:cs typeface="Arial"/>
              </a:rPr>
              <a:t>PRE-DECISIONAL</a:t>
            </a:r>
          </a:p>
        </p:txBody>
      </p:sp>
      <p:sp>
        <p:nvSpPr>
          <p:cNvPr id="7" name="Rectangle 6">
            <a:extLst>
              <a:ext uri="{FF2B5EF4-FFF2-40B4-BE49-F238E27FC236}">
                <a16:creationId xmlns:a16="http://schemas.microsoft.com/office/drawing/2014/main" id="{DF8CCCEE-2A05-BFCE-9412-1BAF16CCF725}"/>
              </a:ext>
            </a:extLst>
          </p:cNvPr>
          <p:cNvSpPr/>
          <p:nvPr/>
        </p:nvSpPr>
        <p:spPr>
          <a:xfrm>
            <a:off x="0" y="685800"/>
            <a:ext cx="9144000" cy="16349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8F37E608-4FB4-31A3-A857-CA2BAEA6C3AC}"/>
              </a:ext>
            </a:extLst>
          </p:cNvPr>
          <p:cNvGrpSpPr/>
          <p:nvPr/>
        </p:nvGrpSpPr>
        <p:grpSpPr>
          <a:xfrm>
            <a:off x="184406" y="796114"/>
            <a:ext cx="8733468" cy="1434731"/>
            <a:chOff x="31003" y="1022334"/>
            <a:chExt cx="11794981" cy="1434731"/>
          </a:xfrm>
        </p:grpSpPr>
        <p:pic>
          <p:nvPicPr>
            <p:cNvPr id="9" name="Graphic 8" descr="Gauge">
              <a:extLst>
                <a:ext uri="{FF2B5EF4-FFF2-40B4-BE49-F238E27FC236}">
                  <a16:creationId xmlns:a16="http://schemas.microsoft.com/office/drawing/2014/main" id="{0EF7F6FD-9C0F-F0A0-FDC0-A0FC71C97A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11584" y="1056509"/>
              <a:ext cx="914400" cy="914400"/>
            </a:xfrm>
            <a:prstGeom prst="rect">
              <a:avLst/>
            </a:prstGeom>
          </p:spPr>
        </p:pic>
        <p:sp>
          <p:nvSpPr>
            <p:cNvPr id="10" name="Freeform 15">
              <a:extLst>
                <a:ext uri="{FF2B5EF4-FFF2-40B4-BE49-F238E27FC236}">
                  <a16:creationId xmlns:a16="http://schemas.microsoft.com/office/drawing/2014/main" id="{553ED436-E167-97A1-A55F-8FCC4058F45D}"/>
                </a:ext>
              </a:extLst>
            </p:cNvPr>
            <p:cNvSpPr/>
            <p:nvPr/>
          </p:nvSpPr>
          <p:spPr>
            <a:xfrm>
              <a:off x="457200" y="1408200"/>
              <a:ext cx="10353813" cy="726152"/>
            </a:xfrm>
            <a:custGeom>
              <a:avLst/>
              <a:gdLst>
                <a:gd name="connsiteX0" fmla="*/ 0 w 7503459"/>
                <a:gd name="connsiteY0" fmla="*/ 591670 h 753046"/>
                <a:gd name="connsiteX1" fmla="*/ 470647 w 7503459"/>
                <a:gd name="connsiteY1" fmla="*/ 605117 h 753046"/>
                <a:gd name="connsiteX2" fmla="*/ 833718 w 7503459"/>
                <a:gd name="connsiteY2" fmla="*/ 336176 h 753046"/>
                <a:gd name="connsiteX3" fmla="*/ 1129553 w 7503459"/>
                <a:gd name="connsiteY3" fmla="*/ 174812 h 753046"/>
                <a:gd name="connsiteX4" fmla="*/ 1600200 w 7503459"/>
                <a:gd name="connsiteY4" fmla="*/ 94129 h 753046"/>
                <a:gd name="connsiteX5" fmla="*/ 2057400 w 7503459"/>
                <a:gd name="connsiteY5" fmla="*/ 121023 h 753046"/>
                <a:gd name="connsiteX6" fmla="*/ 2514600 w 7503459"/>
                <a:gd name="connsiteY6" fmla="*/ 443753 h 753046"/>
                <a:gd name="connsiteX7" fmla="*/ 3052482 w 7503459"/>
                <a:gd name="connsiteY7" fmla="*/ 524435 h 753046"/>
                <a:gd name="connsiteX8" fmla="*/ 3684494 w 7503459"/>
                <a:gd name="connsiteY8" fmla="*/ 376517 h 753046"/>
                <a:gd name="connsiteX9" fmla="*/ 4208929 w 7503459"/>
                <a:gd name="connsiteY9" fmla="*/ 94129 h 753046"/>
                <a:gd name="connsiteX10" fmla="*/ 5109882 w 7503459"/>
                <a:gd name="connsiteY10" fmla="*/ 0 h 753046"/>
                <a:gd name="connsiteX11" fmla="*/ 5674659 w 7503459"/>
                <a:gd name="connsiteY11" fmla="*/ 26894 h 753046"/>
                <a:gd name="connsiteX12" fmla="*/ 6158753 w 7503459"/>
                <a:gd name="connsiteY12" fmla="*/ 295835 h 753046"/>
                <a:gd name="connsiteX13" fmla="*/ 6669741 w 7503459"/>
                <a:gd name="connsiteY13" fmla="*/ 753035 h 753046"/>
                <a:gd name="connsiteX14" fmla="*/ 7503459 w 7503459"/>
                <a:gd name="connsiteY14" fmla="*/ 282388 h 753046"/>
                <a:gd name="connsiteX0" fmla="*/ 0 w 7503459"/>
                <a:gd name="connsiteY0" fmla="*/ 591670 h 753046"/>
                <a:gd name="connsiteX1" fmla="*/ 470647 w 7503459"/>
                <a:gd name="connsiteY1" fmla="*/ 605117 h 753046"/>
                <a:gd name="connsiteX2" fmla="*/ 833718 w 7503459"/>
                <a:gd name="connsiteY2" fmla="*/ 336176 h 753046"/>
                <a:gd name="connsiteX3" fmla="*/ 1129553 w 7503459"/>
                <a:gd name="connsiteY3" fmla="*/ 174812 h 753046"/>
                <a:gd name="connsiteX4" fmla="*/ 1600200 w 7503459"/>
                <a:gd name="connsiteY4" fmla="*/ 94129 h 753046"/>
                <a:gd name="connsiteX5" fmla="*/ 2057400 w 7503459"/>
                <a:gd name="connsiteY5" fmla="*/ 121023 h 753046"/>
                <a:gd name="connsiteX6" fmla="*/ 2586038 w 7503459"/>
                <a:gd name="connsiteY6" fmla="*/ 253253 h 753046"/>
                <a:gd name="connsiteX7" fmla="*/ 3052482 w 7503459"/>
                <a:gd name="connsiteY7" fmla="*/ 524435 h 753046"/>
                <a:gd name="connsiteX8" fmla="*/ 3684494 w 7503459"/>
                <a:gd name="connsiteY8" fmla="*/ 376517 h 753046"/>
                <a:gd name="connsiteX9" fmla="*/ 4208929 w 7503459"/>
                <a:gd name="connsiteY9" fmla="*/ 94129 h 753046"/>
                <a:gd name="connsiteX10" fmla="*/ 5109882 w 7503459"/>
                <a:gd name="connsiteY10" fmla="*/ 0 h 753046"/>
                <a:gd name="connsiteX11" fmla="*/ 5674659 w 7503459"/>
                <a:gd name="connsiteY11" fmla="*/ 26894 h 753046"/>
                <a:gd name="connsiteX12" fmla="*/ 6158753 w 7503459"/>
                <a:gd name="connsiteY12" fmla="*/ 295835 h 753046"/>
                <a:gd name="connsiteX13" fmla="*/ 6669741 w 7503459"/>
                <a:gd name="connsiteY13" fmla="*/ 753035 h 753046"/>
                <a:gd name="connsiteX14" fmla="*/ 7503459 w 7503459"/>
                <a:gd name="connsiteY14" fmla="*/ 282388 h 753046"/>
                <a:gd name="connsiteX0" fmla="*/ 0 w 7503459"/>
                <a:gd name="connsiteY0" fmla="*/ 564776 h 726152"/>
                <a:gd name="connsiteX1" fmla="*/ 470647 w 7503459"/>
                <a:gd name="connsiteY1" fmla="*/ 578223 h 726152"/>
                <a:gd name="connsiteX2" fmla="*/ 833718 w 7503459"/>
                <a:gd name="connsiteY2" fmla="*/ 309282 h 726152"/>
                <a:gd name="connsiteX3" fmla="*/ 1129553 w 7503459"/>
                <a:gd name="connsiteY3" fmla="*/ 147918 h 726152"/>
                <a:gd name="connsiteX4" fmla="*/ 1600200 w 7503459"/>
                <a:gd name="connsiteY4" fmla="*/ 67235 h 726152"/>
                <a:gd name="connsiteX5" fmla="*/ 2057400 w 7503459"/>
                <a:gd name="connsiteY5" fmla="*/ 94129 h 726152"/>
                <a:gd name="connsiteX6" fmla="*/ 2586038 w 7503459"/>
                <a:gd name="connsiteY6" fmla="*/ 226359 h 726152"/>
                <a:gd name="connsiteX7" fmla="*/ 3052482 w 7503459"/>
                <a:gd name="connsiteY7" fmla="*/ 497541 h 726152"/>
                <a:gd name="connsiteX8" fmla="*/ 3684494 w 7503459"/>
                <a:gd name="connsiteY8" fmla="*/ 349623 h 726152"/>
                <a:gd name="connsiteX9" fmla="*/ 4208929 w 7503459"/>
                <a:gd name="connsiteY9" fmla="*/ 67235 h 726152"/>
                <a:gd name="connsiteX10" fmla="*/ 5167032 w 7503459"/>
                <a:gd name="connsiteY10" fmla="*/ 287431 h 726152"/>
                <a:gd name="connsiteX11" fmla="*/ 5674659 w 7503459"/>
                <a:gd name="connsiteY11" fmla="*/ 0 h 726152"/>
                <a:gd name="connsiteX12" fmla="*/ 6158753 w 7503459"/>
                <a:gd name="connsiteY12" fmla="*/ 268941 h 726152"/>
                <a:gd name="connsiteX13" fmla="*/ 6669741 w 7503459"/>
                <a:gd name="connsiteY13" fmla="*/ 726141 h 726152"/>
                <a:gd name="connsiteX14" fmla="*/ 7503459 w 7503459"/>
                <a:gd name="connsiteY14" fmla="*/ 255494 h 72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3459" h="726152">
                  <a:moveTo>
                    <a:pt x="0" y="564776"/>
                  </a:moveTo>
                  <a:cubicBezTo>
                    <a:pt x="165847" y="592790"/>
                    <a:pt x="331694" y="620805"/>
                    <a:pt x="470647" y="578223"/>
                  </a:cubicBezTo>
                  <a:cubicBezTo>
                    <a:pt x="609600" y="535641"/>
                    <a:pt x="723900" y="380999"/>
                    <a:pt x="833718" y="309282"/>
                  </a:cubicBezTo>
                  <a:cubicBezTo>
                    <a:pt x="943536" y="237565"/>
                    <a:pt x="1001806" y="188259"/>
                    <a:pt x="1129553" y="147918"/>
                  </a:cubicBezTo>
                  <a:cubicBezTo>
                    <a:pt x="1257300" y="107577"/>
                    <a:pt x="1445559" y="76200"/>
                    <a:pt x="1600200" y="67235"/>
                  </a:cubicBezTo>
                  <a:cubicBezTo>
                    <a:pt x="1754841" y="58270"/>
                    <a:pt x="1893094" y="67608"/>
                    <a:pt x="2057400" y="94129"/>
                  </a:cubicBezTo>
                  <a:cubicBezTo>
                    <a:pt x="2221706" y="120650"/>
                    <a:pt x="2420191" y="159124"/>
                    <a:pt x="2586038" y="226359"/>
                  </a:cubicBezTo>
                  <a:cubicBezTo>
                    <a:pt x="2751885" y="293594"/>
                    <a:pt x="2869406" y="476997"/>
                    <a:pt x="3052482" y="497541"/>
                  </a:cubicBezTo>
                  <a:cubicBezTo>
                    <a:pt x="3235558" y="518085"/>
                    <a:pt x="3491753" y="421341"/>
                    <a:pt x="3684494" y="349623"/>
                  </a:cubicBezTo>
                  <a:cubicBezTo>
                    <a:pt x="3877235" y="277905"/>
                    <a:pt x="3961839" y="77600"/>
                    <a:pt x="4208929" y="67235"/>
                  </a:cubicBezTo>
                  <a:cubicBezTo>
                    <a:pt x="4456019" y="56870"/>
                    <a:pt x="4922744" y="298637"/>
                    <a:pt x="5167032" y="287431"/>
                  </a:cubicBezTo>
                  <a:lnTo>
                    <a:pt x="5674659" y="0"/>
                  </a:lnTo>
                  <a:cubicBezTo>
                    <a:pt x="5849471" y="49306"/>
                    <a:pt x="5992906" y="147918"/>
                    <a:pt x="6158753" y="268941"/>
                  </a:cubicBezTo>
                  <a:cubicBezTo>
                    <a:pt x="6324600" y="389964"/>
                    <a:pt x="6445623" y="728382"/>
                    <a:pt x="6669741" y="726141"/>
                  </a:cubicBezTo>
                  <a:cubicBezTo>
                    <a:pt x="6893859" y="723900"/>
                    <a:pt x="7198659" y="489697"/>
                    <a:pt x="7503459" y="255494"/>
                  </a:cubicBezTo>
                </a:path>
              </a:pathLst>
            </a:custGeom>
            <a:noFill/>
            <a:ln w="2857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98A24600-23AA-8FCB-106C-77AD732B593E}"/>
                </a:ext>
              </a:extLst>
            </p:cNvPr>
            <p:cNvSpPr/>
            <p:nvPr/>
          </p:nvSpPr>
          <p:spPr>
            <a:xfrm>
              <a:off x="4182656" y="1542665"/>
              <a:ext cx="1051396" cy="6142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D1010DD-BCA3-0FD2-38B5-97F7B8C94A78}"/>
                </a:ext>
              </a:extLst>
            </p:cNvPr>
            <p:cNvSpPr/>
            <p:nvPr/>
          </p:nvSpPr>
          <p:spPr>
            <a:xfrm>
              <a:off x="60741" y="1631089"/>
              <a:ext cx="1051396" cy="6142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04388664-9D0E-32A1-0688-B5A5DD70515D}"/>
                </a:ext>
              </a:extLst>
            </p:cNvPr>
            <p:cNvSpPr/>
            <p:nvPr/>
          </p:nvSpPr>
          <p:spPr>
            <a:xfrm>
              <a:off x="2316264" y="1265013"/>
              <a:ext cx="1051396" cy="6142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9CA79612-1EF8-972C-D697-5172538595B2}"/>
                </a:ext>
              </a:extLst>
            </p:cNvPr>
            <p:cNvSpPr/>
            <p:nvPr/>
          </p:nvSpPr>
          <p:spPr>
            <a:xfrm>
              <a:off x="6655810" y="1235526"/>
              <a:ext cx="1051396" cy="6142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56998D5E-1B26-E0CD-B666-3226F1BCA736}"/>
                </a:ext>
              </a:extLst>
            </p:cNvPr>
            <p:cNvSpPr/>
            <p:nvPr/>
          </p:nvSpPr>
          <p:spPr>
            <a:xfrm>
              <a:off x="8822749" y="1722406"/>
              <a:ext cx="1051396" cy="6142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pic>
          <p:nvPicPr>
            <p:cNvPr id="16" name="Graphic 15" descr="Tools">
              <a:extLst>
                <a:ext uri="{FF2B5EF4-FFF2-40B4-BE49-F238E27FC236}">
                  <a16:creationId xmlns:a16="http://schemas.microsoft.com/office/drawing/2014/main" id="{7CAE8D43-1A07-3E61-E2F6-9A10C5D641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45892" y="1421947"/>
              <a:ext cx="914400" cy="914400"/>
            </a:xfrm>
            <a:prstGeom prst="rect">
              <a:avLst/>
            </a:prstGeom>
          </p:spPr>
        </p:pic>
        <p:pic>
          <p:nvPicPr>
            <p:cNvPr id="17" name="Graphic 16" descr="Checklist">
              <a:extLst>
                <a:ext uri="{FF2B5EF4-FFF2-40B4-BE49-F238E27FC236}">
                  <a16:creationId xmlns:a16="http://schemas.microsoft.com/office/drawing/2014/main" id="{20FA110C-414B-F8D9-B000-DC97623ACA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99936" y="1022334"/>
              <a:ext cx="914400" cy="914400"/>
            </a:xfrm>
            <a:prstGeom prst="rect">
              <a:avLst/>
            </a:prstGeom>
          </p:spPr>
        </p:pic>
        <p:pic>
          <p:nvPicPr>
            <p:cNvPr id="18" name="Graphic 17" descr="Research">
              <a:extLst>
                <a:ext uri="{FF2B5EF4-FFF2-40B4-BE49-F238E27FC236}">
                  <a16:creationId xmlns:a16="http://schemas.microsoft.com/office/drawing/2014/main" id="{FB1318B7-6C40-83CA-2677-B515F8611D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76083" y="1542665"/>
              <a:ext cx="914400" cy="914400"/>
            </a:xfrm>
            <a:prstGeom prst="rect">
              <a:avLst/>
            </a:prstGeom>
          </p:spPr>
        </p:pic>
        <p:pic>
          <p:nvPicPr>
            <p:cNvPr id="19" name="Graphic 18" descr="Playbook">
              <a:extLst>
                <a:ext uri="{FF2B5EF4-FFF2-40B4-BE49-F238E27FC236}">
                  <a16:creationId xmlns:a16="http://schemas.microsoft.com/office/drawing/2014/main" id="{7503B5FF-6680-6C19-9859-C2E312F99B2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1003" y="1475508"/>
              <a:ext cx="914400" cy="914400"/>
            </a:xfrm>
            <a:prstGeom prst="rect">
              <a:avLst/>
            </a:prstGeom>
          </p:spPr>
        </p:pic>
        <p:sp>
          <p:nvSpPr>
            <p:cNvPr id="20" name="Freeform 152">
              <a:extLst>
                <a:ext uri="{FF2B5EF4-FFF2-40B4-BE49-F238E27FC236}">
                  <a16:creationId xmlns:a16="http://schemas.microsoft.com/office/drawing/2014/main" id="{CA2CF8B4-BD42-15EF-350B-8737A985020E}"/>
                </a:ext>
              </a:extLst>
            </p:cNvPr>
            <p:cNvSpPr>
              <a:spLocks noChangeAspect="1" noEditPoints="1"/>
            </p:cNvSpPr>
            <p:nvPr/>
          </p:nvSpPr>
          <p:spPr bwMode="auto">
            <a:xfrm>
              <a:off x="2277606" y="1131196"/>
              <a:ext cx="1128712" cy="640080"/>
            </a:xfrm>
            <a:custGeom>
              <a:avLst/>
              <a:gdLst>
                <a:gd name="T0" fmla="*/ 376 w 497"/>
                <a:gd name="T1" fmla="*/ 123 h 388"/>
                <a:gd name="T2" fmla="*/ 338 w 497"/>
                <a:gd name="T3" fmla="*/ 186 h 388"/>
                <a:gd name="T4" fmla="*/ 300 w 497"/>
                <a:gd name="T5" fmla="*/ 123 h 388"/>
                <a:gd name="T6" fmla="*/ 231 w 497"/>
                <a:gd name="T7" fmla="*/ 272 h 388"/>
                <a:gd name="T8" fmla="*/ 307 w 497"/>
                <a:gd name="T9" fmla="*/ 185 h 388"/>
                <a:gd name="T10" fmla="*/ 331 w 497"/>
                <a:gd name="T11" fmla="*/ 208 h 388"/>
                <a:gd name="T12" fmla="*/ 324 w 497"/>
                <a:gd name="T13" fmla="*/ 190 h 388"/>
                <a:gd name="T14" fmla="*/ 351 w 497"/>
                <a:gd name="T15" fmla="*/ 195 h 388"/>
                <a:gd name="T16" fmla="*/ 346 w 497"/>
                <a:gd name="T17" fmla="*/ 227 h 388"/>
                <a:gd name="T18" fmla="*/ 424 w 497"/>
                <a:gd name="T19" fmla="*/ 213 h 388"/>
                <a:gd name="T20" fmla="*/ 231 w 497"/>
                <a:gd name="T21" fmla="*/ 272 h 388"/>
                <a:gd name="T22" fmla="*/ 370 w 497"/>
                <a:gd name="T23" fmla="*/ 297 h 388"/>
                <a:gd name="T24" fmla="*/ 261 w 497"/>
                <a:gd name="T25" fmla="*/ 334 h 388"/>
                <a:gd name="T26" fmla="*/ 190 w 497"/>
                <a:gd name="T27" fmla="*/ 284 h 388"/>
                <a:gd name="T28" fmla="*/ 414 w 497"/>
                <a:gd name="T29" fmla="*/ 352 h 388"/>
                <a:gd name="T30" fmla="*/ 206 w 497"/>
                <a:gd name="T31" fmla="*/ 298 h 388"/>
                <a:gd name="T32" fmla="*/ 109 w 497"/>
                <a:gd name="T33" fmla="*/ 169 h 388"/>
                <a:gd name="T34" fmla="*/ 143 w 497"/>
                <a:gd name="T35" fmla="*/ 246 h 388"/>
                <a:gd name="T36" fmla="*/ 85 w 497"/>
                <a:gd name="T37" fmla="*/ 265 h 388"/>
                <a:gd name="T38" fmla="*/ 70 w 497"/>
                <a:gd name="T39" fmla="*/ 215 h 388"/>
                <a:gd name="T40" fmla="*/ 0 w 497"/>
                <a:gd name="T41" fmla="*/ 366 h 388"/>
                <a:gd name="T42" fmla="*/ 74 w 497"/>
                <a:gd name="T43" fmla="*/ 279 h 388"/>
                <a:gd name="T44" fmla="*/ 197 w 497"/>
                <a:gd name="T45" fmla="*/ 305 h 388"/>
                <a:gd name="T46" fmla="*/ 0 w 497"/>
                <a:gd name="T47" fmla="*/ 366 h 388"/>
                <a:gd name="T48" fmla="*/ 293 w 497"/>
                <a:gd name="T49" fmla="*/ 102 h 388"/>
                <a:gd name="T50" fmla="*/ 287 w 497"/>
                <a:gd name="T51" fmla="*/ 0 h 388"/>
                <a:gd name="T52" fmla="*/ 136 w 497"/>
                <a:gd name="T53" fmla="*/ 5 h 388"/>
                <a:gd name="T54" fmla="*/ 141 w 497"/>
                <a:gd name="T55" fmla="*/ 106 h 388"/>
                <a:gd name="T56" fmla="*/ 265 w 497"/>
                <a:gd name="T57" fmla="*/ 132 h 388"/>
                <a:gd name="T58" fmla="*/ 288 w 497"/>
                <a:gd name="T59" fmla="*/ 106 h 388"/>
                <a:gd name="T60" fmla="*/ 285 w 497"/>
                <a:gd name="T61" fmla="*/ 8 h 388"/>
                <a:gd name="T62" fmla="*/ 144 w 497"/>
                <a:gd name="T63" fmla="*/ 98 h 388"/>
                <a:gd name="T64" fmla="*/ 104 w 497"/>
                <a:gd name="T65" fmla="*/ 158 h 388"/>
                <a:gd name="T66" fmla="*/ 149 w 497"/>
                <a:gd name="T67" fmla="*/ 135 h 388"/>
                <a:gd name="T68" fmla="*/ 154 w 497"/>
                <a:gd name="T69" fmla="*/ 114 h 388"/>
                <a:gd name="T70" fmla="*/ 128 w 497"/>
                <a:gd name="T71" fmla="*/ 102 h 388"/>
                <a:gd name="T72" fmla="*/ 18 w 497"/>
                <a:gd name="T73" fmla="*/ 40 h 388"/>
                <a:gd name="T74" fmla="*/ 13 w 497"/>
                <a:gd name="T75" fmla="*/ 131 h 388"/>
                <a:gd name="T76" fmla="*/ 104 w 497"/>
                <a:gd name="T77" fmla="*/ 135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7" h="388">
                  <a:moveTo>
                    <a:pt x="338" y="77"/>
                  </a:moveTo>
                  <a:cubicBezTo>
                    <a:pt x="364" y="77"/>
                    <a:pt x="377" y="97"/>
                    <a:pt x="376" y="123"/>
                  </a:cubicBezTo>
                  <a:cubicBezTo>
                    <a:pt x="378" y="124"/>
                    <a:pt x="378" y="141"/>
                    <a:pt x="371" y="154"/>
                  </a:cubicBezTo>
                  <a:cubicBezTo>
                    <a:pt x="367" y="169"/>
                    <a:pt x="351" y="186"/>
                    <a:pt x="338" y="186"/>
                  </a:cubicBezTo>
                  <a:cubicBezTo>
                    <a:pt x="324" y="186"/>
                    <a:pt x="309" y="169"/>
                    <a:pt x="305" y="154"/>
                  </a:cubicBezTo>
                  <a:cubicBezTo>
                    <a:pt x="297" y="141"/>
                    <a:pt x="297" y="124"/>
                    <a:pt x="300" y="123"/>
                  </a:cubicBezTo>
                  <a:cubicBezTo>
                    <a:pt x="298" y="97"/>
                    <a:pt x="311" y="77"/>
                    <a:pt x="338" y="77"/>
                  </a:cubicBezTo>
                  <a:close/>
                  <a:moveTo>
                    <a:pt x="231" y="272"/>
                  </a:moveTo>
                  <a:cubicBezTo>
                    <a:pt x="235" y="250"/>
                    <a:pt x="236" y="233"/>
                    <a:pt x="252" y="213"/>
                  </a:cubicBezTo>
                  <a:cubicBezTo>
                    <a:pt x="270" y="189"/>
                    <a:pt x="290" y="197"/>
                    <a:pt x="307" y="185"/>
                  </a:cubicBezTo>
                  <a:cubicBezTo>
                    <a:pt x="313" y="200"/>
                    <a:pt x="318" y="213"/>
                    <a:pt x="329" y="227"/>
                  </a:cubicBezTo>
                  <a:cubicBezTo>
                    <a:pt x="331" y="208"/>
                    <a:pt x="331" y="208"/>
                    <a:pt x="331" y="208"/>
                  </a:cubicBezTo>
                  <a:cubicBezTo>
                    <a:pt x="324" y="195"/>
                    <a:pt x="324" y="195"/>
                    <a:pt x="324" y="195"/>
                  </a:cubicBezTo>
                  <a:cubicBezTo>
                    <a:pt x="324" y="194"/>
                    <a:pt x="323" y="192"/>
                    <a:pt x="324" y="190"/>
                  </a:cubicBezTo>
                  <a:cubicBezTo>
                    <a:pt x="331" y="194"/>
                    <a:pt x="344" y="194"/>
                    <a:pt x="351" y="190"/>
                  </a:cubicBezTo>
                  <a:cubicBezTo>
                    <a:pt x="352" y="192"/>
                    <a:pt x="352" y="194"/>
                    <a:pt x="351" y="195"/>
                  </a:cubicBezTo>
                  <a:cubicBezTo>
                    <a:pt x="344" y="208"/>
                    <a:pt x="344" y="208"/>
                    <a:pt x="344" y="208"/>
                  </a:cubicBezTo>
                  <a:cubicBezTo>
                    <a:pt x="346" y="227"/>
                    <a:pt x="346" y="227"/>
                    <a:pt x="346" y="227"/>
                  </a:cubicBezTo>
                  <a:cubicBezTo>
                    <a:pt x="358" y="213"/>
                    <a:pt x="362" y="200"/>
                    <a:pt x="369" y="185"/>
                  </a:cubicBezTo>
                  <a:cubicBezTo>
                    <a:pt x="386" y="197"/>
                    <a:pt x="405" y="189"/>
                    <a:pt x="424" y="213"/>
                  </a:cubicBezTo>
                  <a:cubicBezTo>
                    <a:pt x="439" y="233"/>
                    <a:pt x="440" y="250"/>
                    <a:pt x="445" y="272"/>
                  </a:cubicBezTo>
                  <a:cubicBezTo>
                    <a:pt x="231" y="272"/>
                    <a:pt x="231" y="272"/>
                    <a:pt x="231" y="272"/>
                  </a:cubicBezTo>
                  <a:close/>
                  <a:moveTo>
                    <a:pt x="306" y="297"/>
                  </a:moveTo>
                  <a:cubicBezTo>
                    <a:pt x="370" y="297"/>
                    <a:pt x="370" y="297"/>
                    <a:pt x="370" y="297"/>
                  </a:cubicBezTo>
                  <a:cubicBezTo>
                    <a:pt x="325" y="334"/>
                    <a:pt x="325" y="334"/>
                    <a:pt x="325" y="334"/>
                  </a:cubicBezTo>
                  <a:cubicBezTo>
                    <a:pt x="261" y="334"/>
                    <a:pt x="261" y="334"/>
                    <a:pt x="261" y="334"/>
                  </a:cubicBezTo>
                  <a:cubicBezTo>
                    <a:pt x="306" y="297"/>
                    <a:pt x="306" y="297"/>
                    <a:pt x="306" y="297"/>
                  </a:cubicBezTo>
                  <a:close/>
                  <a:moveTo>
                    <a:pt x="190" y="284"/>
                  </a:moveTo>
                  <a:cubicBezTo>
                    <a:pt x="497" y="284"/>
                    <a:pt x="497" y="284"/>
                    <a:pt x="497" y="284"/>
                  </a:cubicBezTo>
                  <a:cubicBezTo>
                    <a:pt x="414" y="352"/>
                    <a:pt x="414" y="352"/>
                    <a:pt x="414" y="352"/>
                  </a:cubicBezTo>
                  <a:cubicBezTo>
                    <a:pt x="227" y="352"/>
                    <a:pt x="227" y="352"/>
                    <a:pt x="227" y="352"/>
                  </a:cubicBezTo>
                  <a:cubicBezTo>
                    <a:pt x="223" y="333"/>
                    <a:pt x="220" y="316"/>
                    <a:pt x="206" y="298"/>
                  </a:cubicBezTo>
                  <a:cubicBezTo>
                    <a:pt x="201" y="293"/>
                    <a:pt x="196" y="288"/>
                    <a:pt x="190" y="284"/>
                  </a:cubicBezTo>
                  <a:close/>
                  <a:moveTo>
                    <a:pt x="109" y="169"/>
                  </a:moveTo>
                  <a:cubicBezTo>
                    <a:pt x="136" y="169"/>
                    <a:pt x="150" y="189"/>
                    <a:pt x="148" y="215"/>
                  </a:cubicBezTo>
                  <a:cubicBezTo>
                    <a:pt x="150" y="216"/>
                    <a:pt x="150" y="233"/>
                    <a:pt x="143" y="246"/>
                  </a:cubicBezTo>
                  <a:cubicBezTo>
                    <a:pt x="141" y="254"/>
                    <a:pt x="137" y="261"/>
                    <a:pt x="132" y="266"/>
                  </a:cubicBezTo>
                  <a:cubicBezTo>
                    <a:pt x="117" y="262"/>
                    <a:pt x="97" y="261"/>
                    <a:pt x="85" y="265"/>
                  </a:cubicBezTo>
                  <a:cubicBezTo>
                    <a:pt x="81" y="260"/>
                    <a:pt x="77" y="253"/>
                    <a:pt x="75" y="246"/>
                  </a:cubicBezTo>
                  <a:cubicBezTo>
                    <a:pt x="68" y="233"/>
                    <a:pt x="68" y="216"/>
                    <a:pt x="70" y="215"/>
                  </a:cubicBezTo>
                  <a:cubicBezTo>
                    <a:pt x="69" y="189"/>
                    <a:pt x="82" y="169"/>
                    <a:pt x="109" y="169"/>
                  </a:cubicBezTo>
                  <a:close/>
                  <a:moveTo>
                    <a:pt x="0" y="366"/>
                  </a:moveTo>
                  <a:cubicBezTo>
                    <a:pt x="5" y="344"/>
                    <a:pt x="6" y="325"/>
                    <a:pt x="21" y="305"/>
                  </a:cubicBezTo>
                  <a:cubicBezTo>
                    <a:pt x="39" y="283"/>
                    <a:pt x="57" y="288"/>
                    <a:pt x="74" y="279"/>
                  </a:cubicBezTo>
                  <a:cubicBezTo>
                    <a:pt x="83" y="265"/>
                    <a:pt x="129" y="268"/>
                    <a:pt x="146" y="280"/>
                  </a:cubicBezTo>
                  <a:cubicBezTo>
                    <a:pt x="162" y="288"/>
                    <a:pt x="180" y="284"/>
                    <a:pt x="197" y="305"/>
                  </a:cubicBezTo>
                  <a:cubicBezTo>
                    <a:pt x="213" y="325"/>
                    <a:pt x="214" y="344"/>
                    <a:pt x="218" y="366"/>
                  </a:cubicBezTo>
                  <a:cubicBezTo>
                    <a:pt x="145" y="385"/>
                    <a:pt x="73" y="388"/>
                    <a:pt x="0" y="366"/>
                  </a:cubicBezTo>
                  <a:close/>
                  <a:moveTo>
                    <a:pt x="288" y="106"/>
                  </a:moveTo>
                  <a:cubicBezTo>
                    <a:pt x="291" y="106"/>
                    <a:pt x="293" y="104"/>
                    <a:pt x="293" y="102"/>
                  </a:cubicBezTo>
                  <a:cubicBezTo>
                    <a:pt x="293" y="5"/>
                    <a:pt x="293" y="5"/>
                    <a:pt x="293" y="5"/>
                  </a:cubicBezTo>
                  <a:cubicBezTo>
                    <a:pt x="293" y="1"/>
                    <a:pt x="290" y="0"/>
                    <a:pt x="287" y="0"/>
                  </a:cubicBezTo>
                  <a:cubicBezTo>
                    <a:pt x="142" y="0"/>
                    <a:pt x="142" y="0"/>
                    <a:pt x="142" y="0"/>
                  </a:cubicBezTo>
                  <a:cubicBezTo>
                    <a:pt x="139" y="0"/>
                    <a:pt x="136" y="1"/>
                    <a:pt x="136" y="5"/>
                  </a:cubicBezTo>
                  <a:cubicBezTo>
                    <a:pt x="136" y="102"/>
                    <a:pt x="136" y="102"/>
                    <a:pt x="136" y="102"/>
                  </a:cubicBezTo>
                  <a:cubicBezTo>
                    <a:pt x="136" y="104"/>
                    <a:pt x="138" y="106"/>
                    <a:pt x="141" y="106"/>
                  </a:cubicBezTo>
                  <a:cubicBezTo>
                    <a:pt x="244" y="106"/>
                    <a:pt x="244" y="106"/>
                    <a:pt x="244" y="106"/>
                  </a:cubicBezTo>
                  <a:cubicBezTo>
                    <a:pt x="246" y="118"/>
                    <a:pt x="254" y="126"/>
                    <a:pt x="265" y="132"/>
                  </a:cubicBezTo>
                  <a:cubicBezTo>
                    <a:pt x="265" y="106"/>
                    <a:pt x="265" y="106"/>
                    <a:pt x="265" y="106"/>
                  </a:cubicBezTo>
                  <a:cubicBezTo>
                    <a:pt x="288" y="106"/>
                    <a:pt x="288" y="106"/>
                    <a:pt x="288" y="106"/>
                  </a:cubicBezTo>
                  <a:close/>
                  <a:moveTo>
                    <a:pt x="285" y="98"/>
                  </a:moveTo>
                  <a:cubicBezTo>
                    <a:pt x="285" y="8"/>
                    <a:pt x="285" y="8"/>
                    <a:pt x="285" y="8"/>
                  </a:cubicBezTo>
                  <a:cubicBezTo>
                    <a:pt x="144" y="8"/>
                    <a:pt x="144" y="8"/>
                    <a:pt x="144" y="8"/>
                  </a:cubicBezTo>
                  <a:cubicBezTo>
                    <a:pt x="144" y="98"/>
                    <a:pt x="144" y="98"/>
                    <a:pt x="144" y="98"/>
                  </a:cubicBezTo>
                  <a:cubicBezTo>
                    <a:pt x="216" y="98"/>
                    <a:pt x="246" y="98"/>
                    <a:pt x="285" y="98"/>
                  </a:cubicBezTo>
                  <a:close/>
                  <a:moveTo>
                    <a:pt x="104" y="158"/>
                  </a:moveTo>
                  <a:cubicBezTo>
                    <a:pt x="114" y="153"/>
                    <a:pt x="121" y="146"/>
                    <a:pt x="123" y="135"/>
                  </a:cubicBezTo>
                  <a:cubicBezTo>
                    <a:pt x="149" y="135"/>
                    <a:pt x="149" y="135"/>
                    <a:pt x="149" y="135"/>
                  </a:cubicBezTo>
                  <a:cubicBezTo>
                    <a:pt x="152" y="135"/>
                    <a:pt x="154" y="134"/>
                    <a:pt x="154" y="131"/>
                  </a:cubicBezTo>
                  <a:cubicBezTo>
                    <a:pt x="154" y="114"/>
                    <a:pt x="154" y="114"/>
                    <a:pt x="154" y="114"/>
                  </a:cubicBezTo>
                  <a:cubicBezTo>
                    <a:pt x="141" y="114"/>
                    <a:pt x="141" y="114"/>
                    <a:pt x="141" y="114"/>
                  </a:cubicBezTo>
                  <a:cubicBezTo>
                    <a:pt x="134" y="114"/>
                    <a:pt x="128" y="109"/>
                    <a:pt x="128" y="102"/>
                  </a:cubicBezTo>
                  <a:cubicBezTo>
                    <a:pt x="128" y="40"/>
                    <a:pt x="128" y="40"/>
                    <a:pt x="128" y="40"/>
                  </a:cubicBezTo>
                  <a:cubicBezTo>
                    <a:pt x="18" y="40"/>
                    <a:pt x="18" y="40"/>
                    <a:pt x="18" y="40"/>
                  </a:cubicBezTo>
                  <a:cubicBezTo>
                    <a:pt x="15" y="40"/>
                    <a:pt x="13" y="41"/>
                    <a:pt x="13" y="44"/>
                  </a:cubicBezTo>
                  <a:cubicBezTo>
                    <a:pt x="13" y="131"/>
                    <a:pt x="13" y="131"/>
                    <a:pt x="13" y="131"/>
                  </a:cubicBezTo>
                  <a:cubicBezTo>
                    <a:pt x="13" y="134"/>
                    <a:pt x="15" y="135"/>
                    <a:pt x="17" y="135"/>
                  </a:cubicBezTo>
                  <a:cubicBezTo>
                    <a:pt x="46" y="135"/>
                    <a:pt x="75" y="135"/>
                    <a:pt x="104" y="135"/>
                  </a:cubicBezTo>
                  <a:cubicBezTo>
                    <a:pt x="104" y="158"/>
                    <a:pt x="104" y="158"/>
                    <a:pt x="104" y="158"/>
                  </a:cubicBezTo>
                  <a:close/>
                </a:path>
              </a:pathLst>
            </a:custGeom>
            <a:solidFill>
              <a:srgbClr val="002060"/>
            </a:solidFill>
            <a:ln>
              <a:solidFill>
                <a:srgbClr val="002060"/>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Narrow" panose="020B0606020202030204" pitchFamily="34" charset="0"/>
                <a:ea typeface="+mn-ea"/>
                <a:cs typeface="+mn-cs"/>
              </a:endParaRPr>
            </a:p>
          </p:txBody>
        </p:sp>
      </p:grpSp>
    </p:spTree>
    <p:extLst>
      <p:ext uri="{BB962C8B-B14F-4D97-AF65-F5344CB8AC3E}">
        <p14:creationId xmlns:p14="http://schemas.microsoft.com/office/powerpoint/2010/main" val="12637904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41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4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Presentations and Other Documents</DocumentType>
    <Topic xmlns="46ade7e5-a61b-41ef-8b65-1672892065de">Psychedelics</Topic>
    <PageReference xmlns="46ade7e5-a61b-41ef-8b65-1672892065d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BABBC1-510B-498E-8648-BB5C1F939242}">
  <ds:schemaRefs>
    <ds:schemaRef ds:uri="209f7fcb-bfe5-4a5b-8e43-e26237892f1e"/>
    <ds:schemaRef ds:uri="a178d110-b93a-419c-b9dd-a7b2bbf04e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B54EB79-0DCF-40E4-877B-24A99FE1C62A}">
  <ds:schemaRefs>
    <ds:schemaRef ds:uri="http://schemas.microsoft.com/sharepoint/v3/contenttype/forms"/>
  </ds:schemaRefs>
</ds:datastoreItem>
</file>

<file path=customXml/itemProps3.xml><?xml version="1.0" encoding="utf-8"?>
<ds:datastoreItem xmlns:ds="http://schemas.openxmlformats.org/officeDocument/2006/customXml" ds:itemID="{04AB8C8D-D84E-4C10-995E-487AFA3E2D78}"/>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
  <TotalTime>47</TotalTime>
  <Words>3222</Words>
  <Application>Microsoft Macintosh PowerPoint</Application>
  <PresentationFormat>On-screen Show (4:3)</PresentationFormat>
  <Paragraphs>345</Paragraphs>
  <Slides>24</Slides>
  <Notes>14</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24</vt:i4>
      </vt:variant>
    </vt:vector>
  </HeadingPairs>
  <TitlesOfParts>
    <vt:vector size="34" baseType="lpstr">
      <vt:lpstr>Arial</vt:lpstr>
      <vt:lpstr>Arial Narrow</vt:lpstr>
      <vt:lpstr>Calibri</vt:lpstr>
      <vt:lpstr>Corbel</vt:lpstr>
      <vt:lpstr>Symbol</vt:lpstr>
      <vt:lpstr>Tahoma</vt:lpstr>
      <vt:lpstr>3_Office Theme</vt:lpstr>
      <vt:lpstr>41_Office Theme</vt:lpstr>
      <vt:lpstr>4_Office Theme</vt:lpstr>
      <vt:lpstr>think-cell Slide</vt:lpstr>
      <vt:lpstr>PowerPoint Presentation</vt:lpstr>
      <vt:lpstr>Agenda </vt:lpstr>
      <vt:lpstr>Overview </vt:lpstr>
      <vt:lpstr>Congressional Interest and Engagement</vt:lpstr>
      <vt:lpstr>What are Psychedelics?</vt:lpstr>
      <vt:lpstr>Regulatory Considerations</vt:lpstr>
      <vt:lpstr>MDMA Research </vt:lpstr>
      <vt:lpstr>MDMA Research (continued)  </vt:lpstr>
      <vt:lpstr>PowerPoint Presentation</vt:lpstr>
      <vt:lpstr>Key Concerns Raised by FDA</vt:lpstr>
      <vt:lpstr>Psilocybin Research Studies</vt:lpstr>
      <vt:lpstr>Psilocybin Research Studies (continued)</vt:lpstr>
      <vt:lpstr>Psilocybin Research Studies (continued)</vt:lpstr>
      <vt:lpstr>Lysergic acid diethylamide (LSD)</vt:lpstr>
      <vt:lpstr>Ibogaine </vt:lpstr>
      <vt:lpstr>Psychedelic Research in the Veteran Population</vt:lpstr>
      <vt:lpstr>PowerPoint Presentation</vt:lpstr>
      <vt:lpstr>PowerPoint Presentation</vt:lpstr>
      <vt:lpstr>Current State of VA Research </vt:lpstr>
      <vt:lpstr>Current Sites of Clinical Mental Health Studies </vt:lpstr>
      <vt:lpstr>VHA Psychedelics IPT Overview </vt:lpstr>
      <vt:lpstr>VHA Psychedelics IPT Metaframework </vt:lpstr>
      <vt:lpstr>Proposed FY26 Priorities for Psychedelic IPT</vt:lpstr>
      <vt:lpstr>Discussion</vt:lpstr>
    </vt:vector>
  </TitlesOfParts>
  <Company>Veteran Affairs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Psychedelic Treatments: Overview and Current Status in VA</dc:title>
  <dc:creator>Department of Veterans Affairs</dc:creator>
  <cp:lastModifiedBy>Tenhula, Wendy</cp:lastModifiedBy>
  <cp:revision>1291</cp:revision>
  <cp:lastPrinted>2018-01-09T17:33:44Z</cp:lastPrinted>
  <dcterms:created xsi:type="dcterms:W3CDTF">2016-05-04T17:57:56Z</dcterms:created>
  <dcterms:modified xsi:type="dcterms:W3CDTF">2025-10-20T13:38:01Z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ediaServiceImageTags">
    <vt:lpwstr/>
  </property>
</Properties>
</file>