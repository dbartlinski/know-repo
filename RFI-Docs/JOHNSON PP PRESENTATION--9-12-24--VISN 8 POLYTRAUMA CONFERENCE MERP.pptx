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4.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683" r:id="rId5"/>
    <p:sldMasterId id="2147483693" r:id="rId6"/>
    <p:sldMasterId id="2147483701" r:id="rId7"/>
  </p:sldMasterIdLst>
  <p:notesMasterIdLst>
    <p:notesMasterId r:id="rId33"/>
  </p:notesMasterIdLst>
  <p:sldIdLst>
    <p:sldId id="1062" r:id="rId8"/>
    <p:sldId id="4964" r:id="rId9"/>
    <p:sldId id="5090" r:id="rId10"/>
    <p:sldId id="5082" r:id="rId11"/>
    <p:sldId id="2134806002" r:id="rId12"/>
    <p:sldId id="2134806011" r:id="rId13"/>
    <p:sldId id="5076" r:id="rId14"/>
    <p:sldId id="2134806012" r:id="rId15"/>
    <p:sldId id="259" r:id="rId16"/>
    <p:sldId id="5004" r:id="rId17"/>
    <p:sldId id="905996148" r:id="rId18"/>
    <p:sldId id="905996151" r:id="rId19"/>
    <p:sldId id="2134806010" r:id="rId20"/>
    <p:sldId id="2134805994" r:id="rId21"/>
    <p:sldId id="5077" r:id="rId22"/>
    <p:sldId id="5068" r:id="rId23"/>
    <p:sldId id="5091" r:id="rId24"/>
    <p:sldId id="2134805997" r:id="rId25"/>
    <p:sldId id="2134805998" r:id="rId26"/>
    <p:sldId id="2134806000" r:id="rId27"/>
    <p:sldId id="2134805992" r:id="rId28"/>
    <p:sldId id="2134805989" r:id="rId29"/>
    <p:sldId id="5078" r:id="rId30"/>
    <p:sldId id="5074" r:id="rId31"/>
    <p:sldId id="213480598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AA60440-09A9-F157-DAA3-E713D1A4BB91}" name="Michael Tipsword" initials="MT" userId="S::michaeltipsword@cvpcorp.com::823ba2c3-9279-4a85-b63a-8cf1d06664ce" providerId="AD"/>
  <p188:author id="{1D572365-DCA0-3143-06A2-2556868D463D}" name="Cohen, Shakeria L." initials="CSL" userId="S::Shakeria.Cohen@va.gov::494538ae-6004-4020-89ee-6fd29b275a2c" providerId="AD"/>
  <p188:author id="{811FEC9C-0B5C-B0CE-84BA-A6E3B2EFA6E6}" name="Lindheimer, Jacob B." initials="LB" userId="S::jacob.lindheimer@va.gov::97c2af6d-cfef-4cf3-92ad-27fe52123f09" providerId="AD"/>
  <p188:author id="{02EF26FB-9200-57D9-2F2B-251886DE8E9B}" name="Upchurch, Julie A., DVAHCS" initials="UJAD" userId="S::Julie.Upchurch@va.gov::8f88a512-78f8-4c13-84fc-1b8ca5ad36ab" providerId="AD"/>
  <p188:author id="{9A8AD3FC-E7ED-8E75-F683-84A7D554F4D8}" name="Alli Schulman" initials="AS" userId="S::allischulman@cvpcorp.com::2d069229-c71e-48ad-902f-61067a4c9c9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483971-1334-4D8D-9DE3-D3BCED0B5BF2}" v="9" dt="2024-08-07T15:36:39.6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477" autoAdjust="0"/>
  </p:normalViewPr>
  <p:slideViewPr>
    <p:cSldViewPr snapToGrid="0">
      <p:cViewPr varScale="1">
        <p:scale>
          <a:sx n="88" d="100"/>
          <a:sy n="88" d="100"/>
        </p:scale>
        <p:origin x="82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slide" Target="slides/slide14.xml"/><Relationship Id="rId34"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tableStyles" Target="tableStyles.xml"/><Relationship Id="rId40"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son, Rudolph C." userId="f1ca9c69-74fe-4ffe-b50c-a4f7d7552cd4" providerId="ADAL" clId="{EE483971-1334-4D8D-9DE3-D3BCED0B5BF2}"/>
    <pc:docChg chg="custSel delSld modSld">
      <pc:chgData name="Johnson, Rudolph C." userId="f1ca9c69-74fe-4ffe-b50c-a4f7d7552cd4" providerId="ADAL" clId="{EE483971-1334-4D8D-9DE3-D3BCED0B5BF2}" dt="2024-08-07T15:40:16.001" v="679" actId="20577"/>
      <pc:docMkLst>
        <pc:docMk/>
      </pc:docMkLst>
      <pc:sldChg chg="del">
        <pc:chgData name="Johnson, Rudolph C." userId="f1ca9c69-74fe-4ffe-b50c-a4f7d7552cd4" providerId="ADAL" clId="{EE483971-1334-4D8D-9DE3-D3BCED0B5BF2}" dt="2024-08-07T15:30:36.094" v="0" actId="47"/>
        <pc:sldMkLst>
          <pc:docMk/>
          <pc:sldMk cId="584608154" sldId="2134805980"/>
        </pc:sldMkLst>
      </pc:sldChg>
      <pc:sldChg chg="addSp delSp modSp mod">
        <pc:chgData name="Johnson, Rudolph C." userId="f1ca9c69-74fe-4ffe-b50c-a4f7d7552cd4" providerId="ADAL" clId="{EE483971-1334-4D8D-9DE3-D3BCED0B5BF2}" dt="2024-08-07T15:40:16.001" v="679" actId="20577"/>
        <pc:sldMkLst>
          <pc:docMk/>
          <pc:sldMk cId="3003371668" sldId="2134805992"/>
        </pc:sldMkLst>
        <pc:spChg chg="del">
          <ac:chgData name="Johnson, Rudolph C." userId="f1ca9c69-74fe-4ffe-b50c-a4f7d7552cd4" providerId="ADAL" clId="{EE483971-1334-4D8D-9DE3-D3BCED0B5BF2}" dt="2024-08-07T15:38:43.728" v="602" actId="478"/>
          <ac:spMkLst>
            <pc:docMk/>
            <pc:sldMk cId="3003371668" sldId="2134805992"/>
            <ac:spMk id="2" creationId="{05395AA4-3EDC-15ED-C4D0-74EC2EB73273}"/>
          </ac:spMkLst>
        </pc:spChg>
        <pc:spChg chg="add mod">
          <ac:chgData name="Johnson, Rudolph C." userId="f1ca9c69-74fe-4ffe-b50c-a4f7d7552cd4" providerId="ADAL" clId="{EE483971-1334-4D8D-9DE3-D3BCED0B5BF2}" dt="2024-08-07T15:40:16.001" v="679" actId="20577"/>
          <ac:spMkLst>
            <pc:docMk/>
            <pc:sldMk cId="3003371668" sldId="2134805992"/>
            <ac:spMk id="3" creationId="{1AC74B3A-1566-949D-7A47-CE94C6F807ED}"/>
          </ac:spMkLst>
        </pc:spChg>
        <pc:graphicFrameChg chg="del mod modGraphic">
          <ac:chgData name="Johnson, Rudolph C." userId="f1ca9c69-74fe-4ffe-b50c-a4f7d7552cd4" providerId="ADAL" clId="{EE483971-1334-4D8D-9DE3-D3BCED0B5BF2}" dt="2024-08-07T15:36:30.490" v="104" actId="478"/>
          <ac:graphicFrameMkLst>
            <pc:docMk/>
            <pc:sldMk cId="3003371668" sldId="2134805992"/>
            <ac:graphicFrameMk id="4" creationId="{2EB28BCE-438D-A357-F5AA-33D1FCAA8712}"/>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r>
              <a:rPr lang="en-US" sz="2500" b="1" dirty="0"/>
              <a:t>Projects Funded as of June 2024</a:t>
            </a:r>
          </a:p>
        </c:rich>
      </c:tx>
      <c:overlay val="0"/>
      <c:spPr>
        <a:noFill/>
        <a:ln>
          <a:noFill/>
        </a:ln>
        <a:effectLst/>
      </c:spPr>
      <c:txPr>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endParaRPr lang="en-US"/>
        </a:p>
      </c:txPr>
    </c:title>
    <c:autoTitleDeleted val="0"/>
    <c:plotArea>
      <c:layout>
        <c:manualLayout>
          <c:layoutTarget val="inner"/>
          <c:xMode val="edge"/>
          <c:yMode val="edge"/>
          <c:x val="3.5071317244732426E-2"/>
          <c:y val="0.12381786196319598"/>
          <c:w val="0.95544731180108422"/>
          <c:h val="0.74880387045533259"/>
        </c:manualLayout>
      </c:layout>
      <c:barChart>
        <c:barDir val="col"/>
        <c:grouping val="clustered"/>
        <c:varyColors val="0"/>
        <c:ser>
          <c:idx val="0"/>
          <c:order val="0"/>
          <c:tx>
            <c:strRef>
              <c:f>Sheet1!$B$1</c:f>
              <c:strCache>
                <c:ptCount val="1"/>
                <c:pt idx="0">
                  <c:v>Awards</c:v>
                </c:pt>
              </c:strCache>
            </c:strRef>
          </c:tx>
          <c:spPr>
            <a:solidFill>
              <a:schemeClr val="accent2">
                <a:lumMod val="50000"/>
              </a:schemeClr>
            </a:solidFill>
            <a:ln>
              <a:noFill/>
            </a:ln>
            <a:effectLst>
              <a:outerShdw blurRad="76200" dir="18900000" sy="23000" kx="-1200000" algn="bl" rotWithShape="0">
                <a:prstClr val="black">
                  <a:alpha val="20000"/>
                </a:prstClr>
              </a:outerShdw>
            </a:effectLst>
          </c:spPr>
          <c:invertIfNegative val="0"/>
          <c:dPt>
            <c:idx val="0"/>
            <c:invertIfNegative val="0"/>
            <c:bubble3D val="0"/>
            <c:spPr>
              <a:solidFill>
                <a:schemeClr val="accent2">
                  <a:lumMod val="50000"/>
                </a:schemeClr>
              </a:solidFill>
              <a:ln>
                <a:noFill/>
              </a:ln>
              <a:effectLst/>
            </c:spPr>
            <c:extLst>
              <c:ext xmlns:c16="http://schemas.microsoft.com/office/drawing/2014/chart" uri="{C3380CC4-5D6E-409C-BE32-E72D297353CC}">
                <c16:uniqueId val="{00000003-87E0-41B7-9F61-1D7DDF20E512}"/>
              </c:ext>
            </c:extLst>
          </c:dPt>
          <c:dPt>
            <c:idx val="1"/>
            <c:invertIfNegative val="0"/>
            <c:bubble3D val="0"/>
            <c:spPr>
              <a:solidFill>
                <a:schemeClr val="accent2">
                  <a:lumMod val="50000"/>
                </a:schemeClr>
              </a:solidFill>
              <a:ln>
                <a:noFill/>
              </a:ln>
              <a:effectLst/>
            </c:spPr>
            <c:extLst>
              <c:ext xmlns:c16="http://schemas.microsoft.com/office/drawing/2014/chart" uri="{C3380CC4-5D6E-409C-BE32-E72D297353CC}">
                <c16:uniqueId val="{00000004-87E0-41B7-9F61-1D7DDF20E512}"/>
              </c:ext>
            </c:extLst>
          </c:dPt>
          <c:dPt>
            <c:idx val="2"/>
            <c:invertIfNegative val="0"/>
            <c:bubble3D val="0"/>
            <c:spPr>
              <a:solidFill>
                <a:schemeClr val="accent2">
                  <a:lumMod val="50000"/>
                </a:schemeClr>
              </a:solidFill>
              <a:ln>
                <a:noFill/>
              </a:ln>
              <a:effectLst/>
            </c:spPr>
            <c:extLst>
              <c:ext xmlns:c16="http://schemas.microsoft.com/office/drawing/2014/chart" uri="{C3380CC4-5D6E-409C-BE32-E72D297353CC}">
                <c16:uniqueId val="{00000005-87E0-41B7-9F61-1D7DDF20E512}"/>
              </c:ext>
            </c:extLst>
          </c:dPt>
          <c:dLbls>
            <c:dLbl>
              <c:idx val="0"/>
              <c:spPr>
                <a:noFill/>
                <a:ln>
                  <a:noFill/>
                </a:ln>
                <a:effectLst/>
              </c:spPr>
              <c:txPr>
                <a:bodyPr rot="0" spcFirstLastPara="1" vertOverflow="ellipsis" vert="horz" wrap="square" lIns="38100" tIns="19050" rIns="38100" bIns="19050" anchor="ctr" anchorCtr="1">
                  <a:spAutoFit/>
                </a:bodyPr>
                <a:lstStyle/>
                <a:p>
                  <a:pPr>
                    <a:defRPr sz="2000" b="1" i="0" u="none" strike="noStrike" kern="1200" baseline="0">
                      <a:solidFill>
                        <a:schemeClr val="lt1"/>
                      </a:solidFill>
                      <a:latin typeface="Source Sans Pro" panose="020B0503030403020204" pitchFamily="34" charset="0"/>
                      <a:ea typeface="+mn-ea"/>
                      <a:cs typeface="+mn-cs"/>
                    </a:defRPr>
                  </a:pPr>
                  <a:endParaRPr lang="en-US"/>
                </a:p>
              </c:txPr>
              <c:dLblPos val="inEnd"/>
              <c:showLegendKey val="0"/>
              <c:showVal val="1"/>
              <c:showCatName val="0"/>
              <c:showSerName val="0"/>
              <c:showPercent val="0"/>
              <c:showBubbleSize val="0"/>
              <c:extLst>
                <c:ext xmlns:c16="http://schemas.microsoft.com/office/drawing/2014/chart" uri="{C3380CC4-5D6E-409C-BE32-E72D297353CC}">
                  <c16:uniqueId val="{00000003-87E0-41B7-9F61-1D7DDF20E512}"/>
                </c:ext>
              </c:extLst>
            </c:dLbl>
            <c:dLbl>
              <c:idx val="1"/>
              <c:spPr>
                <a:noFill/>
                <a:ln>
                  <a:noFill/>
                </a:ln>
                <a:effectLst/>
              </c:spPr>
              <c:txPr>
                <a:bodyPr rot="0" spcFirstLastPara="1" vertOverflow="ellipsis" vert="horz" wrap="square" lIns="38100" tIns="19050" rIns="38100" bIns="19050" anchor="ctr" anchorCtr="1">
                  <a:spAutoFit/>
                </a:bodyPr>
                <a:lstStyle/>
                <a:p>
                  <a:pPr>
                    <a:defRPr lang="en-US" sz="2000" b="1" i="0" u="none" strike="noStrike" kern="1200" baseline="0">
                      <a:solidFill>
                        <a:prstClr val="white"/>
                      </a:solidFill>
                      <a:latin typeface="Source Sans Pro" panose="020B0503030403020204" pitchFamily="34" charset="0"/>
                      <a:ea typeface="+mn-ea"/>
                      <a:cs typeface="+mn-cs"/>
                    </a:defRPr>
                  </a:pPr>
                  <a:endParaRPr lang="en-US"/>
                </a:p>
              </c:txPr>
              <c:dLblPos val="inEnd"/>
              <c:showLegendKey val="0"/>
              <c:showVal val="1"/>
              <c:showCatName val="0"/>
              <c:showSerName val="0"/>
              <c:showPercent val="0"/>
              <c:showBubbleSize val="0"/>
              <c:extLst>
                <c:ext xmlns:c16="http://schemas.microsoft.com/office/drawing/2014/chart" uri="{C3380CC4-5D6E-409C-BE32-E72D297353CC}">
                  <c16:uniqueId val="{00000004-87E0-41B7-9F61-1D7DDF20E512}"/>
                </c:ext>
              </c:extLst>
            </c:dLbl>
            <c:dLbl>
              <c:idx val="2"/>
              <c:spPr>
                <a:noFill/>
                <a:ln>
                  <a:noFill/>
                </a:ln>
                <a:effectLst/>
              </c:spPr>
              <c:txPr>
                <a:bodyPr rot="0" spcFirstLastPara="1" vertOverflow="ellipsis" vert="horz" wrap="square" lIns="38100" tIns="19050" rIns="38100" bIns="19050" anchor="ctr" anchorCtr="0">
                  <a:spAutoFit/>
                </a:bodyPr>
                <a:lstStyle/>
                <a:p>
                  <a:pPr algn="ctr">
                    <a:defRPr lang="en-US" sz="2000" b="1" i="0" u="none" strike="noStrike" kern="1200" baseline="0">
                      <a:solidFill>
                        <a:prstClr val="white"/>
                      </a:solidFill>
                      <a:latin typeface="Source Sans Pro" panose="020B0503030403020204" pitchFamily="34" charset="0"/>
                      <a:ea typeface="+mn-ea"/>
                      <a:cs typeface="+mn-cs"/>
                    </a:defRPr>
                  </a:pPr>
                  <a:endParaRPr lang="en-US"/>
                </a:p>
              </c:txPr>
              <c:dLblPos val="inEnd"/>
              <c:showLegendKey val="0"/>
              <c:showVal val="1"/>
              <c:showCatName val="0"/>
              <c:showSerName val="0"/>
              <c:showPercent val="0"/>
              <c:showBubbleSize val="0"/>
              <c:extLst>
                <c:ext xmlns:c16="http://schemas.microsoft.com/office/drawing/2014/chart" uri="{C3380CC4-5D6E-409C-BE32-E72D297353CC}">
                  <c16:uniqueId val="{00000005-87E0-41B7-9F61-1D7DDF20E512}"/>
                </c:ext>
              </c:extLst>
            </c:dLbl>
            <c:spPr>
              <a:noFill/>
              <a:ln>
                <a:noFill/>
              </a:ln>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Total Amount Awarded</c:v>
                </c:pt>
                <c:pt idx="1">
                  <c:v>Amount Budgeted for Approved Projects</c:v>
                </c:pt>
                <c:pt idx="2">
                  <c:v>Amount Distributed</c:v>
                </c:pt>
              </c:strCache>
            </c:strRef>
          </c:cat>
          <c:val>
            <c:numRef>
              <c:f>Sheet1!$B$2:$B$4</c:f>
              <c:numCache>
                <c:formatCode>"$"#,##0_);[Red]\("$"#,##0\)</c:formatCode>
                <c:ptCount val="3"/>
                <c:pt idx="0">
                  <c:v>22408331</c:v>
                </c:pt>
                <c:pt idx="1">
                  <c:v>6061196</c:v>
                </c:pt>
                <c:pt idx="2">
                  <c:v>4940642</c:v>
                </c:pt>
              </c:numCache>
            </c:numRef>
          </c:val>
          <c:extLst>
            <c:ext xmlns:c16="http://schemas.microsoft.com/office/drawing/2014/chart" uri="{C3380CC4-5D6E-409C-BE32-E72D297353CC}">
              <c16:uniqueId val="{00000000-87E0-41B7-9F61-1D7DDF20E512}"/>
            </c:ext>
          </c:extLst>
        </c:ser>
        <c:dLbls>
          <c:dLblPos val="inEnd"/>
          <c:showLegendKey val="0"/>
          <c:showVal val="1"/>
          <c:showCatName val="0"/>
          <c:showSerName val="0"/>
          <c:showPercent val="0"/>
          <c:showBubbleSize val="0"/>
        </c:dLbls>
        <c:gapWidth val="41"/>
        <c:axId val="2107062736"/>
        <c:axId val="2107066096"/>
      </c:barChart>
      <c:catAx>
        <c:axId val="2107062736"/>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1" i="0" u="none" strike="noStrike" kern="1200" baseline="0">
                <a:solidFill>
                  <a:schemeClr val="dk1">
                    <a:lumMod val="65000"/>
                    <a:lumOff val="35000"/>
                  </a:schemeClr>
                </a:solidFill>
                <a:effectLst/>
                <a:latin typeface="+mn-lt"/>
                <a:ea typeface="+mn-ea"/>
                <a:cs typeface="+mn-cs"/>
              </a:defRPr>
            </a:pPr>
            <a:endParaRPr lang="en-US"/>
          </a:p>
        </c:txPr>
        <c:crossAx val="2107066096"/>
        <c:crosses val="autoZero"/>
        <c:auto val="1"/>
        <c:lblAlgn val="ctr"/>
        <c:lblOffset val="100"/>
        <c:noMultiLvlLbl val="0"/>
      </c:catAx>
      <c:valAx>
        <c:axId val="2107066096"/>
        <c:scaling>
          <c:orientation val="minMax"/>
        </c:scaling>
        <c:delete val="1"/>
        <c:axPos val="l"/>
        <c:numFmt formatCode="&quot;$&quot;#,##0_);[Red]\(&quot;$&quot;#,##0\)" sourceLinked="1"/>
        <c:majorTickMark val="none"/>
        <c:minorTickMark val="none"/>
        <c:tickLblPos val="nextTo"/>
        <c:crossAx val="21070627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r>
              <a:rPr lang="en-US" sz="2500" b="1" dirty="0"/>
              <a:t>Amount Spent Per Project Focus Area</a:t>
            </a:r>
          </a:p>
        </c:rich>
      </c:tx>
      <c:overlay val="0"/>
      <c:spPr>
        <a:noFill/>
        <a:ln>
          <a:noFill/>
        </a:ln>
        <a:effectLst/>
      </c:spPr>
    </c:title>
    <c:autoTitleDeleted val="0"/>
    <c:plotArea>
      <c:layout/>
      <c:barChart>
        <c:barDir val="col"/>
        <c:grouping val="clustered"/>
        <c:varyColors val="0"/>
        <c:ser>
          <c:idx val="0"/>
          <c:order val="0"/>
          <c:tx>
            <c:strRef>
              <c:f>Sheet1!$B$1</c:f>
              <c:strCache>
                <c:ptCount val="1"/>
                <c:pt idx="0">
                  <c:v>Column2</c:v>
                </c:pt>
              </c:strCache>
            </c:strRef>
          </c:tx>
          <c:spPr>
            <a:solidFill>
              <a:schemeClr val="accent2">
                <a:lumMod val="50000"/>
              </a:schemeClr>
            </a:solidFill>
            <a:ln>
              <a:noFill/>
            </a:ln>
            <a:effectLst/>
          </c:spPr>
          <c:invertIfNegative val="0"/>
          <c:dLbls>
            <c:dLbl>
              <c:idx val="0"/>
              <c:layout>
                <c:manualLayout>
                  <c:x val="1.1522651466113877E-3"/>
                  <c:y val="-1.479697484912451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B34-4A80-9A78-9452C83884ED}"/>
                </c:ext>
              </c:extLst>
            </c:dLbl>
            <c:dLbl>
              <c:idx val="1"/>
              <c:layout>
                <c:manualLayout>
                  <c:x val="0"/>
                  <c:y val="-1.6579286017523278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B34-4A80-9A78-9452C83884ED}"/>
                </c:ext>
              </c:extLst>
            </c:dLbl>
            <c:dLbl>
              <c:idx val="2"/>
              <c:layout>
                <c:manualLayout>
                  <c:x val="2.153132842192955E-3"/>
                  <c:y val="-1.2000263175308695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B34-4A80-9A78-9452C83884ED}"/>
                </c:ext>
              </c:extLst>
            </c:dLbl>
            <c:dLbl>
              <c:idx val="3"/>
              <c:layout>
                <c:manualLayout>
                  <c:x val="-7.5698725514895441E-5"/>
                  <c:y val="-3.931133771743870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ABA-4B67-95B3-5A4E55DC20FA}"/>
                </c:ext>
              </c:extLst>
            </c:dLbl>
            <c:dLbl>
              <c:idx val="4"/>
              <c:layout>
                <c:manualLayout>
                  <c:x val="-1.1522449451376747E-3"/>
                  <c:y val="-2.5603279149177739E-2"/>
                </c:manualLayout>
              </c:layout>
              <c:tx>
                <c:rich>
                  <a:bodyPr rot="0" spcFirstLastPara="1" vertOverflow="ellipsis" vert="horz" wrap="square" lIns="38100" tIns="0" rIns="38100" bIns="0" anchor="ctr" anchorCtr="1">
                    <a:spAutoFit/>
                  </a:bodyPr>
                  <a:lstStyle/>
                  <a:p>
                    <a:pPr>
                      <a:defRPr lang="en-US" sz="1600" b="1" i="0" u="none" strike="noStrike" kern="1200" baseline="0">
                        <a:solidFill>
                          <a:schemeClr val="accent2">
                            <a:lumMod val="50000"/>
                          </a:schemeClr>
                        </a:solidFill>
                        <a:latin typeface="Source Sans Pro" panose="020B0503030403020204" pitchFamily="34" charset="0"/>
                        <a:ea typeface="+mn-ea"/>
                        <a:cs typeface="+mn-cs"/>
                      </a:defRPr>
                    </a:pPr>
                    <a:fld id="{68E634EE-B851-4B5C-89BB-57266D76C2C7}" type="VALUE">
                      <a:rPr lang="en-US" sz="1600" baseline="0">
                        <a:solidFill>
                          <a:schemeClr val="accent2">
                            <a:lumMod val="50000"/>
                          </a:schemeClr>
                        </a:solidFill>
                      </a:rPr>
                      <a:pPr>
                        <a:defRPr lang="en-US" sz="1600" b="1" i="0" u="none" strike="noStrike" kern="1200" baseline="0">
                          <a:solidFill>
                            <a:schemeClr val="accent2">
                              <a:lumMod val="50000"/>
                            </a:schemeClr>
                          </a:solidFill>
                          <a:latin typeface="Source Sans Pro" panose="020B0503030403020204" pitchFamily="34" charset="0"/>
                          <a:ea typeface="+mn-ea"/>
                          <a:cs typeface="+mn-cs"/>
                        </a:defRPr>
                      </a:pPr>
                      <a:t>[VALUE]</a:t>
                    </a:fld>
                    <a:endParaRPr lang="en-US"/>
                  </a:p>
                </c:rich>
              </c:tx>
              <c:spPr>
                <a:noFill/>
                <a:ln>
                  <a:noFill/>
                </a:ln>
                <a:effectLst/>
              </c:sp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dlblFieldTable/>
                  <c15:showDataLabelsRange val="0"/>
                </c:ext>
                <c:ext xmlns:c16="http://schemas.microsoft.com/office/drawing/2014/chart" uri="{C3380CC4-5D6E-409C-BE32-E72D297353CC}">
                  <c16:uniqueId val="{00000005-EB34-4A80-9A78-9452C83884ED}"/>
                </c:ext>
              </c:extLst>
            </c:dLbl>
            <c:dLbl>
              <c:idx val="5"/>
              <c:layout>
                <c:manualLayout>
                  <c:x val="-1.0765664210965762E-3"/>
                  <c:y val="-8.7471660778403546E-3"/>
                </c:manualLayout>
              </c:layout>
              <c:spPr>
                <a:noFill/>
                <a:ln>
                  <a:noFill/>
                </a:ln>
                <a:effectLst/>
              </c:spPr>
              <c:txPr>
                <a:bodyPr rot="0" spcFirstLastPara="1" vertOverflow="ellipsis" vert="horz" wrap="square" lIns="38100" tIns="0" rIns="38100" bIns="0" anchor="ctr" anchorCtr="0">
                  <a:spAutoFit/>
                </a:bodyPr>
                <a:lstStyle/>
                <a:p>
                  <a:pPr algn="ctr">
                    <a:defRPr lang="en-US" sz="1600" b="1" i="0" u="none" strike="noStrike" kern="1200" baseline="0">
                      <a:solidFill>
                        <a:schemeClr val="accent2">
                          <a:lumMod val="50000"/>
                        </a:schemeClr>
                      </a:solidFill>
                      <a:latin typeface="Source Sans Pro" panose="020B0503030403020204" pitchFamily="34"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EB34-4A80-9A78-9452C83884ED}"/>
                </c:ext>
              </c:extLst>
            </c:dLbl>
            <c:dLbl>
              <c:idx val="6"/>
              <c:layout>
                <c:manualLayout>
                  <c:x val="1.0765664210964972E-3"/>
                  <c:y val="-1.11117620971053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AE2-4464-9EB4-48A8A78A7CD7}"/>
                </c:ext>
              </c:extLst>
            </c:dLbl>
            <c:dLbl>
              <c:idx val="7"/>
              <c:layout>
                <c:manualLayout>
                  <c:x val="3.2296992632894921E-3"/>
                  <c:y val="-1.479697484912451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AE2-4464-9EB4-48A8A78A7CD7}"/>
                </c:ext>
              </c:extLst>
            </c:dLbl>
            <c:spPr>
              <a:noFill/>
              <a:ln>
                <a:noFill/>
              </a:ln>
              <a:effectLst/>
            </c:spPr>
            <c:txPr>
              <a:bodyPr rot="0" spcFirstLastPara="1" vertOverflow="ellipsis" vert="horz" wrap="square" lIns="38100" tIns="0" rIns="38100" bIns="0" anchor="ctr" anchorCtr="1">
                <a:spAutoFit/>
              </a:bodyPr>
              <a:lstStyle/>
              <a:p>
                <a:pPr>
                  <a:defRPr sz="1600" b="1" i="0" u="none" strike="noStrike" kern="1200" baseline="0">
                    <a:solidFill>
                      <a:schemeClr val="accent2">
                        <a:lumMod val="50000"/>
                      </a:schemeClr>
                    </a:solidFill>
                    <a:latin typeface="Source Sans Pro" panose="020B0503030403020204" pitchFamily="34" charset="0"/>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Ref>
              <c:f>Sheet1!$A$2:$A$9</c:f>
              <c:strCache>
                <c:ptCount val="8"/>
                <c:pt idx="0">
                  <c:v>Military and Environmental Exposures</c:v>
                </c:pt>
                <c:pt idx="1">
                  <c:v>Administrative / CORE</c:v>
                </c:pt>
                <c:pt idx="2">
                  <c:v>Female Health Focused Studies</c:v>
                </c:pt>
                <c:pt idx="3">
                  <c:v>Susceptibility to Infectious Diseases</c:v>
                </c:pt>
                <c:pt idx="4">
                  <c:v>Health Systems</c:v>
                </c:pt>
                <c:pt idx="5">
                  <c:v>Brain and Spinal Cord Injuries and Disorders</c:v>
                </c:pt>
                <c:pt idx="6">
                  <c:v>Cancer</c:v>
                </c:pt>
                <c:pt idx="7">
                  <c:v>Lung Disorders</c:v>
                </c:pt>
              </c:strCache>
            </c:strRef>
          </c:cat>
          <c:val>
            <c:numRef>
              <c:f>Sheet1!$B$2:$B$9</c:f>
              <c:numCache>
                <c:formatCode>"$"#,##0</c:formatCode>
                <c:ptCount val="8"/>
                <c:pt idx="0">
                  <c:v>7584910</c:v>
                </c:pt>
                <c:pt idx="1">
                  <c:v>2324029</c:v>
                </c:pt>
                <c:pt idx="2">
                  <c:v>2184344</c:v>
                </c:pt>
                <c:pt idx="3">
                  <c:v>1200027</c:v>
                </c:pt>
                <c:pt idx="4">
                  <c:v>55185</c:v>
                </c:pt>
                <c:pt idx="5">
                  <c:v>707776</c:v>
                </c:pt>
                <c:pt idx="6">
                  <c:v>2251276</c:v>
                </c:pt>
                <c:pt idx="7">
                  <c:v>6100787</c:v>
                </c:pt>
              </c:numCache>
            </c:numRef>
          </c:val>
          <c:extLst>
            <c:ext xmlns:c16="http://schemas.microsoft.com/office/drawing/2014/chart" uri="{C3380CC4-5D6E-409C-BE32-E72D297353CC}">
              <c16:uniqueId val="{00000003-EB34-4A80-9A78-9452C83884ED}"/>
            </c:ext>
          </c:extLst>
        </c:ser>
        <c:dLbls>
          <c:dLblPos val="inEnd"/>
          <c:showLegendKey val="0"/>
          <c:showVal val="1"/>
          <c:showCatName val="0"/>
          <c:showSerName val="0"/>
          <c:showPercent val="0"/>
          <c:showBubbleSize val="0"/>
        </c:dLbls>
        <c:gapWidth val="41"/>
        <c:axId val="2107062736"/>
        <c:axId val="2107066096"/>
      </c:barChart>
      <c:catAx>
        <c:axId val="2107062736"/>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1" i="0" u="none" strike="noStrike" kern="1200" baseline="0">
                <a:solidFill>
                  <a:schemeClr val="dk1">
                    <a:lumMod val="65000"/>
                    <a:lumOff val="35000"/>
                  </a:schemeClr>
                </a:solidFill>
                <a:effectLst/>
                <a:latin typeface="Source Sans Pro" panose="020B0503030403020204" pitchFamily="34" charset="0"/>
                <a:ea typeface="+mn-ea"/>
                <a:cs typeface="+mn-cs"/>
              </a:defRPr>
            </a:pPr>
            <a:endParaRPr lang="en-US"/>
          </a:p>
        </c:txPr>
        <c:crossAx val="2107066096"/>
        <c:crosses val="autoZero"/>
        <c:auto val="1"/>
        <c:lblAlgn val="ctr"/>
        <c:lblOffset val="100"/>
        <c:noMultiLvlLbl val="0"/>
      </c:catAx>
      <c:valAx>
        <c:axId val="2107066096"/>
        <c:scaling>
          <c:orientation val="minMax"/>
        </c:scaling>
        <c:delete val="1"/>
        <c:axPos val="l"/>
        <c:numFmt formatCode="&quot;$&quot;#,##0" sourceLinked="1"/>
        <c:majorTickMark val="none"/>
        <c:minorTickMark val="none"/>
        <c:tickLblPos val="nextTo"/>
        <c:crossAx val="21070627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defRPr sz="1197"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330" kern="1200"/>
  </cs:chartArea>
  <cs:dataLabel>
    <cs:lnRef idx="0"/>
    <cs:fillRef idx="0"/>
    <cs:effectRef idx="0"/>
    <cs:fontRef idx="minor">
      <a:schemeClr val="lt1"/>
    </cs:fontRef>
    <cs:spPr/>
    <cs:defRPr sz="133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33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1D5E601-4A23-45C5-ABE1-69CC07680BE6}" type="doc">
      <dgm:prSet loTypeId="urn:microsoft.com/office/officeart/2005/8/layout/process3" loCatId="process" qsTypeId="urn:microsoft.com/office/officeart/2005/8/quickstyle/simple1" qsCatId="simple" csTypeId="urn:microsoft.com/office/officeart/2005/8/colors/accent2_3" csCatId="accent2" phldr="1"/>
      <dgm:spPr/>
      <dgm:t>
        <a:bodyPr/>
        <a:lstStyle/>
        <a:p>
          <a:endParaRPr lang="en-US"/>
        </a:p>
      </dgm:t>
    </dgm:pt>
    <dgm:pt modelId="{ABC869F5-5729-47ED-BF82-2CBBA19EAA21}">
      <dgm:prSet phldrT="[Text]" custT="1"/>
      <dgm:spPr>
        <a:solidFill>
          <a:srgbClr val="0070C0"/>
        </a:solidFill>
      </dgm:spPr>
      <dgm:t>
        <a:bodyPr/>
        <a:lstStyle/>
        <a:p>
          <a:r>
            <a:rPr lang="en-US" sz="1400" dirty="0"/>
            <a:t>1</a:t>
          </a:r>
          <a:r>
            <a:rPr lang="en-US" sz="1400" baseline="30000" dirty="0"/>
            <a:t>st</a:t>
          </a:r>
          <a:r>
            <a:rPr lang="en-US" sz="1400" dirty="0"/>
            <a:t> Phase: Just-In-Time Process</a:t>
          </a:r>
        </a:p>
      </dgm:t>
    </dgm:pt>
    <dgm:pt modelId="{A08008F9-63A1-4A80-8FD4-F03000CC44CF}" type="parTrans" cxnId="{31A4D9C2-7EB4-4077-B242-2D740E6A5594}">
      <dgm:prSet/>
      <dgm:spPr/>
      <dgm:t>
        <a:bodyPr/>
        <a:lstStyle/>
        <a:p>
          <a:endParaRPr lang="en-US"/>
        </a:p>
      </dgm:t>
    </dgm:pt>
    <dgm:pt modelId="{39006B8F-9124-4B31-A103-98B56992000D}" type="sibTrans" cxnId="{31A4D9C2-7EB4-4077-B242-2D740E6A5594}">
      <dgm:prSet/>
      <dgm:spPr>
        <a:solidFill>
          <a:srgbClr val="0070C0"/>
        </a:solidFill>
      </dgm:spPr>
      <dgm:t>
        <a:bodyPr/>
        <a:lstStyle/>
        <a:p>
          <a:endParaRPr lang="en-US" dirty="0"/>
        </a:p>
      </dgm:t>
    </dgm:pt>
    <dgm:pt modelId="{FF706D37-6D12-4A5E-A8CC-DBBD68C1DA7A}">
      <dgm:prSet phldrT="[Text]" custT="1"/>
      <dgm:spPr>
        <a:solidFill>
          <a:schemeClr val="bg1">
            <a:alpha val="90000"/>
          </a:schemeClr>
        </a:solidFill>
      </dgm:spPr>
      <dgm:t>
        <a:bodyPr/>
        <a:lstStyle/>
        <a:p>
          <a:pPr>
            <a:lnSpc>
              <a:spcPct val="100000"/>
            </a:lnSpc>
            <a:spcAft>
              <a:spcPts val="0"/>
            </a:spcAft>
          </a:pPr>
          <a:r>
            <a:rPr lang="en-US" sz="1200" dirty="0"/>
            <a:t>Project transitions from “approval” to “actionable” based on regulatory requirements</a:t>
          </a:r>
        </a:p>
      </dgm:t>
    </dgm:pt>
    <dgm:pt modelId="{A94EA149-F02A-4AC5-8C1B-0FD651E7F92A}" type="parTrans" cxnId="{6468938F-D35F-4C61-AB2F-DBFAB7BAF670}">
      <dgm:prSet/>
      <dgm:spPr/>
      <dgm:t>
        <a:bodyPr/>
        <a:lstStyle/>
        <a:p>
          <a:endParaRPr lang="en-US"/>
        </a:p>
      </dgm:t>
    </dgm:pt>
    <dgm:pt modelId="{68690934-39DD-400E-8420-9FB6D027CAD6}" type="sibTrans" cxnId="{6468938F-D35F-4C61-AB2F-DBFAB7BAF670}">
      <dgm:prSet/>
      <dgm:spPr/>
      <dgm:t>
        <a:bodyPr/>
        <a:lstStyle/>
        <a:p>
          <a:endParaRPr lang="en-US"/>
        </a:p>
      </dgm:t>
    </dgm:pt>
    <dgm:pt modelId="{328DA053-C233-4311-B8FC-F8531117B5D8}">
      <dgm:prSet phldrT="[Text]"/>
      <dgm:spPr>
        <a:solidFill>
          <a:srgbClr val="0070C0"/>
        </a:solidFill>
      </dgm:spPr>
      <dgm:t>
        <a:bodyPr/>
        <a:lstStyle/>
        <a:p>
          <a:r>
            <a:rPr lang="en-US" dirty="0"/>
            <a:t>2</a:t>
          </a:r>
          <a:r>
            <a:rPr lang="en-US" baseline="30000" dirty="0"/>
            <a:t>nd</a:t>
          </a:r>
          <a:r>
            <a:rPr lang="en-US" dirty="0"/>
            <a:t> Phase: Engagement with Cohorts</a:t>
          </a:r>
        </a:p>
      </dgm:t>
    </dgm:pt>
    <dgm:pt modelId="{1C1D3058-090E-47E2-A71A-1E9AAFBF09F0}" type="parTrans" cxnId="{CD09ED48-52E6-4018-9438-BBA7B6937DAF}">
      <dgm:prSet/>
      <dgm:spPr/>
      <dgm:t>
        <a:bodyPr/>
        <a:lstStyle/>
        <a:p>
          <a:endParaRPr lang="en-US"/>
        </a:p>
      </dgm:t>
    </dgm:pt>
    <dgm:pt modelId="{FA904ABF-7B52-4849-8EB9-7097E3C5B8DD}" type="sibTrans" cxnId="{CD09ED48-52E6-4018-9438-BBA7B6937DAF}">
      <dgm:prSet/>
      <dgm:spPr>
        <a:solidFill>
          <a:srgbClr val="0070C0"/>
        </a:solidFill>
      </dgm:spPr>
      <dgm:t>
        <a:bodyPr/>
        <a:lstStyle/>
        <a:p>
          <a:endParaRPr lang="en-US" dirty="0"/>
        </a:p>
      </dgm:t>
    </dgm:pt>
    <dgm:pt modelId="{A06FDE84-66B2-4621-8561-3117E165CE3C}">
      <dgm:prSet phldrT="[Text]"/>
      <dgm:spPr/>
      <dgm:t>
        <a:bodyPr/>
        <a:lstStyle/>
        <a:p>
          <a:pPr>
            <a:buFont typeface="Wingdings" panose="05000000000000000000" pitchFamily="2" charset="2"/>
            <a:buChar char="q"/>
          </a:pPr>
          <a:r>
            <a:rPr lang="en-US" sz="1300" dirty="0"/>
            <a:t> Laboratory</a:t>
          </a:r>
        </a:p>
      </dgm:t>
    </dgm:pt>
    <dgm:pt modelId="{8AEB8351-E5D4-4831-8F9C-16F9FAFA3122}" type="parTrans" cxnId="{5CB7BFDF-1F72-4EAB-8D4F-88F219E19E2E}">
      <dgm:prSet/>
      <dgm:spPr/>
      <dgm:t>
        <a:bodyPr/>
        <a:lstStyle/>
        <a:p>
          <a:endParaRPr lang="en-US"/>
        </a:p>
      </dgm:t>
    </dgm:pt>
    <dgm:pt modelId="{F0665FC2-6655-4249-A17C-4CDE5BA85064}" type="sibTrans" cxnId="{5CB7BFDF-1F72-4EAB-8D4F-88F219E19E2E}">
      <dgm:prSet/>
      <dgm:spPr/>
      <dgm:t>
        <a:bodyPr/>
        <a:lstStyle/>
        <a:p>
          <a:endParaRPr lang="en-US"/>
        </a:p>
      </dgm:t>
    </dgm:pt>
    <dgm:pt modelId="{2697A861-7EAC-40C3-8E08-E8C278631A6D}">
      <dgm:prSet phldrT="[Text]"/>
      <dgm:spPr>
        <a:solidFill>
          <a:srgbClr val="0070C0"/>
        </a:solidFill>
      </dgm:spPr>
      <dgm:t>
        <a:bodyPr/>
        <a:lstStyle/>
        <a:p>
          <a:r>
            <a:rPr lang="en-US" dirty="0"/>
            <a:t>3</a:t>
          </a:r>
          <a:r>
            <a:rPr lang="en-US" baseline="30000" dirty="0"/>
            <a:t>rd</a:t>
          </a:r>
          <a:r>
            <a:rPr lang="en-US" dirty="0"/>
            <a:t> Phase: The Active Phase</a:t>
          </a:r>
        </a:p>
      </dgm:t>
    </dgm:pt>
    <dgm:pt modelId="{491D8105-3D6A-452A-99E3-092FF91CD571}" type="parTrans" cxnId="{3CDEC6AD-60CA-45EC-B4C1-848CCB085120}">
      <dgm:prSet/>
      <dgm:spPr/>
      <dgm:t>
        <a:bodyPr/>
        <a:lstStyle/>
        <a:p>
          <a:endParaRPr lang="en-US"/>
        </a:p>
      </dgm:t>
    </dgm:pt>
    <dgm:pt modelId="{147B8E56-AEEC-4968-A1EE-C5D9DE94050D}" type="sibTrans" cxnId="{3CDEC6AD-60CA-45EC-B4C1-848CCB085120}">
      <dgm:prSet/>
      <dgm:spPr>
        <a:solidFill>
          <a:srgbClr val="0070C0"/>
        </a:solidFill>
      </dgm:spPr>
      <dgm:t>
        <a:bodyPr/>
        <a:lstStyle/>
        <a:p>
          <a:endParaRPr lang="en-US" dirty="0"/>
        </a:p>
      </dgm:t>
    </dgm:pt>
    <dgm:pt modelId="{D8CDA73A-0B1F-43B8-A1AE-D4AA0166F840}">
      <dgm:prSet phldrT="[Text]" custT="1"/>
      <dgm:spPr/>
      <dgm:t>
        <a:bodyPr/>
        <a:lstStyle/>
        <a:p>
          <a:pPr>
            <a:buFont typeface="Wingdings" panose="05000000000000000000" pitchFamily="2" charset="2"/>
            <a:buChar char="q"/>
          </a:pPr>
          <a:r>
            <a:rPr lang="en-US" sz="1300" dirty="0"/>
            <a:t> Laboratory</a:t>
          </a:r>
        </a:p>
      </dgm:t>
    </dgm:pt>
    <dgm:pt modelId="{0F0B29A1-191A-46B8-88BE-4554BB5291C7}" type="parTrans" cxnId="{1F2D14B6-172C-47A1-A4A8-38D862243C25}">
      <dgm:prSet/>
      <dgm:spPr/>
      <dgm:t>
        <a:bodyPr/>
        <a:lstStyle/>
        <a:p>
          <a:endParaRPr lang="en-US"/>
        </a:p>
      </dgm:t>
    </dgm:pt>
    <dgm:pt modelId="{C7C83F9E-F036-406B-9E08-E9953ABDDD8B}" type="sibTrans" cxnId="{1F2D14B6-172C-47A1-A4A8-38D862243C25}">
      <dgm:prSet/>
      <dgm:spPr/>
      <dgm:t>
        <a:bodyPr/>
        <a:lstStyle/>
        <a:p>
          <a:endParaRPr lang="en-US"/>
        </a:p>
      </dgm:t>
    </dgm:pt>
    <dgm:pt modelId="{F10341AB-BAD6-4DA1-BB60-E2B9AD41211F}">
      <dgm:prSet phldrT="[Text]"/>
      <dgm:spPr>
        <a:solidFill>
          <a:srgbClr val="0070C0"/>
        </a:solidFill>
      </dgm:spPr>
      <dgm:t>
        <a:bodyPr/>
        <a:lstStyle/>
        <a:p>
          <a:r>
            <a:rPr lang="en-US" dirty="0"/>
            <a:t>4</a:t>
          </a:r>
          <a:r>
            <a:rPr lang="en-US" baseline="30000" dirty="0"/>
            <a:t>th</a:t>
          </a:r>
          <a:r>
            <a:rPr lang="en-US" dirty="0"/>
            <a:t> Phase: Concluding Activities &amp; Reporting </a:t>
          </a:r>
        </a:p>
      </dgm:t>
    </dgm:pt>
    <dgm:pt modelId="{E59B3073-506A-402A-8D3A-A3B644E73EB3}" type="parTrans" cxnId="{83360576-54C6-4787-ADE7-3A2870FF862E}">
      <dgm:prSet/>
      <dgm:spPr/>
      <dgm:t>
        <a:bodyPr/>
        <a:lstStyle/>
        <a:p>
          <a:endParaRPr lang="en-US"/>
        </a:p>
      </dgm:t>
    </dgm:pt>
    <dgm:pt modelId="{BDA76487-C074-40B7-A14F-8AC15349BC29}" type="sibTrans" cxnId="{83360576-54C6-4787-ADE7-3A2870FF862E}">
      <dgm:prSet/>
      <dgm:spPr/>
      <dgm:t>
        <a:bodyPr/>
        <a:lstStyle/>
        <a:p>
          <a:endParaRPr lang="en-US"/>
        </a:p>
      </dgm:t>
    </dgm:pt>
    <dgm:pt modelId="{63359662-4DB9-4407-8CE5-D8A739BFBC14}">
      <dgm:prSet phldrT="[Text]"/>
      <dgm:spPr/>
      <dgm:t>
        <a:bodyPr/>
        <a:lstStyle/>
        <a:p>
          <a:pPr>
            <a:buFont typeface="Wingdings" panose="05000000000000000000" pitchFamily="2" charset="2"/>
            <a:buChar char="q"/>
          </a:pPr>
          <a:r>
            <a:rPr lang="en-US" sz="1300" dirty="0"/>
            <a:t> Laboratory</a:t>
          </a:r>
        </a:p>
      </dgm:t>
    </dgm:pt>
    <dgm:pt modelId="{0124154E-AE0D-4B46-8961-822CE97A478E}" type="parTrans" cxnId="{9B5E4236-CEED-4321-92AF-2917C8ECEA1E}">
      <dgm:prSet/>
      <dgm:spPr/>
      <dgm:t>
        <a:bodyPr/>
        <a:lstStyle/>
        <a:p>
          <a:endParaRPr lang="en-US"/>
        </a:p>
      </dgm:t>
    </dgm:pt>
    <dgm:pt modelId="{BF6E03CE-6264-4A96-8A2B-0A98F24EAB53}" type="sibTrans" cxnId="{9B5E4236-CEED-4321-92AF-2917C8ECEA1E}">
      <dgm:prSet/>
      <dgm:spPr/>
      <dgm:t>
        <a:bodyPr/>
        <a:lstStyle/>
        <a:p>
          <a:endParaRPr lang="en-US"/>
        </a:p>
      </dgm:t>
    </dgm:pt>
    <dgm:pt modelId="{FF76E213-FF11-4652-8287-2007F1B05CE9}">
      <dgm:prSet/>
      <dgm:spPr/>
      <dgm:t>
        <a:bodyPr/>
        <a:lstStyle/>
        <a:p>
          <a:pPr>
            <a:buFont typeface="Wingdings" panose="05000000000000000000" pitchFamily="2" charset="2"/>
            <a:buChar char="q"/>
          </a:pPr>
          <a:r>
            <a:rPr lang="en-US" sz="1300" dirty="0"/>
            <a:t> Epidemiology</a:t>
          </a:r>
        </a:p>
      </dgm:t>
    </dgm:pt>
    <dgm:pt modelId="{BBF15134-8A65-487A-8E75-65DD9BEA643A}" type="parTrans" cxnId="{6A21E68C-0EC5-4866-B440-ADD62E5E1ABF}">
      <dgm:prSet/>
      <dgm:spPr/>
      <dgm:t>
        <a:bodyPr/>
        <a:lstStyle/>
        <a:p>
          <a:endParaRPr lang="en-US"/>
        </a:p>
      </dgm:t>
    </dgm:pt>
    <dgm:pt modelId="{75D71828-B375-4CB2-8313-31F11EE35E36}" type="sibTrans" cxnId="{6A21E68C-0EC5-4866-B440-ADD62E5E1ABF}">
      <dgm:prSet/>
      <dgm:spPr/>
      <dgm:t>
        <a:bodyPr/>
        <a:lstStyle/>
        <a:p>
          <a:endParaRPr lang="en-US"/>
        </a:p>
      </dgm:t>
    </dgm:pt>
    <dgm:pt modelId="{9526BA24-70B1-4335-B981-6458ACF49769}">
      <dgm:prSet/>
      <dgm:spPr/>
      <dgm:t>
        <a:bodyPr/>
        <a:lstStyle/>
        <a:p>
          <a:pPr>
            <a:buFont typeface="Wingdings" panose="05000000000000000000" pitchFamily="2" charset="2"/>
            <a:buChar char="q"/>
          </a:pPr>
          <a:r>
            <a:rPr lang="en-US" sz="1300" dirty="0"/>
            <a:t> Medical</a:t>
          </a:r>
        </a:p>
      </dgm:t>
    </dgm:pt>
    <dgm:pt modelId="{25020B6B-5413-4AF5-AB0A-FAFA104676D8}" type="parTrans" cxnId="{17B9A6F6-3510-45B1-B5CA-76ECF8AC709E}">
      <dgm:prSet/>
      <dgm:spPr/>
      <dgm:t>
        <a:bodyPr/>
        <a:lstStyle/>
        <a:p>
          <a:endParaRPr lang="en-US"/>
        </a:p>
      </dgm:t>
    </dgm:pt>
    <dgm:pt modelId="{F9CC1B9F-5342-47C8-99EE-03DB9B775607}" type="sibTrans" cxnId="{17B9A6F6-3510-45B1-B5CA-76ECF8AC709E}">
      <dgm:prSet/>
      <dgm:spPr/>
      <dgm:t>
        <a:bodyPr/>
        <a:lstStyle/>
        <a:p>
          <a:endParaRPr lang="en-US"/>
        </a:p>
      </dgm:t>
    </dgm:pt>
    <dgm:pt modelId="{43D37603-299B-4382-BC5A-35FCEFEA6819}">
      <dgm:prSet phldrT="[Text]" custT="1"/>
      <dgm:spPr/>
      <dgm:t>
        <a:bodyPr/>
        <a:lstStyle/>
        <a:p>
          <a:pPr>
            <a:buFont typeface="Arial" panose="020B0604020202020204" pitchFamily="34" charset="0"/>
            <a:buChar char="•"/>
          </a:pPr>
          <a:r>
            <a:rPr lang="en-US" sz="1200" dirty="0"/>
            <a:t> Veteran engagement</a:t>
          </a:r>
        </a:p>
      </dgm:t>
    </dgm:pt>
    <dgm:pt modelId="{EA5152D7-3BFC-41FC-93BE-F9B4584F6B34}" type="parTrans" cxnId="{19ECA8E0-899E-4004-891F-413899DABF81}">
      <dgm:prSet/>
      <dgm:spPr/>
      <dgm:t>
        <a:bodyPr/>
        <a:lstStyle/>
        <a:p>
          <a:endParaRPr lang="en-US"/>
        </a:p>
      </dgm:t>
    </dgm:pt>
    <dgm:pt modelId="{584F01A9-16BE-40C5-B355-922D61A127C5}" type="sibTrans" cxnId="{19ECA8E0-899E-4004-891F-413899DABF81}">
      <dgm:prSet/>
      <dgm:spPr/>
      <dgm:t>
        <a:bodyPr/>
        <a:lstStyle/>
        <a:p>
          <a:endParaRPr lang="en-US"/>
        </a:p>
      </dgm:t>
    </dgm:pt>
    <dgm:pt modelId="{C2C81373-3710-4089-A6CA-3D610C3E8E27}">
      <dgm:prSet phldrT="[Text]" custT="1"/>
      <dgm:spPr/>
      <dgm:t>
        <a:bodyPr/>
        <a:lstStyle/>
        <a:p>
          <a:pPr>
            <a:buFont typeface="Arial" panose="020B0604020202020204" pitchFamily="34" charset="0"/>
            <a:buChar char="•"/>
          </a:pPr>
          <a:r>
            <a:rPr lang="en-US" sz="1200" dirty="0"/>
            <a:t> Purchase critical reagents and instrumentation </a:t>
          </a:r>
        </a:p>
      </dgm:t>
    </dgm:pt>
    <dgm:pt modelId="{C1EF613A-03D4-4E54-AE12-AA6D8F994A13}" type="parTrans" cxnId="{B1715D88-EDFE-45B2-9528-9AFD74699FDA}">
      <dgm:prSet/>
      <dgm:spPr/>
      <dgm:t>
        <a:bodyPr/>
        <a:lstStyle/>
        <a:p>
          <a:endParaRPr lang="en-US"/>
        </a:p>
      </dgm:t>
    </dgm:pt>
    <dgm:pt modelId="{740745AC-D6CB-4C5B-A466-1E95CEC439F0}" type="sibTrans" cxnId="{B1715D88-EDFE-45B2-9528-9AFD74699FDA}">
      <dgm:prSet/>
      <dgm:spPr/>
      <dgm:t>
        <a:bodyPr/>
        <a:lstStyle/>
        <a:p>
          <a:endParaRPr lang="en-US"/>
        </a:p>
      </dgm:t>
    </dgm:pt>
    <dgm:pt modelId="{53668E70-353C-4F85-8FAA-531FB86DC86C}">
      <dgm:prSet phldrT="[Text]" custT="1"/>
      <dgm:spPr/>
      <dgm:t>
        <a:bodyPr/>
        <a:lstStyle/>
        <a:p>
          <a:pPr>
            <a:buFont typeface="Arial" panose="020B0604020202020204" pitchFamily="34" charset="0"/>
            <a:buChar char="•"/>
          </a:pPr>
          <a:r>
            <a:rPr lang="en-US" sz="1200" dirty="0"/>
            <a:t> Obtain clinical specimens </a:t>
          </a:r>
        </a:p>
      </dgm:t>
    </dgm:pt>
    <dgm:pt modelId="{1D041C0E-C9E4-47EA-8A64-95682155B019}" type="parTrans" cxnId="{583B6B35-45FF-42D9-BE60-DFB4450C9228}">
      <dgm:prSet/>
      <dgm:spPr/>
      <dgm:t>
        <a:bodyPr/>
        <a:lstStyle/>
        <a:p>
          <a:endParaRPr lang="en-US"/>
        </a:p>
      </dgm:t>
    </dgm:pt>
    <dgm:pt modelId="{F6FEC620-E2D5-4774-AA21-7DBE92235706}" type="sibTrans" cxnId="{583B6B35-45FF-42D9-BE60-DFB4450C9228}">
      <dgm:prSet/>
      <dgm:spPr/>
      <dgm:t>
        <a:bodyPr/>
        <a:lstStyle/>
        <a:p>
          <a:endParaRPr lang="en-US"/>
        </a:p>
      </dgm:t>
    </dgm:pt>
    <dgm:pt modelId="{B91A4502-3E77-41A5-99D2-4375A829FAA0}">
      <dgm:prSet phldrT="[Text]" custT="1"/>
      <dgm:spPr/>
      <dgm:t>
        <a:bodyPr/>
        <a:lstStyle/>
        <a:p>
          <a:pPr>
            <a:buFont typeface="Arial" panose="020B0604020202020204" pitchFamily="34" charset="0"/>
            <a:buChar char="•"/>
          </a:pPr>
          <a:r>
            <a:rPr lang="en-US" sz="1200" dirty="0"/>
            <a:t>Optimize laboratory setup</a:t>
          </a:r>
        </a:p>
      </dgm:t>
    </dgm:pt>
    <dgm:pt modelId="{B996ACDB-2B5B-440E-8926-7C6C26F68A78}" type="parTrans" cxnId="{837BE226-C660-4DE5-A27F-49BA1F01179B}">
      <dgm:prSet/>
      <dgm:spPr/>
      <dgm:t>
        <a:bodyPr/>
        <a:lstStyle/>
        <a:p>
          <a:endParaRPr lang="en-US"/>
        </a:p>
      </dgm:t>
    </dgm:pt>
    <dgm:pt modelId="{1065A868-F68D-4B58-B912-133EA643DAC4}" type="sibTrans" cxnId="{837BE226-C660-4DE5-A27F-49BA1F01179B}">
      <dgm:prSet/>
      <dgm:spPr/>
      <dgm:t>
        <a:bodyPr/>
        <a:lstStyle/>
        <a:p>
          <a:endParaRPr lang="en-US"/>
        </a:p>
      </dgm:t>
    </dgm:pt>
    <dgm:pt modelId="{6804A7AA-70B6-47DB-B563-933282B2B4FF}">
      <dgm:prSet custT="1"/>
      <dgm:spPr/>
      <dgm:t>
        <a:bodyPr/>
        <a:lstStyle/>
        <a:p>
          <a:pPr>
            <a:buFont typeface="Arial" panose="020B0604020202020204" pitchFamily="34" charset="0"/>
            <a:buChar char="•"/>
          </a:pPr>
          <a:r>
            <a:rPr lang="en-US" sz="1200" dirty="0"/>
            <a:t> Engage with database owners (e.g., MVP).</a:t>
          </a:r>
        </a:p>
      </dgm:t>
    </dgm:pt>
    <dgm:pt modelId="{A7E705CF-F1DF-4A6E-B0AB-778956F0BFB8}" type="parTrans" cxnId="{FAC89171-A88A-447C-84B7-4150072C4EB3}">
      <dgm:prSet/>
      <dgm:spPr/>
      <dgm:t>
        <a:bodyPr/>
        <a:lstStyle/>
        <a:p>
          <a:endParaRPr lang="en-US"/>
        </a:p>
      </dgm:t>
    </dgm:pt>
    <dgm:pt modelId="{5DBC8A24-F90D-4820-8C23-08270D97F328}" type="sibTrans" cxnId="{FAC89171-A88A-447C-84B7-4150072C4EB3}">
      <dgm:prSet/>
      <dgm:spPr/>
      <dgm:t>
        <a:bodyPr/>
        <a:lstStyle/>
        <a:p>
          <a:endParaRPr lang="en-US"/>
        </a:p>
      </dgm:t>
    </dgm:pt>
    <dgm:pt modelId="{8873A1C6-E056-4BAB-83B4-CCE322900F20}">
      <dgm:prSet custT="1"/>
      <dgm:spPr/>
      <dgm:t>
        <a:bodyPr/>
        <a:lstStyle/>
        <a:p>
          <a:pPr>
            <a:buFont typeface="Arial" panose="020B0604020202020204" pitchFamily="34" charset="0"/>
            <a:buChar char="•"/>
          </a:pPr>
          <a:r>
            <a:rPr lang="en-US" sz="1200" dirty="0"/>
            <a:t>Optimize algorithms for targeted cohorts</a:t>
          </a:r>
        </a:p>
      </dgm:t>
    </dgm:pt>
    <dgm:pt modelId="{D43FA1F6-44C0-4BCB-9437-20ECD155FEA5}" type="parTrans" cxnId="{B38AE8A4-9EB8-4B9B-9BE4-A9097B7633BE}">
      <dgm:prSet/>
      <dgm:spPr/>
      <dgm:t>
        <a:bodyPr/>
        <a:lstStyle/>
        <a:p>
          <a:endParaRPr lang="en-US"/>
        </a:p>
      </dgm:t>
    </dgm:pt>
    <dgm:pt modelId="{BD930E5E-61F3-460B-A16E-7D8BF005D252}" type="sibTrans" cxnId="{B38AE8A4-9EB8-4B9B-9BE4-A9097B7633BE}">
      <dgm:prSet/>
      <dgm:spPr/>
      <dgm:t>
        <a:bodyPr/>
        <a:lstStyle/>
        <a:p>
          <a:endParaRPr lang="en-US"/>
        </a:p>
      </dgm:t>
    </dgm:pt>
    <dgm:pt modelId="{1CFFD059-77EE-4F17-A0D9-A9B4160F6E53}">
      <dgm:prSet custT="1"/>
      <dgm:spPr/>
      <dgm:t>
        <a:bodyPr/>
        <a:lstStyle/>
        <a:p>
          <a:pPr>
            <a:buFont typeface="Arial" panose="020B0604020202020204" pitchFamily="34" charset="0"/>
            <a:buChar char="•"/>
          </a:pPr>
          <a:r>
            <a:rPr lang="en-US" sz="1200" dirty="0"/>
            <a:t> Engage with Veterans for treatment </a:t>
          </a:r>
        </a:p>
      </dgm:t>
    </dgm:pt>
    <dgm:pt modelId="{BFDD1E73-D84B-4C2B-86C7-F8C51D834448}" type="parTrans" cxnId="{CC890988-1B65-4234-92D0-F50114564A00}">
      <dgm:prSet/>
      <dgm:spPr/>
      <dgm:t>
        <a:bodyPr/>
        <a:lstStyle/>
        <a:p>
          <a:endParaRPr lang="en-US"/>
        </a:p>
      </dgm:t>
    </dgm:pt>
    <dgm:pt modelId="{393350C7-E161-4AA8-82BE-9B5C7D0412ED}" type="sibTrans" cxnId="{CC890988-1B65-4234-92D0-F50114564A00}">
      <dgm:prSet/>
      <dgm:spPr/>
      <dgm:t>
        <a:bodyPr/>
        <a:lstStyle/>
        <a:p>
          <a:endParaRPr lang="en-US"/>
        </a:p>
      </dgm:t>
    </dgm:pt>
    <dgm:pt modelId="{8BDF0080-478A-4E37-8DFF-57D3CA820A99}">
      <dgm:prSet phldrT="[Text]" custT="1"/>
      <dgm:spPr/>
      <dgm:t>
        <a:bodyPr/>
        <a:lstStyle/>
        <a:p>
          <a:pPr>
            <a:buFont typeface="Arial" panose="020B0604020202020204" pitchFamily="34" charset="0"/>
            <a:buNone/>
          </a:pPr>
          <a:endParaRPr lang="en-US" sz="1200" dirty="0"/>
        </a:p>
      </dgm:t>
    </dgm:pt>
    <dgm:pt modelId="{4E85A80C-5C20-4AC2-9E96-D6E4C54ABA13}" type="parTrans" cxnId="{EA9F8BCE-CFE2-47AE-8B5E-0E0D7B462F91}">
      <dgm:prSet/>
      <dgm:spPr/>
      <dgm:t>
        <a:bodyPr/>
        <a:lstStyle/>
        <a:p>
          <a:endParaRPr lang="en-US"/>
        </a:p>
      </dgm:t>
    </dgm:pt>
    <dgm:pt modelId="{05CE00D8-BC0B-4D72-B876-88C4ABB12D2B}" type="sibTrans" cxnId="{EA9F8BCE-CFE2-47AE-8B5E-0E0D7B462F91}">
      <dgm:prSet/>
      <dgm:spPr/>
      <dgm:t>
        <a:bodyPr/>
        <a:lstStyle/>
        <a:p>
          <a:endParaRPr lang="en-US"/>
        </a:p>
      </dgm:t>
    </dgm:pt>
    <dgm:pt modelId="{BC18482F-4BA0-434A-9C9E-47046910774B}">
      <dgm:prSet custT="1"/>
      <dgm:spPr/>
      <dgm:t>
        <a:bodyPr/>
        <a:lstStyle/>
        <a:p>
          <a:pPr>
            <a:buFont typeface="Arial" panose="020B0604020202020204" pitchFamily="34" charset="0"/>
            <a:buNone/>
          </a:pPr>
          <a:endParaRPr lang="en-US" sz="1200" dirty="0"/>
        </a:p>
      </dgm:t>
    </dgm:pt>
    <dgm:pt modelId="{991C8F15-7714-4983-AD38-2BCC57C29B31}" type="parTrans" cxnId="{9C919AD6-98AD-4ABA-8F00-2CAE333E0AA4}">
      <dgm:prSet/>
      <dgm:spPr/>
      <dgm:t>
        <a:bodyPr/>
        <a:lstStyle/>
        <a:p>
          <a:endParaRPr lang="en-US"/>
        </a:p>
      </dgm:t>
    </dgm:pt>
    <dgm:pt modelId="{335F570E-C894-42E6-859B-DFE6DFBBAF6D}" type="sibTrans" cxnId="{9C919AD6-98AD-4ABA-8F00-2CAE333E0AA4}">
      <dgm:prSet/>
      <dgm:spPr/>
      <dgm:t>
        <a:bodyPr/>
        <a:lstStyle/>
        <a:p>
          <a:endParaRPr lang="en-US"/>
        </a:p>
      </dgm:t>
    </dgm:pt>
    <dgm:pt modelId="{B08E472F-521D-4C66-B8FB-2D3B3090FFB4}">
      <dgm:prSet/>
      <dgm:spPr/>
      <dgm:t>
        <a:bodyPr/>
        <a:lstStyle/>
        <a:p>
          <a:pPr>
            <a:buFont typeface="Arial" panose="020B0604020202020204" pitchFamily="34" charset="0"/>
            <a:buChar char="•"/>
          </a:pPr>
          <a:r>
            <a:rPr lang="en-US" sz="1200" dirty="0"/>
            <a:t>Complete lab protocols</a:t>
          </a:r>
        </a:p>
      </dgm:t>
    </dgm:pt>
    <dgm:pt modelId="{7BACCEBC-2B7A-48B3-9FB6-15179F943C05}" type="parTrans" cxnId="{B6217107-F0F0-49EF-B974-EC34F09E9E7C}">
      <dgm:prSet/>
      <dgm:spPr/>
      <dgm:t>
        <a:bodyPr/>
        <a:lstStyle/>
        <a:p>
          <a:endParaRPr lang="en-US"/>
        </a:p>
      </dgm:t>
    </dgm:pt>
    <dgm:pt modelId="{B4E15B56-0077-419D-A757-388643C42969}" type="sibTrans" cxnId="{B6217107-F0F0-49EF-B974-EC34F09E9E7C}">
      <dgm:prSet/>
      <dgm:spPr/>
      <dgm:t>
        <a:bodyPr/>
        <a:lstStyle/>
        <a:p>
          <a:endParaRPr lang="en-US"/>
        </a:p>
      </dgm:t>
    </dgm:pt>
    <dgm:pt modelId="{984CE51E-DF94-4C89-B494-FA9310B20083}">
      <dgm:prSet custT="1"/>
      <dgm:spPr/>
      <dgm:t>
        <a:bodyPr/>
        <a:lstStyle/>
        <a:p>
          <a:pPr>
            <a:buFont typeface="Wingdings" panose="05000000000000000000" pitchFamily="2" charset="2"/>
            <a:buChar char="q"/>
          </a:pPr>
          <a:r>
            <a:rPr lang="en-US" sz="1300" dirty="0"/>
            <a:t> Epidemiology</a:t>
          </a:r>
        </a:p>
      </dgm:t>
    </dgm:pt>
    <dgm:pt modelId="{39EB65D1-B571-49DC-9585-55BE5FF00541}" type="parTrans" cxnId="{1C2C273E-E168-43A0-8582-8E746551BB4F}">
      <dgm:prSet/>
      <dgm:spPr/>
      <dgm:t>
        <a:bodyPr/>
        <a:lstStyle/>
        <a:p>
          <a:endParaRPr lang="en-US"/>
        </a:p>
      </dgm:t>
    </dgm:pt>
    <dgm:pt modelId="{AC38ED54-24EF-4640-8FD9-B7B6E2FD8DC2}" type="sibTrans" cxnId="{1C2C273E-E168-43A0-8582-8E746551BB4F}">
      <dgm:prSet/>
      <dgm:spPr/>
      <dgm:t>
        <a:bodyPr/>
        <a:lstStyle/>
        <a:p>
          <a:endParaRPr lang="en-US"/>
        </a:p>
      </dgm:t>
    </dgm:pt>
    <dgm:pt modelId="{7945BD8F-5EC9-40C7-9AFE-C824DFF03FAD}">
      <dgm:prSet/>
      <dgm:spPr/>
      <dgm:t>
        <a:bodyPr/>
        <a:lstStyle/>
        <a:p>
          <a:pPr>
            <a:buFont typeface="Arial" panose="020B0604020202020204" pitchFamily="34" charset="0"/>
            <a:buChar char="•"/>
          </a:pPr>
          <a:r>
            <a:rPr lang="en-US" sz="1200" dirty="0"/>
            <a:t>Collect and process data</a:t>
          </a:r>
        </a:p>
      </dgm:t>
    </dgm:pt>
    <dgm:pt modelId="{C0A138B0-CCAB-4EAB-879E-F68903FF0164}" type="parTrans" cxnId="{BD19A391-0D1A-417D-8F3F-D7A191A006E4}">
      <dgm:prSet/>
      <dgm:spPr/>
      <dgm:t>
        <a:bodyPr/>
        <a:lstStyle/>
        <a:p>
          <a:endParaRPr lang="en-US"/>
        </a:p>
      </dgm:t>
    </dgm:pt>
    <dgm:pt modelId="{637973FA-67CF-4934-8E85-0E2C69C7E12C}" type="sibTrans" cxnId="{BD19A391-0D1A-417D-8F3F-D7A191A006E4}">
      <dgm:prSet/>
      <dgm:spPr/>
      <dgm:t>
        <a:bodyPr/>
        <a:lstStyle/>
        <a:p>
          <a:endParaRPr lang="en-US"/>
        </a:p>
      </dgm:t>
    </dgm:pt>
    <dgm:pt modelId="{582D37B0-B1DA-4DA6-B59D-AA8258F3E47A}">
      <dgm:prSet/>
      <dgm:spPr/>
      <dgm:t>
        <a:bodyPr/>
        <a:lstStyle/>
        <a:p>
          <a:pPr>
            <a:buFont typeface="Arial" panose="020B0604020202020204" pitchFamily="34" charset="0"/>
            <a:buNone/>
          </a:pPr>
          <a:endParaRPr lang="en-US" sz="1200" dirty="0"/>
        </a:p>
      </dgm:t>
    </dgm:pt>
    <dgm:pt modelId="{30DBDA1A-FD2D-473D-808E-EB6F247EEEE2}" type="parTrans" cxnId="{8CEDDEC2-5228-4B57-9267-EE9E666CEA60}">
      <dgm:prSet/>
      <dgm:spPr/>
      <dgm:t>
        <a:bodyPr/>
        <a:lstStyle/>
        <a:p>
          <a:endParaRPr lang="en-US"/>
        </a:p>
      </dgm:t>
    </dgm:pt>
    <dgm:pt modelId="{FCD2149A-8B89-40B4-A309-3BC0AD079D95}" type="sibTrans" cxnId="{8CEDDEC2-5228-4B57-9267-EE9E666CEA60}">
      <dgm:prSet/>
      <dgm:spPr/>
      <dgm:t>
        <a:bodyPr/>
        <a:lstStyle/>
        <a:p>
          <a:endParaRPr lang="en-US"/>
        </a:p>
      </dgm:t>
    </dgm:pt>
    <dgm:pt modelId="{A743E685-4DB8-40D2-9512-B71826142EA7}">
      <dgm:prSet custT="1"/>
      <dgm:spPr/>
      <dgm:t>
        <a:bodyPr/>
        <a:lstStyle/>
        <a:p>
          <a:pPr>
            <a:buFont typeface="Wingdings" panose="05000000000000000000" pitchFamily="2" charset="2"/>
            <a:buChar char="q"/>
          </a:pPr>
          <a:r>
            <a:rPr lang="en-US" sz="1300" dirty="0"/>
            <a:t> Medical</a:t>
          </a:r>
        </a:p>
      </dgm:t>
    </dgm:pt>
    <dgm:pt modelId="{8E72FAAE-402D-4416-B8D6-3F7959D2F6FA}" type="parTrans" cxnId="{DD59EB7F-5795-4910-AE5B-A56875111DB1}">
      <dgm:prSet/>
      <dgm:spPr/>
      <dgm:t>
        <a:bodyPr/>
        <a:lstStyle/>
        <a:p>
          <a:endParaRPr lang="en-US"/>
        </a:p>
      </dgm:t>
    </dgm:pt>
    <dgm:pt modelId="{E68CA8F6-F8CA-4D6F-903B-0D5C233CE3B3}" type="sibTrans" cxnId="{DD59EB7F-5795-4910-AE5B-A56875111DB1}">
      <dgm:prSet/>
      <dgm:spPr/>
      <dgm:t>
        <a:bodyPr/>
        <a:lstStyle/>
        <a:p>
          <a:endParaRPr lang="en-US"/>
        </a:p>
      </dgm:t>
    </dgm:pt>
    <dgm:pt modelId="{5F112C3E-27DC-4EC4-B126-83C0297DE684}">
      <dgm:prSet/>
      <dgm:spPr/>
      <dgm:t>
        <a:bodyPr/>
        <a:lstStyle/>
        <a:p>
          <a:pPr>
            <a:buFont typeface="Arial" panose="020B0604020202020204" pitchFamily="34" charset="0"/>
            <a:buChar char="•"/>
          </a:pPr>
          <a:r>
            <a:rPr lang="en-US" sz="1200" dirty="0"/>
            <a:t>Initiate treatments</a:t>
          </a:r>
        </a:p>
      </dgm:t>
    </dgm:pt>
    <dgm:pt modelId="{C1271EC5-86C4-49B3-BB3C-CE99D6740DBC}" type="parTrans" cxnId="{DD1A1309-AA95-414B-9CFA-8328DC3CAC81}">
      <dgm:prSet/>
      <dgm:spPr/>
      <dgm:t>
        <a:bodyPr/>
        <a:lstStyle/>
        <a:p>
          <a:endParaRPr lang="en-US"/>
        </a:p>
      </dgm:t>
    </dgm:pt>
    <dgm:pt modelId="{78CA473B-026E-4106-85D5-A723613DBE87}" type="sibTrans" cxnId="{DD1A1309-AA95-414B-9CFA-8328DC3CAC81}">
      <dgm:prSet/>
      <dgm:spPr/>
      <dgm:t>
        <a:bodyPr/>
        <a:lstStyle/>
        <a:p>
          <a:endParaRPr lang="en-US"/>
        </a:p>
      </dgm:t>
    </dgm:pt>
    <dgm:pt modelId="{23ED3F02-54A2-440E-9B6D-A7131795CC1D}">
      <dgm:prSet phldrT="[Text]"/>
      <dgm:spPr/>
      <dgm:t>
        <a:bodyPr/>
        <a:lstStyle/>
        <a:p>
          <a:pPr>
            <a:buFont typeface="Wingdings" panose="05000000000000000000" pitchFamily="2" charset="2"/>
            <a:buChar char="q"/>
          </a:pPr>
          <a:r>
            <a:rPr lang="en-US" sz="1300" dirty="0"/>
            <a:t> Medical</a:t>
          </a:r>
        </a:p>
      </dgm:t>
    </dgm:pt>
    <dgm:pt modelId="{7E26CDDB-47D6-4F54-91DC-B86956897697}" type="parTrans" cxnId="{8198C162-60B5-473E-8479-DEFBB519EC42}">
      <dgm:prSet/>
      <dgm:spPr/>
      <dgm:t>
        <a:bodyPr/>
        <a:lstStyle/>
        <a:p>
          <a:endParaRPr lang="en-US"/>
        </a:p>
      </dgm:t>
    </dgm:pt>
    <dgm:pt modelId="{46305CD4-3EF7-4309-9426-D3DA7C8148B9}" type="sibTrans" cxnId="{8198C162-60B5-473E-8479-DEFBB519EC42}">
      <dgm:prSet/>
      <dgm:spPr/>
      <dgm:t>
        <a:bodyPr/>
        <a:lstStyle/>
        <a:p>
          <a:endParaRPr lang="en-US"/>
        </a:p>
      </dgm:t>
    </dgm:pt>
    <dgm:pt modelId="{3EADD4DB-FCE9-4BE0-935C-94C29A0564EC}">
      <dgm:prSet/>
      <dgm:spPr/>
      <dgm:t>
        <a:bodyPr/>
        <a:lstStyle/>
        <a:p>
          <a:pPr>
            <a:buFont typeface="Arial" panose="020B0604020202020204" pitchFamily="34" charset="0"/>
            <a:buChar char="•"/>
          </a:pPr>
          <a:r>
            <a:rPr lang="en-US" sz="1200" dirty="0"/>
            <a:t>Follow up steps </a:t>
          </a:r>
        </a:p>
      </dgm:t>
    </dgm:pt>
    <dgm:pt modelId="{D13171E6-0D71-42BC-9BFF-E9AEE98F3CDA}" type="parTrans" cxnId="{94BFCD2B-5A32-459B-AF10-3B0A25A9EA20}">
      <dgm:prSet/>
      <dgm:spPr/>
      <dgm:t>
        <a:bodyPr/>
        <a:lstStyle/>
        <a:p>
          <a:endParaRPr lang="en-US"/>
        </a:p>
      </dgm:t>
    </dgm:pt>
    <dgm:pt modelId="{035ED826-4CE0-4C4E-B015-5D7F71DEF3C2}" type="sibTrans" cxnId="{94BFCD2B-5A32-459B-AF10-3B0A25A9EA20}">
      <dgm:prSet/>
      <dgm:spPr/>
      <dgm:t>
        <a:bodyPr/>
        <a:lstStyle/>
        <a:p>
          <a:endParaRPr lang="en-US"/>
        </a:p>
      </dgm:t>
    </dgm:pt>
    <dgm:pt modelId="{A344AE5B-7FC5-4ED6-B18D-85C7924792C1}">
      <dgm:prSet custT="1"/>
      <dgm:spPr/>
      <dgm:t>
        <a:bodyPr/>
        <a:lstStyle/>
        <a:p>
          <a:pPr>
            <a:buFont typeface="Arial" panose="020B0604020202020204" pitchFamily="34" charset="0"/>
            <a:buChar char="•"/>
          </a:pPr>
          <a:r>
            <a:rPr lang="en-US" sz="1200" dirty="0"/>
            <a:t>Obtain treatment resources</a:t>
          </a:r>
        </a:p>
      </dgm:t>
    </dgm:pt>
    <dgm:pt modelId="{57F3457A-638D-4684-9129-D5CF042482A8}" type="parTrans" cxnId="{FF383C46-55DE-44A7-8BCD-DF49AB2DE613}">
      <dgm:prSet/>
      <dgm:spPr/>
      <dgm:t>
        <a:bodyPr/>
        <a:lstStyle/>
        <a:p>
          <a:endParaRPr lang="en-US"/>
        </a:p>
      </dgm:t>
    </dgm:pt>
    <dgm:pt modelId="{3D367145-BB15-427C-AD49-754AE1B5C85D}" type="sibTrans" cxnId="{FF383C46-55DE-44A7-8BCD-DF49AB2DE613}">
      <dgm:prSet/>
      <dgm:spPr/>
      <dgm:t>
        <a:bodyPr/>
        <a:lstStyle/>
        <a:p>
          <a:endParaRPr lang="en-US"/>
        </a:p>
      </dgm:t>
    </dgm:pt>
    <dgm:pt modelId="{FE23CE49-A935-4E1D-B010-C7E44DB8CC73}">
      <dgm:prSet/>
      <dgm:spPr/>
      <dgm:t>
        <a:bodyPr/>
        <a:lstStyle/>
        <a:p>
          <a:pPr>
            <a:buFont typeface="Arial" panose="020B0604020202020204" pitchFamily="34" charset="0"/>
            <a:buChar char="•"/>
          </a:pPr>
          <a:r>
            <a:rPr lang="en-US" sz="1200" dirty="0"/>
            <a:t>Travel Veterans to medical facilities</a:t>
          </a:r>
        </a:p>
      </dgm:t>
    </dgm:pt>
    <dgm:pt modelId="{321766A8-C48B-4AA5-BFDD-D2D863D8332A}" type="parTrans" cxnId="{30B3786F-F919-45AB-8D89-5E7D6A6CDFF1}">
      <dgm:prSet/>
      <dgm:spPr/>
      <dgm:t>
        <a:bodyPr/>
        <a:lstStyle/>
        <a:p>
          <a:endParaRPr lang="en-US"/>
        </a:p>
      </dgm:t>
    </dgm:pt>
    <dgm:pt modelId="{D7D02633-683F-4194-BAFA-470FBF560BB0}" type="sibTrans" cxnId="{30B3786F-F919-45AB-8D89-5E7D6A6CDFF1}">
      <dgm:prSet/>
      <dgm:spPr/>
      <dgm:t>
        <a:bodyPr/>
        <a:lstStyle/>
        <a:p>
          <a:endParaRPr lang="en-US"/>
        </a:p>
      </dgm:t>
    </dgm:pt>
    <dgm:pt modelId="{25537827-05E2-4CE1-8685-8165BEF1367B}">
      <dgm:prSet phldrT="[Text]"/>
      <dgm:spPr/>
      <dgm:t>
        <a:bodyPr/>
        <a:lstStyle/>
        <a:p>
          <a:pPr>
            <a:buFont typeface="Wingdings" panose="05000000000000000000" pitchFamily="2" charset="2"/>
            <a:buChar char="q"/>
          </a:pPr>
          <a:r>
            <a:rPr lang="en-US" sz="1300" dirty="0"/>
            <a:t> Epidemiology</a:t>
          </a:r>
        </a:p>
      </dgm:t>
    </dgm:pt>
    <dgm:pt modelId="{4DF2EE44-1026-4D5C-8CDA-D817C33114DA}" type="parTrans" cxnId="{747E7393-CC22-4922-BB17-DE194C0E0292}">
      <dgm:prSet/>
      <dgm:spPr/>
      <dgm:t>
        <a:bodyPr/>
        <a:lstStyle/>
        <a:p>
          <a:endParaRPr lang="en-US"/>
        </a:p>
      </dgm:t>
    </dgm:pt>
    <dgm:pt modelId="{42397DDD-DB0C-4088-9310-F6EDB09E2663}" type="sibTrans" cxnId="{747E7393-CC22-4922-BB17-DE194C0E0292}">
      <dgm:prSet/>
      <dgm:spPr/>
      <dgm:t>
        <a:bodyPr/>
        <a:lstStyle/>
        <a:p>
          <a:endParaRPr lang="en-US"/>
        </a:p>
      </dgm:t>
    </dgm:pt>
    <dgm:pt modelId="{7E1EB50B-A318-4524-8EC0-C3527D7FB7B8}">
      <dgm:prSet phldrT="[Text]"/>
      <dgm:spPr/>
      <dgm:t>
        <a:bodyPr/>
        <a:lstStyle/>
        <a:p>
          <a:pPr>
            <a:buFont typeface="Wingdings" panose="05000000000000000000" pitchFamily="2" charset="2"/>
            <a:buNone/>
          </a:pPr>
          <a:endParaRPr lang="en-US" sz="1300" dirty="0"/>
        </a:p>
      </dgm:t>
    </dgm:pt>
    <dgm:pt modelId="{756428E7-046F-4ED6-9F5F-2FC387422C96}" type="parTrans" cxnId="{BCD89B79-B5FC-4BD0-85B3-409BB321FDA7}">
      <dgm:prSet/>
      <dgm:spPr/>
      <dgm:t>
        <a:bodyPr/>
        <a:lstStyle/>
        <a:p>
          <a:endParaRPr lang="en-US"/>
        </a:p>
      </dgm:t>
    </dgm:pt>
    <dgm:pt modelId="{514C0260-B3E0-45FC-B7E7-2C8E4DADA1A8}" type="sibTrans" cxnId="{BCD89B79-B5FC-4BD0-85B3-409BB321FDA7}">
      <dgm:prSet/>
      <dgm:spPr/>
      <dgm:t>
        <a:bodyPr/>
        <a:lstStyle/>
        <a:p>
          <a:endParaRPr lang="en-US"/>
        </a:p>
      </dgm:t>
    </dgm:pt>
    <dgm:pt modelId="{62856BD1-0BA2-4397-AFC6-567BCC6865DC}">
      <dgm:prSet phldrT="[Text]" custT="1"/>
      <dgm:spPr/>
      <dgm:t>
        <a:bodyPr/>
        <a:lstStyle/>
        <a:p>
          <a:pPr>
            <a:buFont typeface="Arial" panose="020B0604020202020204" pitchFamily="34" charset="0"/>
            <a:buChar char="•"/>
          </a:pPr>
          <a:r>
            <a:rPr lang="en-US" sz="1300" dirty="0"/>
            <a:t> </a:t>
          </a:r>
          <a:r>
            <a:rPr lang="en-US" sz="1200" dirty="0"/>
            <a:t>Interpret new scientific findings</a:t>
          </a:r>
        </a:p>
      </dgm:t>
    </dgm:pt>
    <dgm:pt modelId="{3654D76A-5EB0-4090-81B9-295CEFACAD47}" type="parTrans" cxnId="{F44CB884-57F9-458B-9F1D-2792C3E8FB70}">
      <dgm:prSet/>
      <dgm:spPr/>
      <dgm:t>
        <a:bodyPr/>
        <a:lstStyle/>
        <a:p>
          <a:endParaRPr lang="en-US"/>
        </a:p>
      </dgm:t>
    </dgm:pt>
    <dgm:pt modelId="{1E45AA84-DBD4-4CFF-AE75-D63CCAF9B4FE}" type="sibTrans" cxnId="{F44CB884-57F9-458B-9F1D-2792C3E8FB70}">
      <dgm:prSet/>
      <dgm:spPr/>
      <dgm:t>
        <a:bodyPr/>
        <a:lstStyle/>
        <a:p>
          <a:endParaRPr lang="en-US"/>
        </a:p>
      </dgm:t>
    </dgm:pt>
    <dgm:pt modelId="{B26E638A-FBD9-43BF-8051-1085DE3D3E72}">
      <dgm:prSet phldrT="[Text]" custT="1"/>
      <dgm:spPr/>
      <dgm:t>
        <a:bodyPr/>
        <a:lstStyle/>
        <a:p>
          <a:pPr>
            <a:buFont typeface="Arial" panose="020B0604020202020204" pitchFamily="34" charset="0"/>
            <a:buChar char="•"/>
          </a:pPr>
          <a:r>
            <a:rPr lang="en-US" sz="1200" dirty="0"/>
            <a:t> Measure the impact of military exposure related diseases on Veterans</a:t>
          </a:r>
        </a:p>
      </dgm:t>
    </dgm:pt>
    <dgm:pt modelId="{EF6419BD-7F5A-44FE-923E-3A04E7578543}" type="parTrans" cxnId="{E02C15E3-6E92-4FBC-BE6C-B9FD37BF0348}">
      <dgm:prSet/>
      <dgm:spPr/>
      <dgm:t>
        <a:bodyPr/>
        <a:lstStyle/>
        <a:p>
          <a:endParaRPr lang="en-US"/>
        </a:p>
      </dgm:t>
    </dgm:pt>
    <dgm:pt modelId="{C5B7C3FC-AA39-4087-9663-BC3579567FBF}" type="sibTrans" cxnId="{E02C15E3-6E92-4FBC-BE6C-B9FD37BF0348}">
      <dgm:prSet/>
      <dgm:spPr/>
      <dgm:t>
        <a:bodyPr/>
        <a:lstStyle/>
        <a:p>
          <a:endParaRPr lang="en-US"/>
        </a:p>
      </dgm:t>
    </dgm:pt>
    <dgm:pt modelId="{574F24FC-1430-41B6-8F23-76487C78DDDF}">
      <dgm:prSet phldrT="[Text]" custT="1"/>
      <dgm:spPr/>
      <dgm:t>
        <a:bodyPr/>
        <a:lstStyle/>
        <a:p>
          <a:pPr>
            <a:buFont typeface="Arial" panose="020B0604020202020204" pitchFamily="34" charset="0"/>
            <a:buChar char="•"/>
          </a:pPr>
          <a:r>
            <a:rPr lang="en-US" sz="1200" dirty="0"/>
            <a:t> Evaluate impact of new treatments</a:t>
          </a:r>
        </a:p>
      </dgm:t>
    </dgm:pt>
    <dgm:pt modelId="{88C865D1-256D-4BC2-BECD-633279C246D6}" type="parTrans" cxnId="{EE9C7E0A-ECAE-4A88-B1C8-8420A17ABA13}">
      <dgm:prSet/>
      <dgm:spPr/>
      <dgm:t>
        <a:bodyPr/>
        <a:lstStyle/>
        <a:p>
          <a:endParaRPr lang="en-US"/>
        </a:p>
      </dgm:t>
    </dgm:pt>
    <dgm:pt modelId="{C7EB849B-04FE-4051-AF65-9E5F655F7413}" type="sibTrans" cxnId="{EE9C7E0A-ECAE-4A88-B1C8-8420A17ABA13}">
      <dgm:prSet/>
      <dgm:spPr/>
      <dgm:t>
        <a:bodyPr/>
        <a:lstStyle/>
        <a:p>
          <a:endParaRPr lang="en-US"/>
        </a:p>
      </dgm:t>
    </dgm:pt>
    <dgm:pt modelId="{97CA6B7B-6243-45DE-8621-6797650A3A1F}">
      <dgm:prSet phldrT="[Text]"/>
      <dgm:spPr/>
      <dgm:t>
        <a:bodyPr/>
        <a:lstStyle/>
        <a:p>
          <a:pPr>
            <a:buFont typeface="Arial" panose="020B0604020202020204" pitchFamily="34" charset="0"/>
            <a:buNone/>
          </a:pPr>
          <a:endParaRPr lang="en-US" sz="1300" dirty="0"/>
        </a:p>
      </dgm:t>
    </dgm:pt>
    <dgm:pt modelId="{A5D96199-0437-4601-8C31-7CD8B0A6B803}" type="parTrans" cxnId="{1B1FD1E0-064F-4F06-A1DE-500A63DD99C1}">
      <dgm:prSet/>
      <dgm:spPr/>
      <dgm:t>
        <a:bodyPr/>
        <a:lstStyle/>
        <a:p>
          <a:endParaRPr lang="en-US"/>
        </a:p>
      </dgm:t>
    </dgm:pt>
    <dgm:pt modelId="{FC178050-B1B4-401A-B28F-8CC7E4F6949E}" type="sibTrans" cxnId="{1B1FD1E0-064F-4F06-A1DE-500A63DD99C1}">
      <dgm:prSet/>
      <dgm:spPr/>
      <dgm:t>
        <a:bodyPr/>
        <a:lstStyle/>
        <a:p>
          <a:endParaRPr lang="en-US"/>
        </a:p>
      </dgm:t>
    </dgm:pt>
    <dgm:pt modelId="{8674A39D-C70A-47AE-91CC-10D9265D82A5}">
      <dgm:prSet/>
      <dgm:spPr/>
      <dgm:t>
        <a:bodyPr/>
        <a:lstStyle/>
        <a:p>
          <a:pPr>
            <a:buFont typeface="Arial" panose="020B0604020202020204" pitchFamily="34" charset="0"/>
            <a:buNone/>
          </a:pPr>
          <a:endParaRPr lang="en-US" sz="1200" dirty="0"/>
        </a:p>
      </dgm:t>
    </dgm:pt>
    <dgm:pt modelId="{9E009F18-4EFF-4D80-B906-46791640445C}" type="sibTrans" cxnId="{CD9829A1-63AE-40E5-A109-71CC904FD6FD}">
      <dgm:prSet/>
      <dgm:spPr/>
      <dgm:t>
        <a:bodyPr/>
        <a:lstStyle/>
        <a:p>
          <a:endParaRPr lang="en-US"/>
        </a:p>
      </dgm:t>
    </dgm:pt>
    <dgm:pt modelId="{9E616970-919F-43ED-B378-5AB0011A4C70}" type="parTrans" cxnId="{CD9829A1-63AE-40E5-A109-71CC904FD6FD}">
      <dgm:prSet/>
      <dgm:spPr/>
      <dgm:t>
        <a:bodyPr/>
        <a:lstStyle/>
        <a:p>
          <a:endParaRPr lang="en-US"/>
        </a:p>
      </dgm:t>
    </dgm:pt>
    <dgm:pt modelId="{0A290789-33C6-4B22-AFE1-09262F925DF3}">
      <dgm:prSet phldrT="[Text]" custT="1"/>
      <dgm:spPr/>
      <dgm:t>
        <a:bodyPr/>
        <a:lstStyle/>
        <a:p>
          <a:pPr>
            <a:buFont typeface="Arial" panose="020B0604020202020204" pitchFamily="34" charset="0"/>
            <a:buChar char="•"/>
          </a:pPr>
          <a:r>
            <a:rPr lang="en-US" sz="1200" dirty="0"/>
            <a:t>Identify new trends in data</a:t>
          </a:r>
        </a:p>
      </dgm:t>
    </dgm:pt>
    <dgm:pt modelId="{B746B4A5-44F5-4251-9DCD-09308F96D085}" type="parTrans" cxnId="{6D80D76F-9DBD-4E15-8E43-313D69F6A7DA}">
      <dgm:prSet/>
      <dgm:spPr/>
      <dgm:t>
        <a:bodyPr/>
        <a:lstStyle/>
        <a:p>
          <a:endParaRPr lang="en-US"/>
        </a:p>
      </dgm:t>
    </dgm:pt>
    <dgm:pt modelId="{15F740D3-0F3F-4A1D-B30C-F590DC79A088}" type="sibTrans" cxnId="{6D80D76F-9DBD-4E15-8E43-313D69F6A7DA}">
      <dgm:prSet/>
      <dgm:spPr/>
      <dgm:t>
        <a:bodyPr/>
        <a:lstStyle/>
        <a:p>
          <a:endParaRPr lang="en-US"/>
        </a:p>
      </dgm:t>
    </dgm:pt>
    <dgm:pt modelId="{23B3B26A-6346-4EE4-87F1-E72347724513}">
      <dgm:prSet phldrT="[Text]" custT="1"/>
      <dgm:spPr/>
      <dgm:t>
        <a:bodyPr/>
        <a:lstStyle/>
        <a:p>
          <a:pPr>
            <a:buFont typeface="Arial" panose="020B0604020202020204" pitchFamily="34" charset="0"/>
            <a:buChar char="•"/>
          </a:pPr>
          <a:r>
            <a:rPr lang="en-US" sz="1200" dirty="0"/>
            <a:t> Publish results</a:t>
          </a:r>
        </a:p>
      </dgm:t>
    </dgm:pt>
    <dgm:pt modelId="{F447C484-B32A-4DB5-B2AF-28DA29FC60B4}" type="parTrans" cxnId="{964D880B-0822-4B7A-AAC7-09E2E672D975}">
      <dgm:prSet/>
      <dgm:spPr/>
      <dgm:t>
        <a:bodyPr/>
        <a:lstStyle/>
        <a:p>
          <a:endParaRPr lang="en-US"/>
        </a:p>
      </dgm:t>
    </dgm:pt>
    <dgm:pt modelId="{57809F21-00AB-4024-A97E-63779302CC07}" type="sibTrans" cxnId="{964D880B-0822-4B7A-AAC7-09E2E672D975}">
      <dgm:prSet/>
      <dgm:spPr/>
      <dgm:t>
        <a:bodyPr/>
        <a:lstStyle/>
        <a:p>
          <a:endParaRPr lang="en-US"/>
        </a:p>
      </dgm:t>
    </dgm:pt>
    <dgm:pt modelId="{244821BE-9847-49C1-9ED2-05DEAC3BFC95}">
      <dgm:prSet phldrT="[Text]"/>
      <dgm:spPr/>
      <dgm:t>
        <a:bodyPr/>
        <a:lstStyle/>
        <a:p>
          <a:pPr>
            <a:buFont typeface="Wingdings" panose="05000000000000000000" pitchFamily="2" charset="2"/>
            <a:buChar char="q"/>
          </a:pPr>
          <a:r>
            <a:rPr lang="en-US" sz="1300" dirty="0"/>
            <a:t> Documentation</a:t>
          </a:r>
        </a:p>
      </dgm:t>
    </dgm:pt>
    <dgm:pt modelId="{043A3768-AC3F-42B2-A658-F32170C4A298}" type="parTrans" cxnId="{CCD34B40-D32E-4EA3-8567-2076E30BE3F2}">
      <dgm:prSet/>
      <dgm:spPr/>
      <dgm:t>
        <a:bodyPr/>
        <a:lstStyle/>
        <a:p>
          <a:endParaRPr lang="en-US"/>
        </a:p>
      </dgm:t>
    </dgm:pt>
    <dgm:pt modelId="{8329BEDA-A619-4188-9129-1DCEB0C3D3A6}" type="sibTrans" cxnId="{CCD34B40-D32E-4EA3-8567-2076E30BE3F2}">
      <dgm:prSet/>
      <dgm:spPr/>
      <dgm:t>
        <a:bodyPr/>
        <a:lstStyle/>
        <a:p>
          <a:endParaRPr lang="en-US"/>
        </a:p>
      </dgm:t>
    </dgm:pt>
    <dgm:pt modelId="{D26ECCEF-FAE9-4E42-BC4A-DBFD931AB76F}">
      <dgm:prSet phldrT="[Text]" custT="1"/>
      <dgm:spPr/>
      <dgm:t>
        <a:bodyPr/>
        <a:lstStyle/>
        <a:p>
          <a:pPr>
            <a:buFont typeface="Arial" panose="020B0604020202020204" pitchFamily="34" charset="0"/>
            <a:buChar char="•"/>
          </a:pPr>
          <a:r>
            <a:rPr lang="en-US" sz="1200" dirty="0"/>
            <a:t> Archive activities</a:t>
          </a:r>
        </a:p>
      </dgm:t>
    </dgm:pt>
    <dgm:pt modelId="{7431DBC9-C3B5-4C19-8953-915ECE08CCD6}" type="parTrans" cxnId="{7502EAEA-A0B3-4678-B41E-9328CD18A71F}">
      <dgm:prSet/>
      <dgm:spPr/>
      <dgm:t>
        <a:bodyPr/>
        <a:lstStyle/>
        <a:p>
          <a:endParaRPr lang="en-US"/>
        </a:p>
      </dgm:t>
    </dgm:pt>
    <dgm:pt modelId="{DEF15D4E-9F58-41C5-BC69-F4839745FADF}" type="sibTrans" cxnId="{7502EAEA-A0B3-4678-B41E-9328CD18A71F}">
      <dgm:prSet/>
      <dgm:spPr/>
      <dgm:t>
        <a:bodyPr/>
        <a:lstStyle/>
        <a:p>
          <a:endParaRPr lang="en-US"/>
        </a:p>
      </dgm:t>
    </dgm:pt>
    <dgm:pt modelId="{D2225D2F-50E1-4914-AA36-E26FC5E465F2}">
      <dgm:prSet phldrT="[Text]"/>
      <dgm:spPr/>
      <dgm:t>
        <a:bodyPr/>
        <a:lstStyle/>
        <a:p>
          <a:pPr>
            <a:buFont typeface="Arial" panose="020B0604020202020204" pitchFamily="34" charset="0"/>
            <a:buChar char="•"/>
          </a:pPr>
          <a:endParaRPr lang="en-US" sz="1300" dirty="0"/>
        </a:p>
      </dgm:t>
    </dgm:pt>
    <dgm:pt modelId="{ABB54E2F-3D82-445A-900F-64E8D49AC844}" type="parTrans" cxnId="{570760AC-5C51-4AFB-9CAA-BDD01C0B44BA}">
      <dgm:prSet/>
      <dgm:spPr/>
      <dgm:t>
        <a:bodyPr/>
        <a:lstStyle/>
        <a:p>
          <a:endParaRPr lang="en-US"/>
        </a:p>
      </dgm:t>
    </dgm:pt>
    <dgm:pt modelId="{F8653317-F519-4F67-952D-CA962C75A346}" type="sibTrans" cxnId="{570760AC-5C51-4AFB-9CAA-BDD01C0B44BA}">
      <dgm:prSet/>
      <dgm:spPr/>
      <dgm:t>
        <a:bodyPr/>
        <a:lstStyle/>
        <a:p>
          <a:endParaRPr lang="en-US"/>
        </a:p>
      </dgm:t>
    </dgm:pt>
    <dgm:pt modelId="{0B7EF9D5-69C2-4101-934D-E0C5E18E271E}">
      <dgm:prSet phldrT="[Text]" custT="1"/>
      <dgm:spPr>
        <a:solidFill>
          <a:schemeClr val="bg1">
            <a:alpha val="90000"/>
          </a:schemeClr>
        </a:solidFill>
      </dgm:spPr>
      <dgm:t>
        <a:bodyPr/>
        <a:lstStyle/>
        <a:p>
          <a:pPr>
            <a:lnSpc>
              <a:spcPct val="100000"/>
            </a:lnSpc>
            <a:spcAft>
              <a:spcPts val="0"/>
            </a:spcAft>
          </a:pPr>
          <a:r>
            <a:rPr lang="en-US" sz="1200" dirty="0"/>
            <a:t>Compliance with human subjects, animal welfare, and privacy requirements occurs here</a:t>
          </a:r>
        </a:p>
      </dgm:t>
    </dgm:pt>
    <dgm:pt modelId="{9D11EEC7-778B-48D6-B0BB-A344EF2D6D98}" type="sibTrans" cxnId="{EC1C0AE0-E94C-4F7E-BE52-BD368853DBF7}">
      <dgm:prSet/>
      <dgm:spPr/>
      <dgm:t>
        <a:bodyPr/>
        <a:lstStyle/>
        <a:p>
          <a:endParaRPr lang="en-US"/>
        </a:p>
      </dgm:t>
    </dgm:pt>
    <dgm:pt modelId="{61A8F748-4523-4E3A-9AAD-A3779BD0BB2E}" type="parTrans" cxnId="{EC1C0AE0-E94C-4F7E-BE52-BD368853DBF7}">
      <dgm:prSet/>
      <dgm:spPr/>
      <dgm:t>
        <a:bodyPr/>
        <a:lstStyle/>
        <a:p>
          <a:endParaRPr lang="en-US"/>
        </a:p>
      </dgm:t>
    </dgm:pt>
    <dgm:pt modelId="{044D04BD-B2A3-428A-B582-8869C15747BC}">
      <dgm:prSet phldrT="[Text]" custT="1"/>
      <dgm:spPr>
        <a:solidFill>
          <a:schemeClr val="bg1">
            <a:alpha val="90000"/>
          </a:schemeClr>
        </a:solidFill>
      </dgm:spPr>
      <dgm:t>
        <a:bodyPr/>
        <a:lstStyle/>
        <a:p>
          <a:pPr>
            <a:lnSpc>
              <a:spcPct val="100000"/>
            </a:lnSpc>
            <a:spcAft>
              <a:spcPts val="0"/>
            </a:spcAft>
          </a:pPr>
          <a:endParaRPr lang="en-US" sz="1400" dirty="0"/>
        </a:p>
      </dgm:t>
    </dgm:pt>
    <dgm:pt modelId="{23AA8352-120D-4729-B450-62863CF92FE8}" type="sibTrans" cxnId="{F6D39386-E8E1-4B95-A2A1-32329238FDBE}">
      <dgm:prSet/>
      <dgm:spPr/>
      <dgm:t>
        <a:bodyPr/>
        <a:lstStyle/>
        <a:p>
          <a:endParaRPr lang="en-US"/>
        </a:p>
      </dgm:t>
    </dgm:pt>
    <dgm:pt modelId="{5E5A7B2F-28BD-4A72-AB45-88A8EEB4BABE}" type="parTrans" cxnId="{F6D39386-E8E1-4B95-A2A1-32329238FDBE}">
      <dgm:prSet/>
      <dgm:spPr/>
      <dgm:t>
        <a:bodyPr/>
        <a:lstStyle/>
        <a:p>
          <a:endParaRPr lang="en-US"/>
        </a:p>
      </dgm:t>
    </dgm:pt>
    <dgm:pt modelId="{6D84A4B4-176B-4553-9215-10FC2C33D539}" type="pres">
      <dgm:prSet presAssocID="{11D5E601-4A23-45C5-ABE1-69CC07680BE6}" presName="linearFlow" presStyleCnt="0">
        <dgm:presLayoutVars>
          <dgm:dir/>
          <dgm:animLvl val="lvl"/>
          <dgm:resizeHandles val="exact"/>
        </dgm:presLayoutVars>
      </dgm:prSet>
      <dgm:spPr/>
    </dgm:pt>
    <dgm:pt modelId="{6D30C6BF-9C31-4940-866C-F15D481926EC}" type="pres">
      <dgm:prSet presAssocID="{ABC869F5-5729-47ED-BF82-2CBBA19EAA21}" presName="composite" presStyleCnt="0"/>
      <dgm:spPr/>
    </dgm:pt>
    <dgm:pt modelId="{5CDF43F6-F983-406B-BC25-04BBCCDBDF91}" type="pres">
      <dgm:prSet presAssocID="{ABC869F5-5729-47ED-BF82-2CBBA19EAA21}" presName="parTx" presStyleLbl="node1" presStyleIdx="0" presStyleCnt="4">
        <dgm:presLayoutVars>
          <dgm:chMax val="0"/>
          <dgm:chPref val="0"/>
          <dgm:bulletEnabled val="1"/>
        </dgm:presLayoutVars>
      </dgm:prSet>
      <dgm:spPr/>
    </dgm:pt>
    <dgm:pt modelId="{A0546AE4-69D2-49A8-AF7C-E388AF827349}" type="pres">
      <dgm:prSet presAssocID="{ABC869F5-5729-47ED-BF82-2CBBA19EAA21}" presName="parSh" presStyleLbl="node1" presStyleIdx="0" presStyleCnt="4" custScaleX="116818" custScaleY="108069"/>
      <dgm:spPr/>
    </dgm:pt>
    <dgm:pt modelId="{0DE85E5F-7F27-46F9-B3CF-B469FC6E5C32}" type="pres">
      <dgm:prSet presAssocID="{ABC869F5-5729-47ED-BF82-2CBBA19EAA21}" presName="desTx" presStyleLbl="fgAcc1" presStyleIdx="0" presStyleCnt="4" custLinFactNeighborX="-20528" custLinFactNeighborY="744">
        <dgm:presLayoutVars>
          <dgm:bulletEnabled val="1"/>
        </dgm:presLayoutVars>
      </dgm:prSet>
      <dgm:spPr/>
    </dgm:pt>
    <dgm:pt modelId="{DCEE51CE-1625-42A4-9E0E-79B61039A46E}" type="pres">
      <dgm:prSet presAssocID="{39006B8F-9124-4B31-A103-98B56992000D}" presName="sibTrans" presStyleLbl="sibTrans2D1" presStyleIdx="0" presStyleCnt="3"/>
      <dgm:spPr/>
    </dgm:pt>
    <dgm:pt modelId="{BD9EC1A2-928E-47A1-A2C2-816D2FBF660A}" type="pres">
      <dgm:prSet presAssocID="{39006B8F-9124-4B31-A103-98B56992000D}" presName="connTx" presStyleLbl="sibTrans2D1" presStyleIdx="0" presStyleCnt="3"/>
      <dgm:spPr/>
    </dgm:pt>
    <dgm:pt modelId="{A75932A4-C8B3-4033-93C4-E41A997F3E77}" type="pres">
      <dgm:prSet presAssocID="{328DA053-C233-4311-B8FC-F8531117B5D8}" presName="composite" presStyleCnt="0"/>
      <dgm:spPr/>
    </dgm:pt>
    <dgm:pt modelId="{9F3E1D8A-3632-40CC-9FA6-C7749C106AE3}" type="pres">
      <dgm:prSet presAssocID="{328DA053-C233-4311-B8FC-F8531117B5D8}" presName="parTx" presStyleLbl="node1" presStyleIdx="0" presStyleCnt="4">
        <dgm:presLayoutVars>
          <dgm:chMax val="0"/>
          <dgm:chPref val="0"/>
          <dgm:bulletEnabled val="1"/>
        </dgm:presLayoutVars>
      </dgm:prSet>
      <dgm:spPr/>
    </dgm:pt>
    <dgm:pt modelId="{C1939E5E-CC8F-43E8-9CBF-3E6544CECA3F}" type="pres">
      <dgm:prSet presAssocID="{328DA053-C233-4311-B8FC-F8531117B5D8}" presName="parSh" presStyleLbl="node1" presStyleIdx="1" presStyleCnt="4" custLinFactNeighborX="-1309" custLinFactNeighborY="1004"/>
      <dgm:spPr/>
    </dgm:pt>
    <dgm:pt modelId="{33D7EAEF-5265-4F52-BC5A-7EEB18BA3196}" type="pres">
      <dgm:prSet presAssocID="{328DA053-C233-4311-B8FC-F8531117B5D8}" presName="desTx" presStyleLbl="fgAcc1" presStyleIdx="1" presStyleCnt="4">
        <dgm:presLayoutVars>
          <dgm:bulletEnabled val="1"/>
        </dgm:presLayoutVars>
      </dgm:prSet>
      <dgm:spPr/>
    </dgm:pt>
    <dgm:pt modelId="{880F34BF-0584-4763-B566-4312400AF7C6}" type="pres">
      <dgm:prSet presAssocID="{FA904ABF-7B52-4849-8EB9-7097E3C5B8DD}" presName="sibTrans" presStyleLbl="sibTrans2D1" presStyleIdx="1" presStyleCnt="3"/>
      <dgm:spPr/>
    </dgm:pt>
    <dgm:pt modelId="{4C5DE4BD-9A11-4F83-88E1-5EFEEE2C25D7}" type="pres">
      <dgm:prSet presAssocID="{FA904ABF-7B52-4849-8EB9-7097E3C5B8DD}" presName="connTx" presStyleLbl="sibTrans2D1" presStyleIdx="1" presStyleCnt="3"/>
      <dgm:spPr/>
    </dgm:pt>
    <dgm:pt modelId="{87069DE8-42F9-4704-8358-9194538B6529}" type="pres">
      <dgm:prSet presAssocID="{2697A861-7EAC-40C3-8E08-E8C278631A6D}" presName="composite" presStyleCnt="0"/>
      <dgm:spPr/>
    </dgm:pt>
    <dgm:pt modelId="{02F31A2E-BF4F-40B4-9B7F-B71FEE9250F8}" type="pres">
      <dgm:prSet presAssocID="{2697A861-7EAC-40C3-8E08-E8C278631A6D}" presName="parTx" presStyleLbl="node1" presStyleIdx="1" presStyleCnt="4">
        <dgm:presLayoutVars>
          <dgm:chMax val="0"/>
          <dgm:chPref val="0"/>
          <dgm:bulletEnabled val="1"/>
        </dgm:presLayoutVars>
      </dgm:prSet>
      <dgm:spPr/>
    </dgm:pt>
    <dgm:pt modelId="{92E5B909-57F4-4847-93B2-1C68A5BA1D1E}" type="pres">
      <dgm:prSet presAssocID="{2697A861-7EAC-40C3-8E08-E8C278631A6D}" presName="parSh" presStyleLbl="node1" presStyleIdx="2" presStyleCnt="4" custLinFactNeighborY="907"/>
      <dgm:spPr/>
    </dgm:pt>
    <dgm:pt modelId="{40F33304-6BCF-401E-B942-539259FE9DFC}" type="pres">
      <dgm:prSet presAssocID="{2697A861-7EAC-40C3-8E08-E8C278631A6D}" presName="desTx" presStyleLbl="fgAcc1" presStyleIdx="2" presStyleCnt="4">
        <dgm:presLayoutVars>
          <dgm:bulletEnabled val="1"/>
        </dgm:presLayoutVars>
      </dgm:prSet>
      <dgm:spPr/>
    </dgm:pt>
    <dgm:pt modelId="{DD110BF9-CE10-487F-8977-0097062CBD7F}" type="pres">
      <dgm:prSet presAssocID="{147B8E56-AEEC-4968-A1EE-C5D9DE94050D}" presName="sibTrans" presStyleLbl="sibTrans2D1" presStyleIdx="2" presStyleCnt="3"/>
      <dgm:spPr/>
    </dgm:pt>
    <dgm:pt modelId="{1465B2FB-4CFB-42F3-A9A9-626811F6BA92}" type="pres">
      <dgm:prSet presAssocID="{147B8E56-AEEC-4968-A1EE-C5D9DE94050D}" presName="connTx" presStyleLbl="sibTrans2D1" presStyleIdx="2" presStyleCnt="3"/>
      <dgm:spPr/>
    </dgm:pt>
    <dgm:pt modelId="{C601F673-896F-4A32-9400-7AA29B6D21C2}" type="pres">
      <dgm:prSet presAssocID="{F10341AB-BAD6-4DA1-BB60-E2B9AD41211F}" presName="composite" presStyleCnt="0"/>
      <dgm:spPr/>
    </dgm:pt>
    <dgm:pt modelId="{DA493DF0-E0D4-4773-BCD4-BC89469198F5}" type="pres">
      <dgm:prSet presAssocID="{F10341AB-BAD6-4DA1-BB60-E2B9AD41211F}" presName="parTx" presStyleLbl="node1" presStyleIdx="2" presStyleCnt="4">
        <dgm:presLayoutVars>
          <dgm:chMax val="0"/>
          <dgm:chPref val="0"/>
          <dgm:bulletEnabled val="1"/>
        </dgm:presLayoutVars>
      </dgm:prSet>
      <dgm:spPr/>
    </dgm:pt>
    <dgm:pt modelId="{9A2ED52E-3F98-494D-AC48-D5903233EB0D}" type="pres">
      <dgm:prSet presAssocID="{F10341AB-BAD6-4DA1-BB60-E2B9AD41211F}" presName="parSh" presStyleLbl="node1" presStyleIdx="3" presStyleCnt="4"/>
      <dgm:spPr/>
    </dgm:pt>
    <dgm:pt modelId="{71177E6C-BF87-45EF-9513-8467DB88D415}" type="pres">
      <dgm:prSet presAssocID="{F10341AB-BAD6-4DA1-BB60-E2B9AD41211F}" presName="desTx" presStyleLbl="fgAcc1" presStyleIdx="3" presStyleCnt="4">
        <dgm:presLayoutVars>
          <dgm:bulletEnabled val="1"/>
        </dgm:presLayoutVars>
      </dgm:prSet>
      <dgm:spPr/>
    </dgm:pt>
  </dgm:ptLst>
  <dgm:cxnLst>
    <dgm:cxn modelId="{60F21500-0DC6-4BB9-8DB7-CD4619B5675E}" type="presOf" srcId="{FA904ABF-7B52-4849-8EB9-7097E3C5B8DD}" destId="{4C5DE4BD-9A11-4F83-88E1-5EFEEE2C25D7}" srcOrd="1" destOrd="0" presId="urn:microsoft.com/office/officeart/2005/8/layout/process3"/>
    <dgm:cxn modelId="{DC01C001-662F-4354-8AFD-03400C02BB44}" type="presOf" srcId="{328DA053-C233-4311-B8FC-F8531117B5D8}" destId="{C1939E5E-CC8F-43E8-9CBF-3E6544CECA3F}" srcOrd="1" destOrd="0" presId="urn:microsoft.com/office/officeart/2005/8/layout/process3"/>
    <dgm:cxn modelId="{B6217107-F0F0-49EF-B974-EC34F09E9E7C}" srcId="{2697A861-7EAC-40C3-8E08-E8C278631A6D}" destId="{B08E472F-521D-4C66-B8FB-2D3B3090FFB4}" srcOrd="1" destOrd="0" parTransId="{7BACCEBC-2B7A-48B3-9FB6-15179F943C05}" sibTransId="{B4E15B56-0077-419D-A757-388643C42969}"/>
    <dgm:cxn modelId="{DD1A1309-AA95-414B-9CFA-8328DC3CAC81}" srcId="{2697A861-7EAC-40C3-8E08-E8C278631A6D}" destId="{5F112C3E-27DC-4EC4-B126-83C0297DE684}" srcOrd="8" destOrd="0" parTransId="{C1271EC5-86C4-49B3-BB3C-CE99D6740DBC}" sibTransId="{78CA473B-026E-4106-85D5-A723613DBE87}"/>
    <dgm:cxn modelId="{EE9C7E0A-ECAE-4A88-B1C8-8420A17ABA13}" srcId="{F10341AB-BAD6-4DA1-BB60-E2B9AD41211F}" destId="{574F24FC-1430-41B6-8F23-76487C78DDDF}" srcOrd="8" destOrd="0" parTransId="{88C865D1-256D-4BC2-BECD-633279C246D6}" sibTransId="{C7EB849B-04FE-4051-AF65-9E5F655F7413}"/>
    <dgm:cxn modelId="{964D880B-0822-4B7A-AAC7-09E2E672D975}" srcId="{F10341AB-BAD6-4DA1-BB60-E2B9AD41211F}" destId="{23B3B26A-6346-4EE4-87F1-E72347724513}" srcOrd="11" destOrd="0" parTransId="{F447C484-B32A-4DB5-B2AF-28DA29FC60B4}" sibTransId="{57809F21-00AB-4024-A97E-63779302CC07}"/>
    <dgm:cxn modelId="{83EAD914-60D9-49D2-9708-5326A0780336}" type="presOf" srcId="{43D37603-299B-4382-BC5A-35FCEFEA6819}" destId="{33D7EAEF-5265-4F52-BC5A-7EEB18BA3196}" srcOrd="0" destOrd="1" presId="urn:microsoft.com/office/officeart/2005/8/layout/process3"/>
    <dgm:cxn modelId="{1784E316-4C96-402E-8851-BA0DB9603BA1}" type="presOf" srcId="{7E1EB50B-A318-4524-8EC0-C3527D7FB7B8}" destId="{71177E6C-BF87-45EF-9513-8467DB88D415}" srcOrd="0" destOrd="2" presId="urn:microsoft.com/office/officeart/2005/8/layout/process3"/>
    <dgm:cxn modelId="{FED83217-0B78-488E-9621-8BA587FD3789}" type="presOf" srcId="{ABC869F5-5729-47ED-BF82-2CBBA19EAA21}" destId="{A0546AE4-69D2-49A8-AF7C-E388AF827349}" srcOrd="1" destOrd="0" presId="urn:microsoft.com/office/officeart/2005/8/layout/process3"/>
    <dgm:cxn modelId="{7E317917-056C-49E8-91FD-8FA3131D3F54}" type="presOf" srcId="{A743E685-4DB8-40D2-9512-B71826142EA7}" destId="{40F33304-6BCF-401E-B942-539259FE9DFC}" srcOrd="0" destOrd="6" presId="urn:microsoft.com/office/officeart/2005/8/layout/process3"/>
    <dgm:cxn modelId="{EE492D23-D317-4A99-A8D8-54BDA9137B39}" type="presOf" srcId="{11D5E601-4A23-45C5-ABE1-69CC07680BE6}" destId="{6D84A4B4-176B-4553-9215-10FC2C33D539}" srcOrd="0" destOrd="0" presId="urn:microsoft.com/office/officeart/2005/8/layout/process3"/>
    <dgm:cxn modelId="{837BE226-C660-4DE5-A27F-49BA1F01179B}" srcId="{328DA053-C233-4311-B8FC-F8531117B5D8}" destId="{B91A4502-3E77-41A5-99D2-4375A829FAA0}" srcOrd="4" destOrd="0" parTransId="{B996ACDB-2B5B-440E-8926-7C6C26F68A78}" sibTransId="{1065A868-F68D-4B58-B912-133EA643DAC4}"/>
    <dgm:cxn modelId="{FF66E826-B5F4-4D98-9098-824E37F77D6D}" type="presOf" srcId="{044D04BD-B2A3-428A-B582-8869C15747BC}" destId="{0DE85E5F-7F27-46F9-B3CF-B469FC6E5C32}" srcOrd="0" destOrd="1" presId="urn:microsoft.com/office/officeart/2005/8/layout/process3"/>
    <dgm:cxn modelId="{7A88C92B-EA12-4D95-94B9-4682D5180CE1}" type="presOf" srcId="{25537827-05E2-4CE1-8685-8165BEF1367B}" destId="{71177E6C-BF87-45EF-9513-8467DB88D415}" srcOrd="0" destOrd="3" presId="urn:microsoft.com/office/officeart/2005/8/layout/process3"/>
    <dgm:cxn modelId="{94BFCD2B-5A32-459B-AF10-3B0A25A9EA20}" srcId="{2697A861-7EAC-40C3-8E08-E8C278631A6D}" destId="{3EADD4DB-FCE9-4BE0-935C-94C29A0564EC}" srcOrd="9" destOrd="0" parTransId="{D13171E6-0D71-42BC-9BFF-E9AEE98F3CDA}" sibTransId="{035ED826-4CE0-4C4E-B015-5D7F71DEF3C2}"/>
    <dgm:cxn modelId="{1DAB572D-5CA3-4200-810B-7409031C6CCC}" type="presOf" srcId="{D2225D2F-50E1-4914-AA36-E26FC5E465F2}" destId="{71177E6C-BF87-45EF-9513-8467DB88D415}" srcOrd="0" destOrd="9" presId="urn:microsoft.com/office/officeart/2005/8/layout/process3"/>
    <dgm:cxn modelId="{65D16B31-FB00-44BC-8AF0-B93CC74443C0}" type="presOf" srcId="{97CA6B7B-6243-45DE-8621-6797650A3A1F}" destId="{71177E6C-BF87-45EF-9513-8467DB88D415}" srcOrd="0" destOrd="6" presId="urn:microsoft.com/office/officeart/2005/8/layout/process3"/>
    <dgm:cxn modelId="{71D6F131-19E8-410C-A11D-832905749CA6}" type="presOf" srcId="{23ED3F02-54A2-440E-9B6D-A7131795CC1D}" destId="{71177E6C-BF87-45EF-9513-8467DB88D415}" srcOrd="0" destOrd="7" presId="urn:microsoft.com/office/officeart/2005/8/layout/process3"/>
    <dgm:cxn modelId="{583B6B35-45FF-42D9-BE60-DFB4450C9228}" srcId="{328DA053-C233-4311-B8FC-F8531117B5D8}" destId="{53668E70-353C-4F85-8FAA-531FB86DC86C}" srcOrd="3" destOrd="0" parTransId="{1D041C0E-C9E4-47EA-8A64-95682155B019}" sibTransId="{F6FEC620-E2D5-4774-AA21-7DBE92235706}"/>
    <dgm:cxn modelId="{C076FE35-D539-4433-9D0E-CE39C8A856FB}" type="presOf" srcId="{2697A861-7EAC-40C3-8E08-E8C278631A6D}" destId="{02F31A2E-BF4F-40B4-9B7F-B71FEE9250F8}" srcOrd="0" destOrd="0" presId="urn:microsoft.com/office/officeart/2005/8/layout/process3"/>
    <dgm:cxn modelId="{795A1436-2731-4554-9826-15A5802587F1}" type="presOf" srcId="{FA904ABF-7B52-4849-8EB9-7097E3C5B8DD}" destId="{880F34BF-0584-4763-B566-4312400AF7C6}" srcOrd="0" destOrd="0" presId="urn:microsoft.com/office/officeart/2005/8/layout/process3"/>
    <dgm:cxn modelId="{9B5E4236-CEED-4321-92AF-2917C8ECEA1E}" srcId="{F10341AB-BAD6-4DA1-BB60-E2B9AD41211F}" destId="{63359662-4DB9-4407-8CE5-D8A739BFBC14}" srcOrd="0" destOrd="0" parTransId="{0124154E-AE0D-4B46-8961-822CE97A478E}" sibTransId="{BF6E03CE-6264-4A96-8A2B-0A98F24EAB53}"/>
    <dgm:cxn modelId="{6E4EB336-228C-4187-9322-9EA8463B0335}" type="presOf" srcId="{8BDF0080-478A-4E37-8DFF-57D3CA820A99}" destId="{33D7EAEF-5265-4F52-BC5A-7EEB18BA3196}" srcOrd="0" destOrd="5" presId="urn:microsoft.com/office/officeart/2005/8/layout/process3"/>
    <dgm:cxn modelId="{BE0FDF3C-0E2E-4CB2-B327-AEDB139D061A}" type="presOf" srcId="{5F112C3E-27DC-4EC4-B126-83C0297DE684}" destId="{40F33304-6BCF-401E-B942-539259FE9DFC}" srcOrd="0" destOrd="8" presId="urn:microsoft.com/office/officeart/2005/8/layout/process3"/>
    <dgm:cxn modelId="{1C2C273E-E168-43A0-8582-8E746551BB4F}" srcId="{2697A861-7EAC-40C3-8E08-E8C278631A6D}" destId="{984CE51E-DF94-4C89-B494-FA9310B20083}" srcOrd="3" destOrd="0" parTransId="{39EB65D1-B571-49DC-9585-55BE5FF00541}" sibTransId="{AC38ED54-24EF-4640-8FD9-B7B6E2FD8DC2}"/>
    <dgm:cxn modelId="{73B0A03E-C4A7-453B-BF40-0CFEFFFFA4D9}" type="presOf" srcId="{147B8E56-AEEC-4968-A1EE-C5D9DE94050D}" destId="{DD110BF9-CE10-487F-8977-0097062CBD7F}" srcOrd="0" destOrd="0" presId="urn:microsoft.com/office/officeart/2005/8/layout/process3"/>
    <dgm:cxn modelId="{CCD34B40-D32E-4EA3-8567-2076E30BE3F2}" srcId="{F10341AB-BAD6-4DA1-BB60-E2B9AD41211F}" destId="{244821BE-9847-49C1-9ED2-05DEAC3BFC95}" srcOrd="10" destOrd="0" parTransId="{043A3768-AC3F-42B2-A658-F32170C4A298}" sibTransId="{8329BEDA-A619-4188-9129-1DCEB0C3D3A6}"/>
    <dgm:cxn modelId="{E34DB340-953F-477B-B3B2-7C5D33C63A9B}" type="presOf" srcId="{FF706D37-6D12-4A5E-A8CC-DBBD68C1DA7A}" destId="{0DE85E5F-7F27-46F9-B3CF-B469FC6E5C32}" srcOrd="0" destOrd="0" presId="urn:microsoft.com/office/officeart/2005/8/layout/process3"/>
    <dgm:cxn modelId="{CFDDCE5C-2D9A-4634-9E54-D92131B134C1}" type="presOf" srcId="{0A290789-33C6-4B22-AFE1-09262F925DF3}" destId="{71177E6C-BF87-45EF-9513-8467DB88D415}" srcOrd="0" destOrd="4" presId="urn:microsoft.com/office/officeart/2005/8/layout/process3"/>
    <dgm:cxn modelId="{4BE2485E-4EA7-4CE9-AF49-1B41BA6266EC}" type="presOf" srcId="{7945BD8F-5EC9-40C7-9AFE-C824DFF03FAD}" destId="{40F33304-6BCF-401E-B942-539259FE9DFC}" srcOrd="0" destOrd="4" presId="urn:microsoft.com/office/officeart/2005/8/layout/process3"/>
    <dgm:cxn modelId="{98A62D60-9BF0-484E-B45A-5CCEBDA789DA}" type="presOf" srcId="{23B3B26A-6346-4EE4-87F1-E72347724513}" destId="{71177E6C-BF87-45EF-9513-8467DB88D415}" srcOrd="0" destOrd="11" presId="urn:microsoft.com/office/officeart/2005/8/layout/process3"/>
    <dgm:cxn modelId="{8922E660-33FC-45F7-A1AF-2CAEEDF1AB62}" type="presOf" srcId="{B08E472F-521D-4C66-B8FB-2D3B3090FFB4}" destId="{40F33304-6BCF-401E-B942-539259FE9DFC}" srcOrd="0" destOrd="1" presId="urn:microsoft.com/office/officeart/2005/8/layout/process3"/>
    <dgm:cxn modelId="{DA1AEC61-D0F7-4C22-9634-8E2D7C6FD9FF}" type="presOf" srcId="{244821BE-9847-49C1-9ED2-05DEAC3BFC95}" destId="{71177E6C-BF87-45EF-9513-8467DB88D415}" srcOrd="0" destOrd="10" presId="urn:microsoft.com/office/officeart/2005/8/layout/process3"/>
    <dgm:cxn modelId="{9EAAB542-924D-4AF7-9CDD-8FC3277113D5}" type="presOf" srcId="{984CE51E-DF94-4C89-B494-FA9310B20083}" destId="{40F33304-6BCF-401E-B942-539259FE9DFC}" srcOrd="0" destOrd="3" presId="urn:microsoft.com/office/officeart/2005/8/layout/process3"/>
    <dgm:cxn modelId="{8198C162-60B5-473E-8479-DEFBB519EC42}" srcId="{F10341AB-BAD6-4DA1-BB60-E2B9AD41211F}" destId="{23ED3F02-54A2-440E-9B6D-A7131795CC1D}" srcOrd="7" destOrd="0" parTransId="{7E26CDDB-47D6-4F54-91DC-B86956897697}" sibTransId="{46305CD4-3EF7-4309-9426-D3DA7C8148B9}"/>
    <dgm:cxn modelId="{FF383C46-55DE-44A7-8BCD-DF49AB2DE613}" srcId="{328DA053-C233-4311-B8FC-F8531117B5D8}" destId="{A344AE5B-7FC5-4ED6-B18D-85C7924792C1}" srcOrd="12" destOrd="0" parTransId="{57F3457A-638D-4684-9129-D5CF042482A8}" sibTransId="{3D367145-BB15-427C-AD49-754AE1B5C85D}"/>
    <dgm:cxn modelId="{44954E48-9140-49E3-8F3A-49CC6E040E78}" type="presOf" srcId="{B91A4502-3E77-41A5-99D2-4375A829FAA0}" destId="{33D7EAEF-5265-4F52-BC5A-7EEB18BA3196}" srcOrd="0" destOrd="4" presId="urn:microsoft.com/office/officeart/2005/8/layout/process3"/>
    <dgm:cxn modelId="{CD09ED48-52E6-4018-9438-BBA7B6937DAF}" srcId="{11D5E601-4A23-45C5-ABE1-69CC07680BE6}" destId="{328DA053-C233-4311-B8FC-F8531117B5D8}" srcOrd="1" destOrd="0" parTransId="{1C1D3058-090E-47E2-A71A-1E9AAFBF09F0}" sibTransId="{FA904ABF-7B52-4849-8EB9-7097E3C5B8DD}"/>
    <dgm:cxn modelId="{4789B74E-ACBA-4800-AD0B-1EBA0AB688F1}" type="presOf" srcId="{53668E70-353C-4F85-8FAA-531FB86DC86C}" destId="{33D7EAEF-5265-4F52-BC5A-7EEB18BA3196}" srcOrd="0" destOrd="3" presId="urn:microsoft.com/office/officeart/2005/8/layout/process3"/>
    <dgm:cxn modelId="{D470534F-72A7-484E-8EAE-575EFAD7BE24}" type="presOf" srcId="{39006B8F-9124-4B31-A103-98B56992000D}" destId="{DCEE51CE-1625-42A4-9E0E-79B61039A46E}" srcOrd="0" destOrd="0" presId="urn:microsoft.com/office/officeart/2005/8/layout/process3"/>
    <dgm:cxn modelId="{30B3786F-F919-45AB-8D89-5E7D6A6CDFF1}" srcId="{2697A861-7EAC-40C3-8E08-E8C278631A6D}" destId="{FE23CE49-A935-4E1D-B010-C7E44DB8CC73}" srcOrd="7" destOrd="0" parTransId="{321766A8-C48B-4AA5-BFDD-D2D863D8332A}" sibTransId="{D7D02633-683F-4194-BAFA-470FBF560BB0}"/>
    <dgm:cxn modelId="{6D80D76F-9DBD-4E15-8E43-313D69F6A7DA}" srcId="{F10341AB-BAD6-4DA1-BB60-E2B9AD41211F}" destId="{0A290789-33C6-4B22-AFE1-09262F925DF3}" srcOrd="4" destOrd="0" parTransId="{B746B4A5-44F5-4251-9DCD-09308F96D085}" sibTransId="{15F740D3-0F3F-4A1D-B30C-F590DC79A088}"/>
    <dgm:cxn modelId="{54608F50-B09D-496A-9342-C9A3F5011753}" type="presOf" srcId="{FF76E213-FF11-4652-8287-2007F1B05CE9}" destId="{33D7EAEF-5265-4F52-BC5A-7EEB18BA3196}" srcOrd="0" destOrd="6" presId="urn:microsoft.com/office/officeart/2005/8/layout/process3"/>
    <dgm:cxn modelId="{FAC89171-A88A-447C-84B7-4150072C4EB3}" srcId="{328DA053-C233-4311-B8FC-F8531117B5D8}" destId="{6804A7AA-70B6-47DB-B563-933282B2B4FF}" srcOrd="7" destOrd="0" parTransId="{A7E705CF-F1DF-4A6E-B0AB-778956F0BFB8}" sibTransId="{5DBC8A24-F90D-4820-8C23-08270D97F328}"/>
    <dgm:cxn modelId="{24003553-65F7-41F5-AA52-E6D3DD004AA3}" type="presOf" srcId="{BC18482F-4BA0-434A-9C9E-47046910774B}" destId="{33D7EAEF-5265-4F52-BC5A-7EEB18BA3196}" srcOrd="0" destOrd="9" presId="urn:microsoft.com/office/officeart/2005/8/layout/process3"/>
    <dgm:cxn modelId="{BEE56955-AB5D-424B-894C-8E5A7777B5C4}" type="presOf" srcId="{A344AE5B-7FC5-4ED6-B18D-85C7924792C1}" destId="{33D7EAEF-5265-4F52-BC5A-7EEB18BA3196}" srcOrd="0" destOrd="12" presId="urn:microsoft.com/office/officeart/2005/8/layout/process3"/>
    <dgm:cxn modelId="{83360576-54C6-4787-ADE7-3A2870FF862E}" srcId="{11D5E601-4A23-45C5-ABE1-69CC07680BE6}" destId="{F10341AB-BAD6-4DA1-BB60-E2B9AD41211F}" srcOrd="3" destOrd="0" parTransId="{E59B3073-506A-402A-8D3A-A3B644E73EB3}" sibTransId="{BDA76487-C074-40B7-A14F-8AC15349BC29}"/>
    <dgm:cxn modelId="{D8BB7B56-4B5D-4C6F-B52E-208D99A7580C}" type="presOf" srcId="{63359662-4DB9-4407-8CE5-D8A739BFBC14}" destId="{71177E6C-BF87-45EF-9513-8467DB88D415}" srcOrd="0" destOrd="0" presId="urn:microsoft.com/office/officeart/2005/8/layout/process3"/>
    <dgm:cxn modelId="{9FD36077-587B-4621-8FEB-F97046E3F2FD}" type="presOf" srcId="{62856BD1-0BA2-4397-AFC6-567BCC6865DC}" destId="{71177E6C-BF87-45EF-9513-8467DB88D415}" srcOrd="0" destOrd="1" presId="urn:microsoft.com/office/officeart/2005/8/layout/process3"/>
    <dgm:cxn modelId="{4A285077-6292-431B-8A22-020291EAC2FD}" type="presOf" srcId="{F10341AB-BAD6-4DA1-BB60-E2B9AD41211F}" destId="{DA493DF0-E0D4-4773-BCD4-BC89469198F5}" srcOrd="0" destOrd="0" presId="urn:microsoft.com/office/officeart/2005/8/layout/process3"/>
    <dgm:cxn modelId="{A939E458-C559-4EF3-9390-982BB785A46C}" type="presOf" srcId="{6804A7AA-70B6-47DB-B563-933282B2B4FF}" destId="{33D7EAEF-5265-4F52-BC5A-7EEB18BA3196}" srcOrd="0" destOrd="7" presId="urn:microsoft.com/office/officeart/2005/8/layout/process3"/>
    <dgm:cxn modelId="{62209979-AB0B-4DFB-A5B9-D3E8CF8F4494}" type="presOf" srcId="{8674A39D-C70A-47AE-91CC-10D9265D82A5}" destId="{40F33304-6BCF-401E-B942-539259FE9DFC}" srcOrd="0" destOrd="2" presId="urn:microsoft.com/office/officeart/2005/8/layout/process3"/>
    <dgm:cxn modelId="{BCD89B79-B5FC-4BD0-85B3-409BB321FDA7}" srcId="{F10341AB-BAD6-4DA1-BB60-E2B9AD41211F}" destId="{7E1EB50B-A318-4524-8EC0-C3527D7FB7B8}" srcOrd="2" destOrd="0" parTransId="{756428E7-046F-4ED6-9F5F-2FC387422C96}" sibTransId="{514C0260-B3E0-45FC-B7E7-2C8E4DADA1A8}"/>
    <dgm:cxn modelId="{DD59EB7F-5795-4910-AE5B-A56875111DB1}" srcId="{2697A861-7EAC-40C3-8E08-E8C278631A6D}" destId="{A743E685-4DB8-40D2-9512-B71826142EA7}" srcOrd="6" destOrd="0" parTransId="{8E72FAAE-402D-4416-B8D6-3F7959D2F6FA}" sibTransId="{E68CA8F6-F8CA-4D6F-903B-0D5C233CE3B3}"/>
    <dgm:cxn modelId="{F44CB884-57F9-458B-9F1D-2792C3E8FB70}" srcId="{F10341AB-BAD6-4DA1-BB60-E2B9AD41211F}" destId="{62856BD1-0BA2-4397-AFC6-567BCC6865DC}" srcOrd="1" destOrd="0" parTransId="{3654D76A-5EB0-4090-81B9-295CEFACAD47}" sibTransId="{1E45AA84-DBD4-4CFF-AE75-D63CCAF9B4FE}"/>
    <dgm:cxn modelId="{F6D39386-E8E1-4B95-A2A1-32329238FDBE}" srcId="{ABC869F5-5729-47ED-BF82-2CBBA19EAA21}" destId="{044D04BD-B2A3-428A-B582-8869C15747BC}" srcOrd="1" destOrd="0" parTransId="{5E5A7B2F-28BD-4A72-AB45-88A8EEB4BABE}" sibTransId="{23AA8352-120D-4729-B450-62863CF92FE8}"/>
    <dgm:cxn modelId="{CC890988-1B65-4234-92D0-F50114564A00}" srcId="{328DA053-C233-4311-B8FC-F8531117B5D8}" destId="{1CFFD059-77EE-4F17-A0D9-A9B4160F6E53}" srcOrd="11" destOrd="0" parTransId="{BFDD1E73-D84B-4C2B-86C7-F8C51D834448}" sibTransId="{393350C7-E161-4AA8-82BE-9B5C7D0412ED}"/>
    <dgm:cxn modelId="{B1715D88-EDFE-45B2-9528-9AFD74699FDA}" srcId="{328DA053-C233-4311-B8FC-F8531117B5D8}" destId="{C2C81373-3710-4089-A6CA-3D610C3E8E27}" srcOrd="2" destOrd="0" parTransId="{C1EF613A-03D4-4E54-AE12-AA6D8F994A13}" sibTransId="{740745AC-D6CB-4C5B-A466-1E95CEC439F0}"/>
    <dgm:cxn modelId="{F8B4538A-DFAA-49AD-B24B-25F1E5713CDF}" type="presOf" srcId="{3EADD4DB-FCE9-4BE0-935C-94C29A0564EC}" destId="{40F33304-6BCF-401E-B942-539259FE9DFC}" srcOrd="0" destOrd="9" presId="urn:microsoft.com/office/officeart/2005/8/layout/process3"/>
    <dgm:cxn modelId="{6A21E68C-0EC5-4866-B440-ADD62E5E1ABF}" srcId="{328DA053-C233-4311-B8FC-F8531117B5D8}" destId="{FF76E213-FF11-4652-8287-2007F1B05CE9}" srcOrd="6" destOrd="0" parTransId="{BBF15134-8A65-487A-8E75-65DD9BEA643A}" sibTransId="{75D71828-B375-4CB2-8313-31F11EE35E36}"/>
    <dgm:cxn modelId="{6468938F-D35F-4C61-AB2F-DBFAB7BAF670}" srcId="{ABC869F5-5729-47ED-BF82-2CBBA19EAA21}" destId="{FF706D37-6D12-4A5E-A8CC-DBBD68C1DA7A}" srcOrd="0" destOrd="0" parTransId="{A94EA149-F02A-4AC5-8C1B-0FD651E7F92A}" sibTransId="{68690934-39DD-400E-8420-9FB6D027CAD6}"/>
    <dgm:cxn modelId="{CDF3C98F-E579-4768-88BC-FE5DC0B2EB83}" type="presOf" srcId="{B26E638A-FBD9-43BF-8051-1085DE3D3E72}" destId="{71177E6C-BF87-45EF-9513-8467DB88D415}" srcOrd="0" destOrd="5" presId="urn:microsoft.com/office/officeart/2005/8/layout/process3"/>
    <dgm:cxn modelId="{BD19A391-0D1A-417D-8F3F-D7A191A006E4}" srcId="{2697A861-7EAC-40C3-8E08-E8C278631A6D}" destId="{7945BD8F-5EC9-40C7-9AFE-C824DFF03FAD}" srcOrd="4" destOrd="0" parTransId="{C0A138B0-CCAB-4EAB-879E-F68903FF0164}" sibTransId="{637973FA-67CF-4934-8E85-0E2C69C7E12C}"/>
    <dgm:cxn modelId="{747E7393-CC22-4922-BB17-DE194C0E0292}" srcId="{F10341AB-BAD6-4DA1-BB60-E2B9AD41211F}" destId="{25537827-05E2-4CE1-8685-8165BEF1367B}" srcOrd="3" destOrd="0" parTransId="{4DF2EE44-1026-4D5C-8CDA-D817C33114DA}" sibTransId="{42397DDD-DB0C-4088-9310-F6EDB09E2663}"/>
    <dgm:cxn modelId="{2C64359A-F41F-4B39-9D5E-488FA96446DC}" type="presOf" srcId="{574F24FC-1430-41B6-8F23-76487C78DDDF}" destId="{71177E6C-BF87-45EF-9513-8467DB88D415}" srcOrd="0" destOrd="8" presId="urn:microsoft.com/office/officeart/2005/8/layout/process3"/>
    <dgm:cxn modelId="{CD9829A1-63AE-40E5-A109-71CC904FD6FD}" srcId="{2697A861-7EAC-40C3-8E08-E8C278631A6D}" destId="{8674A39D-C70A-47AE-91CC-10D9265D82A5}" srcOrd="2" destOrd="0" parTransId="{9E616970-919F-43ED-B378-5AB0011A4C70}" sibTransId="{9E009F18-4EFF-4D80-B906-46791640445C}"/>
    <dgm:cxn modelId="{B38AE8A4-9EB8-4B9B-9BE4-A9097B7633BE}" srcId="{328DA053-C233-4311-B8FC-F8531117B5D8}" destId="{8873A1C6-E056-4BAB-83B4-CCE322900F20}" srcOrd="8" destOrd="0" parTransId="{D43FA1F6-44C0-4BCB-9437-20ECD155FEA5}" sibTransId="{BD930E5E-61F3-460B-A16E-7D8BF005D252}"/>
    <dgm:cxn modelId="{570760AC-5C51-4AFB-9CAA-BDD01C0B44BA}" srcId="{F10341AB-BAD6-4DA1-BB60-E2B9AD41211F}" destId="{D2225D2F-50E1-4914-AA36-E26FC5E465F2}" srcOrd="9" destOrd="0" parTransId="{ABB54E2F-3D82-445A-900F-64E8D49AC844}" sibTransId="{F8653317-F519-4F67-952D-CA962C75A346}"/>
    <dgm:cxn modelId="{2CB3E4AC-054F-47AA-900F-07919382E7C5}" type="presOf" srcId="{D8CDA73A-0B1F-43B8-A1AE-D4AA0166F840}" destId="{40F33304-6BCF-401E-B942-539259FE9DFC}" srcOrd="0" destOrd="0" presId="urn:microsoft.com/office/officeart/2005/8/layout/process3"/>
    <dgm:cxn modelId="{3CDEC6AD-60CA-45EC-B4C1-848CCB085120}" srcId="{11D5E601-4A23-45C5-ABE1-69CC07680BE6}" destId="{2697A861-7EAC-40C3-8E08-E8C278631A6D}" srcOrd="2" destOrd="0" parTransId="{491D8105-3D6A-452A-99E3-092FF91CD571}" sibTransId="{147B8E56-AEEC-4968-A1EE-C5D9DE94050D}"/>
    <dgm:cxn modelId="{1F2D14B6-172C-47A1-A4A8-38D862243C25}" srcId="{2697A861-7EAC-40C3-8E08-E8C278631A6D}" destId="{D8CDA73A-0B1F-43B8-A1AE-D4AA0166F840}" srcOrd="0" destOrd="0" parTransId="{0F0B29A1-191A-46B8-88BE-4554BB5291C7}" sibTransId="{C7C83F9E-F036-406B-9E08-E9953ABDDD8B}"/>
    <dgm:cxn modelId="{2E9783B9-4579-42CF-8247-371448382A62}" type="presOf" srcId="{D26ECCEF-FAE9-4E42-BC4A-DBFD931AB76F}" destId="{71177E6C-BF87-45EF-9513-8467DB88D415}" srcOrd="0" destOrd="12" presId="urn:microsoft.com/office/officeart/2005/8/layout/process3"/>
    <dgm:cxn modelId="{ABA7DCBC-2265-443B-A153-BA464F42C7BE}" type="presOf" srcId="{C2C81373-3710-4089-A6CA-3D610C3E8E27}" destId="{33D7EAEF-5265-4F52-BC5A-7EEB18BA3196}" srcOrd="0" destOrd="2" presId="urn:microsoft.com/office/officeart/2005/8/layout/process3"/>
    <dgm:cxn modelId="{A12E1DC0-37CA-494A-AF52-C0B01E954E67}" type="presOf" srcId="{582D37B0-B1DA-4DA6-B59D-AA8258F3E47A}" destId="{40F33304-6BCF-401E-B942-539259FE9DFC}" srcOrd="0" destOrd="5" presId="urn:microsoft.com/office/officeart/2005/8/layout/process3"/>
    <dgm:cxn modelId="{4A4D93C1-29D8-406E-9817-2F7408916112}" type="presOf" srcId="{FE23CE49-A935-4E1D-B010-C7E44DB8CC73}" destId="{40F33304-6BCF-401E-B942-539259FE9DFC}" srcOrd="0" destOrd="7" presId="urn:microsoft.com/office/officeart/2005/8/layout/process3"/>
    <dgm:cxn modelId="{31A4D9C2-7EB4-4077-B242-2D740E6A5594}" srcId="{11D5E601-4A23-45C5-ABE1-69CC07680BE6}" destId="{ABC869F5-5729-47ED-BF82-2CBBA19EAA21}" srcOrd="0" destOrd="0" parTransId="{A08008F9-63A1-4A80-8FD4-F03000CC44CF}" sibTransId="{39006B8F-9124-4B31-A103-98B56992000D}"/>
    <dgm:cxn modelId="{8CEDDEC2-5228-4B57-9267-EE9E666CEA60}" srcId="{2697A861-7EAC-40C3-8E08-E8C278631A6D}" destId="{582D37B0-B1DA-4DA6-B59D-AA8258F3E47A}" srcOrd="5" destOrd="0" parTransId="{30DBDA1A-FD2D-473D-808E-EB6F247EEEE2}" sibTransId="{FCD2149A-8B89-40B4-A309-3BC0AD079D95}"/>
    <dgm:cxn modelId="{6D0AE0C3-C786-44F6-814A-5D2CEE094292}" type="presOf" srcId="{A06FDE84-66B2-4621-8561-3117E165CE3C}" destId="{33D7EAEF-5265-4F52-BC5A-7EEB18BA3196}" srcOrd="0" destOrd="0" presId="urn:microsoft.com/office/officeart/2005/8/layout/process3"/>
    <dgm:cxn modelId="{9EB47FC4-392B-40B3-A16B-602D92E0D39D}" type="presOf" srcId="{147B8E56-AEEC-4968-A1EE-C5D9DE94050D}" destId="{1465B2FB-4CFB-42F3-A9A9-626811F6BA92}" srcOrd="1" destOrd="0" presId="urn:microsoft.com/office/officeart/2005/8/layout/process3"/>
    <dgm:cxn modelId="{76F5ABC4-FA55-431F-819D-D5C3C0FFC70C}" type="presOf" srcId="{328DA053-C233-4311-B8FC-F8531117B5D8}" destId="{9F3E1D8A-3632-40CC-9FA6-C7749C106AE3}" srcOrd="0" destOrd="0" presId="urn:microsoft.com/office/officeart/2005/8/layout/process3"/>
    <dgm:cxn modelId="{6361F4CD-574D-44C2-A399-7859CA6430CB}" type="presOf" srcId="{39006B8F-9124-4B31-A103-98B56992000D}" destId="{BD9EC1A2-928E-47A1-A2C2-816D2FBF660A}" srcOrd="1" destOrd="0" presId="urn:microsoft.com/office/officeart/2005/8/layout/process3"/>
    <dgm:cxn modelId="{EA9F8BCE-CFE2-47AE-8B5E-0E0D7B462F91}" srcId="{328DA053-C233-4311-B8FC-F8531117B5D8}" destId="{8BDF0080-478A-4E37-8DFF-57D3CA820A99}" srcOrd="5" destOrd="0" parTransId="{4E85A80C-5C20-4AC2-9E96-D6E4C54ABA13}" sibTransId="{05CE00D8-BC0B-4D72-B876-88C4ABB12D2B}"/>
    <dgm:cxn modelId="{F36458D0-13EB-43C3-9517-09F73D9F7E10}" type="presOf" srcId="{2697A861-7EAC-40C3-8E08-E8C278631A6D}" destId="{92E5B909-57F4-4847-93B2-1C68A5BA1D1E}" srcOrd="1" destOrd="0" presId="urn:microsoft.com/office/officeart/2005/8/layout/process3"/>
    <dgm:cxn modelId="{9953AED2-79F3-4D5B-8354-30D32E9C7186}" type="presOf" srcId="{1CFFD059-77EE-4F17-A0D9-A9B4160F6E53}" destId="{33D7EAEF-5265-4F52-BC5A-7EEB18BA3196}" srcOrd="0" destOrd="11" presId="urn:microsoft.com/office/officeart/2005/8/layout/process3"/>
    <dgm:cxn modelId="{9C919AD6-98AD-4ABA-8F00-2CAE333E0AA4}" srcId="{328DA053-C233-4311-B8FC-F8531117B5D8}" destId="{BC18482F-4BA0-434A-9C9E-47046910774B}" srcOrd="9" destOrd="0" parTransId="{991C8F15-7714-4983-AD38-2BCC57C29B31}" sibTransId="{335F570E-C894-42E6-859B-DFE6DFBBAF6D}"/>
    <dgm:cxn modelId="{E07E97DA-BBA3-4D10-A548-6F4BC425020E}" type="presOf" srcId="{ABC869F5-5729-47ED-BF82-2CBBA19EAA21}" destId="{5CDF43F6-F983-406B-BC25-04BBCCDBDF91}" srcOrd="0" destOrd="0" presId="urn:microsoft.com/office/officeart/2005/8/layout/process3"/>
    <dgm:cxn modelId="{190573DE-F288-435E-A99C-E075184CF9C6}" type="presOf" srcId="{8873A1C6-E056-4BAB-83B4-CCE322900F20}" destId="{33D7EAEF-5265-4F52-BC5A-7EEB18BA3196}" srcOrd="0" destOrd="8" presId="urn:microsoft.com/office/officeart/2005/8/layout/process3"/>
    <dgm:cxn modelId="{5CB7BFDF-1F72-4EAB-8D4F-88F219E19E2E}" srcId="{328DA053-C233-4311-B8FC-F8531117B5D8}" destId="{A06FDE84-66B2-4621-8561-3117E165CE3C}" srcOrd="0" destOrd="0" parTransId="{8AEB8351-E5D4-4831-8F9C-16F9FAFA3122}" sibTransId="{F0665FC2-6655-4249-A17C-4CDE5BA85064}"/>
    <dgm:cxn modelId="{EC1C0AE0-E94C-4F7E-BE52-BD368853DBF7}" srcId="{ABC869F5-5729-47ED-BF82-2CBBA19EAA21}" destId="{0B7EF9D5-69C2-4101-934D-E0C5E18E271E}" srcOrd="2" destOrd="0" parTransId="{61A8F748-4523-4E3A-9AAD-A3779BD0BB2E}" sibTransId="{9D11EEC7-778B-48D6-B0BB-A344EF2D6D98}"/>
    <dgm:cxn modelId="{19ECA8E0-899E-4004-891F-413899DABF81}" srcId="{328DA053-C233-4311-B8FC-F8531117B5D8}" destId="{43D37603-299B-4382-BC5A-35FCEFEA6819}" srcOrd="1" destOrd="0" parTransId="{EA5152D7-3BFC-41FC-93BE-F9B4584F6B34}" sibTransId="{584F01A9-16BE-40C5-B355-922D61A127C5}"/>
    <dgm:cxn modelId="{1B1FD1E0-064F-4F06-A1DE-500A63DD99C1}" srcId="{F10341AB-BAD6-4DA1-BB60-E2B9AD41211F}" destId="{97CA6B7B-6243-45DE-8621-6797650A3A1F}" srcOrd="6" destOrd="0" parTransId="{A5D96199-0437-4601-8C31-7CD8B0A6B803}" sibTransId="{FC178050-B1B4-401A-B28F-8CC7E4F6949E}"/>
    <dgm:cxn modelId="{E02C15E3-6E92-4FBC-BE6C-B9FD37BF0348}" srcId="{F10341AB-BAD6-4DA1-BB60-E2B9AD41211F}" destId="{B26E638A-FBD9-43BF-8051-1085DE3D3E72}" srcOrd="5" destOrd="0" parTransId="{EF6419BD-7F5A-44FE-923E-3A04E7578543}" sibTransId="{C5B7C3FC-AA39-4087-9663-BC3579567FBF}"/>
    <dgm:cxn modelId="{7502EAEA-A0B3-4678-B41E-9328CD18A71F}" srcId="{F10341AB-BAD6-4DA1-BB60-E2B9AD41211F}" destId="{D26ECCEF-FAE9-4E42-BC4A-DBFD931AB76F}" srcOrd="12" destOrd="0" parTransId="{7431DBC9-C3B5-4C19-8953-915ECE08CCD6}" sibTransId="{DEF15D4E-9F58-41C5-BC69-F4839745FADF}"/>
    <dgm:cxn modelId="{B81540EB-CD19-4EE0-9C7A-569649BEEB17}" type="presOf" srcId="{9526BA24-70B1-4335-B981-6458ACF49769}" destId="{33D7EAEF-5265-4F52-BC5A-7EEB18BA3196}" srcOrd="0" destOrd="10" presId="urn:microsoft.com/office/officeart/2005/8/layout/process3"/>
    <dgm:cxn modelId="{A84F60F4-F75B-41B7-A7B8-D5E0CBCEAE70}" type="presOf" srcId="{0B7EF9D5-69C2-4101-934D-E0C5E18E271E}" destId="{0DE85E5F-7F27-46F9-B3CF-B469FC6E5C32}" srcOrd="0" destOrd="2" presId="urn:microsoft.com/office/officeart/2005/8/layout/process3"/>
    <dgm:cxn modelId="{17B9A6F6-3510-45B1-B5CA-76ECF8AC709E}" srcId="{328DA053-C233-4311-B8FC-F8531117B5D8}" destId="{9526BA24-70B1-4335-B981-6458ACF49769}" srcOrd="10" destOrd="0" parTransId="{25020B6B-5413-4AF5-AB0A-FAFA104676D8}" sibTransId="{F9CC1B9F-5342-47C8-99EE-03DB9B775607}"/>
    <dgm:cxn modelId="{CEFB2FFE-F947-4C7A-8E40-330AB347B9F7}" type="presOf" srcId="{F10341AB-BAD6-4DA1-BB60-E2B9AD41211F}" destId="{9A2ED52E-3F98-494D-AC48-D5903233EB0D}" srcOrd="1" destOrd="0" presId="urn:microsoft.com/office/officeart/2005/8/layout/process3"/>
    <dgm:cxn modelId="{E8B74AA9-8932-4168-8FD5-9CA15B4C4970}" type="presParOf" srcId="{6D84A4B4-176B-4553-9215-10FC2C33D539}" destId="{6D30C6BF-9C31-4940-866C-F15D481926EC}" srcOrd="0" destOrd="0" presId="urn:microsoft.com/office/officeart/2005/8/layout/process3"/>
    <dgm:cxn modelId="{6D8C5B0D-0B3C-4510-92E8-D982A12F24FE}" type="presParOf" srcId="{6D30C6BF-9C31-4940-866C-F15D481926EC}" destId="{5CDF43F6-F983-406B-BC25-04BBCCDBDF91}" srcOrd="0" destOrd="0" presId="urn:microsoft.com/office/officeart/2005/8/layout/process3"/>
    <dgm:cxn modelId="{9411EDF3-4BD1-4E9A-A4B2-39C3B58B2407}" type="presParOf" srcId="{6D30C6BF-9C31-4940-866C-F15D481926EC}" destId="{A0546AE4-69D2-49A8-AF7C-E388AF827349}" srcOrd="1" destOrd="0" presId="urn:microsoft.com/office/officeart/2005/8/layout/process3"/>
    <dgm:cxn modelId="{AB397B25-084F-4D13-9153-612E89290EB3}" type="presParOf" srcId="{6D30C6BF-9C31-4940-866C-F15D481926EC}" destId="{0DE85E5F-7F27-46F9-B3CF-B469FC6E5C32}" srcOrd="2" destOrd="0" presId="urn:microsoft.com/office/officeart/2005/8/layout/process3"/>
    <dgm:cxn modelId="{956604A5-0104-4D64-B953-0B856DD1EED1}" type="presParOf" srcId="{6D84A4B4-176B-4553-9215-10FC2C33D539}" destId="{DCEE51CE-1625-42A4-9E0E-79B61039A46E}" srcOrd="1" destOrd="0" presId="urn:microsoft.com/office/officeart/2005/8/layout/process3"/>
    <dgm:cxn modelId="{E73F4DAA-DDA4-4124-80DD-74641633B991}" type="presParOf" srcId="{DCEE51CE-1625-42A4-9E0E-79B61039A46E}" destId="{BD9EC1A2-928E-47A1-A2C2-816D2FBF660A}" srcOrd="0" destOrd="0" presId="urn:microsoft.com/office/officeart/2005/8/layout/process3"/>
    <dgm:cxn modelId="{FC5A6BF2-B147-4A77-909F-C3FAE1A3AE6D}" type="presParOf" srcId="{6D84A4B4-176B-4553-9215-10FC2C33D539}" destId="{A75932A4-C8B3-4033-93C4-E41A997F3E77}" srcOrd="2" destOrd="0" presId="urn:microsoft.com/office/officeart/2005/8/layout/process3"/>
    <dgm:cxn modelId="{7EE8BF00-91F8-4D75-A31E-24183DC443A5}" type="presParOf" srcId="{A75932A4-C8B3-4033-93C4-E41A997F3E77}" destId="{9F3E1D8A-3632-40CC-9FA6-C7749C106AE3}" srcOrd="0" destOrd="0" presId="urn:microsoft.com/office/officeart/2005/8/layout/process3"/>
    <dgm:cxn modelId="{BBB93E1B-3767-4500-A671-9BE5498379EB}" type="presParOf" srcId="{A75932A4-C8B3-4033-93C4-E41A997F3E77}" destId="{C1939E5E-CC8F-43E8-9CBF-3E6544CECA3F}" srcOrd="1" destOrd="0" presId="urn:microsoft.com/office/officeart/2005/8/layout/process3"/>
    <dgm:cxn modelId="{9B48C29E-668A-4465-A5A0-CCA3BB414BEF}" type="presParOf" srcId="{A75932A4-C8B3-4033-93C4-E41A997F3E77}" destId="{33D7EAEF-5265-4F52-BC5A-7EEB18BA3196}" srcOrd="2" destOrd="0" presId="urn:microsoft.com/office/officeart/2005/8/layout/process3"/>
    <dgm:cxn modelId="{6F713252-308A-4C65-A888-03A8F9E53F7D}" type="presParOf" srcId="{6D84A4B4-176B-4553-9215-10FC2C33D539}" destId="{880F34BF-0584-4763-B566-4312400AF7C6}" srcOrd="3" destOrd="0" presId="urn:microsoft.com/office/officeart/2005/8/layout/process3"/>
    <dgm:cxn modelId="{3CCFAA2E-CF21-4107-973C-E46CF4C7DB7C}" type="presParOf" srcId="{880F34BF-0584-4763-B566-4312400AF7C6}" destId="{4C5DE4BD-9A11-4F83-88E1-5EFEEE2C25D7}" srcOrd="0" destOrd="0" presId="urn:microsoft.com/office/officeart/2005/8/layout/process3"/>
    <dgm:cxn modelId="{AEE40449-0BCC-43A1-8D1A-802F84BF18F3}" type="presParOf" srcId="{6D84A4B4-176B-4553-9215-10FC2C33D539}" destId="{87069DE8-42F9-4704-8358-9194538B6529}" srcOrd="4" destOrd="0" presId="urn:microsoft.com/office/officeart/2005/8/layout/process3"/>
    <dgm:cxn modelId="{1719DBF7-F748-477F-9366-CDE706C7232A}" type="presParOf" srcId="{87069DE8-42F9-4704-8358-9194538B6529}" destId="{02F31A2E-BF4F-40B4-9B7F-B71FEE9250F8}" srcOrd="0" destOrd="0" presId="urn:microsoft.com/office/officeart/2005/8/layout/process3"/>
    <dgm:cxn modelId="{4112EDDE-86D7-4EA7-9FC3-3B91BE51A949}" type="presParOf" srcId="{87069DE8-42F9-4704-8358-9194538B6529}" destId="{92E5B909-57F4-4847-93B2-1C68A5BA1D1E}" srcOrd="1" destOrd="0" presId="urn:microsoft.com/office/officeart/2005/8/layout/process3"/>
    <dgm:cxn modelId="{FB1E7812-9CCD-45F1-90D4-C77F10F0FD62}" type="presParOf" srcId="{87069DE8-42F9-4704-8358-9194538B6529}" destId="{40F33304-6BCF-401E-B942-539259FE9DFC}" srcOrd="2" destOrd="0" presId="urn:microsoft.com/office/officeart/2005/8/layout/process3"/>
    <dgm:cxn modelId="{0D52CD5F-6A57-4457-8FF6-A961C81F20D4}" type="presParOf" srcId="{6D84A4B4-176B-4553-9215-10FC2C33D539}" destId="{DD110BF9-CE10-487F-8977-0097062CBD7F}" srcOrd="5" destOrd="0" presId="urn:microsoft.com/office/officeart/2005/8/layout/process3"/>
    <dgm:cxn modelId="{9AD20BD5-BAED-478C-BB32-BEFE05E40671}" type="presParOf" srcId="{DD110BF9-CE10-487F-8977-0097062CBD7F}" destId="{1465B2FB-4CFB-42F3-A9A9-626811F6BA92}" srcOrd="0" destOrd="0" presId="urn:microsoft.com/office/officeart/2005/8/layout/process3"/>
    <dgm:cxn modelId="{AA0098F7-2877-4C1B-A61C-D178526EB611}" type="presParOf" srcId="{6D84A4B4-176B-4553-9215-10FC2C33D539}" destId="{C601F673-896F-4A32-9400-7AA29B6D21C2}" srcOrd="6" destOrd="0" presId="urn:microsoft.com/office/officeart/2005/8/layout/process3"/>
    <dgm:cxn modelId="{AAC8ACFF-98E1-472F-A3DB-3061AB1A1F34}" type="presParOf" srcId="{C601F673-896F-4A32-9400-7AA29B6D21C2}" destId="{DA493DF0-E0D4-4773-BCD4-BC89469198F5}" srcOrd="0" destOrd="0" presId="urn:microsoft.com/office/officeart/2005/8/layout/process3"/>
    <dgm:cxn modelId="{5EC8C42A-CAEE-4A93-B31B-BED144948A7A}" type="presParOf" srcId="{C601F673-896F-4A32-9400-7AA29B6D21C2}" destId="{9A2ED52E-3F98-494D-AC48-D5903233EB0D}" srcOrd="1" destOrd="0" presId="urn:microsoft.com/office/officeart/2005/8/layout/process3"/>
    <dgm:cxn modelId="{61DF1920-1F4A-4585-822D-4A0F7B1E4BE8}" type="presParOf" srcId="{C601F673-896F-4A32-9400-7AA29B6D21C2}" destId="{71177E6C-BF87-45EF-9513-8467DB88D415}"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546AE4-69D2-49A8-AF7C-E388AF827349}">
      <dsp:nvSpPr>
        <dsp:cNvPr id="0" name=""/>
        <dsp:cNvSpPr/>
      </dsp:nvSpPr>
      <dsp:spPr>
        <a:xfrm>
          <a:off x="6434" y="151625"/>
          <a:ext cx="2116966" cy="908737"/>
        </a:xfrm>
        <a:prstGeom prst="roundRect">
          <a:avLst>
            <a:gd name="adj" fmla="val 10000"/>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US" sz="1400" kern="1200" dirty="0"/>
            <a:t>1</a:t>
          </a:r>
          <a:r>
            <a:rPr lang="en-US" sz="1400" kern="1200" baseline="30000" dirty="0"/>
            <a:t>st</a:t>
          </a:r>
          <a:r>
            <a:rPr lang="en-US" sz="1400" kern="1200" dirty="0"/>
            <a:t> Phase: Just-In-Time Process</a:t>
          </a:r>
        </a:p>
      </dsp:txBody>
      <dsp:txXfrm>
        <a:off x="6434" y="151625"/>
        <a:ext cx="2116966" cy="605824"/>
      </dsp:txXfrm>
    </dsp:sp>
    <dsp:sp modelId="{0DE85E5F-7F27-46F9-B3CF-B469FC6E5C32}">
      <dsp:nvSpPr>
        <dsp:cNvPr id="0" name=""/>
        <dsp:cNvSpPr/>
      </dsp:nvSpPr>
      <dsp:spPr>
        <a:xfrm>
          <a:off x="157986" y="779525"/>
          <a:ext cx="1812192" cy="4486950"/>
        </a:xfrm>
        <a:prstGeom prst="roundRect">
          <a:avLst>
            <a:gd name="adj" fmla="val 10000"/>
          </a:avLst>
        </a:prstGeom>
        <a:solidFill>
          <a:schemeClr val="bg1">
            <a:alpha val="9000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100000"/>
            </a:lnSpc>
            <a:spcBef>
              <a:spcPct val="0"/>
            </a:spcBef>
            <a:spcAft>
              <a:spcPts val="0"/>
            </a:spcAft>
            <a:buChar char="•"/>
          </a:pPr>
          <a:r>
            <a:rPr lang="en-US" sz="1200" kern="1200" dirty="0"/>
            <a:t>Project transitions from “approval” to “actionable” based on regulatory requirements</a:t>
          </a:r>
        </a:p>
        <a:p>
          <a:pPr marL="114300" lvl="1" indent="-114300" algn="l" defTabSz="622300">
            <a:lnSpc>
              <a:spcPct val="100000"/>
            </a:lnSpc>
            <a:spcBef>
              <a:spcPct val="0"/>
            </a:spcBef>
            <a:spcAft>
              <a:spcPts val="0"/>
            </a:spcAft>
            <a:buChar char="•"/>
          </a:pPr>
          <a:endParaRPr lang="en-US" sz="1400" kern="1200" dirty="0"/>
        </a:p>
        <a:p>
          <a:pPr marL="114300" lvl="1" indent="-114300" algn="l" defTabSz="533400">
            <a:lnSpc>
              <a:spcPct val="100000"/>
            </a:lnSpc>
            <a:spcBef>
              <a:spcPct val="0"/>
            </a:spcBef>
            <a:spcAft>
              <a:spcPts val="0"/>
            </a:spcAft>
            <a:buChar char="•"/>
          </a:pPr>
          <a:r>
            <a:rPr lang="en-US" sz="1200" kern="1200" dirty="0"/>
            <a:t>Compliance with human subjects, animal welfare, and privacy requirements occurs here</a:t>
          </a:r>
        </a:p>
      </dsp:txBody>
      <dsp:txXfrm>
        <a:off x="211063" y="832602"/>
        <a:ext cx="1706038" cy="4380796"/>
      </dsp:txXfrm>
    </dsp:sp>
    <dsp:sp modelId="{DCEE51CE-1625-42A4-9E0E-79B61039A46E}">
      <dsp:nvSpPr>
        <dsp:cNvPr id="0" name=""/>
        <dsp:cNvSpPr/>
      </dsp:nvSpPr>
      <dsp:spPr>
        <a:xfrm rot="3320">
          <a:off x="2354095" y="230427"/>
          <a:ext cx="489072" cy="451183"/>
        </a:xfrm>
        <a:prstGeom prst="rightArrow">
          <a:avLst>
            <a:gd name="adj1" fmla="val 60000"/>
            <a:gd name="adj2" fmla="val 50000"/>
          </a:avLst>
        </a:prstGeom>
        <a:solidFill>
          <a:srgbClr val="0070C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2354095" y="320599"/>
        <a:ext cx="353717" cy="270709"/>
      </dsp:txXfrm>
    </dsp:sp>
    <dsp:sp modelId="{C1939E5E-CC8F-43E8-9CBF-3E6544CECA3F}">
      <dsp:nvSpPr>
        <dsp:cNvPr id="0" name=""/>
        <dsp:cNvSpPr/>
      </dsp:nvSpPr>
      <dsp:spPr>
        <a:xfrm>
          <a:off x="3046179" y="177031"/>
          <a:ext cx="1812192" cy="840886"/>
        </a:xfrm>
        <a:prstGeom prst="roundRect">
          <a:avLst>
            <a:gd name="adj" fmla="val 10000"/>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49530" numCol="1" spcCol="1270" anchor="t" anchorCtr="0">
          <a:noAutofit/>
        </a:bodyPr>
        <a:lstStyle/>
        <a:p>
          <a:pPr marL="0" lvl="0" indent="0" algn="l" defTabSz="577850">
            <a:lnSpc>
              <a:spcPct val="90000"/>
            </a:lnSpc>
            <a:spcBef>
              <a:spcPct val="0"/>
            </a:spcBef>
            <a:spcAft>
              <a:spcPct val="35000"/>
            </a:spcAft>
            <a:buNone/>
          </a:pPr>
          <a:r>
            <a:rPr lang="en-US" sz="1300" kern="1200" dirty="0"/>
            <a:t>2</a:t>
          </a:r>
          <a:r>
            <a:rPr lang="en-US" sz="1300" kern="1200" baseline="30000" dirty="0"/>
            <a:t>nd</a:t>
          </a:r>
          <a:r>
            <a:rPr lang="en-US" sz="1300" kern="1200" dirty="0"/>
            <a:t> Phase: Engagement with Cohorts</a:t>
          </a:r>
        </a:p>
      </dsp:txBody>
      <dsp:txXfrm>
        <a:off x="3046179" y="177031"/>
        <a:ext cx="1812192" cy="560590"/>
      </dsp:txXfrm>
    </dsp:sp>
    <dsp:sp modelId="{33D7EAEF-5265-4F52-BC5A-7EEB18BA3196}">
      <dsp:nvSpPr>
        <dsp:cNvPr id="0" name=""/>
        <dsp:cNvSpPr/>
      </dsp:nvSpPr>
      <dsp:spPr>
        <a:xfrm>
          <a:off x="3441072" y="729179"/>
          <a:ext cx="1812192" cy="4486950"/>
        </a:xfrm>
        <a:prstGeom prst="roundRect">
          <a:avLst>
            <a:gd name="adj" fmla="val 10000"/>
          </a:avLst>
        </a:prstGeom>
        <a:solidFill>
          <a:schemeClr val="lt1">
            <a:alpha val="90000"/>
            <a:hueOff val="0"/>
            <a:satOff val="0"/>
            <a:lumOff val="0"/>
            <a:alphaOff val="0"/>
          </a:schemeClr>
        </a:solidFill>
        <a:ln w="25400" cap="flat" cmpd="sng" algn="ctr">
          <a:solidFill>
            <a:schemeClr val="accent2">
              <a:shade val="80000"/>
              <a:hueOff val="227507"/>
              <a:satOff val="-19129"/>
              <a:lumOff val="1237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77850">
            <a:lnSpc>
              <a:spcPct val="90000"/>
            </a:lnSpc>
            <a:spcBef>
              <a:spcPct val="0"/>
            </a:spcBef>
            <a:spcAft>
              <a:spcPct val="15000"/>
            </a:spcAft>
            <a:buFont typeface="Wingdings" panose="05000000000000000000" pitchFamily="2" charset="2"/>
            <a:buChar char="q"/>
          </a:pPr>
          <a:r>
            <a:rPr lang="en-US" sz="1300" kern="1200" dirty="0"/>
            <a:t> Laboratory</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 Veteran engagement</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 Purchase critical reagents and instrumentation </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 Obtain clinical specimens </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Optimize laboratory setup</a:t>
          </a:r>
        </a:p>
        <a:p>
          <a:pPr marL="114300" lvl="1" indent="-114300" algn="l" defTabSz="533400">
            <a:lnSpc>
              <a:spcPct val="90000"/>
            </a:lnSpc>
            <a:spcBef>
              <a:spcPct val="0"/>
            </a:spcBef>
            <a:spcAft>
              <a:spcPct val="15000"/>
            </a:spcAft>
            <a:buFont typeface="Arial" panose="020B0604020202020204" pitchFamily="34" charset="0"/>
            <a:buNone/>
          </a:pPr>
          <a:endParaRPr lang="en-US" sz="1200" kern="1200" dirty="0"/>
        </a:p>
        <a:p>
          <a:pPr marL="114300" lvl="1" indent="-114300" algn="l" defTabSz="577850">
            <a:lnSpc>
              <a:spcPct val="90000"/>
            </a:lnSpc>
            <a:spcBef>
              <a:spcPct val="0"/>
            </a:spcBef>
            <a:spcAft>
              <a:spcPct val="15000"/>
            </a:spcAft>
            <a:buFont typeface="Wingdings" panose="05000000000000000000" pitchFamily="2" charset="2"/>
            <a:buChar char="q"/>
          </a:pPr>
          <a:r>
            <a:rPr lang="en-US" sz="1300" kern="1200" dirty="0"/>
            <a:t> Epidemiology</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 Engage with database owners (e.g., MVP).</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Optimize algorithms for targeted cohorts</a:t>
          </a:r>
        </a:p>
        <a:p>
          <a:pPr marL="114300" lvl="1" indent="-114300" algn="l" defTabSz="533400">
            <a:lnSpc>
              <a:spcPct val="90000"/>
            </a:lnSpc>
            <a:spcBef>
              <a:spcPct val="0"/>
            </a:spcBef>
            <a:spcAft>
              <a:spcPct val="15000"/>
            </a:spcAft>
            <a:buFont typeface="Arial" panose="020B0604020202020204" pitchFamily="34" charset="0"/>
            <a:buNone/>
          </a:pPr>
          <a:endParaRPr lang="en-US" sz="1200" kern="1200" dirty="0"/>
        </a:p>
        <a:p>
          <a:pPr marL="114300" lvl="1" indent="-114300" algn="l" defTabSz="577850">
            <a:lnSpc>
              <a:spcPct val="90000"/>
            </a:lnSpc>
            <a:spcBef>
              <a:spcPct val="0"/>
            </a:spcBef>
            <a:spcAft>
              <a:spcPct val="15000"/>
            </a:spcAft>
            <a:buFont typeface="Wingdings" panose="05000000000000000000" pitchFamily="2" charset="2"/>
            <a:buChar char="q"/>
          </a:pPr>
          <a:r>
            <a:rPr lang="en-US" sz="1300" kern="1200" dirty="0"/>
            <a:t> Medical</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 Engage with Veterans for treatment </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Obtain treatment resources</a:t>
          </a:r>
        </a:p>
      </dsp:txBody>
      <dsp:txXfrm>
        <a:off x="3494149" y="782256"/>
        <a:ext cx="1706038" cy="4380796"/>
      </dsp:txXfrm>
    </dsp:sp>
    <dsp:sp modelId="{880F34BF-0584-4763-B566-4312400AF7C6}">
      <dsp:nvSpPr>
        <dsp:cNvPr id="0" name=""/>
        <dsp:cNvSpPr/>
      </dsp:nvSpPr>
      <dsp:spPr>
        <a:xfrm rot="21599045">
          <a:off x="5139023" y="231322"/>
          <a:ext cx="594982" cy="451183"/>
        </a:xfrm>
        <a:prstGeom prst="rightArrow">
          <a:avLst>
            <a:gd name="adj1" fmla="val 60000"/>
            <a:gd name="adj2" fmla="val 50000"/>
          </a:avLst>
        </a:prstGeom>
        <a:solidFill>
          <a:srgbClr val="0070C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5139023" y="321578"/>
        <a:ext cx="459627" cy="270709"/>
      </dsp:txXfrm>
    </dsp:sp>
    <dsp:sp modelId="{92E5B909-57F4-4847-93B2-1C68A5BA1D1E}">
      <dsp:nvSpPr>
        <dsp:cNvPr id="0" name=""/>
        <dsp:cNvSpPr/>
      </dsp:nvSpPr>
      <dsp:spPr>
        <a:xfrm>
          <a:off x="5980979" y="176215"/>
          <a:ext cx="1812192" cy="840886"/>
        </a:xfrm>
        <a:prstGeom prst="roundRect">
          <a:avLst>
            <a:gd name="adj" fmla="val 10000"/>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49530" numCol="1" spcCol="1270" anchor="t" anchorCtr="0">
          <a:noAutofit/>
        </a:bodyPr>
        <a:lstStyle/>
        <a:p>
          <a:pPr marL="0" lvl="0" indent="0" algn="l" defTabSz="577850">
            <a:lnSpc>
              <a:spcPct val="90000"/>
            </a:lnSpc>
            <a:spcBef>
              <a:spcPct val="0"/>
            </a:spcBef>
            <a:spcAft>
              <a:spcPct val="35000"/>
            </a:spcAft>
            <a:buNone/>
          </a:pPr>
          <a:r>
            <a:rPr lang="en-US" sz="1300" kern="1200" dirty="0"/>
            <a:t>3</a:t>
          </a:r>
          <a:r>
            <a:rPr lang="en-US" sz="1300" kern="1200" baseline="30000" dirty="0"/>
            <a:t>rd</a:t>
          </a:r>
          <a:r>
            <a:rPr lang="en-US" sz="1300" kern="1200" dirty="0"/>
            <a:t> Phase: The Active Phase</a:t>
          </a:r>
        </a:p>
      </dsp:txBody>
      <dsp:txXfrm>
        <a:off x="5980979" y="176215"/>
        <a:ext cx="1812192" cy="560590"/>
      </dsp:txXfrm>
    </dsp:sp>
    <dsp:sp modelId="{40F33304-6BCF-401E-B942-539259FE9DFC}">
      <dsp:nvSpPr>
        <dsp:cNvPr id="0" name=""/>
        <dsp:cNvSpPr/>
      </dsp:nvSpPr>
      <dsp:spPr>
        <a:xfrm>
          <a:off x="6352151" y="729179"/>
          <a:ext cx="1812192" cy="4486950"/>
        </a:xfrm>
        <a:prstGeom prst="roundRect">
          <a:avLst>
            <a:gd name="adj" fmla="val 10000"/>
          </a:avLst>
        </a:prstGeom>
        <a:solidFill>
          <a:schemeClr val="lt1">
            <a:alpha val="90000"/>
            <a:hueOff val="0"/>
            <a:satOff val="0"/>
            <a:lumOff val="0"/>
            <a:alphaOff val="0"/>
          </a:schemeClr>
        </a:solidFill>
        <a:ln w="25400" cap="flat" cmpd="sng" algn="ctr">
          <a:solidFill>
            <a:schemeClr val="accent2">
              <a:shade val="80000"/>
              <a:hueOff val="455015"/>
              <a:satOff val="-38259"/>
              <a:lumOff val="2474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92456" rIns="92456" bIns="92456" numCol="1" spcCol="1270" anchor="t" anchorCtr="0">
          <a:noAutofit/>
        </a:bodyPr>
        <a:lstStyle/>
        <a:p>
          <a:pPr marL="114300" lvl="1" indent="-114300" algn="l" defTabSz="577850">
            <a:lnSpc>
              <a:spcPct val="90000"/>
            </a:lnSpc>
            <a:spcBef>
              <a:spcPct val="0"/>
            </a:spcBef>
            <a:spcAft>
              <a:spcPct val="15000"/>
            </a:spcAft>
            <a:buFont typeface="Wingdings" panose="05000000000000000000" pitchFamily="2" charset="2"/>
            <a:buChar char="q"/>
          </a:pPr>
          <a:r>
            <a:rPr lang="en-US" sz="1300" kern="1200" dirty="0"/>
            <a:t> Laboratory</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Complete lab protocols</a:t>
          </a:r>
        </a:p>
        <a:p>
          <a:pPr marL="114300" lvl="1" indent="-114300" algn="l" defTabSz="533400">
            <a:lnSpc>
              <a:spcPct val="90000"/>
            </a:lnSpc>
            <a:spcBef>
              <a:spcPct val="0"/>
            </a:spcBef>
            <a:spcAft>
              <a:spcPct val="15000"/>
            </a:spcAft>
            <a:buFont typeface="Arial" panose="020B0604020202020204" pitchFamily="34" charset="0"/>
            <a:buNone/>
          </a:pPr>
          <a:endParaRPr lang="en-US" sz="1200" kern="1200" dirty="0"/>
        </a:p>
        <a:p>
          <a:pPr marL="114300" lvl="1" indent="-114300" algn="l" defTabSz="577850">
            <a:lnSpc>
              <a:spcPct val="90000"/>
            </a:lnSpc>
            <a:spcBef>
              <a:spcPct val="0"/>
            </a:spcBef>
            <a:spcAft>
              <a:spcPct val="15000"/>
            </a:spcAft>
            <a:buFont typeface="Wingdings" panose="05000000000000000000" pitchFamily="2" charset="2"/>
            <a:buChar char="q"/>
          </a:pPr>
          <a:r>
            <a:rPr lang="en-US" sz="1300" kern="1200" dirty="0"/>
            <a:t> Epidemiology</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Collect and process data</a:t>
          </a:r>
        </a:p>
        <a:p>
          <a:pPr marL="114300" lvl="1" indent="-114300" algn="l" defTabSz="533400">
            <a:lnSpc>
              <a:spcPct val="90000"/>
            </a:lnSpc>
            <a:spcBef>
              <a:spcPct val="0"/>
            </a:spcBef>
            <a:spcAft>
              <a:spcPct val="15000"/>
            </a:spcAft>
            <a:buFont typeface="Arial" panose="020B0604020202020204" pitchFamily="34" charset="0"/>
            <a:buNone/>
          </a:pPr>
          <a:endParaRPr lang="en-US" sz="1200" kern="1200" dirty="0"/>
        </a:p>
        <a:p>
          <a:pPr marL="114300" lvl="1" indent="-114300" algn="l" defTabSz="577850">
            <a:lnSpc>
              <a:spcPct val="90000"/>
            </a:lnSpc>
            <a:spcBef>
              <a:spcPct val="0"/>
            </a:spcBef>
            <a:spcAft>
              <a:spcPct val="15000"/>
            </a:spcAft>
            <a:buFont typeface="Wingdings" panose="05000000000000000000" pitchFamily="2" charset="2"/>
            <a:buChar char="q"/>
          </a:pPr>
          <a:r>
            <a:rPr lang="en-US" sz="1300" kern="1200" dirty="0"/>
            <a:t> Medical</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Travel Veterans to medical facilities</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Initiate treatments</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Follow up steps </a:t>
          </a:r>
        </a:p>
      </dsp:txBody>
      <dsp:txXfrm>
        <a:off x="6405228" y="782256"/>
        <a:ext cx="1706038" cy="4380796"/>
      </dsp:txXfrm>
    </dsp:sp>
    <dsp:sp modelId="{DD110BF9-CE10-487F-8977-0097062CBD7F}">
      <dsp:nvSpPr>
        <dsp:cNvPr id="0" name=""/>
        <dsp:cNvSpPr/>
      </dsp:nvSpPr>
      <dsp:spPr>
        <a:xfrm rot="21590993">
          <a:off x="8067892" y="227062"/>
          <a:ext cx="582412" cy="451183"/>
        </a:xfrm>
        <a:prstGeom prst="rightArrow">
          <a:avLst>
            <a:gd name="adj1" fmla="val 60000"/>
            <a:gd name="adj2" fmla="val 50000"/>
          </a:avLst>
        </a:prstGeom>
        <a:solidFill>
          <a:srgbClr val="0070C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8067892" y="317476"/>
        <a:ext cx="447057" cy="270709"/>
      </dsp:txXfrm>
    </dsp:sp>
    <dsp:sp modelId="{9A2ED52E-3F98-494D-AC48-D5903233EB0D}">
      <dsp:nvSpPr>
        <dsp:cNvPr id="0" name=""/>
        <dsp:cNvSpPr/>
      </dsp:nvSpPr>
      <dsp:spPr>
        <a:xfrm>
          <a:off x="8892058" y="168588"/>
          <a:ext cx="1812192" cy="840886"/>
        </a:xfrm>
        <a:prstGeom prst="roundRect">
          <a:avLst>
            <a:gd name="adj" fmla="val 10000"/>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49530" numCol="1" spcCol="1270" anchor="t" anchorCtr="0">
          <a:noAutofit/>
        </a:bodyPr>
        <a:lstStyle/>
        <a:p>
          <a:pPr marL="0" lvl="0" indent="0" algn="l" defTabSz="577850">
            <a:lnSpc>
              <a:spcPct val="90000"/>
            </a:lnSpc>
            <a:spcBef>
              <a:spcPct val="0"/>
            </a:spcBef>
            <a:spcAft>
              <a:spcPct val="35000"/>
            </a:spcAft>
            <a:buNone/>
          </a:pPr>
          <a:r>
            <a:rPr lang="en-US" sz="1300" kern="1200" dirty="0"/>
            <a:t>4</a:t>
          </a:r>
          <a:r>
            <a:rPr lang="en-US" sz="1300" kern="1200" baseline="30000" dirty="0"/>
            <a:t>th</a:t>
          </a:r>
          <a:r>
            <a:rPr lang="en-US" sz="1300" kern="1200" dirty="0"/>
            <a:t> Phase: Concluding Activities &amp; Reporting </a:t>
          </a:r>
        </a:p>
      </dsp:txBody>
      <dsp:txXfrm>
        <a:off x="8892058" y="168588"/>
        <a:ext cx="1812192" cy="560590"/>
      </dsp:txXfrm>
    </dsp:sp>
    <dsp:sp modelId="{71177E6C-BF87-45EF-9513-8467DB88D415}">
      <dsp:nvSpPr>
        <dsp:cNvPr id="0" name=""/>
        <dsp:cNvSpPr/>
      </dsp:nvSpPr>
      <dsp:spPr>
        <a:xfrm>
          <a:off x="9263230" y="729179"/>
          <a:ext cx="1812192" cy="4486950"/>
        </a:xfrm>
        <a:prstGeom prst="roundRect">
          <a:avLst>
            <a:gd name="adj" fmla="val 10000"/>
          </a:avLst>
        </a:prstGeom>
        <a:solidFill>
          <a:schemeClr val="lt1">
            <a:alpha val="90000"/>
            <a:hueOff val="0"/>
            <a:satOff val="0"/>
            <a:lumOff val="0"/>
            <a:alphaOff val="0"/>
          </a:schemeClr>
        </a:solidFill>
        <a:ln w="25400" cap="flat" cmpd="sng" algn="ctr">
          <a:solidFill>
            <a:schemeClr val="accent2">
              <a:shade val="80000"/>
              <a:hueOff val="682522"/>
              <a:satOff val="-57388"/>
              <a:lumOff val="3711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92456" rIns="92456" bIns="92456" numCol="1" spcCol="1270" anchor="t" anchorCtr="0">
          <a:noAutofit/>
        </a:bodyPr>
        <a:lstStyle/>
        <a:p>
          <a:pPr marL="114300" lvl="1" indent="-114300" algn="l" defTabSz="577850">
            <a:lnSpc>
              <a:spcPct val="90000"/>
            </a:lnSpc>
            <a:spcBef>
              <a:spcPct val="0"/>
            </a:spcBef>
            <a:spcAft>
              <a:spcPct val="15000"/>
            </a:spcAft>
            <a:buFont typeface="Wingdings" panose="05000000000000000000" pitchFamily="2" charset="2"/>
            <a:buChar char="q"/>
          </a:pPr>
          <a:r>
            <a:rPr lang="en-US" sz="1300" kern="1200" dirty="0"/>
            <a:t> Laboratory</a:t>
          </a:r>
        </a:p>
        <a:p>
          <a:pPr marL="114300" lvl="1" indent="-114300" algn="l" defTabSz="577850">
            <a:lnSpc>
              <a:spcPct val="90000"/>
            </a:lnSpc>
            <a:spcBef>
              <a:spcPct val="0"/>
            </a:spcBef>
            <a:spcAft>
              <a:spcPct val="15000"/>
            </a:spcAft>
            <a:buFont typeface="Arial" panose="020B0604020202020204" pitchFamily="34" charset="0"/>
            <a:buChar char="•"/>
          </a:pPr>
          <a:r>
            <a:rPr lang="en-US" sz="1300" kern="1200" dirty="0"/>
            <a:t> </a:t>
          </a:r>
          <a:r>
            <a:rPr lang="en-US" sz="1200" kern="1200" dirty="0"/>
            <a:t>Interpret new scientific findings</a:t>
          </a:r>
        </a:p>
        <a:p>
          <a:pPr marL="114300" lvl="1" indent="-114300" algn="l" defTabSz="577850">
            <a:lnSpc>
              <a:spcPct val="90000"/>
            </a:lnSpc>
            <a:spcBef>
              <a:spcPct val="0"/>
            </a:spcBef>
            <a:spcAft>
              <a:spcPct val="15000"/>
            </a:spcAft>
            <a:buFont typeface="Wingdings" panose="05000000000000000000" pitchFamily="2" charset="2"/>
            <a:buNone/>
          </a:pPr>
          <a:endParaRPr lang="en-US" sz="1300" kern="1200" dirty="0"/>
        </a:p>
        <a:p>
          <a:pPr marL="114300" lvl="1" indent="-114300" algn="l" defTabSz="577850">
            <a:lnSpc>
              <a:spcPct val="90000"/>
            </a:lnSpc>
            <a:spcBef>
              <a:spcPct val="0"/>
            </a:spcBef>
            <a:spcAft>
              <a:spcPct val="15000"/>
            </a:spcAft>
            <a:buFont typeface="Wingdings" panose="05000000000000000000" pitchFamily="2" charset="2"/>
            <a:buChar char="q"/>
          </a:pPr>
          <a:r>
            <a:rPr lang="en-US" sz="1300" kern="1200" dirty="0"/>
            <a:t> Epidemiology</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Identify new trends in data</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 Measure the impact of military exposure related diseases on Veterans</a:t>
          </a:r>
        </a:p>
        <a:p>
          <a:pPr marL="114300" lvl="1" indent="-114300" algn="l" defTabSz="577850">
            <a:lnSpc>
              <a:spcPct val="90000"/>
            </a:lnSpc>
            <a:spcBef>
              <a:spcPct val="0"/>
            </a:spcBef>
            <a:spcAft>
              <a:spcPct val="15000"/>
            </a:spcAft>
            <a:buFont typeface="Arial" panose="020B0604020202020204" pitchFamily="34" charset="0"/>
            <a:buNone/>
          </a:pPr>
          <a:endParaRPr lang="en-US" sz="1300" kern="1200" dirty="0"/>
        </a:p>
        <a:p>
          <a:pPr marL="114300" lvl="1" indent="-114300" algn="l" defTabSz="577850">
            <a:lnSpc>
              <a:spcPct val="90000"/>
            </a:lnSpc>
            <a:spcBef>
              <a:spcPct val="0"/>
            </a:spcBef>
            <a:spcAft>
              <a:spcPct val="15000"/>
            </a:spcAft>
            <a:buFont typeface="Wingdings" panose="05000000000000000000" pitchFamily="2" charset="2"/>
            <a:buChar char="q"/>
          </a:pPr>
          <a:r>
            <a:rPr lang="en-US" sz="1300" kern="1200" dirty="0"/>
            <a:t> Medical</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 Evaluate impact of new treatments</a:t>
          </a:r>
        </a:p>
        <a:p>
          <a:pPr marL="114300" lvl="1" indent="-114300" algn="l" defTabSz="577850">
            <a:lnSpc>
              <a:spcPct val="90000"/>
            </a:lnSpc>
            <a:spcBef>
              <a:spcPct val="0"/>
            </a:spcBef>
            <a:spcAft>
              <a:spcPct val="15000"/>
            </a:spcAft>
            <a:buFont typeface="Arial" panose="020B0604020202020204" pitchFamily="34" charset="0"/>
            <a:buChar char="•"/>
          </a:pPr>
          <a:endParaRPr lang="en-US" sz="1300" kern="1200" dirty="0"/>
        </a:p>
        <a:p>
          <a:pPr marL="114300" lvl="1" indent="-114300" algn="l" defTabSz="577850">
            <a:lnSpc>
              <a:spcPct val="90000"/>
            </a:lnSpc>
            <a:spcBef>
              <a:spcPct val="0"/>
            </a:spcBef>
            <a:spcAft>
              <a:spcPct val="15000"/>
            </a:spcAft>
            <a:buFont typeface="Wingdings" panose="05000000000000000000" pitchFamily="2" charset="2"/>
            <a:buChar char="q"/>
          </a:pPr>
          <a:r>
            <a:rPr lang="en-US" sz="1300" kern="1200" dirty="0"/>
            <a:t> Documentation</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 Publish results</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t> Archive activities</a:t>
          </a:r>
        </a:p>
      </dsp:txBody>
      <dsp:txXfrm>
        <a:off x="9316307" y="782256"/>
        <a:ext cx="1706038" cy="4380796"/>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1D254D-4A5D-44B7-AF76-B550E402D5B2}" type="datetimeFigureOut">
              <a:rPr lang="en-US" smtClean="0"/>
              <a:t>8/7/2024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D0DE1F-FAF5-4CE4-A3AD-C1E2AFE77960}" type="slidenum">
              <a:rPr lang="en-US" smtClean="0"/>
              <a:t>‹#›</a:t>
            </a:fld>
            <a:endParaRPr lang="en-US" dirty="0"/>
          </a:p>
        </p:txBody>
      </p:sp>
    </p:spTree>
    <p:extLst>
      <p:ext uri="{BB962C8B-B14F-4D97-AF65-F5344CB8AC3E}">
        <p14:creationId xmlns:p14="http://schemas.microsoft.com/office/powerpoint/2010/main" val="36083413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F98AFF-A5C9-4C10-B64C-F02C8AC8C3E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92362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FAD0DE1F-FAF5-4CE4-A3AD-C1E2AFE77960}" type="slidenum">
              <a:rPr lang="en-US" smtClean="0"/>
              <a:t>4</a:t>
            </a:fld>
            <a:endParaRPr lang="en-US" dirty="0"/>
          </a:p>
        </p:txBody>
      </p:sp>
    </p:spTree>
    <p:extLst>
      <p:ext uri="{BB962C8B-B14F-4D97-AF65-F5344CB8AC3E}">
        <p14:creationId xmlns:p14="http://schemas.microsoft.com/office/powerpoint/2010/main" val="4070385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FAD0DE1F-FAF5-4CE4-A3AD-C1E2AFE77960}" type="slidenum">
              <a:rPr lang="en-US" smtClean="0"/>
              <a:t>5</a:t>
            </a:fld>
            <a:endParaRPr lang="en-US" dirty="0"/>
          </a:p>
        </p:txBody>
      </p:sp>
    </p:spTree>
    <p:extLst>
      <p:ext uri="{BB962C8B-B14F-4D97-AF65-F5344CB8AC3E}">
        <p14:creationId xmlns:p14="http://schemas.microsoft.com/office/powerpoint/2010/main" val="37457306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43000" marR="1156970" lvl="1" indent="-342900" algn="l" defTabSz="914400" rtl="0" eaLnBrk="1" fontAlgn="auto" latinLnBrk="0" hangingPunct="1">
              <a:lnSpc>
                <a:spcPct val="100000"/>
              </a:lnSpc>
              <a:spcBef>
                <a:spcPts val="0"/>
              </a:spcBef>
              <a:buClrTx/>
              <a:buSzTx/>
              <a:buFont typeface="Arial" panose="020B0604020202020204" pitchFamily="34" charset="0"/>
              <a:buChar char="•"/>
              <a:tabLst/>
              <a:defRPr/>
            </a:pPr>
            <a:br>
              <a:rPr lang="en-US" sz="1200" dirty="0">
                <a:cs typeface="Arial" panose="020B0604020202020204" pitchFamily="34" charset="0"/>
              </a:rPr>
            </a:br>
            <a:endParaRPr lang="en-US" sz="1200" dirty="0">
              <a:cs typeface="Arial" panose="020B0604020202020204" pitchFamily="34" charset="0"/>
            </a:endParaRPr>
          </a:p>
          <a:p>
            <a:pPr marL="1143000" marR="1156970" lvl="1" indent="-342900" algn="l" defTabSz="914400" rtl="0" eaLnBrk="1" fontAlgn="auto" latinLnBrk="0" hangingPunct="1">
              <a:lnSpc>
                <a:spcPct val="100000"/>
              </a:lnSpc>
              <a:spcBef>
                <a:spcPts val="0"/>
              </a:spcBef>
              <a:buClrTx/>
              <a:buSzTx/>
              <a:buFont typeface="Arial" panose="020B0604020202020204" pitchFamily="34" charset="0"/>
              <a:buChar char="•"/>
              <a:tabLst/>
              <a:defRPr/>
            </a:pPr>
            <a:br>
              <a:rPr lang="en-US" sz="1200" dirty="0">
                <a:cs typeface="Arial" panose="020B0604020202020204" pitchFamily="34" charset="0"/>
              </a:rPr>
            </a:br>
            <a:endParaRPr lang="en-US" dirty="0"/>
          </a:p>
          <a:p>
            <a:pPr marL="1143000" marR="1156970" lvl="1" indent="-342900" algn="l" defTabSz="914400" rtl="0" eaLnBrk="1" fontAlgn="auto" latinLnBrk="0" hangingPunct="1">
              <a:lnSpc>
                <a:spcPct val="100000"/>
              </a:lnSpc>
              <a:spcBef>
                <a:spcPts val="0"/>
              </a:spcBef>
              <a:buClrTx/>
              <a:buSzTx/>
              <a:buFont typeface="Arial" panose="020B0604020202020204" pitchFamily="34" charset="0"/>
              <a:buChar char="•"/>
              <a:tabLst/>
              <a:defRPr/>
            </a:pPr>
            <a:endParaRPr lang="en-US" sz="1200" dirty="0">
              <a:cs typeface="Arial" panose="020B0604020202020204" pitchFamily="34" charset="0"/>
            </a:endParaRPr>
          </a:p>
          <a:p>
            <a:pPr marL="1143000" marR="1156970" lvl="1" indent="-342900">
              <a:buFont typeface="Arial" panose="020B0604020202020204" pitchFamily="34" charset="0"/>
              <a:buChar char="•"/>
              <a:defRPr/>
            </a:pPr>
            <a:r>
              <a:rPr lang="en-US" sz="1200" dirty="0">
                <a:cs typeface="Arial"/>
              </a:rPr>
              <a:t>Military exposure research was identified by Veterans Affairs Chief Research &amp; Development Officer of the Office of Research &amp; Development as a top cross-cutting clinical priority </a:t>
            </a:r>
            <a:endParaRPr lang="en-US" sz="1200" dirty="0">
              <a:latin typeface="Source Sans Pro"/>
              <a:ea typeface="Source Sans Pro"/>
              <a:cs typeface="Arial"/>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F98AFF-A5C9-4C10-B64C-F02C8AC8C3E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4995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A3390-9212-B34C-85F4-E1FD24A52B6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6082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0DE1F-FAF5-4CE4-A3AD-C1E2AFE77960}" type="slidenum">
              <a:rPr lang="en-US" smtClean="0"/>
              <a:t>11</a:t>
            </a:fld>
            <a:endParaRPr lang="en-US" dirty="0"/>
          </a:p>
        </p:txBody>
      </p:sp>
    </p:spTree>
    <p:extLst>
      <p:ext uri="{BB962C8B-B14F-4D97-AF65-F5344CB8AC3E}">
        <p14:creationId xmlns:p14="http://schemas.microsoft.com/office/powerpoint/2010/main" val="1297111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nSpc>
                <a:spcPct val="107000"/>
              </a:lnSpc>
              <a:spcBef>
                <a:spcPts val="0"/>
              </a:spcBef>
              <a:spcAft>
                <a:spcPts val="0"/>
              </a:spcAft>
              <a:buFont typeface="Symbol" panose="05050102010706020507" pitchFamily="18" charset="2"/>
              <a:buNone/>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F98AFF-A5C9-4C10-B64C-F02C8AC8C3E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05034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F98AFF-A5C9-4C10-B64C-F02C8AC8C3E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384947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F98AFF-A5C9-4C10-B64C-F02C8AC8C3E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32198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F98AFF-A5C9-4C10-B64C-F02C8AC8C3E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74299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F98AFF-A5C9-4C10-B64C-F02C8AC8C3E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86566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F98AFF-A5C9-4C10-B64C-F02C8AC8C3E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60949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F98AFF-A5C9-4C10-B64C-F02C8AC8C3E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36950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6.xml"/><Relationship Id="rId5" Type="http://schemas.openxmlformats.org/officeDocument/2006/relationships/image" Target="../media/image2.png"/><Relationship Id="rId4" Type="http://schemas.openxmlformats.org/officeDocument/2006/relationships/image" Target="../media/image6.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3.xml"/><Relationship Id="rId1" Type="http://schemas.openxmlformats.org/officeDocument/2006/relationships/tags" Target="../tags/tag7.xml"/><Relationship Id="rId4" Type="http://schemas.openxmlformats.org/officeDocument/2006/relationships/image" Target="../media/image6.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4.xml"/><Relationship Id="rId1" Type="http://schemas.openxmlformats.org/officeDocument/2006/relationships/tags" Target="../tags/tag9.xml"/><Relationship Id="rId5" Type="http://schemas.openxmlformats.org/officeDocument/2006/relationships/image" Target="../media/image2.png"/><Relationship Id="rId4" Type="http://schemas.openxmlformats.org/officeDocument/2006/relationships/image" Target="../media/image6.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4.xml"/><Relationship Id="rId1" Type="http://schemas.openxmlformats.org/officeDocument/2006/relationships/tags" Target="../tags/tag10.xml"/><Relationship Id="rId4" Type="http://schemas.openxmlformats.org/officeDocument/2006/relationships/image" Target="../media/image6.emf"/></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003E72">
            <a:alpha val="96000"/>
          </a:srgb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DCF8BCC-BFA1-F642-84C1-3DEA215A8FE4}"/>
              </a:ext>
              <a:ext uri="{C183D7F6-B498-43B3-948B-1728B52AA6E4}">
                <adec:decorative xmlns:adec="http://schemas.microsoft.com/office/drawing/2017/decorative" val="1"/>
              </a:ext>
            </a:extLst>
          </p:cNvPr>
          <p:cNvPicPr>
            <a:picLocks/>
          </p:cNvPicPr>
          <p:nvPr userDrawn="1"/>
        </p:nvPicPr>
        <p:blipFill>
          <a:blip r:embed="rId2" cstate="print">
            <a:extLst>
              <a:ext uri="{28A0092B-C50C-407E-A947-70E740481C1C}">
                <a14:useLocalDpi xmlns:a14="http://schemas.microsoft.com/office/drawing/2010/main"/>
              </a:ext>
            </a:extLst>
          </a:blip>
          <a:stretch>
            <a:fillRect/>
          </a:stretch>
        </p:blipFill>
        <p:spPr>
          <a:xfrm>
            <a:off x="416720" y="1408662"/>
            <a:ext cx="1850690" cy="1845013"/>
          </a:xfrm>
          <a:prstGeom prst="rect">
            <a:avLst/>
          </a:prstGeom>
        </p:spPr>
      </p:pic>
      <p:sp>
        <p:nvSpPr>
          <p:cNvPr id="2" name="Title 1"/>
          <p:cNvSpPr>
            <a:spLocks noGrp="1"/>
          </p:cNvSpPr>
          <p:nvPr>
            <p:ph type="ctrTitle" hasCustomPrompt="1"/>
          </p:nvPr>
        </p:nvSpPr>
        <p:spPr>
          <a:xfrm>
            <a:off x="2474649" y="1887450"/>
            <a:ext cx="9097758" cy="875609"/>
          </a:xfrm>
          <a:prstGeom prst="rect">
            <a:avLst/>
          </a:prstGeom>
        </p:spPr>
        <p:txBody>
          <a:bodyPr anchor="ctr">
            <a:noAutofit/>
          </a:bodyPr>
          <a:lstStyle>
            <a:lvl1pPr algn="l">
              <a:defRPr sz="6500">
                <a:solidFill>
                  <a:schemeClr val="bg1"/>
                </a:solidFill>
                <a:latin typeface="Calibri" panose="020F0502020204030204" pitchFamily="34" charset="0"/>
                <a:cs typeface="Calibri" panose="020F0502020204030204" pitchFamily="34" charset="0"/>
              </a:defRPr>
            </a:lvl1pPr>
          </a:lstStyle>
          <a:p>
            <a:r>
              <a:rPr lang="en-US"/>
              <a:t>CLICK TO EDIT TITLE</a:t>
            </a:r>
          </a:p>
        </p:txBody>
      </p:sp>
      <p:sp>
        <p:nvSpPr>
          <p:cNvPr id="3" name="Subtitle 2"/>
          <p:cNvSpPr>
            <a:spLocks noGrp="1"/>
          </p:cNvSpPr>
          <p:nvPr>
            <p:ph type="subTitle" idx="1"/>
          </p:nvPr>
        </p:nvSpPr>
        <p:spPr>
          <a:xfrm>
            <a:off x="2474649" y="2820512"/>
            <a:ext cx="8382000" cy="433163"/>
          </a:xfrm>
        </p:spPr>
        <p:txBody>
          <a:bodyPr>
            <a:noAutofit/>
          </a:bodyPr>
          <a:lstStyle>
            <a:lvl1pPr marL="0" indent="0" algn="l">
              <a:buNone/>
              <a:defRPr sz="3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11">
            <a:extLst>
              <a:ext uri="{FF2B5EF4-FFF2-40B4-BE49-F238E27FC236}">
                <a16:creationId xmlns:a16="http://schemas.microsoft.com/office/drawing/2014/main" id="{AE38B46A-E2D9-F648-8C4B-C6DF64595CDF}"/>
              </a:ext>
            </a:extLst>
          </p:cNvPr>
          <p:cNvSpPr>
            <a:spLocks noGrp="1"/>
          </p:cNvSpPr>
          <p:nvPr>
            <p:ph type="body" sz="quarter" idx="10" hasCustomPrompt="1"/>
          </p:nvPr>
        </p:nvSpPr>
        <p:spPr>
          <a:xfrm>
            <a:off x="2470258" y="3364874"/>
            <a:ext cx="8382000" cy="774700"/>
          </a:xfrm>
        </p:spPr>
        <p:txBody>
          <a:bodyPr>
            <a:normAutofit/>
          </a:bodyPr>
          <a:lstStyle>
            <a:lvl1pPr marL="0" indent="0" algn="l">
              <a:buNone/>
              <a:defRPr sz="2000">
                <a:solidFill>
                  <a:schemeClr val="bg1"/>
                </a:solidFill>
                <a:latin typeface="+mj-lt"/>
              </a:defRPr>
            </a:lvl1pPr>
          </a:lstStyle>
          <a:p>
            <a:pPr lvl="0"/>
            <a:r>
              <a:rPr lang="en-US"/>
              <a:t>Briefer: Name and Title</a:t>
            </a:r>
          </a:p>
        </p:txBody>
      </p:sp>
    </p:spTree>
    <p:extLst>
      <p:ext uri="{BB962C8B-B14F-4D97-AF65-F5344CB8AC3E}">
        <p14:creationId xmlns:p14="http://schemas.microsoft.com/office/powerpoint/2010/main" val="1333821305"/>
      </p:ext>
    </p:extLst>
  </p:cSld>
  <p:clrMapOvr>
    <a:masterClrMapping/>
  </p:clrMapOvr>
  <p:extLst>
    <p:ext uri="{DCECCB84-F9BA-43D5-87BE-67443E8EF086}">
      <p15:sldGuideLst xmlns:p15="http://schemas.microsoft.com/office/powerpoint/2012/main">
        <p15:guide id="1" orient="horz" pos="3984">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Photo">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106A736-79AC-A048-93FE-4C721D363A42}"/>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9335055" y="5983730"/>
            <a:ext cx="1942545" cy="783000"/>
          </a:xfrm>
          <a:prstGeom prst="rect">
            <a:avLst/>
          </a:prstGeom>
        </p:spPr>
      </p:pic>
      <p:sp>
        <p:nvSpPr>
          <p:cNvPr id="15" name="Title 1">
            <a:extLst>
              <a:ext uri="{FF2B5EF4-FFF2-40B4-BE49-F238E27FC236}">
                <a16:creationId xmlns:a16="http://schemas.microsoft.com/office/drawing/2014/main" id="{C911D7E5-8A3A-F64E-A06A-CAFF5987E8D9}"/>
              </a:ext>
            </a:extLst>
          </p:cNvPr>
          <p:cNvSpPr>
            <a:spLocks noGrp="1"/>
          </p:cNvSpPr>
          <p:nvPr>
            <p:ph type="ctrTitle" hasCustomPrompt="1"/>
          </p:nvPr>
        </p:nvSpPr>
        <p:spPr>
          <a:xfrm>
            <a:off x="4465891" y="2644653"/>
            <a:ext cx="7189495" cy="826238"/>
          </a:xfrm>
          <a:prstGeom prst="rect">
            <a:avLst/>
          </a:prstGeom>
        </p:spPr>
        <p:txBody>
          <a:bodyPr anchor="ctr">
            <a:noAutofit/>
          </a:bodyPr>
          <a:lstStyle>
            <a:lvl1pPr algn="l">
              <a:defRPr sz="5500">
                <a:solidFill>
                  <a:schemeClr val="bg1"/>
                </a:solidFill>
              </a:defRPr>
            </a:lvl1pPr>
          </a:lstStyle>
          <a:p>
            <a:r>
              <a:rPr lang="en-US"/>
              <a:t>Secondary Title Slide</a:t>
            </a:r>
          </a:p>
        </p:txBody>
      </p:sp>
      <p:pic>
        <p:nvPicPr>
          <p:cNvPr id="19" name="Picture 18">
            <a:extLst>
              <a:ext uri="{FF2B5EF4-FFF2-40B4-BE49-F238E27FC236}">
                <a16:creationId xmlns:a16="http://schemas.microsoft.com/office/drawing/2014/main" id="{06078D3B-F6C7-4240-AC3C-B026F3CB3B0C}"/>
              </a:ext>
              <a:ext uri="{C183D7F6-B498-43B3-948B-1728B52AA6E4}">
                <adec:decorative xmlns:adec="http://schemas.microsoft.com/office/drawing/2017/decorative" val="1"/>
              </a:ext>
            </a:extLst>
          </p:cNvPr>
          <p:cNvPicPr>
            <a:picLocks/>
          </p:cNvPicPr>
          <p:nvPr userDrawn="1"/>
        </p:nvPicPr>
        <p:blipFill>
          <a:blip r:embed="rId3" cstate="print">
            <a:extLst>
              <a:ext uri="{28A0092B-C50C-407E-A947-70E740481C1C}">
                <a14:useLocalDpi xmlns:a14="http://schemas.microsoft.com/office/drawing/2010/main"/>
              </a:ext>
            </a:extLst>
          </a:blip>
          <a:stretch>
            <a:fillRect/>
          </a:stretch>
        </p:blipFill>
        <p:spPr>
          <a:xfrm>
            <a:off x="4490875" y="1299235"/>
            <a:ext cx="1288389" cy="1284437"/>
          </a:xfrm>
          <a:prstGeom prst="rect">
            <a:avLst/>
          </a:prstGeom>
        </p:spPr>
      </p:pic>
      <p:sp>
        <p:nvSpPr>
          <p:cNvPr id="25" name="Subtitle 2">
            <a:extLst>
              <a:ext uri="{FF2B5EF4-FFF2-40B4-BE49-F238E27FC236}">
                <a16:creationId xmlns:a16="http://schemas.microsoft.com/office/drawing/2014/main" id="{A152C89E-3F7B-A649-BD19-DCA765D1A474}"/>
              </a:ext>
            </a:extLst>
          </p:cNvPr>
          <p:cNvSpPr>
            <a:spLocks noGrp="1"/>
          </p:cNvSpPr>
          <p:nvPr>
            <p:ph type="subTitle" idx="10"/>
          </p:nvPr>
        </p:nvSpPr>
        <p:spPr>
          <a:xfrm>
            <a:off x="4465891" y="3529009"/>
            <a:ext cx="7189495" cy="433163"/>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6" name="Text Placeholder 11">
            <a:extLst>
              <a:ext uri="{FF2B5EF4-FFF2-40B4-BE49-F238E27FC236}">
                <a16:creationId xmlns:a16="http://schemas.microsoft.com/office/drawing/2014/main" id="{38A4B7F9-CB13-6D4D-883C-AE5DAB64D54F}"/>
              </a:ext>
            </a:extLst>
          </p:cNvPr>
          <p:cNvSpPr>
            <a:spLocks noGrp="1"/>
          </p:cNvSpPr>
          <p:nvPr>
            <p:ph type="body" sz="quarter" idx="11" hasCustomPrompt="1"/>
          </p:nvPr>
        </p:nvSpPr>
        <p:spPr>
          <a:xfrm>
            <a:off x="4461500" y="4073371"/>
            <a:ext cx="7189495" cy="774700"/>
          </a:xfrm>
        </p:spPr>
        <p:txBody>
          <a:bodyPr>
            <a:normAutofit/>
          </a:bodyPr>
          <a:lstStyle>
            <a:lvl1pPr marL="0" indent="0" algn="l">
              <a:buNone/>
              <a:defRPr sz="2000">
                <a:solidFill>
                  <a:schemeClr val="bg1"/>
                </a:solidFill>
                <a:latin typeface="+mj-lt"/>
              </a:defRPr>
            </a:lvl1pPr>
          </a:lstStyle>
          <a:p>
            <a:pPr lvl="0"/>
            <a:r>
              <a:rPr lang="en-US"/>
              <a:t>Briefer: Name and Title</a:t>
            </a:r>
          </a:p>
        </p:txBody>
      </p:sp>
    </p:spTree>
    <p:extLst>
      <p:ext uri="{BB962C8B-B14F-4D97-AF65-F5344CB8AC3E}">
        <p14:creationId xmlns:p14="http://schemas.microsoft.com/office/powerpoint/2010/main" val="61114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542841"/>
            <a:ext cx="8665564" cy="752929"/>
          </a:xfrm>
          <a:prstGeom prst="rect">
            <a:avLst/>
          </a:prstGeom>
        </p:spPr>
        <p:txBody>
          <a:bodyPr/>
          <a:lstStyle>
            <a:lvl1pPr algn="l">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838200" y="1608667"/>
            <a:ext cx="10515600" cy="4247991"/>
          </a:xfrm>
        </p:spPr>
        <p:txBody>
          <a:bodyPr/>
          <a:lstStyle>
            <a:lvl1pPr>
              <a:lnSpc>
                <a:spcPct val="110000"/>
              </a:lnSpc>
              <a:defRPr>
                <a:solidFill>
                  <a:schemeClr val="bg1"/>
                </a:solidFill>
              </a:defRPr>
            </a:lvl1pPr>
            <a:lvl2pPr>
              <a:lnSpc>
                <a:spcPct val="110000"/>
              </a:lnSpc>
              <a:defRPr>
                <a:solidFill>
                  <a:schemeClr val="bg1"/>
                </a:solidFill>
              </a:defRPr>
            </a:lvl2pPr>
            <a:lvl3pPr>
              <a:lnSpc>
                <a:spcPct val="110000"/>
              </a:lnSpc>
              <a:defRPr>
                <a:solidFill>
                  <a:schemeClr val="bg1"/>
                </a:solidFill>
              </a:defRPr>
            </a:lvl3pPr>
            <a:lvl4pPr>
              <a:lnSpc>
                <a:spcPct val="110000"/>
              </a:lnSpc>
              <a:defRPr>
                <a:solidFill>
                  <a:schemeClr val="bg1"/>
                </a:solidFill>
              </a:defRPr>
            </a:lvl4pPr>
            <a:lvl5pPr>
              <a:lnSpc>
                <a:spcPct val="110000"/>
              </a:lnSpc>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98192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Content, and Sidebar Photo">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95C181A-A9BA-764D-9C94-AB35096B24E3}"/>
              </a:ext>
            </a:extLst>
          </p:cNvPr>
          <p:cNvPicPr>
            <a:picLocks noChangeAspect="1"/>
          </p:cNvPicPr>
          <p:nvPr userDrawn="1"/>
        </p:nvPicPr>
        <p:blipFill rotWithShape="1">
          <a:blip r:embed="rId2" cstate="print">
            <a:alphaModFix amt="7000"/>
            <a:extLst>
              <a:ext uri="{28A0092B-C50C-407E-A947-70E740481C1C}">
                <a14:useLocalDpi xmlns:a14="http://schemas.microsoft.com/office/drawing/2010/main"/>
              </a:ext>
            </a:extLst>
          </a:blip>
          <a:srcRect t="33903" b="4214"/>
          <a:stretch/>
        </p:blipFill>
        <p:spPr>
          <a:xfrm>
            <a:off x="0" y="1431561"/>
            <a:ext cx="12192000" cy="4289763"/>
          </a:xfrm>
          <a:prstGeom prst="rect">
            <a:avLst/>
          </a:prstGeom>
        </p:spPr>
      </p:pic>
      <p:sp>
        <p:nvSpPr>
          <p:cNvPr id="11" name="Picture Placeholder 2">
            <a:extLst>
              <a:ext uri="{FF2B5EF4-FFF2-40B4-BE49-F238E27FC236}">
                <a16:creationId xmlns:a16="http://schemas.microsoft.com/office/drawing/2014/main" id="{F89232B3-75B4-4844-BDA8-8CA59EC50269}"/>
              </a:ext>
            </a:extLst>
          </p:cNvPr>
          <p:cNvSpPr>
            <a:spLocks noGrp="1" noChangeAspect="1"/>
          </p:cNvSpPr>
          <p:nvPr>
            <p:ph type="pic" idx="14"/>
          </p:nvPr>
        </p:nvSpPr>
        <p:spPr>
          <a:xfrm>
            <a:off x="7342409" y="1686408"/>
            <a:ext cx="4011391" cy="3740031"/>
          </a:xfrm>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14" name="Content Placeholder 2">
            <a:extLst>
              <a:ext uri="{FF2B5EF4-FFF2-40B4-BE49-F238E27FC236}">
                <a16:creationId xmlns:a16="http://schemas.microsoft.com/office/drawing/2014/main" id="{300C3B68-8455-D448-9503-AB8AC173FFAE}"/>
              </a:ext>
            </a:extLst>
          </p:cNvPr>
          <p:cNvSpPr>
            <a:spLocks noGrp="1"/>
          </p:cNvSpPr>
          <p:nvPr>
            <p:ph idx="1"/>
          </p:nvPr>
        </p:nvSpPr>
        <p:spPr>
          <a:xfrm>
            <a:off x="838202" y="1686408"/>
            <a:ext cx="6117234" cy="3740031"/>
          </a:xfrm>
        </p:spPr>
        <p:txBody>
          <a:bodyPr/>
          <a:lstStyle>
            <a:lvl1pPr>
              <a:lnSpc>
                <a:spcPct val="110000"/>
              </a:lnSpc>
              <a:defRPr>
                <a:solidFill>
                  <a:schemeClr val="bg1"/>
                </a:solidFill>
              </a:defRPr>
            </a:lvl1pPr>
            <a:lvl2pPr>
              <a:lnSpc>
                <a:spcPct val="110000"/>
              </a:lnSpc>
              <a:defRPr>
                <a:solidFill>
                  <a:schemeClr val="bg1"/>
                </a:solidFill>
              </a:defRPr>
            </a:lvl2pPr>
            <a:lvl3pPr>
              <a:lnSpc>
                <a:spcPct val="110000"/>
              </a:lnSpc>
              <a:defRPr>
                <a:solidFill>
                  <a:schemeClr val="bg1"/>
                </a:solidFill>
              </a:defRPr>
            </a:lvl3pPr>
            <a:lvl4pPr>
              <a:lnSpc>
                <a:spcPct val="110000"/>
              </a:lnSpc>
              <a:defRPr>
                <a:solidFill>
                  <a:schemeClr val="bg1"/>
                </a:solidFill>
              </a:defRPr>
            </a:lvl4pPr>
            <a:lvl5pPr>
              <a:lnSpc>
                <a:spcPct val="110000"/>
              </a:lnSpc>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1">
            <a:extLst>
              <a:ext uri="{FF2B5EF4-FFF2-40B4-BE49-F238E27FC236}">
                <a16:creationId xmlns:a16="http://schemas.microsoft.com/office/drawing/2014/main" id="{B54B5D15-7620-8943-B1D6-C4989A375AA5}"/>
              </a:ext>
            </a:extLst>
          </p:cNvPr>
          <p:cNvSpPr>
            <a:spLocks noGrp="1"/>
          </p:cNvSpPr>
          <p:nvPr>
            <p:ph type="title" hasCustomPrompt="1"/>
          </p:nvPr>
        </p:nvSpPr>
        <p:spPr>
          <a:xfrm>
            <a:off x="838200" y="542841"/>
            <a:ext cx="8665564" cy="752929"/>
          </a:xfrm>
          <a:prstGeom prst="rect">
            <a:avLst/>
          </a:prstGeom>
        </p:spPr>
        <p:txBody>
          <a:bodyPr/>
          <a:lstStyle>
            <a:lvl1pPr algn="l">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336392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D1F8B34-1A3D-4F01-BD1F-359E17208809}"/>
              </a:ext>
            </a:extLst>
          </p:cNvPr>
          <p:cNvSpPr/>
          <p:nvPr userDrawn="1"/>
        </p:nvSpPr>
        <p:spPr>
          <a:xfrm>
            <a:off x="0" y="0"/>
            <a:ext cx="12192000" cy="59563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838200" y="542841"/>
            <a:ext cx="8665564" cy="752929"/>
          </a:xfrm>
          <a:prstGeom prst="rect">
            <a:avLst/>
          </a:prstGeom>
        </p:spPr>
        <p:txBody>
          <a:bodyPr/>
          <a:lstStyle>
            <a:lvl1pPr algn="l">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838200" y="1608667"/>
            <a:ext cx="10515600" cy="4247991"/>
          </a:xfrm>
        </p:spPr>
        <p:txBody>
          <a:bodyPr/>
          <a:lstStyle>
            <a:lvl1pPr>
              <a:lnSpc>
                <a:spcPct val="110000"/>
              </a:lnSpc>
              <a:defRPr>
                <a:solidFill>
                  <a:schemeClr val="bg1"/>
                </a:solidFill>
              </a:defRPr>
            </a:lvl1pPr>
            <a:lvl2pPr>
              <a:lnSpc>
                <a:spcPct val="110000"/>
              </a:lnSpc>
              <a:defRPr>
                <a:solidFill>
                  <a:schemeClr val="bg1"/>
                </a:solidFill>
              </a:defRPr>
            </a:lvl2pPr>
            <a:lvl3pPr>
              <a:lnSpc>
                <a:spcPct val="110000"/>
              </a:lnSpc>
              <a:defRPr>
                <a:solidFill>
                  <a:schemeClr val="bg1"/>
                </a:solidFill>
              </a:defRPr>
            </a:lvl3pPr>
            <a:lvl4pPr>
              <a:lnSpc>
                <a:spcPct val="110000"/>
              </a:lnSpc>
              <a:defRPr>
                <a:solidFill>
                  <a:schemeClr val="bg1"/>
                </a:solidFill>
              </a:defRPr>
            </a:lvl4pPr>
            <a:lvl5pPr>
              <a:lnSpc>
                <a:spcPct val="110000"/>
              </a:lnSpc>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5624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542841"/>
            <a:ext cx="8665564" cy="752929"/>
          </a:xfrm>
          <a:prstGeom prst="rect">
            <a:avLst/>
          </a:prstGeom>
        </p:spPr>
        <p:txBody>
          <a:bodyPr/>
          <a:lstStyle>
            <a:lvl1pPr algn="l">
              <a:defRPr>
                <a:solidFill>
                  <a:schemeClr val="bg1"/>
                </a:solidFill>
              </a:defRPr>
            </a:lvl1pPr>
          </a:lstStyle>
          <a:p>
            <a:r>
              <a:rPr lang="en-US"/>
              <a:t>Click to edit master title style</a:t>
            </a:r>
          </a:p>
        </p:txBody>
      </p:sp>
      <p:sp>
        <p:nvSpPr>
          <p:cNvPr id="3" name="Content Placeholder 2"/>
          <p:cNvSpPr>
            <a:spLocks noGrp="1"/>
          </p:cNvSpPr>
          <p:nvPr>
            <p:ph idx="1" hasCustomPrompt="1"/>
          </p:nvPr>
        </p:nvSpPr>
        <p:spPr>
          <a:xfrm>
            <a:off x="838200" y="1799999"/>
            <a:ext cx="5119139" cy="3499302"/>
          </a:xfrm>
        </p:spPr>
        <p:txBody>
          <a:bodyPr numCol="1"/>
          <a:lstStyle>
            <a:lvl1pPr marL="0" marR="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solidFill>
                  <a:schemeClr val="bg1"/>
                </a:solidFill>
              </a:defRPr>
            </a:lvl1pPr>
            <a:lvl2pPr>
              <a:lnSpc>
                <a:spcPct val="110000"/>
              </a:lnSpc>
              <a:defRPr/>
            </a:lvl2pPr>
            <a:lvl3pPr>
              <a:lnSpc>
                <a:spcPct val="110000"/>
              </a:lnSpc>
              <a:defRPr/>
            </a:lvl3pPr>
            <a:lvl4pPr>
              <a:lnSpc>
                <a:spcPct val="110000"/>
              </a:lnSpc>
              <a:defRPr/>
            </a:lvl4pPr>
            <a:lvl5pPr marL="1828800" indent="0">
              <a:lnSpc>
                <a:spcPct val="110000"/>
              </a:lnSpc>
              <a:buNone/>
              <a:defRPr/>
            </a:lvl5pPr>
          </a:lstStyle>
          <a:p>
            <a:pPr lvl="0"/>
            <a:r>
              <a:rPr lang="en-US"/>
              <a:t>Two Column Text</a:t>
            </a:r>
          </a:p>
        </p:txBody>
      </p:sp>
      <p:sp>
        <p:nvSpPr>
          <p:cNvPr id="5" name="Content Placeholder 2">
            <a:extLst>
              <a:ext uri="{FF2B5EF4-FFF2-40B4-BE49-F238E27FC236}">
                <a16:creationId xmlns:a16="http://schemas.microsoft.com/office/drawing/2014/main" id="{418FA6DC-767D-C246-9E72-AEBCA386F482}"/>
              </a:ext>
            </a:extLst>
          </p:cNvPr>
          <p:cNvSpPr>
            <a:spLocks noGrp="1"/>
          </p:cNvSpPr>
          <p:nvPr>
            <p:ph idx="10" hasCustomPrompt="1"/>
          </p:nvPr>
        </p:nvSpPr>
        <p:spPr>
          <a:xfrm>
            <a:off x="6153464" y="1799999"/>
            <a:ext cx="5119139" cy="3499302"/>
          </a:xfrm>
        </p:spPr>
        <p:txBody>
          <a:bodyPr numCol="1"/>
          <a:lstStyle>
            <a:lvl1pPr marL="0" marR="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solidFill>
                  <a:schemeClr val="bg1"/>
                </a:solidFill>
              </a:defRPr>
            </a:lvl1pPr>
            <a:lvl2pPr>
              <a:lnSpc>
                <a:spcPct val="110000"/>
              </a:lnSpc>
              <a:defRPr/>
            </a:lvl2pPr>
            <a:lvl3pPr>
              <a:lnSpc>
                <a:spcPct val="110000"/>
              </a:lnSpc>
              <a:defRPr/>
            </a:lvl3pPr>
            <a:lvl4pPr>
              <a:lnSpc>
                <a:spcPct val="110000"/>
              </a:lnSpc>
              <a:defRPr/>
            </a:lvl4pPr>
            <a:lvl5pPr marL="1828800" indent="0">
              <a:lnSpc>
                <a:spcPct val="110000"/>
              </a:lnSpc>
              <a:buNone/>
              <a:defRPr/>
            </a:lvl5pPr>
          </a:lstStyle>
          <a:p>
            <a:pPr lvl="0"/>
            <a:r>
              <a:rPr lang="en-US"/>
              <a:t>Two Column Text</a:t>
            </a:r>
          </a:p>
        </p:txBody>
      </p:sp>
    </p:spTree>
    <p:extLst>
      <p:ext uri="{BB962C8B-B14F-4D97-AF65-F5344CB8AC3E}">
        <p14:creationId xmlns:p14="http://schemas.microsoft.com/office/powerpoint/2010/main" val="3863184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542841"/>
            <a:ext cx="8665564" cy="752929"/>
          </a:xfrm>
          <a:prstGeom prst="rect">
            <a:avLst/>
          </a:prstGeom>
        </p:spPr>
        <p:txBody>
          <a:bodyPr/>
          <a:lstStyle>
            <a:lvl1pPr algn="l">
              <a:defRPr>
                <a:solidFill>
                  <a:schemeClr val="bg1"/>
                </a:solidFill>
              </a:defRPr>
            </a:lvl1pPr>
          </a:lstStyle>
          <a:p>
            <a:r>
              <a:rPr lang="en-US"/>
              <a:t>Click to edit master title style</a:t>
            </a:r>
          </a:p>
        </p:txBody>
      </p:sp>
      <p:sp>
        <p:nvSpPr>
          <p:cNvPr id="3" name="Content Placeholder 2"/>
          <p:cNvSpPr>
            <a:spLocks noGrp="1"/>
          </p:cNvSpPr>
          <p:nvPr>
            <p:ph idx="1" hasCustomPrompt="1"/>
          </p:nvPr>
        </p:nvSpPr>
        <p:spPr>
          <a:xfrm>
            <a:off x="838201" y="1799999"/>
            <a:ext cx="3161670" cy="3499302"/>
          </a:xfrm>
        </p:spPr>
        <p:txBody>
          <a:bodyPr numCol="1"/>
          <a:lstStyle>
            <a:lvl1pPr marL="0" marR="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solidFill>
                  <a:schemeClr val="bg1"/>
                </a:solidFill>
              </a:defRPr>
            </a:lvl1pPr>
            <a:lvl2pPr>
              <a:lnSpc>
                <a:spcPct val="110000"/>
              </a:lnSpc>
              <a:defRPr/>
            </a:lvl2pPr>
            <a:lvl3pPr>
              <a:lnSpc>
                <a:spcPct val="110000"/>
              </a:lnSpc>
              <a:defRPr/>
            </a:lvl3pPr>
            <a:lvl4pPr>
              <a:lnSpc>
                <a:spcPct val="110000"/>
              </a:lnSpc>
              <a:defRPr/>
            </a:lvl4pPr>
            <a:lvl5pPr marL="1828800" indent="0">
              <a:lnSpc>
                <a:spcPct val="110000"/>
              </a:lnSpc>
              <a:buNone/>
              <a:defRPr/>
            </a:lvl5pPr>
          </a:lstStyle>
          <a:p>
            <a:pPr lvl="0"/>
            <a:r>
              <a:rPr lang="en-US"/>
              <a:t>Three Column Text</a:t>
            </a:r>
          </a:p>
        </p:txBody>
      </p:sp>
      <p:sp>
        <p:nvSpPr>
          <p:cNvPr id="5" name="Content Placeholder 2">
            <a:extLst>
              <a:ext uri="{FF2B5EF4-FFF2-40B4-BE49-F238E27FC236}">
                <a16:creationId xmlns:a16="http://schemas.microsoft.com/office/drawing/2014/main" id="{418FA6DC-767D-C246-9E72-AEBCA386F482}"/>
              </a:ext>
            </a:extLst>
          </p:cNvPr>
          <p:cNvSpPr>
            <a:spLocks noGrp="1"/>
          </p:cNvSpPr>
          <p:nvPr>
            <p:ph idx="10" hasCustomPrompt="1"/>
          </p:nvPr>
        </p:nvSpPr>
        <p:spPr>
          <a:xfrm>
            <a:off x="4515165" y="1799999"/>
            <a:ext cx="3161670" cy="3499302"/>
          </a:xfrm>
        </p:spPr>
        <p:txBody>
          <a:bodyPr numCol="1"/>
          <a:lstStyle>
            <a:lvl1pPr marL="0" marR="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solidFill>
                  <a:schemeClr val="bg1"/>
                </a:solidFill>
              </a:defRPr>
            </a:lvl1pPr>
            <a:lvl2pPr>
              <a:lnSpc>
                <a:spcPct val="110000"/>
              </a:lnSpc>
              <a:defRPr/>
            </a:lvl2pPr>
            <a:lvl3pPr>
              <a:lnSpc>
                <a:spcPct val="110000"/>
              </a:lnSpc>
              <a:defRPr/>
            </a:lvl3pPr>
            <a:lvl4pPr>
              <a:lnSpc>
                <a:spcPct val="110000"/>
              </a:lnSpc>
              <a:defRPr/>
            </a:lvl4pPr>
            <a:lvl5pPr marL="1828800" indent="0">
              <a:lnSpc>
                <a:spcPct val="110000"/>
              </a:lnSpc>
              <a:buNone/>
              <a:defRPr/>
            </a:lvl5pPr>
          </a:lstStyle>
          <a:p>
            <a:pPr lvl="0"/>
            <a:r>
              <a:rPr lang="en-US"/>
              <a:t>Three Column Text</a:t>
            </a:r>
          </a:p>
        </p:txBody>
      </p:sp>
      <p:sp>
        <p:nvSpPr>
          <p:cNvPr id="6" name="Content Placeholder 2">
            <a:extLst>
              <a:ext uri="{FF2B5EF4-FFF2-40B4-BE49-F238E27FC236}">
                <a16:creationId xmlns:a16="http://schemas.microsoft.com/office/drawing/2014/main" id="{B41E6513-3F0C-8343-90AD-D2400055D19D}"/>
              </a:ext>
            </a:extLst>
          </p:cNvPr>
          <p:cNvSpPr>
            <a:spLocks noGrp="1"/>
          </p:cNvSpPr>
          <p:nvPr>
            <p:ph idx="11" hasCustomPrompt="1"/>
          </p:nvPr>
        </p:nvSpPr>
        <p:spPr>
          <a:xfrm>
            <a:off x="8192129" y="1799999"/>
            <a:ext cx="3161670" cy="3499302"/>
          </a:xfrm>
        </p:spPr>
        <p:txBody>
          <a:bodyPr numCol="1"/>
          <a:lstStyle>
            <a:lvl1pPr marL="0" marR="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solidFill>
                  <a:schemeClr val="bg1"/>
                </a:solidFill>
              </a:defRPr>
            </a:lvl1pPr>
            <a:lvl2pPr>
              <a:lnSpc>
                <a:spcPct val="110000"/>
              </a:lnSpc>
              <a:defRPr/>
            </a:lvl2pPr>
            <a:lvl3pPr>
              <a:lnSpc>
                <a:spcPct val="110000"/>
              </a:lnSpc>
              <a:defRPr/>
            </a:lvl3pPr>
            <a:lvl4pPr>
              <a:lnSpc>
                <a:spcPct val="110000"/>
              </a:lnSpc>
              <a:defRPr/>
            </a:lvl4pPr>
            <a:lvl5pPr marL="1828800" indent="0">
              <a:lnSpc>
                <a:spcPct val="110000"/>
              </a:lnSpc>
              <a:buNone/>
              <a:defRPr/>
            </a:lvl5pPr>
          </a:lstStyle>
          <a:p>
            <a:pPr lvl="0"/>
            <a:r>
              <a:rPr lang="en-US"/>
              <a:t>Three Column Text</a:t>
            </a:r>
          </a:p>
        </p:txBody>
      </p:sp>
    </p:spTree>
    <p:extLst>
      <p:ext uri="{BB962C8B-B14F-4D97-AF65-F5344CB8AC3E}">
        <p14:creationId xmlns:p14="http://schemas.microsoft.com/office/powerpoint/2010/main" val="2998879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5ED376-3B63-4BF5-8FE7-6E13F6B5E102}"/>
              </a:ext>
            </a:extLst>
          </p:cNvPr>
          <p:cNvSpPr/>
          <p:nvPr userDrawn="1"/>
        </p:nvSpPr>
        <p:spPr>
          <a:xfrm>
            <a:off x="4130566" y="6274676"/>
            <a:ext cx="3728544" cy="46445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itle 1">
            <a:extLst>
              <a:ext uri="{FF2B5EF4-FFF2-40B4-BE49-F238E27FC236}">
                <a16:creationId xmlns:a16="http://schemas.microsoft.com/office/drawing/2014/main" id="{E4FA9B3C-1FF1-914D-A59E-CA40875151CE}"/>
              </a:ext>
            </a:extLst>
          </p:cNvPr>
          <p:cNvSpPr>
            <a:spLocks noGrp="1"/>
          </p:cNvSpPr>
          <p:nvPr>
            <p:ph type="ctrTitle" hasCustomPrompt="1"/>
          </p:nvPr>
        </p:nvSpPr>
        <p:spPr>
          <a:xfrm>
            <a:off x="914401" y="2039304"/>
            <a:ext cx="10743200" cy="2432522"/>
          </a:xfrm>
          <a:prstGeom prst="rect">
            <a:avLst/>
          </a:prstGeom>
        </p:spPr>
        <p:txBody>
          <a:bodyPr anchor="ctr">
            <a:noAutofit/>
          </a:bodyPr>
          <a:lstStyle>
            <a:lvl1pPr algn="l">
              <a:defRPr sz="7500">
                <a:solidFill>
                  <a:schemeClr val="bg1"/>
                </a:solidFill>
              </a:defRPr>
            </a:lvl1pPr>
          </a:lstStyle>
          <a:p>
            <a:r>
              <a:rPr lang="en-US"/>
              <a:t>Divider Slide 2</a:t>
            </a:r>
          </a:p>
        </p:txBody>
      </p:sp>
    </p:spTree>
    <p:extLst>
      <p:ext uri="{BB962C8B-B14F-4D97-AF65-F5344CB8AC3E}">
        <p14:creationId xmlns:p14="http://schemas.microsoft.com/office/powerpoint/2010/main" val="29671479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ine Chart 1">
    <p:bg>
      <p:bgPr>
        <a:solidFill>
          <a:srgbClr val="FFF3CC"/>
        </a:solidFill>
        <a:effectLst/>
      </p:bgPr>
    </p:bg>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3FBD5ED0-A7AC-1E4A-805A-1A86C021CA9E}"/>
              </a:ext>
            </a:extLst>
          </p:cNvPr>
          <p:cNvCxnSpPr/>
          <p:nvPr userDrawn="1"/>
        </p:nvCxnSpPr>
        <p:spPr>
          <a:xfrm>
            <a:off x="0" y="2301240"/>
            <a:ext cx="12192000" cy="0"/>
          </a:xfrm>
          <a:prstGeom prst="line">
            <a:avLst/>
          </a:prstGeom>
          <a:ln w="698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E87624B8-2A3F-4234-B65D-84C63F7AC2A9}"/>
              </a:ext>
            </a:extLst>
          </p:cNvPr>
          <p:cNvSpPr/>
          <p:nvPr userDrawn="1"/>
        </p:nvSpPr>
        <p:spPr>
          <a:xfrm>
            <a:off x="4130566" y="6274676"/>
            <a:ext cx="3728544" cy="46445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Hexagon 3">
            <a:extLst>
              <a:ext uri="{FF2B5EF4-FFF2-40B4-BE49-F238E27FC236}">
                <a16:creationId xmlns:a16="http://schemas.microsoft.com/office/drawing/2014/main" id="{C62E5F35-D24D-1548-AC40-C09D150F2D40}"/>
              </a:ext>
            </a:extLst>
          </p:cNvPr>
          <p:cNvSpPr>
            <a:spLocks/>
          </p:cNvSpPr>
          <p:nvPr userDrawn="1"/>
        </p:nvSpPr>
        <p:spPr>
          <a:xfrm>
            <a:off x="1113017" y="1691638"/>
            <a:ext cx="1375261" cy="1188720"/>
          </a:xfrm>
          <a:prstGeom prst="hexagon">
            <a:avLst/>
          </a:prstGeom>
          <a:solidFill>
            <a:srgbClr val="003E72"/>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Hexagon 12">
            <a:extLst>
              <a:ext uri="{FF2B5EF4-FFF2-40B4-BE49-F238E27FC236}">
                <a16:creationId xmlns:a16="http://schemas.microsoft.com/office/drawing/2014/main" id="{5F4EDF85-509D-EF49-87BA-059B1A183414}"/>
              </a:ext>
            </a:extLst>
          </p:cNvPr>
          <p:cNvSpPr>
            <a:spLocks/>
          </p:cNvSpPr>
          <p:nvPr userDrawn="1"/>
        </p:nvSpPr>
        <p:spPr>
          <a:xfrm>
            <a:off x="3286725" y="1691638"/>
            <a:ext cx="1375261" cy="1188720"/>
          </a:xfrm>
          <a:prstGeom prst="hexagon">
            <a:avLst/>
          </a:prstGeom>
          <a:solidFill>
            <a:srgbClr val="0070C0"/>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Hexagon 13">
            <a:extLst>
              <a:ext uri="{FF2B5EF4-FFF2-40B4-BE49-F238E27FC236}">
                <a16:creationId xmlns:a16="http://schemas.microsoft.com/office/drawing/2014/main" id="{CCAE2731-5447-104D-A243-3FA237F3239D}"/>
              </a:ext>
            </a:extLst>
          </p:cNvPr>
          <p:cNvSpPr>
            <a:spLocks/>
          </p:cNvSpPr>
          <p:nvPr userDrawn="1"/>
        </p:nvSpPr>
        <p:spPr>
          <a:xfrm>
            <a:off x="7634141" y="1691636"/>
            <a:ext cx="1375261" cy="1188720"/>
          </a:xfrm>
          <a:prstGeom prst="hexagon">
            <a:avLst/>
          </a:prstGeom>
          <a:solidFill>
            <a:srgbClr val="B0D3EB"/>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Hexagon 14">
            <a:extLst>
              <a:ext uri="{FF2B5EF4-FFF2-40B4-BE49-F238E27FC236}">
                <a16:creationId xmlns:a16="http://schemas.microsoft.com/office/drawing/2014/main" id="{E197F718-EB2E-2B46-88FD-4CF0004C359C}"/>
              </a:ext>
            </a:extLst>
          </p:cNvPr>
          <p:cNvSpPr>
            <a:spLocks/>
          </p:cNvSpPr>
          <p:nvPr userDrawn="1"/>
        </p:nvSpPr>
        <p:spPr>
          <a:xfrm>
            <a:off x="9807850" y="1691635"/>
            <a:ext cx="1375261" cy="1188720"/>
          </a:xfrm>
          <a:prstGeom prst="hexagon">
            <a:avLst/>
          </a:prstGeom>
          <a:solidFill>
            <a:srgbClr val="666666"/>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08825400-135B-1D4A-9A53-CD11C5C5B8F9}"/>
              </a:ext>
            </a:extLst>
          </p:cNvPr>
          <p:cNvSpPr>
            <a:spLocks/>
          </p:cNvSpPr>
          <p:nvPr userDrawn="1"/>
        </p:nvSpPr>
        <p:spPr>
          <a:xfrm>
            <a:off x="5460433" y="1691637"/>
            <a:ext cx="1375261" cy="1188720"/>
          </a:xfrm>
          <a:prstGeom prst="hexagon">
            <a:avLst/>
          </a:prstGeom>
          <a:solidFill>
            <a:srgbClr val="6DABD6"/>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 Placeholder 2">
            <a:extLst>
              <a:ext uri="{FF2B5EF4-FFF2-40B4-BE49-F238E27FC236}">
                <a16:creationId xmlns:a16="http://schemas.microsoft.com/office/drawing/2014/main" id="{D6481BA6-A1B1-9442-AE32-0598A33AA38C}"/>
              </a:ext>
            </a:extLst>
          </p:cNvPr>
          <p:cNvSpPr>
            <a:spLocks noGrp="1"/>
          </p:cNvSpPr>
          <p:nvPr>
            <p:ph type="body" idx="1" hasCustomPrompt="1"/>
          </p:nvPr>
        </p:nvSpPr>
        <p:spPr>
          <a:xfrm>
            <a:off x="786315" y="3133060"/>
            <a:ext cx="1867675" cy="421194"/>
          </a:xfrm>
        </p:spPr>
        <p:txBody>
          <a:bodyPr anchor="t">
            <a:normAutofit/>
          </a:bodyPr>
          <a:lstStyle>
            <a:lvl1pPr marL="0" indent="0" algn="ctr">
              <a:buNone/>
              <a:defRPr sz="1600" b="1">
                <a:solidFill>
                  <a:srgbClr val="003E7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39" name="Content Placeholder 2">
            <a:extLst>
              <a:ext uri="{FF2B5EF4-FFF2-40B4-BE49-F238E27FC236}">
                <a16:creationId xmlns:a16="http://schemas.microsoft.com/office/drawing/2014/main" id="{D45BF9D4-0066-2543-B201-7496D2F88B01}"/>
              </a:ext>
            </a:extLst>
          </p:cNvPr>
          <p:cNvSpPr>
            <a:spLocks noGrp="1"/>
          </p:cNvSpPr>
          <p:nvPr>
            <p:ph idx="11" hasCustomPrompt="1"/>
          </p:nvPr>
        </p:nvSpPr>
        <p:spPr>
          <a:xfrm>
            <a:off x="784727" y="3637384"/>
            <a:ext cx="1867958" cy="1927800"/>
          </a:xfrm>
        </p:spPr>
        <p:txBody>
          <a:bodyPr>
            <a:normAutofit/>
          </a:bodyPr>
          <a:lstStyle>
            <a:lvl1pPr marL="228600" marR="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sz="1600">
                <a:solidFill>
                  <a:srgbClr val="003E72"/>
                </a:solidFill>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a:t>
            </a:r>
          </a:p>
          <a:p>
            <a:pPr marL="228600" marR="0" lvl="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a:pPr>
            <a:r>
              <a:rPr lang="en-US"/>
              <a:t>Edit Master text</a:t>
            </a:r>
          </a:p>
          <a:p>
            <a:pPr lvl="0"/>
            <a:endParaRPr lang="en-US"/>
          </a:p>
        </p:txBody>
      </p:sp>
      <p:sp>
        <p:nvSpPr>
          <p:cNvPr id="40" name="Text Placeholder 2">
            <a:extLst>
              <a:ext uri="{FF2B5EF4-FFF2-40B4-BE49-F238E27FC236}">
                <a16:creationId xmlns:a16="http://schemas.microsoft.com/office/drawing/2014/main" id="{8B671FC8-0E69-8A44-995B-F85D7A0B93FF}"/>
              </a:ext>
            </a:extLst>
          </p:cNvPr>
          <p:cNvSpPr>
            <a:spLocks noGrp="1"/>
          </p:cNvSpPr>
          <p:nvPr>
            <p:ph type="body" idx="12" hasCustomPrompt="1"/>
          </p:nvPr>
        </p:nvSpPr>
        <p:spPr>
          <a:xfrm>
            <a:off x="2971833" y="3149468"/>
            <a:ext cx="1867675" cy="421194"/>
          </a:xfrm>
        </p:spPr>
        <p:txBody>
          <a:bodyPr anchor="t">
            <a:normAutofit/>
          </a:bodyPr>
          <a:lstStyle>
            <a:lvl1pPr marL="0" indent="0" algn="ctr">
              <a:buNone/>
              <a:defRPr sz="1600" b="1">
                <a:solidFill>
                  <a:srgbClr val="003E7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41" name="Content Placeholder 2">
            <a:extLst>
              <a:ext uri="{FF2B5EF4-FFF2-40B4-BE49-F238E27FC236}">
                <a16:creationId xmlns:a16="http://schemas.microsoft.com/office/drawing/2014/main" id="{AE173DC9-2DA6-9B44-9A18-093E325C7DD3}"/>
              </a:ext>
            </a:extLst>
          </p:cNvPr>
          <p:cNvSpPr>
            <a:spLocks noGrp="1"/>
          </p:cNvSpPr>
          <p:nvPr>
            <p:ph idx="13" hasCustomPrompt="1"/>
          </p:nvPr>
        </p:nvSpPr>
        <p:spPr>
          <a:xfrm>
            <a:off x="2970245" y="3653792"/>
            <a:ext cx="1867958" cy="1927800"/>
          </a:xfrm>
        </p:spPr>
        <p:txBody>
          <a:bodyPr>
            <a:normAutofit/>
          </a:bodyPr>
          <a:lstStyle>
            <a:lvl1pPr marL="228600" marR="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sz="1600">
                <a:solidFill>
                  <a:srgbClr val="003E72"/>
                </a:solidFill>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a:t>
            </a:r>
          </a:p>
          <a:p>
            <a:pPr marL="228600" marR="0" lvl="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a:pPr>
            <a:r>
              <a:rPr lang="en-US"/>
              <a:t>Edit Master text</a:t>
            </a:r>
          </a:p>
          <a:p>
            <a:pPr lvl="0"/>
            <a:endParaRPr lang="en-US"/>
          </a:p>
        </p:txBody>
      </p:sp>
      <p:sp>
        <p:nvSpPr>
          <p:cNvPr id="42" name="Text Placeholder 2">
            <a:extLst>
              <a:ext uri="{FF2B5EF4-FFF2-40B4-BE49-F238E27FC236}">
                <a16:creationId xmlns:a16="http://schemas.microsoft.com/office/drawing/2014/main" id="{5834E881-EFBA-7A4A-B3B2-CD87BEDD5C2D}"/>
              </a:ext>
            </a:extLst>
          </p:cNvPr>
          <p:cNvSpPr>
            <a:spLocks noGrp="1"/>
          </p:cNvSpPr>
          <p:nvPr>
            <p:ph type="body" idx="14" hasCustomPrompt="1"/>
          </p:nvPr>
        </p:nvSpPr>
        <p:spPr>
          <a:xfrm>
            <a:off x="5131251" y="3133060"/>
            <a:ext cx="1867675" cy="421194"/>
          </a:xfrm>
        </p:spPr>
        <p:txBody>
          <a:bodyPr anchor="t">
            <a:normAutofit/>
          </a:bodyPr>
          <a:lstStyle>
            <a:lvl1pPr marL="0" indent="0" algn="ctr">
              <a:buNone/>
              <a:defRPr sz="1600" b="1">
                <a:solidFill>
                  <a:srgbClr val="003E7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43" name="Content Placeholder 2">
            <a:extLst>
              <a:ext uri="{FF2B5EF4-FFF2-40B4-BE49-F238E27FC236}">
                <a16:creationId xmlns:a16="http://schemas.microsoft.com/office/drawing/2014/main" id="{5AEB8A8F-6E37-8A4F-A35F-0606DDA7015B}"/>
              </a:ext>
            </a:extLst>
          </p:cNvPr>
          <p:cNvSpPr>
            <a:spLocks noGrp="1"/>
          </p:cNvSpPr>
          <p:nvPr>
            <p:ph idx="15" hasCustomPrompt="1"/>
          </p:nvPr>
        </p:nvSpPr>
        <p:spPr>
          <a:xfrm>
            <a:off x="5129663" y="3637384"/>
            <a:ext cx="1867958" cy="1927800"/>
          </a:xfrm>
        </p:spPr>
        <p:txBody>
          <a:bodyPr>
            <a:normAutofit/>
          </a:bodyPr>
          <a:lstStyle>
            <a:lvl1pPr marL="228600" marR="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sz="1600">
                <a:solidFill>
                  <a:srgbClr val="003E72"/>
                </a:solidFill>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a:t>
            </a:r>
          </a:p>
          <a:p>
            <a:pPr marL="228600" marR="0" lvl="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a:pPr>
            <a:r>
              <a:rPr lang="en-US"/>
              <a:t>Edit Master text</a:t>
            </a:r>
          </a:p>
          <a:p>
            <a:pPr lvl="0"/>
            <a:endParaRPr lang="en-US"/>
          </a:p>
        </p:txBody>
      </p:sp>
      <p:sp>
        <p:nvSpPr>
          <p:cNvPr id="44" name="Text Placeholder 2">
            <a:extLst>
              <a:ext uri="{FF2B5EF4-FFF2-40B4-BE49-F238E27FC236}">
                <a16:creationId xmlns:a16="http://schemas.microsoft.com/office/drawing/2014/main" id="{43F887E5-53F4-4B45-8A7F-1287C355517D}"/>
              </a:ext>
            </a:extLst>
          </p:cNvPr>
          <p:cNvSpPr>
            <a:spLocks noGrp="1"/>
          </p:cNvSpPr>
          <p:nvPr>
            <p:ph type="body" idx="16" hasCustomPrompt="1"/>
          </p:nvPr>
        </p:nvSpPr>
        <p:spPr>
          <a:xfrm>
            <a:off x="7316769" y="3149468"/>
            <a:ext cx="1867675" cy="421194"/>
          </a:xfrm>
        </p:spPr>
        <p:txBody>
          <a:bodyPr anchor="t">
            <a:normAutofit/>
          </a:bodyPr>
          <a:lstStyle>
            <a:lvl1pPr marL="0" indent="0" algn="ctr">
              <a:buNone/>
              <a:defRPr sz="1600" b="1">
                <a:solidFill>
                  <a:srgbClr val="003E7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45" name="Content Placeholder 2">
            <a:extLst>
              <a:ext uri="{FF2B5EF4-FFF2-40B4-BE49-F238E27FC236}">
                <a16:creationId xmlns:a16="http://schemas.microsoft.com/office/drawing/2014/main" id="{B30963FA-92AE-2547-B3E1-077EF0796C21}"/>
              </a:ext>
            </a:extLst>
          </p:cNvPr>
          <p:cNvSpPr>
            <a:spLocks noGrp="1"/>
          </p:cNvSpPr>
          <p:nvPr>
            <p:ph idx="17" hasCustomPrompt="1"/>
          </p:nvPr>
        </p:nvSpPr>
        <p:spPr>
          <a:xfrm>
            <a:off x="7315181" y="3653792"/>
            <a:ext cx="1867958" cy="1927800"/>
          </a:xfrm>
        </p:spPr>
        <p:txBody>
          <a:bodyPr>
            <a:normAutofit/>
          </a:bodyPr>
          <a:lstStyle>
            <a:lvl1pPr marL="228600" marR="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sz="1600">
                <a:solidFill>
                  <a:srgbClr val="003E72"/>
                </a:solidFill>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a:t>
            </a:r>
          </a:p>
          <a:p>
            <a:pPr marL="228600" marR="0" lvl="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a:pPr>
            <a:r>
              <a:rPr lang="en-US"/>
              <a:t>Edit Master text</a:t>
            </a:r>
          </a:p>
          <a:p>
            <a:pPr lvl="0"/>
            <a:endParaRPr lang="en-US"/>
          </a:p>
        </p:txBody>
      </p:sp>
      <p:sp>
        <p:nvSpPr>
          <p:cNvPr id="46" name="Text Placeholder 2">
            <a:extLst>
              <a:ext uri="{FF2B5EF4-FFF2-40B4-BE49-F238E27FC236}">
                <a16:creationId xmlns:a16="http://schemas.microsoft.com/office/drawing/2014/main" id="{F423E667-7B78-264B-B728-BF11CCDEDE5B}"/>
              </a:ext>
            </a:extLst>
          </p:cNvPr>
          <p:cNvSpPr>
            <a:spLocks noGrp="1"/>
          </p:cNvSpPr>
          <p:nvPr>
            <p:ph type="body" idx="18" hasCustomPrompt="1"/>
          </p:nvPr>
        </p:nvSpPr>
        <p:spPr>
          <a:xfrm>
            <a:off x="9538010" y="3150061"/>
            <a:ext cx="1867675" cy="421194"/>
          </a:xfrm>
        </p:spPr>
        <p:txBody>
          <a:bodyPr anchor="t">
            <a:normAutofit/>
          </a:bodyPr>
          <a:lstStyle>
            <a:lvl1pPr marL="0" indent="0" algn="ctr">
              <a:buNone/>
              <a:defRPr sz="1600" b="1">
                <a:solidFill>
                  <a:srgbClr val="003E7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47" name="Content Placeholder 2">
            <a:extLst>
              <a:ext uri="{FF2B5EF4-FFF2-40B4-BE49-F238E27FC236}">
                <a16:creationId xmlns:a16="http://schemas.microsoft.com/office/drawing/2014/main" id="{F4810DE5-5EF9-5643-BDF2-F3510AA92A66}"/>
              </a:ext>
            </a:extLst>
          </p:cNvPr>
          <p:cNvSpPr>
            <a:spLocks noGrp="1"/>
          </p:cNvSpPr>
          <p:nvPr>
            <p:ph idx="19" hasCustomPrompt="1"/>
          </p:nvPr>
        </p:nvSpPr>
        <p:spPr>
          <a:xfrm>
            <a:off x="9536422" y="3654385"/>
            <a:ext cx="1867958" cy="1927800"/>
          </a:xfrm>
        </p:spPr>
        <p:txBody>
          <a:bodyPr>
            <a:normAutofit/>
          </a:bodyPr>
          <a:lstStyle>
            <a:lvl1pPr marL="228600" marR="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sz="1600">
                <a:solidFill>
                  <a:srgbClr val="003E72"/>
                </a:solidFill>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a:t>
            </a:r>
          </a:p>
          <a:p>
            <a:pPr marL="228600" marR="0" lvl="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a:pPr>
            <a:r>
              <a:rPr lang="en-US"/>
              <a:t>Edit Master text</a:t>
            </a:r>
          </a:p>
          <a:p>
            <a:pPr lvl="0"/>
            <a:endParaRPr lang="en-US"/>
          </a:p>
        </p:txBody>
      </p:sp>
      <p:sp>
        <p:nvSpPr>
          <p:cNvPr id="48" name="Title 1">
            <a:extLst>
              <a:ext uri="{FF2B5EF4-FFF2-40B4-BE49-F238E27FC236}">
                <a16:creationId xmlns:a16="http://schemas.microsoft.com/office/drawing/2014/main" id="{34C7C329-D5D5-5A4B-BF6D-98F84A28F56B}"/>
              </a:ext>
            </a:extLst>
          </p:cNvPr>
          <p:cNvSpPr>
            <a:spLocks noGrp="1"/>
          </p:cNvSpPr>
          <p:nvPr>
            <p:ph type="title" hasCustomPrompt="1"/>
          </p:nvPr>
        </p:nvSpPr>
        <p:spPr>
          <a:xfrm>
            <a:off x="838200" y="542841"/>
            <a:ext cx="8665564" cy="752929"/>
          </a:xfrm>
          <a:prstGeom prst="rect">
            <a:avLst/>
          </a:prstGeom>
        </p:spPr>
        <p:txBody>
          <a:bodyPr/>
          <a:lstStyle>
            <a:lvl1pPr algn="l">
              <a:defRPr>
                <a:solidFill>
                  <a:srgbClr val="003E72"/>
                </a:solidFill>
              </a:defRPr>
            </a:lvl1pPr>
          </a:lstStyle>
          <a:p>
            <a:r>
              <a:rPr lang="en-US"/>
              <a:t>Click to edit master title style</a:t>
            </a:r>
          </a:p>
        </p:txBody>
      </p:sp>
    </p:spTree>
    <p:extLst>
      <p:ext uri="{BB962C8B-B14F-4D97-AF65-F5344CB8AC3E}">
        <p14:creationId xmlns:p14="http://schemas.microsoft.com/office/powerpoint/2010/main" val="2516457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nd Slid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223C36F-F942-431A-AE32-315502B0000D}"/>
              </a:ext>
            </a:extLst>
          </p:cNvPr>
          <p:cNvSpPr/>
          <p:nvPr userDrawn="1"/>
        </p:nvSpPr>
        <p:spPr>
          <a:xfrm>
            <a:off x="4130566" y="6274676"/>
            <a:ext cx="3728544" cy="46445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
            <a:extLst>
              <a:ext uri="{FF2B5EF4-FFF2-40B4-BE49-F238E27FC236}">
                <a16:creationId xmlns:a16="http://schemas.microsoft.com/office/drawing/2014/main" id="{D47E9A00-2A21-5844-8CE2-64885373E5A7}"/>
              </a:ext>
            </a:extLst>
          </p:cNvPr>
          <p:cNvSpPr>
            <a:spLocks noGrp="1"/>
          </p:cNvSpPr>
          <p:nvPr>
            <p:ph type="ctrTitle" hasCustomPrompt="1"/>
          </p:nvPr>
        </p:nvSpPr>
        <p:spPr>
          <a:xfrm>
            <a:off x="914401" y="2039304"/>
            <a:ext cx="10743200" cy="2432522"/>
          </a:xfrm>
          <a:prstGeom prst="rect">
            <a:avLst/>
          </a:prstGeom>
        </p:spPr>
        <p:txBody>
          <a:bodyPr anchor="ctr">
            <a:noAutofit/>
          </a:bodyPr>
          <a:lstStyle>
            <a:lvl1pPr algn="l">
              <a:defRPr sz="7500">
                <a:solidFill>
                  <a:schemeClr val="bg1"/>
                </a:solidFill>
              </a:defRPr>
            </a:lvl1pPr>
          </a:lstStyle>
          <a:p>
            <a:r>
              <a:rPr lang="en-US"/>
              <a:t>Thank You!</a:t>
            </a:r>
          </a:p>
        </p:txBody>
      </p:sp>
    </p:spTree>
    <p:extLst>
      <p:ext uri="{BB962C8B-B14F-4D97-AF65-F5344CB8AC3E}">
        <p14:creationId xmlns:p14="http://schemas.microsoft.com/office/powerpoint/2010/main" val="27140004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DCF8BCC-BFA1-F642-84C1-3DEA215A8FE4}"/>
              </a:ext>
              <a:ext uri="{C183D7F6-B498-43B3-948B-1728B52AA6E4}">
                <adec:decorative xmlns:adec="http://schemas.microsoft.com/office/drawing/2017/decorative" val="1"/>
              </a:ext>
            </a:extLst>
          </p:cNvPr>
          <p:cNvPicPr>
            <a:picLocks/>
          </p:cNvPicPr>
          <p:nvPr userDrawn="1"/>
        </p:nvPicPr>
        <p:blipFill>
          <a:blip r:embed="rId2" cstate="print">
            <a:extLst>
              <a:ext uri="{28A0092B-C50C-407E-A947-70E740481C1C}">
                <a14:useLocalDpi xmlns:a14="http://schemas.microsoft.com/office/drawing/2010/main"/>
              </a:ext>
            </a:extLst>
          </a:blip>
          <a:stretch>
            <a:fillRect/>
          </a:stretch>
        </p:blipFill>
        <p:spPr>
          <a:xfrm>
            <a:off x="416720" y="1408662"/>
            <a:ext cx="1850690" cy="1845013"/>
          </a:xfrm>
          <a:prstGeom prst="rect">
            <a:avLst/>
          </a:prstGeom>
        </p:spPr>
      </p:pic>
      <p:pic>
        <p:nvPicPr>
          <p:cNvPr id="8" name="Picture 2">
            <a:extLst>
              <a:ext uri="{FF2B5EF4-FFF2-40B4-BE49-F238E27FC236}">
                <a16:creationId xmlns:a16="http://schemas.microsoft.com/office/drawing/2014/main" id="{4EA5574D-B6EB-E740-8A91-12831F4C7E47}"/>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p:blipFill>
        <p:spPr bwMode="auto">
          <a:xfrm>
            <a:off x="390583" y="6104140"/>
            <a:ext cx="2014330" cy="54218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1A01BF60-2DBF-1E47-9C6F-A3D6EDF8AECF}"/>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9335055" y="5983730"/>
            <a:ext cx="1942545" cy="783000"/>
          </a:xfrm>
          <a:prstGeom prst="rect">
            <a:avLst/>
          </a:prstGeom>
        </p:spPr>
      </p:pic>
      <p:sp>
        <p:nvSpPr>
          <p:cNvPr id="2" name="Title 1"/>
          <p:cNvSpPr>
            <a:spLocks noGrp="1"/>
          </p:cNvSpPr>
          <p:nvPr>
            <p:ph type="ctrTitle" hasCustomPrompt="1"/>
          </p:nvPr>
        </p:nvSpPr>
        <p:spPr>
          <a:xfrm>
            <a:off x="2474649" y="1887450"/>
            <a:ext cx="9097758" cy="875609"/>
          </a:xfrm>
          <a:prstGeom prst="rect">
            <a:avLst/>
          </a:prstGeom>
        </p:spPr>
        <p:txBody>
          <a:bodyPr anchor="ctr">
            <a:noAutofit/>
          </a:bodyPr>
          <a:lstStyle>
            <a:lvl1pPr algn="l">
              <a:defRPr sz="6500">
                <a:solidFill>
                  <a:srgbClr val="003E72"/>
                </a:solidFill>
                <a:latin typeface="Calibri" panose="020F0502020204030204" pitchFamily="34" charset="0"/>
                <a:cs typeface="Calibri" panose="020F0502020204030204" pitchFamily="34" charset="0"/>
              </a:defRPr>
            </a:lvl1pPr>
          </a:lstStyle>
          <a:p>
            <a:r>
              <a:rPr lang="en-US"/>
              <a:t>CLICK TO EDIT TITLE</a:t>
            </a:r>
          </a:p>
        </p:txBody>
      </p:sp>
      <p:sp>
        <p:nvSpPr>
          <p:cNvPr id="3" name="Subtitle 2"/>
          <p:cNvSpPr>
            <a:spLocks noGrp="1"/>
          </p:cNvSpPr>
          <p:nvPr>
            <p:ph type="subTitle" idx="1" hasCustomPrompt="1"/>
          </p:nvPr>
        </p:nvSpPr>
        <p:spPr>
          <a:xfrm>
            <a:off x="2474649" y="2820512"/>
            <a:ext cx="8382000" cy="433163"/>
          </a:xfrm>
        </p:spPr>
        <p:txBody>
          <a:bodyPr>
            <a:noAutofit/>
          </a:bodyPr>
          <a:lstStyle>
            <a:lvl1pPr marL="0" indent="0" algn="l">
              <a:buNone/>
              <a:defRPr sz="3000">
                <a:solidFill>
                  <a:srgbClr val="0070C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sp>
        <p:nvSpPr>
          <p:cNvPr id="12" name="Text Placeholder 11">
            <a:extLst>
              <a:ext uri="{FF2B5EF4-FFF2-40B4-BE49-F238E27FC236}">
                <a16:creationId xmlns:a16="http://schemas.microsoft.com/office/drawing/2014/main" id="{AE38B46A-E2D9-F648-8C4B-C6DF64595CDF}"/>
              </a:ext>
            </a:extLst>
          </p:cNvPr>
          <p:cNvSpPr>
            <a:spLocks noGrp="1"/>
          </p:cNvSpPr>
          <p:nvPr>
            <p:ph type="body" sz="quarter" idx="10" hasCustomPrompt="1"/>
          </p:nvPr>
        </p:nvSpPr>
        <p:spPr>
          <a:xfrm>
            <a:off x="2470258" y="3364874"/>
            <a:ext cx="8382000" cy="774700"/>
          </a:xfrm>
        </p:spPr>
        <p:txBody>
          <a:bodyPr>
            <a:normAutofit/>
          </a:bodyPr>
          <a:lstStyle>
            <a:lvl1pPr marL="0" indent="0" algn="l">
              <a:buNone/>
              <a:defRPr sz="2000">
                <a:solidFill>
                  <a:srgbClr val="0070C0"/>
                </a:solidFill>
                <a:latin typeface="+mj-lt"/>
              </a:defRPr>
            </a:lvl1pPr>
          </a:lstStyle>
          <a:p>
            <a:pPr lvl="0"/>
            <a:r>
              <a:rPr lang="en-US"/>
              <a:t>Briefer: Name and Title</a:t>
            </a:r>
          </a:p>
        </p:txBody>
      </p:sp>
    </p:spTree>
    <p:extLst>
      <p:ext uri="{BB962C8B-B14F-4D97-AF65-F5344CB8AC3E}">
        <p14:creationId xmlns:p14="http://schemas.microsoft.com/office/powerpoint/2010/main" val="2537405284"/>
      </p:ext>
    </p:extLst>
  </p:cSld>
  <p:clrMapOvr>
    <a:masterClrMapping/>
  </p:clrMapOvr>
  <p:extLst>
    <p:ext uri="{DCECCB84-F9BA-43D5-87BE-67443E8EF086}">
      <p15:sldGuideLst xmlns:p15="http://schemas.microsoft.com/office/powerpoint/2012/main">
        <p15:guide id="1" orient="horz" pos="3984">
          <p15:clr>
            <a:srgbClr val="FBAE40"/>
          </p15:clr>
        </p15:guide>
        <p15:guide id="2" pos="288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with Photo">
    <p:spTree>
      <p:nvGrpSpPr>
        <p:cNvPr id="1" name=""/>
        <p:cNvGrpSpPr/>
        <p:nvPr/>
      </p:nvGrpSpPr>
      <p:grpSpPr>
        <a:xfrm>
          <a:off x="0" y="0"/>
          <a:ext cx="0" cy="0"/>
          <a:chOff x="0" y="0"/>
          <a:chExt cx="0" cy="0"/>
        </a:xfrm>
      </p:grpSpPr>
      <p:pic>
        <p:nvPicPr>
          <p:cNvPr id="13" name="Picture 2">
            <a:extLst>
              <a:ext uri="{FF2B5EF4-FFF2-40B4-BE49-F238E27FC236}">
                <a16:creationId xmlns:a16="http://schemas.microsoft.com/office/drawing/2014/main" id="{9B2F2091-4844-1342-94E2-DC2F648FF50B}"/>
              </a:ext>
            </a:extLst>
          </p:cNvPr>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p:blipFill>
        <p:spPr bwMode="auto">
          <a:xfrm>
            <a:off x="390583" y="6104140"/>
            <a:ext cx="2014330" cy="54218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2106A736-79AC-A048-93FE-4C721D363A42}"/>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9335055" y="5983730"/>
            <a:ext cx="1942545" cy="783000"/>
          </a:xfrm>
          <a:prstGeom prst="rect">
            <a:avLst/>
          </a:prstGeom>
        </p:spPr>
      </p:pic>
      <p:sp>
        <p:nvSpPr>
          <p:cNvPr id="15" name="Title 1">
            <a:extLst>
              <a:ext uri="{FF2B5EF4-FFF2-40B4-BE49-F238E27FC236}">
                <a16:creationId xmlns:a16="http://schemas.microsoft.com/office/drawing/2014/main" id="{C911D7E5-8A3A-F64E-A06A-CAFF5987E8D9}"/>
              </a:ext>
            </a:extLst>
          </p:cNvPr>
          <p:cNvSpPr>
            <a:spLocks noGrp="1"/>
          </p:cNvSpPr>
          <p:nvPr>
            <p:ph type="ctrTitle" hasCustomPrompt="1"/>
          </p:nvPr>
        </p:nvSpPr>
        <p:spPr>
          <a:xfrm>
            <a:off x="4465891" y="2644653"/>
            <a:ext cx="7189495" cy="826238"/>
          </a:xfrm>
          <a:prstGeom prst="rect">
            <a:avLst/>
          </a:prstGeom>
        </p:spPr>
        <p:txBody>
          <a:bodyPr anchor="ctr">
            <a:noAutofit/>
          </a:bodyPr>
          <a:lstStyle>
            <a:lvl1pPr algn="l">
              <a:defRPr sz="5500">
                <a:solidFill>
                  <a:srgbClr val="003E72"/>
                </a:solidFill>
              </a:defRPr>
            </a:lvl1pPr>
          </a:lstStyle>
          <a:p>
            <a:r>
              <a:rPr lang="en-US"/>
              <a:t>Secondary Title Slide</a:t>
            </a:r>
          </a:p>
        </p:txBody>
      </p:sp>
      <p:pic>
        <p:nvPicPr>
          <p:cNvPr id="19" name="Picture 18">
            <a:extLst>
              <a:ext uri="{FF2B5EF4-FFF2-40B4-BE49-F238E27FC236}">
                <a16:creationId xmlns:a16="http://schemas.microsoft.com/office/drawing/2014/main" id="{06078D3B-F6C7-4240-AC3C-B026F3CB3B0C}"/>
              </a:ext>
              <a:ext uri="{C183D7F6-B498-43B3-948B-1728B52AA6E4}">
                <adec:decorative xmlns:adec="http://schemas.microsoft.com/office/drawing/2017/decorative" val="1"/>
              </a:ext>
            </a:extLst>
          </p:cNvPr>
          <p:cNvPicPr>
            <a:picLocks/>
          </p:cNvPicPr>
          <p:nvPr userDrawn="1"/>
        </p:nvPicPr>
        <p:blipFill>
          <a:blip r:embed="rId4" cstate="print">
            <a:extLst>
              <a:ext uri="{28A0092B-C50C-407E-A947-70E740481C1C}">
                <a14:useLocalDpi xmlns:a14="http://schemas.microsoft.com/office/drawing/2010/main"/>
              </a:ext>
            </a:extLst>
          </a:blip>
          <a:stretch>
            <a:fillRect/>
          </a:stretch>
        </p:blipFill>
        <p:spPr>
          <a:xfrm>
            <a:off x="4490875" y="1299235"/>
            <a:ext cx="1288389" cy="1284437"/>
          </a:xfrm>
          <a:prstGeom prst="rect">
            <a:avLst/>
          </a:prstGeom>
        </p:spPr>
      </p:pic>
      <p:sp>
        <p:nvSpPr>
          <p:cNvPr id="25" name="Subtitle 2">
            <a:extLst>
              <a:ext uri="{FF2B5EF4-FFF2-40B4-BE49-F238E27FC236}">
                <a16:creationId xmlns:a16="http://schemas.microsoft.com/office/drawing/2014/main" id="{A152C89E-3F7B-A649-BD19-DCA765D1A474}"/>
              </a:ext>
            </a:extLst>
          </p:cNvPr>
          <p:cNvSpPr>
            <a:spLocks noGrp="1"/>
          </p:cNvSpPr>
          <p:nvPr>
            <p:ph type="subTitle" idx="10"/>
          </p:nvPr>
        </p:nvSpPr>
        <p:spPr>
          <a:xfrm>
            <a:off x="4465891" y="3529009"/>
            <a:ext cx="7189495" cy="433163"/>
          </a:xfrm>
        </p:spPr>
        <p:txBody>
          <a:bodyPr/>
          <a:lstStyle>
            <a:lvl1pPr marL="0" indent="0" algn="l">
              <a:buNone/>
              <a:defRPr sz="2400">
                <a:solidFill>
                  <a:srgbClr val="0070C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6" name="Text Placeholder 11">
            <a:extLst>
              <a:ext uri="{FF2B5EF4-FFF2-40B4-BE49-F238E27FC236}">
                <a16:creationId xmlns:a16="http://schemas.microsoft.com/office/drawing/2014/main" id="{38A4B7F9-CB13-6D4D-883C-AE5DAB64D54F}"/>
              </a:ext>
            </a:extLst>
          </p:cNvPr>
          <p:cNvSpPr>
            <a:spLocks noGrp="1"/>
          </p:cNvSpPr>
          <p:nvPr>
            <p:ph type="body" sz="quarter" idx="11" hasCustomPrompt="1"/>
          </p:nvPr>
        </p:nvSpPr>
        <p:spPr>
          <a:xfrm>
            <a:off x="4461500" y="4073371"/>
            <a:ext cx="7189495" cy="774700"/>
          </a:xfrm>
        </p:spPr>
        <p:txBody>
          <a:bodyPr>
            <a:normAutofit/>
          </a:bodyPr>
          <a:lstStyle>
            <a:lvl1pPr marL="0" indent="0" algn="l">
              <a:buNone/>
              <a:defRPr sz="2000">
                <a:solidFill>
                  <a:srgbClr val="0070C0"/>
                </a:solidFill>
                <a:latin typeface="+mj-lt"/>
              </a:defRPr>
            </a:lvl1pPr>
          </a:lstStyle>
          <a:p>
            <a:pPr lvl="0"/>
            <a:r>
              <a:rPr lang="en-US"/>
              <a:t>Briefer: Name and Title</a:t>
            </a:r>
          </a:p>
        </p:txBody>
      </p:sp>
    </p:spTree>
    <p:extLst>
      <p:ext uri="{BB962C8B-B14F-4D97-AF65-F5344CB8AC3E}">
        <p14:creationId xmlns:p14="http://schemas.microsoft.com/office/powerpoint/2010/main" val="26525534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542841"/>
            <a:ext cx="8665564" cy="752929"/>
          </a:xfrm>
          <a:prstGeom prst="rect">
            <a:avLst/>
          </a:prstGeom>
        </p:spPr>
        <p:txBody>
          <a:bodyPr/>
          <a:lstStyle>
            <a:lvl1pPr algn="l">
              <a:defRPr>
                <a:solidFill>
                  <a:srgbClr val="003E72"/>
                </a:solidFill>
              </a:defRPr>
            </a:lvl1pPr>
          </a:lstStyle>
          <a:p>
            <a:r>
              <a:rPr lang="en-US"/>
              <a:t>Click to edit master title style</a:t>
            </a:r>
          </a:p>
        </p:txBody>
      </p:sp>
      <p:sp>
        <p:nvSpPr>
          <p:cNvPr id="3" name="Content Placeholder 2"/>
          <p:cNvSpPr>
            <a:spLocks noGrp="1"/>
          </p:cNvSpPr>
          <p:nvPr>
            <p:ph idx="1"/>
          </p:nvPr>
        </p:nvSpPr>
        <p:spPr>
          <a:xfrm>
            <a:off x="838200" y="1608667"/>
            <a:ext cx="10515600" cy="4247991"/>
          </a:xfrm>
        </p:spPr>
        <p:txBody>
          <a:bodyPr/>
          <a:lstStyle>
            <a:lvl1pPr>
              <a:lnSpc>
                <a:spcPct val="110000"/>
              </a:lnSpc>
              <a:defRPr>
                <a:solidFill>
                  <a:srgbClr val="003E72"/>
                </a:solidFill>
              </a:defRPr>
            </a:lvl1pPr>
            <a:lvl2pPr>
              <a:lnSpc>
                <a:spcPct val="110000"/>
              </a:lnSpc>
              <a:defRPr>
                <a:solidFill>
                  <a:srgbClr val="003E72"/>
                </a:solidFill>
              </a:defRPr>
            </a:lvl2pPr>
            <a:lvl3pPr>
              <a:lnSpc>
                <a:spcPct val="110000"/>
              </a:lnSpc>
              <a:defRPr>
                <a:solidFill>
                  <a:srgbClr val="003E72"/>
                </a:solidFill>
              </a:defRPr>
            </a:lvl3pPr>
            <a:lvl4pPr>
              <a:lnSpc>
                <a:spcPct val="110000"/>
              </a:lnSpc>
              <a:defRPr>
                <a:solidFill>
                  <a:srgbClr val="003E72"/>
                </a:solidFill>
              </a:defRPr>
            </a:lvl4pPr>
            <a:lvl5pPr>
              <a:lnSpc>
                <a:spcPct val="110000"/>
              </a:lnSpc>
              <a:defRPr>
                <a:solidFill>
                  <a:srgbClr val="003E7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64857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and Sidebar Photo">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95C181A-A9BA-764D-9C94-AB35096B24E3}"/>
              </a:ext>
            </a:extLst>
          </p:cNvPr>
          <p:cNvPicPr>
            <a:picLocks noChangeAspect="1"/>
          </p:cNvPicPr>
          <p:nvPr userDrawn="1"/>
        </p:nvPicPr>
        <p:blipFill rotWithShape="1">
          <a:blip r:embed="rId2" cstate="print">
            <a:alphaModFix amt="7000"/>
            <a:extLst>
              <a:ext uri="{28A0092B-C50C-407E-A947-70E740481C1C}">
                <a14:useLocalDpi xmlns:a14="http://schemas.microsoft.com/office/drawing/2010/main"/>
              </a:ext>
            </a:extLst>
          </a:blip>
          <a:srcRect t="33903" b="4214"/>
          <a:stretch/>
        </p:blipFill>
        <p:spPr>
          <a:xfrm>
            <a:off x="0" y="1431561"/>
            <a:ext cx="12192000" cy="4289763"/>
          </a:xfrm>
          <a:prstGeom prst="rect">
            <a:avLst/>
          </a:prstGeom>
        </p:spPr>
      </p:pic>
      <p:sp>
        <p:nvSpPr>
          <p:cNvPr id="11" name="Picture Placeholder 2">
            <a:extLst>
              <a:ext uri="{FF2B5EF4-FFF2-40B4-BE49-F238E27FC236}">
                <a16:creationId xmlns:a16="http://schemas.microsoft.com/office/drawing/2014/main" id="{F89232B3-75B4-4844-BDA8-8CA59EC50269}"/>
              </a:ext>
            </a:extLst>
          </p:cNvPr>
          <p:cNvSpPr>
            <a:spLocks noGrp="1" noChangeAspect="1"/>
          </p:cNvSpPr>
          <p:nvPr>
            <p:ph type="pic" idx="14"/>
          </p:nvPr>
        </p:nvSpPr>
        <p:spPr>
          <a:xfrm>
            <a:off x="7342409" y="1686408"/>
            <a:ext cx="4011391" cy="3740031"/>
          </a:xfrm>
        </p:spPr>
        <p:txBody>
          <a:bodyPr anchor="t"/>
          <a:lstStyle>
            <a:lvl1pPr marL="0" indent="0">
              <a:buNone/>
              <a:defRPr sz="3200">
                <a:solidFill>
                  <a:srgbClr val="003E7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14" name="Content Placeholder 2">
            <a:extLst>
              <a:ext uri="{FF2B5EF4-FFF2-40B4-BE49-F238E27FC236}">
                <a16:creationId xmlns:a16="http://schemas.microsoft.com/office/drawing/2014/main" id="{300C3B68-8455-D448-9503-AB8AC173FFAE}"/>
              </a:ext>
            </a:extLst>
          </p:cNvPr>
          <p:cNvSpPr>
            <a:spLocks noGrp="1"/>
          </p:cNvSpPr>
          <p:nvPr>
            <p:ph idx="1"/>
          </p:nvPr>
        </p:nvSpPr>
        <p:spPr>
          <a:xfrm>
            <a:off x="838202" y="1686408"/>
            <a:ext cx="6117234" cy="3740031"/>
          </a:xfrm>
        </p:spPr>
        <p:txBody>
          <a:bodyPr/>
          <a:lstStyle>
            <a:lvl1pPr>
              <a:lnSpc>
                <a:spcPct val="110000"/>
              </a:lnSpc>
              <a:defRPr>
                <a:solidFill>
                  <a:srgbClr val="003E72"/>
                </a:solidFill>
              </a:defRPr>
            </a:lvl1pPr>
            <a:lvl2pPr>
              <a:lnSpc>
                <a:spcPct val="110000"/>
              </a:lnSpc>
              <a:defRPr>
                <a:solidFill>
                  <a:srgbClr val="003E72"/>
                </a:solidFill>
              </a:defRPr>
            </a:lvl2pPr>
            <a:lvl3pPr>
              <a:lnSpc>
                <a:spcPct val="110000"/>
              </a:lnSpc>
              <a:defRPr>
                <a:solidFill>
                  <a:srgbClr val="003E72"/>
                </a:solidFill>
              </a:defRPr>
            </a:lvl3pPr>
            <a:lvl4pPr>
              <a:lnSpc>
                <a:spcPct val="110000"/>
              </a:lnSpc>
              <a:defRPr>
                <a:solidFill>
                  <a:srgbClr val="003E72"/>
                </a:solidFill>
              </a:defRPr>
            </a:lvl4pPr>
            <a:lvl5pPr>
              <a:lnSpc>
                <a:spcPct val="110000"/>
              </a:lnSpc>
              <a:defRPr>
                <a:solidFill>
                  <a:srgbClr val="003E7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1">
            <a:extLst>
              <a:ext uri="{FF2B5EF4-FFF2-40B4-BE49-F238E27FC236}">
                <a16:creationId xmlns:a16="http://schemas.microsoft.com/office/drawing/2014/main" id="{B54B5D15-7620-8943-B1D6-C4989A375AA5}"/>
              </a:ext>
            </a:extLst>
          </p:cNvPr>
          <p:cNvSpPr>
            <a:spLocks noGrp="1"/>
          </p:cNvSpPr>
          <p:nvPr>
            <p:ph type="title" hasCustomPrompt="1"/>
          </p:nvPr>
        </p:nvSpPr>
        <p:spPr>
          <a:xfrm>
            <a:off x="838200" y="542841"/>
            <a:ext cx="8665564" cy="752929"/>
          </a:xfrm>
          <a:prstGeom prst="rect">
            <a:avLst/>
          </a:prstGeom>
        </p:spPr>
        <p:txBody>
          <a:bodyPr/>
          <a:lstStyle>
            <a:lvl1pPr algn="l">
              <a:defRPr>
                <a:solidFill>
                  <a:srgbClr val="003E72"/>
                </a:solidFill>
              </a:defRPr>
            </a:lvl1pPr>
          </a:lstStyle>
          <a:p>
            <a:r>
              <a:rPr lang="en-US"/>
              <a:t>Click to edit master title style</a:t>
            </a:r>
          </a:p>
        </p:txBody>
      </p:sp>
    </p:spTree>
    <p:extLst>
      <p:ext uri="{BB962C8B-B14F-4D97-AF65-F5344CB8AC3E}">
        <p14:creationId xmlns:p14="http://schemas.microsoft.com/office/powerpoint/2010/main" val="24746300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542841"/>
            <a:ext cx="8665564" cy="752929"/>
          </a:xfrm>
          <a:prstGeom prst="rect">
            <a:avLst/>
          </a:prstGeom>
        </p:spPr>
        <p:txBody>
          <a:bodyPr/>
          <a:lstStyle>
            <a:lvl1pPr algn="l">
              <a:defRPr>
                <a:solidFill>
                  <a:srgbClr val="003E72"/>
                </a:solidFill>
              </a:defRPr>
            </a:lvl1pPr>
          </a:lstStyle>
          <a:p>
            <a:r>
              <a:rPr lang="en-US"/>
              <a:t>Click to edit master title style</a:t>
            </a:r>
          </a:p>
        </p:txBody>
      </p:sp>
      <p:sp>
        <p:nvSpPr>
          <p:cNvPr id="3" name="Content Placeholder 2"/>
          <p:cNvSpPr>
            <a:spLocks noGrp="1"/>
          </p:cNvSpPr>
          <p:nvPr>
            <p:ph idx="1" hasCustomPrompt="1"/>
          </p:nvPr>
        </p:nvSpPr>
        <p:spPr>
          <a:xfrm>
            <a:off x="838200" y="1799999"/>
            <a:ext cx="5119139" cy="3499302"/>
          </a:xfrm>
        </p:spPr>
        <p:txBody>
          <a:bodyPr numCol="1"/>
          <a:lstStyle>
            <a:lvl1pPr marL="0" marR="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solidFill>
                  <a:srgbClr val="003E72"/>
                </a:solidFill>
              </a:defRPr>
            </a:lvl1pPr>
            <a:lvl2pPr>
              <a:lnSpc>
                <a:spcPct val="110000"/>
              </a:lnSpc>
              <a:defRPr/>
            </a:lvl2pPr>
            <a:lvl3pPr>
              <a:lnSpc>
                <a:spcPct val="110000"/>
              </a:lnSpc>
              <a:defRPr/>
            </a:lvl3pPr>
            <a:lvl4pPr>
              <a:lnSpc>
                <a:spcPct val="110000"/>
              </a:lnSpc>
              <a:defRPr/>
            </a:lvl4pPr>
            <a:lvl5pPr marL="1828800" indent="0">
              <a:lnSpc>
                <a:spcPct val="110000"/>
              </a:lnSpc>
              <a:buNone/>
              <a:defRPr/>
            </a:lvl5pPr>
          </a:lstStyle>
          <a:p>
            <a:pPr lvl="0"/>
            <a:r>
              <a:rPr lang="en-US"/>
              <a:t>Two Column Text</a:t>
            </a:r>
          </a:p>
        </p:txBody>
      </p:sp>
      <p:sp>
        <p:nvSpPr>
          <p:cNvPr id="5" name="Content Placeholder 2">
            <a:extLst>
              <a:ext uri="{FF2B5EF4-FFF2-40B4-BE49-F238E27FC236}">
                <a16:creationId xmlns:a16="http://schemas.microsoft.com/office/drawing/2014/main" id="{418FA6DC-767D-C246-9E72-AEBCA386F482}"/>
              </a:ext>
            </a:extLst>
          </p:cNvPr>
          <p:cNvSpPr>
            <a:spLocks noGrp="1"/>
          </p:cNvSpPr>
          <p:nvPr>
            <p:ph idx="10" hasCustomPrompt="1"/>
          </p:nvPr>
        </p:nvSpPr>
        <p:spPr>
          <a:xfrm>
            <a:off x="6153464" y="1799999"/>
            <a:ext cx="5119139" cy="3499302"/>
          </a:xfrm>
        </p:spPr>
        <p:txBody>
          <a:bodyPr numCol="1"/>
          <a:lstStyle>
            <a:lvl1pPr marL="0" marR="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solidFill>
                  <a:srgbClr val="003E72"/>
                </a:solidFill>
              </a:defRPr>
            </a:lvl1pPr>
            <a:lvl2pPr>
              <a:lnSpc>
                <a:spcPct val="110000"/>
              </a:lnSpc>
              <a:defRPr/>
            </a:lvl2pPr>
            <a:lvl3pPr>
              <a:lnSpc>
                <a:spcPct val="110000"/>
              </a:lnSpc>
              <a:defRPr/>
            </a:lvl3pPr>
            <a:lvl4pPr>
              <a:lnSpc>
                <a:spcPct val="110000"/>
              </a:lnSpc>
              <a:defRPr/>
            </a:lvl4pPr>
            <a:lvl5pPr marL="1828800" indent="0">
              <a:lnSpc>
                <a:spcPct val="110000"/>
              </a:lnSpc>
              <a:buNone/>
              <a:defRPr/>
            </a:lvl5pPr>
          </a:lstStyle>
          <a:p>
            <a:pPr lvl="0"/>
            <a:r>
              <a:rPr lang="en-US"/>
              <a:t>Two Column Text</a:t>
            </a:r>
          </a:p>
        </p:txBody>
      </p:sp>
    </p:spTree>
    <p:extLst>
      <p:ext uri="{BB962C8B-B14F-4D97-AF65-F5344CB8AC3E}">
        <p14:creationId xmlns:p14="http://schemas.microsoft.com/office/powerpoint/2010/main" val="12098331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Column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542841"/>
            <a:ext cx="8665564" cy="752929"/>
          </a:xfrm>
          <a:prstGeom prst="rect">
            <a:avLst/>
          </a:prstGeom>
        </p:spPr>
        <p:txBody>
          <a:bodyPr/>
          <a:lstStyle>
            <a:lvl1pPr algn="l">
              <a:defRPr>
                <a:solidFill>
                  <a:srgbClr val="003E72"/>
                </a:solidFill>
              </a:defRPr>
            </a:lvl1pPr>
          </a:lstStyle>
          <a:p>
            <a:r>
              <a:rPr lang="en-US"/>
              <a:t>Click to edit master title style</a:t>
            </a:r>
          </a:p>
        </p:txBody>
      </p:sp>
      <p:sp>
        <p:nvSpPr>
          <p:cNvPr id="3" name="Content Placeholder 2"/>
          <p:cNvSpPr>
            <a:spLocks noGrp="1"/>
          </p:cNvSpPr>
          <p:nvPr>
            <p:ph idx="1" hasCustomPrompt="1"/>
          </p:nvPr>
        </p:nvSpPr>
        <p:spPr>
          <a:xfrm>
            <a:off x="838201" y="1799999"/>
            <a:ext cx="3161670" cy="3499302"/>
          </a:xfrm>
        </p:spPr>
        <p:txBody>
          <a:bodyPr numCol="1"/>
          <a:lstStyle>
            <a:lvl1pPr marL="0" marR="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solidFill>
                  <a:srgbClr val="003E72"/>
                </a:solidFill>
              </a:defRPr>
            </a:lvl1pPr>
            <a:lvl2pPr>
              <a:lnSpc>
                <a:spcPct val="110000"/>
              </a:lnSpc>
              <a:defRPr/>
            </a:lvl2pPr>
            <a:lvl3pPr>
              <a:lnSpc>
                <a:spcPct val="110000"/>
              </a:lnSpc>
              <a:defRPr/>
            </a:lvl3pPr>
            <a:lvl4pPr>
              <a:lnSpc>
                <a:spcPct val="110000"/>
              </a:lnSpc>
              <a:defRPr/>
            </a:lvl4pPr>
            <a:lvl5pPr marL="1828800" indent="0">
              <a:lnSpc>
                <a:spcPct val="110000"/>
              </a:lnSpc>
              <a:buNone/>
              <a:defRPr/>
            </a:lvl5pPr>
          </a:lstStyle>
          <a:p>
            <a:pPr lvl="0"/>
            <a:r>
              <a:rPr lang="en-US"/>
              <a:t>Three Column Text</a:t>
            </a:r>
          </a:p>
        </p:txBody>
      </p:sp>
      <p:sp>
        <p:nvSpPr>
          <p:cNvPr id="5" name="Content Placeholder 2">
            <a:extLst>
              <a:ext uri="{FF2B5EF4-FFF2-40B4-BE49-F238E27FC236}">
                <a16:creationId xmlns:a16="http://schemas.microsoft.com/office/drawing/2014/main" id="{418FA6DC-767D-C246-9E72-AEBCA386F482}"/>
              </a:ext>
            </a:extLst>
          </p:cNvPr>
          <p:cNvSpPr>
            <a:spLocks noGrp="1"/>
          </p:cNvSpPr>
          <p:nvPr>
            <p:ph idx="10" hasCustomPrompt="1"/>
          </p:nvPr>
        </p:nvSpPr>
        <p:spPr>
          <a:xfrm>
            <a:off x="4515165" y="1799999"/>
            <a:ext cx="3161670" cy="3499302"/>
          </a:xfrm>
        </p:spPr>
        <p:txBody>
          <a:bodyPr numCol="1"/>
          <a:lstStyle>
            <a:lvl1pPr marL="0" marR="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solidFill>
                  <a:srgbClr val="003E72"/>
                </a:solidFill>
              </a:defRPr>
            </a:lvl1pPr>
            <a:lvl2pPr>
              <a:lnSpc>
                <a:spcPct val="110000"/>
              </a:lnSpc>
              <a:defRPr/>
            </a:lvl2pPr>
            <a:lvl3pPr>
              <a:lnSpc>
                <a:spcPct val="110000"/>
              </a:lnSpc>
              <a:defRPr/>
            </a:lvl3pPr>
            <a:lvl4pPr>
              <a:lnSpc>
                <a:spcPct val="110000"/>
              </a:lnSpc>
              <a:defRPr/>
            </a:lvl4pPr>
            <a:lvl5pPr marL="1828800" indent="0">
              <a:lnSpc>
                <a:spcPct val="110000"/>
              </a:lnSpc>
              <a:buNone/>
              <a:defRPr/>
            </a:lvl5pPr>
          </a:lstStyle>
          <a:p>
            <a:pPr lvl="0"/>
            <a:r>
              <a:rPr lang="en-US"/>
              <a:t>Three Column Text</a:t>
            </a:r>
          </a:p>
        </p:txBody>
      </p:sp>
      <p:sp>
        <p:nvSpPr>
          <p:cNvPr id="6" name="Content Placeholder 2">
            <a:extLst>
              <a:ext uri="{FF2B5EF4-FFF2-40B4-BE49-F238E27FC236}">
                <a16:creationId xmlns:a16="http://schemas.microsoft.com/office/drawing/2014/main" id="{B41E6513-3F0C-8343-90AD-D2400055D19D}"/>
              </a:ext>
            </a:extLst>
          </p:cNvPr>
          <p:cNvSpPr>
            <a:spLocks noGrp="1"/>
          </p:cNvSpPr>
          <p:nvPr>
            <p:ph idx="11" hasCustomPrompt="1"/>
          </p:nvPr>
        </p:nvSpPr>
        <p:spPr>
          <a:xfrm>
            <a:off x="8192129" y="1799999"/>
            <a:ext cx="3161670" cy="3499302"/>
          </a:xfrm>
        </p:spPr>
        <p:txBody>
          <a:bodyPr numCol="1"/>
          <a:lstStyle>
            <a:lvl1pPr marL="0" marR="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solidFill>
                  <a:srgbClr val="003E72"/>
                </a:solidFill>
              </a:defRPr>
            </a:lvl1pPr>
            <a:lvl2pPr>
              <a:lnSpc>
                <a:spcPct val="110000"/>
              </a:lnSpc>
              <a:defRPr/>
            </a:lvl2pPr>
            <a:lvl3pPr>
              <a:lnSpc>
                <a:spcPct val="110000"/>
              </a:lnSpc>
              <a:defRPr/>
            </a:lvl3pPr>
            <a:lvl4pPr>
              <a:lnSpc>
                <a:spcPct val="110000"/>
              </a:lnSpc>
              <a:defRPr/>
            </a:lvl4pPr>
            <a:lvl5pPr marL="1828800" indent="0">
              <a:lnSpc>
                <a:spcPct val="110000"/>
              </a:lnSpc>
              <a:buNone/>
              <a:defRPr/>
            </a:lvl5pPr>
          </a:lstStyle>
          <a:p>
            <a:pPr lvl="0"/>
            <a:r>
              <a:rPr lang="en-US"/>
              <a:t>Three Column Text</a:t>
            </a:r>
          </a:p>
        </p:txBody>
      </p:sp>
    </p:spTree>
    <p:extLst>
      <p:ext uri="{BB962C8B-B14F-4D97-AF65-F5344CB8AC3E}">
        <p14:creationId xmlns:p14="http://schemas.microsoft.com/office/powerpoint/2010/main" val="15983930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5ED376-3B63-4BF5-8FE7-6E13F6B5E102}"/>
              </a:ext>
            </a:extLst>
          </p:cNvPr>
          <p:cNvSpPr/>
          <p:nvPr userDrawn="1"/>
        </p:nvSpPr>
        <p:spPr>
          <a:xfrm>
            <a:off x="4130566" y="6274676"/>
            <a:ext cx="3728544" cy="46445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itle 1">
            <a:extLst>
              <a:ext uri="{FF2B5EF4-FFF2-40B4-BE49-F238E27FC236}">
                <a16:creationId xmlns:a16="http://schemas.microsoft.com/office/drawing/2014/main" id="{E4FA9B3C-1FF1-914D-A59E-CA40875151CE}"/>
              </a:ext>
            </a:extLst>
          </p:cNvPr>
          <p:cNvSpPr>
            <a:spLocks noGrp="1"/>
          </p:cNvSpPr>
          <p:nvPr>
            <p:ph type="ctrTitle" hasCustomPrompt="1"/>
          </p:nvPr>
        </p:nvSpPr>
        <p:spPr>
          <a:xfrm>
            <a:off x="914401" y="2039304"/>
            <a:ext cx="10743200" cy="2432522"/>
          </a:xfrm>
          <a:prstGeom prst="rect">
            <a:avLst/>
          </a:prstGeom>
        </p:spPr>
        <p:txBody>
          <a:bodyPr anchor="ctr">
            <a:noAutofit/>
          </a:bodyPr>
          <a:lstStyle>
            <a:lvl1pPr algn="l">
              <a:defRPr sz="7500">
                <a:solidFill>
                  <a:srgbClr val="003E72"/>
                </a:solidFill>
              </a:defRPr>
            </a:lvl1pPr>
          </a:lstStyle>
          <a:p>
            <a:r>
              <a:rPr lang="en-US"/>
              <a:t>Divider Slide 2</a:t>
            </a:r>
          </a:p>
        </p:txBody>
      </p:sp>
    </p:spTree>
    <p:extLst>
      <p:ext uri="{BB962C8B-B14F-4D97-AF65-F5344CB8AC3E}">
        <p14:creationId xmlns:p14="http://schemas.microsoft.com/office/powerpoint/2010/main" val="1447283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ine Chart 1">
    <p:bg>
      <p:bgPr>
        <a:solidFill>
          <a:srgbClr val="F4F1F2"/>
        </a:solidFill>
        <a:effectLst/>
      </p:bgPr>
    </p:bg>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3FBD5ED0-A7AC-1E4A-805A-1A86C021CA9E}"/>
              </a:ext>
            </a:extLst>
          </p:cNvPr>
          <p:cNvCxnSpPr/>
          <p:nvPr userDrawn="1"/>
        </p:nvCxnSpPr>
        <p:spPr>
          <a:xfrm>
            <a:off x="0" y="2301240"/>
            <a:ext cx="12192000" cy="0"/>
          </a:xfrm>
          <a:prstGeom prst="line">
            <a:avLst/>
          </a:prstGeom>
          <a:ln w="698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E87624B8-2A3F-4234-B65D-84C63F7AC2A9}"/>
              </a:ext>
            </a:extLst>
          </p:cNvPr>
          <p:cNvSpPr/>
          <p:nvPr userDrawn="1"/>
        </p:nvSpPr>
        <p:spPr>
          <a:xfrm>
            <a:off x="4130566" y="6274676"/>
            <a:ext cx="3728544" cy="46445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Hexagon 3">
            <a:extLst>
              <a:ext uri="{FF2B5EF4-FFF2-40B4-BE49-F238E27FC236}">
                <a16:creationId xmlns:a16="http://schemas.microsoft.com/office/drawing/2014/main" id="{C62E5F35-D24D-1548-AC40-C09D150F2D40}"/>
              </a:ext>
            </a:extLst>
          </p:cNvPr>
          <p:cNvSpPr>
            <a:spLocks/>
          </p:cNvSpPr>
          <p:nvPr userDrawn="1"/>
        </p:nvSpPr>
        <p:spPr>
          <a:xfrm>
            <a:off x="1113017" y="1691638"/>
            <a:ext cx="1375261" cy="1188720"/>
          </a:xfrm>
          <a:prstGeom prst="hexagon">
            <a:avLst/>
          </a:prstGeom>
          <a:solidFill>
            <a:srgbClr val="003E72"/>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Hexagon 12">
            <a:extLst>
              <a:ext uri="{FF2B5EF4-FFF2-40B4-BE49-F238E27FC236}">
                <a16:creationId xmlns:a16="http://schemas.microsoft.com/office/drawing/2014/main" id="{5F4EDF85-509D-EF49-87BA-059B1A183414}"/>
              </a:ext>
            </a:extLst>
          </p:cNvPr>
          <p:cNvSpPr>
            <a:spLocks/>
          </p:cNvSpPr>
          <p:nvPr userDrawn="1"/>
        </p:nvSpPr>
        <p:spPr>
          <a:xfrm>
            <a:off x="3286725" y="1691638"/>
            <a:ext cx="1375261" cy="1188720"/>
          </a:xfrm>
          <a:prstGeom prst="hexagon">
            <a:avLst/>
          </a:prstGeom>
          <a:solidFill>
            <a:srgbClr val="0070C0"/>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Hexagon 13">
            <a:extLst>
              <a:ext uri="{FF2B5EF4-FFF2-40B4-BE49-F238E27FC236}">
                <a16:creationId xmlns:a16="http://schemas.microsoft.com/office/drawing/2014/main" id="{CCAE2731-5447-104D-A243-3FA237F3239D}"/>
              </a:ext>
            </a:extLst>
          </p:cNvPr>
          <p:cNvSpPr>
            <a:spLocks/>
          </p:cNvSpPr>
          <p:nvPr userDrawn="1"/>
        </p:nvSpPr>
        <p:spPr>
          <a:xfrm>
            <a:off x="7634141" y="1691636"/>
            <a:ext cx="1375261" cy="1188720"/>
          </a:xfrm>
          <a:prstGeom prst="hexagon">
            <a:avLst/>
          </a:prstGeom>
          <a:solidFill>
            <a:srgbClr val="B0D3EB"/>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Hexagon 14">
            <a:extLst>
              <a:ext uri="{FF2B5EF4-FFF2-40B4-BE49-F238E27FC236}">
                <a16:creationId xmlns:a16="http://schemas.microsoft.com/office/drawing/2014/main" id="{E197F718-EB2E-2B46-88FD-4CF0004C359C}"/>
              </a:ext>
            </a:extLst>
          </p:cNvPr>
          <p:cNvSpPr>
            <a:spLocks/>
          </p:cNvSpPr>
          <p:nvPr userDrawn="1"/>
        </p:nvSpPr>
        <p:spPr>
          <a:xfrm>
            <a:off x="9807850" y="1691635"/>
            <a:ext cx="1375261" cy="1188720"/>
          </a:xfrm>
          <a:prstGeom prst="hexagon">
            <a:avLst/>
          </a:prstGeom>
          <a:solidFill>
            <a:srgbClr val="666666"/>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08825400-135B-1D4A-9A53-CD11C5C5B8F9}"/>
              </a:ext>
            </a:extLst>
          </p:cNvPr>
          <p:cNvSpPr>
            <a:spLocks/>
          </p:cNvSpPr>
          <p:nvPr userDrawn="1"/>
        </p:nvSpPr>
        <p:spPr>
          <a:xfrm>
            <a:off x="5460433" y="1691637"/>
            <a:ext cx="1375261" cy="1188720"/>
          </a:xfrm>
          <a:prstGeom prst="hexagon">
            <a:avLst/>
          </a:prstGeom>
          <a:solidFill>
            <a:srgbClr val="6DABD6"/>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 Placeholder 2">
            <a:extLst>
              <a:ext uri="{FF2B5EF4-FFF2-40B4-BE49-F238E27FC236}">
                <a16:creationId xmlns:a16="http://schemas.microsoft.com/office/drawing/2014/main" id="{D6481BA6-A1B1-9442-AE32-0598A33AA38C}"/>
              </a:ext>
            </a:extLst>
          </p:cNvPr>
          <p:cNvSpPr>
            <a:spLocks noGrp="1"/>
          </p:cNvSpPr>
          <p:nvPr>
            <p:ph type="body" idx="1" hasCustomPrompt="1"/>
          </p:nvPr>
        </p:nvSpPr>
        <p:spPr>
          <a:xfrm>
            <a:off x="786315" y="3133060"/>
            <a:ext cx="1867675" cy="421194"/>
          </a:xfrm>
        </p:spPr>
        <p:txBody>
          <a:bodyPr anchor="t">
            <a:normAutofit/>
          </a:bodyPr>
          <a:lstStyle>
            <a:lvl1pPr marL="0" indent="0" algn="ctr">
              <a:buNone/>
              <a:defRPr sz="1600" b="1">
                <a:solidFill>
                  <a:srgbClr val="003E7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39" name="Content Placeholder 2">
            <a:extLst>
              <a:ext uri="{FF2B5EF4-FFF2-40B4-BE49-F238E27FC236}">
                <a16:creationId xmlns:a16="http://schemas.microsoft.com/office/drawing/2014/main" id="{D45BF9D4-0066-2543-B201-7496D2F88B01}"/>
              </a:ext>
            </a:extLst>
          </p:cNvPr>
          <p:cNvSpPr>
            <a:spLocks noGrp="1"/>
          </p:cNvSpPr>
          <p:nvPr>
            <p:ph idx="11" hasCustomPrompt="1"/>
          </p:nvPr>
        </p:nvSpPr>
        <p:spPr>
          <a:xfrm>
            <a:off x="784727" y="3637384"/>
            <a:ext cx="1867958" cy="1927800"/>
          </a:xfrm>
        </p:spPr>
        <p:txBody>
          <a:bodyPr>
            <a:normAutofit/>
          </a:bodyPr>
          <a:lstStyle>
            <a:lvl1pPr marL="228600" marR="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sz="1600">
                <a:solidFill>
                  <a:srgbClr val="003E72"/>
                </a:solidFill>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a:t>
            </a:r>
          </a:p>
          <a:p>
            <a:pPr marL="228600" marR="0" lvl="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a:pPr>
            <a:r>
              <a:rPr lang="en-US"/>
              <a:t>Edit Master text</a:t>
            </a:r>
          </a:p>
          <a:p>
            <a:pPr lvl="0"/>
            <a:endParaRPr lang="en-US"/>
          </a:p>
        </p:txBody>
      </p:sp>
      <p:sp>
        <p:nvSpPr>
          <p:cNvPr id="40" name="Text Placeholder 2">
            <a:extLst>
              <a:ext uri="{FF2B5EF4-FFF2-40B4-BE49-F238E27FC236}">
                <a16:creationId xmlns:a16="http://schemas.microsoft.com/office/drawing/2014/main" id="{8B671FC8-0E69-8A44-995B-F85D7A0B93FF}"/>
              </a:ext>
            </a:extLst>
          </p:cNvPr>
          <p:cNvSpPr>
            <a:spLocks noGrp="1"/>
          </p:cNvSpPr>
          <p:nvPr>
            <p:ph type="body" idx="12" hasCustomPrompt="1"/>
          </p:nvPr>
        </p:nvSpPr>
        <p:spPr>
          <a:xfrm>
            <a:off x="2971833" y="3149468"/>
            <a:ext cx="1867675" cy="421194"/>
          </a:xfrm>
        </p:spPr>
        <p:txBody>
          <a:bodyPr anchor="t">
            <a:normAutofit/>
          </a:bodyPr>
          <a:lstStyle>
            <a:lvl1pPr marL="0" indent="0" algn="ctr">
              <a:buNone/>
              <a:defRPr sz="1600" b="1">
                <a:solidFill>
                  <a:srgbClr val="003E7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41" name="Content Placeholder 2">
            <a:extLst>
              <a:ext uri="{FF2B5EF4-FFF2-40B4-BE49-F238E27FC236}">
                <a16:creationId xmlns:a16="http://schemas.microsoft.com/office/drawing/2014/main" id="{AE173DC9-2DA6-9B44-9A18-093E325C7DD3}"/>
              </a:ext>
            </a:extLst>
          </p:cNvPr>
          <p:cNvSpPr>
            <a:spLocks noGrp="1"/>
          </p:cNvSpPr>
          <p:nvPr>
            <p:ph idx="13" hasCustomPrompt="1"/>
          </p:nvPr>
        </p:nvSpPr>
        <p:spPr>
          <a:xfrm>
            <a:off x="2970245" y="3653792"/>
            <a:ext cx="1867958" cy="1927800"/>
          </a:xfrm>
        </p:spPr>
        <p:txBody>
          <a:bodyPr>
            <a:normAutofit/>
          </a:bodyPr>
          <a:lstStyle>
            <a:lvl1pPr marL="228600" marR="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sz="1600">
                <a:solidFill>
                  <a:srgbClr val="003E72"/>
                </a:solidFill>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a:t>
            </a:r>
          </a:p>
          <a:p>
            <a:pPr marL="228600" marR="0" lvl="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a:pPr>
            <a:r>
              <a:rPr lang="en-US"/>
              <a:t>Edit Master text</a:t>
            </a:r>
          </a:p>
          <a:p>
            <a:pPr lvl="0"/>
            <a:endParaRPr lang="en-US"/>
          </a:p>
        </p:txBody>
      </p:sp>
      <p:sp>
        <p:nvSpPr>
          <p:cNvPr id="42" name="Text Placeholder 2">
            <a:extLst>
              <a:ext uri="{FF2B5EF4-FFF2-40B4-BE49-F238E27FC236}">
                <a16:creationId xmlns:a16="http://schemas.microsoft.com/office/drawing/2014/main" id="{5834E881-EFBA-7A4A-B3B2-CD87BEDD5C2D}"/>
              </a:ext>
            </a:extLst>
          </p:cNvPr>
          <p:cNvSpPr>
            <a:spLocks noGrp="1"/>
          </p:cNvSpPr>
          <p:nvPr>
            <p:ph type="body" idx="14" hasCustomPrompt="1"/>
          </p:nvPr>
        </p:nvSpPr>
        <p:spPr>
          <a:xfrm>
            <a:off x="5131251" y="3133060"/>
            <a:ext cx="1867675" cy="421194"/>
          </a:xfrm>
        </p:spPr>
        <p:txBody>
          <a:bodyPr anchor="t">
            <a:normAutofit/>
          </a:bodyPr>
          <a:lstStyle>
            <a:lvl1pPr marL="0" indent="0" algn="ctr">
              <a:buNone/>
              <a:defRPr sz="1600" b="1">
                <a:solidFill>
                  <a:srgbClr val="003E7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43" name="Content Placeholder 2">
            <a:extLst>
              <a:ext uri="{FF2B5EF4-FFF2-40B4-BE49-F238E27FC236}">
                <a16:creationId xmlns:a16="http://schemas.microsoft.com/office/drawing/2014/main" id="{5AEB8A8F-6E37-8A4F-A35F-0606DDA7015B}"/>
              </a:ext>
            </a:extLst>
          </p:cNvPr>
          <p:cNvSpPr>
            <a:spLocks noGrp="1"/>
          </p:cNvSpPr>
          <p:nvPr>
            <p:ph idx="15" hasCustomPrompt="1"/>
          </p:nvPr>
        </p:nvSpPr>
        <p:spPr>
          <a:xfrm>
            <a:off x="5129663" y="3637384"/>
            <a:ext cx="1867958" cy="1927800"/>
          </a:xfrm>
        </p:spPr>
        <p:txBody>
          <a:bodyPr>
            <a:normAutofit/>
          </a:bodyPr>
          <a:lstStyle>
            <a:lvl1pPr marL="228600" marR="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sz="1600">
                <a:solidFill>
                  <a:srgbClr val="003E72"/>
                </a:solidFill>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a:t>
            </a:r>
          </a:p>
          <a:p>
            <a:pPr marL="228600" marR="0" lvl="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a:pPr>
            <a:r>
              <a:rPr lang="en-US"/>
              <a:t>Edit Master text</a:t>
            </a:r>
          </a:p>
          <a:p>
            <a:pPr lvl="0"/>
            <a:endParaRPr lang="en-US"/>
          </a:p>
        </p:txBody>
      </p:sp>
      <p:sp>
        <p:nvSpPr>
          <p:cNvPr id="44" name="Text Placeholder 2">
            <a:extLst>
              <a:ext uri="{FF2B5EF4-FFF2-40B4-BE49-F238E27FC236}">
                <a16:creationId xmlns:a16="http://schemas.microsoft.com/office/drawing/2014/main" id="{43F887E5-53F4-4B45-8A7F-1287C355517D}"/>
              </a:ext>
            </a:extLst>
          </p:cNvPr>
          <p:cNvSpPr>
            <a:spLocks noGrp="1"/>
          </p:cNvSpPr>
          <p:nvPr>
            <p:ph type="body" idx="16" hasCustomPrompt="1"/>
          </p:nvPr>
        </p:nvSpPr>
        <p:spPr>
          <a:xfrm>
            <a:off x="7316769" y="3149468"/>
            <a:ext cx="1867675" cy="421194"/>
          </a:xfrm>
        </p:spPr>
        <p:txBody>
          <a:bodyPr anchor="t">
            <a:normAutofit/>
          </a:bodyPr>
          <a:lstStyle>
            <a:lvl1pPr marL="0" indent="0" algn="ctr">
              <a:buNone/>
              <a:defRPr sz="1600" b="1">
                <a:solidFill>
                  <a:srgbClr val="003E7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45" name="Content Placeholder 2">
            <a:extLst>
              <a:ext uri="{FF2B5EF4-FFF2-40B4-BE49-F238E27FC236}">
                <a16:creationId xmlns:a16="http://schemas.microsoft.com/office/drawing/2014/main" id="{B30963FA-92AE-2547-B3E1-077EF0796C21}"/>
              </a:ext>
            </a:extLst>
          </p:cNvPr>
          <p:cNvSpPr>
            <a:spLocks noGrp="1"/>
          </p:cNvSpPr>
          <p:nvPr>
            <p:ph idx="17" hasCustomPrompt="1"/>
          </p:nvPr>
        </p:nvSpPr>
        <p:spPr>
          <a:xfrm>
            <a:off x="7315181" y="3653792"/>
            <a:ext cx="1867958" cy="1927800"/>
          </a:xfrm>
        </p:spPr>
        <p:txBody>
          <a:bodyPr>
            <a:normAutofit/>
          </a:bodyPr>
          <a:lstStyle>
            <a:lvl1pPr marL="228600" marR="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sz="1600">
                <a:solidFill>
                  <a:srgbClr val="003E72"/>
                </a:solidFill>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a:t>
            </a:r>
          </a:p>
          <a:p>
            <a:pPr marL="228600" marR="0" lvl="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a:pPr>
            <a:r>
              <a:rPr lang="en-US"/>
              <a:t>Edit Master text</a:t>
            </a:r>
          </a:p>
          <a:p>
            <a:pPr lvl="0"/>
            <a:endParaRPr lang="en-US"/>
          </a:p>
        </p:txBody>
      </p:sp>
      <p:sp>
        <p:nvSpPr>
          <p:cNvPr id="46" name="Text Placeholder 2">
            <a:extLst>
              <a:ext uri="{FF2B5EF4-FFF2-40B4-BE49-F238E27FC236}">
                <a16:creationId xmlns:a16="http://schemas.microsoft.com/office/drawing/2014/main" id="{F423E667-7B78-264B-B728-BF11CCDEDE5B}"/>
              </a:ext>
            </a:extLst>
          </p:cNvPr>
          <p:cNvSpPr>
            <a:spLocks noGrp="1"/>
          </p:cNvSpPr>
          <p:nvPr>
            <p:ph type="body" idx="18" hasCustomPrompt="1"/>
          </p:nvPr>
        </p:nvSpPr>
        <p:spPr>
          <a:xfrm>
            <a:off x="9538010" y="3150061"/>
            <a:ext cx="1867675" cy="421194"/>
          </a:xfrm>
        </p:spPr>
        <p:txBody>
          <a:bodyPr anchor="t">
            <a:normAutofit/>
          </a:bodyPr>
          <a:lstStyle>
            <a:lvl1pPr marL="0" indent="0" algn="ctr">
              <a:buNone/>
              <a:defRPr sz="1600" b="1">
                <a:solidFill>
                  <a:srgbClr val="003E7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47" name="Content Placeholder 2">
            <a:extLst>
              <a:ext uri="{FF2B5EF4-FFF2-40B4-BE49-F238E27FC236}">
                <a16:creationId xmlns:a16="http://schemas.microsoft.com/office/drawing/2014/main" id="{F4810DE5-5EF9-5643-BDF2-F3510AA92A66}"/>
              </a:ext>
            </a:extLst>
          </p:cNvPr>
          <p:cNvSpPr>
            <a:spLocks noGrp="1"/>
          </p:cNvSpPr>
          <p:nvPr>
            <p:ph idx="19" hasCustomPrompt="1"/>
          </p:nvPr>
        </p:nvSpPr>
        <p:spPr>
          <a:xfrm>
            <a:off x="9536422" y="3654385"/>
            <a:ext cx="1867958" cy="1927800"/>
          </a:xfrm>
        </p:spPr>
        <p:txBody>
          <a:bodyPr>
            <a:normAutofit/>
          </a:bodyPr>
          <a:lstStyle>
            <a:lvl1pPr marL="228600" marR="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sz="1600">
                <a:solidFill>
                  <a:srgbClr val="003E72"/>
                </a:solidFill>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a:t>
            </a:r>
          </a:p>
          <a:p>
            <a:pPr marL="228600" marR="0" lvl="0" indent="-228600" algn="l" defTabSz="914400" rtl="0" eaLnBrk="1" fontAlgn="auto" latinLnBrk="0" hangingPunct="1">
              <a:lnSpc>
                <a:spcPct val="110000"/>
              </a:lnSpc>
              <a:spcBef>
                <a:spcPts val="1000"/>
              </a:spcBef>
              <a:spcAft>
                <a:spcPts val="0"/>
              </a:spcAft>
              <a:buClrTx/>
              <a:buSzTx/>
              <a:buFont typeface="Arial" panose="020B0604020202020204" pitchFamily="34" charset="0"/>
              <a:buChar char="•"/>
              <a:tabLst/>
              <a:defRPr/>
            </a:pPr>
            <a:r>
              <a:rPr lang="en-US"/>
              <a:t>Edit Master text</a:t>
            </a:r>
          </a:p>
          <a:p>
            <a:pPr lvl="0"/>
            <a:endParaRPr lang="en-US"/>
          </a:p>
        </p:txBody>
      </p:sp>
      <p:sp>
        <p:nvSpPr>
          <p:cNvPr id="48" name="Title 1">
            <a:extLst>
              <a:ext uri="{FF2B5EF4-FFF2-40B4-BE49-F238E27FC236}">
                <a16:creationId xmlns:a16="http://schemas.microsoft.com/office/drawing/2014/main" id="{34C7C329-D5D5-5A4B-BF6D-98F84A28F56B}"/>
              </a:ext>
            </a:extLst>
          </p:cNvPr>
          <p:cNvSpPr>
            <a:spLocks noGrp="1"/>
          </p:cNvSpPr>
          <p:nvPr>
            <p:ph type="title" hasCustomPrompt="1"/>
          </p:nvPr>
        </p:nvSpPr>
        <p:spPr>
          <a:xfrm>
            <a:off x="838200" y="542841"/>
            <a:ext cx="8665564" cy="752929"/>
          </a:xfrm>
          <a:prstGeom prst="rect">
            <a:avLst/>
          </a:prstGeom>
        </p:spPr>
        <p:txBody>
          <a:bodyPr/>
          <a:lstStyle>
            <a:lvl1pPr algn="l">
              <a:defRPr>
                <a:solidFill>
                  <a:srgbClr val="003E72"/>
                </a:solidFill>
              </a:defRPr>
            </a:lvl1pPr>
          </a:lstStyle>
          <a:p>
            <a:r>
              <a:rPr lang="en-US"/>
              <a:t>Click to edit master title style</a:t>
            </a:r>
          </a:p>
        </p:txBody>
      </p:sp>
    </p:spTree>
    <p:extLst>
      <p:ext uri="{BB962C8B-B14F-4D97-AF65-F5344CB8AC3E}">
        <p14:creationId xmlns:p14="http://schemas.microsoft.com/office/powerpoint/2010/main" val="16574165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nd Slid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223C36F-F942-431A-AE32-315502B0000D}"/>
              </a:ext>
            </a:extLst>
          </p:cNvPr>
          <p:cNvSpPr/>
          <p:nvPr userDrawn="1"/>
        </p:nvSpPr>
        <p:spPr>
          <a:xfrm>
            <a:off x="4130566" y="6274676"/>
            <a:ext cx="3728544" cy="46445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
            <a:extLst>
              <a:ext uri="{FF2B5EF4-FFF2-40B4-BE49-F238E27FC236}">
                <a16:creationId xmlns:a16="http://schemas.microsoft.com/office/drawing/2014/main" id="{D47E9A00-2A21-5844-8CE2-64885373E5A7}"/>
              </a:ext>
            </a:extLst>
          </p:cNvPr>
          <p:cNvSpPr>
            <a:spLocks noGrp="1"/>
          </p:cNvSpPr>
          <p:nvPr>
            <p:ph type="ctrTitle" hasCustomPrompt="1"/>
          </p:nvPr>
        </p:nvSpPr>
        <p:spPr>
          <a:xfrm>
            <a:off x="914401" y="2039304"/>
            <a:ext cx="10743200" cy="2432522"/>
          </a:xfrm>
          <a:prstGeom prst="rect">
            <a:avLst/>
          </a:prstGeom>
        </p:spPr>
        <p:txBody>
          <a:bodyPr anchor="ctr">
            <a:noAutofit/>
          </a:bodyPr>
          <a:lstStyle>
            <a:lvl1pPr algn="l">
              <a:defRPr sz="7500">
                <a:solidFill>
                  <a:srgbClr val="003E72"/>
                </a:solidFill>
              </a:defRPr>
            </a:lvl1pPr>
          </a:lstStyle>
          <a:p>
            <a:r>
              <a:rPr lang="en-US"/>
              <a:t>Thank You!</a:t>
            </a:r>
          </a:p>
        </p:txBody>
      </p:sp>
    </p:spTree>
    <p:extLst>
      <p:ext uri="{BB962C8B-B14F-4D97-AF65-F5344CB8AC3E}">
        <p14:creationId xmlns:p14="http://schemas.microsoft.com/office/powerpoint/2010/main" val="14430639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DA76D-4AD6-459B-9B1A-2997299EE2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2ABC8E1-E2F8-4B20-AA5B-7B7F1CA081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1F74012-2A3C-4F58-B8D4-48C1ACE28B41}"/>
              </a:ext>
            </a:extLst>
          </p:cNvPr>
          <p:cNvSpPr>
            <a:spLocks noGrp="1"/>
          </p:cNvSpPr>
          <p:nvPr>
            <p:ph type="dt" sz="half" idx="10"/>
          </p:nvPr>
        </p:nvSpPr>
        <p:spPr/>
        <p:txBody>
          <a:bodyPr/>
          <a:lstStyle/>
          <a:p>
            <a:fld id="{92DD93C6-291B-4A61-88C5-D31D6F30BC18}" type="datetimeFigureOut">
              <a:rPr lang="en-US" smtClean="0"/>
              <a:t>8/7/2024</a:t>
            </a:fld>
            <a:endParaRPr lang="en-US" dirty="0"/>
          </a:p>
        </p:txBody>
      </p:sp>
      <p:sp>
        <p:nvSpPr>
          <p:cNvPr id="5" name="Footer Placeholder 4">
            <a:extLst>
              <a:ext uri="{FF2B5EF4-FFF2-40B4-BE49-F238E27FC236}">
                <a16:creationId xmlns:a16="http://schemas.microsoft.com/office/drawing/2014/main" id="{CBD69D15-2884-4C80-B2C5-6B86D70D8438}"/>
              </a:ext>
            </a:extLst>
          </p:cNvPr>
          <p:cNvSpPr>
            <a:spLocks noGrp="1"/>
          </p:cNvSpPr>
          <p:nvPr>
            <p:ph type="ftr" sz="quarter" idx="11"/>
          </p:nvPr>
        </p:nvSpPr>
        <p:spPr>
          <a:xfrm>
            <a:off x="4165600" y="6356449"/>
            <a:ext cx="3860800" cy="365125"/>
          </a:xfrm>
          <a:prstGeom prst="rect">
            <a:avLst/>
          </a:prstGeom>
        </p:spPr>
        <p:txBody>
          <a:bodyPr/>
          <a:lstStyle/>
          <a:p>
            <a:endParaRPr lang="en-US" dirty="0"/>
          </a:p>
        </p:txBody>
      </p:sp>
      <p:sp>
        <p:nvSpPr>
          <p:cNvPr id="7" name="Rectangle 6">
            <a:extLst>
              <a:ext uri="{FF2B5EF4-FFF2-40B4-BE49-F238E27FC236}">
                <a16:creationId xmlns:a16="http://schemas.microsoft.com/office/drawing/2014/main" id="{A406EB31-E737-4771-B3C2-572868785244}"/>
              </a:ext>
            </a:extLst>
          </p:cNvPr>
          <p:cNvSpPr/>
          <p:nvPr userDrawn="1"/>
        </p:nvSpPr>
        <p:spPr>
          <a:xfrm>
            <a:off x="0" y="99"/>
            <a:ext cx="12192000" cy="685799"/>
          </a:xfrm>
          <a:prstGeom prst="rect">
            <a:avLst/>
          </a:prstGeom>
          <a:solidFill>
            <a:srgbClr val="002F56"/>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1800" dirty="0">
              <a:solidFill>
                <a:prstClr val="white"/>
              </a:solidFill>
            </a:endParaRPr>
          </a:p>
        </p:txBody>
      </p:sp>
      <p:sp>
        <p:nvSpPr>
          <p:cNvPr id="8" name="Slide Number Placeholder 5">
            <a:extLst>
              <a:ext uri="{FF2B5EF4-FFF2-40B4-BE49-F238E27FC236}">
                <a16:creationId xmlns:a16="http://schemas.microsoft.com/office/drawing/2014/main" id="{5F578217-7A94-4F44-AF02-9E4CD71FF315}"/>
              </a:ext>
            </a:extLst>
          </p:cNvPr>
          <p:cNvSpPr>
            <a:spLocks noGrp="1"/>
          </p:cNvSpPr>
          <p:nvPr>
            <p:ph type="sldNum" sz="quarter" idx="12"/>
          </p:nvPr>
        </p:nvSpPr>
        <p:spPr>
          <a:xfrm>
            <a:off x="9148841" y="6356449"/>
            <a:ext cx="2844800" cy="365125"/>
          </a:xfrm>
          <a:prstGeom prst="rect">
            <a:avLst/>
          </a:prstGeom>
          <a:effectLst/>
        </p:spPr>
        <p:txBody>
          <a:bodyPr/>
          <a:lstStyle>
            <a:lvl1pPr>
              <a:defRPr sz="1000">
                <a:latin typeface="Arial" panose="020B0604020202020204" pitchFamily="34" charset="0"/>
                <a:cs typeface="Arial" panose="020B0604020202020204" pitchFamily="34" charset="0"/>
              </a:defRPr>
            </a:lvl1pPr>
          </a:lstStyle>
          <a:p>
            <a:fld id="{D983F1FA-211D-3044-9E35-958DFBC26156}" type="slidenum">
              <a:rPr lang="en-US" smtClean="0">
                <a:solidFill>
                  <a:prstClr val="white"/>
                </a:solidFill>
              </a:rPr>
              <a:pPr/>
              <a:t>‹#›</a:t>
            </a:fld>
            <a:endParaRPr lang="en-US" sz="1000" dirty="0">
              <a:solidFill>
                <a:prstClr val="white"/>
              </a:solidFill>
            </a:endParaRPr>
          </a:p>
        </p:txBody>
      </p:sp>
      <p:sp>
        <p:nvSpPr>
          <p:cNvPr id="9" name="Footer Placeholder 4">
            <a:extLst>
              <a:ext uri="{FF2B5EF4-FFF2-40B4-BE49-F238E27FC236}">
                <a16:creationId xmlns:a16="http://schemas.microsoft.com/office/drawing/2014/main" id="{F1E9A7F9-71F0-44BD-8226-28CCF7C587CC}"/>
              </a:ext>
            </a:extLst>
          </p:cNvPr>
          <p:cNvSpPr txBox="1">
            <a:spLocks/>
          </p:cNvSpPr>
          <p:nvPr userDrawn="1"/>
        </p:nvSpPr>
        <p:spPr>
          <a:xfrm>
            <a:off x="4165600" y="6356449"/>
            <a:ext cx="3860800" cy="365125"/>
          </a:xfrm>
          <a:prstGeom prst="rect">
            <a:avLst/>
          </a:prstGeom>
        </p:spPr>
        <p:txBody>
          <a:bodyPr lIns="91440" tIns="45720" rIns="91440" bIns="45720"/>
          <a:lstStyle>
            <a:defPPr>
              <a:defRPr lang="en-US"/>
            </a:defPPr>
            <a:lvl1pPr marL="0" algn="ctr" defTabSz="457200" rtl="0" eaLnBrk="1" latinLnBrk="0" hangingPunct="1">
              <a:defRPr sz="1000" kern="1200">
                <a:solidFill>
                  <a:schemeClr val="bg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000" dirty="0"/>
              <a:t>Working Draft, Pre-Decisional, Deliberative Document - Internal VA Use Only</a:t>
            </a:r>
          </a:p>
        </p:txBody>
      </p:sp>
    </p:spTree>
    <p:extLst>
      <p:ext uri="{BB962C8B-B14F-4D97-AF65-F5344CB8AC3E}">
        <p14:creationId xmlns:p14="http://schemas.microsoft.com/office/powerpoint/2010/main" val="10174222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2119" y="1594"/>
          <a:ext cx="2116"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4" name="Object 3" hidden="1"/>
                      <p:cNvPicPr/>
                      <p:nvPr/>
                    </p:nvPicPr>
                    <p:blipFill>
                      <a:blip r:embed="rId4"/>
                      <a:stretch>
                        <a:fillRect/>
                      </a:stretch>
                    </p:blipFill>
                    <p:spPr>
                      <a:xfrm>
                        <a:off x="2119" y="1594"/>
                        <a:ext cx="2116" cy="1587"/>
                      </a:xfrm>
                      <a:prstGeom prst="rect">
                        <a:avLst/>
                      </a:prstGeom>
                    </p:spPr>
                  </p:pic>
                </p:oleObj>
              </mc:Fallback>
            </mc:AlternateContent>
          </a:graphicData>
        </a:graphic>
      </p:graphicFrame>
      <p:sp>
        <p:nvSpPr>
          <p:cNvPr id="2" name="Title 1"/>
          <p:cNvSpPr>
            <a:spLocks noGrp="1"/>
          </p:cNvSpPr>
          <p:nvPr>
            <p:ph type="ctrTitle"/>
          </p:nvPr>
        </p:nvSpPr>
        <p:spPr>
          <a:xfrm>
            <a:off x="3934673" y="2591311"/>
            <a:ext cx="7928345" cy="1905255"/>
          </a:xfrm>
        </p:spPr>
        <p:txBody>
          <a:bodyPr/>
          <a:lstStyle>
            <a:lvl1pPr algn="l">
              <a:defRPr>
                <a:solidFill>
                  <a:schemeClr val="accent2"/>
                </a:solidFill>
              </a:defRPr>
            </a:lvl1pPr>
          </a:lstStyle>
          <a:p>
            <a:r>
              <a:rPr lang="en-US"/>
              <a:t>Click to edit Master title style</a:t>
            </a:r>
          </a:p>
        </p:txBody>
      </p:sp>
      <p:sp>
        <p:nvSpPr>
          <p:cNvPr id="3" name="Subtitle 2"/>
          <p:cNvSpPr>
            <a:spLocks noGrp="1"/>
          </p:cNvSpPr>
          <p:nvPr>
            <p:ph type="subTitle" idx="1" hasCustomPrompt="1"/>
          </p:nvPr>
        </p:nvSpPr>
        <p:spPr>
          <a:xfrm>
            <a:off x="3895118" y="4803735"/>
            <a:ext cx="7968015" cy="450535"/>
          </a:xfrm>
        </p:spPr>
        <p:txBody>
          <a:bodyPr/>
          <a:lstStyle>
            <a:lvl1pPr marL="0" indent="0" algn="l">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Date</a:t>
            </a:r>
          </a:p>
        </p:txBody>
      </p:sp>
      <p:sp>
        <p:nvSpPr>
          <p:cNvPr id="7" name="Slide Number Placeholder 5"/>
          <p:cNvSpPr txBox="1">
            <a:spLocks/>
          </p:cNvSpPr>
          <p:nvPr userDrawn="1"/>
        </p:nvSpPr>
        <p:spPr>
          <a:xfrm>
            <a:off x="9250441" y="6400237"/>
            <a:ext cx="28448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983F1FA-211D-3044-9E35-958DFBC26156}" type="slidenum">
              <a:rPr lang="en-US" sz="1200" smtClean="0">
                <a:solidFill>
                  <a:prstClr val="white"/>
                </a:solidFill>
              </a:rPr>
              <a:pPr/>
              <a:t>‹#›</a:t>
            </a:fld>
            <a:endParaRPr lang="en-US" sz="1200" dirty="0">
              <a:solidFill>
                <a:prstClr val="white"/>
              </a:solidFill>
            </a:endParaRPr>
          </a:p>
        </p:txBody>
      </p:sp>
      <p:sp>
        <p:nvSpPr>
          <p:cNvPr id="8" name="Rectangle 7"/>
          <p:cNvSpPr/>
          <p:nvPr userDrawn="1"/>
        </p:nvSpPr>
        <p:spPr>
          <a:xfrm>
            <a:off x="0" y="5376959"/>
            <a:ext cx="12192000" cy="1481139"/>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sz="1800" dirty="0">
              <a:solidFill>
                <a:prstClr val="white"/>
              </a:solidFill>
            </a:endParaRPr>
          </a:p>
        </p:txBody>
      </p:sp>
      <p:sp>
        <p:nvSpPr>
          <p:cNvPr id="9" name="Rectangle 8">
            <a:extLst>
              <a:ext uri="{FF2B5EF4-FFF2-40B4-BE49-F238E27FC236}">
                <a16:creationId xmlns:a16="http://schemas.microsoft.com/office/drawing/2014/main" id="{E3BBF127-B7C0-4FF3-84D2-136E58243316}"/>
              </a:ext>
            </a:extLst>
          </p:cNvPr>
          <p:cNvSpPr/>
          <p:nvPr userDrawn="1"/>
        </p:nvSpPr>
        <p:spPr>
          <a:xfrm>
            <a:off x="0" y="99"/>
            <a:ext cx="12192000" cy="685799"/>
          </a:xfrm>
          <a:prstGeom prst="rect">
            <a:avLst/>
          </a:prstGeom>
          <a:solidFill>
            <a:srgbClr val="002F56"/>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1800" dirty="0">
              <a:solidFill>
                <a:prstClr val="white"/>
              </a:solidFill>
            </a:endParaRPr>
          </a:p>
        </p:txBody>
      </p:sp>
      <p:pic>
        <p:nvPicPr>
          <p:cNvPr id="10" name="Picture 9">
            <a:extLst>
              <a:ext uri="{FF2B5EF4-FFF2-40B4-BE49-F238E27FC236}">
                <a16:creationId xmlns:a16="http://schemas.microsoft.com/office/drawing/2014/main" id="{0CFA7DC3-19C0-176D-22F4-3E0DD3B733BE}"/>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6852745" y="5226132"/>
            <a:ext cx="4048257" cy="1631769"/>
          </a:xfrm>
          <a:prstGeom prst="rect">
            <a:avLst/>
          </a:prstGeom>
        </p:spPr>
      </p:pic>
    </p:spTree>
    <p:extLst>
      <p:ext uri="{BB962C8B-B14F-4D97-AF65-F5344CB8AC3E}">
        <p14:creationId xmlns:p14="http://schemas.microsoft.com/office/powerpoint/2010/main" val="40679040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2119" y="1594"/>
          <a:ext cx="2116"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4" name="Object 3" hidden="1"/>
                      <p:cNvPicPr/>
                      <p:nvPr/>
                    </p:nvPicPr>
                    <p:blipFill>
                      <a:blip r:embed="rId4"/>
                      <a:stretch>
                        <a:fillRect/>
                      </a:stretch>
                    </p:blipFill>
                    <p:spPr>
                      <a:xfrm>
                        <a:off x="2119" y="1594"/>
                        <a:ext cx="2116" cy="1587"/>
                      </a:xfrm>
                      <a:prstGeom prst="rect">
                        <a:avLst/>
                      </a:prstGeom>
                    </p:spPr>
                  </p:pic>
                </p:oleObj>
              </mc:Fallback>
            </mc:AlternateContent>
          </a:graphicData>
        </a:graphic>
      </p:graphicFrame>
      <p:sp>
        <p:nvSpPr>
          <p:cNvPr id="3" name="Content Placeholder 2"/>
          <p:cNvSpPr>
            <a:spLocks noGrp="1"/>
          </p:cNvSpPr>
          <p:nvPr>
            <p:ph idx="1"/>
          </p:nvPr>
        </p:nvSpPr>
        <p:spPr>
          <a:xfrm>
            <a:off x="609600" y="838201"/>
            <a:ext cx="10972800" cy="5287964"/>
          </a:xfrm>
          <a:effectLst/>
        </p:spPr>
        <p:txBody>
          <a:bodyPr>
            <a:normAutofit/>
          </a:bodyPr>
          <a:lstStyle>
            <a:lvl1pPr>
              <a:defRPr sz="2000">
                <a:latin typeface="Arial" panose="020B0604020202020204" pitchFamily="34" charset="0"/>
                <a:cs typeface="Arial" panose="020B0604020202020204" pitchFamily="34" charset="0"/>
              </a:defRPr>
            </a:lvl1pPr>
            <a:lvl2pPr>
              <a:defRPr sz="18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Placeholder 5"/>
          <p:cNvSpPr>
            <a:spLocks noGrp="1"/>
          </p:cNvSpPr>
          <p:nvPr>
            <p:ph type="sldNum" sz="quarter" idx="12"/>
          </p:nvPr>
        </p:nvSpPr>
        <p:spPr>
          <a:xfrm>
            <a:off x="9148841" y="6356449"/>
            <a:ext cx="2844800" cy="365125"/>
          </a:xfrm>
          <a:prstGeom prst="rect">
            <a:avLst/>
          </a:prstGeom>
          <a:effectLst/>
        </p:spPr>
        <p:txBody>
          <a:bodyPr/>
          <a:lstStyle>
            <a:lvl1pPr>
              <a:defRPr sz="1000">
                <a:latin typeface="Arial" panose="020B0604020202020204" pitchFamily="34" charset="0"/>
                <a:cs typeface="Arial" panose="020B0604020202020204" pitchFamily="34" charset="0"/>
              </a:defRPr>
            </a:lvl1pPr>
          </a:lstStyle>
          <a:p>
            <a:fld id="{D983F1FA-211D-3044-9E35-958DFBC26156}" type="slidenum">
              <a:rPr lang="en-US" smtClean="0">
                <a:solidFill>
                  <a:prstClr val="white"/>
                </a:solidFill>
              </a:rPr>
              <a:pPr/>
              <a:t>‹#›</a:t>
            </a:fld>
            <a:endParaRPr lang="en-US" dirty="0">
              <a:solidFill>
                <a:prstClr val="white"/>
              </a:solidFill>
            </a:endParaRPr>
          </a:p>
        </p:txBody>
      </p:sp>
      <p:sp>
        <p:nvSpPr>
          <p:cNvPr id="2" name="Title 1"/>
          <p:cNvSpPr>
            <a:spLocks noGrp="1"/>
          </p:cNvSpPr>
          <p:nvPr>
            <p:ph type="title"/>
          </p:nvPr>
        </p:nvSpPr>
        <p:spPr>
          <a:xfrm>
            <a:off x="0" y="0"/>
            <a:ext cx="12192000" cy="685800"/>
          </a:xfrm>
          <a:effectLst/>
        </p:spPr>
        <p:txBody>
          <a:bodyPr>
            <a:noAutofit/>
          </a:bodyPr>
          <a:lstStyle>
            <a:lvl1pPr>
              <a:defRPr sz="2600" b="0">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8850320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627EF-1022-4358-90AD-36A101F183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3F0009-0E59-4D3A-8251-F19C4EB10726}"/>
              </a:ext>
            </a:extLst>
          </p:cNvPr>
          <p:cNvSpPr>
            <a:spLocks noGrp="1"/>
          </p:cNvSpPr>
          <p:nvPr>
            <p:ph sz="half" idx="1"/>
          </p:nvPr>
        </p:nvSpPr>
        <p:spPr>
          <a:xfrm>
            <a:off x="838200" y="1825625"/>
            <a:ext cx="515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AFB2E7-E020-4FC6-AF75-E7B03FA9378D}"/>
              </a:ext>
            </a:extLst>
          </p:cNvPr>
          <p:cNvSpPr>
            <a:spLocks noGrp="1"/>
          </p:cNvSpPr>
          <p:nvPr>
            <p:ph sz="half" idx="2"/>
          </p:nvPr>
        </p:nvSpPr>
        <p:spPr>
          <a:xfrm>
            <a:off x="6197600" y="1825625"/>
            <a:ext cx="515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2EC805C-50A0-42C8-BA51-1E9A5D2E86C5}"/>
              </a:ext>
            </a:extLst>
          </p:cNvPr>
          <p:cNvSpPr>
            <a:spLocks noGrp="1"/>
          </p:cNvSpPr>
          <p:nvPr>
            <p:ph type="dt" sz="half" idx="10"/>
          </p:nvPr>
        </p:nvSpPr>
        <p:spPr/>
        <p:txBody>
          <a:bodyPr/>
          <a:lstStyle/>
          <a:p>
            <a:endParaRPr lang="en-US" dirty="0"/>
          </a:p>
        </p:txBody>
      </p:sp>
      <p:sp>
        <p:nvSpPr>
          <p:cNvPr id="8" name="Slide Number Placeholder 5">
            <a:extLst>
              <a:ext uri="{FF2B5EF4-FFF2-40B4-BE49-F238E27FC236}">
                <a16:creationId xmlns:a16="http://schemas.microsoft.com/office/drawing/2014/main" id="{9C937542-88CD-4561-A338-EB2F6C1993E7}"/>
              </a:ext>
            </a:extLst>
          </p:cNvPr>
          <p:cNvSpPr>
            <a:spLocks noGrp="1"/>
          </p:cNvSpPr>
          <p:nvPr>
            <p:ph type="sldNum" sz="quarter" idx="12"/>
          </p:nvPr>
        </p:nvSpPr>
        <p:spPr>
          <a:xfrm>
            <a:off x="9148841" y="6356449"/>
            <a:ext cx="2844800" cy="365125"/>
          </a:xfrm>
          <a:prstGeom prst="rect">
            <a:avLst/>
          </a:prstGeom>
          <a:effectLst/>
        </p:spPr>
        <p:txBody>
          <a:bodyPr/>
          <a:lstStyle>
            <a:lvl1pPr>
              <a:defRPr sz="1000">
                <a:latin typeface="Arial" panose="020B0604020202020204" pitchFamily="34" charset="0"/>
                <a:cs typeface="Arial" panose="020B0604020202020204" pitchFamily="34" charset="0"/>
              </a:defRPr>
            </a:lvl1pPr>
          </a:lstStyle>
          <a:p>
            <a:fld id="{D983F1FA-211D-3044-9E35-958DFBC26156}" type="slidenum">
              <a:rPr lang="en-US" smtClean="0">
                <a:solidFill>
                  <a:prstClr val="white"/>
                </a:solidFill>
              </a:rPr>
              <a:pPr/>
              <a:t>‹#›</a:t>
            </a:fld>
            <a:endParaRPr lang="en-US" sz="1000" dirty="0">
              <a:solidFill>
                <a:prstClr val="white"/>
              </a:solidFill>
            </a:endParaRPr>
          </a:p>
        </p:txBody>
      </p:sp>
    </p:spTree>
    <p:extLst>
      <p:ext uri="{BB962C8B-B14F-4D97-AF65-F5344CB8AC3E}">
        <p14:creationId xmlns:p14="http://schemas.microsoft.com/office/powerpoint/2010/main" val="39039343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787F1D-8053-4C90-A584-8B1CEADF4FFC}"/>
              </a:ext>
            </a:extLst>
          </p:cNvPr>
          <p:cNvSpPr>
            <a:spLocks noGrp="1"/>
          </p:cNvSpPr>
          <p:nvPr>
            <p:ph type="dt" sz="half" idx="10"/>
          </p:nvPr>
        </p:nvSpPr>
        <p:spPr/>
        <p:txBody>
          <a:bodyPr/>
          <a:lstStyle/>
          <a:p>
            <a:endParaRPr lang="en-US" dirty="0"/>
          </a:p>
        </p:txBody>
      </p:sp>
      <p:sp>
        <p:nvSpPr>
          <p:cNvPr id="5" name="Slide Number Placeholder 5">
            <a:extLst>
              <a:ext uri="{FF2B5EF4-FFF2-40B4-BE49-F238E27FC236}">
                <a16:creationId xmlns:a16="http://schemas.microsoft.com/office/drawing/2014/main" id="{08585CE4-84C0-4CB9-AC9F-3F457D82615F}"/>
              </a:ext>
            </a:extLst>
          </p:cNvPr>
          <p:cNvSpPr>
            <a:spLocks noGrp="1"/>
          </p:cNvSpPr>
          <p:nvPr>
            <p:ph type="sldNum" sz="quarter" idx="12"/>
          </p:nvPr>
        </p:nvSpPr>
        <p:spPr>
          <a:xfrm>
            <a:off x="9148841" y="6356449"/>
            <a:ext cx="2844800" cy="365125"/>
          </a:xfrm>
          <a:prstGeom prst="rect">
            <a:avLst/>
          </a:prstGeom>
          <a:effectLst/>
        </p:spPr>
        <p:txBody>
          <a:bodyPr/>
          <a:lstStyle>
            <a:lvl1pPr>
              <a:defRPr sz="1000">
                <a:latin typeface="Arial" panose="020B0604020202020204" pitchFamily="34" charset="0"/>
                <a:cs typeface="Arial" panose="020B0604020202020204" pitchFamily="34" charset="0"/>
              </a:defRPr>
            </a:lvl1pPr>
          </a:lstStyle>
          <a:p>
            <a:fld id="{D983F1FA-211D-3044-9E35-958DFBC26156}" type="slidenum">
              <a:rPr lang="en-US" smtClean="0">
                <a:solidFill>
                  <a:prstClr val="white"/>
                </a:solidFill>
              </a:rPr>
              <a:pPr/>
              <a:t>‹#›</a:t>
            </a:fld>
            <a:endParaRPr lang="en-US" sz="1000" dirty="0">
              <a:solidFill>
                <a:prstClr val="white"/>
              </a:solidFill>
            </a:endParaRPr>
          </a:p>
        </p:txBody>
      </p:sp>
    </p:spTree>
    <p:extLst>
      <p:ext uri="{BB962C8B-B14F-4D97-AF65-F5344CB8AC3E}">
        <p14:creationId xmlns:p14="http://schemas.microsoft.com/office/powerpoint/2010/main" val="30281216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A7A92-F692-B04B-AD4F-BD24A0DA8B49}"/>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A2333A5-8710-BA49-937B-278AD756DEA2}"/>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1DF2018F-F75E-D746-BF46-B5EDF7D6169D}"/>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379EF3-0343-B543-BDC5-6BCB93DD95BC}"/>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2A857701-0FA3-764A-BF42-75AD18AF4888}"/>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C158B16-E601-EE4D-AFD7-4C1686C07028}"/>
              </a:ext>
            </a:extLst>
          </p:cNvPr>
          <p:cNvSpPr>
            <a:spLocks noGrp="1"/>
          </p:cNvSpPr>
          <p:nvPr>
            <p:ph type="dt" sz="half" idx="10"/>
          </p:nvPr>
        </p:nvSpPr>
        <p:spPr/>
        <p:txBody>
          <a:bodyPr/>
          <a:lstStyle/>
          <a:p>
            <a:fld id="{46832E1F-CF33-AC45-BCFA-EBD85F8E422A}" type="datetimeFigureOut">
              <a:rPr lang="en-US" smtClean="0"/>
              <a:t>8/7/2024</a:t>
            </a:fld>
            <a:endParaRPr lang="en-US" dirty="0"/>
          </a:p>
        </p:txBody>
      </p:sp>
      <p:sp>
        <p:nvSpPr>
          <p:cNvPr id="8" name="Footer Placeholder 7">
            <a:extLst>
              <a:ext uri="{FF2B5EF4-FFF2-40B4-BE49-F238E27FC236}">
                <a16:creationId xmlns:a16="http://schemas.microsoft.com/office/drawing/2014/main" id="{B5BAAAEF-2439-A048-BDFB-F670C72113E1}"/>
              </a:ext>
            </a:extLst>
          </p:cNvPr>
          <p:cNvSpPr>
            <a:spLocks noGrp="1"/>
          </p:cNvSpPr>
          <p:nvPr>
            <p:ph type="ftr" sz="quarter" idx="11"/>
          </p:nvPr>
        </p:nvSpPr>
        <p:spPr>
          <a:xfrm>
            <a:off x="4165600" y="6356449"/>
            <a:ext cx="3860800"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EA4B8E8B-EBCE-B649-9589-916925F58743}"/>
              </a:ext>
            </a:extLst>
          </p:cNvPr>
          <p:cNvSpPr>
            <a:spLocks noGrp="1"/>
          </p:cNvSpPr>
          <p:nvPr>
            <p:ph type="sldNum" sz="quarter" idx="12"/>
          </p:nvPr>
        </p:nvSpPr>
        <p:spPr>
          <a:xfrm>
            <a:off x="9250441" y="6356449"/>
            <a:ext cx="2844800" cy="365125"/>
          </a:xfrm>
          <a:prstGeom prst="rect">
            <a:avLst/>
          </a:prstGeom>
        </p:spPr>
        <p:txBody>
          <a:bodyPr/>
          <a:lstStyle/>
          <a:p>
            <a:fld id="{9C3DACFC-8745-DA4C-8F83-60920582CE69}" type="slidenum">
              <a:rPr lang="en-US" smtClean="0"/>
              <a:t>‹#›</a:t>
            </a:fld>
            <a:endParaRPr lang="en-US" dirty="0"/>
          </a:p>
        </p:txBody>
      </p:sp>
    </p:spTree>
    <p:extLst>
      <p:ext uri="{BB962C8B-B14F-4D97-AF65-F5344CB8AC3E}">
        <p14:creationId xmlns:p14="http://schemas.microsoft.com/office/powerpoint/2010/main" val="1518683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8/7/2024</a:t>
            </a:fld>
            <a:endParaRPr lang="en-US" dirty="0"/>
          </a:p>
        </p:txBody>
      </p:sp>
      <p:sp>
        <p:nvSpPr>
          <p:cNvPr id="4" name="Footer Placeholder 3"/>
          <p:cNvSpPr>
            <a:spLocks noGrp="1"/>
          </p:cNvSpPr>
          <p:nvPr>
            <p:ph type="ftr" sz="quarter" idx="11"/>
          </p:nvPr>
        </p:nvSpPr>
        <p:spPr>
          <a:xfrm>
            <a:off x="4165600" y="6356449"/>
            <a:ext cx="38608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9250441" y="6356449"/>
            <a:ext cx="2844800" cy="365125"/>
          </a:xfrm>
          <a:prstGeom prst="rect">
            <a:avLst/>
          </a:prstGeom>
        </p:spPr>
        <p:txBody>
          <a:bodyPr/>
          <a:lstStyle/>
          <a:p>
            <a:fld id="{670A9334-4E67-F94F-A05E-0CE8B74A054E}" type="slidenum">
              <a:rPr lang="en-US" smtClean="0"/>
              <a:t>‹#›</a:t>
            </a:fld>
            <a:endParaRPr lang="en-US" dirty="0"/>
          </a:p>
        </p:txBody>
      </p:sp>
    </p:spTree>
    <p:extLst>
      <p:ext uri="{BB962C8B-B14F-4D97-AF65-F5344CB8AC3E}">
        <p14:creationId xmlns:p14="http://schemas.microsoft.com/office/powerpoint/2010/main" val="31963586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Divider Slide 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5ED376-3B63-4BF5-8FE7-6E13F6B5E102}"/>
              </a:ext>
            </a:extLst>
          </p:cNvPr>
          <p:cNvSpPr/>
          <p:nvPr userDrawn="1"/>
        </p:nvSpPr>
        <p:spPr>
          <a:xfrm>
            <a:off x="4130566" y="6274676"/>
            <a:ext cx="3728544" cy="46445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itle 1">
            <a:extLst>
              <a:ext uri="{FF2B5EF4-FFF2-40B4-BE49-F238E27FC236}">
                <a16:creationId xmlns:a16="http://schemas.microsoft.com/office/drawing/2014/main" id="{E4FA9B3C-1FF1-914D-A59E-CA40875151CE}"/>
              </a:ext>
            </a:extLst>
          </p:cNvPr>
          <p:cNvSpPr>
            <a:spLocks noGrp="1"/>
          </p:cNvSpPr>
          <p:nvPr>
            <p:ph type="ctrTitle" hasCustomPrompt="1"/>
          </p:nvPr>
        </p:nvSpPr>
        <p:spPr>
          <a:xfrm>
            <a:off x="914401" y="2039304"/>
            <a:ext cx="10743200" cy="2432522"/>
          </a:xfrm>
          <a:prstGeom prst="rect">
            <a:avLst/>
          </a:prstGeom>
        </p:spPr>
        <p:txBody>
          <a:bodyPr anchor="ctr">
            <a:noAutofit/>
          </a:bodyPr>
          <a:lstStyle>
            <a:lvl1pPr algn="l">
              <a:defRPr sz="7500">
                <a:solidFill>
                  <a:schemeClr val="bg1"/>
                </a:solidFill>
              </a:defRPr>
            </a:lvl1pPr>
          </a:lstStyle>
          <a:p>
            <a:r>
              <a:rPr lang="en-US"/>
              <a:t>Divider Slide 2</a:t>
            </a:r>
          </a:p>
        </p:txBody>
      </p:sp>
    </p:spTree>
    <p:extLst>
      <p:ext uri="{BB962C8B-B14F-4D97-AF65-F5344CB8AC3E}">
        <p14:creationId xmlns:p14="http://schemas.microsoft.com/office/powerpoint/2010/main" val="31054233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DA76D-4AD6-459B-9B1A-2997299EE2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2ABC8E1-E2F8-4B20-AA5B-7B7F1CA081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1F74012-2A3C-4F58-B8D4-48C1ACE28B41}"/>
              </a:ext>
            </a:extLst>
          </p:cNvPr>
          <p:cNvSpPr>
            <a:spLocks noGrp="1"/>
          </p:cNvSpPr>
          <p:nvPr>
            <p:ph type="dt" sz="half" idx="10"/>
          </p:nvPr>
        </p:nvSpPr>
        <p:spPr/>
        <p:txBody>
          <a:bodyPr/>
          <a:lstStyle/>
          <a:p>
            <a:fld id="{92DD93C6-291B-4A61-88C5-D31D6F30BC18}" type="datetimeFigureOut">
              <a:rPr lang="en-US" smtClean="0"/>
              <a:t>8/7/2024</a:t>
            </a:fld>
            <a:endParaRPr lang="en-US" dirty="0"/>
          </a:p>
        </p:txBody>
      </p:sp>
      <p:sp>
        <p:nvSpPr>
          <p:cNvPr id="7" name="Rectangle 6">
            <a:extLst>
              <a:ext uri="{FF2B5EF4-FFF2-40B4-BE49-F238E27FC236}">
                <a16:creationId xmlns:a16="http://schemas.microsoft.com/office/drawing/2014/main" id="{A406EB31-E737-4771-B3C2-572868785244}"/>
              </a:ext>
            </a:extLst>
          </p:cNvPr>
          <p:cNvSpPr/>
          <p:nvPr userDrawn="1"/>
        </p:nvSpPr>
        <p:spPr>
          <a:xfrm>
            <a:off x="0" y="99"/>
            <a:ext cx="12192000" cy="685799"/>
          </a:xfrm>
          <a:prstGeom prst="rect">
            <a:avLst/>
          </a:prstGeom>
          <a:solidFill>
            <a:srgbClr val="002F56"/>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1800" dirty="0">
              <a:solidFill>
                <a:prstClr val="white"/>
              </a:solidFill>
            </a:endParaRPr>
          </a:p>
        </p:txBody>
      </p:sp>
      <p:sp>
        <p:nvSpPr>
          <p:cNvPr id="8" name="Slide Number Placeholder 5">
            <a:extLst>
              <a:ext uri="{FF2B5EF4-FFF2-40B4-BE49-F238E27FC236}">
                <a16:creationId xmlns:a16="http://schemas.microsoft.com/office/drawing/2014/main" id="{5F578217-7A94-4F44-AF02-9E4CD71FF315}"/>
              </a:ext>
            </a:extLst>
          </p:cNvPr>
          <p:cNvSpPr>
            <a:spLocks noGrp="1"/>
          </p:cNvSpPr>
          <p:nvPr>
            <p:ph type="sldNum" sz="quarter" idx="12"/>
          </p:nvPr>
        </p:nvSpPr>
        <p:spPr>
          <a:xfrm>
            <a:off x="9148841" y="6356449"/>
            <a:ext cx="2844800" cy="365125"/>
          </a:xfrm>
          <a:prstGeom prst="rect">
            <a:avLst/>
          </a:prstGeom>
          <a:effectLst/>
        </p:spPr>
        <p:txBody>
          <a:bodyPr/>
          <a:lstStyle>
            <a:lvl1pPr>
              <a:defRPr sz="1000">
                <a:latin typeface="Arial" panose="020B0604020202020204" pitchFamily="34" charset="0"/>
                <a:cs typeface="Arial" panose="020B0604020202020204" pitchFamily="34" charset="0"/>
              </a:defRPr>
            </a:lvl1pPr>
          </a:lstStyle>
          <a:p>
            <a:fld id="{D983F1FA-211D-3044-9E35-958DFBC26156}" type="slidenum">
              <a:rPr lang="en-US" smtClean="0">
                <a:solidFill>
                  <a:prstClr val="white"/>
                </a:solidFill>
              </a:rPr>
              <a:pPr/>
              <a:t>‹#›</a:t>
            </a:fld>
            <a:endParaRPr lang="en-US" sz="1000" dirty="0">
              <a:solidFill>
                <a:prstClr val="white"/>
              </a:solidFill>
            </a:endParaRPr>
          </a:p>
        </p:txBody>
      </p:sp>
    </p:spTree>
    <p:extLst>
      <p:ext uri="{BB962C8B-B14F-4D97-AF65-F5344CB8AC3E}">
        <p14:creationId xmlns:p14="http://schemas.microsoft.com/office/powerpoint/2010/main" val="40259457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2119" y="1594"/>
          <a:ext cx="2116"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4" name="Object 3" hidden="1"/>
                      <p:cNvPicPr/>
                      <p:nvPr/>
                    </p:nvPicPr>
                    <p:blipFill>
                      <a:blip r:embed="rId4"/>
                      <a:stretch>
                        <a:fillRect/>
                      </a:stretch>
                    </p:blipFill>
                    <p:spPr>
                      <a:xfrm>
                        <a:off x="2119" y="1594"/>
                        <a:ext cx="2116" cy="1587"/>
                      </a:xfrm>
                      <a:prstGeom prst="rect">
                        <a:avLst/>
                      </a:prstGeom>
                    </p:spPr>
                  </p:pic>
                </p:oleObj>
              </mc:Fallback>
            </mc:AlternateContent>
          </a:graphicData>
        </a:graphic>
      </p:graphicFrame>
      <p:sp>
        <p:nvSpPr>
          <p:cNvPr id="2" name="Title 1"/>
          <p:cNvSpPr>
            <a:spLocks noGrp="1"/>
          </p:cNvSpPr>
          <p:nvPr>
            <p:ph type="ctrTitle"/>
          </p:nvPr>
        </p:nvSpPr>
        <p:spPr>
          <a:xfrm>
            <a:off x="3934673" y="2591311"/>
            <a:ext cx="7928345" cy="1905255"/>
          </a:xfrm>
        </p:spPr>
        <p:txBody>
          <a:bodyPr/>
          <a:lstStyle>
            <a:lvl1pPr algn="l">
              <a:defRPr>
                <a:solidFill>
                  <a:schemeClr val="accent2"/>
                </a:solidFill>
              </a:defRPr>
            </a:lvl1pPr>
          </a:lstStyle>
          <a:p>
            <a:r>
              <a:rPr lang="en-US"/>
              <a:t>Click to edit Master title style</a:t>
            </a:r>
          </a:p>
        </p:txBody>
      </p:sp>
      <p:sp>
        <p:nvSpPr>
          <p:cNvPr id="3" name="Subtitle 2"/>
          <p:cNvSpPr>
            <a:spLocks noGrp="1"/>
          </p:cNvSpPr>
          <p:nvPr>
            <p:ph type="subTitle" idx="1" hasCustomPrompt="1"/>
          </p:nvPr>
        </p:nvSpPr>
        <p:spPr>
          <a:xfrm>
            <a:off x="3895118" y="4803735"/>
            <a:ext cx="7968015" cy="450535"/>
          </a:xfrm>
        </p:spPr>
        <p:txBody>
          <a:bodyPr/>
          <a:lstStyle>
            <a:lvl1pPr marL="0" indent="0" algn="l">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Date</a:t>
            </a:r>
          </a:p>
        </p:txBody>
      </p:sp>
      <p:sp>
        <p:nvSpPr>
          <p:cNvPr id="7" name="Slide Number Placeholder 5"/>
          <p:cNvSpPr txBox="1">
            <a:spLocks/>
          </p:cNvSpPr>
          <p:nvPr userDrawn="1"/>
        </p:nvSpPr>
        <p:spPr>
          <a:xfrm>
            <a:off x="9250441" y="6400237"/>
            <a:ext cx="28448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983F1FA-211D-3044-9E35-958DFBC26156}" type="slidenum">
              <a:rPr lang="en-US" sz="1200" smtClean="0">
                <a:solidFill>
                  <a:prstClr val="white"/>
                </a:solidFill>
              </a:rPr>
              <a:pPr/>
              <a:t>‹#›</a:t>
            </a:fld>
            <a:endParaRPr lang="en-US" sz="1200" dirty="0">
              <a:solidFill>
                <a:prstClr val="white"/>
              </a:solidFill>
            </a:endParaRPr>
          </a:p>
        </p:txBody>
      </p:sp>
      <p:sp>
        <p:nvSpPr>
          <p:cNvPr id="8" name="Rectangle 7"/>
          <p:cNvSpPr/>
          <p:nvPr userDrawn="1"/>
        </p:nvSpPr>
        <p:spPr>
          <a:xfrm>
            <a:off x="0" y="5376959"/>
            <a:ext cx="12192000" cy="1481139"/>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sz="1800" dirty="0">
              <a:solidFill>
                <a:prstClr val="white"/>
              </a:solidFill>
            </a:endParaRPr>
          </a:p>
        </p:txBody>
      </p:sp>
      <p:sp>
        <p:nvSpPr>
          <p:cNvPr id="9" name="Rectangle 8">
            <a:extLst>
              <a:ext uri="{FF2B5EF4-FFF2-40B4-BE49-F238E27FC236}">
                <a16:creationId xmlns:a16="http://schemas.microsoft.com/office/drawing/2014/main" id="{E3BBF127-B7C0-4FF3-84D2-136E58243316}"/>
              </a:ext>
            </a:extLst>
          </p:cNvPr>
          <p:cNvSpPr/>
          <p:nvPr userDrawn="1"/>
        </p:nvSpPr>
        <p:spPr>
          <a:xfrm>
            <a:off x="0" y="99"/>
            <a:ext cx="12192000" cy="685799"/>
          </a:xfrm>
          <a:prstGeom prst="rect">
            <a:avLst/>
          </a:prstGeom>
          <a:solidFill>
            <a:srgbClr val="002F56"/>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1800" dirty="0">
              <a:solidFill>
                <a:prstClr val="white"/>
              </a:solidFill>
            </a:endParaRPr>
          </a:p>
        </p:txBody>
      </p:sp>
      <p:pic>
        <p:nvPicPr>
          <p:cNvPr id="11" name="Picture 10">
            <a:extLst>
              <a:ext uri="{FF2B5EF4-FFF2-40B4-BE49-F238E27FC236}">
                <a16:creationId xmlns:a16="http://schemas.microsoft.com/office/drawing/2014/main" id="{C93D8262-F758-784E-3F31-1E9C278BEFB3}"/>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6852745" y="5226132"/>
            <a:ext cx="4048257" cy="1631769"/>
          </a:xfrm>
          <a:prstGeom prst="rect">
            <a:avLst/>
          </a:prstGeom>
        </p:spPr>
      </p:pic>
    </p:spTree>
    <p:extLst>
      <p:ext uri="{BB962C8B-B14F-4D97-AF65-F5344CB8AC3E}">
        <p14:creationId xmlns:p14="http://schemas.microsoft.com/office/powerpoint/2010/main" val="4163097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2119" y="1594"/>
          <a:ext cx="2116"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4" name="Object 3" hidden="1"/>
                      <p:cNvPicPr/>
                      <p:nvPr/>
                    </p:nvPicPr>
                    <p:blipFill>
                      <a:blip r:embed="rId4"/>
                      <a:stretch>
                        <a:fillRect/>
                      </a:stretch>
                    </p:blipFill>
                    <p:spPr>
                      <a:xfrm>
                        <a:off x="2119" y="1594"/>
                        <a:ext cx="2116" cy="1587"/>
                      </a:xfrm>
                      <a:prstGeom prst="rect">
                        <a:avLst/>
                      </a:prstGeom>
                    </p:spPr>
                  </p:pic>
                </p:oleObj>
              </mc:Fallback>
            </mc:AlternateContent>
          </a:graphicData>
        </a:graphic>
      </p:graphicFrame>
      <p:sp>
        <p:nvSpPr>
          <p:cNvPr id="3" name="Content Placeholder 2"/>
          <p:cNvSpPr>
            <a:spLocks noGrp="1"/>
          </p:cNvSpPr>
          <p:nvPr>
            <p:ph idx="1"/>
          </p:nvPr>
        </p:nvSpPr>
        <p:spPr>
          <a:xfrm>
            <a:off x="609600" y="838201"/>
            <a:ext cx="10972800" cy="5287964"/>
          </a:xfrm>
          <a:effectLst/>
        </p:spPr>
        <p:txBody>
          <a:bodyPr>
            <a:normAutofit/>
          </a:bodyPr>
          <a:lstStyle>
            <a:lvl1pPr>
              <a:defRPr sz="2000">
                <a:latin typeface="Arial" panose="020B0604020202020204" pitchFamily="34" charset="0"/>
                <a:cs typeface="Arial" panose="020B0604020202020204" pitchFamily="34" charset="0"/>
              </a:defRPr>
            </a:lvl1pPr>
            <a:lvl2pPr>
              <a:defRPr sz="18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Placeholder 5"/>
          <p:cNvSpPr>
            <a:spLocks noGrp="1"/>
          </p:cNvSpPr>
          <p:nvPr>
            <p:ph type="sldNum" sz="quarter" idx="12"/>
          </p:nvPr>
        </p:nvSpPr>
        <p:spPr>
          <a:xfrm>
            <a:off x="9148841" y="6356449"/>
            <a:ext cx="2844800" cy="365125"/>
          </a:xfrm>
          <a:prstGeom prst="rect">
            <a:avLst/>
          </a:prstGeom>
          <a:effectLst/>
        </p:spPr>
        <p:txBody>
          <a:bodyPr/>
          <a:lstStyle>
            <a:lvl1pPr>
              <a:defRPr sz="1000">
                <a:latin typeface="Arial" panose="020B0604020202020204" pitchFamily="34" charset="0"/>
                <a:cs typeface="Arial" panose="020B0604020202020204" pitchFamily="34" charset="0"/>
              </a:defRPr>
            </a:lvl1pPr>
          </a:lstStyle>
          <a:p>
            <a:fld id="{D983F1FA-211D-3044-9E35-958DFBC26156}" type="slidenum">
              <a:rPr lang="en-US" smtClean="0">
                <a:solidFill>
                  <a:prstClr val="white"/>
                </a:solidFill>
              </a:rPr>
              <a:pPr/>
              <a:t>‹#›</a:t>
            </a:fld>
            <a:endParaRPr lang="en-US" dirty="0">
              <a:solidFill>
                <a:prstClr val="white"/>
              </a:solidFill>
            </a:endParaRPr>
          </a:p>
        </p:txBody>
      </p:sp>
      <p:sp>
        <p:nvSpPr>
          <p:cNvPr id="2" name="Title 1"/>
          <p:cNvSpPr>
            <a:spLocks noGrp="1"/>
          </p:cNvSpPr>
          <p:nvPr>
            <p:ph type="title"/>
          </p:nvPr>
        </p:nvSpPr>
        <p:spPr>
          <a:xfrm>
            <a:off x="0" y="0"/>
            <a:ext cx="12192000" cy="685800"/>
          </a:xfrm>
          <a:effectLst/>
        </p:spPr>
        <p:txBody>
          <a:bodyPr>
            <a:noAutofit/>
          </a:bodyPr>
          <a:lstStyle>
            <a:lvl1pPr>
              <a:defRPr sz="2600" b="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15689669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627EF-1022-4358-90AD-36A101F183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3F0009-0E59-4D3A-8251-F19C4EB10726}"/>
              </a:ext>
            </a:extLst>
          </p:cNvPr>
          <p:cNvSpPr>
            <a:spLocks noGrp="1"/>
          </p:cNvSpPr>
          <p:nvPr>
            <p:ph sz="half" idx="1"/>
          </p:nvPr>
        </p:nvSpPr>
        <p:spPr>
          <a:xfrm>
            <a:off x="838200" y="1825625"/>
            <a:ext cx="515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AFB2E7-E020-4FC6-AF75-E7B03FA9378D}"/>
              </a:ext>
            </a:extLst>
          </p:cNvPr>
          <p:cNvSpPr>
            <a:spLocks noGrp="1"/>
          </p:cNvSpPr>
          <p:nvPr>
            <p:ph sz="half" idx="2"/>
          </p:nvPr>
        </p:nvSpPr>
        <p:spPr>
          <a:xfrm>
            <a:off x="6197600" y="1825625"/>
            <a:ext cx="515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2EC805C-50A0-42C8-BA51-1E9A5D2E86C5}"/>
              </a:ext>
            </a:extLst>
          </p:cNvPr>
          <p:cNvSpPr>
            <a:spLocks noGrp="1"/>
          </p:cNvSpPr>
          <p:nvPr>
            <p:ph type="dt" sz="half" idx="10"/>
          </p:nvPr>
        </p:nvSpPr>
        <p:spPr/>
        <p:txBody>
          <a:bodyPr/>
          <a:lstStyle/>
          <a:p>
            <a:endParaRPr lang="en-US" dirty="0"/>
          </a:p>
        </p:txBody>
      </p:sp>
      <p:sp>
        <p:nvSpPr>
          <p:cNvPr id="8" name="Slide Number Placeholder 5">
            <a:extLst>
              <a:ext uri="{FF2B5EF4-FFF2-40B4-BE49-F238E27FC236}">
                <a16:creationId xmlns:a16="http://schemas.microsoft.com/office/drawing/2014/main" id="{9C937542-88CD-4561-A338-EB2F6C1993E7}"/>
              </a:ext>
            </a:extLst>
          </p:cNvPr>
          <p:cNvSpPr>
            <a:spLocks noGrp="1"/>
          </p:cNvSpPr>
          <p:nvPr>
            <p:ph type="sldNum" sz="quarter" idx="12"/>
          </p:nvPr>
        </p:nvSpPr>
        <p:spPr>
          <a:xfrm>
            <a:off x="9148841" y="6356449"/>
            <a:ext cx="2844800" cy="365125"/>
          </a:xfrm>
          <a:prstGeom prst="rect">
            <a:avLst/>
          </a:prstGeom>
          <a:effectLst/>
        </p:spPr>
        <p:txBody>
          <a:bodyPr/>
          <a:lstStyle>
            <a:lvl1pPr>
              <a:defRPr sz="1000">
                <a:latin typeface="Arial" panose="020B0604020202020204" pitchFamily="34" charset="0"/>
                <a:cs typeface="Arial" panose="020B0604020202020204" pitchFamily="34" charset="0"/>
              </a:defRPr>
            </a:lvl1pPr>
          </a:lstStyle>
          <a:p>
            <a:fld id="{D983F1FA-211D-3044-9E35-958DFBC26156}" type="slidenum">
              <a:rPr lang="en-US" smtClean="0">
                <a:solidFill>
                  <a:prstClr val="white"/>
                </a:solidFill>
              </a:rPr>
              <a:pPr/>
              <a:t>‹#›</a:t>
            </a:fld>
            <a:endParaRPr lang="en-US" sz="1000" dirty="0">
              <a:solidFill>
                <a:prstClr val="white"/>
              </a:solidFill>
            </a:endParaRPr>
          </a:p>
        </p:txBody>
      </p:sp>
    </p:spTree>
    <p:extLst>
      <p:ext uri="{BB962C8B-B14F-4D97-AF65-F5344CB8AC3E}">
        <p14:creationId xmlns:p14="http://schemas.microsoft.com/office/powerpoint/2010/main" val="5787171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787F1D-8053-4C90-A584-8B1CEADF4FFC}"/>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552E97FE-B371-4616-A36F-916A1B2404FE}"/>
              </a:ext>
            </a:extLst>
          </p:cNvPr>
          <p:cNvSpPr>
            <a:spLocks noGrp="1"/>
          </p:cNvSpPr>
          <p:nvPr>
            <p:ph type="ftr" sz="quarter" idx="11"/>
          </p:nvPr>
        </p:nvSpPr>
        <p:spPr>
          <a:xfrm>
            <a:off x="4165600" y="6356449"/>
            <a:ext cx="3860800" cy="365125"/>
          </a:xfrm>
          <a:prstGeom prst="rect">
            <a:avLst/>
          </a:prstGeom>
        </p:spPr>
        <p:txBody>
          <a:bodyPr/>
          <a:lstStyle/>
          <a:p>
            <a:endParaRPr lang="en-US" dirty="0"/>
          </a:p>
        </p:txBody>
      </p:sp>
      <p:sp>
        <p:nvSpPr>
          <p:cNvPr id="5" name="Slide Number Placeholder 5">
            <a:extLst>
              <a:ext uri="{FF2B5EF4-FFF2-40B4-BE49-F238E27FC236}">
                <a16:creationId xmlns:a16="http://schemas.microsoft.com/office/drawing/2014/main" id="{08585CE4-84C0-4CB9-AC9F-3F457D82615F}"/>
              </a:ext>
            </a:extLst>
          </p:cNvPr>
          <p:cNvSpPr>
            <a:spLocks noGrp="1"/>
          </p:cNvSpPr>
          <p:nvPr>
            <p:ph type="sldNum" sz="quarter" idx="12"/>
          </p:nvPr>
        </p:nvSpPr>
        <p:spPr>
          <a:xfrm>
            <a:off x="9148841" y="6356449"/>
            <a:ext cx="2844800" cy="365125"/>
          </a:xfrm>
          <a:prstGeom prst="rect">
            <a:avLst/>
          </a:prstGeom>
          <a:effectLst/>
        </p:spPr>
        <p:txBody>
          <a:bodyPr/>
          <a:lstStyle>
            <a:lvl1pPr>
              <a:defRPr sz="1000">
                <a:latin typeface="Arial" panose="020B0604020202020204" pitchFamily="34" charset="0"/>
                <a:cs typeface="Arial" panose="020B0604020202020204" pitchFamily="34" charset="0"/>
              </a:defRPr>
            </a:lvl1pPr>
          </a:lstStyle>
          <a:p>
            <a:fld id="{D983F1FA-211D-3044-9E35-958DFBC26156}" type="slidenum">
              <a:rPr lang="en-US" smtClean="0">
                <a:solidFill>
                  <a:prstClr val="white"/>
                </a:solidFill>
              </a:rPr>
              <a:pPr/>
              <a:t>‹#›</a:t>
            </a:fld>
            <a:endParaRPr lang="en-US" sz="1000" dirty="0">
              <a:solidFill>
                <a:prstClr val="white"/>
              </a:solidFill>
            </a:endParaRPr>
          </a:p>
        </p:txBody>
      </p:sp>
      <p:sp>
        <p:nvSpPr>
          <p:cNvPr id="6" name="Footer Placeholder 4">
            <a:extLst>
              <a:ext uri="{FF2B5EF4-FFF2-40B4-BE49-F238E27FC236}">
                <a16:creationId xmlns:a16="http://schemas.microsoft.com/office/drawing/2014/main" id="{A2946D72-9669-4B12-8F2A-98A4507F7A0A}"/>
              </a:ext>
            </a:extLst>
          </p:cNvPr>
          <p:cNvSpPr txBox="1">
            <a:spLocks/>
          </p:cNvSpPr>
          <p:nvPr userDrawn="1"/>
        </p:nvSpPr>
        <p:spPr>
          <a:xfrm>
            <a:off x="4165600" y="6356449"/>
            <a:ext cx="3860800" cy="365125"/>
          </a:xfrm>
          <a:prstGeom prst="rect">
            <a:avLst/>
          </a:prstGeom>
        </p:spPr>
        <p:txBody>
          <a:bodyPr lIns="91440" tIns="45720" rIns="91440" bIns="45720"/>
          <a:lstStyle>
            <a:defPPr>
              <a:defRPr lang="en-US"/>
            </a:defPPr>
            <a:lvl1pPr marL="0" algn="ctr" defTabSz="457200" rtl="0" eaLnBrk="1" latinLnBrk="0" hangingPunct="1">
              <a:defRPr sz="1000" kern="1200">
                <a:solidFill>
                  <a:schemeClr val="bg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000" dirty="0"/>
              <a:t>Working Draft, Pre-Decisional, Deliberative Document - Internal VA Use Only</a:t>
            </a:r>
          </a:p>
        </p:txBody>
      </p:sp>
    </p:spTree>
    <p:extLst>
      <p:ext uri="{BB962C8B-B14F-4D97-AF65-F5344CB8AC3E}">
        <p14:creationId xmlns:p14="http://schemas.microsoft.com/office/powerpoint/2010/main" val="29007801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Title, Content, and Sidebar Photo">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95C181A-A9BA-764D-9C94-AB35096B24E3}"/>
              </a:ext>
            </a:extLst>
          </p:cNvPr>
          <p:cNvPicPr>
            <a:picLocks noChangeAspect="1"/>
          </p:cNvPicPr>
          <p:nvPr userDrawn="1"/>
        </p:nvPicPr>
        <p:blipFill rotWithShape="1">
          <a:blip r:embed="rId2" cstate="print">
            <a:alphaModFix amt="7000"/>
            <a:extLst>
              <a:ext uri="{28A0092B-C50C-407E-A947-70E740481C1C}">
                <a14:useLocalDpi xmlns:a14="http://schemas.microsoft.com/office/drawing/2010/main"/>
              </a:ext>
            </a:extLst>
          </a:blip>
          <a:srcRect t="33903" b="4214"/>
          <a:stretch/>
        </p:blipFill>
        <p:spPr>
          <a:xfrm>
            <a:off x="0" y="1431561"/>
            <a:ext cx="12192000" cy="4289763"/>
          </a:xfrm>
          <a:prstGeom prst="rect">
            <a:avLst/>
          </a:prstGeom>
        </p:spPr>
      </p:pic>
      <p:sp>
        <p:nvSpPr>
          <p:cNvPr id="11" name="Picture Placeholder 2">
            <a:extLst>
              <a:ext uri="{FF2B5EF4-FFF2-40B4-BE49-F238E27FC236}">
                <a16:creationId xmlns:a16="http://schemas.microsoft.com/office/drawing/2014/main" id="{F89232B3-75B4-4844-BDA8-8CA59EC50269}"/>
              </a:ext>
            </a:extLst>
          </p:cNvPr>
          <p:cNvSpPr>
            <a:spLocks noGrp="1" noChangeAspect="1"/>
          </p:cNvSpPr>
          <p:nvPr>
            <p:ph type="pic" idx="14"/>
          </p:nvPr>
        </p:nvSpPr>
        <p:spPr>
          <a:xfrm>
            <a:off x="7342409" y="1686408"/>
            <a:ext cx="4011391" cy="3740031"/>
          </a:xfrm>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14" name="Content Placeholder 2">
            <a:extLst>
              <a:ext uri="{FF2B5EF4-FFF2-40B4-BE49-F238E27FC236}">
                <a16:creationId xmlns:a16="http://schemas.microsoft.com/office/drawing/2014/main" id="{300C3B68-8455-D448-9503-AB8AC173FFAE}"/>
              </a:ext>
            </a:extLst>
          </p:cNvPr>
          <p:cNvSpPr>
            <a:spLocks noGrp="1"/>
          </p:cNvSpPr>
          <p:nvPr>
            <p:ph idx="1"/>
          </p:nvPr>
        </p:nvSpPr>
        <p:spPr>
          <a:xfrm>
            <a:off x="838202" y="1686408"/>
            <a:ext cx="6117234" cy="3740031"/>
          </a:xfrm>
        </p:spPr>
        <p:txBody>
          <a:bodyPr/>
          <a:lstStyle>
            <a:lvl1pPr>
              <a:lnSpc>
                <a:spcPct val="110000"/>
              </a:lnSpc>
              <a:defRPr>
                <a:solidFill>
                  <a:schemeClr val="bg1"/>
                </a:solidFill>
              </a:defRPr>
            </a:lvl1pPr>
            <a:lvl2pPr>
              <a:lnSpc>
                <a:spcPct val="110000"/>
              </a:lnSpc>
              <a:defRPr>
                <a:solidFill>
                  <a:schemeClr val="bg1"/>
                </a:solidFill>
              </a:defRPr>
            </a:lvl2pPr>
            <a:lvl3pPr>
              <a:lnSpc>
                <a:spcPct val="110000"/>
              </a:lnSpc>
              <a:defRPr>
                <a:solidFill>
                  <a:schemeClr val="bg1"/>
                </a:solidFill>
              </a:defRPr>
            </a:lvl3pPr>
            <a:lvl4pPr>
              <a:lnSpc>
                <a:spcPct val="110000"/>
              </a:lnSpc>
              <a:defRPr>
                <a:solidFill>
                  <a:schemeClr val="bg1"/>
                </a:solidFill>
              </a:defRPr>
            </a:lvl4pPr>
            <a:lvl5pPr>
              <a:lnSpc>
                <a:spcPct val="110000"/>
              </a:lnSpc>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1">
            <a:extLst>
              <a:ext uri="{FF2B5EF4-FFF2-40B4-BE49-F238E27FC236}">
                <a16:creationId xmlns:a16="http://schemas.microsoft.com/office/drawing/2014/main" id="{B54B5D15-7620-8943-B1D6-C4989A375AA5}"/>
              </a:ext>
            </a:extLst>
          </p:cNvPr>
          <p:cNvSpPr>
            <a:spLocks noGrp="1"/>
          </p:cNvSpPr>
          <p:nvPr>
            <p:ph type="title" hasCustomPrompt="1"/>
          </p:nvPr>
        </p:nvSpPr>
        <p:spPr>
          <a:xfrm>
            <a:off x="838200" y="542841"/>
            <a:ext cx="8665564" cy="752929"/>
          </a:xfrm>
          <a:prstGeom prst="rect">
            <a:avLst/>
          </a:prstGeom>
        </p:spPr>
        <p:txBody>
          <a:bodyPr/>
          <a:lstStyle>
            <a:lvl1pPr algn="l">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52977112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hree Column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542841"/>
            <a:ext cx="8665564" cy="752929"/>
          </a:xfrm>
          <a:prstGeom prst="rect">
            <a:avLst/>
          </a:prstGeom>
        </p:spPr>
        <p:txBody>
          <a:bodyPr/>
          <a:lstStyle>
            <a:lvl1pPr algn="l">
              <a:defRPr>
                <a:solidFill>
                  <a:schemeClr val="bg1"/>
                </a:solidFill>
              </a:defRPr>
            </a:lvl1pPr>
          </a:lstStyle>
          <a:p>
            <a:r>
              <a:rPr lang="en-US"/>
              <a:t>Click to edit master title style</a:t>
            </a:r>
          </a:p>
        </p:txBody>
      </p:sp>
      <p:sp>
        <p:nvSpPr>
          <p:cNvPr id="3" name="Content Placeholder 2"/>
          <p:cNvSpPr>
            <a:spLocks noGrp="1"/>
          </p:cNvSpPr>
          <p:nvPr>
            <p:ph idx="1" hasCustomPrompt="1"/>
          </p:nvPr>
        </p:nvSpPr>
        <p:spPr>
          <a:xfrm>
            <a:off x="838201" y="1799999"/>
            <a:ext cx="3161670" cy="3499302"/>
          </a:xfrm>
        </p:spPr>
        <p:txBody>
          <a:bodyPr numCol="1"/>
          <a:lstStyle>
            <a:lvl1pPr marL="0" marR="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solidFill>
                  <a:schemeClr val="bg1"/>
                </a:solidFill>
              </a:defRPr>
            </a:lvl1pPr>
            <a:lvl2pPr>
              <a:lnSpc>
                <a:spcPct val="110000"/>
              </a:lnSpc>
              <a:defRPr/>
            </a:lvl2pPr>
            <a:lvl3pPr>
              <a:lnSpc>
                <a:spcPct val="110000"/>
              </a:lnSpc>
              <a:defRPr/>
            </a:lvl3pPr>
            <a:lvl4pPr>
              <a:lnSpc>
                <a:spcPct val="110000"/>
              </a:lnSpc>
              <a:defRPr/>
            </a:lvl4pPr>
            <a:lvl5pPr marL="1828800" indent="0">
              <a:lnSpc>
                <a:spcPct val="110000"/>
              </a:lnSpc>
              <a:buNone/>
              <a:defRPr/>
            </a:lvl5pPr>
          </a:lstStyle>
          <a:p>
            <a:pPr lvl="0"/>
            <a:r>
              <a:rPr lang="en-US"/>
              <a:t>Three Column Text</a:t>
            </a:r>
          </a:p>
        </p:txBody>
      </p:sp>
      <p:sp>
        <p:nvSpPr>
          <p:cNvPr id="5" name="Content Placeholder 2">
            <a:extLst>
              <a:ext uri="{FF2B5EF4-FFF2-40B4-BE49-F238E27FC236}">
                <a16:creationId xmlns:a16="http://schemas.microsoft.com/office/drawing/2014/main" id="{418FA6DC-767D-C246-9E72-AEBCA386F482}"/>
              </a:ext>
            </a:extLst>
          </p:cNvPr>
          <p:cNvSpPr>
            <a:spLocks noGrp="1"/>
          </p:cNvSpPr>
          <p:nvPr>
            <p:ph idx="10" hasCustomPrompt="1"/>
          </p:nvPr>
        </p:nvSpPr>
        <p:spPr>
          <a:xfrm>
            <a:off x="4515165" y="1799999"/>
            <a:ext cx="3161670" cy="3499302"/>
          </a:xfrm>
        </p:spPr>
        <p:txBody>
          <a:bodyPr numCol="1"/>
          <a:lstStyle>
            <a:lvl1pPr marL="0" marR="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solidFill>
                  <a:schemeClr val="bg1"/>
                </a:solidFill>
              </a:defRPr>
            </a:lvl1pPr>
            <a:lvl2pPr>
              <a:lnSpc>
                <a:spcPct val="110000"/>
              </a:lnSpc>
              <a:defRPr/>
            </a:lvl2pPr>
            <a:lvl3pPr>
              <a:lnSpc>
                <a:spcPct val="110000"/>
              </a:lnSpc>
              <a:defRPr/>
            </a:lvl3pPr>
            <a:lvl4pPr>
              <a:lnSpc>
                <a:spcPct val="110000"/>
              </a:lnSpc>
              <a:defRPr/>
            </a:lvl4pPr>
            <a:lvl5pPr marL="1828800" indent="0">
              <a:lnSpc>
                <a:spcPct val="110000"/>
              </a:lnSpc>
              <a:buNone/>
              <a:defRPr/>
            </a:lvl5pPr>
          </a:lstStyle>
          <a:p>
            <a:pPr lvl="0"/>
            <a:r>
              <a:rPr lang="en-US"/>
              <a:t>Three Column Text</a:t>
            </a:r>
          </a:p>
        </p:txBody>
      </p:sp>
      <p:sp>
        <p:nvSpPr>
          <p:cNvPr id="6" name="Content Placeholder 2">
            <a:extLst>
              <a:ext uri="{FF2B5EF4-FFF2-40B4-BE49-F238E27FC236}">
                <a16:creationId xmlns:a16="http://schemas.microsoft.com/office/drawing/2014/main" id="{B41E6513-3F0C-8343-90AD-D2400055D19D}"/>
              </a:ext>
            </a:extLst>
          </p:cNvPr>
          <p:cNvSpPr>
            <a:spLocks noGrp="1"/>
          </p:cNvSpPr>
          <p:nvPr>
            <p:ph idx="11" hasCustomPrompt="1"/>
          </p:nvPr>
        </p:nvSpPr>
        <p:spPr>
          <a:xfrm>
            <a:off x="8192129" y="1799999"/>
            <a:ext cx="3161670" cy="3499302"/>
          </a:xfrm>
        </p:spPr>
        <p:txBody>
          <a:bodyPr numCol="1"/>
          <a:lstStyle>
            <a:lvl1pPr marL="0" marR="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solidFill>
                  <a:schemeClr val="bg1"/>
                </a:solidFill>
              </a:defRPr>
            </a:lvl1pPr>
            <a:lvl2pPr>
              <a:lnSpc>
                <a:spcPct val="110000"/>
              </a:lnSpc>
              <a:defRPr/>
            </a:lvl2pPr>
            <a:lvl3pPr>
              <a:lnSpc>
                <a:spcPct val="110000"/>
              </a:lnSpc>
              <a:defRPr/>
            </a:lvl3pPr>
            <a:lvl4pPr>
              <a:lnSpc>
                <a:spcPct val="110000"/>
              </a:lnSpc>
              <a:defRPr/>
            </a:lvl4pPr>
            <a:lvl5pPr marL="1828800" indent="0">
              <a:lnSpc>
                <a:spcPct val="110000"/>
              </a:lnSpc>
              <a:buNone/>
              <a:defRPr/>
            </a:lvl5pPr>
          </a:lstStyle>
          <a:p>
            <a:pPr lvl="0"/>
            <a:r>
              <a:rPr lang="en-US"/>
              <a:t>Three Column Text</a:t>
            </a:r>
          </a:p>
        </p:txBody>
      </p:sp>
    </p:spTree>
    <p:extLst>
      <p:ext uri="{BB962C8B-B14F-4D97-AF65-F5344CB8AC3E}">
        <p14:creationId xmlns:p14="http://schemas.microsoft.com/office/powerpoint/2010/main" val="1075822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1.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oleObject" Target="../embeddings/oleObject2.bin"/><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ags" Target="../tags/tag4.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ags" Target="../tags/tag3.xml"/><Relationship Id="rId5" Type="http://schemas.openxmlformats.org/officeDocument/2006/relationships/slideLayout" Target="../slideLayouts/slideLayout15.xml"/><Relationship Id="rId15" Type="http://schemas.openxmlformats.org/officeDocument/2006/relationships/image" Target="../media/image2.png"/><Relationship Id="rId10" Type="http://schemas.openxmlformats.org/officeDocument/2006/relationships/theme" Target="../theme/theme2.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image" Target="../media/image7.png"/><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image" Target="../media/image6.emf"/><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oleObject" Target="../embeddings/oleObject3.bin"/><Relationship Id="rId5" Type="http://schemas.openxmlformats.org/officeDocument/2006/relationships/slideLayout" Target="../slideLayouts/slideLayout24.xml"/><Relationship Id="rId10" Type="http://schemas.openxmlformats.org/officeDocument/2006/relationships/tags" Target="../tags/tag5.xml"/><Relationship Id="rId4" Type="http://schemas.openxmlformats.org/officeDocument/2006/relationships/slideLayout" Target="../slideLayouts/slideLayout23.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image" Target="../media/image2.png"/><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image" Target="../media/image6.emf"/><Relationship Id="rId5" Type="http://schemas.openxmlformats.org/officeDocument/2006/relationships/slideLayout" Target="../slideLayouts/slideLayout32.xml"/><Relationship Id="rId10" Type="http://schemas.openxmlformats.org/officeDocument/2006/relationships/oleObject" Target="../embeddings/oleObject6.bin"/><Relationship Id="rId4" Type="http://schemas.openxmlformats.org/officeDocument/2006/relationships/slideLayout" Target="../slideLayouts/slideLayout31.xml"/><Relationship Id="rId9" Type="http://schemas.openxmlformats.org/officeDocument/2006/relationships/tags" Target="../tags/tag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3E72"/>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BD078E2-9CB4-46A0-895E-ACAA51683EE8}"/>
              </a:ext>
            </a:extLst>
          </p:cNvPr>
          <p:cNvGraphicFramePr>
            <a:graphicFrameLocks noChangeAspect="1"/>
          </p:cNvGraphicFramePr>
          <p:nvPr userDrawn="1">
            <p:custDataLst>
              <p:tags r:id="rId12"/>
            </p:custDataLst>
            <p:extLst>
              <p:ext uri="{D42A27DB-BD31-4B8C-83A1-F6EECF244321}">
                <p14:modId xmlns:p14="http://schemas.microsoft.com/office/powerpoint/2010/main" val="23512091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395" imgH="396" progId="TCLayout.ActiveDocument.1">
                  <p:embed/>
                </p:oleObj>
              </mc:Choice>
              <mc:Fallback>
                <p:oleObj name="think-cell Slide" r:id="rId14" imgW="395" imgH="396" progId="TCLayout.ActiveDocument.1">
                  <p:embed/>
                  <p:pic>
                    <p:nvPicPr>
                      <p:cNvPr id="5" name="Object 4" hidden="1">
                        <a:extLst>
                          <a:ext uri="{FF2B5EF4-FFF2-40B4-BE49-F238E27FC236}">
                            <a16:creationId xmlns:a16="http://schemas.microsoft.com/office/drawing/2014/main" id="{9BD078E2-9CB4-46A0-895E-ACAA51683EE8}"/>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D9D75F2B-26F1-4B72-B4D6-4920F47D18C5}"/>
              </a:ext>
            </a:extLst>
          </p:cNvPr>
          <p:cNvSpPr/>
          <p:nvPr userDrawn="1">
            <p:custDataLst>
              <p:tags r:id="rId1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3600" b="1" i="0" baseline="0" dirty="0">
              <a:latin typeface="Calibri" panose="020F0502020204030204" pitchFamily="34" charset="0"/>
              <a:ea typeface="+mj-ea"/>
              <a:cs typeface="+mj-cs"/>
              <a:sym typeface="Calibri" panose="020F0502020204030204" pitchFamily="34" charset="0"/>
            </a:endParaRPr>
          </a:p>
        </p:txBody>
      </p:sp>
      <p:sp>
        <p:nvSpPr>
          <p:cNvPr id="3" name="Text Placeholder 2"/>
          <p:cNvSpPr>
            <a:spLocks noGrp="1"/>
          </p:cNvSpPr>
          <p:nvPr>
            <p:ph type="body" idx="1"/>
          </p:nvPr>
        </p:nvSpPr>
        <p:spPr>
          <a:xfrm>
            <a:off x="838200" y="1295770"/>
            <a:ext cx="10515600" cy="462798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0282AFD7-9EFA-6C4F-B6A5-7614434EE618}"/>
              </a:ext>
            </a:extLst>
          </p:cNvPr>
          <p:cNvSpPr/>
          <p:nvPr userDrawn="1"/>
        </p:nvSpPr>
        <p:spPr>
          <a:xfrm>
            <a:off x="0" y="5909238"/>
            <a:ext cx="12192000" cy="948762"/>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1800" dirty="0">
              <a:solidFill>
                <a:prstClr val="white"/>
              </a:solidFill>
            </a:endParaRPr>
          </a:p>
        </p:txBody>
      </p:sp>
      <p:pic>
        <p:nvPicPr>
          <p:cNvPr id="19" name="Picture 18">
            <a:extLst>
              <a:ext uri="{FF2B5EF4-FFF2-40B4-BE49-F238E27FC236}">
                <a16:creationId xmlns:a16="http://schemas.microsoft.com/office/drawing/2014/main" id="{38720615-61FF-6E41-A7ED-80FB5D7C4C08}"/>
              </a:ext>
            </a:extLst>
          </p:cNvPr>
          <p:cNvPicPr>
            <a:picLocks noChangeAspect="1"/>
          </p:cNvPicPr>
          <p:nvPr userDrawn="1"/>
        </p:nvPicPr>
        <p:blipFill rotWithShape="1">
          <a:blip r:embed="rId16" cstate="print">
            <a:extLst>
              <a:ext uri="{28A0092B-C50C-407E-A947-70E740481C1C}">
                <a14:useLocalDpi xmlns:a14="http://schemas.microsoft.com/office/drawing/2010/main"/>
              </a:ext>
            </a:extLst>
          </a:blip>
          <a:srcRect/>
          <a:stretch/>
        </p:blipFill>
        <p:spPr>
          <a:xfrm>
            <a:off x="9411255" y="5992119"/>
            <a:ext cx="1942545" cy="783000"/>
          </a:xfrm>
          <a:prstGeom prst="rect">
            <a:avLst/>
          </a:prstGeom>
        </p:spPr>
      </p:pic>
    </p:spTree>
    <p:extLst>
      <p:ext uri="{BB962C8B-B14F-4D97-AF65-F5344CB8AC3E}">
        <p14:creationId xmlns:p14="http://schemas.microsoft.com/office/powerpoint/2010/main" val="427538345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Lst>
  <p:hf hdr="0" ftr="0" dt="0"/>
  <p:txStyles>
    <p:titleStyle>
      <a:lvl1pPr algn="l" defTabSz="914400" rtl="0" eaLnBrk="1" latinLnBrk="0" hangingPunct="1">
        <a:lnSpc>
          <a:spcPct val="90000"/>
        </a:lnSpc>
        <a:spcBef>
          <a:spcPct val="0"/>
        </a:spcBef>
        <a:buNone/>
        <a:defRPr sz="3600" b="1" kern="1200">
          <a:solidFill>
            <a:schemeClr val="bg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a:gsLst>
            <a:gs pos="0">
              <a:schemeClr val="accent1">
                <a:lumMod val="5000"/>
                <a:lumOff val="95000"/>
              </a:schemeClr>
            </a:gs>
            <a:gs pos="100000">
              <a:srgbClr val="AEB0B6"/>
            </a:gs>
          </a:gsLst>
          <a:lin ang="5400000" scaled="1"/>
        </a:gra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BD078E2-9CB4-46A0-895E-ACAA51683EE8}"/>
              </a:ext>
            </a:extLst>
          </p:cNvPr>
          <p:cNvGraphicFramePr>
            <a:graphicFrameLocks noChangeAspect="1"/>
          </p:cNvGraphicFramePr>
          <p:nvPr userDrawn="1">
            <p:custDataLst>
              <p:tags r:id="rId11"/>
            </p:custDataLst>
            <p:extLst>
              <p:ext uri="{D42A27DB-BD31-4B8C-83A1-F6EECF244321}">
                <p14:modId xmlns:p14="http://schemas.microsoft.com/office/powerpoint/2010/main" val="23512091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95" imgH="396" progId="TCLayout.ActiveDocument.1">
                  <p:embed/>
                </p:oleObj>
              </mc:Choice>
              <mc:Fallback>
                <p:oleObj name="think-cell Slide" r:id="rId13" imgW="395" imgH="396" progId="TCLayout.ActiveDocument.1">
                  <p:embed/>
                  <p:pic>
                    <p:nvPicPr>
                      <p:cNvPr id="5" name="Object 4" hidden="1">
                        <a:extLst>
                          <a:ext uri="{FF2B5EF4-FFF2-40B4-BE49-F238E27FC236}">
                            <a16:creationId xmlns:a16="http://schemas.microsoft.com/office/drawing/2014/main" id="{9BD078E2-9CB4-46A0-895E-ACAA51683EE8}"/>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D9D75F2B-26F1-4B72-B4D6-4920F47D18C5}"/>
              </a:ext>
            </a:extLst>
          </p:cNvPr>
          <p:cNvSpPr/>
          <p:nvPr userDrawn="1">
            <p:custDataLst>
              <p:tags r:id="rId1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3600" b="1" i="0" baseline="0" dirty="0">
              <a:latin typeface="Calibri" panose="020F0502020204030204" pitchFamily="34" charset="0"/>
              <a:ea typeface="+mj-ea"/>
              <a:cs typeface="+mj-cs"/>
              <a:sym typeface="Calibri" panose="020F0502020204030204" pitchFamily="34" charset="0"/>
            </a:endParaRPr>
          </a:p>
        </p:txBody>
      </p:sp>
      <p:sp>
        <p:nvSpPr>
          <p:cNvPr id="15" name="Rectangle 14">
            <a:extLst>
              <a:ext uri="{FF2B5EF4-FFF2-40B4-BE49-F238E27FC236}">
                <a16:creationId xmlns:a16="http://schemas.microsoft.com/office/drawing/2014/main" id="{0282AFD7-9EFA-6C4F-B6A5-7614434EE618}"/>
              </a:ext>
            </a:extLst>
          </p:cNvPr>
          <p:cNvSpPr/>
          <p:nvPr userDrawn="1"/>
        </p:nvSpPr>
        <p:spPr>
          <a:xfrm>
            <a:off x="0" y="5909238"/>
            <a:ext cx="12192000" cy="948762"/>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1800" dirty="0">
              <a:solidFill>
                <a:prstClr val="white"/>
              </a:solidFill>
            </a:endParaRPr>
          </a:p>
        </p:txBody>
      </p:sp>
      <p:pic>
        <p:nvPicPr>
          <p:cNvPr id="19" name="Picture 18">
            <a:extLst>
              <a:ext uri="{FF2B5EF4-FFF2-40B4-BE49-F238E27FC236}">
                <a16:creationId xmlns:a16="http://schemas.microsoft.com/office/drawing/2014/main" id="{38720615-61FF-6E41-A7ED-80FB5D7C4C08}"/>
              </a:ext>
            </a:extLst>
          </p:cNvPr>
          <p:cNvPicPr>
            <a:picLocks noChangeAspect="1"/>
          </p:cNvPicPr>
          <p:nvPr userDrawn="1"/>
        </p:nvPicPr>
        <p:blipFill rotWithShape="1">
          <a:blip r:embed="rId15" cstate="print">
            <a:extLst>
              <a:ext uri="{28A0092B-C50C-407E-A947-70E740481C1C}">
                <a14:useLocalDpi xmlns:a14="http://schemas.microsoft.com/office/drawing/2010/main"/>
              </a:ext>
            </a:extLst>
          </a:blip>
          <a:srcRect/>
          <a:stretch/>
        </p:blipFill>
        <p:spPr>
          <a:xfrm>
            <a:off x="9335055" y="5983730"/>
            <a:ext cx="1942545" cy="783000"/>
          </a:xfrm>
          <a:prstGeom prst="rect">
            <a:avLst/>
          </a:prstGeom>
        </p:spPr>
      </p:pic>
      <p:sp>
        <p:nvSpPr>
          <p:cNvPr id="3" name="Text Placeholder 2"/>
          <p:cNvSpPr>
            <a:spLocks noGrp="1"/>
          </p:cNvSpPr>
          <p:nvPr>
            <p:ph type="body" idx="1"/>
          </p:nvPr>
        </p:nvSpPr>
        <p:spPr>
          <a:xfrm>
            <a:off x="838200" y="1295770"/>
            <a:ext cx="10515600" cy="462798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58279806"/>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Lst>
  <p:hf hdr="0" ftr="0" dt="0"/>
  <p:txStyles>
    <p:titleStyle>
      <a:lvl1pPr algn="l" defTabSz="914400" rtl="0" eaLnBrk="1" latinLnBrk="0" hangingPunct="1">
        <a:lnSpc>
          <a:spcPct val="90000"/>
        </a:lnSpc>
        <a:spcBef>
          <a:spcPct val="0"/>
        </a:spcBef>
        <a:buNone/>
        <a:defRPr sz="3600" b="1" kern="1200">
          <a:solidFill>
            <a:schemeClr val="bg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rgbClr val="003E7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003E7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rgbClr val="003E7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003E7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rgbClr val="003E7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0"/>
            </p:custDataLst>
          </p:nvPr>
        </p:nvGraphicFramePr>
        <p:xfrm>
          <a:off x="2119" y="1594"/>
          <a:ext cx="2116" cy="1587"/>
        </p:xfrm>
        <a:graphic>
          <a:graphicData uri="http://schemas.openxmlformats.org/presentationml/2006/ole">
            <mc:AlternateContent xmlns:mc="http://schemas.openxmlformats.org/markup-compatibility/2006">
              <mc:Choice xmlns:v="urn:schemas-microsoft-com:vml" Requires="v">
                <p:oleObj name="think-cell Slide" r:id="rId11" imgW="270" imgH="270" progId="TCLayout.ActiveDocument.1">
                  <p:embed/>
                </p:oleObj>
              </mc:Choice>
              <mc:Fallback>
                <p:oleObj name="think-cell Slide" r:id="rId11" imgW="270" imgH="270" progId="TCLayout.ActiveDocument.1">
                  <p:embed/>
                  <p:pic>
                    <p:nvPicPr>
                      <p:cNvPr id="4" name="Object 3" hidden="1"/>
                      <p:cNvPicPr/>
                      <p:nvPr/>
                    </p:nvPicPr>
                    <p:blipFill>
                      <a:blip r:embed="rId12"/>
                      <a:stretch>
                        <a:fillRect/>
                      </a:stretch>
                    </p:blipFill>
                    <p:spPr>
                      <a:xfrm>
                        <a:off x="2119" y="1594"/>
                        <a:ext cx="2116" cy="1587"/>
                      </a:xfrm>
                      <a:prstGeom prst="rect">
                        <a:avLst/>
                      </a:prstGeom>
                    </p:spPr>
                  </p:pic>
                </p:oleObj>
              </mc:Fallback>
            </mc:AlternateContent>
          </a:graphicData>
        </a:graphic>
      </p:graphicFrame>
      <p:sp>
        <p:nvSpPr>
          <p:cNvPr id="2" name="Title Placeholder 1"/>
          <p:cNvSpPr>
            <a:spLocks noGrp="1"/>
          </p:cNvSpPr>
          <p:nvPr>
            <p:ph type="title"/>
          </p:nvPr>
        </p:nvSpPr>
        <p:spPr>
          <a:xfrm>
            <a:off x="609600" y="0"/>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94"/>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p:cNvSpPr/>
          <p:nvPr userDrawn="1"/>
        </p:nvSpPr>
        <p:spPr>
          <a:xfrm>
            <a:off x="0" y="6140685"/>
            <a:ext cx="12192000" cy="731839"/>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dirty="0">
              <a:solidFill>
                <a:prstClr val="white"/>
              </a:solidFill>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D221FCA4-14F3-4C41-8E91-9F3B1D564C30}"/>
              </a:ext>
            </a:extLst>
          </p:cNvPr>
          <p:cNvSpPr/>
          <p:nvPr userDrawn="1"/>
        </p:nvSpPr>
        <p:spPr>
          <a:xfrm>
            <a:off x="0" y="99"/>
            <a:ext cx="12192000" cy="685799"/>
          </a:xfrm>
          <a:prstGeom prst="rect">
            <a:avLst/>
          </a:prstGeom>
          <a:solidFill>
            <a:srgbClr val="002F56"/>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1800" dirty="0">
              <a:solidFill>
                <a:prstClr val="white"/>
              </a:solidFill>
              <a:latin typeface="Arial" panose="020B0604020202020204" pitchFamily="34" charset="0"/>
              <a:cs typeface="Arial" panose="020B0604020202020204" pitchFamily="34" charset="0"/>
            </a:endParaRPr>
          </a:p>
        </p:txBody>
      </p:sp>
      <p:pic>
        <p:nvPicPr>
          <p:cNvPr id="17" name="Picture 16" descr="3. VA-PRIMARY-HORIZONTAL-WHITE-VECTOR2.png">
            <a:extLst>
              <a:ext uri="{FF2B5EF4-FFF2-40B4-BE49-F238E27FC236}">
                <a16:creationId xmlns:a16="http://schemas.microsoft.com/office/drawing/2014/main" id="{195246C4-D8CB-48A7-ED47-8643A9B39955}"/>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9047241" y="6271414"/>
            <a:ext cx="2265193" cy="491987"/>
          </a:xfrm>
          <a:prstGeom prst="rect">
            <a:avLst/>
          </a:prstGeom>
        </p:spPr>
      </p:pic>
    </p:spTree>
    <p:extLst>
      <p:ext uri="{BB962C8B-B14F-4D97-AF65-F5344CB8AC3E}">
        <p14:creationId xmlns:p14="http://schemas.microsoft.com/office/powerpoint/2010/main" val="963768317"/>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9" r:id="rId8"/>
  </p:sldLayoutIdLst>
  <p:hf hdr="0" ftr="0" dt="0"/>
  <p:txStyles>
    <p:titleStyle>
      <a:lvl1pPr algn="ctr" defTabSz="457200" rtl="0" eaLnBrk="1" latinLnBrk="0" hangingPunct="1">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Arial"/>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9"/>
            </p:custDataLst>
          </p:nvPr>
        </p:nvGraphicFramePr>
        <p:xfrm>
          <a:off x="2119" y="1594"/>
          <a:ext cx="2116" cy="1587"/>
        </p:xfrm>
        <a:graphic>
          <a:graphicData uri="http://schemas.openxmlformats.org/presentationml/2006/ole">
            <mc:AlternateContent xmlns:mc="http://schemas.openxmlformats.org/markup-compatibility/2006">
              <mc:Choice xmlns:v="urn:schemas-microsoft-com:vml" Requires="v">
                <p:oleObj name="think-cell Slide" r:id="rId10" imgW="270" imgH="270" progId="TCLayout.ActiveDocument.1">
                  <p:embed/>
                </p:oleObj>
              </mc:Choice>
              <mc:Fallback>
                <p:oleObj name="think-cell Slide" r:id="rId10" imgW="270" imgH="270" progId="TCLayout.ActiveDocument.1">
                  <p:embed/>
                  <p:pic>
                    <p:nvPicPr>
                      <p:cNvPr id="4" name="Object 3" hidden="1"/>
                      <p:cNvPicPr/>
                      <p:nvPr/>
                    </p:nvPicPr>
                    <p:blipFill>
                      <a:blip r:embed="rId11"/>
                      <a:stretch>
                        <a:fillRect/>
                      </a:stretch>
                    </p:blipFill>
                    <p:spPr>
                      <a:xfrm>
                        <a:off x="2119" y="1594"/>
                        <a:ext cx="2116" cy="1587"/>
                      </a:xfrm>
                      <a:prstGeom prst="rect">
                        <a:avLst/>
                      </a:prstGeom>
                    </p:spPr>
                  </p:pic>
                </p:oleObj>
              </mc:Fallback>
            </mc:AlternateContent>
          </a:graphicData>
        </a:graphic>
      </p:graphicFrame>
      <p:sp>
        <p:nvSpPr>
          <p:cNvPr id="2" name="Title Placeholder 1"/>
          <p:cNvSpPr>
            <a:spLocks noGrp="1"/>
          </p:cNvSpPr>
          <p:nvPr>
            <p:ph type="title"/>
          </p:nvPr>
        </p:nvSpPr>
        <p:spPr>
          <a:xfrm>
            <a:off x="609600" y="0"/>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94"/>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p:cNvSpPr/>
          <p:nvPr/>
        </p:nvSpPr>
        <p:spPr>
          <a:xfrm>
            <a:off x="0" y="6140685"/>
            <a:ext cx="12192000" cy="731839"/>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dirty="0">
              <a:solidFill>
                <a:prstClr val="white"/>
              </a:solidFill>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D221FCA4-14F3-4C41-8E91-9F3B1D564C30}"/>
              </a:ext>
            </a:extLst>
          </p:cNvPr>
          <p:cNvSpPr/>
          <p:nvPr userDrawn="1"/>
        </p:nvSpPr>
        <p:spPr>
          <a:xfrm>
            <a:off x="0" y="99"/>
            <a:ext cx="12192000" cy="685799"/>
          </a:xfrm>
          <a:prstGeom prst="rect">
            <a:avLst/>
          </a:prstGeom>
          <a:solidFill>
            <a:srgbClr val="002F56"/>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1800" dirty="0">
              <a:solidFill>
                <a:prstClr val="white"/>
              </a:solidFill>
              <a:latin typeface="Arial" panose="020B0604020202020204" pitchFamily="34" charset="0"/>
              <a:cs typeface="Arial" panose="020B0604020202020204" pitchFamily="34" charset="0"/>
            </a:endParaRPr>
          </a:p>
        </p:txBody>
      </p:sp>
      <p:pic>
        <p:nvPicPr>
          <p:cNvPr id="16" name="Picture 15">
            <a:extLst>
              <a:ext uri="{FF2B5EF4-FFF2-40B4-BE49-F238E27FC236}">
                <a16:creationId xmlns:a16="http://schemas.microsoft.com/office/drawing/2014/main" id="{7C29FB0C-84E3-1B29-048D-52B56FEE271D}"/>
              </a:ext>
            </a:extLst>
          </p:cNvPr>
          <p:cNvPicPr>
            <a:picLocks noChangeAspect="1"/>
          </p:cNvPicPr>
          <p:nvPr userDrawn="1"/>
        </p:nvPicPr>
        <p:blipFill rotWithShape="1">
          <a:blip r:embed="rId12" cstate="print">
            <a:extLst>
              <a:ext uri="{28A0092B-C50C-407E-A947-70E740481C1C}">
                <a14:useLocalDpi xmlns:a14="http://schemas.microsoft.com/office/drawing/2010/main"/>
              </a:ext>
            </a:extLst>
          </a:blip>
          <a:srcRect/>
          <a:stretch/>
        </p:blipFill>
        <p:spPr>
          <a:xfrm>
            <a:off x="9335055" y="6088830"/>
            <a:ext cx="1942545" cy="783000"/>
          </a:xfrm>
          <a:prstGeom prst="rect">
            <a:avLst/>
          </a:prstGeom>
        </p:spPr>
      </p:pic>
    </p:spTree>
    <p:extLst>
      <p:ext uri="{BB962C8B-B14F-4D97-AF65-F5344CB8AC3E}">
        <p14:creationId xmlns:p14="http://schemas.microsoft.com/office/powerpoint/2010/main" val="4271455274"/>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Lst>
  <p:hf hdr="0" ftr="0" dt="0"/>
  <p:txStyles>
    <p:titleStyle>
      <a:lvl1pPr algn="ctr" defTabSz="457200" rtl="0" eaLnBrk="1" latinLnBrk="0" hangingPunct="1">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Arial"/>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2" Type="http://schemas.openxmlformats.org/officeDocument/2006/relationships/hyperlink" Target="https://www.research.va.gov/programs/shield/about.cfm" TargetMode="Externa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9CACB-58A7-D835-AB84-DE17E5807295}"/>
              </a:ext>
            </a:extLst>
          </p:cNvPr>
          <p:cNvSpPr>
            <a:spLocks noGrp="1"/>
          </p:cNvSpPr>
          <p:nvPr>
            <p:ph type="ctrTitle"/>
          </p:nvPr>
        </p:nvSpPr>
        <p:spPr>
          <a:xfrm>
            <a:off x="2500212" y="2900548"/>
            <a:ext cx="9271908" cy="1015670"/>
          </a:xfrm>
        </p:spPr>
        <p:txBody>
          <a:bodyPr lIns="91440" tIns="45720" rIns="91440" bIns="45720" anchor="ctr">
            <a:noAutofit/>
          </a:bodyPr>
          <a:lstStyle/>
          <a:p>
            <a:r>
              <a:rPr lang="en-US" sz="3200" dirty="0">
                <a:latin typeface="+mn-lt"/>
                <a:cs typeface="Calibri"/>
              </a:rPr>
              <a:t>Military Exposures Research Program</a:t>
            </a:r>
            <a:br>
              <a:rPr lang="en-US" sz="3200" dirty="0">
                <a:latin typeface="+mn-lt"/>
                <a:cs typeface="Calibri"/>
              </a:rPr>
            </a:br>
            <a:br>
              <a:rPr lang="en-US" sz="3200" dirty="0">
                <a:latin typeface="+mn-lt"/>
                <a:cs typeface="Calibri"/>
              </a:rPr>
            </a:br>
            <a:r>
              <a:rPr lang="en-US" sz="3200" b="0" dirty="0">
                <a:latin typeface="+mn-lt"/>
              </a:rPr>
              <a:t>Rudolph Johnson, Ph.D.</a:t>
            </a:r>
            <a:br>
              <a:rPr lang="en-US" sz="3200" b="0" dirty="0">
                <a:latin typeface="+mn-lt"/>
              </a:rPr>
            </a:br>
            <a:r>
              <a:rPr lang="en-US" sz="3200" b="0" dirty="0">
                <a:latin typeface="+mn-lt"/>
              </a:rPr>
              <a:t>12 September</a:t>
            </a:r>
            <a:r>
              <a:rPr lang="en-US" sz="3200" b="0" dirty="0">
                <a:latin typeface="+mn-lt"/>
                <a:cs typeface="Calibri"/>
              </a:rPr>
              <a:t> 2024</a:t>
            </a:r>
            <a:br>
              <a:rPr lang="en-US" sz="4000" dirty="0">
                <a:latin typeface="+mj-lt"/>
                <a:cs typeface="Calibri"/>
              </a:rPr>
            </a:br>
            <a:endParaRPr lang="en-US" sz="4000" dirty="0">
              <a:latin typeface="+mj-lt"/>
            </a:endParaRPr>
          </a:p>
        </p:txBody>
      </p:sp>
    </p:spTree>
    <p:extLst>
      <p:ext uri="{BB962C8B-B14F-4D97-AF65-F5344CB8AC3E}">
        <p14:creationId xmlns:p14="http://schemas.microsoft.com/office/powerpoint/2010/main" val="3772671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CAAC097-AC13-472A-87EB-D3C4A5AD86DA}"/>
              </a:ext>
            </a:extLst>
          </p:cNvPr>
          <p:cNvSpPr/>
          <p:nvPr/>
        </p:nvSpPr>
        <p:spPr>
          <a:xfrm>
            <a:off x="-1" y="1517443"/>
            <a:ext cx="11718759" cy="3785652"/>
          </a:xfrm>
          <a:prstGeom prst="rect">
            <a:avLst/>
          </a:prstGeom>
        </p:spPr>
        <p:txBody>
          <a:bodyPr wrap="square" lIns="91440" tIns="45720" rIns="91440" bIns="45720" anchor="t">
            <a:spAutoFit/>
          </a:bodyPr>
          <a:lstStyle/>
          <a:p>
            <a:pPr marL="1143000" marR="1156970" lvl="1" indent="-342900">
              <a:buFont typeface="Arial" panose="020B0604020202020204" pitchFamily="34" charset="0"/>
              <a:buChar char="•"/>
              <a:defRPr/>
            </a:pPr>
            <a:r>
              <a:rPr lang="en-US" sz="2000" b="1" u="sng" dirty="0">
                <a:solidFill>
                  <a:srgbClr val="000000"/>
                </a:solidFill>
                <a:cs typeface="Arial"/>
              </a:rPr>
              <a:t>Who</a:t>
            </a:r>
            <a:r>
              <a:rPr lang="en-US" sz="2000" b="1" dirty="0">
                <a:solidFill>
                  <a:srgbClr val="000000"/>
                </a:solidFill>
                <a:cs typeface="Arial"/>
              </a:rPr>
              <a:t> does MERP help?</a:t>
            </a:r>
            <a:r>
              <a:rPr lang="en-US" sz="2000" dirty="0">
                <a:solidFill>
                  <a:srgbClr val="000000"/>
                </a:solidFill>
                <a:cs typeface="Arial"/>
              </a:rPr>
              <a:t> – Millions of Veterans have encountered toxic agents. Lack of a nexus between exposure and health outcome(s) has been a barrier for Veterans to become eligible for VA care and disability benefits.</a:t>
            </a:r>
            <a:br>
              <a:rPr lang="en-US" sz="2000" dirty="0">
                <a:cs typeface="Arial" panose="020B0604020202020204" pitchFamily="34" charset="0"/>
              </a:rPr>
            </a:br>
            <a:endParaRPr lang="en-US" sz="2000" dirty="0">
              <a:solidFill>
                <a:srgbClr val="000000">
                  <a:lumMod val="75000"/>
                  <a:lumOff val="25000"/>
                </a:srgbClr>
              </a:solidFill>
              <a:cs typeface="Arial" panose="020B0604020202020204" pitchFamily="34" charset="0"/>
            </a:endParaRPr>
          </a:p>
          <a:p>
            <a:pPr marL="1143000" marR="1156970" lvl="1" indent="-342900">
              <a:buFont typeface="Arial" panose="020B0604020202020204" pitchFamily="34" charset="0"/>
              <a:buChar char="•"/>
              <a:defRPr/>
            </a:pPr>
            <a:r>
              <a:rPr lang="en-US" sz="2000" b="1" u="sng" dirty="0">
                <a:solidFill>
                  <a:srgbClr val="000000"/>
                </a:solidFill>
                <a:cs typeface="Arial"/>
              </a:rPr>
              <a:t>What</a:t>
            </a:r>
            <a:r>
              <a:rPr lang="en-US" sz="2000" b="1" dirty="0">
                <a:solidFill>
                  <a:srgbClr val="000000"/>
                </a:solidFill>
                <a:cs typeface="Arial"/>
              </a:rPr>
              <a:t> is MERP? </a:t>
            </a:r>
            <a:r>
              <a:rPr lang="en-US" sz="2000" dirty="0">
                <a:solidFill>
                  <a:srgbClr val="000000"/>
                </a:solidFill>
                <a:cs typeface="Arial"/>
              </a:rPr>
              <a:t>– Military Exposures Research Program (MERP) is an Actively Managed Portfolio (AMP) that was created to centralize management of and improve access to all VA Veteran Exposure research.</a:t>
            </a:r>
            <a:br>
              <a:rPr lang="en-US" sz="2000" dirty="0">
                <a:cs typeface="Arial" panose="020B0604020202020204" pitchFamily="34" charset="0"/>
              </a:rPr>
            </a:br>
            <a:endParaRPr lang="en-US" sz="2000" dirty="0">
              <a:solidFill>
                <a:srgbClr val="000000">
                  <a:lumMod val="75000"/>
                  <a:lumOff val="25000"/>
                </a:srgbClr>
              </a:solidFill>
              <a:cs typeface="Arial" panose="020B0604020202020204" pitchFamily="34" charset="0"/>
            </a:endParaRPr>
          </a:p>
          <a:p>
            <a:pPr marL="1143000" marR="1156970" lvl="1" indent="-342900">
              <a:buFont typeface="Arial" panose="020B0604020202020204" pitchFamily="34" charset="0"/>
              <a:buChar char="•"/>
              <a:defRPr/>
            </a:pPr>
            <a:r>
              <a:rPr lang="en-US" sz="2000" b="1" u="sng" dirty="0">
                <a:solidFill>
                  <a:srgbClr val="000000"/>
                </a:solidFill>
                <a:cs typeface="Arial"/>
              </a:rPr>
              <a:t>How</a:t>
            </a:r>
            <a:r>
              <a:rPr lang="en-US" sz="2000" b="1" dirty="0">
                <a:solidFill>
                  <a:srgbClr val="000000"/>
                </a:solidFill>
                <a:cs typeface="Arial"/>
              </a:rPr>
              <a:t> is MERP going to help? </a:t>
            </a:r>
            <a:r>
              <a:rPr lang="en-US" sz="2000" dirty="0">
                <a:solidFill>
                  <a:srgbClr val="000000"/>
                </a:solidFill>
                <a:cs typeface="Arial"/>
              </a:rPr>
              <a:t>– MERP will generate high-quality evidence through military exposures research using Core’s, VA internal partnerships, and inter-agency coordination. MERP will utilize peer-reviewed research, ORD research enterprise resources, and PACT Act resources and collaboration opportunities.</a:t>
            </a:r>
            <a:endParaRPr lang="en-US" sz="2000" dirty="0">
              <a:latin typeface="Source Sans Pro"/>
              <a:ea typeface="Source Sans Pro"/>
              <a:cs typeface="Arial" panose="020B0604020202020204" pitchFamily="34" charset="0"/>
            </a:endParaRPr>
          </a:p>
        </p:txBody>
      </p:sp>
      <p:sp>
        <p:nvSpPr>
          <p:cNvPr id="7" name="Rectangle 6">
            <a:extLst>
              <a:ext uri="{FF2B5EF4-FFF2-40B4-BE49-F238E27FC236}">
                <a16:creationId xmlns:a16="http://schemas.microsoft.com/office/drawing/2014/main" id="{51CE89FA-C17D-48E3-ADB5-7CDE7BE5BA0C}"/>
              </a:ext>
            </a:extLst>
          </p:cNvPr>
          <p:cNvSpPr/>
          <p:nvPr/>
        </p:nvSpPr>
        <p:spPr>
          <a:xfrm>
            <a:off x="-1" y="851926"/>
            <a:ext cx="5939162" cy="569727"/>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5FFA24F2-FDC5-4276-A235-B234F762FF98}"/>
              </a:ext>
            </a:extLst>
          </p:cNvPr>
          <p:cNvSpPr txBox="1"/>
          <p:nvPr/>
        </p:nvSpPr>
        <p:spPr>
          <a:xfrm>
            <a:off x="431921" y="898262"/>
            <a:ext cx="5507240" cy="47705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2500" b="1" i="1" u="none" strike="noStrike" kern="1200" cap="none" spc="0" normalizeH="0" baseline="0" noProof="0" dirty="0">
                <a:ln>
                  <a:noFill/>
                </a:ln>
                <a:solidFill>
                  <a:prstClr val="white"/>
                </a:solidFill>
                <a:effectLst/>
                <a:uLnTx/>
                <a:uFillTx/>
                <a:latin typeface="Source Sans Pro"/>
                <a:ea typeface="Source Sans Pro"/>
              </a:rPr>
              <a:t>Who, What, How</a:t>
            </a:r>
            <a:endParaRPr kumimoji="0" lang="en-US" sz="2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Source Sans Pro"/>
              <a:ea typeface="Source Sans Pro"/>
              <a:cs typeface="Arial" panose="020B0604020202020204" pitchFamily="34" charset="0"/>
            </a:endParaRPr>
          </a:p>
        </p:txBody>
      </p:sp>
      <p:sp>
        <p:nvSpPr>
          <p:cNvPr id="9" name="TextBox 8">
            <a:extLst>
              <a:ext uri="{FF2B5EF4-FFF2-40B4-BE49-F238E27FC236}">
                <a16:creationId xmlns:a16="http://schemas.microsoft.com/office/drawing/2014/main" id="{C133D18C-9F65-4150-8707-00079BF419E1}"/>
              </a:ext>
            </a:extLst>
          </p:cNvPr>
          <p:cNvSpPr txBox="1"/>
          <p:nvPr/>
        </p:nvSpPr>
        <p:spPr>
          <a:xfrm>
            <a:off x="2833546" y="99209"/>
            <a:ext cx="6524908"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rPr>
              <a:t>MERP Introduction</a:t>
            </a:r>
            <a:endParaRPr kumimoji="0" lang="en-US" sz="3200" b="1" i="1"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endParaRPr>
          </a:p>
        </p:txBody>
      </p:sp>
    </p:spTree>
    <p:extLst>
      <p:ext uri="{BB962C8B-B14F-4D97-AF65-F5344CB8AC3E}">
        <p14:creationId xmlns:p14="http://schemas.microsoft.com/office/powerpoint/2010/main" val="2030088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3E72">
            <a:alpha val="96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7DB59-FE21-F7BB-D28F-926BCB54EE71}"/>
              </a:ext>
            </a:extLst>
          </p:cNvPr>
          <p:cNvSpPr>
            <a:spLocks noGrp="1"/>
          </p:cNvSpPr>
          <p:nvPr>
            <p:ph type="ctrTitle"/>
          </p:nvPr>
        </p:nvSpPr>
        <p:spPr/>
        <p:txBody>
          <a:bodyPr/>
          <a:lstStyle/>
          <a:p>
            <a:r>
              <a:rPr lang="en-US" dirty="0"/>
              <a:t>PACT Act</a:t>
            </a:r>
          </a:p>
        </p:txBody>
      </p:sp>
    </p:spTree>
    <p:extLst>
      <p:ext uri="{BB962C8B-B14F-4D97-AF65-F5344CB8AC3E}">
        <p14:creationId xmlns:p14="http://schemas.microsoft.com/office/powerpoint/2010/main" val="2116851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920EB4-7CCE-FD36-B6DC-081FFDE419AC}"/>
              </a:ext>
            </a:extLst>
          </p:cNvPr>
          <p:cNvSpPr>
            <a:spLocks noGrp="1"/>
          </p:cNvSpPr>
          <p:nvPr>
            <p:ph idx="1"/>
          </p:nvPr>
        </p:nvSpPr>
        <p:spPr>
          <a:xfrm>
            <a:off x="198359" y="1559366"/>
            <a:ext cx="10972800" cy="4455580"/>
          </a:xfrm>
        </p:spPr>
        <p:txBody>
          <a:bodyPr vert="horz" lIns="91440" tIns="45720" rIns="91440" bIns="45720" rtlCol="0" anchor="t">
            <a:normAutofit/>
          </a:bodyPr>
          <a:lstStyle/>
          <a:p>
            <a:endParaRPr lang="en-US" dirty="0">
              <a:latin typeface="+mn-lt"/>
              <a:ea typeface="Calibri" panose="020F0502020204030204" pitchFamily="34" charset="0"/>
            </a:endParaRPr>
          </a:p>
          <a:p>
            <a:r>
              <a:rPr lang="en-US" dirty="0">
                <a:latin typeface="+mn-lt"/>
                <a:ea typeface="Calibri" panose="020F0502020204030204" pitchFamily="34" charset="0"/>
              </a:rPr>
              <a:t>On August 10, 2022, the </a:t>
            </a:r>
            <a:r>
              <a:rPr lang="en-US" dirty="0">
                <a:effectLst/>
                <a:latin typeface="+mn-lt"/>
                <a:ea typeface="Calibri" panose="020F0502020204030204" pitchFamily="34" charset="0"/>
              </a:rPr>
              <a:t>President signed into law the </a:t>
            </a:r>
            <a:r>
              <a:rPr lang="en-US" i="1" dirty="0">
                <a:effectLst/>
                <a:latin typeface="+mn-lt"/>
                <a:ea typeface="Calibri" panose="020F0502020204030204" pitchFamily="34" charset="0"/>
              </a:rPr>
              <a:t>Sergeant First Class Heath Robinson Honoring Our Promise to Address Comprehensive Toxics (PACT) Act of 2022</a:t>
            </a:r>
          </a:p>
          <a:p>
            <a:endParaRPr lang="en-US" dirty="0">
              <a:effectLst/>
              <a:latin typeface="+mn-lt"/>
              <a:ea typeface="Calibri" panose="020F0502020204030204" pitchFamily="34" charset="0"/>
            </a:endParaRPr>
          </a:p>
          <a:p>
            <a:r>
              <a:rPr lang="en-US" dirty="0">
                <a:effectLst/>
                <a:latin typeface="+mn-lt"/>
                <a:ea typeface="Calibri" panose="020F0502020204030204" pitchFamily="34" charset="0"/>
              </a:rPr>
              <a:t>The PACT Act is the largest health and benefit expansions in American history</a:t>
            </a:r>
          </a:p>
          <a:p>
            <a:endParaRPr lang="en-US" dirty="0">
              <a:latin typeface="+mn-lt"/>
              <a:ea typeface="Calibri" panose="020F0502020204030204" pitchFamily="34" charset="0"/>
            </a:endParaRPr>
          </a:p>
          <a:p>
            <a:r>
              <a:rPr lang="en-US" dirty="0">
                <a:latin typeface="+mn-lt"/>
                <a:ea typeface="Calibri" panose="020F0502020204030204" pitchFamily="34" charset="0"/>
              </a:rPr>
              <a:t>The topic of todays talk is VA research</a:t>
            </a:r>
          </a:p>
          <a:p>
            <a:endParaRPr lang="en-US" dirty="0">
              <a:latin typeface="+mn-lt"/>
              <a:ea typeface="Calibri" panose="020F0502020204030204" pitchFamily="34" charset="0"/>
            </a:endParaRPr>
          </a:p>
          <a:p>
            <a:r>
              <a:rPr lang="en-US" dirty="0">
                <a:latin typeface="+mn-lt"/>
                <a:ea typeface="Calibri" panose="020F0502020204030204" pitchFamily="34" charset="0"/>
              </a:rPr>
              <a:t>Research helps to inform health care decisions</a:t>
            </a:r>
            <a:endParaRPr lang="en-US" dirty="0">
              <a:effectLst/>
              <a:latin typeface="+mn-lt"/>
              <a:ea typeface="Calibri" panose="020F0502020204030204" pitchFamily="34" charset="0"/>
            </a:endParaRPr>
          </a:p>
          <a:p>
            <a:endParaRPr lang="en-US" dirty="0">
              <a:effectLst/>
              <a:latin typeface="+mn-lt"/>
              <a:ea typeface="Calibri" panose="020F0502020204030204" pitchFamily="34" charset="0"/>
            </a:endParaRPr>
          </a:p>
          <a:p>
            <a:pPr lvl="1">
              <a:buFont typeface="Arial" panose="020B0604020202020204" pitchFamily="34" charset="0"/>
              <a:buChar char="•"/>
            </a:pPr>
            <a:endParaRPr lang="en-US" sz="1800" dirty="0">
              <a:effectLst/>
              <a:latin typeface="+mn-lt"/>
              <a:ea typeface="Calibri" panose="020F0502020204030204" pitchFamily="34" charset="0"/>
            </a:endParaRPr>
          </a:p>
          <a:p>
            <a:pPr lvl="1"/>
            <a:endParaRPr lang="en-US" dirty="0">
              <a:latin typeface="+mn-lt"/>
            </a:endParaRPr>
          </a:p>
        </p:txBody>
      </p:sp>
      <p:sp>
        <p:nvSpPr>
          <p:cNvPr id="3" name="Slide Number Placeholder 2">
            <a:extLst>
              <a:ext uri="{FF2B5EF4-FFF2-40B4-BE49-F238E27FC236}">
                <a16:creationId xmlns:a16="http://schemas.microsoft.com/office/drawing/2014/main" id="{C7A6B0D9-2CD4-6A35-86B8-82A71AA6AB60}"/>
              </a:ext>
            </a:extLst>
          </p:cNvPr>
          <p:cNvSpPr>
            <a:spLocks noGrp="1"/>
          </p:cNvSpPr>
          <p:nvPr>
            <p:ph type="sldNum" sz="quarter" idx="12"/>
          </p:nvPr>
        </p:nvSpPr>
        <p:spPr/>
        <p:txBody>
          <a:bodyPr/>
          <a:lstStyle/>
          <a:p>
            <a:fld id="{D983F1FA-211D-3044-9E35-958DFBC26156}" type="slidenum">
              <a:rPr lang="en-US" smtClean="0">
                <a:solidFill>
                  <a:prstClr val="white"/>
                </a:solidFill>
              </a:rPr>
              <a:pPr/>
              <a:t>4</a:t>
            </a:fld>
            <a:endParaRPr lang="en-US" dirty="0">
              <a:solidFill>
                <a:prstClr val="white"/>
              </a:solidFill>
            </a:endParaRPr>
          </a:p>
        </p:txBody>
      </p:sp>
      <p:sp>
        <p:nvSpPr>
          <p:cNvPr id="4" name="Title 3">
            <a:extLst>
              <a:ext uri="{FF2B5EF4-FFF2-40B4-BE49-F238E27FC236}">
                <a16:creationId xmlns:a16="http://schemas.microsoft.com/office/drawing/2014/main" id="{AB697CF5-FAD5-36DF-479C-590EABB343BD}"/>
              </a:ext>
            </a:extLst>
          </p:cNvPr>
          <p:cNvSpPr>
            <a:spLocks noGrp="1"/>
          </p:cNvSpPr>
          <p:nvPr>
            <p:ph type="title"/>
          </p:nvPr>
        </p:nvSpPr>
        <p:spPr/>
        <p:txBody>
          <a:bodyPr/>
          <a:lstStyle/>
          <a:p>
            <a:r>
              <a:rPr lang="en-US" sz="3200" b="1" dirty="0">
                <a:latin typeface="+mj-lt"/>
              </a:rPr>
              <a:t>PACT Act </a:t>
            </a:r>
            <a:r>
              <a:rPr lang="en-US" sz="3200" b="1" i="1" dirty="0">
                <a:latin typeface="+mj-lt"/>
              </a:rPr>
              <a:t>(1 of 2) </a:t>
            </a:r>
          </a:p>
        </p:txBody>
      </p:sp>
      <p:sp>
        <p:nvSpPr>
          <p:cNvPr id="5" name="Rectangle 4">
            <a:extLst>
              <a:ext uri="{FF2B5EF4-FFF2-40B4-BE49-F238E27FC236}">
                <a16:creationId xmlns:a16="http://schemas.microsoft.com/office/drawing/2014/main" id="{744C7696-B49A-57A1-F119-1756DF0FB397}"/>
              </a:ext>
            </a:extLst>
          </p:cNvPr>
          <p:cNvSpPr/>
          <p:nvPr/>
        </p:nvSpPr>
        <p:spPr>
          <a:xfrm>
            <a:off x="0" y="843054"/>
            <a:ext cx="6014748" cy="569727"/>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5974A365-BC25-D945-B80A-218202C304DC}"/>
              </a:ext>
            </a:extLst>
          </p:cNvPr>
          <p:cNvSpPr txBox="1"/>
          <p:nvPr/>
        </p:nvSpPr>
        <p:spPr>
          <a:xfrm>
            <a:off x="150269" y="889389"/>
            <a:ext cx="5140321" cy="477054"/>
          </a:xfrm>
          <a:prstGeom prst="rect">
            <a:avLst/>
          </a:prstGeom>
          <a:noFill/>
        </p:spPr>
        <p:txBody>
          <a:bodyPr wrap="square" lIns="91440" tIns="45720" rIns="91440" bIns="45720" anchor="t">
            <a:spAutoFit/>
          </a:bodyPr>
          <a:lstStyle/>
          <a:p>
            <a:pPr>
              <a:spcBef>
                <a:spcPts val="600"/>
              </a:spcBef>
              <a:defRPr/>
            </a:pPr>
            <a:r>
              <a:rPr lang="en-US" sz="2500" b="1" dirty="0">
                <a:solidFill>
                  <a:schemeClr val="bg1"/>
                </a:solidFill>
              </a:rPr>
              <a:t>What is the PACT Act? </a:t>
            </a:r>
            <a:endParaRPr lang="en-US" sz="2500" b="1" dirty="0">
              <a:solidFill>
                <a:schemeClr val="bg1"/>
              </a:solidFill>
              <a:ea typeface="Source Sans Pro"/>
            </a:endParaRPr>
          </a:p>
        </p:txBody>
      </p:sp>
    </p:spTree>
    <p:extLst>
      <p:ext uri="{BB962C8B-B14F-4D97-AF65-F5344CB8AC3E}">
        <p14:creationId xmlns:p14="http://schemas.microsoft.com/office/powerpoint/2010/main" val="2792360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920EB4-7CCE-FD36-B6DC-081FFDE419AC}"/>
              </a:ext>
            </a:extLst>
          </p:cNvPr>
          <p:cNvSpPr>
            <a:spLocks noGrp="1"/>
          </p:cNvSpPr>
          <p:nvPr>
            <p:ph idx="1"/>
          </p:nvPr>
        </p:nvSpPr>
        <p:spPr>
          <a:xfrm>
            <a:off x="198359" y="1559366"/>
            <a:ext cx="10972800" cy="4455580"/>
          </a:xfrm>
        </p:spPr>
        <p:txBody>
          <a:bodyPr vert="horz" lIns="91440" tIns="45720" rIns="91440" bIns="45720" rtlCol="0" anchor="t">
            <a:normAutofit/>
          </a:bodyPr>
          <a:lstStyle/>
          <a:p>
            <a:endParaRPr lang="en-US" dirty="0">
              <a:latin typeface="+mn-lt"/>
              <a:ea typeface="Calibri" panose="020F0502020204030204" pitchFamily="34" charset="0"/>
            </a:endParaRPr>
          </a:p>
          <a:p>
            <a:r>
              <a:rPr lang="en-US" dirty="0">
                <a:latin typeface="+mn-lt"/>
                <a:ea typeface="Calibri" panose="020F0502020204030204" pitchFamily="34" charset="0"/>
              </a:rPr>
              <a:t>The PACT Act </a:t>
            </a:r>
            <a:r>
              <a:rPr lang="en-US" dirty="0">
                <a:effectLst/>
                <a:latin typeface="+mn-lt"/>
                <a:ea typeface="Calibri" panose="020F0502020204030204" pitchFamily="34" charset="0"/>
                <a:cs typeface="Arial"/>
              </a:rPr>
              <a:t>recognizes toxic exposure as a </a:t>
            </a:r>
            <a:r>
              <a:rPr lang="en-US" u="sng" dirty="0">
                <a:effectLst/>
                <a:latin typeface="+mn-lt"/>
                <a:ea typeface="Calibri" panose="020F0502020204030204" pitchFamily="34" charset="0"/>
                <a:cs typeface="Arial"/>
              </a:rPr>
              <a:t>cost of war</a:t>
            </a:r>
            <a:r>
              <a:rPr lang="en-US" dirty="0">
                <a:effectLst/>
                <a:latin typeface="+mn-lt"/>
                <a:ea typeface="Calibri" panose="020F0502020204030204" pitchFamily="34" charset="0"/>
                <a:cs typeface="Arial"/>
              </a:rPr>
              <a:t> by addressing the full range of issues impacting toxic-exposed Veterans, ensuring generations of Veterans who suffer from toxic exposure-related conditions get the benefits and care they’ve earned</a:t>
            </a:r>
          </a:p>
          <a:p>
            <a:endParaRPr lang="en-US" dirty="0">
              <a:latin typeface="+mn-lt"/>
              <a:ea typeface="Calibri" panose="020F0502020204030204" pitchFamily="34" charset="0"/>
              <a:cs typeface="Arial"/>
            </a:endParaRPr>
          </a:p>
          <a:p>
            <a:r>
              <a:rPr lang="en-US" u="sng" dirty="0">
                <a:solidFill>
                  <a:srgbClr val="000000"/>
                </a:solidFill>
                <a:latin typeface="+mn-lt"/>
                <a:cs typeface="Arial"/>
              </a:rPr>
              <a:t>MERP</a:t>
            </a:r>
            <a:r>
              <a:rPr lang="en-US" dirty="0">
                <a:solidFill>
                  <a:srgbClr val="000000"/>
                </a:solidFill>
                <a:latin typeface="+mn-lt"/>
                <a:cs typeface="Arial"/>
              </a:rPr>
              <a:t> provides technical over-site for the TEF funds and is leading the effort to convene subject matter experts to improve collaborative research. VA research is an intramural program.</a:t>
            </a:r>
            <a:endParaRPr lang="en-US" dirty="0">
              <a:solidFill>
                <a:srgbClr val="000000"/>
              </a:solidFill>
              <a:latin typeface="+mn-lt"/>
              <a:ea typeface="Source Sans Pro"/>
              <a:cs typeface="Arial"/>
            </a:endParaRPr>
          </a:p>
          <a:p>
            <a:pPr marL="0" indent="0">
              <a:buNone/>
            </a:pPr>
            <a:endParaRPr lang="en-US" sz="1800" dirty="0">
              <a:effectLst/>
              <a:latin typeface="+mn-lt"/>
              <a:ea typeface="Calibri" panose="020F0502020204030204" pitchFamily="34" charset="0"/>
            </a:endParaRPr>
          </a:p>
          <a:p>
            <a:pPr marL="0" indent="0">
              <a:buNone/>
            </a:pPr>
            <a:endParaRPr lang="en-US" sz="1800" dirty="0">
              <a:effectLst/>
              <a:latin typeface="+mn-lt"/>
              <a:ea typeface="Calibri" panose="020F0502020204030204" pitchFamily="34" charset="0"/>
            </a:endParaRPr>
          </a:p>
          <a:p>
            <a:pPr lvl="1"/>
            <a:endParaRPr lang="en-US" dirty="0">
              <a:latin typeface="+mn-lt"/>
            </a:endParaRPr>
          </a:p>
        </p:txBody>
      </p:sp>
      <p:sp>
        <p:nvSpPr>
          <p:cNvPr id="3" name="Slide Number Placeholder 2">
            <a:extLst>
              <a:ext uri="{FF2B5EF4-FFF2-40B4-BE49-F238E27FC236}">
                <a16:creationId xmlns:a16="http://schemas.microsoft.com/office/drawing/2014/main" id="{C7A6B0D9-2CD4-6A35-86B8-82A71AA6AB60}"/>
              </a:ext>
            </a:extLst>
          </p:cNvPr>
          <p:cNvSpPr>
            <a:spLocks noGrp="1"/>
          </p:cNvSpPr>
          <p:nvPr>
            <p:ph type="sldNum" sz="quarter" idx="12"/>
          </p:nvPr>
        </p:nvSpPr>
        <p:spPr/>
        <p:txBody>
          <a:bodyPr/>
          <a:lstStyle/>
          <a:p>
            <a:fld id="{D983F1FA-211D-3044-9E35-958DFBC26156}" type="slidenum">
              <a:rPr lang="en-US" smtClean="0">
                <a:solidFill>
                  <a:prstClr val="white"/>
                </a:solidFill>
              </a:rPr>
              <a:pPr/>
              <a:t>5</a:t>
            </a:fld>
            <a:endParaRPr lang="en-US" dirty="0">
              <a:solidFill>
                <a:prstClr val="white"/>
              </a:solidFill>
            </a:endParaRPr>
          </a:p>
        </p:txBody>
      </p:sp>
      <p:sp>
        <p:nvSpPr>
          <p:cNvPr id="4" name="Title 3">
            <a:extLst>
              <a:ext uri="{FF2B5EF4-FFF2-40B4-BE49-F238E27FC236}">
                <a16:creationId xmlns:a16="http://schemas.microsoft.com/office/drawing/2014/main" id="{AB697CF5-FAD5-36DF-479C-590EABB343BD}"/>
              </a:ext>
            </a:extLst>
          </p:cNvPr>
          <p:cNvSpPr>
            <a:spLocks noGrp="1"/>
          </p:cNvSpPr>
          <p:nvPr>
            <p:ph type="title"/>
          </p:nvPr>
        </p:nvSpPr>
        <p:spPr/>
        <p:txBody>
          <a:bodyPr/>
          <a:lstStyle/>
          <a:p>
            <a:r>
              <a:rPr lang="en-US" sz="3200" b="1" dirty="0">
                <a:latin typeface="+mj-lt"/>
              </a:rPr>
              <a:t>PACT Act </a:t>
            </a:r>
            <a:r>
              <a:rPr lang="en-US" sz="3200" b="1" i="1" dirty="0">
                <a:latin typeface="+mj-lt"/>
              </a:rPr>
              <a:t>(2 of 2) </a:t>
            </a:r>
          </a:p>
        </p:txBody>
      </p:sp>
      <p:sp>
        <p:nvSpPr>
          <p:cNvPr id="5" name="Rectangle 4">
            <a:extLst>
              <a:ext uri="{FF2B5EF4-FFF2-40B4-BE49-F238E27FC236}">
                <a16:creationId xmlns:a16="http://schemas.microsoft.com/office/drawing/2014/main" id="{744C7696-B49A-57A1-F119-1756DF0FB397}"/>
              </a:ext>
            </a:extLst>
          </p:cNvPr>
          <p:cNvSpPr/>
          <p:nvPr/>
        </p:nvSpPr>
        <p:spPr>
          <a:xfrm>
            <a:off x="0" y="843054"/>
            <a:ext cx="6014748" cy="569727"/>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5974A365-BC25-D945-B80A-218202C304DC}"/>
              </a:ext>
            </a:extLst>
          </p:cNvPr>
          <p:cNvSpPr txBox="1"/>
          <p:nvPr/>
        </p:nvSpPr>
        <p:spPr>
          <a:xfrm>
            <a:off x="150269" y="889389"/>
            <a:ext cx="5140321" cy="477054"/>
          </a:xfrm>
          <a:prstGeom prst="rect">
            <a:avLst/>
          </a:prstGeom>
          <a:noFill/>
        </p:spPr>
        <p:txBody>
          <a:bodyPr wrap="square" lIns="91440" tIns="45720" rIns="91440" bIns="45720" anchor="t">
            <a:spAutoFit/>
          </a:bodyPr>
          <a:lstStyle/>
          <a:p>
            <a:pPr>
              <a:spcBef>
                <a:spcPts val="600"/>
              </a:spcBef>
              <a:defRPr/>
            </a:pPr>
            <a:r>
              <a:rPr lang="en-US" sz="2500" b="1" dirty="0">
                <a:solidFill>
                  <a:schemeClr val="bg1"/>
                </a:solidFill>
              </a:rPr>
              <a:t>What is the PACT Act? </a:t>
            </a:r>
            <a:endParaRPr lang="en-US" sz="2500" b="1" dirty="0">
              <a:solidFill>
                <a:schemeClr val="bg1"/>
              </a:solidFill>
              <a:ea typeface="Source Sans Pro"/>
            </a:endParaRPr>
          </a:p>
        </p:txBody>
      </p:sp>
    </p:spTree>
    <p:extLst>
      <p:ext uri="{BB962C8B-B14F-4D97-AF65-F5344CB8AC3E}">
        <p14:creationId xmlns:p14="http://schemas.microsoft.com/office/powerpoint/2010/main" val="678258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6B619-C872-8240-6B2E-3257DE92B339}"/>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4D3EB19A-015F-8D84-C81A-703C5FD8875C}"/>
              </a:ext>
            </a:extLst>
          </p:cNvPr>
          <p:cNvSpPr txBox="1">
            <a:spLocks/>
          </p:cNvSpPr>
          <p:nvPr/>
        </p:nvSpPr>
        <p:spPr>
          <a:xfrm>
            <a:off x="0" y="0"/>
            <a:ext cx="12192000" cy="685800"/>
          </a:xfrm>
          <a:prstGeom prst="rect">
            <a:avLst/>
          </a:prstGeom>
        </p:spPr>
        <p:txBody>
          <a:bodyPr/>
          <a:lstStyle>
            <a:lvl1pPr algn="ctr" defTabSz="457200" rtl="0" eaLnBrk="1" latinLnBrk="0" hangingPunct="1">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rgbClr val="000000"/>
              </a:solidFill>
              <a:effectLst/>
              <a:uLnTx/>
              <a:uFillTx/>
              <a:latin typeface="Calibri" panose="020F0502020204030204" pitchFamily="34" charset="0"/>
              <a:ea typeface="+mj-ea"/>
              <a:cs typeface="Calibri" panose="020F0502020204030204" pitchFamily="34" charset="0"/>
            </a:endParaRPr>
          </a:p>
        </p:txBody>
      </p:sp>
      <p:sp>
        <p:nvSpPr>
          <p:cNvPr id="2" name="TextBox 1">
            <a:extLst>
              <a:ext uri="{FF2B5EF4-FFF2-40B4-BE49-F238E27FC236}">
                <a16:creationId xmlns:a16="http://schemas.microsoft.com/office/drawing/2014/main" id="{CECEDC62-01C2-0893-131C-1CEF98A66F21}"/>
              </a:ext>
            </a:extLst>
          </p:cNvPr>
          <p:cNvSpPr txBox="1"/>
          <p:nvPr/>
        </p:nvSpPr>
        <p:spPr>
          <a:xfrm>
            <a:off x="597244" y="99209"/>
            <a:ext cx="10997513"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Military Exposures Research and PACT Act</a:t>
            </a:r>
            <a:endParaRPr kumimoji="0" lang="en-US" sz="3200" b="1" i="1"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400F4AEC-5DD4-29E5-CF8B-5BF3FA9434E5}"/>
              </a:ext>
            </a:extLst>
          </p:cNvPr>
          <p:cNvSpPr/>
          <p:nvPr/>
        </p:nvSpPr>
        <p:spPr>
          <a:xfrm>
            <a:off x="1938737" y="1268606"/>
            <a:ext cx="8351892" cy="4555894"/>
          </a:xfrm>
          <a:prstGeom prst="rect">
            <a:avLst/>
          </a:prstGeom>
          <a:no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0" name="Rectangle 19">
            <a:extLst>
              <a:ext uri="{FF2B5EF4-FFF2-40B4-BE49-F238E27FC236}">
                <a16:creationId xmlns:a16="http://schemas.microsoft.com/office/drawing/2014/main" id="{0E0836A6-1BD4-AEAF-D162-EA8D6A58BD4E}"/>
              </a:ext>
            </a:extLst>
          </p:cNvPr>
          <p:cNvSpPr/>
          <p:nvPr/>
        </p:nvSpPr>
        <p:spPr>
          <a:xfrm>
            <a:off x="1514446" y="996754"/>
            <a:ext cx="8351892" cy="1231035"/>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1" name="TextBox 20">
            <a:extLst>
              <a:ext uri="{FF2B5EF4-FFF2-40B4-BE49-F238E27FC236}">
                <a16:creationId xmlns:a16="http://schemas.microsoft.com/office/drawing/2014/main" id="{EC166F9A-F7E4-05B3-770F-AC3E42D12BFC}"/>
              </a:ext>
            </a:extLst>
          </p:cNvPr>
          <p:cNvSpPr txBox="1"/>
          <p:nvPr/>
        </p:nvSpPr>
        <p:spPr>
          <a:xfrm>
            <a:off x="1740933" y="974685"/>
            <a:ext cx="8040571" cy="1246495"/>
          </a:xfrm>
          <a:prstGeom prst="rect">
            <a:avLst/>
          </a:prstGeom>
          <a:noFill/>
        </p:spPr>
        <p:txBody>
          <a:bodyPr wrap="square">
            <a:spAutoFit/>
          </a:bodyPr>
          <a:lstStyle/>
          <a:p>
            <a:r>
              <a:rPr lang="en-US" sz="2500" dirty="0">
                <a:solidFill>
                  <a:schemeClr val="bg1"/>
                </a:solidFill>
                <a:latin typeface="Calibri" panose="020F0502020204030204" pitchFamily="34" charset="0"/>
                <a:cs typeface="Calibri" panose="020F0502020204030204" pitchFamily="34" charset="0"/>
              </a:rPr>
              <a:t>Military exposures research and PACT Act are often used interchangeably.  However, the field should understand key distinctions between the efforts.</a:t>
            </a:r>
          </a:p>
        </p:txBody>
      </p:sp>
      <p:sp>
        <p:nvSpPr>
          <p:cNvPr id="22" name="Oval 21">
            <a:extLst>
              <a:ext uri="{FF2B5EF4-FFF2-40B4-BE49-F238E27FC236}">
                <a16:creationId xmlns:a16="http://schemas.microsoft.com/office/drawing/2014/main" id="{D84E5FB7-BC8D-AA50-9533-BABE43076182}"/>
              </a:ext>
            </a:extLst>
          </p:cNvPr>
          <p:cNvSpPr/>
          <p:nvPr/>
        </p:nvSpPr>
        <p:spPr>
          <a:xfrm>
            <a:off x="3470564" y="2892391"/>
            <a:ext cx="3020222" cy="2743200"/>
          </a:xfrm>
          <a:prstGeom prst="ellipse">
            <a:avLst/>
          </a:prstGeom>
          <a:noFill/>
          <a:ln w="25400">
            <a:solidFill>
              <a:schemeClr val="tx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r>
              <a:rPr lang="en-US" sz="2000" b="1" u="sng" dirty="0">
                <a:solidFill>
                  <a:schemeClr val="tx1"/>
                </a:solidFill>
                <a:latin typeface="Calibri" panose="020F0502020204030204" pitchFamily="34" charset="0"/>
                <a:ea typeface="Source Sans Pro"/>
                <a:cs typeface="Calibri" panose="020F0502020204030204" pitchFamily="34" charset="0"/>
              </a:rPr>
              <a:t>ORD MERP</a:t>
            </a:r>
          </a:p>
          <a:p>
            <a:r>
              <a:rPr lang="en-US" sz="2000" dirty="0">
                <a:solidFill>
                  <a:schemeClr val="tx1"/>
                </a:solidFill>
                <a:latin typeface="Calibri" panose="020F0502020204030204" pitchFamily="34" charset="0"/>
                <a:ea typeface="Source Sans Pro"/>
                <a:cs typeface="Calibri" panose="020F0502020204030204" pitchFamily="34" charset="0"/>
              </a:rPr>
              <a:t>Funded infrastructure &amp; research</a:t>
            </a:r>
            <a:r>
              <a:rPr lang="en-US" sz="2000" dirty="0">
                <a:latin typeface="Calibri" panose="020F0502020204030204" pitchFamily="34" charset="0"/>
                <a:ea typeface="Source Sans Pro"/>
                <a:cs typeface="Calibri" panose="020F0502020204030204" pitchFamily="34" charset="0"/>
              </a:rPr>
              <a:t> </a:t>
            </a:r>
          </a:p>
        </p:txBody>
      </p:sp>
      <p:sp>
        <p:nvSpPr>
          <p:cNvPr id="23" name="Oval 22">
            <a:extLst>
              <a:ext uri="{FF2B5EF4-FFF2-40B4-BE49-F238E27FC236}">
                <a16:creationId xmlns:a16="http://schemas.microsoft.com/office/drawing/2014/main" id="{75A8774E-A874-7BDC-1227-3D6798484E72}"/>
              </a:ext>
            </a:extLst>
          </p:cNvPr>
          <p:cNvSpPr/>
          <p:nvPr/>
        </p:nvSpPr>
        <p:spPr>
          <a:xfrm>
            <a:off x="6061726" y="2846193"/>
            <a:ext cx="3020222" cy="2789397"/>
          </a:xfrm>
          <a:prstGeom prst="ellipse">
            <a:avLst/>
          </a:prstGeom>
          <a:noFill/>
          <a:ln w="25400">
            <a:solidFill>
              <a:schemeClr val="tx1"/>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r"/>
            <a:r>
              <a:rPr lang="en-US" sz="2000" b="1" u="sng" dirty="0">
                <a:solidFill>
                  <a:schemeClr val="tx1"/>
                </a:solidFill>
                <a:latin typeface="Calibri" panose="020F0502020204030204" pitchFamily="34" charset="0"/>
                <a:ea typeface="Source Sans Pro"/>
                <a:cs typeface="Calibri" panose="020F0502020204030204" pitchFamily="34" charset="0"/>
              </a:rPr>
              <a:t>PACT Act</a:t>
            </a:r>
          </a:p>
          <a:p>
            <a:pPr algn="r"/>
            <a:r>
              <a:rPr lang="en-US" sz="2000" dirty="0">
                <a:solidFill>
                  <a:schemeClr val="tx1"/>
                </a:solidFill>
                <a:latin typeface="Calibri" panose="020F0502020204030204" pitchFamily="34" charset="0"/>
                <a:ea typeface="Source Sans Pro"/>
                <a:cs typeface="Calibri" panose="020F0502020204030204" pitchFamily="34" charset="0"/>
              </a:rPr>
              <a:t> Interagency Toxic Exposures Research Work Group</a:t>
            </a:r>
          </a:p>
        </p:txBody>
      </p:sp>
      <p:sp>
        <p:nvSpPr>
          <p:cNvPr id="24" name="TextBox 23">
            <a:extLst>
              <a:ext uri="{FF2B5EF4-FFF2-40B4-BE49-F238E27FC236}">
                <a16:creationId xmlns:a16="http://schemas.microsoft.com/office/drawing/2014/main" id="{E70B6BB2-1F12-2C6B-BCBA-AFD9823B9F92}"/>
              </a:ext>
            </a:extLst>
          </p:cNvPr>
          <p:cNvSpPr txBox="1"/>
          <p:nvPr/>
        </p:nvSpPr>
        <p:spPr>
          <a:xfrm>
            <a:off x="2938629" y="2376710"/>
            <a:ext cx="3911657" cy="400110"/>
          </a:xfrm>
          <a:prstGeom prst="rect">
            <a:avLst/>
          </a:prstGeom>
          <a:noFill/>
        </p:spPr>
        <p:txBody>
          <a:bodyPr wrap="square" lIns="91440" tIns="45720" rIns="91440" bIns="45720" rtlCol="0" anchor="t">
            <a:spAutoFit/>
          </a:bodyPr>
          <a:lstStyle/>
          <a:p>
            <a:r>
              <a:rPr lang="en-US" sz="2000" b="1" dirty="0">
                <a:latin typeface="Calibri" panose="020F0502020204030204" pitchFamily="34" charset="0"/>
                <a:cs typeface="Calibri" panose="020F0502020204030204" pitchFamily="34" charset="0"/>
              </a:rPr>
              <a:t>VHA Military Exposures &amp; PACT </a:t>
            </a:r>
            <a:endParaRPr lang="en-US" sz="2000" b="1" dirty="0">
              <a:latin typeface="Calibri" panose="020F0502020204030204" pitchFamily="34" charset="0"/>
              <a:ea typeface="Source Sans Pro"/>
              <a:cs typeface="Calibri" panose="020F0502020204030204" pitchFamily="34" charset="0"/>
            </a:endParaRPr>
          </a:p>
        </p:txBody>
      </p:sp>
      <p:cxnSp>
        <p:nvCxnSpPr>
          <p:cNvPr id="25" name="Straight Arrow Connector 24">
            <a:extLst>
              <a:ext uri="{FF2B5EF4-FFF2-40B4-BE49-F238E27FC236}">
                <a16:creationId xmlns:a16="http://schemas.microsoft.com/office/drawing/2014/main" id="{F6A72503-ECB4-5E97-20B6-CA740AE401A5}"/>
              </a:ext>
            </a:extLst>
          </p:cNvPr>
          <p:cNvCxnSpPr>
            <a:cxnSpLocks/>
          </p:cNvCxnSpPr>
          <p:nvPr/>
        </p:nvCxnSpPr>
        <p:spPr>
          <a:xfrm>
            <a:off x="6085360" y="4276588"/>
            <a:ext cx="377505"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0276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3E72">
            <a:alpha val="96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44FED-EF5D-C64A-2044-3C98BFA95A05}"/>
              </a:ext>
            </a:extLst>
          </p:cNvPr>
          <p:cNvSpPr>
            <a:spLocks noGrp="1"/>
          </p:cNvSpPr>
          <p:nvPr>
            <p:ph type="ctrTitle"/>
          </p:nvPr>
        </p:nvSpPr>
        <p:spPr>
          <a:xfrm>
            <a:off x="914401" y="1518081"/>
            <a:ext cx="10743200" cy="3195961"/>
          </a:xfrm>
        </p:spPr>
        <p:txBody>
          <a:bodyPr lIns="91440" tIns="45720" rIns="91440" bIns="45720" anchor="ctr">
            <a:noAutofit/>
          </a:bodyPr>
          <a:lstStyle/>
          <a:p>
            <a:r>
              <a:rPr lang="en-US" sz="4400" dirty="0"/>
              <a:t>Military Exposures and Research Program</a:t>
            </a:r>
            <a:endParaRPr lang="en-US" sz="4400" dirty="0">
              <a:ea typeface="Source Sans Pro"/>
            </a:endParaRPr>
          </a:p>
        </p:txBody>
      </p:sp>
    </p:spTree>
    <p:extLst>
      <p:ext uri="{BB962C8B-B14F-4D97-AF65-F5344CB8AC3E}">
        <p14:creationId xmlns:p14="http://schemas.microsoft.com/office/powerpoint/2010/main" val="3783921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CAAC097-AC13-472A-87EB-D3C4A5AD86DA}"/>
              </a:ext>
            </a:extLst>
          </p:cNvPr>
          <p:cNvSpPr/>
          <p:nvPr/>
        </p:nvSpPr>
        <p:spPr>
          <a:xfrm>
            <a:off x="-1" y="1465251"/>
            <a:ext cx="11377571" cy="400110"/>
          </a:xfrm>
          <a:prstGeom prst="rect">
            <a:avLst/>
          </a:prstGeom>
        </p:spPr>
        <p:txBody>
          <a:bodyPr wrap="square" lIns="91440" tIns="45720" rIns="91440" bIns="45720" anchor="t">
            <a:spAutoFit/>
          </a:bodyPr>
          <a:lstStyle/>
          <a:p>
            <a:pPr marL="342900" marR="1156970" lvl="0" indent="0" algn="l" defTabSz="914400" rtl="0" eaLnBrk="1" fontAlgn="auto" latinLnBrk="0" hangingPunct="1">
              <a:lnSpc>
                <a:spcPct val="100000"/>
              </a:lnSpc>
              <a:spcBef>
                <a:spcPts val="0"/>
              </a:spcBef>
              <a:spcAft>
                <a:spcPts val="900"/>
              </a:spcAft>
              <a:buClrTx/>
              <a:buSzTx/>
              <a:buFontTx/>
              <a:buNone/>
              <a:tabLst/>
              <a:defRPr/>
            </a:pPr>
            <a:r>
              <a:rPr kumimoji="0" lang="en-US" sz="20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The Military Exposures Research Program supports Veterans: </a:t>
            </a:r>
            <a:endParaRPr lang="en-US" dirty="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51CE89FA-C17D-48E3-ADB5-7CDE7BE5BA0C}"/>
              </a:ext>
            </a:extLst>
          </p:cNvPr>
          <p:cNvSpPr/>
          <p:nvPr/>
        </p:nvSpPr>
        <p:spPr>
          <a:xfrm>
            <a:off x="-1" y="851926"/>
            <a:ext cx="5939162" cy="569727"/>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5FFA24F2-FDC5-4276-A235-B234F762FF98}"/>
              </a:ext>
            </a:extLst>
          </p:cNvPr>
          <p:cNvSpPr txBox="1"/>
          <p:nvPr/>
        </p:nvSpPr>
        <p:spPr>
          <a:xfrm>
            <a:off x="431921" y="898262"/>
            <a:ext cx="5507240" cy="47705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2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pitchFamily="34" charset="0"/>
                <a:cs typeface="Calibri" panose="020F0502020204030204" pitchFamily="34" charset="0"/>
              </a:rPr>
              <a:t>Why is MERP Needed?</a:t>
            </a:r>
          </a:p>
        </p:txBody>
      </p:sp>
      <p:sp>
        <p:nvSpPr>
          <p:cNvPr id="9" name="TextBox 8">
            <a:extLst>
              <a:ext uri="{FF2B5EF4-FFF2-40B4-BE49-F238E27FC236}">
                <a16:creationId xmlns:a16="http://schemas.microsoft.com/office/drawing/2014/main" id="{C133D18C-9F65-4150-8707-00079BF419E1}"/>
              </a:ext>
            </a:extLst>
          </p:cNvPr>
          <p:cNvSpPr txBox="1"/>
          <p:nvPr/>
        </p:nvSpPr>
        <p:spPr>
          <a:xfrm>
            <a:off x="2833546" y="99209"/>
            <a:ext cx="6524908"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MERP – </a:t>
            </a:r>
            <a:r>
              <a:rPr kumimoji="0" lang="en-US" sz="3200" b="1"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Building Nexus </a:t>
            </a:r>
            <a:r>
              <a:rPr kumimoji="0" lang="en-US" sz="3200" b="1" i="1"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(1 of 3)</a:t>
            </a:r>
          </a:p>
        </p:txBody>
      </p:sp>
      <p:sp>
        <p:nvSpPr>
          <p:cNvPr id="4" name="Rectangle: Rounded Corners 3">
            <a:extLst>
              <a:ext uri="{FF2B5EF4-FFF2-40B4-BE49-F238E27FC236}">
                <a16:creationId xmlns:a16="http://schemas.microsoft.com/office/drawing/2014/main" id="{7706B8A4-0CF8-F5B9-BB35-CDCF0DAACBBE}"/>
              </a:ext>
            </a:extLst>
          </p:cNvPr>
          <p:cNvSpPr/>
          <p:nvPr/>
        </p:nvSpPr>
        <p:spPr>
          <a:xfrm>
            <a:off x="739688" y="2646628"/>
            <a:ext cx="2988072" cy="3006444"/>
          </a:xfrm>
          <a:prstGeom prst="round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solidFill>
                  <a:schemeClr val="tx1"/>
                </a:solidFill>
                <a:latin typeface="Calibri" panose="020F0502020204030204" pitchFamily="34" charset="0"/>
                <a:cs typeface="Calibri" panose="020F0502020204030204" pitchFamily="34" charset="0"/>
              </a:rPr>
              <a:t>Every military conflict has had a characteristic exposure-related health concern</a:t>
            </a:r>
          </a:p>
          <a:p>
            <a:pPr algn="ctr"/>
            <a:endParaRPr lang="en-US" sz="1800" dirty="0">
              <a:cs typeface="Arial" panose="020B0604020202020204" pitchFamily="34" charset="0"/>
            </a:endParaRPr>
          </a:p>
          <a:p>
            <a:pPr algn="ctr"/>
            <a:endParaRPr lang="en-US" dirty="0">
              <a:cs typeface="Arial" panose="020B0604020202020204" pitchFamily="34" charset="0"/>
            </a:endParaRPr>
          </a:p>
          <a:p>
            <a:pPr algn="ctr"/>
            <a:endParaRPr lang="en-US" dirty="0"/>
          </a:p>
        </p:txBody>
      </p:sp>
      <p:sp>
        <p:nvSpPr>
          <p:cNvPr id="5" name="Rectangle: Rounded Corners 4">
            <a:extLst>
              <a:ext uri="{FF2B5EF4-FFF2-40B4-BE49-F238E27FC236}">
                <a16:creationId xmlns:a16="http://schemas.microsoft.com/office/drawing/2014/main" id="{F3D47E5B-892A-0CDC-0FD3-51BB5D5060E4}"/>
              </a:ext>
            </a:extLst>
          </p:cNvPr>
          <p:cNvSpPr/>
          <p:nvPr/>
        </p:nvSpPr>
        <p:spPr>
          <a:xfrm>
            <a:off x="8074215" y="2646628"/>
            <a:ext cx="2892609" cy="3006444"/>
          </a:xfrm>
          <a:prstGeom prst="round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cs typeface="Arial"/>
            </a:endParaRPr>
          </a:p>
          <a:p>
            <a:pPr algn="ctr"/>
            <a:r>
              <a:rPr lang="en-US" sz="1800" dirty="0">
                <a:solidFill>
                  <a:schemeClr val="tx1"/>
                </a:solidFill>
                <a:latin typeface="Calibri" panose="020F0502020204030204" pitchFamily="34" charset="0"/>
                <a:cs typeface="Calibri" panose="020F0502020204030204" pitchFamily="34" charset="0"/>
              </a:rPr>
              <a:t>Military exposure research was identified by Veterans Affairs Chief Research &amp; Development Officer of the Office of Research &amp; Development as a top cross-cutting clinical priority </a:t>
            </a:r>
            <a:endParaRPr lang="en-US" sz="1800" dirty="0">
              <a:solidFill>
                <a:schemeClr val="tx1"/>
              </a:solidFill>
              <a:latin typeface="Calibri" panose="020F0502020204030204" pitchFamily="34" charset="0"/>
              <a:ea typeface="Source Sans Pro"/>
              <a:cs typeface="Calibri" panose="020F0502020204030204" pitchFamily="34" charset="0"/>
            </a:endParaRPr>
          </a:p>
        </p:txBody>
      </p:sp>
      <p:sp>
        <p:nvSpPr>
          <p:cNvPr id="6" name="Rectangle: Rounded Corners 5">
            <a:extLst>
              <a:ext uri="{FF2B5EF4-FFF2-40B4-BE49-F238E27FC236}">
                <a16:creationId xmlns:a16="http://schemas.microsoft.com/office/drawing/2014/main" id="{02DFD3D3-7802-9E1E-9B1F-C644F5CF73F0}"/>
              </a:ext>
            </a:extLst>
          </p:cNvPr>
          <p:cNvSpPr/>
          <p:nvPr/>
        </p:nvSpPr>
        <p:spPr>
          <a:xfrm>
            <a:off x="4454683" y="2646628"/>
            <a:ext cx="2892609" cy="3006444"/>
          </a:xfrm>
          <a:prstGeom prst="round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solidFill>
                  <a:schemeClr val="tx1"/>
                </a:solidFill>
                <a:latin typeface="Calibri" panose="020F0502020204030204" pitchFamily="34" charset="0"/>
                <a:cs typeface="Calibri" panose="020F0502020204030204" pitchFamily="34" charset="0"/>
              </a:rPr>
              <a:t>Lack of a nexus between exposure and health outcome(s) has been a barrier for Veterans to become eligible for VA care and disability benefits</a:t>
            </a:r>
            <a:endParaRPr lang="en-US" dirty="0">
              <a:solidFill>
                <a:schemeClr val="tx1"/>
              </a:solidFill>
              <a:latin typeface="Calibri" panose="020F0502020204030204" pitchFamily="34" charset="0"/>
              <a:cs typeface="Calibri" panose="020F0502020204030204" pitchFamily="34" charset="0"/>
            </a:endParaRPr>
          </a:p>
        </p:txBody>
      </p:sp>
      <p:sp>
        <p:nvSpPr>
          <p:cNvPr id="10" name="Oval 9">
            <a:extLst>
              <a:ext uri="{FF2B5EF4-FFF2-40B4-BE49-F238E27FC236}">
                <a16:creationId xmlns:a16="http://schemas.microsoft.com/office/drawing/2014/main" id="{7E7D63C9-8EFD-A243-2949-CBF9DCB8FD37}"/>
              </a:ext>
            </a:extLst>
          </p:cNvPr>
          <p:cNvSpPr/>
          <p:nvPr/>
        </p:nvSpPr>
        <p:spPr>
          <a:xfrm>
            <a:off x="1567233" y="1983665"/>
            <a:ext cx="1169957" cy="1136755"/>
          </a:xfrm>
          <a:prstGeom prst="ellipse">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F6433AE4-14DA-E6C6-16AA-BA01823809A6}"/>
              </a:ext>
            </a:extLst>
          </p:cNvPr>
          <p:cNvSpPr/>
          <p:nvPr/>
        </p:nvSpPr>
        <p:spPr>
          <a:xfrm>
            <a:off x="5234610" y="1865361"/>
            <a:ext cx="1332753" cy="1255059"/>
          </a:xfrm>
          <a:prstGeom prst="ellipse">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4FF89046-FA7C-B354-752A-93A9BD411D13}"/>
              </a:ext>
            </a:extLst>
          </p:cNvPr>
          <p:cNvSpPr/>
          <p:nvPr/>
        </p:nvSpPr>
        <p:spPr>
          <a:xfrm>
            <a:off x="8832393" y="1790655"/>
            <a:ext cx="1332753" cy="1255059"/>
          </a:xfrm>
          <a:prstGeom prst="ellipse">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5" name="Graphic 14" descr="Link with solid fill">
            <a:extLst>
              <a:ext uri="{FF2B5EF4-FFF2-40B4-BE49-F238E27FC236}">
                <a16:creationId xmlns:a16="http://schemas.microsoft.com/office/drawing/2014/main" id="{1072488D-EC78-8A15-51B6-24728014C68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43786" y="2035690"/>
            <a:ext cx="914400" cy="914400"/>
          </a:xfrm>
          <a:prstGeom prst="rect">
            <a:avLst/>
          </a:prstGeom>
        </p:spPr>
      </p:pic>
      <p:pic>
        <p:nvPicPr>
          <p:cNvPr id="17" name="Graphic 16" descr="Heart with pulse with solid fill">
            <a:extLst>
              <a:ext uri="{FF2B5EF4-FFF2-40B4-BE49-F238E27FC236}">
                <a16:creationId xmlns:a16="http://schemas.microsoft.com/office/drawing/2014/main" id="{AB2CACFE-3CE4-0EE0-6367-B52F565E94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02905" y="2156583"/>
            <a:ext cx="914400" cy="914400"/>
          </a:xfrm>
          <a:prstGeom prst="rect">
            <a:avLst/>
          </a:prstGeom>
        </p:spPr>
      </p:pic>
      <p:pic>
        <p:nvPicPr>
          <p:cNvPr id="19" name="Graphic 18" descr="Scientist female with solid fill">
            <a:extLst>
              <a:ext uri="{FF2B5EF4-FFF2-40B4-BE49-F238E27FC236}">
                <a16:creationId xmlns:a16="http://schemas.microsoft.com/office/drawing/2014/main" id="{472A246F-BE46-D986-3EEE-9EA10B6343C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063319" y="1955296"/>
            <a:ext cx="914400" cy="914400"/>
          </a:xfrm>
          <a:prstGeom prst="rect">
            <a:avLst/>
          </a:prstGeom>
        </p:spPr>
      </p:pic>
    </p:spTree>
    <p:extLst>
      <p:ext uri="{BB962C8B-B14F-4D97-AF65-F5344CB8AC3E}">
        <p14:creationId xmlns:p14="http://schemas.microsoft.com/office/powerpoint/2010/main" val="23340729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0CDA14D-2093-D825-F028-1BF6241045B9}"/>
              </a:ext>
            </a:extLst>
          </p:cNvPr>
          <p:cNvSpPr>
            <a:spLocks noGrp="1"/>
          </p:cNvSpPr>
          <p:nvPr>
            <p:ph type="title"/>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rPr>
              <a:t>MERP – Building Nexus </a:t>
            </a:r>
            <a:r>
              <a:rPr kumimoji="0" lang="en-US" sz="3200" b="1" i="1"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rPr>
              <a:t>(2 of 3)</a:t>
            </a:r>
          </a:p>
        </p:txBody>
      </p:sp>
      <p:sp>
        <p:nvSpPr>
          <p:cNvPr id="2" name="Content Placeholder 1">
            <a:extLst>
              <a:ext uri="{FF2B5EF4-FFF2-40B4-BE49-F238E27FC236}">
                <a16:creationId xmlns:a16="http://schemas.microsoft.com/office/drawing/2014/main" id="{7830A59B-F1F9-7327-A892-A48C9F65D2A4}"/>
              </a:ext>
            </a:extLst>
          </p:cNvPr>
          <p:cNvSpPr>
            <a:spLocks noGrp="1"/>
          </p:cNvSpPr>
          <p:nvPr>
            <p:ph idx="1"/>
          </p:nvPr>
        </p:nvSpPr>
        <p:spPr>
          <a:xfrm>
            <a:off x="609600" y="1302042"/>
            <a:ext cx="10972800" cy="4253916"/>
          </a:xfrm>
        </p:spPr>
        <p:txBody>
          <a:bodyPr vert="horz" lIns="91440" tIns="45720" rIns="91440" bIns="45720" rtlCol="0" anchor="t">
            <a:noAutofit/>
          </a:bodyPr>
          <a:lstStyle/>
          <a:p>
            <a:pPr marL="0" marR="0" indent="0">
              <a:spcBef>
                <a:spcPts val="0"/>
              </a:spcBef>
              <a:spcAft>
                <a:spcPts val="0"/>
              </a:spcAft>
              <a:buNone/>
            </a:pPr>
            <a:r>
              <a:rPr lang="en-US" sz="1800" b="1" dirty="0">
                <a:solidFill>
                  <a:srgbClr val="0E101A"/>
                </a:solidFill>
                <a:effectLst/>
                <a:latin typeface="+mn-lt"/>
                <a:ea typeface="Calibri" panose="020F0502020204030204" pitchFamily="34" charset="0"/>
              </a:rPr>
              <a:t>Mission. </a:t>
            </a:r>
            <a:r>
              <a:rPr lang="en-US" sz="1800" dirty="0">
                <a:solidFill>
                  <a:srgbClr val="0E101A"/>
                </a:solidFill>
                <a:effectLst/>
                <a:latin typeface="+mn-lt"/>
                <a:ea typeface="Calibri" panose="020F0502020204030204" pitchFamily="34" charset="0"/>
              </a:rPr>
              <a:t>The Military Exposures Research Program (MERP) aims to understand military occupational and environmental exposures to inform Veteran care and policy.</a:t>
            </a:r>
            <a:endParaRPr lang="en-US" sz="1800" dirty="0">
              <a:effectLst/>
              <a:latin typeface="+mn-lt"/>
              <a:ea typeface="Calibri" panose="020F0502020204030204" pitchFamily="34" charset="0"/>
            </a:endParaRPr>
          </a:p>
          <a:p>
            <a:pPr marL="0" marR="0" indent="0">
              <a:spcBef>
                <a:spcPts val="0"/>
              </a:spcBef>
              <a:spcAft>
                <a:spcPts val="0"/>
              </a:spcAft>
              <a:buNone/>
            </a:pPr>
            <a:endParaRPr lang="en-US" sz="1800" dirty="0">
              <a:effectLst/>
              <a:latin typeface="+mn-lt"/>
              <a:ea typeface="Calibri" panose="020F0502020204030204" pitchFamily="34" charset="0"/>
            </a:endParaRPr>
          </a:p>
          <a:p>
            <a:pPr marL="0" indent="0">
              <a:spcBef>
                <a:spcPts val="0"/>
              </a:spcBef>
              <a:buNone/>
            </a:pPr>
            <a:r>
              <a:rPr lang="en-US" sz="1800" b="1" dirty="0">
                <a:effectLst/>
                <a:latin typeface="+mn-lt"/>
                <a:ea typeface="Calibri" panose="020F0502020204030204" pitchFamily="34" charset="0"/>
                <a:cs typeface="Arial"/>
              </a:rPr>
              <a:t>Scope. </a:t>
            </a:r>
            <a:r>
              <a:rPr lang="en-US" sz="1800" dirty="0">
                <a:effectLst/>
                <a:latin typeface="+mn-lt"/>
                <a:ea typeface="Calibri" panose="020F0502020204030204" pitchFamily="34" charset="0"/>
                <a:cs typeface="Arial"/>
              </a:rPr>
              <a:t>The research portfolio includes </a:t>
            </a:r>
            <a:r>
              <a:rPr lang="en-US" sz="1800" u="sng" dirty="0">
                <a:latin typeface="+mn-lt"/>
                <a:ea typeface="Calibri" panose="020F0502020204030204" pitchFamily="34" charset="0"/>
                <a:cs typeface="Arial"/>
              </a:rPr>
              <a:t>l</a:t>
            </a:r>
            <a:r>
              <a:rPr lang="en-US" sz="1800" u="sng" dirty="0">
                <a:effectLst/>
                <a:latin typeface="+mn-lt"/>
                <a:ea typeface="Calibri" panose="020F0502020204030204" pitchFamily="34" charset="0"/>
                <a:cs typeface="Arial"/>
              </a:rPr>
              <a:t>aboratory studies</a:t>
            </a:r>
            <a:r>
              <a:rPr lang="en-US" sz="1800" dirty="0">
                <a:effectLst/>
                <a:latin typeface="+mn-lt"/>
                <a:ea typeface="Calibri" panose="020F0502020204030204" pitchFamily="34" charset="0"/>
                <a:cs typeface="Arial"/>
              </a:rPr>
              <a:t> related to toxic </a:t>
            </a:r>
            <a:r>
              <a:rPr lang="en-US" sz="1800" dirty="0">
                <a:latin typeface="+mn-lt"/>
                <a:ea typeface="Calibri" panose="020F0502020204030204" pitchFamily="34" charset="0"/>
                <a:cs typeface="Arial"/>
              </a:rPr>
              <a:t>agents</a:t>
            </a:r>
            <a:r>
              <a:rPr lang="en-US" sz="1800" dirty="0">
                <a:effectLst/>
                <a:latin typeface="+mn-lt"/>
                <a:ea typeface="Calibri" panose="020F0502020204030204" pitchFamily="34" charset="0"/>
                <a:cs typeface="Arial"/>
              </a:rPr>
              <a:t>, </a:t>
            </a:r>
            <a:r>
              <a:rPr lang="en-US" sz="1800" u="sng" dirty="0">
                <a:latin typeface="+mn-lt"/>
                <a:ea typeface="Calibri" panose="020F0502020204030204" pitchFamily="34" charset="0"/>
                <a:cs typeface="Arial"/>
              </a:rPr>
              <a:t>e</a:t>
            </a:r>
            <a:r>
              <a:rPr lang="en-US" sz="1800" u="sng" dirty="0">
                <a:effectLst/>
                <a:latin typeface="+mn-lt"/>
                <a:ea typeface="Calibri" panose="020F0502020204030204" pitchFamily="34" charset="0"/>
                <a:cs typeface="Arial"/>
              </a:rPr>
              <a:t>xposure assessments</a:t>
            </a:r>
            <a:r>
              <a:rPr lang="en-US" sz="1800" dirty="0">
                <a:latin typeface="+mn-lt"/>
                <a:ea typeface="Calibri" panose="020F0502020204030204" pitchFamily="34" charset="0"/>
                <a:cs typeface="Arial"/>
              </a:rPr>
              <a:t> of Service members completed</a:t>
            </a:r>
            <a:r>
              <a:rPr lang="en-US" sz="1800" dirty="0">
                <a:effectLst/>
                <a:latin typeface="+mn-lt"/>
                <a:ea typeface="Calibri" panose="020F0502020204030204" pitchFamily="34" charset="0"/>
                <a:cs typeface="Arial"/>
              </a:rPr>
              <a:t> post-military service, </a:t>
            </a:r>
            <a:r>
              <a:rPr lang="en-US" sz="1800" u="sng" dirty="0">
                <a:latin typeface="+mn-lt"/>
                <a:ea typeface="Calibri" panose="020F0502020204030204" pitchFamily="34" charset="0"/>
                <a:cs typeface="Arial"/>
              </a:rPr>
              <a:t>e</a:t>
            </a:r>
            <a:r>
              <a:rPr lang="en-US" sz="1800" u="sng" dirty="0">
                <a:effectLst/>
                <a:latin typeface="+mn-lt"/>
                <a:ea typeface="Calibri" panose="020F0502020204030204" pitchFamily="34" charset="0"/>
                <a:cs typeface="Arial"/>
              </a:rPr>
              <a:t>pidemiological research</a:t>
            </a:r>
            <a:r>
              <a:rPr lang="en-US" sz="1800" dirty="0">
                <a:latin typeface="+mn-lt"/>
                <a:ea typeface="Calibri" panose="020F0502020204030204" pitchFamily="34" charset="0"/>
                <a:cs typeface="Arial"/>
              </a:rPr>
              <a:t>,</a:t>
            </a:r>
            <a:r>
              <a:rPr lang="en-US" sz="1800" dirty="0">
                <a:effectLst/>
                <a:latin typeface="+mn-lt"/>
                <a:ea typeface="Calibri" panose="020F0502020204030204" pitchFamily="34" charset="0"/>
                <a:cs typeface="Arial"/>
              </a:rPr>
              <a:t> and </a:t>
            </a:r>
            <a:r>
              <a:rPr lang="en-US" sz="1800" u="sng" dirty="0">
                <a:latin typeface="+mn-lt"/>
                <a:ea typeface="Calibri" panose="020F0502020204030204" pitchFamily="34" charset="0"/>
                <a:cs typeface="Arial"/>
              </a:rPr>
              <a:t>c</a:t>
            </a:r>
            <a:r>
              <a:rPr lang="en-US" sz="1800" u="sng" dirty="0">
                <a:effectLst/>
                <a:latin typeface="+mn-lt"/>
                <a:ea typeface="Calibri" panose="020F0502020204030204" pitchFamily="34" charset="0"/>
                <a:cs typeface="Arial"/>
              </a:rPr>
              <a:t>linical and health systems studies</a:t>
            </a:r>
            <a:r>
              <a:rPr lang="en-US" sz="1800" dirty="0">
                <a:effectLst/>
                <a:latin typeface="+mn-lt"/>
                <a:ea typeface="Calibri" panose="020F0502020204030204" pitchFamily="34" charset="0"/>
                <a:cs typeface="Arial"/>
              </a:rPr>
              <a:t> related to military occupational and environmental exposures.  MERP considers health effects from a broad range of hazardous substances encountered during military service.</a:t>
            </a:r>
            <a:r>
              <a:rPr lang="en-US" sz="1800" dirty="0">
                <a:latin typeface="+mn-lt"/>
                <a:ea typeface="Calibri" panose="020F0502020204030204" pitchFamily="34" charset="0"/>
                <a:cs typeface="Arial"/>
              </a:rPr>
              <a:t> </a:t>
            </a:r>
            <a:endParaRPr lang="en-US" sz="1800" dirty="0">
              <a:effectLst/>
              <a:latin typeface="+mn-lt"/>
              <a:ea typeface="Calibri" panose="020F0502020204030204" pitchFamily="34" charset="0"/>
            </a:endParaRPr>
          </a:p>
          <a:p>
            <a:pPr marL="0" marR="0" indent="0">
              <a:spcBef>
                <a:spcPts val="0"/>
              </a:spcBef>
              <a:spcAft>
                <a:spcPts val="0"/>
              </a:spcAft>
              <a:buNone/>
            </a:pPr>
            <a:endParaRPr lang="en-US" sz="1800" dirty="0">
              <a:effectLst/>
              <a:latin typeface="+mn-lt"/>
              <a:ea typeface="Calibri" panose="020F0502020204030204" pitchFamily="34" charset="0"/>
            </a:endParaRPr>
          </a:p>
          <a:p>
            <a:pPr marL="0" marR="0" indent="0">
              <a:spcBef>
                <a:spcPts val="0"/>
              </a:spcBef>
              <a:spcAft>
                <a:spcPts val="0"/>
              </a:spcAft>
              <a:buNone/>
            </a:pPr>
            <a:r>
              <a:rPr lang="en-US" sz="1800" b="1" dirty="0">
                <a:solidFill>
                  <a:srgbClr val="0E101A"/>
                </a:solidFill>
                <a:effectLst/>
                <a:latin typeface="+mn-lt"/>
                <a:ea typeface="Calibri" panose="020F0502020204030204" pitchFamily="34" charset="0"/>
              </a:rPr>
              <a:t>Definitions. </a:t>
            </a:r>
            <a:br>
              <a:rPr lang="en-US" sz="1800" b="1" dirty="0">
                <a:solidFill>
                  <a:srgbClr val="0E101A"/>
                </a:solidFill>
                <a:effectLst/>
                <a:latin typeface="+mn-lt"/>
                <a:ea typeface="Calibri" panose="020F0502020204030204" pitchFamily="34" charset="0"/>
              </a:rPr>
            </a:br>
            <a:endParaRPr lang="en-US" sz="1800" dirty="0">
              <a:effectLst/>
              <a:latin typeface="+mn-lt"/>
              <a:ea typeface="Calibri" panose="020F0502020204030204" pitchFamily="34" charset="0"/>
            </a:endParaRPr>
          </a:p>
          <a:p>
            <a:pPr marL="0" indent="0">
              <a:spcBef>
                <a:spcPts val="0"/>
              </a:spcBef>
              <a:buNone/>
            </a:pPr>
            <a:r>
              <a:rPr lang="en-US" sz="1800" i="1" dirty="0">
                <a:solidFill>
                  <a:srgbClr val="0E101A"/>
                </a:solidFill>
                <a:effectLst/>
                <a:latin typeface="+mn-lt"/>
                <a:ea typeface="Calibri" panose="020F0502020204030204" pitchFamily="34" charset="0"/>
                <a:cs typeface="Arial"/>
              </a:rPr>
              <a:t>Military occupational and environmental exposures</a:t>
            </a:r>
            <a:r>
              <a:rPr lang="en-US" sz="1800" dirty="0">
                <a:solidFill>
                  <a:srgbClr val="0E101A"/>
                </a:solidFill>
                <a:effectLst/>
                <a:latin typeface="+mn-lt"/>
                <a:ea typeface="Calibri" panose="020F0502020204030204" pitchFamily="34" charset="0"/>
                <a:cs typeface="Arial"/>
              </a:rPr>
              <a:t> refer to contact with toxic</a:t>
            </a:r>
            <a:r>
              <a:rPr lang="en-US" sz="1800" dirty="0">
                <a:solidFill>
                  <a:srgbClr val="0E101A"/>
                </a:solidFill>
                <a:latin typeface="+mn-lt"/>
                <a:ea typeface="Calibri" panose="020F0502020204030204" pitchFamily="34" charset="0"/>
                <a:cs typeface="Arial"/>
              </a:rPr>
              <a:t> agents</a:t>
            </a:r>
            <a:r>
              <a:rPr lang="en-US" sz="1800" dirty="0">
                <a:solidFill>
                  <a:srgbClr val="0E101A"/>
                </a:solidFill>
                <a:effectLst/>
                <a:latin typeface="+mn-lt"/>
                <a:ea typeface="Calibri" panose="020F0502020204030204" pitchFamily="34" charset="0"/>
                <a:cs typeface="Arial"/>
              </a:rPr>
              <a:t> through ingestion, respiration, or skin-contact during military service (Deployment, Occupation, or Garrison</a:t>
            </a:r>
            <a:r>
              <a:rPr lang="en-US" sz="1800" dirty="0">
                <a:solidFill>
                  <a:srgbClr val="0E101A"/>
                </a:solidFill>
                <a:latin typeface="+mn-lt"/>
                <a:ea typeface="Calibri" panose="020F0502020204030204" pitchFamily="34" charset="0"/>
                <a:cs typeface="Arial"/>
              </a:rPr>
              <a:t>) which may cause an adverse health effect</a:t>
            </a:r>
            <a:r>
              <a:rPr lang="en-US" sz="1800" dirty="0">
                <a:latin typeface="+mn-lt"/>
                <a:ea typeface="Calibri" panose="020F0502020204030204" pitchFamily="34" charset="0"/>
                <a:cs typeface="Arial"/>
              </a:rPr>
              <a:t>.</a:t>
            </a:r>
            <a:r>
              <a:rPr lang="en-US" sz="1800" dirty="0">
                <a:effectLst/>
                <a:latin typeface="+mn-lt"/>
                <a:ea typeface="Calibri" panose="020F0502020204030204" pitchFamily="34" charset="0"/>
                <a:cs typeface="Arial"/>
              </a:rPr>
              <a:t> </a:t>
            </a:r>
          </a:p>
          <a:p>
            <a:pPr marL="0" marR="0" indent="0">
              <a:spcBef>
                <a:spcPts val="0"/>
              </a:spcBef>
              <a:spcAft>
                <a:spcPts val="0"/>
              </a:spcAft>
              <a:buNone/>
            </a:pPr>
            <a:endParaRPr lang="en-US" sz="1800" dirty="0">
              <a:effectLst/>
              <a:latin typeface="+mn-lt"/>
              <a:ea typeface="Calibri" panose="020F0502020204030204" pitchFamily="34" charset="0"/>
            </a:endParaRPr>
          </a:p>
          <a:p>
            <a:pPr marL="0" marR="0" indent="0">
              <a:spcBef>
                <a:spcPts val="0"/>
              </a:spcBef>
              <a:spcAft>
                <a:spcPts val="0"/>
              </a:spcAft>
              <a:buNone/>
            </a:pPr>
            <a:r>
              <a:rPr lang="en-US" sz="1800" i="1" dirty="0">
                <a:solidFill>
                  <a:srgbClr val="0E101A"/>
                </a:solidFill>
                <a:effectLst/>
                <a:latin typeface="+mn-lt"/>
                <a:ea typeface="Calibri" panose="020F0502020204030204" pitchFamily="34" charset="0"/>
                <a:cs typeface="Arial"/>
              </a:rPr>
              <a:t>Exposure assessment</a:t>
            </a:r>
            <a:r>
              <a:rPr lang="en-US" sz="1800" dirty="0">
                <a:solidFill>
                  <a:srgbClr val="0E101A"/>
                </a:solidFill>
                <a:effectLst/>
                <a:latin typeface="+mn-lt"/>
                <a:ea typeface="Calibri" panose="020F0502020204030204" pitchFamily="34" charset="0"/>
                <a:cs typeface="Arial"/>
              </a:rPr>
              <a:t> refers to qualitative and/or quantitative identification and measurement of toxic agent(s) to which a Veteran was exposed during military service.</a:t>
            </a:r>
            <a:endParaRPr lang="en-US" sz="1800" dirty="0">
              <a:effectLst/>
              <a:latin typeface="+mn-lt"/>
              <a:ea typeface="Calibri" panose="020F0502020204030204" pitchFamily="34" charset="0"/>
              <a:cs typeface="Arial"/>
            </a:endParaRPr>
          </a:p>
          <a:p>
            <a:pPr lvl="1"/>
            <a:endParaRPr lang="en-US" dirty="0">
              <a:latin typeface="+mn-lt"/>
            </a:endParaRPr>
          </a:p>
          <a:p>
            <a:pPr marL="0" indent="0">
              <a:buNone/>
            </a:pPr>
            <a:endParaRPr lang="en-US" sz="1800" dirty="0">
              <a:latin typeface="+mn-lt"/>
            </a:endParaRPr>
          </a:p>
        </p:txBody>
      </p:sp>
    </p:spTree>
    <p:extLst>
      <p:ext uri="{BB962C8B-B14F-4D97-AF65-F5344CB8AC3E}">
        <p14:creationId xmlns:p14="http://schemas.microsoft.com/office/powerpoint/2010/main" val="3056263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6190CB5-9DFC-48B3-BFDB-4F4E6FA227CA}"/>
              </a:ext>
            </a:extLst>
          </p:cNvPr>
          <p:cNvSpPr/>
          <p:nvPr/>
        </p:nvSpPr>
        <p:spPr>
          <a:xfrm>
            <a:off x="4164293" y="6279776"/>
            <a:ext cx="3841613" cy="461665"/>
          </a:xfrm>
          <a:prstGeom prst="rect">
            <a:avLst/>
          </a:prstGeom>
          <a:solidFill>
            <a:srgbClr val="002F56"/>
          </a:solidFill>
          <a:ln>
            <a:solidFill>
              <a:srgbClr val="002F56"/>
            </a:solidFill>
            <a:extLst>
              <a:ext uri="{C807C97D-BFC1-408E-A445-0C87EB9F89A2}">
                <ask:lineSketchStyleProps xmlns:ask="http://schemas.microsoft.com/office/drawing/2018/sketchyshapes" sd="1219033472">
                  <a:custGeom>
                    <a:avLst/>
                    <a:gdLst>
                      <a:gd name="connsiteX0" fmla="*/ 0 w 343214"/>
                      <a:gd name="connsiteY0" fmla="*/ 278296 h 540689"/>
                      <a:gd name="connsiteX1" fmla="*/ 23854 w 343214"/>
                      <a:gd name="connsiteY1" fmla="*/ 238539 h 540689"/>
                      <a:gd name="connsiteX2" fmla="*/ 39757 w 343214"/>
                      <a:gd name="connsiteY2" fmla="*/ 214685 h 540689"/>
                      <a:gd name="connsiteX3" fmla="*/ 79513 w 343214"/>
                      <a:gd name="connsiteY3" fmla="*/ 127221 h 540689"/>
                      <a:gd name="connsiteX4" fmla="*/ 95416 w 343214"/>
                      <a:gd name="connsiteY4" fmla="*/ 55659 h 540689"/>
                      <a:gd name="connsiteX5" fmla="*/ 135173 w 343214"/>
                      <a:gd name="connsiteY5" fmla="*/ 0 h 540689"/>
                      <a:gd name="connsiteX6" fmla="*/ 159026 w 343214"/>
                      <a:gd name="connsiteY6" fmla="*/ 286247 h 540689"/>
                      <a:gd name="connsiteX7" fmla="*/ 174929 w 343214"/>
                      <a:gd name="connsiteY7" fmla="*/ 333955 h 540689"/>
                      <a:gd name="connsiteX8" fmla="*/ 182880 w 343214"/>
                      <a:gd name="connsiteY8" fmla="*/ 365760 h 540689"/>
                      <a:gd name="connsiteX9" fmla="*/ 190832 w 343214"/>
                      <a:gd name="connsiteY9" fmla="*/ 469127 h 540689"/>
                      <a:gd name="connsiteX10" fmla="*/ 206734 w 343214"/>
                      <a:gd name="connsiteY10" fmla="*/ 540689 h 540689"/>
                      <a:gd name="connsiteX11" fmla="*/ 222637 w 343214"/>
                      <a:gd name="connsiteY11" fmla="*/ 485030 h 540689"/>
                      <a:gd name="connsiteX12" fmla="*/ 254442 w 343214"/>
                      <a:gd name="connsiteY12" fmla="*/ 421419 h 540689"/>
                      <a:gd name="connsiteX13" fmla="*/ 270345 w 343214"/>
                      <a:gd name="connsiteY13" fmla="*/ 381663 h 540689"/>
                      <a:gd name="connsiteX14" fmla="*/ 294199 w 343214"/>
                      <a:gd name="connsiteY14" fmla="*/ 270344 h 540689"/>
                      <a:gd name="connsiteX15" fmla="*/ 310101 w 343214"/>
                      <a:gd name="connsiteY15" fmla="*/ 214685 h 540689"/>
                      <a:gd name="connsiteX16" fmla="*/ 318053 w 343214"/>
                      <a:gd name="connsiteY16" fmla="*/ 190831 h 540689"/>
                      <a:gd name="connsiteX17" fmla="*/ 333955 w 343214"/>
                      <a:gd name="connsiteY17" fmla="*/ 111318 h 540689"/>
                      <a:gd name="connsiteX18" fmla="*/ 341906 w 343214"/>
                      <a:gd name="connsiteY18" fmla="*/ 87464 h 540689"/>
                      <a:gd name="connsiteX19" fmla="*/ 341906 w 343214"/>
                      <a:gd name="connsiteY19" fmla="*/ 326004 h 54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3214" h="540689" extrusionOk="0">
                        <a:moveTo>
                          <a:pt x="0" y="278296"/>
                        </a:moveTo>
                        <a:cubicBezTo>
                          <a:pt x="4136" y="262691"/>
                          <a:pt x="13585" y="252425"/>
                          <a:pt x="23854" y="238539"/>
                        </a:cubicBezTo>
                        <a:cubicBezTo>
                          <a:pt x="31183" y="230912"/>
                          <a:pt x="32640" y="223118"/>
                          <a:pt x="39757" y="214685"/>
                        </a:cubicBezTo>
                        <a:cubicBezTo>
                          <a:pt x="59334" y="177783"/>
                          <a:pt x="63783" y="167033"/>
                          <a:pt x="79513" y="127221"/>
                        </a:cubicBezTo>
                        <a:cubicBezTo>
                          <a:pt x="78715" y="116276"/>
                          <a:pt x="87839" y="71410"/>
                          <a:pt x="95416" y="55659"/>
                        </a:cubicBezTo>
                        <a:cubicBezTo>
                          <a:pt x="111146" y="36582"/>
                          <a:pt x="123257" y="15804"/>
                          <a:pt x="135173" y="0"/>
                        </a:cubicBezTo>
                        <a:cubicBezTo>
                          <a:pt x="102433" y="131415"/>
                          <a:pt x="110121" y="-90048"/>
                          <a:pt x="159026" y="286247"/>
                        </a:cubicBezTo>
                        <a:cubicBezTo>
                          <a:pt x="160673" y="301439"/>
                          <a:pt x="167219" y="321919"/>
                          <a:pt x="174929" y="333955"/>
                        </a:cubicBezTo>
                        <a:cubicBezTo>
                          <a:pt x="178746" y="344801"/>
                          <a:pt x="181162" y="355382"/>
                          <a:pt x="182880" y="365760"/>
                        </a:cubicBezTo>
                        <a:cubicBezTo>
                          <a:pt x="182147" y="399669"/>
                          <a:pt x="195018" y="441325"/>
                          <a:pt x="190832" y="469127"/>
                        </a:cubicBezTo>
                        <a:cubicBezTo>
                          <a:pt x="193660" y="488503"/>
                          <a:pt x="202585" y="527585"/>
                          <a:pt x="206734" y="540689"/>
                        </a:cubicBezTo>
                        <a:cubicBezTo>
                          <a:pt x="214598" y="526084"/>
                          <a:pt x="218635" y="506820"/>
                          <a:pt x="222637" y="485030"/>
                        </a:cubicBezTo>
                        <a:cubicBezTo>
                          <a:pt x="234683" y="460181"/>
                          <a:pt x="245806" y="436837"/>
                          <a:pt x="254442" y="421419"/>
                        </a:cubicBezTo>
                        <a:cubicBezTo>
                          <a:pt x="258037" y="408852"/>
                          <a:pt x="262598" y="393227"/>
                          <a:pt x="270345" y="381663"/>
                        </a:cubicBezTo>
                        <a:cubicBezTo>
                          <a:pt x="279787" y="322101"/>
                          <a:pt x="276342" y="335895"/>
                          <a:pt x="294199" y="270344"/>
                        </a:cubicBezTo>
                        <a:cubicBezTo>
                          <a:pt x="299475" y="247584"/>
                          <a:pt x="302380" y="234437"/>
                          <a:pt x="310101" y="214685"/>
                        </a:cubicBezTo>
                        <a:cubicBezTo>
                          <a:pt x="312005" y="207558"/>
                          <a:pt x="318008" y="200365"/>
                          <a:pt x="318053" y="190831"/>
                        </a:cubicBezTo>
                        <a:cubicBezTo>
                          <a:pt x="323898" y="170035"/>
                          <a:pt x="326753" y="136162"/>
                          <a:pt x="333955" y="111318"/>
                        </a:cubicBezTo>
                        <a:cubicBezTo>
                          <a:pt x="335799" y="104646"/>
                          <a:pt x="341210" y="79109"/>
                          <a:pt x="341906" y="87464"/>
                        </a:cubicBezTo>
                        <a:cubicBezTo>
                          <a:pt x="347584" y="172339"/>
                          <a:pt x="333522" y="250912"/>
                          <a:pt x="341906" y="326004"/>
                        </a:cubicBezTo>
                      </a:path>
                    </a:pathLst>
                  </a:custGeom>
                  <ask:type>
                    <ask:lineSketchNone/>
                  </ask:type>
                </ask:lineSketchStyleProps>
              </a:ext>
            </a:extLst>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38" name="TextBox 37">
            <a:extLst>
              <a:ext uri="{FF2B5EF4-FFF2-40B4-BE49-F238E27FC236}">
                <a16:creationId xmlns:a16="http://schemas.microsoft.com/office/drawing/2014/main" id="{97A2448F-B6E6-0299-3B25-47CE476AC334}"/>
              </a:ext>
            </a:extLst>
          </p:cNvPr>
          <p:cNvSpPr txBox="1"/>
          <p:nvPr/>
        </p:nvSpPr>
        <p:spPr>
          <a:xfrm>
            <a:off x="597244" y="99209"/>
            <a:ext cx="10997513"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mj-lt"/>
                <a:ea typeface="+mn-ea"/>
                <a:cs typeface="+mn-cs"/>
              </a:rPr>
              <a:t>MERP– </a:t>
            </a:r>
            <a:r>
              <a:rPr kumimoji="0" lang="en-US" sz="3200" b="1"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rPr>
              <a:t>Building Nexus </a:t>
            </a:r>
            <a:r>
              <a:rPr kumimoji="0" lang="en-US" sz="3200" b="1" i="1"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rPr>
              <a:t>(3 of 3)</a:t>
            </a:r>
          </a:p>
        </p:txBody>
      </p:sp>
      <p:sp>
        <p:nvSpPr>
          <p:cNvPr id="39" name="Rectangle 38">
            <a:extLst>
              <a:ext uri="{FF2B5EF4-FFF2-40B4-BE49-F238E27FC236}">
                <a16:creationId xmlns:a16="http://schemas.microsoft.com/office/drawing/2014/main" id="{27F590AC-8F1C-CCEE-F92D-A1DA976C4386}"/>
              </a:ext>
            </a:extLst>
          </p:cNvPr>
          <p:cNvSpPr/>
          <p:nvPr/>
        </p:nvSpPr>
        <p:spPr>
          <a:xfrm>
            <a:off x="597244" y="1439787"/>
            <a:ext cx="6768592" cy="2205599"/>
          </a:xfrm>
          <a:prstGeom prst="rect">
            <a:avLst/>
          </a:prstGeom>
          <a:noFill/>
          <a:ln>
            <a:solidFill>
              <a:srgbClr val="9BDAF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1" name="Rectangle 40">
            <a:extLst>
              <a:ext uri="{FF2B5EF4-FFF2-40B4-BE49-F238E27FC236}">
                <a16:creationId xmlns:a16="http://schemas.microsoft.com/office/drawing/2014/main" id="{A990E32D-8D38-3D8A-1485-21DD431B5089}"/>
              </a:ext>
            </a:extLst>
          </p:cNvPr>
          <p:cNvSpPr/>
          <p:nvPr/>
        </p:nvSpPr>
        <p:spPr>
          <a:xfrm>
            <a:off x="392613" y="1243754"/>
            <a:ext cx="2832500" cy="337842"/>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2" name="TextBox 41">
            <a:extLst>
              <a:ext uri="{FF2B5EF4-FFF2-40B4-BE49-F238E27FC236}">
                <a16:creationId xmlns:a16="http://schemas.microsoft.com/office/drawing/2014/main" id="{E52E47A6-1467-84C0-DABC-300718E74C9D}"/>
              </a:ext>
            </a:extLst>
          </p:cNvPr>
          <p:cNvSpPr txBox="1"/>
          <p:nvPr/>
        </p:nvSpPr>
        <p:spPr>
          <a:xfrm>
            <a:off x="567685" y="1217555"/>
            <a:ext cx="2553227"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Source Sans Pro"/>
                <a:ea typeface="+mn-ea"/>
                <a:cs typeface="Arial" panose="020B0604020202020204" pitchFamily="34" charset="0"/>
              </a:rPr>
              <a:t>VA PARTNERSHIPS</a:t>
            </a:r>
          </a:p>
        </p:txBody>
      </p:sp>
      <p:sp>
        <p:nvSpPr>
          <p:cNvPr id="57" name="TextBox 56">
            <a:extLst>
              <a:ext uri="{FF2B5EF4-FFF2-40B4-BE49-F238E27FC236}">
                <a16:creationId xmlns:a16="http://schemas.microsoft.com/office/drawing/2014/main" id="{518D07AA-6E19-0EE6-CCC6-EDED36D159AD}"/>
              </a:ext>
            </a:extLst>
          </p:cNvPr>
          <p:cNvSpPr txBox="1"/>
          <p:nvPr/>
        </p:nvSpPr>
        <p:spPr>
          <a:xfrm>
            <a:off x="743155" y="1590909"/>
            <a:ext cx="2940234" cy="1862048"/>
          </a:xfrm>
          <a:prstGeom prst="rect">
            <a:avLst/>
          </a:prstGeom>
          <a:noFill/>
        </p:spPr>
        <p:txBody>
          <a:bodyPr wrap="square" lIns="91440" tIns="45720" rIns="91440" bIns="45720" anchor="t">
            <a:spAutoFit/>
          </a:bodyPr>
          <a:lstStyle/>
          <a:p>
            <a:pPr marL="0" marR="0" lvl="0" indent="0" algn="l" defTabSz="914400" rtl="0" eaLnBrk="1" fontAlgn="auto" latinLnBrk="0" hangingPunct="1">
              <a:spcBef>
                <a:spcPts val="0"/>
              </a:spcBef>
              <a:spcAft>
                <a:spcPts val="600"/>
              </a:spcAft>
              <a:buClrTx/>
              <a:buSzTx/>
              <a:buFontTx/>
              <a:buNone/>
              <a:tabLst/>
              <a:defRPr/>
            </a:pPr>
            <a:r>
              <a:rPr kumimoji="0" lang="en-US" sz="1300" b="0" i="0" u="none" strike="noStrike" kern="1200" cap="none" spc="0" normalizeH="0" baseline="0" noProof="0" dirty="0">
                <a:ln>
                  <a:noFill/>
                </a:ln>
                <a:effectLst/>
                <a:uLnTx/>
                <a:uFillTx/>
                <a:ea typeface="+mn-ea"/>
                <a:cs typeface="+mn-cs"/>
              </a:rPr>
              <a:t>ORD Services and Programs</a:t>
            </a:r>
          </a:p>
          <a:p>
            <a:pPr marL="628650" lvl="1" indent="-171450">
              <a:spcAft>
                <a:spcPts val="600"/>
              </a:spcAft>
              <a:buFont typeface="Arial" panose="020B0604020202020204" pitchFamily="34" charset="0"/>
              <a:buChar char="•"/>
              <a:defRPr/>
            </a:pPr>
            <a:r>
              <a:rPr lang="en-US" sz="1300" dirty="0"/>
              <a:t>MVP</a:t>
            </a:r>
          </a:p>
          <a:p>
            <a:pPr marL="628650" lvl="1" indent="-171450">
              <a:spcAft>
                <a:spcPts val="600"/>
              </a:spcAft>
              <a:buFont typeface="Arial" panose="020B0604020202020204" pitchFamily="34" charset="0"/>
              <a:buChar char="•"/>
              <a:defRPr/>
            </a:pPr>
            <a:r>
              <a:rPr lang="en-US" sz="1300" dirty="0"/>
              <a:t>CIPHER</a:t>
            </a:r>
          </a:p>
          <a:p>
            <a:pPr marL="628650" lvl="1" indent="-171450">
              <a:spcAft>
                <a:spcPts val="600"/>
              </a:spcAft>
              <a:buFont typeface="Arial" panose="020B0604020202020204" pitchFamily="34" charset="0"/>
              <a:buChar char="•"/>
              <a:defRPr/>
            </a:pPr>
            <a:r>
              <a:rPr lang="en-US" sz="1300" dirty="0"/>
              <a:t>VA SHIELD</a:t>
            </a:r>
            <a:endParaRPr lang="en-US" sz="1300" dirty="0">
              <a:ea typeface="Source Sans Pro"/>
            </a:endParaRPr>
          </a:p>
          <a:p>
            <a:pPr marL="628650" lvl="1" indent="-171450">
              <a:spcAft>
                <a:spcPts val="600"/>
              </a:spcAft>
              <a:buFont typeface="Arial" panose="020B0604020202020204" pitchFamily="34" charset="0"/>
              <a:buChar char="•"/>
              <a:defRPr/>
            </a:pPr>
            <a:r>
              <a:rPr lang="en-US" sz="1300" dirty="0"/>
              <a:t>Quality Enhancement Research Initiative (QUERI)</a:t>
            </a:r>
            <a:endParaRPr lang="en-US" sz="1300" dirty="0">
              <a:ea typeface="Source Sans Pro"/>
            </a:endParaRPr>
          </a:p>
          <a:p>
            <a:pPr marL="0" marR="0" lvl="0" indent="0" algn="l" defTabSz="914400" rtl="0" eaLnBrk="1" fontAlgn="auto" latinLnBrk="0" hangingPunct="1">
              <a:spcBef>
                <a:spcPts val="0"/>
              </a:spcBef>
              <a:spcAft>
                <a:spcPts val="600"/>
              </a:spcAft>
              <a:buClrTx/>
              <a:buSzTx/>
              <a:buFontTx/>
              <a:buNone/>
              <a:tabLst/>
              <a:defRPr/>
            </a:pPr>
            <a:endParaRPr kumimoji="0" lang="en-US" sz="1200" b="0" i="0" u="none" strike="noStrike" kern="1200" cap="none" spc="0" normalizeH="0" baseline="0" noProof="0" dirty="0">
              <a:ln>
                <a:noFill/>
              </a:ln>
              <a:effectLst/>
              <a:uLnTx/>
              <a:uFillTx/>
              <a:latin typeface="Source Sans Pro"/>
              <a:ea typeface="+mn-ea"/>
              <a:cs typeface="+mn-cs"/>
            </a:endParaRPr>
          </a:p>
        </p:txBody>
      </p:sp>
      <p:sp>
        <p:nvSpPr>
          <p:cNvPr id="58" name="Rectangle 57">
            <a:extLst>
              <a:ext uri="{FF2B5EF4-FFF2-40B4-BE49-F238E27FC236}">
                <a16:creationId xmlns:a16="http://schemas.microsoft.com/office/drawing/2014/main" id="{2D69D9C2-4C16-2E7F-4897-E8760AD48E4B}"/>
              </a:ext>
            </a:extLst>
          </p:cNvPr>
          <p:cNvSpPr/>
          <p:nvPr/>
        </p:nvSpPr>
        <p:spPr>
          <a:xfrm>
            <a:off x="8061889" y="1111488"/>
            <a:ext cx="3688141" cy="4955527"/>
          </a:xfrm>
          <a:prstGeom prst="rect">
            <a:avLst/>
          </a:prstGeom>
          <a:noFill/>
          <a:ln>
            <a:solidFill>
              <a:srgbClr val="9BDAF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1" name="TextBox 60">
            <a:extLst>
              <a:ext uri="{FF2B5EF4-FFF2-40B4-BE49-F238E27FC236}">
                <a16:creationId xmlns:a16="http://schemas.microsoft.com/office/drawing/2014/main" id="{871DC9AF-CA67-572C-22DF-2CAA3DB67F5E}"/>
              </a:ext>
            </a:extLst>
          </p:cNvPr>
          <p:cNvSpPr txBox="1"/>
          <p:nvPr/>
        </p:nvSpPr>
        <p:spPr>
          <a:xfrm>
            <a:off x="8102346" y="1286957"/>
            <a:ext cx="3697040" cy="4770537"/>
          </a:xfrm>
          <a:prstGeom prst="rect">
            <a:avLst/>
          </a:prstGeom>
          <a:noFill/>
        </p:spPr>
        <p:txBody>
          <a:bodyPr wrap="square" lIns="91440" tIns="45720" rIns="91440" bIns="45720" anchor="t">
            <a:spAutoFit/>
          </a:bodyPr>
          <a:lstStyle/>
          <a:p>
            <a:pPr>
              <a:spcAft>
                <a:spcPts val="600"/>
              </a:spcAft>
              <a:defRPr/>
            </a:pPr>
            <a:r>
              <a:rPr lang="en-US" sz="1300" dirty="0"/>
              <a:t>DoD </a:t>
            </a:r>
          </a:p>
          <a:p>
            <a:pPr marL="628650" lvl="1" indent="-171450">
              <a:spcAft>
                <a:spcPts val="600"/>
              </a:spcAft>
              <a:buFont typeface="Arial" panose="020B0604020202020204" pitchFamily="34" charset="0"/>
              <a:buChar char="•"/>
              <a:defRPr/>
            </a:pPr>
            <a:r>
              <a:rPr lang="en-US" sz="1300" dirty="0"/>
              <a:t>Army Public Health</a:t>
            </a:r>
          </a:p>
          <a:p>
            <a:pPr marL="628650" lvl="1" indent="-171450">
              <a:spcAft>
                <a:spcPts val="600"/>
              </a:spcAft>
              <a:buFont typeface="Arial" panose="020B0604020202020204" pitchFamily="34" charset="0"/>
              <a:buChar char="•"/>
              <a:defRPr/>
            </a:pPr>
            <a:r>
              <a:rPr lang="en-US" sz="1300" dirty="0"/>
              <a:t>Defense Health Agency</a:t>
            </a:r>
          </a:p>
          <a:p>
            <a:pPr marL="628650" lvl="1" indent="-171450">
              <a:spcAft>
                <a:spcPts val="600"/>
              </a:spcAft>
              <a:buFont typeface="Arial" panose="020B0604020202020204" pitchFamily="34" charset="0"/>
              <a:buChar char="•"/>
              <a:defRPr/>
            </a:pPr>
            <a:r>
              <a:rPr lang="en-US" sz="1300" dirty="0"/>
              <a:t>Millennium Cohort Group</a:t>
            </a:r>
          </a:p>
          <a:p>
            <a:pPr marL="628650" lvl="1" indent="-171450">
              <a:spcAft>
                <a:spcPts val="600"/>
              </a:spcAft>
              <a:buFont typeface="Arial" panose="020B0604020202020204" pitchFamily="34" charset="0"/>
              <a:buChar char="•"/>
              <a:defRPr/>
            </a:pPr>
            <a:r>
              <a:rPr lang="en-US" sz="1300" dirty="0"/>
              <a:t>DoD Biorepository</a:t>
            </a:r>
            <a:endParaRPr lang="en-US" sz="1300" dirty="0">
              <a:ea typeface="Source Sans Pro"/>
            </a:endParaRPr>
          </a:p>
          <a:p>
            <a:pPr marL="628650" lvl="1" indent="-171450">
              <a:spcAft>
                <a:spcPts val="600"/>
              </a:spcAft>
              <a:buFont typeface="Arial" panose="020B0604020202020204" pitchFamily="34" charset="0"/>
              <a:buChar char="•"/>
              <a:defRPr/>
            </a:pPr>
            <a:r>
              <a:rPr lang="en-US" sz="1300" dirty="0"/>
              <a:t>Individual Longitudinal Exposure Record (ILER) </a:t>
            </a:r>
          </a:p>
          <a:p>
            <a:pPr marL="628650" lvl="1" indent="-171450">
              <a:spcAft>
                <a:spcPts val="600"/>
              </a:spcAft>
              <a:buFont typeface="Arial" panose="020B0604020202020204" pitchFamily="34" charset="0"/>
              <a:buChar char="•"/>
              <a:defRPr/>
            </a:pPr>
            <a:r>
              <a:rPr lang="en-US" sz="1300" dirty="0"/>
              <a:t>Toxic Exposures Research Program (TERP)</a:t>
            </a:r>
          </a:p>
          <a:p>
            <a:pPr marL="0" marR="0" lvl="0" indent="0" fontAlgn="auto">
              <a:lnSpc>
                <a:spcPct val="100000"/>
              </a:lnSpc>
              <a:spcBef>
                <a:spcPts val="0"/>
              </a:spcBef>
              <a:spcAft>
                <a:spcPts val="600"/>
              </a:spcAft>
              <a:buClrTx/>
              <a:buSzTx/>
              <a:buFontTx/>
              <a:buNone/>
              <a:tabLst/>
              <a:defRPr/>
            </a:pPr>
            <a:r>
              <a:rPr lang="en-US" sz="1300" dirty="0"/>
              <a:t>National Institutes of Health </a:t>
            </a:r>
          </a:p>
          <a:p>
            <a:pPr marL="628650" lvl="1" indent="-171450">
              <a:spcAft>
                <a:spcPts val="600"/>
              </a:spcAft>
              <a:buFont typeface="Arial" panose="020B0604020202020204" pitchFamily="34" charset="0"/>
              <a:buChar char="•"/>
              <a:defRPr/>
            </a:pPr>
            <a:r>
              <a:rPr lang="en-US" sz="1300" dirty="0"/>
              <a:t>Environmental Health Sciences</a:t>
            </a:r>
          </a:p>
          <a:p>
            <a:pPr marL="628650" lvl="1" indent="-171450">
              <a:spcAft>
                <a:spcPts val="600"/>
              </a:spcAft>
              <a:buFont typeface="Arial" panose="020B0604020202020204" pitchFamily="34" charset="0"/>
              <a:buChar char="•"/>
              <a:defRPr/>
            </a:pPr>
            <a:r>
              <a:rPr lang="en-US" sz="1300" dirty="0"/>
              <a:t>Aging</a:t>
            </a:r>
          </a:p>
          <a:p>
            <a:pPr marL="628650" lvl="1" indent="-171450">
              <a:spcAft>
                <a:spcPts val="600"/>
              </a:spcAft>
              <a:buFont typeface="Arial" panose="020B0604020202020204" pitchFamily="34" charset="0"/>
              <a:buChar char="•"/>
              <a:defRPr/>
            </a:pPr>
            <a:r>
              <a:rPr lang="en-US" sz="1300" dirty="0"/>
              <a:t>Neurological Diseases</a:t>
            </a:r>
          </a:p>
          <a:p>
            <a:pPr marL="628650" lvl="1" indent="-171450">
              <a:spcAft>
                <a:spcPts val="600"/>
              </a:spcAft>
              <a:buFont typeface="Arial" panose="020B0604020202020204" pitchFamily="34" charset="0"/>
              <a:buChar char="•"/>
              <a:defRPr/>
            </a:pPr>
            <a:r>
              <a:rPr lang="en-US" sz="1300" dirty="0"/>
              <a:t>Nursing</a:t>
            </a:r>
          </a:p>
          <a:p>
            <a:pPr marL="0" marR="0" lvl="0" indent="0" fontAlgn="auto">
              <a:lnSpc>
                <a:spcPct val="100000"/>
              </a:lnSpc>
              <a:spcBef>
                <a:spcPts val="0"/>
              </a:spcBef>
              <a:spcAft>
                <a:spcPts val="600"/>
              </a:spcAft>
              <a:buClrTx/>
              <a:buSzTx/>
              <a:buFontTx/>
              <a:buNone/>
              <a:tabLst/>
              <a:defRPr/>
            </a:pPr>
            <a:r>
              <a:rPr lang="en-US" sz="1300" dirty="0"/>
              <a:t>Centers for Disease Control and Prevention (CDC)</a:t>
            </a:r>
          </a:p>
          <a:p>
            <a:pPr marL="0" marR="0" lvl="0" indent="0" fontAlgn="auto">
              <a:lnSpc>
                <a:spcPct val="100000"/>
              </a:lnSpc>
              <a:spcBef>
                <a:spcPts val="0"/>
              </a:spcBef>
              <a:spcAft>
                <a:spcPts val="600"/>
              </a:spcAft>
              <a:buClrTx/>
              <a:buSzTx/>
              <a:buFontTx/>
              <a:buNone/>
              <a:tabLst/>
              <a:defRPr/>
            </a:pPr>
            <a:r>
              <a:rPr lang="en-US" sz="1300" dirty="0"/>
              <a:t>Agency for Toxic Substances and Disease Registry (ATSDR)</a:t>
            </a:r>
          </a:p>
          <a:p>
            <a:pPr marL="0" marR="0" lvl="0" indent="0" fontAlgn="auto">
              <a:lnSpc>
                <a:spcPct val="100000"/>
              </a:lnSpc>
              <a:spcBef>
                <a:spcPts val="0"/>
              </a:spcBef>
              <a:spcAft>
                <a:spcPts val="600"/>
              </a:spcAft>
              <a:buClrTx/>
              <a:buSzTx/>
              <a:buFontTx/>
              <a:buNone/>
              <a:tabLst/>
              <a:defRPr/>
            </a:pPr>
            <a:r>
              <a:rPr lang="en-US" sz="1300" dirty="0"/>
              <a:t>Environmental Protection Agency (EPA)</a:t>
            </a:r>
          </a:p>
        </p:txBody>
      </p:sp>
      <p:sp>
        <p:nvSpPr>
          <p:cNvPr id="62" name="Rectangle 61">
            <a:extLst>
              <a:ext uri="{FF2B5EF4-FFF2-40B4-BE49-F238E27FC236}">
                <a16:creationId xmlns:a16="http://schemas.microsoft.com/office/drawing/2014/main" id="{325F6B32-D56B-1090-0F2D-0C7C33E38C87}"/>
              </a:ext>
            </a:extLst>
          </p:cNvPr>
          <p:cNvSpPr/>
          <p:nvPr/>
        </p:nvSpPr>
        <p:spPr>
          <a:xfrm>
            <a:off x="597244" y="4302852"/>
            <a:ext cx="2802941" cy="1735998"/>
          </a:xfrm>
          <a:prstGeom prst="rect">
            <a:avLst/>
          </a:prstGeom>
          <a:noFill/>
          <a:ln>
            <a:solidFill>
              <a:srgbClr val="9BDAF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3" name="Rectangle 62">
            <a:extLst>
              <a:ext uri="{FF2B5EF4-FFF2-40B4-BE49-F238E27FC236}">
                <a16:creationId xmlns:a16="http://schemas.microsoft.com/office/drawing/2014/main" id="{98B36563-834E-5B2C-E6D4-0655BA179B39}"/>
              </a:ext>
            </a:extLst>
          </p:cNvPr>
          <p:cNvSpPr/>
          <p:nvPr/>
        </p:nvSpPr>
        <p:spPr>
          <a:xfrm>
            <a:off x="392614" y="4044549"/>
            <a:ext cx="2832500" cy="647043"/>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4" name="TextBox 63">
            <a:extLst>
              <a:ext uri="{FF2B5EF4-FFF2-40B4-BE49-F238E27FC236}">
                <a16:creationId xmlns:a16="http://schemas.microsoft.com/office/drawing/2014/main" id="{529E97B6-0CAD-C8B5-2AE9-55E078925482}"/>
              </a:ext>
            </a:extLst>
          </p:cNvPr>
          <p:cNvSpPr txBox="1"/>
          <p:nvPr/>
        </p:nvSpPr>
        <p:spPr>
          <a:xfrm>
            <a:off x="567685" y="4053984"/>
            <a:ext cx="2919227"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Source Sans Pro"/>
                <a:ea typeface="+mn-ea"/>
                <a:cs typeface="Arial" panose="020B0604020202020204" pitchFamily="34" charset="0"/>
              </a:rPr>
              <a:t>NON-FEDERAL AFFILIATES AND SMEs</a:t>
            </a:r>
          </a:p>
        </p:txBody>
      </p:sp>
      <p:sp>
        <p:nvSpPr>
          <p:cNvPr id="65" name="TextBox 64">
            <a:extLst>
              <a:ext uri="{FF2B5EF4-FFF2-40B4-BE49-F238E27FC236}">
                <a16:creationId xmlns:a16="http://schemas.microsoft.com/office/drawing/2014/main" id="{62934474-6834-77C5-18B8-4582290219A9}"/>
              </a:ext>
            </a:extLst>
          </p:cNvPr>
          <p:cNvSpPr txBox="1"/>
          <p:nvPr/>
        </p:nvSpPr>
        <p:spPr>
          <a:xfrm>
            <a:off x="743154" y="4719318"/>
            <a:ext cx="2686589" cy="1169551"/>
          </a:xfrm>
          <a:prstGeom prst="rect">
            <a:avLst/>
          </a:prstGeom>
          <a:noFill/>
        </p:spPr>
        <p:txBody>
          <a:bodyPr wrap="square">
            <a:spAutoFit/>
          </a:bodyPr>
          <a:lstStyle/>
          <a:p>
            <a:pPr marL="0" marR="0" lvl="0" indent="0" fontAlgn="auto">
              <a:lnSpc>
                <a:spcPct val="100000"/>
              </a:lnSpc>
              <a:spcBef>
                <a:spcPts val="0"/>
              </a:spcBef>
              <a:spcAft>
                <a:spcPts val="600"/>
              </a:spcAft>
              <a:buClrTx/>
              <a:buSzTx/>
              <a:buFontTx/>
              <a:buNone/>
              <a:tabLst/>
              <a:defRPr/>
            </a:pPr>
            <a:r>
              <a:rPr lang="en-US" sz="1300" dirty="0"/>
              <a:t>Academia </a:t>
            </a:r>
          </a:p>
          <a:p>
            <a:pPr marL="0" marR="0" lvl="0" indent="0" fontAlgn="auto">
              <a:lnSpc>
                <a:spcPct val="100000"/>
              </a:lnSpc>
              <a:spcBef>
                <a:spcPts val="0"/>
              </a:spcBef>
              <a:spcAft>
                <a:spcPts val="600"/>
              </a:spcAft>
              <a:buClrTx/>
              <a:buSzTx/>
              <a:buFontTx/>
              <a:buNone/>
              <a:tabLst/>
              <a:defRPr/>
            </a:pPr>
            <a:r>
              <a:rPr lang="en-US" sz="1300" dirty="0"/>
              <a:t>National Academy of Science, Engineering, and Medicine (NASEM) (Emerging Science for Environmental Health Decisions)</a:t>
            </a:r>
          </a:p>
        </p:txBody>
      </p:sp>
      <p:sp>
        <p:nvSpPr>
          <p:cNvPr id="66" name="Rectangle 65">
            <a:extLst>
              <a:ext uri="{FF2B5EF4-FFF2-40B4-BE49-F238E27FC236}">
                <a16:creationId xmlns:a16="http://schemas.microsoft.com/office/drawing/2014/main" id="{115993BB-974E-6BE6-FDDD-1C4A674E1353}"/>
              </a:ext>
            </a:extLst>
          </p:cNvPr>
          <p:cNvSpPr/>
          <p:nvPr/>
        </p:nvSpPr>
        <p:spPr>
          <a:xfrm>
            <a:off x="4049449" y="4305414"/>
            <a:ext cx="3316388" cy="1067437"/>
          </a:xfrm>
          <a:prstGeom prst="rect">
            <a:avLst/>
          </a:prstGeom>
          <a:noFill/>
          <a:ln>
            <a:solidFill>
              <a:srgbClr val="9BDAF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7" name="Rectangle 66">
            <a:extLst>
              <a:ext uri="{FF2B5EF4-FFF2-40B4-BE49-F238E27FC236}">
                <a16:creationId xmlns:a16="http://schemas.microsoft.com/office/drawing/2014/main" id="{906F18E6-F6EA-D1F4-1C2A-48ADEF1E37C4}"/>
              </a:ext>
            </a:extLst>
          </p:cNvPr>
          <p:cNvSpPr/>
          <p:nvPr/>
        </p:nvSpPr>
        <p:spPr>
          <a:xfrm>
            <a:off x="3844816" y="4109381"/>
            <a:ext cx="3434873" cy="337842"/>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8" name="TextBox 67">
            <a:extLst>
              <a:ext uri="{FF2B5EF4-FFF2-40B4-BE49-F238E27FC236}">
                <a16:creationId xmlns:a16="http://schemas.microsoft.com/office/drawing/2014/main" id="{7D23676B-D42D-57AE-B6ED-0B8BD731491D}"/>
              </a:ext>
            </a:extLst>
          </p:cNvPr>
          <p:cNvSpPr txBox="1"/>
          <p:nvPr/>
        </p:nvSpPr>
        <p:spPr>
          <a:xfrm>
            <a:off x="3795460" y="4093280"/>
            <a:ext cx="3808154"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Source Sans Pro"/>
                <a:ea typeface="+mn-ea"/>
                <a:cs typeface="Arial" panose="020B0604020202020204" pitchFamily="34" charset="0"/>
              </a:rPr>
              <a:t>COMMUNITY STAKEHOLDERS</a:t>
            </a:r>
          </a:p>
        </p:txBody>
      </p:sp>
      <p:sp>
        <p:nvSpPr>
          <p:cNvPr id="69" name="TextBox 68">
            <a:extLst>
              <a:ext uri="{FF2B5EF4-FFF2-40B4-BE49-F238E27FC236}">
                <a16:creationId xmlns:a16="http://schemas.microsoft.com/office/drawing/2014/main" id="{F3EA2B5C-1320-1ECA-4CA0-76310A361644}"/>
              </a:ext>
            </a:extLst>
          </p:cNvPr>
          <p:cNvSpPr txBox="1"/>
          <p:nvPr/>
        </p:nvSpPr>
        <p:spPr>
          <a:xfrm>
            <a:off x="4195359" y="4465849"/>
            <a:ext cx="3170477" cy="846386"/>
          </a:xfrm>
          <a:prstGeom prst="rect">
            <a:avLst/>
          </a:prstGeom>
          <a:noFill/>
        </p:spPr>
        <p:txBody>
          <a:bodyPr wrap="square">
            <a:spAutoFit/>
          </a:bodyPr>
          <a:lstStyle/>
          <a:p>
            <a:pPr marL="0" marR="0" lvl="0" indent="0" fontAlgn="auto">
              <a:lnSpc>
                <a:spcPct val="100000"/>
              </a:lnSpc>
              <a:spcBef>
                <a:spcPts val="0"/>
              </a:spcBef>
              <a:spcAft>
                <a:spcPts val="600"/>
              </a:spcAft>
              <a:buClrTx/>
              <a:buSzTx/>
              <a:buFontTx/>
              <a:buNone/>
              <a:tabLst/>
              <a:defRPr/>
            </a:pPr>
            <a:r>
              <a:rPr lang="en-US" sz="1300" dirty="0"/>
              <a:t>Veterans with Toxic Exposures</a:t>
            </a:r>
          </a:p>
          <a:p>
            <a:pPr marL="0" marR="0" lvl="0" indent="0" fontAlgn="auto">
              <a:lnSpc>
                <a:spcPct val="100000"/>
              </a:lnSpc>
              <a:spcBef>
                <a:spcPts val="0"/>
              </a:spcBef>
              <a:spcAft>
                <a:spcPts val="600"/>
              </a:spcAft>
              <a:buClrTx/>
              <a:buSzTx/>
              <a:buFontTx/>
              <a:buNone/>
              <a:tabLst/>
              <a:defRPr/>
            </a:pPr>
            <a:r>
              <a:rPr lang="en-US" sz="1300" dirty="0"/>
              <a:t>Veteran Service Organizations (VSO)</a:t>
            </a:r>
          </a:p>
          <a:p>
            <a:pPr marL="0" marR="0" lvl="0" indent="0" fontAlgn="auto">
              <a:lnSpc>
                <a:spcPct val="100000"/>
              </a:lnSpc>
              <a:spcBef>
                <a:spcPts val="0"/>
              </a:spcBef>
              <a:spcAft>
                <a:spcPts val="600"/>
              </a:spcAft>
              <a:buClrTx/>
              <a:buSzTx/>
              <a:buFontTx/>
              <a:buNone/>
              <a:tabLst/>
              <a:defRPr/>
            </a:pPr>
            <a:r>
              <a:rPr lang="en-US" sz="1300" dirty="0"/>
              <a:t>Private Foundations – Toxic Exposures</a:t>
            </a:r>
          </a:p>
        </p:txBody>
      </p:sp>
      <p:sp>
        <p:nvSpPr>
          <p:cNvPr id="70" name="TextBox 69">
            <a:extLst>
              <a:ext uri="{FF2B5EF4-FFF2-40B4-BE49-F238E27FC236}">
                <a16:creationId xmlns:a16="http://schemas.microsoft.com/office/drawing/2014/main" id="{B1FB24DF-5D2C-88C3-9462-F657D5AA2889}"/>
              </a:ext>
            </a:extLst>
          </p:cNvPr>
          <p:cNvSpPr txBox="1"/>
          <p:nvPr/>
        </p:nvSpPr>
        <p:spPr>
          <a:xfrm>
            <a:off x="3683389" y="729369"/>
            <a:ext cx="4825221" cy="4770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02F56"/>
                </a:solidFill>
                <a:effectLst/>
                <a:uLnTx/>
                <a:uFillTx/>
                <a:ea typeface="+mn-ea"/>
                <a:cs typeface="+mn-cs"/>
              </a:rPr>
              <a:t>MERP PARTNERSHIPS</a:t>
            </a:r>
            <a:endParaRPr kumimoji="0" lang="en-US" sz="2500" b="1" i="1" u="none" strike="noStrike" kern="1200" cap="none" spc="0" normalizeH="0" baseline="0" noProof="0" dirty="0">
              <a:ln>
                <a:noFill/>
              </a:ln>
              <a:solidFill>
                <a:srgbClr val="002F56"/>
              </a:solidFill>
              <a:effectLst/>
              <a:uLnTx/>
              <a:uFillTx/>
              <a:ea typeface="+mn-ea"/>
              <a:cs typeface="+mn-cs"/>
            </a:endParaRPr>
          </a:p>
        </p:txBody>
      </p:sp>
      <p:sp>
        <p:nvSpPr>
          <p:cNvPr id="2" name="Rectangle 1">
            <a:extLst>
              <a:ext uri="{FF2B5EF4-FFF2-40B4-BE49-F238E27FC236}">
                <a16:creationId xmlns:a16="http://schemas.microsoft.com/office/drawing/2014/main" id="{10BA93F2-D6AA-1FC1-A3BF-D6753EF860FF}"/>
              </a:ext>
            </a:extLst>
          </p:cNvPr>
          <p:cNvSpPr/>
          <p:nvPr/>
        </p:nvSpPr>
        <p:spPr>
          <a:xfrm>
            <a:off x="7904878" y="939593"/>
            <a:ext cx="3151139" cy="337842"/>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C91F8F81-3072-A42A-6B5C-37447189869C}"/>
              </a:ext>
            </a:extLst>
          </p:cNvPr>
          <p:cNvSpPr txBox="1"/>
          <p:nvPr/>
        </p:nvSpPr>
        <p:spPr>
          <a:xfrm>
            <a:off x="7908390" y="922995"/>
            <a:ext cx="3151139"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Source Sans Pro"/>
                <a:ea typeface="+mn-ea"/>
                <a:cs typeface="Arial" panose="020B0604020202020204" pitchFamily="34" charset="0"/>
              </a:rPr>
              <a:t>FEDERAL PARTNERSHIPS</a:t>
            </a:r>
          </a:p>
        </p:txBody>
      </p:sp>
      <p:sp>
        <p:nvSpPr>
          <p:cNvPr id="5" name="TextBox 4">
            <a:extLst>
              <a:ext uri="{FF2B5EF4-FFF2-40B4-BE49-F238E27FC236}">
                <a16:creationId xmlns:a16="http://schemas.microsoft.com/office/drawing/2014/main" id="{E7333462-4229-26A6-CD5D-FB5647DAD35A}"/>
              </a:ext>
            </a:extLst>
          </p:cNvPr>
          <p:cNvSpPr txBox="1"/>
          <p:nvPr/>
        </p:nvSpPr>
        <p:spPr>
          <a:xfrm>
            <a:off x="3844816" y="1609274"/>
            <a:ext cx="3260833" cy="769441"/>
          </a:xfrm>
          <a:prstGeom prst="rect">
            <a:avLst/>
          </a:prstGeom>
          <a:noFill/>
        </p:spPr>
        <p:txBody>
          <a:bodyPr wrap="square">
            <a:spAutoFit/>
          </a:bodyPr>
          <a:lstStyle/>
          <a:p>
            <a:pPr marL="0" marR="0" lvl="0" indent="0" fontAlgn="auto">
              <a:spcBef>
                <a:spcPts val="0"/>
              </a:spcBef>
              <a:spcAft>
                <a:spcPts val="600"/>
              </a:spcAft>
              <a:buClrTx/>
              <a:buSzTx/>
              <a:buFontTx/>
              <a:buNone/>
              <a:tabLst/>
              <a:defRPr/>
            </a:pPr>
            <a:r>
              <a:rPr lang="en-US" sz="1300" dirty="0"/>
              <a:t>Health Outcomes Military Exposures (HOME)</a:t>
            </a:r>
          </a:p>
          <a:p>
            <a:pPr marL="0" marR="0" lvl="0" indent="0" fontAlgn="auto">
              <a:spcBef>
                <a:spcPts val="0"/>
              </a:spcBef>
              <a:spcAft>
                <a:spcPts val="600"/>
              </a:spcAft>
              <a:buClrTx/>
              <a:buSzTx/>
              <a:buFontTx/>
              <a:buNone/>
              <a:tabLst/>
              <a:defRPr/>
            </a:pPr>
            <a:r>
              <a:rPr lang="en-US" sz="1300" dirty="0"/>
              <a:t>War Related Injury Illness Study Centers (WRIISCs)</a:t>
            </a:r>
          </a:p>
        </p:txBody>
      </p:sp>
    </p:spTree>
    <p:extLst>
      <p:ext uri="{BB962C8B-B14F-4D97-AF65-F5344CB8AC3E}">
        <p14:creationId xmlns:p14="http://schemas.microsoft.com/office/powerpoint/2010/main" val="31913812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48F338B-F9F4-0D9F-1D5A-E3F55BE00818}"/>
              </a:ext>
            </a:extLst>
          </p:cNvPr>
          <p:cNvSpPr>
            <a:spLocks noGrp="1"/>
          </p:cNvSpPr>
          <p:nvPr>
            <p:ph type="sldNum" sz="quarter" idx="12"/>
          </p:nvPr>
        </p:nvSpPr>
        <p:spPr/>
        <p:txBody>
          <a:bodyPr/>
          <a:lstStyle/>
          <a:p>
            <a:fld id="{D983F1FA-211D-3044-9E35-958DFBC26156}" type="slidenum">
              <a:rPr lang="en-US" smtClean="0">
                <a:solidFill>
                  <a:prstClr val="white"/>
                </a:solidFill>
              </a:rPr>
              <a:pPr/>
              <a:t>11</a:t>
            </a:fld>
            <a:endParaRPr lang="en-US" dirty="0">
              <a:solidFill>
                <a:prstClr val="white"/>
              </a:solidFill>
            </a:endParaRPr>
          </a:p>
        </p:txBody>
      </p:sp>
      <p:sp>
        <p:nvSpPr>
          <p:cNvPr id="4" name="Title 3">
            <a:extLst>
              <a:ext uri="{FF2B5EF4-FFF2-40B4-BE49-F238E27FC236}">
                <a16:creationId xmlns:a16="http://schemas.microsoft.com/office/drawing/2014/main" id="{FB7EFC1B-BF95-D7E3-0997-93AD4E7C8E75}"/>
              </a:ext>
            </a:extLst>
          </p:cNvPr>
          <p:cNvSpPr>
            <a:spLocks noGrp="1"/>
          </p:cNvSpPr>
          <p:nvPr>
            <p:ph type="title"/>
          </p:nvPr>
        </p:nvSpPr>
        <p:spPr/>
        <p:txBody>
          <a:bodyPr/>
          <a:lstStyle/>
          <a:p>
            <a:r>
              <a:rPr lang="en-US" sz="3200" b="1" dirty="0">
                <a:latin typeface="+mj-lt"/>
              </a:rPr>
              <a:t>Actively Managed Portfolio (AMP) Approach</a:t>
            </a:r>
            <a:endParaRPr lang="en-US" sz="3200" b="1" i="1" dirty="0">
              <a:latin typeface="+mj-lt"/>
            </a:endParaRPr>
          </a:p>
        </p:txBody>
      </p:sp>
      <p:sp>
        <p:nvSpPr>
          <p:cNvPr id="5" name="Content Placeholder 1">
            <a:extLst>
              <a:ext uri="{FF2B5EF4-FFF2-40B4-BE49-F238E27FC236}">
                <a16:creationId xmlns:a16="http://schemas.microsoft.com/office/drawing/2014/main" id="{AEE8301D-396A-B33F-864C-4B7A25668CCC}"/>
              </a:ext>
            </a:extLst>
          </p:cNvPr>
          <p:cNvSpPr>
            <a:spLocks noGrp="1"/>
          </p:cNvSpPr>
          <p:nvPr>
            <p:ph idx="1"/>
          </p:nvPr>
        </p:nvSpPr>
        <p:spPr>
          <a:xfrm>
            <a:off x="150269" y="1778915"/>
            <a:ext cx="10972800" cy="4189695"/>
          </a:xfrm>
        </p:spPr>
        <p:txBody>
          <a:bodyPr vert="horz" lIns="91440" tIns="45720" rIns="91440" bIns="45720" rtlCol="0" anchor="t">
            <a:normAutofit/>
          </a:bodyPr>
          <a:lstStyle/>
          <a:p>
            <a:pPr marL="0" indent="0">
              <a:buNone/>
            </a:pPr>
            <a:r>
              <a:rPr lang="en-US" b="1" u="sng" dirty="0">
                <a:latin typeface="+mn-lt"/>
              </a:rPr>
              <a:t>MERP is an AMP.</a:t>
            </a:r>
            <a:r>
              <a:rPr lang="en-US" dirty="0">
                <a:latin typeface="+mn-lt"/>
              </a:rPr>
              <a:t> The AMP structure is needed to ensure that the world-class research performed by VA is responsive to the healthcare challenges facing Veterans and generates improved real-world outcomes for them and their families. </a:t>
            </a:r>
            <a:br>
              <a:rPr lang="en-US" dirty="0">
                <a:latin typeface="+mn-lt"/>
              </a:rPr>
            </a:br>
            <a:endParaRPr lang="en-US" dirty="0">
              <a:latin typeface="+mn-lt"/>
              <a:ea typeface="Source Sans Pro"/>
            </a:endParaRPr>
          </a:p>
          <a:p>
            <a:pPr marL="0" indent="0">
              <a:buNone/>
            </a:pPr>
            <a:r>
              <a:rPr lang="en-US" dirty="0">
                <a:latin typeface="+mn-lt"/>
              </a:rPr>
              <a:t>To do this, the AMP initiative will:</a:t>
            </a:r>
            <a:br>
              <a:rPr lang="en-US" dirty="0">
                <a:latin typeface="+mn-lt"/>
              </a:rPr>
            </a:br>
            <a:endParaRPr lang="en-US" dirty="0">
              <a:latin typeface="+mn-lt"/>
            </a:endParaRPr>
          </a:p>
          <a:p>
            <a:pPr marL="685800" lvl="1">
              <a:buFont typeface="Arial" panose="020B0604020202020204" pitchFamily="34" charset="0"/>
              <a:buChar char="•"/>
            </a:pPr>
            <a:r>
              <a:rPr lang="en-US" sz="2000" dirty="0">
                <a:effectLst/>
                <a:highlight>
                  <a:srgbClr val="FFFF00"/>
                </a:highlight>
                <a:latin typeface="+mn-lt"/>
                <a:ea typeface="Calibri" panose="020F0502020204030204" pitchFamily="34" charset="0"/>
                <a:cs typeface="Calibri" panose="020F0502020204030204" pitchFamily="34" charset="0"/>
              </a:rPr>
              <a:t>Coordinate research activities within disease/condition areas to enable end-to-end research execution, translation into clinical practice, and to inform decision making</a:t>
            </a:r>
            <a:br>
              <a:rPr lang="en-US" sz="2000" dirty="0">
                <a:effectLst/>
                <a:latin typeface="+mn-lt"/>
                <a:ea typeface="Calibri" panose="020F0502020204030204" pitchFamily="34" charset="0"/>
                <a:cs typeface="Calibri" panose="020F0502020204030204" pitchFamily="34" charset="0"/>
              </a:rPr>
            </a:br>
            <a:endParaRPr lang="en-US" sz="2000" dirty="0">
              <a:latin typeface="+mn-lt"/>
            </a:endParaRPr>
          </a:p>
          <a:p>
            <a:pPr marL="685800" lvl="1">
              <a:buFont typeface="Arial" panose="020B0604020202020204" pitchFamily="34" charset="0"/>
              <a:buChar char="•"/>
            </a:pPr>
            <a:r>
              <a:rPr lang="en-US" sz="2000" dirty="0">
                <a:effectLst/>
                <a:latin typeface="+mn-lt"/>
                <a:ea typeface="Calibri" panose="020F0502020204030204" pitchFamily="34" charset="0"/>
                <a:cs typeface="Calibri" panose="020F0502020204030204" pitchFamily="34" charset="0"/>
              </a:rPr>
              <a:t>Provide mechanisms to rapidly respond to emerging research needs</a:t>
            </a:r>
            <a:br>
              <a:rPr lang="en-US" sz="2000" dirty="0">
                <a:effectLst/>
                <a:latin typeface="+mn-lt"/>
                <a:ea typeface="Calibri" panose="020F0502020204030204" pitchFamily="34" charset="0"/>
                <a:cs typeface="Calibri" panose="020F0502020204030204" pitchFamily="34" charset="0"/>
              </a:rPr>
            </a:br>
            <a:endParaRPr lang="en-US" sz="2000" dirty="0">
              <a:effectLst/>
              <a:latin typeface="+mn-lt"/>
              <a:ea typeface="Calibri" panose="020F0502020204030204" pitchFamily="34" charset="0"/>
              <a:cs typeface="Calibri" panose="020F0502020204030204" pitchFamily="34" charset="0"/>
            </a:endParaRPr>
          </a:p>
          <a:p>
            <a:pPr marL="685800" lvl="1">
              <a:buFont typeface="Arial" panose="020B0604020202020204" pitchFamily="34" charset="0"/>
              <a:buChar char="•"/>
            </a:pPr>
            <a:r>
              <a:rPr lang="en-US" sz="2000" dirty="0">
                <a:latin typeface="+mn-lt"/>
                <a:ea typeface="ＭＳ Ｐゴシック" pitchFamily="34" charset="-128"/>
                <a:cs typeface="Calibri" panose="020F0502020204030204" pitchFamily="34" charset="0"/>
              </a:rPr>
              <a:t>Promote the development of a community of practice (Stakeholders, Researchers, Veterans)</a:t>
            </a:r>
            <a:endParaRPr lang="en-US" sz="2000" dirty="0">
              <a:latin typeface="+mn-lt"/>
              <a:ea typeface="ＭＳ Ｐゴシック" pitchFamily="34" charset="-128"/>
              <a:cs typeface="Arial" pitchFamily="34" charset="0"/>
            </a:endParaRPr>
          </a:p>
          <a:p>
            <a:pPr marL="285750" indent="-285750">
              <a:buFont typeface="Arial" panose="020B0604020202020204" pitchFamily="34" charset="0"/>
              <a:buChar char="•"/>
            </a:pPr>
            <a:endParaRPr lang="en-US" dirty="0"/>
          </a:p>
        </p:txBody>
      </p:sp>
      <p:sp>
        <p:nvSpPr>
          <p:cNvPr id="7" name="Rectangle 6">
            <a:extLst>
              <a:ext uri="{FF2B5EF4-FFF2-40B4-BE49-F238E27FC236}">
                <a16:creationId xmlns:a16="http://schemas.microsoft.com/office/drawing/2014/main" id="{C0FB5174-F647-6985-A7DA-347DC451DE67}"/>
              </a:ext>
            </a:extLst>
          </p:cNvPr>
          <p:cNvSpPr/>
          <p:nvPr/>
        </p:nvSpPr>
        <p:spPr>
          <a:xfrm>
            <a:off x="-1" y="843054"/>
            <a:ext cx="7429131" cy="569727"/>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83AE34E3-BEC8-1467-8400-9F983F6611B8}"/>
              </a:ext>
            </a:extLst>
          </p:cNvPr>
          <p:cNvSpPr txBox="1"/>
          <p:nvPr/>
        </p:nvSpPr>
        <p:spPr>
          <a:xfrm>
            <a:off x="3663" y="889390"/>
            <a:ext cx="7429131" cy="47705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2500" b="1" dirty="0">
                <a:solidFill>
                  <a:schemeClr val="bg1"/>
                </a:solidFill>
              </a:rPr>
              <a:t>What is an Actively Managed Portfolio Approach?</a:t>
            </a:r>
            <a:endParaRPr kumimoji="0" lang="en-US" sz="25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Source Sans Pro"/>
              <a:ea typeface="+mn-ea"/>
              <a:cs typeface="Arial" panose="020B0604020202020204" pitchFamily="34" charset="0"/>
            </a:endParaRPr>
          </a:p>
        </p:txBody>
      </p:sp>
    </p:spTree>
    <p:extLst>
      <p:ext uri="{BB962C8B-B14F-4D97-AF65-F5344CB8AC3E}">
        <p14:creationId xmlns:p14="http://schemas.microsoft.com/office/powerpoint/2010/main" val="2906083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48F338B-F9F4-0D9F-1D5A-E3F55BE00818}"/>
              </a:ext>
            </a:extLst>
          </p:cNvPr>
          <p:cNvSpPr>
            <a:spLocks noGrp="1"/>
          </p:cNvSpPr>
          <p:nvPr>
            <p:ph type="sldNum" sz="quarter" idx="12"/>
          </p:nvPr>
        </p:nvSpPr>
        <p:spPr/>
        <p:txBody>
          <a:bodyPr/>
          <a:lstStyle/>
          <a:p>
            <a:fld id="{D983F1FA-211D-3044-9E35-958DFBC26156}" type="slidenum">
              <a:rPr lang="en-US" smtClean="0">
                <a:solidFill>
                  <a:prstClr val="white"/>
                </a:solidFill>
              </a:rPr>
              <a:pPr/>
              <a:t>12</a:t>
            </a:fld>
            <a:endParaRPr lang="en-US" dirty="0">
              <a:solidFill>
                <a:prstClr val="white"/>
              </a:solidFill>
            </a:endParaRPr>
          </a:p>
        </p:txBody>
      </p:sp>
      <p:sp>
        <p:nvSpPr>
          <p:cNvPr id="4" name="Title 3">
            <a:extLst>
              <a:ext uri="{FF2B5EF4-FFF2-40B4-BE49-F238E27FC236}">
                <a16:creationId xmlns:a16="http://schemas.microsoft.com/office/drawing/2014/main" id="{FB7EFC1B-BF95-D7E3-0997-93AD4E7C8E75}"/>
              </a:ext>
            </a:extLst>
          </p:cNvPr>
          <p:cNvSpPr>
            <a:spLocks noGrp="1"/>
          </p:cNvSpPr>
          <p:nvPr>
            <p:ph type="title"/>
          </p:nvPr>
        </p:nvSpPr>
        <p:spPr>
          <a:xfrm>
            <a:off x="-1" y="0"/>
            <a:ext cx="12192000" cy="685800"/>
          </a:xfrm>
        </p:spPr>
        <p:txBody>
          <a:bodyPr/>
          <a:lstStyle/>
          <a:p>
            <a:r>
              <a:rPr lang="en-US" sz="3200" b="1" dirty="0">
                <a:latin typeface="+mj-lt"/>
              </a:rPr>
              <a:t>Military Exposures Research Program</a:t>
            </a:r>
          </a:p>
        </p:txBody>
      </p:sp>
      <p:sp>
        <p:nvSpPr>
          <p:cNvPr id="5" name="Content Placeholder 1">
            <a:extLst>
              <a:ext uri="{FF2B5EF4-FFF2-40B4-BE49-F238E27FC236}">
                <a16:creationId xmlns:a16="http://schemas.microsoft.com/office/drawing/2014/main" id="{AEE8301D-396A-B33F-864C-4B7A25668CCC}"/>
              </a:ext>
            </a:extLst>
          </p:cNvPr>
          <p:cNvSpPr>
            <a:spLocks noGrp="1"/>
          </p:cNvSpPr>
          <p:nvPr>
            <p:ph idx="1"/>
          </p:nvPr>
        </p:nvSpPr>
        <p:spPr>
          <a:xfrm>
            <a:off x="165114" y="1370435"/>
            <a:ext cx="11287080" cy="4497932"/>
          </a:xfrm>
        </p:spPr>
        <p:txBody>
          <a:bodyPr>
            <a:normAutofit fontScale="47500" lnSpcReduction="20000"/>
          </a:bodyPr>
          <a:lstStyle/>
          <a:p>
            <a:pPr marL="346075" lvl="1" indent="-346075">
              <a:buFont typeface="Arial" panose="020B0604020202020204" pitchFamily="34" charset="0"/>
              <a:buChar char="•"/>
            </a:pPr>
            <a:r>
              <a:rPr lang="en-US" sz="5000" b="1" dirty="0">
                <a:latin typeface="+mn-lt"/>
              </a:rPr>
              <a:t>Research</a:t>
            </a:r>
          </a:p>
          <a:p>
            <a:pPr lvl="1">
              <a:spcBef>
                <a:spcPts val="0"/>
              </a:spcBef>
              <a:spcAft>
                <a:spcPts val="800"/>
              </a:spcAft>
            </a:pPr>
            <a:r>
              <a:rPr lang="en-US" sz="5000" dirty="0">
                <a:latin typeface="+mn-lt"/>
              </a:rPr>
              <a:t>Post-Service Military Exposure Assessments</a:t>
            </a:r>
          </a:p>
          <a:p>
            <a:pPr lvl="1">
              <a:spcBef>
                <a:spcPts val="0"/>
              </a:spcBef>
              <a:spcAft>
                <a:spcPts val="800"/>
              </a:spcAft>
            </a:pPr>
            <a:r>
              <a:rPr lang="en-US" sz="5000" dirty="0">
                <a:latin typeface="+mn-lt"/>
              </a:rPr>
              <a:t>Chronic Health Outcomes from Military Exposure</a:t>
            </a:r>
          </a:p>
          <a:p>
            <a:pPr>
              <a:spcBef>
                <a:spcPts val="0"/>
              </a:spcBef>
              <a:spcAft>
                <a:spcPts val="800"/>
              </a:spcAft>
            </a:pPr>
            <a:endParaRPr lang="en-US" sz="5000" b="1" dirty="0">
              <a:latin typeface="+mn-lt"/>
            </a:endParaRPr>
          </a:p>
          <a:p>
            <a:pPr>
              <a:spcBef>
                <a:spcPts val="0"/>
              </a:spcBef>
              <a:spcAft>
                <a:spcPts val="800"/>
              </a:spcAft>
            </a:pPr>
            <a:r>
              <a:rPr lang="en-US" sz="5000" b="1" dirty="0">
                <a:latin typeface="+mn-lt"/>
              </a:rPr>
              <a:t>Communications / Education</a:t>
            </a:r>
          </a:p>
          <a:p>
            <a:pPr lvl="1">
              <a:spcBef>
                <a:spcPts val="0"/>
              </a:spcBef>
              <a:spcAft>
                <a:spcPts val="800"/>
              </a:spcAft>
            </a:pPr>
            <a:r>
              <a:rPr lang="en-US" sz="5000" dirty="0">
                <a:latin typeface="+mn-lt"/>
              </a:rPr>
              <a:t>Communication, external-facing (website) to establish transparency, community of practice</a:t>
            </a:r>
          </a:p>
          <a:p>
            <a:pPr lvl="1">
              <a:spcBef>
                <a:spcPts val="0"/>
              </a:spcBef>
              <a:spcAft>
                <a:spcPts val="800"/>
              </a:spcAft>
            </a:pPr>
            <a:r>
              <a:rPr lang="en-US" sz="5000" dirty="0">
                <a:latin typeface="+mn-lt"/>
              </a:rPr>
              <a:t>Provide tools and resources to Military Exposure Stakeholders </a:t>
            </a:r>
          </a:p>
          <a:p>
            <a:pPr lvl="1">
              <a:spcBef>
                <a:spcPts val="0"/>
              </a:spcBef>
              <a:spcAft>
                <a:spcPts val="800"/>
              </a:spcAft>
            </a:pPr>
            <a:endParaRPr lang="en-US" sz="5000" dirty="0">
              <a:latin typeface="+mn-lt"/>
            </a:endParaRPr>
          </a:p>
          <a:p>
            <a:pPr marL="285750" lvl="1">
              <a:spcBef>
                <a:spcPts val="0"/>
              </a:spcBef>
              <a:spcAft>
                <a:spcPts val="800"/>
              </a:spcAft>
              <a:buFont typeface="Arial" panose="020B0604020202020204" pitchFamily="34" charset="0"/>
              <a:buChar char="•"/>
            </a:pPr>
            <a:r>
              <a:rPr lang="en-US" sz="5000" b="1" dirty="0">
                <a:latin typeface="+mn-lt"/>
              </a:rPr>
              <a:t>Expanding Capacity through Partnerships</a:t>
            </a:r>
          </a:p>
          <a:p>
            <a:pPr lvl="1">
              <a:spcBef>
                <a:spcPts val="0"/>
              </a:spcBef>
              <a:spcAft>
                <a:spcPts val="800"/>
              </a:spcAft>
            </a:pPr>
            <a:r>
              <a:rPr lang="en-US" sz="5000" dirty="0">
                <a:latin typeface="+mn-lt"/>
              </a:rPr>
              <a:t>Opportunity driven</a:t>
            </a:r>
            <a:endParaRPr lang="en-US" dirty="0"/>
          </a:p>
        </p:txBody>
      </p:sp>
      <p:sp>
        <p:nvSpPr>
          <p:cNvPr id="7" name="Rectangle 6">
            <a:extLst>
              <a:ext uri="{FF2B5EF4-FFF2-40B4-BE49-F238E27FC236}">
                <a16:creationId xmlns:a16="http://schemas.microsoft.com/office/drawing/2014/main" id="{C0FB5174-F647-6985-A7DA-347DC451DE67}"/>
              </a:ext>
            </a:extLst>
          </p:cNvPr>
          <p:cNvSpPr/>
          <p:nvPr/>
        </p:nvSpPr>
        <p:spPr>
          <a:xfrm>
            <a:off x="4261" y="736518"/>
            <a:ext cx="6001724" cy="580310"/>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83AE34E3-BEC8-1467-8400-9F983F6611B8}"/>
              </a:ext>
            </a:extLst>
          </p:cNvPr>
          <p:cNvSpPr txBox="1"/>
          <p:nvPr/>
        </p:nvSpPr>
        <p:spPr>
          <a:xfrm>
            <a:off x="165114" y="782853"/>
            <a:ext cx="5808541" cy="477054"/>
          </a:xfrm>
          <a:prstGeom prst="rect">
            <a:avLst/>
          </a:prstGeom>
          <a:noFill/>
        </p:spPr>
        <p:txBody>
          <a:bodyPr wrap="square" lIns="91440" tIns="45720" rIns="91440" bIns="45720" anchor="t">
            <a:spAutoFit/>
          </a:bodyPr>
          <a:lstStyle/>
          <a:p>
            <a:pPr>
              <a:spcBef>
                <a:spcPts val="600"/>
              </a:spcBef>
              <a:defRPr/>
            </a:pPr>
            <a:r>
              <a:rPr lang="en-US" sz="2500" b="1" dirty="0">
                <a:solidFill>
                  <a:schemeClr val="bg1"/>
                </a:solidFill>
              </a:rPr>
              <a:t>How does MERP work? 3 Pillars of MERP</a:t>
            </a:r>
            <a:endParaRPr lang="en-US" sz="2500" b="1" dirty="0">
              <a:solidFill>
                <a:schemeClr val="bg1"/>
              </a:solidFill>
              <a:ea typeface="Source Sans Pro"/>
            </a:endParaRPr>
          </a:p>
        </p:txBody>
      </p:sp>
    </p:spTree>
    <p:extLst>
      <p:ext uri="{BB962C8B-B14F-4D97-AF65-F5344CB8AC3E}">
        <p14:creationId xmlns:p14="http://schemas.microsoft.com/office/powerpoint/2010/main" val="8624877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11958C4-6B30-0648-C49A-A30DA683DA01}"/>
              </a:ext>
            </a:extLst>
          </p:cNvPr>
          <p:cNvSpPr txBox="1"/>
          <p:nvPr/>
        </p:nvSpPr>
        <p:spPr>
          <a:xfrm>
            <a:off x="1233713" y="99209"/>
            <a:ext cx="945605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rPr>
              <a:t>Phases of MERP Research Projects</a:t>
            </a:r>
            <a:endParaRPr kumimoji="0" lang="en-US" sz="3200" b="1" i="1"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endParaRPr>
          </a:p>
        </p:txBody>
      </p:sp>
      <p:graphicFrame>
        <p:nvGraphicFramePr>
          <p:cNvPr id="4" name="Content Placeholder 6">
            <a:extLst>
              <a:ext uri="{FF2B5EF4-FFF2-40B4-BE49-F238E27FC236}">
                <a16:creationId xmlns:a16="http://schemas.microsoft.com/office/drawing/2014/main" id="{6C5DAC52-4C50-A4ED-0C9E-87EC80C2A78D}"/>
              </a:ext>
            </a:extLst>
          </p:cNvPr>
          <p:cNvGraphicFramePr>
            <a:graphicFrameLocks/>
          </p:cNvGraphicFramePr>
          <p:nvPr>
            <p:extLst>
              <p:ext uri="{D42A27DB-BD31-4B8C-83A1-F6EECF244321}">
                <p14:modId xmlns:p14="http://schemas.microsoft.com/office/powerpoint/2010/main" val="3619682865"/>
              </p:ext>
            </p:extLst>
          </p:nvPr>
        </p:nvGraphicFramePr>
        <p:xfrm>
          <a:off x="612395" y="587230"/>
          <a:ext cx="11081857" cy="53847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18AEC72A-E49E-F2EC-FEAA-7BC33CB27331}"/>
              </a:ext>
            </a:extLst>
          </p:cNvPr>
          <p:cNvSpPr txBox="1"/>
          <p:nvPr/>
        </p:nvSpPr>
        <p:spPr>
          <a:xfrm>
            <a:off x="2838893" y="5833448"/>
            <a:ext cx="6514213" cy="276999"/>
          </a:xfrm>
          <a:prstGeom prst="rect">
            <a:avLst/>
          </a:prstGeom>
          <a:noFill/>
        </p:spPr>
        <p:txBody>
          <a:bodyPr wrap="square">
            <a:spAutoFit/>
          </a:bodyPr>
          <a:lstStyle/>
          <a:p>
            <a:r>
              <a:rPr lang="en-US" sz="1200" b="1" dirty="0"/>
              <a:t>All phases are not equivalent in time and all projects are required to have annual reporting.</a:t>
            </a:r>
          </a:p>
        </p:txBody>
      </p:sp>
    </p:spTree>
    <p:extLst>
      <p:ext uri="{BB962C8B-B14F-4D97-AF65-F5344CB8AC3E}">
        <p14:creationId xmlns:p14="http://schemas.microsoft.com/office/powerpoint/2010/main" val="13123518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9A1BE9-2FE1-80E8-7758-3660FBE0B946}"/>
              </a:ext>
            </a:extLst>
          </p:cNvPr>
          <p:cNvSpPr txBox="1"/>
          <p:nvPr/>
        </p:nvSpPr>
        <p:spPr>
          <a:xfrm>
            <a:off x="597244" y="99209"/>
            <a:ext cx="10997513"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MERP-SHIELD Biorepository Synergy</a:t>
            </a:r>
            <a:endParaRPr kumimoji="0" lang="en-US" sz="3200" b="1" i="1"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endParaRPr>
          </a:p>
        </p:txBody>
      </p:sp>
      <p:sp>
        <p:nvSpPr>
          <p:cNvPr id="5" name="Title 2">
            <a:extLst>
              <a:ext uri="{FF2B5EF4-FFF2-40B4-BE49-F238E27FC236}">
                <a16:creationId xmlns:a16="http://schemas.microsoft.com/office/drawing/2014/main" id="{11AE0813-9930-7E09-3577-D4F9272F1F56}"/>
              </a:ext>
            </a:extLst>
          </p:cNvPr>
          <p:cNvSpPr txBox="1">
            <a:spLocks/>
          </p:cNvSpPr>
          <p:nvPr/>
        </p:nvSpPr>
        <p:spPr>
          <a:xfrm>
            <a:off x="0" y="0"/>
            <a:ext cx="12192000" cy="685800"/>
          </a:xfrm>
          <a:prstGeom prst="rect">
            <a:avLst/>
          </a:prstGeom>
        </p:spPr>
        <p:txBody>
          <a:bodyPr/>
          <a:lstStyle>
            <a:lvl1pPr algn="ctr" defTabSz="457200" rtl="0" eaLnBrk="1" latinLnBrk="0" hangingPunct="1">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rgbClr val="000000"/>
              </a:solidFill>
              <a:effectLst/>
              <a:uLnTx/>
              <a:uFillTx/>
              <a:latin typeface="Calibri" panose="020F0502020204030204" pitchFamily="34" charset="0"/>
              <a:ea typeface="+mj-ea"/>
              <a:cs typeface="Calibri" panose="020F0502020204030204" pitchFamily="34" charset="0"/>
            </a:endParaRPr>
          </a:p>
        </p:txBody>
      </p:sp>
      <p:sp>
        <p:nvSpPr>
          <p:cNvPr id="6" name="TextBox 5">
            <a:extLst>
              <a:ext uri="{FF2B5EF4-FFF2-40B4-BE49-F238E27FC236}">
                <a16:creationId xmlns:a16="http://schemas.microsoft.com/office/drawing/2014/main" id="{9D28FAC1-95D9-AD89-1392-19C763221D6B}"/>
              </a:ext>
            </a:extLst>
          </p:cNvPr>
          <p:cNvSpPr txBox="1"/>
          <p:nvPr/>
        </p:nvSpPr>
        <p:spPr>
          <a:xfrm flipH="1">
            <a:off x="2439906" y="3621930"/>
            <a:ext cx="87447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Transfer</a:t>
            </a:r>
          </a:p>
        </p:txBody>
      </p:sp>
      <p:grpSp>
        <p:nvGrpSpPr>
          <p:cNvPr id="7" name="Group 6">
            <a:extLst>
              <a:ext uri="{FF2B5EF4-FFF2-40B4-BE49-F238E27FC236}">
                <a16:creationId xmlns:a16="http://schemas.microsoft.com/office/drawing/2014/main" id="{30D0772B-617C-5903-9F96-8E97EE85BA11}"/>
              </a:ext>
            </a:extLst>
          </p:cNvPr>
          <p:cNvGrpSpPr/>
          <p:nvPr/>
        </p:nvGrpSpPr>
        <p:grpSpPr>
          <a:xfrm>
            <a:off x="152733" y="1529377"/>
            <a:ext cx="11886534" cy="3760756"/>
            <a:chOff x="0" y="318732"/>
            <a:chExt cx="11886534" cy="3760756"/>
          </a:xfrm>
        </p:grpSpPr>
        <p:sp>
          <p:nvSpPr>
            <p:cNvPr id="8" name="Arrow: Left 7">
              <a:extLst>
                <a:ext uri="{FF2B5EF4-FFF2-40B4-BE49-F238E27FC236}">
                  <a16:creationId xmlns:a16="http://schemas.microsoft.com/office/drawing/2014/main" id="{EF23C3B8-B078-7E60-6BB2-1610A6E4B579}"/>
                </a:ext>
              </a:extLst>
            </p:cNvPr>
            <p:cNvSpPr/>
            <p:nvPr/>
          </p:nvSpPr>
          <p:spPr>
            <a:xfrm rot="10800000">
              <a:off x="2737395" y="1771817"/>
              <a:ext cx="1501002" cy="484632"/>
            </a:xfrm>
            <a:prstGeom prst="leftArrow">
              <a:avLst/>
            </a:prstGeom>
            <a:solidFill>
              <a:schemeClr val="accent6">
                <a:lumMod val="2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9" name="Arrow: Left 8">
              <a:extLst>
                <a:ext uri="{FF2B5EF4-FFF2-40B4-BE49-F238E27FC236}">
                  <a16:creationId xmlns:a16="http://schemas.microsoft.com/office/drawing/2014/main" id="{37B9997D-CE80-7CDC-3DE8-21F9989EA048}"/>
                </a:ext>
              </a:extLst>
            </p:cNvPr>
            <p:cNvSpPr/>
            <p:nvPr/>
          </p:nvSpPr>
          <p:spPr>
            <a:xfrm>
              <a:off x="7364030" y="1767572"/>
              <a:ext cx="1501002" cy="484483"/>
            </a:xfrm>
            <a:prstGeom prst="leftArrow">
              <a:avLst/>
            </a:prstGeom>
            <a:solidFill>
              <a:schemeClr val="accent6">
                <a:lumMod val="2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ource Sans Pro"/>
                <a:ea typeface="+mn-ea"/>
                <a:cs typeface="+mn-cs"/>
              </a:endParaRPr>
            </a:p>
          </p:txBody>
        </p:sp>
        <p:sp>
          <p:nvSpPr>
            <p:cNvPr id="10" name="Arrow: U-Turn 9">
              <a:extLst>
                <a:ext uri="{FF2B5EF4-FFF2-40B4-BE49-F238E27FC236}">
                  <a16:creationId xmlns:a16="http://schemas.microsoft.com/office/drawing/2014/main" id="{B8589A40-0211-6FA2-8200-D09764DC238B}"/>
                </a:ext>
              </a:extLst>
            </p:cNvPr>
            <p:cNvSpPr>
              <a:spLocks noChangeAspect="1"/>
            </p:cNvSpPr>
            <p:nvPr/>
          </p:nvSpPr>
          <p:spPr>
            <a:xfrm rot="10800000" flipH="1">
              <a:off x="5180913" y="2866403"/>
              <a:ext cx="5573759" cy="1181155"/>
            </a:xfrm>
            <a:prstGeom prst="uturnArrow">
              <a:avLst>
                <a:gd name="adj1" fmla="val 25000"/>
                <a:gd name="adj2" fmla="val 25000"/>
                <a:gd name="adj3" fmla="val 25000"/>
                <a:gd name="adj4" fmla="val 43750"/>
                <a:gd name="adj5" fmla="val 100000"/>
              </a:avLst>
            </a:prstGeom>
            <a:solidFill>
              <a:schemeClr val="accent6">
                <a:lumMod val="2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ource Sans Pro"/>
                <a:ea typeface="+mn-ea"/>
                <a:cs typeface="+mn-cs"/>
              </a:endParaRPr>
            </a:p>
          </p:txBody>
        </p:sp>
        <p:sp>
          <p:nvSpPr>
            <p:cNvPr id="11" name="TextBox 10">
              <a:extLst>
                <a:ext uri="{FF2B5EF4-FFF2-40B4-BE49-F238E27FC236}">
                  <a16:creationId xmlns:a16="http://schemas.microsoft.com/office/drawing/2014/main" id="{7FBF69CD-484D-3284-6E80-18A285BD3C60}"/>
                </a:ext>
              </a:extLst>
            </p:cNvPr>
            <p:cNvSpPr txBox="1"/>
            <p:nvPr/>
          </p:nvSpPr>
          <p:spPr>
            <a:xfrm>
              <a:off x="0" y="952109"/>
              <a:ext cx="3107491" cy="1754326"/>
            </a:xfrm>
            <a:prstGeom prst="rect">
              <a:avLst/>
            </a:prstGeom>
            <a:solidFill>
              <a:schemeClr val="bg1">
                <a:lumMod val="95000"/>
              </a:schemeClr>
            </a:solid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Supports mission-relevant research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Encourages collection of biospecimens for future use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2" name="Rectangle 11">
              <a:extLst>
                <a:ext uri="{FF2B5EF4-FFF2-40B4-BE49-F238E27FC236}">
                  <a16:creationId xmlns:a16="http://schemas.microsoft.com/office/drawing/2014/main" id="{162FC79F-F5D8-6BA4-CE47-1700A090CE5E}"/>
                </a:ext>
              </a:extLst>
            </p:cNvPr>
            <p:cNvSpPr/>
            <p:nvPr/>
          </p:nvSpPr>
          <p:spPr>
            <a:xfrm>
              <a:off x="0" y="318732"/>
              <a:ext cx="3107491" cy="554308"/>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MERP</a:t>
              </a:r>
            </a:p>
          </p:txBody>
        </p:sp>
        <p:sp>
          <p:nvSpPr>
            <p:cNvPr id="13" name="Rectangle 12">
              <a:extLst>
                <a:ext uri="{FF2B5EF4-FFF2-40B4-BE49-F238E27FC236}">
                  <a16:creationId xmlns:a16="http://schemas.microsoft.com/office/drawing/2014/main" id="{3A6EB9AB-3480-CF27-B274-4A8C81005C6F}"/>
                </a:ext>
              </a:extLst>
            </p:cNvPr>
            <p:cNvSpPr/>
            <p:nvPr/>
          </p:nvSpPr>
          <p:spPr>
            <a:xfrm>
              <a:off x="8779044" y="318732"/>
              <a:ext cx="3107490" cy="554308"/>
            </a:xfrm>
            <a:prstGeom prst="rect">
              <a:avLst/>
            </a:prstGeom>
            <a:solidFill>
              <a:schemeClr val="tx2">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Future studies </a:t>
              </a:r>
            </a:p>
          </p:txBody>
        </p:sp>
        <p:sp>
          <p:nvSpPr>
            <p:cNvPr id="14" name="TextBox 13">
              <a:extLst>
                <a:ext uri="{FF2B5EF4-FFF2-40B4-BE49-F238E27FC236}">
                  <a16:creationId xmlns:a16="http://schemas.microsoft.com/office/drawing/2014/main" id="{CCA15FB5-5E6C-1C11-1914-9370333BCF33}"/>
                </a:ext>
              </a:extLst>
            </p:cNvPr>
            <p:cNvSpPr txBox="1"/>
            <p:nvPr/>
          </p:nvSpPr>
          <p:spPr>
            <a:xfrm>
              <a:off x="8779043" y="952109"/>
              <a:ext cx="3107491" cy="1754326"/>
            </a:xfrm>
            <a:prstGeom prst="rect">
              <a:avLst/>
            </a:prstGeom>
            <a:solidFill>
              <a:schemeClr val="bg1">
                <a:lumMod val="95000"/>
              </a:schemeClr>
            </a:solid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cs typeface="Calibri" panose="020F0502020204030204" pitchFamily="34" charset="0"/>
                </a:rPr>
                <a:t>Propose projects which advance care &amp; policy</a:t>
              </a:r>
              <a:endPar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Maximize value of existing resources and potential for scientific discovery</a:t>
              </a:r>
            </a:p>
          </p:txBody>
        </p:sp>
        <p:sp>
          <p:nvSpPr>
            <p:cNvPr id="15" name="TextBox 14">
              <a:extLst>
                <a:ext uri="{FF2B5EF4-FFF2-40B4-BE49-F238E27FC236}">
                  <a16:creationId xmlns:a16="http://schemas.microsoft.com/office/drawing/2014/main" id="{DA74CE92-1426-89F6-EBFA-CC43C0ED9247}"/>
                </a:ext>
              </a:extLst>
            </p:cNvPr>
            <p:cNvSpPr txBox="1"/>
            <p:nvPr/>
          </p:nvSpPr>
          <p:spPr>
            <a:xfrm flipH="1">
              <a:off x="3192944" y="1830657"/>
              <a:ext cx="87447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Transfer</a:t>
              </a:r>
            </a:p>
          </p:txBody>
        </p:sp>
        <p:sp>
          <p:nvSpPr>
            <p:cNvPr id="16" name="TextBox 15">
              <a:extLst>
                <a:ext uri="{FF2B5EF4-FFF2-40B4-BE49-F238E27FC236}">
                  <a16:creationId xmlns:a16="http://schemas.microsoft.com/office/drawing/2014/main" id="{F600DD5D-518A-AD30-F85A-F79E4C88CE9D}"/>
                </a:ext>
              </a:extLst>
            </p:cNvPr>
            <p:cNvSpPr txBox="1"/>
            <p:nvPr/>
          </p:nvSpPr>
          <p:spPr>
            <a:xfrm flipH="1">
              <a:off x="7514398" y="3740934"/>
              <a:ext cx="1200265"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Distribution</a:t>
              </a:r>
            </a:p>
          </p:txBody>
        </p:sp>
        <p:sp>
          <p:nvSpPr>
            <p:cNvPr id="17" name="TextBox 16">
              <a:extLst>
                <a:ext uri="{FF2B5EF4-FFF2-40B4-BE49-F238E27FC236}">
                  <a16:creationId xmlns:a16="http://schemas.microsoft.com/office/drawing/2014/main" id="{396B98C7-C2FA-362A-F0F8-092D708B7140}"/>
                </a:ext>
              </a:extLst>
            </p:cNvPr>
            <p:cNvSpPr txBox="1"/>
            <p:nvPr/>
          </p:nvSpPr>
          <p:spPr>
            <a:xfrm flipH="1">
              <a:off x="7564160" y="1828967"/>
              <a:ext cx="1214884"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Request use</a:t>
              </a:r>
            </a:p>
          </p:txBody>
        </p:sp>
        <p:sp>
          <p:nvSpPr>
            <p:cNvPr id="18" name="Rectangle 17">
              <a:extLst>
                <a:ext uri="{FF2B5EF4-FFF2-40B4-BE49-F238E27FC236}">
                  <a16:creationId xmlns:a16="http://schemas.microsoft.com/office/drawing/2014/main" id="{2B562DD9-742A-CCB6-A405-8F209E2130CF}"/>
                </a:ext>
              </a:extLst>
            </p:cNvPr>
            <p:cNvSpPr/>
            <p:nvPr/>
          </p:nvSpPr>
          <p:spPr>
            <a:xfrm>
              <a:off x="4256540" y="318732"/>
              <a:ext cx="3107490" cy="554308"/>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SHIELD</a:t>
              </a:r>
            </a:p>
          </p:txBody>
        </p:sp>
        <p:sp>
          <p:nvSpPr>
            <p:cNvPr id="19" name="TextBox 18">
              <a:extLst>
                <a:ext uri="{FF2B5EF4-FFF2-40B4-BE49-F238E27FC236}">
                  <a16:creationId xmlns:a16="http://schemas.microsoft.com/office/drawing/2014/main" id="{EC581919-ABCD-1FE1-5DBF-00FAA5F4BF90}"/>
                </a:ext>
              </a:extLst>
            </p:cNvPr>
            <p:cNvSpPr txBox="1"/>
            <p:nvPr/>
          </p:nvSpPr>
          <p:spPr>
            <a:xfrm>
              <a:off x="4256540" y="952109"/>
              <a:ext cx="3107491" cy="1754326"/>
            </a:xfrm>
            <a:prstGeom prst="rect">
              <a:avLst/>
            </a:prstGeom>
            <a:solidFill>
              <a:schemeClr val="bg1">
                <a:lumMod val="95000"/>
              </a:schemeClr>
            </a:solid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Reliable infrastructure for high-quality storage and distribution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Streamlined access to key resources for investigators</a:t>
              </a:r>
            </a:p>
          </p:txBody>
        </p:sp>
      </p:grpSp>
      <p:sp>
        <p:nvSpPr>
          <p:cNvPr id="2" name="TextBox 1">
            <a:extLst>
              <a:ext uri="{FF2B5EF4-FFF2-40B4-BE49-F238E27FC236}">
                <a16:creationId xmlns:a16="http://schemas.microsoft.com/office/drawing/2014/main" id="{EAA07DF0-B134-3D60-1A4F-384FE9731467}"/>
              </a:ext>
            </a:extLst>
          </p:cNvPr>
          <p:cNvSpPr txBox="1"/>
          <p:nvPr/>
        </p:nvSpPr>
        <p:spPr>
          <a:xfrm>
            <a:off x="272143" y="5693229"/>
            <a:ext cx="11767124" cy="369332"/>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VA SHIELD (Central Biospecimen and Data Repository)</a:t>
            </a:r>
            <a:r>
              <a:rPr lang="en-US" dirty="0">
                <a:latin typeface="Calibri" panose="020F0502020204030204" pitchFamily="34" charset="0"/>
                <a:cs typeface="Calibri" panose="020F0502020204030204" pitchFamily="34" charset="0"/>
              </a:rPr>
              <a:t> – https://research.va.gov/programs/shield/about.cfm</a:t>
            </a:r>
          </a:p>
        </p:txBody>
      </p:sp>
    </p:spTree>
    <p:extLst>
      <p:ext uri="{BB962C8B-B14F-4D97-AF65-F5344CB8AC3E}">
        <p14:creationId xmlns:p14="http://schemas.microsoft.com/office/powerpoint/2010/main" val="1111899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3E72">
            <a:alpha val="96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417B1-E993-5529-988A-7F83F92F0829}"/>
              </a:ext>
            </a:extLst>
          </p:cNvPr>
          <p:cNvSpPr>
            <a:spLocks noGrp="1"/>
          </p:cNvSpPr>
          <p:nvPr>
            <p:ph type="ctrTitle"/>
          </p:nvPr>
        </p:nvSpPr>
        <p:spPr/>
        <p:txBody>
          <a:bodyPr/>
          <a:lstStyle/>
          <a:p>
            <a:r>
              <a:rPr lang="en-US" dirty="0"/>
              <a:t>MERP Cores</a:t>
            </a:r>
          </a:p>
        </p:txBody>
      </p:sp>
    </p:spTree>
    <p:extLst>
      <p:ext uri="{BB962C8B-B14F-4D97-AF65-F5344CB8AC3E}">
        <p14:creationId xmlns:p14="http://schemas.microsoft.com/office/powerpoint/2010/main" val="27399100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834705D8-60EE-49F7-C2C9-6A0B48A6C081}"/>
              </a:ext>
            </a:extLst>
          </p:cNvPr>
          <p:cNvSpPr/>
          <p:nvPr/>
        </p:nvSpPr>
        <p:spPr>
          <a:xfrm>
            <a:off x="332606" y="1896308"/>
            <a:ext cx="11399787" cy="2887808"/>
          </a:xfrm>
          <a:prstGeom prst="rect">
            <a:avLst/>
          </a:prstGeom>
          <a:solidFill>
            <a:schemeClr val="bg1"/>
          </a:solidFill>
          <a:ln>
            <a:solidFill>
              <a:srgbClr val="002F5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2" name="Group 1">
            <a:extLst>
              <a:ext uri="{FF2B5EF4-FFF2-40B4-BE49-F238E27FC236}">
                <a16:creationId xmlns:a16="http://schemas.microsoft.com/office/drawing/2014/main" id="{75349963-0B94-D3BF-71F3-D9B319D61B2F}"/>
              </a:ext>
            </a:extLst>
          </p:cNvPr>
          <p:cNvGrpSpPr/>
          <p:nvPr/>
        </p:nvGrpSpPr>
        <p:grpSpPr>
          <a:xfrm>
            <a:off x="1226457" y="1521941"/>
            <a:ext cx="9165772" cy="741148"/>
            <a:chOff x="3241964" y="1388511"/>
            <a:chExt cx="5414916" cy="741148"/>
          </a:xfrm>
        </p:grpSpPr>
        <p:sp>
          <p:nvSpPr>
            <p:cNvPr id="7" name="Rectangle 6">
              <a:extLst>
                <a:ext uri="{FF2B5EF4-FFF2-40B4-BE49-F238E27FC236}">
                  <a16:creationId xmlns:a16="http://schemas.microsoft.com/office/drawing/2014/main" id="{51CE89FA-C17D-48E3-ADB5-7CDE7BE5BA0C}"/>
                </a:ext>
              </a:extLst>
            </p:cNvPr>
            <p:cNvSpPr/>
            <p:nvPr/>
          </p:nvSpPr>
          <p:spPr>
            <a:xfrm>
              <a:off x="3241964" y="1388511"/>
              <a:ext cx="5414916" cy="741148"/>
            </a:xfrm>
            <a:prstGeom prst="rect">
              <a:avLst/>
            </a:prstGeom>
            <a:solidFill>
              <a:srgbClr val="002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5FFA24F2-FDC5-4276-A235-B234F762FF98}"/>
                </a:ext>
              </a:extLst>
            </p:cNvPr>
            <p:cNvSpPr txBox="1"/>
            <p:nvPr/>
          </p:nvSpPr>
          <p:spPr>
            <a:xfrm>
              <a:off x="3522428" y="1459561"/>
              <a:ext cx="4853988"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lang="en-US" sz="3200" b="1" dirty="0">
                  <a:solidFill>
                    <a:prstClr val="white"/>
                  </a:solidFill>
                  <a:effectLst>
                    <a:outerShdw blurRad="38100" dist="38100" dir="2700000" algn="tl">
                      <a:srgbClr val="000000">
                        <a:alpha val="43137"/>
                      </a:srgbClr>
                    </a:outerShdw>
                  </a:effectLst>
                  <a:latin typeface="Source Sans Pro"/>
                  <a:cs typeface="Arial" panose="020B0604020202020204" pitchFamily="34" charset="0"/>
                </a:rPr>
                <a:t>Knowledge in Action</a:t>
              </a:r>
              <a:endParaRPr kumimoji="0" lang="en-US" sz="32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Source Sans Pro"/>
                <a:ea typeface="+mn-ea"/>
                <a:cs typeface="Arial" panose="020B0604020202020204" pitchFamily="34" charset="0"/>
              </a:endParaRPr>
            </a:p>
          </p:txBody>
        </p:sp>
      </p:grpSp>
      <p:sp>
        <p:nvSpPr>
          <p:cNvPr id="19" name="TextBox 18">
            <a:extLst>
              <a:ext uri="{FF2B5EF4-FFF2-40B4-BE49-F238E27FC236}">
                <a16:creationId xmlns:a16="http://schemas.microsoft.com/office/drawing/2014/main" id="{137CBC23-3AFB-38A4-E948-AA8627B957B4}"/>
              </a:ext>
            </a:extLst>
          </p:cNvPr>
          <p:cNvSpPr txBox="1"/>
          <p:nvPr/>
        </p:nvSpPr>
        <p:spPr>
          <a:xfrm>
            <a:off x="2833546" y="99209"/>
            <a:ext cx="6524908"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rPr>
              <a:t>MERP Cores</a:t>
            </a:r>
            <a:endParaRPr kumimoji="0" lang="en-US" sz="3200" b="1"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endParaRPr>
          </a:p>
        </p:txBody>
      </p:sp>
      <p:sp>
        <p:nvSpPr>
          <p:cNvPr id="14" name="Rectangle 13">
            <a:extLst>
              <a:ext uri="{FF2B5EF4-FFF2-40B4-BE49-F238E27FC236}">
                <a16:creationId xmlns:a16="http://schemas.microsoft.com/office/drawing/2014/main" id="{C6A4CC43-486D-4776-25CE-721E4746DD49}"/>
              </a:ext>
            </a:extLst>
          </p:cNvPr>
          <p:cNvSpPr/>
          <p:nvPr/>
        </p:nvSpPr>
        <p:spPr>
          <a:xfrm>
            <a:off x="454080" y="2670652"/>
            <a:ext cx="3454346" cy="3120515"/>
          </a:xfrm>
          <a:prstGeom prst="rect">
            <a:avLst/>
          </a:prstGeom>
          <a:solidFill>
            <a:schemeClr val="bg1"/>
          </a:solidFill>
          <a:ln>
            <a:solidFill>
              <a:srgbClr val="9BDAF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0" name="Rectangle 19">
            <a:extLst>
              <a:ext uri="{FF2B5EF4-FFF2-40B4-BE49-F238E27FC236}">
                <a16:creationId xmlns:a16="http://schemas.microsoft.com/office/drawing/2014/main" id="{223AED37-B2F0-C065-07B5-6A0FD24B8680}"/>
              </a:ext>
            </a:extLst>
          </p:cNvPr>
          <p:cNvSpPr/>
          <p:nvPr/>
        </p:nvSpPr>
        <p:spPr>
          <a:xfrm>
            <a:off x="516506" y="2401646"/>
            <a:ext cx="3302113" cy="47705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2" name="TextBox 21">
            <a:extLst>
              <a:ext uri="{FF2B5EF4-FFF2-40B4-BE49-F238E27FC236}">
                <a16:creationId xmlns:a16="http://schemas.microsoft.com/office/drawing/2014/main" id="{15F89AD3-A46C-90FF-AF3A-2D0D4728C52D}"/>
              </a:ext>
            </a:extLst>
          </p:cNvPr>
          <p:cNvSpPr txBox="1"/>
          <p:nvPr/>
        </p:nvSpPr>
        <p:spPr>
          <a:xfrm>
            <a:off x="506981" y="2928845"/>
            <a:ext cx="3302113" cy="3170099"/>
          </a:xfrm>
          <a:prstGeom prst="rect">
            <a:avLst/>
          </a:prstGeom>
          <a:noFill/>
        </p:spPr>
        <p:txBody>
          <a:bodyPr wrap="square" lIns="91440" tIns="45720" rIns="91440" bIns="45720" rtlCol="0" anchor="t">
            <a:spAutoFit/>
          </a:bodyPr>
          <a:lstStyle/>
          <a:p>
            <a:pPr algn="ctr">
              <a:defRPr/>
            </a:pPr>
            <a:r>
              <a:rPr lang="en-US" sz="2000" dirty="0">
                <a:effectLst/>
              </a:rPr>
              <a:t>The </a:t>
            </a:r>
            <a:r>
              <a:rPr lang="en-US" sz="2000" dirty="0"/>
              <a:t>Administrative Core will facilitate programmatic coordination and strategic planning among MERP stakeholders, including providing guidance to MERP investigators on MERP procedures and regulatory needs.  </a:t>
            </a:r>
          </a:p>
          <a:p>
            <a:pPr marL="0" marR="0" lvl="0" indent="0" algn="ctr" defTabSz="914400">
              <a:lnSpc>
                <a:spcPct val="100000"/>
              </a:lnSpc>
              <a:spcBef>
                <a:spcPts val="0"/>
              </a:spcBef>
              <a:spcAft>
                <a:spcPts val="0"/>
              </a:spcAft>
              <a:buClrTx/>
              <a:buSzTx/>
              <a:buFontTx/>
              <a:buNone/>
              <a:tabLst/>
              <a:defRPr/>
            </a:pPr>
            <a:endParaRPr lang="en-US" sz="2000" b="0" i="0" u="none" strike="noStrike" kern="1200" cap="none" spc="0" normalizeH="0" baseline="0" noProof="0" dirty="0">
              <a:ln>
                <a:noFill/>
              </a:ln>
              <a:effectLst/>
              <a:uLnTx/>
              <a:uFillTx/>
              <a:ea typeface="Source Sans Pro"/>
              <a:cs typeface="Arial" panose="020B0604020202020204" pitchFamily="34" charset="0"/>
            </a:endParaRPr>
          </a:p>
        </p:txBody>
      </p:sp>
      <p:sp>
        <p:nvSpPr>
          <p:cNvPr id="24" name="TextBox 23">
            <a:extLst>
              <a:ext uri="{FF2B5EF4-FFF2-40B4-BE49-F238E27FC236}">
                <a16:creationId xmlns:a16="http://schemas.microsoft.com/office/drawing/2014/main" id="{4FE1D1CA-7B68-8BD2-BCB4-F0BB0342D171}"/>
              </a:ext>
            </a:extLst>
          </p:cNvPr>
          <p:cNvSpPr txBox="1"/>
          <p:nvPr/>
        </p:nvSpPr>
        <p:spPr>
          <a:xfrm>
            <a:off x="714259" y="2444918"/>
            <a:ext cx="2906605" cy="415498"/>
          </a:xfrm>
          <a:prstGeom prst="rect">
            <a:avLst/>
          </a:prstGeom>
          <a:noFill/>
        </p:spPr>
        <p:txBody>
          <a:bodyPr wrap="square" lIns="91440" tIns="45720" rIns="91440" bIns="45720" anchor="t">
            <a:spAutoFit/>
          </a:bodyPr>
          <a:lstStyle/>
          <a:p>
            <a:pPr algn="ctr">
              <a:spcBef>
                <a:spcPts val="600"/>
              </a:spcBef>
              <a:defRPr/>
            </a:pPr>
            <a:r>
              <a:rPr lang="en-US" sz="2000" b="1" dirty="0">
                <a:solidFill>
                  <a:prstClr val="white"/>
                </a:solidFill>
                <a:effectLst>
                  <a:outerShdw blurRad="38100" dist="38100" dir="2700000" algn="tl">
                    <a:srgbClr val="000000">
                      <a:alpha val="43137"/>
                    </a:srgbClr>
                  </a:outerShdw>
                </a:effectLst>
                <a:latin typeface="Source Sans Pro"/>
                <a:cs typeface="Arial"/>
              </a:rPr>
              <a:t>Admin </a:t>
            </a:r>
            <a:r>
              <a:rPr kumimoji="0" lang="en-US" sz="2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Source Sans Pro"/>
                <a:ea typeface="+mn-ea"/>
                <a:cs typeface="Arial"/>
              </a:rPr>
              <a:t>Core</a:t>
            </a:r>
            <a:r>
              <a:rPr lang="en-US" sz="2000" b="1" dirty="0">
                <a:solidFill>
                  <a:prstClr val="white"/>
                </a:solidFill>
                <a:effectLst>
                  <a:outerShdw blurRad="38100" dist="38100" dir="2700000" algn="tl">
                    <a:srgbClr val="000000">
                      <a:alpha val="43137"/>
                    </a:srgbClr>
                  </a:outerShdw>
                </a:effectLst>
                <a:latin typeface="Source Sans Pro"/>
                <a:cs typeface="Arial"/>
              </a:rPr>
              <a:t> </a:t>
            </a:r>
            <a:endParaRPr kumimoji="0" lang="en-US" sz="2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Source Sans Pro"/>
              <a:ea typeface="+mn-ea"/>
              <a:cs typeface="Arial" panose="020B0604020202020204" pitchFamily="34" charset="0"/>
            </a:endParaRPr>
          </a:p>
        </p:txBody>
      </p:sp>
      <p:sp>
        <p:nvSpPr>
          <p:cNvPr id="4" name="Rectangle 3">
            <a:extLst>
              <a:ext uri="{FF2B5EF4-FFF2-40B4-BE49-F238E27FC236}">
                <a16:creationId xmlns:a16="http://schemas.microsoft.com/office/drawing/2014/main" id="{952EFADC-B7E1-6660-5DFF-6B54B5DED3A2}"/>
              </a:ext>
            </a:extLst>
          </p:cNvPr>
          <p:cNvSpPr/>
          <p:nvPr/>
        </p:nvSpPr>
        <p:spPr>
          <a:xfrm>
            <a:off x="4305325" y="2670653"/>
            <a:ext cx="3454346" cy="3170098"/>
          </a:xfrm>
          <a:prstGeom prst="rect">
            <a:avLst/>
          </a:prstGeom>
          <a:solidFill>
            <a:schemeClr val="bg1"/>
          </a:solidFill>
          <a:ln>
            <a:solidFill>
              <a:srgbClr val="9BDAF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554155A2-DC54-9B44-20EB-226763AB10B8}"/>
              </a:ext>
            </a:extLst>
          </p:cNvPr>
          <p:cNvSpPr/>
          <p:nvPr/>
        </p:nvSpPr>
        <p:spPr>
          <a:xfrm>
            <a:off x="4381442" y="2399538"/>
            <a:ext cx="3302113" cy="477054"/>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18FBA53A-1A3C-627F-936D-D5AA29D81320}"/>
              </a:ext>
            </a:extLst>
          </p:cNvPr>
          <p:cNvSpPr txBox="1"/>
          <p:nvPr/>
        </p:nvSpPr>
        <p:spPr>
          <a:xfrm>
            <a:off x="4333816" y="2869767"/>
            <a:ext cx="3378230" cy="3170099"/>
          </a:xfrm>
          <a:prstGeom prst="rect">
            <a:avLst/>
          </a:prstGeom>
          <a:noFill/>
        </p:spPr>
        <p:txBody>
          <a:bodyPr wrap="square" lIns="91440" tIns="45720" rIns="91440" bIns="45720" rtlCol="0" anchor="t">
            <a:spAutoFit/>
          </a:bodyPr>
          <a:lstStyle/>
          <a:p>
            <a:pPr algn="ctr">
              <a:defRPr/>
            </a:pPr>
            <a:r>
              <a:rPr lang="en-US" sz="2000" dirty="0"/>
              <a:t>The mission of the Data and Biorepository Commons Core is to fill MERP programmatic gaps with a focus on building and facilitating knowledge and access to trusted military exposure data and biospecimens for Military Exposure </a:t>
            </a:r>
            <a:endParaRPr lang="en-US" sz="2000" dirty="0">
              <a:ea typeface="Source Sans Pro"/>
            </a:endParaRPr>
          </a:p>
          <a:p>
            <a:pPr marL="0" marR="0" lvl="0" indent="0" algn="ctr" defTabSz="914400">
              <a:lnSpc>
                <a:spcPct val="100000"/>
              </a:lnSpc>
              <a:spcBef>
                <a:spcPts val="0"/>
              </a:spcBef>
              <a:spcAft>
                <a:spcPts val="0"/>
              </a:spcAft>
              <a:buClrTx/>
              <a:buSzTx/>
              <a:buFontTx/>
              <a:buNone/>
              <a:tabLst/>
              <a:defRPr/>
            </a:pPr>
            <a:endParaRPr lang="en-US" sz="2000" b="0" i="0" u="none" strike="noStrike" kern="1200" cap="none" spc="0" normalizeH="0" baseline="0" noProof="0" dirty="0">
              <a:ln>
                <a:noFill/>
              </a:ln>
              <a:effectLst/>
              <a:uLnTx/>
              <a:uFillTx/>
              <a:latin typeface="Source Sans Pro"/>
              <a:ea typeface="Calibri" panose="020F0502020204030204" pitchFamily="34" charset="0"/>
              <a:cs typeface="Arial" panose="020B0604020202020204" pitchFamily="34" charset="0"/>
            </a:endParaRPr>
          </a:p>
        </p:txBody>
      </p:sp>
      <p:sp>
        <p:nvSpPr>
          <p:cNvPr id="10" name="TextBox 9">
            <a:extLst>
              <a:ext uri="{FF2B5EF4-FFF2-40B4-BE49-F238E27FC236}">
                <a16:creationId xmlns:a16="http://schemas.microsoft.com/office/drawing/2014/main" id="{1F989484-05D0-EA69-FD7E-921C8D035EA8}"/>
              </a:ext>
            </a:extLst>
          </p:cNvPr>
          <p:cNvSpPr txBox="1"/>
          <p:nvPr/>
        </p:nvSpPr>
        <p:spPr>
          <a:xfrm>
            <a:off x="4579194" y="2444918"/>
            <a:ext cx="290660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Source Sans Pro"/>
                <a:ea typeface="+mn-ea"/>
                <a:cs typeface="Arial" panose="020B0604020202020204" pitchFamily="34" charset="0"/>
              </a:rPr>
              <a:t>DBC Core</a:t>
            </a:r>
          </a:p>
        </p:txBody>
      </p:sp>
      <p:sp>
        <p:nvSpPr>
          <p:cNvPr id="12" name="Rectangle 11">
            <a:extLst>
              <a:ext uri="{FF2B5EF4-FFF2-40B4-BE49-F238E27FC236}">
                <a16:creationId xmlns:a16="http://schemas.microsoft.com/office/drawing/2014/main" id="{D6CA9C3B-CDD4-DEB9-72A2-EC79201048DF}"/>
              </a:ext>
            </a:extLst>
          </p:cNvPr>
          <p:cNvSpPr/>
          <p:nvPr/>
        </p:nvSpPr>
        <p:spPr>
          <a:xfrm>
            <a:off x="8094148" y="2670653"/>
            <a:ext cx="3454346" cy="3170098"/>
          </a:xfrm>
          <a:prstGeom prst="rect">
            <a:avLst/>
          </a:prstGeom>
          <a:solidFill>
            <a:schemeClr val="bg1"/>
          </a:solidFill>
          <a:ln>
            <a:solidFill>
              <a:srgbClr val="9BDAF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69CA4DEE-AD95-988B-020A-A7B2A51D3CED}"/>
              </a:ext>
            </a:extLst>
          </p:cNvPr>
          <p:cNvSpPr/>
          <p:nvPr/>
        </p:nvSpPr>
        <p:spPr>
          <a:xfrm>
            <a:off x="8156570" y="2399538"/>
            <a:ext cx="3302113" cy="477054"/>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 name="TextBox 12">
            <a:extLst>
              <a:ext uri="{FF2B5EF4-FFF2-40B4-BE49-F238E27FC236}">
                <a16:creationId xmlns:a16="http://schemas.microsoft.com/office/drawing/2014/main" id="{9ED775E6-2FA2-1321-B809-15C1640F93C2}"/>
              </a:ext>
            </a:extLst>
          </p:cNvPr>
          <p:cNvSpPr txBox="1"/>
          <p:nvPr/>
        </p:nvSpPr>
        <p:spPr>
          <a:xfrm>
            <a:off x="8170264" y="2877905"/>
            <a:ext cx="3302113" cy="2862322"/>
          </a:xfrm>
          <a:prstGeom prst="rect">
            <a:avLst/>
          </a:prstGeom>
          <a:noFill/>
        </p:spPr>
        <p:txBody>
          <a:bodyPr wrap="square" lIns="91440" tIns="45720" rIns="91440" bIns="45720" rtlCol="0" anchor="t">
            <a:spAutoFit/>
          </a:bodyPr>
          <a:lstStyle/>
          <a:p>
            <a:pPr algn="ctr"/>
            <a:r>
              <a:rPr lang="en-US" sz="2000" dirty="0"/>
              <a:t>The mission of the Exposure Assessment Core is to fill MERP programmatic gaps with a focus on enhancing investigator awareness and access to available toxicology relevant tools and resources to improve exposure characterization</a:t>
            </a:r>
          </a:p>
        </p:txBody>
      </p:sp>
      <p:sp>
        <p:nvSpPr>
          <p:cNvPr id="15" name="TextBox 14">
            <a:extLst>
              <a:ext uri="{FF2B5EF4-FFF2-40B4-BE49-F238E27FC236}">
                <a16:creationId xmlns:a16="http://schemas.microsoft.com/office/drawing/2014/main" id="{A5524B2D-6C87-8BB7-9BC9-527B206E9EA5}"/>
              </a:ext>
            </a:extLst>
          </p:cNvPr>
          <p:cNvSpPr txBox="1"/>
          <p:nvPr/>
        </p:nvSpPr>
        <p:spPr>
          <a:xfrm>
            <a:off x="8368017" y="2430316"/>
            <a:ext cx="290660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Source Sans Pro"/>
                <a:ea typeface="+mn-ea"/>
                <a:cs typeface="Arial" panose="020B0604020202020204" pitchFamily="34" charset="0"/>
              </a:rPr>
              <a:t>EA Core</a:t>
            </a:r>
          </a:p>
        </p:txBody>
      </p:sp>
      <p:sp>
        <p:nvSpPr>
          <p:cNvPr id="9" name="Rectangle 8">
            <a:extLst>
              <a:ext uri="{FF2B5EF4-FFF2-40B4-BE49-F238E27FC236}">
                <a16:creationId xmlns:a16="http://schemas.microsoft.com/office/drawing/2014/main" id="{BD438D7A-82DA-E4B8-A6C3-8BFE0D615501}"/>
              </a:ext>
            </a:extLst>
          </p:cNvPr>
          <p:cNvSpPr/>
          <p:nvPr/>
        </p:nvSpPr>
        <p:spPr>
          <a:xfrm>
            <a:off x="0" y="789935"/>
            <a:ext cx="5648326" cy="569727"/>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7" name="TextBox 16">
            <a:extLst>
              <a:ext uri="{FF2B5EF4-FFF2-40B4-BE49-F238E27FC236}">
                <a16:creationId xmlns:a16="http://schemas.microsoft.com/office/drawing/2014/main" id="{FD4847C5-F86D-3448-AEED-3D84A6650B3B}"/>
              </a:ext>
            </a:extLst>
          </p:cNvPr>
          <p:cNvSpPr txBox="1"/>
          <p:nvPr/>
        </p:nvSpPr>
        <p:spPr>
          <a:xfrm>
            <a:off x="431921" y="836271"/>
            <a:ext cx="4378204" cy="477054"/>
          </a:xfrm>
          <a:prstGeom prst="rect">
            <a:avLst/>
          </a:prstGeom>
          <a:noFill/>
        </p:spPr>
        <p:txBody>
          <a:bodyPr wrap="square" lIns="91440" tIns="45720" rIns="91440" bIns="45720" anchor="t">
            <a:spAutoFit/>
          </a:bodyPr>
          <a:lstStyle/>
          <a:p>
            <a:pPr>
              <a:spcBef>
                <a:spcPts val="600"/>
              </a:spcBef>
              <a:defRPr/>
            </a:pPr>
            <a:r>
              <a:rPr lang="en-US" sz="2500" b="1" dirty="0">
                <a:solidFill>
                  <a:prstClr val="white"/>
                </a:solidFill>
                <a:effectLst>
                  <a:outerShdw blurRad="38100" dist="38100" dir="2700000" algn="tl">
                    <a:srgbClr val="000000">
                      <a:alpha val="43137"/>
                    </a:srgbClr>
                  </a:outerShdw>
                </a:effectLst>
                <a:latin typeface="Source Sans Pro"/>
                <a:cs typeface="Arial"/>
              </a:rPr>
              <a:t>What are MERP Cores?</a:t>
            </a:r>
            <a:endParaRPr kumimoji="0" lang="en-US" sz="2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Source Sans Pro"/>
              <a:ea typeface="+mn-ea"/>
              <a:cs typeface="Arial" panose="020B0604020202020204" pitchFamily="34" charset="0"/>
            </a:endParaRPr>
          </a:p>
        </p:txBody>
      </p:sp>
    </p:spTree>
    <p:extLst>
      <p:ext uri="{BB962C8B-B14F-4D97-AF65-F5344CB8AC3E}">
        <p14:creationId xmlns:p14="http://schemas.microsoft.com/office/powerpoint/2010/main" val="3132398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3E72">
            <a:alpha val="96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417B1-E993-5529-988A-7F83F92F0829}"/>
              </a:ext>
            </a:extLst>
          </p:cNvPr>
          <p:cNvSpPr>
            <a:spLocks noGrp="1"/>
          </p:cNvSpPr>
          <p:nvPr>
            <p:ph type="ctrTitle"/>
          </p:nvPr>
        </p:nvSpPr>
        <p:spPr/>
        <p:txBody>
          <a:bodyPr/>
          <a:lstStyle/>
          <a:p>
            <a:r>
              <a:rPr lang="en-US" dirty="0"/>
              <a:t>MERP Opportunities</a:t>
            </a:r>
          </a:p>
        </p:txBody>
      </p:sp>
    </p:spTree>
    <p:extLst>
      <p:ext uri="{BB962C8B-B14F-4D97-AF65-F5344CB8AC3E}">
        <p14:creationId xmlns:p14="http://schemas.microsoft.com/office/powerpoint/2010/main" val="25140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CAAC097-AC13-472A-87EB-D3C4A5AD86DA}"/>
              </a:ext>
            </a:extLst>
          </p:cNvPr>
          <p:cNvSpPr/>
          <p:nvPr/>
        </p:nvSpPr>
        <p:spPr>
          <a:xfrm>
            <a:off x="-1" y="1471549"/>
            <a:ext cx="12015020" cy="2015936"/>
          </a:xfrm>
          <a:prstGeom prst="rect">
            <a:avLst/>
          </a:prstGeom>
        </p:spPr>
        <p:txBody>
          <a:bodyPr wrap="square" lIns="91440" tIns="45720" rIns="91440" bIns="45720" anchor="t">
            <a:spAutoFit/>
          </a:bodyPr>
          <a:lstStyle/>
          <a:p>
            <a:pPr marL="800100" marR="1156970" lvl="1" indent="0" algn="l" defTabSz="914400"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Source Sans Pro"/>
                <a:ea typeface="+mn-ea"/>
                <a:cs typeface="Arial" panose="020B0604020202020204" pitchFamily="34" charset="0"/>
              </a:rPr>
              <a:t>Title</a:t>
            </a:r>
            <a:r>
              <a:rPr kumimoji="0" lang="en-US" sz="1800" b="0" i="0" u="none" strike="noStrike" kern="1200" cap="none" spc="0" normalizeH="0" baseline="0" noProof="0" dirty="0">
                <a:ln>
                  <a:noFill/>
                </a:ln>
                <a:solidFill>
                  <a:srgbClr val="000000"/>
                </a:solidFill>
                <a:effectLst/>
                <a:uLnTx/>
                <a:uFillTx/>
                <a:latin typeface="Source Sans Pro"/>
                <a:ea typeface="+mn-ea"/>
                <a:cs typeface="Arial" panose="020B0604020202020204" pitchFamily="34" charset="0"/>
              </a:rPr>
              <a:t>:  Epigenetic Dysregulation, Genetic Mutations, and outcomes of lymphoid malignancies related to agent orange and burn pit exposures</a:t>
            </a:r>
          </a:p>
          <a:p>
            <a:pPr marL="800100" marR="1156970" lvl="1" indent="0" algn="l" defTabSz="914400"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Source Sans Pro"/>
                <a:ea typeface="+mn-ea"/>
                <a:cs typeface="Arial" panose="020B0604020202020204" pitchFamily="34" charset="0"/>
              </a:rPr>
              <a:t>Overview</a:t>
            </a:r>
            <a:r>
              <a:rPr kumimoji="0" lang="en-US" sz="1800" b="0" i="0" u="none" strike="noStrike" kern="1200" cap="none" spc="0" normalizeH="0" baseline="0" noProof="0" dirty="0">
                <a:ln>
                  <a:noFill/>
                </a:ln>
                <a:solidFill>
                  <a:srgbClr val="000000"/>
                </a:solidFill>
                <a:effectLst/>
                <a:uLnTx/>
                <a:uFillTx/>
                <a:latin typeface="Source Sans Pro"/>
                <a:ea typeface="+mn-ea"/>
                <a:cs typeface="Arial" panose="020B0604020202020204" pitchFamily="34" charset="0"/>
              </a:rPr>
              <a:t>:  Agent Orange and smoke from Burn Pits may lead to lymphoid malignancies (Lymphoma)</a:t>
            </a:r>
          </a:p>
          <a:p>
            <a:pPr marL="800100" marR="1156970" lvl="1" indent="0" algn="l" defTabSz="914400"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Source Sans Pro"/>
                <a:ea typeface="+mn-ea"/>
                <a:cs typeface="Arial" panose="020B0604020202020204" pitchFamily="34" charset="0"/>
              </a:rPr>
              <a:t>Priorities</a:t>
            </a:r>
            <a:r>
              <a:rPr kumimoji="0" lang="en-US" sz="1800" b="0" i="0" u="none" strike="noStrike" kern="1200" cap="none" spc="0" normalizeH="0" baseline="0" noProof="0" dirty="0">
                <a:ln>
                  <a:noFill/>
                </a:ln>
                <a:solidFill>
                  <a:srgbClr val="000000"/>
                </a:solidFill>
                <a:effectLst/>
                <a:uLnTx/>
                <a:uFillTx/>
                <a:latin typeface="Source Sans Pro"/>
                <a:ea typeface="+mn-ea"/>
                <a:cs typeface="Arial" panose="020B0604020202020204" pitchFamily="34" charset="0"/>
              </a:rPr>
              <a:t>:  Identify risk factors from these exposures, develop predictive tests, and develop health interventions based on DNA and protein pathways</a:t>
            </a:r>
            <a:r>
              <a:rPr kumimoji="0" lang="en-US" sz="1800" b="0" i="0" u="none" strike="noStrike" kern="1200" cap="none" spc="0" normalizeH="0" baseline="0" noProof="0" dirty="0">
                <a:ln>
                  <a:noFill/>
                </a:ln>
                <a:solidFill>
                  <a:srgbClr val="000000"/>
                </a:solidFill>
                <a:effectLst/>
                <a:uLnTx/>
                <a:uFillTx/>
                <a:latin typeface="Source Sans Pro"/>
                <a:ea typeface="+mn-ea"/>
                <a:cs typeface="Arial"/>
              </a:rPr>
              <a:t> </a:t>
            </a:r>
            <a:endParaRPr kumimoji="0" lang="en-US" sz="1800" b="0" i="0" u="none" strike="noStrike" kern="1200" cap="none" spc="0" normalizeH="0" baseline="0" noProof="0" dirty="0">
              <a:ln>
                <a:noFill/>
              </a:ln>
              <a:solidFill>
                <a:srgbClr val="000000"/>
              </a:solidFill>
              <a:effectLst/>
              <a:uLnTx/>
              <a:uFillTx/>
              <a:latin typeface="Source Sans Pro"/>
              <a:ea typeface="Source Sans Pro"/>
              <a:cs typeface="Arial"/>
            </a:endParaRPr>
          </a:p>
          <a:p>
            <a:pPr marL="800100" marR="1156970" lvl="1" indent="0" algn="l" defTabSz="914400" rtl="0" eaLnBrk="1" fontAlgn="auto" latinLnBrk="0" hangingPunct="1">
              <a:lnSpc>
                <a:spcPct val="100000"/>
              </a:lnSpc>
              <a:spcBef>
                <a:spcPts val="0"/>
              </a:spcBef>
              <a:spcAft>
                <a:spcPts val="900"/>
              </a:spcAft>
              <a:buClrTx/>
              <a:buSzTx/>
              <a:buFontTx/>
              <a:buNone/>
              <a:tabLst/>
              <a:defRPr/>
            </a:pPr>
            <a:endParaRPr kumimoji="0" lang="en-US" sz="2000" b="0" i="0" u="none" strike="noStrike" kern="1200" cap="none" spc="0" normalizeH="0" baseline="0" noProof="0" dirty="0">
              <a:ln>
                <a:noFill/>
              </a:ln>
              <a:solidFill>
                <a:srgbClr val="000000">
                  <a:lumMod val="75000"/>
                  <a:lumOff val="25000"/>
                </a:srgbClr>
              </a:solidFill>
              <a:effectLst/>
              <a:uLnTx/>
              <a:uFillTx/>
              <a:latin typeface="Source Sans Pro"/>
              <a:ea typeface="Calibri" panose="020F050202020403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51CE89FA-C17D-48E3-ADB5-7CDE7BE5BA0C}"/>
              </a:ext>
            </a:extLst>
          </p:cNvPr>
          <p:cNvSpPr/>
          <p:nvPr/>
        </p:nvSpPr>
        <p:spPr>
          <a:xfrm>
            <a:off x="-2" y="753606"/>
            <a:ext cx="10225549" cy="569727"/>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5FFA24F2-FDC5-4276-A235-B234F762FF98}"/>
              </a:ext>
            </a:extLst>
          </p:cNvPr>
          <p:cNvSpPr txBox="1"/>
          <p:nvPr/>
        </p:nvSpPr>
        <p:spPr>
          <a:xfrm>
            <a:off x="431921" y="799942"/>
            <a:ext cx="9793626" cy="47705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2500" i="0" u="none" strike="noStrike" kern="1200" cap="none" spc="0" normalizeH="0" baseline="0" noProof="0" dirty="0">
                <a:ln>
                  <a:noFill/>
                </a:ln>
                <a:solidFill>
                  <a:prstClr val="white"/>
                </a:solidFill>
                <a:uLnTx/>
                <a:uFillTx/>
                <a:latin typeface="Source Sans Pro"/>
                <a:ea typeface="+mn-ea"/>
                <a:cs typeface="Arial" panose="020B0604020202020204" pitchFamily="34" charset="0"/>
              </a:rPr>
              <a:t>Project: HEMA-001-225 / Time range 2023-2027  / $301,879 (FY 2023)</a:t>
            </a:r>
          </a:p>
        </p:txBody>
      </p:sp>
      <p:sp>
        <p:nvSpPr>
          <p:cNvPr id="9" name="TextBox 8">
            <a:extLst>
              <a:ext uri="{FF2B5EF4-FFF2-40B4-BE49-F238E27FC236}">
                <a16:creationId xmlns:a16="http://schemas.microsoft.com/office/drawing/2014/main" id="{C133D18C-9F65-4150-8707-00079BF419E1}"/>
              </a:ext>
            </a:extLst>
          </p:cNvPr>
          <p:cNvSpPr txBox="1"/>
          <p:nvPr/>
        </p:nvSpPr>
        <p:spPr>
          <a:xfrm>
            <a:off x="2833546" y="99209"/>
            <a:ext cx="6524908"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rPr>
              <a:t>Medical Research</a:t>
            </a:r>
            <a:endParaRPr kumimoji="0" lang="en-US" sz="3200" b="1" i="1"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endParaRPr>
          </a:p>
        </p:txBody>
      </p:sp>
      <p:sp>
        <p:nvSpPr>
          <p:cNvPr id="2" name="Rectangle 1">
            <a:extLst>
              <a:ext uri="{FF2B5EF4-FFF2-40B4-BE49-F238E27FC236}">
                <a16:creationId xmlns:a16="http://schemas.microsoft.com/office/drawing/2014/main" id="{17D04628-5C60-7670-E314-D124010DBE85}"/>
              </a:ext>
            </a:extLst>
          </p:cNvPr>
          <p:cNvSpPr/>
          <p:nvPr/>
        </p:nvSpPr>
        <p:spPr>
          <a:xfrm>
            <a:off x="1" y="3325896"/>
            <a:ext cx="10225546" cy="569727"/>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D3073DA1-C146-90B5-D41C-728C2DA3CC84}"/>
              </a:ext>
            </a:extLst>
          </p:cNvPr>
          <p:cNvSpPr txBox="1"/>
          <p:nvPr/>
        </p:nvSpPr>
        <p:spPr>
          <a:xfrm>
            <a:off x="431922" y="3372232"/>
            <a:ext cx="9793625" cy="47705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2500" i="0" u="none" strike="noStrike" kern="1200" cap="none" spc="0" normalizeH="0" baseline="0" noProof="0" dirty="0">
                <a:ln>
                  <a:noFill/>
                </a:ln>
                <a:solidFill>
                  <a:prstClr val="white"/>
                </a:solidFill>
                <a:uLnTx/>
                <a:uFillTx/>
                <a:latin typeface="Source Sans Pro"/>
                <a:ea typeface="+mn-ea"/>
                <a:cs typeface="Arial" panose="020B0604020202020204" pitchFamily="34" charset="0"/>
              </a:rPr>
              <a:t>Project: PULM-004-16F / Time range 2018-2023  / $345,443 (FY 2023)</a:t>
            </a:r>
          </a:p>
        </p:txBody>
      </p:sp>
      <p:sp>
        <p:nvSpPr>
          <p:cNvPr id="5" name="Rectangle 4">
            <a:extLst>
              <a:ext uri="{FF2B5EF4-FFF2-40B4-BE49-F238E27FC236}">
                <a16:creationId xmlns:a16="http://schemas.microsoft.com/office/drawing/2014/main" id="{D93E8DE6-B4B3-6424-5FCA-149406D1C94D}"/>
              </a:ext>
            </a:extLst>
          </p:cNvPr>
          <p:cNvSpPr/>
          <p:nvPr/>
        </p:nvSpPr>
        <p:spPr>
          <a:xfrm>
            <a:off x="0" y="4043839"/>
            <a:ext cx="12015019" cy="2292935"/>
          </a:xfrm>
          <a:prstGeom prst="rect">
            <a:avLst/>
          </a:prstGeom>
        </p:spPr>
        <p:txBody>
          <a:bodyPr wrap="square" lIns="91440" tIns="45720" rIns="91440" bIns="45720" anchor="t">
            <a:spAutoFit/>
          </a:bodyPr>
          <a:lstStyle/>
          <a:p>
            <a:pPr marL="800100" marR="1156970" lvl="1" indent="0" algn="l" defTabSz="914400"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Source Sans Pro"/>
                <a:ea typeface="+mn-ea"/>
                <a:cs typeface="Arial" panose="020B0604020202020204" pitchFamily="34" charset="0"/>
              </a:rPr>
              <a:t>Title</a:t>
            </a:r>
            <a:r>
              <a:rPr kumimoji="0" lang="en-US" sz="1800" b="0" i="0" u="none" strike="noStrike" kern="1200" cap="none" spc="0" normalizeH="0" baseline="0" noProof="0" dirty="0">
                <a:ln>
                  <a:noFill/>
                </a:ln>
                <a:solidFill>
                  <a:srgbClr val="000000"/>
                </a:solidFill>
                <a:effectLst/>
                <a:uLnTx/>
                <a:uFillTx/>
                <a:latin typeface="Source Sans Pro"/>
                <a:ea typeface="+mn-ea"/>
                <a:cs typeface="Arial" panose="020B0604020202020204" pitchFamily="34" charset="0"/>
              </a:rPr>
              <a:t>:  Pulmonary vascular dysfunction after deployment-related exposures</a:t>
            </a:r>
          </a:p>
          <a:p>
            <a:pPr marL="800100" marR="1156970" lvl="1" indent="0" algn="l" defTabSz="914400"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Source Sans Pro"/>
                <a:ea typeface="+mn-ea"/>
                <a:cs typeface="Arial" panose="020B0604020202020204" pitchFamily="34" charset="0"/>
              </a:rPr>
              <a:t>Overview</a:t>
            </a:r>
            <a:r>
              <a:rPr kumimoji="0" lang="en-US" sz="1800" b="0" i="0" u="none" strike="noStrike" kern="1200" cap="none" spc="0" normalizeH="0" baseline="0" noProof="0" dirty="0">
                <a:ln>
                  <a:noFill/>
                </a:ln>
                <a:solidFill>
                  <a:srgbClr val="000000"/>
                </a:solidFill>
                <a:effectLst/>
                <a:uLnTx/>
                <a:uFillTx/>
                <a:latin typeface="Source Sans Pro"/>
                <a:ea typeface="+mn-ea"/>
                <a:cs typeface="Arial" panose="020B0604020202020204" pitchFamily="34" charset="0"/>
              </a:rPr>
              <a:t>:  Exposure to environmental particulate matter may impact Veteran health. Predictive tests for lung disease may include contrast of lung volume (spirometry) vs. lung diffusing capacity for carbon monoxide (DLCO)</a:t>
            </a:r>
          </a:p>
          <a:p>
            <a:pPr marL="800100" marR="1156970" lvl="1" indent="0" algn="l" defTabSz="914400"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Source Sans Pro"/>
                <a:ea typeface="+mn-ea"/>
                <a:cs typeface="Arial" panose="020B0604020202020204" pitchFamily="34" charset="0"/>
              </a:rPr>
              <a:t>Priorities</a:t>
            </a:r>
            <a:r>
              <a:rPr kumimoji="0" lang="en-US" sz="1800" b="0" i="0" u="none" strike="noStrike" kern="1200" cap="none" spc="0" normalizeH="0" baseline="0" noProof="0" dirty="0">
                <a:ln>
                  <a:noFill/>
                </a:ln>
                <a:solidFill>
                  <a:srgbClr val="000000"/>
                </a:solidFill>
                <a:effectLst/>
                <a:uLnTx/>
                <a:uFillTx/>
                <a:latin typeface="Source Sans Pro"/>
                <a:ea typeface="+mn-ea"/>
                <a:cs typeface="Arial" panose="020B0604020202020204" pitchFamily="34" charset="0"/>
              </a:rPr>
              <a:t>:  Classify post-9/11 Iraq and Afghanistan Veterans by pulmonary function patterns (lung volume vs. DLCO). Determine if these classifications predict deployment-related lung disease</a:t>
            </a:r>
            <a:endParaRPr kumimoji="0" lang="en-US" sz="1800" b="0" i="0" u="none" strike="noStrike" kern="1200" cap="none" spc="0" normalizeH="0" baseline="0" noProof="0" dirty="0">
              <a:ln>
                <a:noFill/>
              </a:ln>
              <a:solidFill>
                <a:srgbClr val="000000"/>
              </a:solidFill>
              <a:effectLst/>
              <a:uLnTx/>
              <a:uFillTx/>
              <a:latin typeface="Source Sans Pro"/>
              <a:ea typeface="Source Sans Pro"/>
              <a:cs typeface="Arial"/>
            </a:endParaRPr>
          </a:p>
          <a:p>
            <a:pPr marL="800100" marR="1156970" lvl="1" indent="0" algn="l" defTabSz="914400" rtl="0" eaLnBrk="1" fontAlgn="auto" latinLnBrk="0" hangingPunct="1">
              <a:lnSpc>
                <a:spcPct val="100000"/>
              </a:lnSpc>
              <a:spcBef>
                <a:spcPts val="0"/>
              </a:spcBef>
              <a:spcAft>
                <a:spcPts val="900"/>
              </a:spcAft>
              <a:buClrTx/>
              <a:buSzTx/>
              <a:buFontTx/>
              <a:buNone/>
              <a:tabLst/>
              <a:defRPr/>
            </a:pPr>
            <a:endParaRPr kumimoji="0" lang="en-US" sz="2000" b="0" i="0" u="none" strike="noStrike" kern="1200" cap="none" spc="0" normalizeH="0" baseline="0" noProof="0" dirty="0">
              <a:ln>
                <a:noFill/>
              </a:ln>
              <a:solidFill>
                <a:srgbClr val="000000">
                  <a:lumMod val="75000"/>
                  <a:lumOff val="25000"/>
                </a:srgbClr>
              </a:solidFill>
              <a:effectLst/>
              <a:uLnTx/>
              <a:uFillTx/>
              <a:latin typeface="Source Sans Pro"/>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2449129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133D18C-9F65-4150-8707-00079BF419E1}"/>
              </a:ext>
            </a:extLst>
          </p:cNvPr>
          <p:cNvSpPr txBox="1"/>
          <p:nvPr/>
        </p:nvSpPr>
        <p:spPr>
          <a:xfrm>
            <a:off x="2833546" y="99209"/>
            <a:ext cx="6524908"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rPr>
              <a:t>MERP – Project Funding FY 24</a:t>
            </a:r>
            <a:endParaRPr kumimoji="0" lang="en-US" sz="3200" b="1" i="1"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endParaRPr>
          </a:p>
        </p:txBody>
      </p:sp>
      <p:graphicFrame>
        <p:nvGraphicFramePr>
          <p:cNvPr id="5" name="Chart 4">
            <a:extLst>
              <a:ext uri="{FF2B5EF4-FFF2-40B4-BE49-F238E27FC236}">
                <a16:creationId xmlns:a16="http://schemas.microsoft.com/office/drawing/2014/main" id="{59C9EF7F-4E5D-9215-30DD-B39736CD974C}"/>
              </a:ext>
            </a:extLst>
          </p:cNvPr>
          <p:cNvGraphicFramePr/>
          <p:nvPr>
            <p:extLst>
              <p:ext uri="{D42A27DB-BD31-4B8C-83A1-F6EECF244321}">
                <p14:modId xmlns:p14="http://schemas.microsoft.com/office/powerpoint/2010/main" val="1751909065"/>
              </p:ext>
            </p:extLst>
          </p:nvPr>
        </p:nvGraphicFramePr>
        <p:xfrm>
          <a:off x="145208" y="857505"/>
          <a:ext cx="7213158" cy="523845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 name="Table 1">
            <a:extLst>
              <a:ext uri="{FF2B5EF4-FFF2-40B4-BE49-F238E27FC236}">
                <a16:creationId xmlns:a16="http://schemas.microsoft.com/office/drawing/2014/main" id="{84F2AD0A-62F1-4763-3EFD-1E85F45E2DB0}"/>
              </a:ext>
            </a:extLst>
          </p:cNvPr>
          <p:cNvGraphicFramePr>
            <a:graphicFrameLocks noGrp="1"/>
          </p:cNvGraphicFramePr>
          <p:nvPr>
            <p:extLst>
              <p:ext uri="{D42A27DB-BD31-4B8C-83A1-F6EECF244321}">
                <p14:modId xmlns:p14="http://schemas.microsoft.com/office/powerpoint/2010/main" val="50652687"/>
              </p:ext>
            </p:extLst>
          </p:nvPr>
        </p:nvGraphicFramePr>
        <p:xfrm>
          <a:off x="7508696" y="856179"/>
          <a:ext cx="4561668" cy="5239783"/>
        </p:xfrm>
        <a:graphic>
          <a:graphicData uri="http://schemas.openxmlformats.org/drawingml/2006/table">
            <a:tbl>
              <a:tblPr firstRow="1" bandRow="1">
                <a:tableStyleId>{21E4AEA4-8DFA-4A89-87EB-49C32662AFE0}</a:tableStyleId>
              </a:tblPr>
              <a:tblGrid>
                <a:gridCol w="2280834">
                  <a:extLst>
                    <a:ext uri="{9D8B030D-6E8A-4147-A177-3AD203B41FA5}">
                      <a16:colId xmlns:a16="http://schemas.microsoft.com/office/drawing/2014/main" val="2745221999"/>
                    </a:ext>
                  </a:extLst>
                </a:gridCol>
                <a:gridCol w="2280834">
                  <a:extLst>
                    <a:ext uri="{9D8B030D-6E8A-4147-A177-3AD203B41FA5}">
                      <a16:colId xmlns:a16="http://schemas.microsoft.com/office/drawing/2014/main" val="2585926891"/>
                    </a:ext>
                  </a:extLst>
                </a:gridCol>
              </a:tblGrid>
              <a:tr h="716103">
                <a:tc>
                  <a:txBody>
                    <a:bodyPr/>
                    <a:lstStyle/>
                    <a:p>
                      <a:pPr algn="ctr"/>
                      <a:r>
                        <a:rPr lang="en-US" dirty="0"/>
                        <a:t>Amount Awarded</a:t>
                      </a:r>
                    </a:p>
                  </a:txBody>
                  <a:tcPr anchor="ctr">
                    <a:solidFill>
                      <a:schemeClr val="accent2">
                        <a:lumMod val="50000"/>
                      </a:schemeClr>
                    </a:solidFill>
                  </a:tcPr>
                </a:tc>
                <a:tc>
                  <a:txBody>
                    <a:bodyPr/>
                    <a:lstStyle/>
                    <a:p>
                      <a:pPr algn="ctr"/>
                      <a:r>
                        <a:rPr lang="en-US" dirty="0"/>
                        <a:t>Fiscal Year</a:t>
                      </a:r>
                    </a:p>
                  </a:txBody>
                  <a:tcPr anchor="ctr">
                    <a:solidFill>
                      <a:schemeClr val="accent2">
                        <a:lumMod val="50000"/>
                      </a:schemeClr>
                    </a:solidFill>
                  </a:tcPr>
                </a:tc>
                <a:extLst>
                  <a:ext uri="{0D108BD9-81ED-4DB2-BD59-A6C34878D82A}">
                    <a16:rowId xmlns:a16="http://schemas.microsoft.com/office/drawing/2014/main" val="1602099536"/>
                  </a:ext>
                </a:extLst>
              </a:tr>
              <a:tr h="646240">
                <a:tc>
                  <a:txBody>
                    <a:bodyPr/>
                    <a:lstStyle/>
                    <a:p>
                      <a:pPr algn="ctr"/>
                      <a:r>
                        <a:rPr lang="en-US" dirty="0"/>
                        <a:t>$2,235,619</a:t>
                      </a:r>
                    </a:p>
                  </a:txBody>
                  <a:tcPr anchor="ctr"/>
                </a:tc>
                <a:tc>
                  <a:txBody>
                    <a:bodyPr/>
                    <a:lstStyle/>
                    <a:p>
                      <a:pPr algn="ctr"/>
                      <a:r>
                        <a:rPr lang="en-US" dirty="0"/>
                        <a:t>2023</a:t>
                      </a:r>
                    </a:p>
                  </a:txBody>
                  <a:tcPr anchor="ctr"/>
                </a:tc>
                <a:extLst>
                  <a:ext uri="{0D108BD9-81ED-4DB2-BD59-A6C34878D82A}">
                    <a16:rowId xmlns:a16="http://schemas.microsoft.com/office/drawing/2014/main" val="1249509347"/>
                  </a:ext>
                </a:extLst>
              </a:tr>
              <a:tr h="646240">
                <a:tc>
                  <a:txBody>
                    <a:bodyPr/>
                    <a:lstStyle/>
                    <a:p>
                      <a:pPr algn="ctr"/>
                      <a:r>
                        <a:rPr lang="en-US" dirty="0"/>
                        <a:t>$6,326,095</a:t>
                      </a:r>
                    </a:p>
                  </a:txBody>
                  <a:tcPr anchor="ctr"/>
                </a:tc>
                <a:tc>
                  <a:txBody>
                    <a:bodyPr/>
                    <a:lstStyle/>
                    <a:p>
                      <a:pPr algn="ctr"/>
                      <a:r>
                        <a:rPr lang="en-US" dirty="0"/>
                        <a:t>2024</a:t>
                      </a:r>
                    </a:p>
                  </a:txBody>
                  <a:tcPr anchor="ctr"/>
                </a:tc>
                <a:extLst>
                  <a:ext uri="{0D108BD9-81ED-4DB2-BD59-A6C34878D82A}">
                    <a16:rowId xmlns:a16="http://schemas.microsoft.com/office/drawing/2014/main" val="2665545734"/>
                  </a:ext>
                </a:extLst>
              </a:tr>
              <a:tr h="646240">
                <a:tc>
                  <a:txBody>
                    <a:bodyPr/>
                    <a:lstStyle/>
                    <a:p>
                      <a:pPr algn="ctr"/>
                      <a:r>
                        <a:rPr lang="en-US" dirty="0"/>
                        <a:t>$3,902,879</a:t>
                      </a:r>
                    </a:p>
                  </a:txBody>
                  <a:tcPr anchor="ctr"/>
                </a:tc>
                <a:tc>
                  <a:txBody>
                    <a:bodyPr/>
                    <a:lstStyle/>
                    <a:p>
                      <a:pPr algn="ctr"/>
                      <a:r>
                        <a:rPr lang="en-US" dirty="0"/>
                        <a:t>2025</a:t>
                      </a:r>
                    </a:p>
                  </a:txBody>
                  <a:tcPr anchor="ctr"/>
                </a:tc>
                <a:extLst>
                  <a:ext uri="{0D108BD9-81ED-4DB2-BD59-A6C34878D82A}">
                    <a16:rowId xmlns:a16="http://schemas.microsoft.com/office/drawing/2014/main" val="478667916"/>
                  </a:ext>
                </a:extLst>
              </a:tr>
              <a:tr h="646240">
                <a:tc>
                  <a:txBody>
                    <a:bodyPr/>
                    <a:lstStyle/>
                    <a:p>
                      <a:pPr algn="ctr"/>
                      <a:r>
                        <a:rPr lang="en-US" dirty="0"/>
                        <a:t>$1,884,612</a:t>
                      </a:r>
                    </a:p>
                  </a:txBody>
                  <a:tcPr anchor="ctr"/>
                </a:tc>
                <a:tc>
                  <a:txBody>
                    <a:bodyPr/>
                    <a:lstStyle/>
                    <a:p>
                      <a:pPr algn="ctr"/>
                      <a:r>
                        <a:rPr lang="en-US" dirty="0"/>
                        <a:t>2026</a:t>
                      </a:r>
                    </a:p>
                  </a:txBody>
                  <a:tcPr anchor="ctr"/>
                </a:tc>
                <a:extLst>
                  <a:ext uri="{0D108BD9-81ED-4DB2-BD59-A6C34878D82A}">
                    <a16:rowId xmlns:a16="http://schemas.microsoft.com/office/drawing/2014/main" val="1373707858"/>
                  </a:ext>
                </a:extLst>
              </a:tr>
              <a:tr h="646240">
                <a:tc>
                  <a:txBody>
                    <a:bodyPr/>
                    <a:lstStyle/>
                    <a:p>
                      <a:pPr algn="ctr"/>
                      <a:r>
                        <a:rPr lang="en-US" dirty="0"/>
                        <a:t>$2,083,178</a:t>
                      </a:r>
                    </a:p>
                  </a:txBody>
                  <a:tcPr anchor="ctr"/>
                </a:tc>
                <a:tc>
                  <a:txBody>
                    <a:bodyPr/>
                    <a:lstStyle/>
                    <a:p>
                      <a:pPr algn="ctr"/>
                      <a:r>
                        <a:rPr lang="en-US" dirty="0"/>
                        <a:t>2027</a:t>
                      </a:r>
                    </a:p>
                  </a:txBody>
                  <a:tcPr anchor="ctr"/>
                </a:tc>
                <a:extLst>
                  <a:ext uri="{0D108BD9-81ED-4DB2-BD59-A6C34878D82A}">
                    <a16:rowId xmlns:a16="http://schemas.microsoft.com/office/drawing/2014/main" val="2207737853"/>
                  </a:ext>
                </a:extLst>
              </a:tr>
              <a:tr h="646240">
                <a:tc>
                  <a:txBody>
                    <a:bodyPr/>
                    <a:lstStyle/>
                    <a:p>
                      <a:pPr algn="ctr"/>
                      <a:r>
                        <a:rPr lang="en-US" dirty="0"/>
                        <a:t>$4,991,631</a:t>
                      </a:r>
                    </a:p>
                  </a:txBody>
                  <a:tcPr anchor="ctr"/>
                </a:tc>
                <a:tc>
                  <a:txBody>
                    <a:bodyPr/>
                    <a:lstStyle/>
                    <a:p>
                      <a:pPr algn="ctr"/>
                      <a:r>
                        <a:rPr lang="en-US" dirty="0"/>
                        <a:t>2028</a:t>
                      </a:r>
                    </a:p>
                  </a:txBody>
                  <a:tcPr anchor="ctr"/>
                </a:tc>
                <a:extLst>
                  <a:ext uri="{0D108BD9-81ED-4DB2-BD59-A6C34878D82A}">
                    <a16:rowId xmlns:a16="http://schemas.microsoft.com/office/drawing/2014/main" val="1867925834"/>
                  </a:ext>
                </a:extLst>
              </a:tr>
              <a:tr h="646240">
                <a:tc>
                  <a:txBody>
                    <a:bodyPr/>
                    <a:lstStyle/>
                    <a:p>
                      <a:pPr algn="ctr"/>
                      <a:r>
                        <a:rPr lang="en-US" dirty="0"/>
                        <a:t>$984,317</a:t>
                      </a:r>
                    </a:p>
                  </a:txBody>
                  <a:tcPr anchor="ctr"/>
                </a:tc>
                <a:tc>
                  <a:txBody>
                    <a:bodyPr/>
                    <a:lstStyle/>
                    <a:p>
                      <a:pPr algn="ctr"/>
                      <a:r>
                        <a:rPr lang="en-US" dirty="0"/>
                        <a:t>2029</a:t>
                      </a:r>
                    </a:p>
                  </a:txBody>
                  <a:tcPr anchor="ctr"/>
                </a:tc>
                <a:extLst>
                  <a:ext uri="{0D108BD9-81ED-4DB2-BD59-A6C34878D82A}">
                    <a16:rowId xmlns:a16="http://schemas.microsoft.com/office/drawing/2014/main" val="3669254830"/>
                  </a:ext>
                </a:extLst>
              </a:tr>
            </a:tbl>
          </a:graphicData>
        </a:graphic>
      </p:graphicFrame>
    </p:spTree>
    <p:extLst>
      <p:ext uri="{BB962C8B-B14F-4D97-AF65-F5344CB8AC3E}">
        <p14:creationId xmlns:p14="http://schemas.microsoft.com/office/powerpoint/2010/main" val="36305470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133D18C-9F65-4150-8707-00079BF419E1}"/>
              </a:ext>
            </a:extLst>
          </p:cNvPr>
          <p:cNvSpPr txBox="1"/>
          <p:nvPr/>
        </p:nvSpPr>
        <p:spPr>
          <a:xfrm>
            <a:off x="2833546" y="99209"/>
            <a:ext cx="6524908"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rPr>
              <a:t>MERP – Project Funding FY 24</a:t>
            </a:r>
            <a:endParaRPr kumimoji="0" lang="en-US" sz="3200" b="1" i="1" u="none" strike="noStrike" kern="1200" cap="none" spc="0" normalizeH="0" baseline="0" noProof="0" dirty="0">
              <a:ln>
                <a:noFill/>
              </a:ln>
              <a:solidFill>
                <a:prstClr val="white"/>
              </a:solidFill>
              <a:effectLst/>
              <a:uLnTx/>
              <a:uFillTx/>
              <a:latin typeface="Source Sans Pro" panose="020B0503030403020204" pitchFamily="34" charset="0"/>
              <a:ea typeface="+mn-ea"/>
              <a:cs typeface="+mn-cs"/>
            </a:endParaRPr>
          </a:p>
        </p:txBody>
      </p:sp>
      <p:graphicFrame>
        <p:nvGraphicFramePr>
          <p:cNvPr id="2" name="Chart 1">
            <a:extLst>
              <a:ext uri="{FF2B5EF4-FFF2-40B4-BE49-F238E27FC236}">
                <a16:creationId xmlns:a16="http://schemas.microsoft.com/office/drawing/2014/main" id="{E7583684-ED4F-4FD4-C7D3-E65F256E3128}"/>
              </a:ext>
            </a:extLst>
          </p:cNvPr>
          <p:cNvGraphicFramePr/>
          <p:nvPr>
            <p:extLst>
              <p:ext uri="{D42A27DB-BD31-4B8C-83A1-F6EECF244321}">
                <p14:modId xmlns:p14="http://schemas.microsoft.com/office/powerpoint/2010/main" val="3027639984"/>
              </p:ext>
            </p:extLst>
          </p:nvPr>
        </p:nvGraphicFramePr>
        <p:xfrm>
          <a:off x="200968" y="821949"/>
          <a:ext cx="11796764" cy="527405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512955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1CE89FA-C17D-48E3-ADB5-7CDE7BE5BA0C}"/>
              </a:ext>
            </a:extLst>
          </p:cNvPr>
          <p:cNvSpPr/>
          <p:nvPr/>
        </p:nvSpPr>
        <p:spPr>
          <a:xfrm>
            <a:off x="-3" y="823548"/>
            <a:ext cx="5430983" cy="569727"/>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5FFA24F2-FDC5-4276-A235-B234F762FF98}"/>
              </a:ext>
            </a:extLst>
          </p:cNvPr>
          <p:cNvSpPr txBox="1"/>
          <p:nvPr/>
        </p:nvSpPr>
        <p:spPr>
          <a:xfrm>
            <a:off x="280362" y="866865"/>
            <a:ext cx="5150618" cy="47705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2500" b="1"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Where to apply for MERP funding?</a:t>
            </a:r>
            <a:endParaRPr kumimoji="0" lang="en-US" sz="2500" b="1" i="0" u="none" strike="noStrike" kern="1200" cap="none" spc="0" normalizeH="0" baseline="0" noProof="0" dirty="0">
              <a:ln>
                <a:noFill/>
              </a:ln>
              <a:solidFill>
                <a:prstClr val="white"/>
              </a:solidFill>
              <a:effectLst/>
              <a:uLnTx/>
              <a:uFillTx/>
              <a:latin typeface="Calibri" panose="020F0502020204030204" pitchFamily="34" charset="0"/>
              <a:ea typeface="Source Sans Pro"/>
              <a:cs typeface="Calibri" panose="020F0502020204030204" pitchFamily="34" charset="0"/>
            </a:endParaRPr>
          </a:p>
        </p:txBody>
      </p:sp>
      <p:sp>
        <p:nvSpPr>
          <p:cNvPr id="9" name="TextBox 8">
            <a:extLst>
              <a:ext uri="{FF2B5EF4-FFF2-40B4-BE49-F238E27FC236}">
                <a16:creationId xmlns:a16="http://schemas.microsoft.com/office/drawing/2014/main" id="{C133D18C-9F65-4150-8707-00079BF419E1}"/>
              </a:ext>
            </a:extLst>
          </p:cNvPr>
          <p:cNvSpPr txBox="1"/>
          <p:nvPr/>
        </p:nvSpPr>
        <p:spPr>
          <a:xfrm>
            <a:off x="2833546" y="99209"/>
            <a:ext cx="6524908"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MERP – Funding</a:t>
            </a:r>
            <a:endParaRPr kumimoji="0" lang="en-US" sz="3200" b="1" i="1"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1AC74B3A-1566-949D-7A47-CE94C6F807ED}"/>
              </a:ext>
            </a:extLst>
          </p:cNvPr>
          <p:cNvSpPr txBox="1"/>
          <p:nvPr/>
        </p:nvSpPr>
        <p:spPr>
          <a:xfrm>
            <a:off x="1521686" y="2520185"/>
            <a:ext cx="9289723" cy="1200329"/>
          </a:xfrm>
          <a:prstGeom prst="rect">
            <a:avLst/>
          </a:prstGeom>
          <a:noFill/>
        </p:spPr>
        <p:txBody>
          <a:bodyPr wrap="none" rtlCol="0">
            <a:spAutoFit/>
          </a:bodyPr>
          <a:lstStyle/>
          <a:p>
            <a:pPr marL="342900" indent="-342900">
              <a:buFont typeface="Arial" panose="020B0604020202020204" pitchFamily="34" charset="0"/>
              <a:buChar char="•"/>
            </a:pPr>
            <a:r>
              <a:rPr lang="en-US" sz="2400"/>
              <a:t>MERP RFAs </a:t>
            </a:r>
            <a:r>
              <a:rPr lang="en-US" sz="2400" dirty="0"/>
              <a:t>will be changed to </a:t>
            </a:r>
            <a:r>
              <a:rPr lang="en-US" sz="2400"/>
              <a:t>a Notices </a:t>
            </a:r>
            <a:r>
              <a:rPr lang="en-US" sz="2400" dirty="0"/>
              <a:t>of Special Interest (NOSI).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This is to consolidate make the application process more consistent.</a:t>
            </a:r>
          </a:p>
        </p:txBody>
      </p:sp>
    </p:spTree>
    <p:extLst>
      <p:ext uri="{BB962C8B-B14F-4D97-AF65-F5344CB8AC3E}">
        <p14:creationId xmlns:p14="http://schemas.microsoft.com/office/powerpoint/2010/main" val="30033716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5E20B06-0DAE-F39C-D62A-8507FE010622}"/>
              </a:ext>
            </a:extLst>
          </p:cNvPr>
          <p:cNvSpPr/>
          <p:nvPr/>
        </p:nvSpPr>
        <p:spPr>
          <a:xfrm>
            <a:off x="1738271" y="1857375"/>
            <a:ext cx="9253580" cy="1095375"/>
          </a:xfrm>
          <a:prstGeom prst="rect">
            <a:avLst/>
          </a:prstGeom>
          <a:solidFill>
            <a:schemeClr val="accent5">
              <a:lumMod val="20000"/>
              <a:lumOff val="80000"/>
            </a:schemeClr>
          </a:solidFill>
          <a:ln w="9525">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1CE89FA-C17D-48E3-ADB5-7CDE7BE5BA0C}"/>
              </a:ext>
            </a:extLst>
          </p:cNvPr>
          <p:cNvSpPr/>
          <p:nvPr/>
        </p:nvSpPr>
        <p:spPr>
          <a:xfrm>
            <a:off x="-1" y="851926"/>
            <a:ext cx="5368067" cy="569727"/>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5FFA24F2-FDC5-4276-A235-B234F762FF98}"/>
              </a:ext>
            </a:extLst>
          </p:cNvPr>
          <p:cNvSpPr txBox="1"/>
          <p:nvPr/>
        </p:nvSpPr>
        <p:spPr>
          <a:xfrm>
            <a:off x="431921" y="898262"/>
            <a:ext cx="4441293" cy="47705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2500" b="1" i="1" u="none" strike="noStrike" kern="1200" cap="none" spc="0" normalizeH="0" baseline="0" noProof="0" dirty="0">
                <a:ln>
                  <a:noFill/>
                </a:ln>
                <a:solidFill>
                  <a:prstClr val="white"/>
                </a:solidFill>
                <a:effectLst/>
                <a:uLnTx/>
                <a:uFillTx/>
                <a:latin typeface="Calibri" panose="020F0502020204030204" pitchFamily="34" charset="0"/>
                <a:ea typeface="Source Sans Pro"/>
                <a:cs typeface="Calibri" panose="020F0502020204030204" pitchFamily="34" charset="0"/>
              </a:rPr>
              <a:t>Who, What, How</a:t>
            </a:r>
            <a:endParaRPr kumimoji="0" lang="en-US" sz="25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pitchFamily="34" charset="0"/>
              <a:ea typeface="Source Sans Pro"/>
              <a:cs typeface="Calibri" panose="020F0502020204030204" pitchFamily="34" charset="0"/>
            </a:endParaRPr>
          </a:p>
        </p:txBody>
      </p:sp>
      <p:sp>
        <p:nvSpPr>
          <p:cNvPr id="9" name="TextBox 8">
            <a:extLst>
              <a:ext uri="{FF2B5EF4-FFF2-40B4-BE49-F238E27FC236}">
                <a16:creationId xmlns:a16="http://schemas.microsoft.com/office/drawing/2014/main" id="{C133D18C-9F65-4150-8707-00079BF419E1}"/>
              </a:ext>
            </a:extLst>
          </p:cNvPr>
          <p:cNvSpPr txBox="1"/>
          <p:nvPr/>
        </p:nvSpPr>
        <p:spPr>
          <a:xfrm>
            <a:off x="2833546" y="99209"/>
            <a:ext cx="6524908"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rPr>
              <a:t>MERP Summary</a:t>
            </a:r>
            <a:endParaRPr kumimoji="0" lang="en-US" sz="3200" b="1" i="1"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endParaRPr>
          </a:p>
        </p:txBody>
      </p:sp>
      <p:sp>
        <p:nvSpPr>
          <p:cNvPr id="2" name="Rectangle: Rounded Corners 1">
            <a:extLst>
              <a:ext uri="{FF2B5EF4-FFF2-40B4-BE49-F238E27FC236}">
                <a16:creationId xmlns:a16="http://schemas.microsoft.com/office/drawing/2014/main" id="{FB6E79A2-562A-468B-FD9C-4D5D8261DED1}"/>
              </a:ext>
            </a:extLst>
          </p:cNvPr>
          <p:cNvSpPr/>
          <p:nvPr/>
        </p:nvSpPr>
        <p:spPr>
          <a:xfrm>
            <a:off x="422396" y="1647055"/>
            <a:ext cx="3068559" cy="691332"/>
          </a:xfrm>
          <a:prstGeom prst="roundRect">
            <a:avLst/>
          </a:prstGeom>
          <a:solidFill>
            <a:schemeClr val="tx2">
              <a:lumMod val="20000"/>
              <a:lumOff val="80000"/>
            </a:schemeClr>
          </a:solidFill>
          <a:ln w="19050">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800" b="1" u="sng" dirty="0">
                <a:solidFill>
                  <a:srgbClr val="000000"/>
                </a:solidFill>
                <a:latin typeface="Calibri" panose="020F0502020204030204" pitchFamily="34" charset="0"/>
                <a:cs typeface="Calibri" panose="020F0502020204030204" pitchFamily="34" charset="0"/>
              </a:rPr>
              <a:t>Who</a:t>
            </a:r>
            <a:r>
              <a:rPr lang="en-US" sz="1800" b="1" dirty="0">
                <a:solidFill>
                  <a:srgbClr val="000000"/>
                </a:solidFill>
                <a:latin typeface="Calibri" panose="020F0502020204030204" pitchFamily="34" charset="0"/>
                <a:cs typeface="Calibri" panose="020F0502020204030204" pitchFamily="34" charset="0"/>
              </a:rPr>
              <a:t> is MERP helping?</a:t>
            </a:r>
            <a:endParaRPr lang="en-US"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07F6CB5F-0EF8-FD66-A784-D1078D93A18B}"/>
              </a:ext>
            </a:extLst>
          </p:cNvPr>
          <p:cNvSpPr txBox="1"/>
          <p:nvPr/>
        </p:nvSpPr>
        <p:spPr>
          <a:xfrm>
            <a:off x="3536133" y="1940601"/>
            <a:ext cx="7455717" cy="923330"/>
          </a:xfrm>
          <a:prstGeom prst="rect">
            <a:avLst/>
          </a:prstGeom>
          <a:noFill/>
        </p:spPr>
        <p:txBody>
          <a:bodyPr wrap="square" rtlCol="0">
            <a:spAutoFit/>
          </a:bodyPr>
          <a:lstStyle/>
          <a:p>
            <a:r>
              <a:rPr lang="en-US" sz="1800" dirty="0">
                <a:solidFill>
                  <a:srgbClr val="000000"/>
                </a:solidFill>
                <a:latin typeface="Calibri" panose="020F0502020204030204" pitchFamily="34" charset="0"/>
                <a:cs typeface="Calibri" panose="020F0502020204030204" pitchFamily="34" charset="0"/>
              </a:rPr>
              <a:t>The MERP program is managed by executive leaders and scientists who have a passion for, and real-world experience in, research into the medical issues that impact our Veteran population.</a:t>
            </a:r>
          </a:p>
        </p:txBody>
      </p:sp>
      <p:sp>
        <p:nvSpPr>
          <p:cNvPr id="6" name="Rectangle 5">
            <a:extLst>
              <a:ext uri="{FF2B5EF4-FFF2-40B4-BE49-F238E27FC236}">
                <a16:creationId xmlns:a16="http://schemas.microsoft.com/office/drawing/2014/main" id="{CC1A8379-2531-4E8D-8B23-027643492463}"/>
              </a:ext>
            </a:extLst>
          </p:cNvPr>
          <p:cNvSpPr/>
          <p:nvPr/>
        </p:nvSpPr>
        <p:spPr>
          <a:xfrm>
            <a:off x="1738270" y="3286504"/>
            <a:ext cx="9253580" cy="1095375"/>
          </a:xfrm>
          <a:prstGeom prst="rect">
            <a:avLst/>
          </a:prstGeom>
          <a:solidFill>
            <a:schemeClr val="accent5">
              <a:lumMod val="20000"/>
              <a:lumOff val="80000"/>
            </a:schemeClr>
          </a:solidFill>
          <a:ln w="9525">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dirty="0"/>
          </a:p>
        </p:txBody>
      </p:sp>
      <p:sp>
        <p:nvSpPr>
          <p:cNvPr id="10" name="Rectangle: Rounded Corners 9">
            <a:extLst>
              <a:ext uri="{FF2B5EF4-FFF2-40B4-BE49-F238E27FC236}">
                <a16:creationId xmlns:a16="http://schemas.microsoft.com/office/drawing/2014/main" id="{E027E597-5160-7B77-AA40-EF18DD74F90F}"/>
              </a:ext>
            </a:extLst>
          </p:cNvPr>
          <p:cNvSpPr/>
          <p:nvPr/>
        </p:nvSpPr>
        <p:spPr>
          <a:xfrm>
            <a:off x="422396" y="3076184"/>
            <a:ext cx="3068559" cy="691332"/>
          </a:xfrm>
          <a:prstGeom prst="roundRect">
            <a:avLst/>
          </a:prstGeom>
          <a:solidFill>
            <a:schemeClr val="tx2">
              <a:lumMod val="20000"/>
              <a:lumOff val="80000"/>
            </a:schemeClr>
          </a:solidFill>
          <a:ln w="19050">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800" b="1" u="sng" dirty="0">
                <a:solidFill>
                  <a:srgbClr val="000000"/>
                </a:solidFill>
                <a:latin typeface="Calibri" panose="020F0502020204030204" pitchFamily="34" charset="0"/>
                <a:cs typeface="Calibri" panose="020F0502020204030204" pitchFamily="34" charset="0"/>
              </a:rPr>
              <a:t>What</a:t>
            </a:r>
            <a:r>
              <a:rPr lang="en-US" sz="1800" b="1" dirty="0">
                <a:solidFill>
                  <a:srgbClr val="000000"/>
                </a:solidFill>
                <a:latin typeface="Calibri" panose="020F0502020204030204" pitchFamily="34" charset="0"/>
                <a:cs typeface="Calibri" panose="020F0502020204030204" pitchFamily="34" charset="0"/>
              </a:rPr>
              <a:t> is MERP?</a:t>
            </a:r>
            <a:endParaRPr lang="en-US" dirty="0">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891DEF38-436E-C51C-6E4B-11D7FF99FA4B}"/>
              </a:ext>
            </a:extLst>
          </p:cNvPr>
          <p:cNvSpPr txBox="1"/>
          <p:nvPr/>
        </p:nvSpPr>
        <p:spPr>
          <a:xfrm>
            <a:off x="3500479" y="3239453"/>
            <a:ext cx="7491371" cy="1200329"/>
          </a:xfrm>
          <a:prstGeom prst="rect">
            <a:avLst/>
          </a:prstGeom>
          <a:noFill/>
        </p:spPr>
        <p:txBody>
          <a:bodyPr wrap="square">
            <a:spAutoFit/>
          </a:bodyPr>
          <a:lstStyle/>
          <a:p>
            <a:r>
              <a:rPr lang="en-US" sz="1800" dirty="0">
                <a:solidFill>
                  <a:srgbClr val="000000"/>
                </a:solidFill>
                <a:latin typeface="Calibri" panose="020F0502020204030204" pitchFamily="34" charset="0"/>
                <a:cs typeface="Calibri" panose="020F0502020204030204" pitchFamily="34" charset="0"/>
              </a:rPr>
              <a:t>MERP’s mission is to advance military exposure assessments and to understand the effects of military exposures on Veterans’ health outcomes to inform care and policy. The program will accomplish this by adding additional funding opportunities and guidance to VA researchers. </a:t>
            </a:r>
            <a:endParaRPr lang="en-US" dirty="0">
              <a:latin typeface="Calibri" panose="020F0502020204030204" pitchFamily="34" charset="0"/>
              <a:cs typeface="Calibri" panose="020F0502020204030204" pitchFamily="34" charset="0"/>
            </a:endParaRPr>
          </a:p>
        </p:txBody>
      </p:sp>
      <p:sp>
        <p:nvSpPr>
          <p:cNvPr id="13" name="Rectangle 12">
            <a:extLst>
              <a:ext uri="{FF2B5EF4-FFF2-40B4-BE49-F238E27FC236}">
                <a16:creationId xmlns:a16="http://schemas.microsoft.com/office/drawing/2014/main" id="{D8D3E22B-D06F-742A-E48F-AFB55FA61CF7}"/>
              </a:ext>
            </a:extLst>
          </p:cNvPr>
          <p:cNvSpPr/>
          <p:nvPr/>
        </p:nvSpPr>
        <p:spPr>
          <a:xfrm>
            <a:off x="1738270" y="4726485"/>
            <a:ext cx="9253580" cy="1095375"/>
          </a:xfrm>
          <a:prstGeom prst="rect">
            <a:avLst/>
          </a:prstGeom>
          <a:solidFill>
            <a:schemeClr val="accent5">
              <a:lumMod val="20000"/>
              <a:lumOff val="80000"/>
            </a:schemeClr>
          </a:solidFill>
          <a:ln w="9525">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dirty="0"/>
          </a:p>
        </p:txBody>
      </p:sp>
      <p:sp>
        <p:nvSpPr>
          <p:cNvPr id="14" name="Rectangle: Rounded Corners 13">
            <a:extLst>
              <a:ext uri="{FF2B5EF4-FFF2-40B4-BE49-F238E27FC236}">
                <a16:creationId xmlns:a16="http://schemas.microsoft.com/office/drawing/2014/main" id="{9A1E3A6C-1025-8997-ABCD-B56BF4A441BB}"/>
              </a:ext>
            </a:extLst>
          </p:cNvPr>
          <p:cNvSpPr/>
          <p:nvPr/>
        </p:nvSpPr>
        <p:spPr>
          <a:xfrm>
            <a:off x="422396" y="4516165"/>
            <a:ext cx="3068559" cy="691332"/>
          </a:xfrm>
          <a:prstGeom prst="roundRect">
            <a:avLst/>
          </a:prstGeom>
          <a:solidFill>
            <a:schemeClr val="tx2">
              <a:lumMod val="20000"/>
              <a:lumOff val="80000"/>
            </a:schemeClr>
          </a:solidFill>
          <a:ln w="19050">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800" b="1" u="sng" dirty="0">
                <a:solidFill>
                  <a:srgbClr val="000000"/>
                </a:solidFill>
                <a:latin typeface="Calibri" panose="020F0502020204030204" pitchFamily="34" charset="0"/>
                <a:cs typeface="Calibri" panose="020F0502020204030204" pitchFamily="34" charset="0"/>
              </a:rPr>
              <a:t>How</a:t>
            </a:r>
            <a:r>
              <a:rPr lang="en-US" sz="1800" b="1" dirty="0">
                <a:solidFill>
                  <a:srgbClr val="000000"/>
                </a:solidFill>
                <a:latin typeface="Calibri" panose="020F0502020204030204" pitchFamily="34" charset="0"/>
                <a:cs typeface="Calibri" panose="020F0502020204030204" pitchFamily="34" charset="0"/>
              </a:rPr>
              <a:t> is MERP going to help?</a:t>
            </a: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BCDF3FF8-0960-3D62-3C35-589CD81CDE09}"/>
              </a:ext>
            </a:extLst>
          </p:cNvPr>
          <p:cNvSpPr txBox="1"/>
          <p:nvPr/>
        </p:nvSpPr>
        <p:spPr>
          <a:xfrm>
            <a:off x="3536133" y="4852306"/>
            <a:ext cx="7331892" cy="923330"/>
          </a:xfrm>
          <a:prstGeom prst="rect">
            <a:avLst/>
          </a:prstGeom>
          <a:noFill/>
        </p:spPr>
        <p:txBody>
          <a:bodyPr wrap="square" rtlCol="0">
            <a:spAutoFit/>
          </a:bodyPr>
          <a:lstStyle/>
          <a:p>
            <a:r>
              <a:rPr lang="en-US" sz="1800" dirty="0">
                <a:solidFill>
                  <a:srgbClr val="000000"/>
                </a:solidFill>
                <a:latin typeface="Calibri" panose="020F0502020204030204" pitchFamily="34" charset="0"/>
                <a:cs typeface="Calibri" panose="020F0502020204030204" pitchFamily="34" charset="0"/>
              </a:rPr>
              <a:t>Working with researchers to fund and focus their research and to socialize their findings to improve the treatments, practices, and outcomes for our veterans.</a:t>
            </a:r>
            <a:endParaRPr lang="en-US" sz="1800" dirty="0">
              <a:solidFill>
                <a:srgbClr val="000000"/>
              </a:solidFill>
              <a:latin typeface="Calibri" panose="020F0502020204030204" pitchFamily="34" charset="0"/>
              <a:ea typeface="Source Sans Pro"/>
              <a:cs typeface="Calibri" panose="020F0502020204030204" pitchFamily="34" charset="0"/>
            </a:endParaRPr>
          </a:p>
        </p:txBody>
      </p:sp>
    </p:spTree>
    <p:extLst>
      <p:ext uri="{BB962C8B-B14F-4D97-AF65-F5344CB8AC3E}">
        <p14:creationId xmlns:p14="http://schemas.microsoft.com/office/powerpoint/2010/main" val="11449259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3E72">
            <a:alpha val="96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7DB59-FE21-F7BB-D28F-926BCB54EE71}"/>
              </a:ext>
            </a:extLst>
          </p:cNvPr>
          <p:cNvSpPr>
            <a:spLocks noGrp="1"/>
          </p:cNvSpPr>
          <p:nvPr>
            <p:ph type="ctrTitle"/>
          </p:nvPr>
        </p:nvSpPr>
        <p:spPr/>
        <p:txBody>
          <a:bodyPr/>
          <a:lstStyle/>
          <a:p>
            <a:r>
              <a:rPr lang="en-US" dirty="0"/>
              <a:t>MERP Contact</a:t>
            </a:r>
          </a:p>
        </p:txBody>
      </p:sp>
    </p:spTree>
    <p:extLst>
      <p:ext uri="{BB962C8B-B14F-4D97-AF65-F5344CB8AC3E}">
        <p14:creationId xmlns:p14="http://schemas.microsoft.com/office/powerpoint/2010/main" val="26676940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CAAC097-AC13-472A-87EB-D3C4A5AD86DA}"/>
              </a:ext>
            </a:extLst>
          </p:cNvPr>
          <p:cNvSpPr/>
          <p:nvPr/>
        </p:nvSpPr>
        <p:spPr>
          <a:xfrm>
            <a:off x="0" y="2107635"/>
            <a:ext cx="12046998" cy="3247043"/>
          </a:xfrm>
          <a:prstGeom prst="rect">
            <a:avLst/>
          </a:prstGeom>
        </p:spPr>
        <p:txBody>
          <a:bodyPr wrap="square" lIns="91440" tIns="45720" rIns="91440" bIns="45720" anchor="t">
            <a:spAutoFit/>
          </a:bodyPr>
          <a:lstStyle/>
          <a:p>
            <a:pPr marL="342900" marR="1156970" lvl="0" indent="0" algn="l" defTabSz="914400" rtl="0" eaLnBrk="1" fontAlgn="auto" latinLnBrk="0" hangingPunct="1">
              <a:lnSpc>
                <a:spcPct val="100000"/>
              </a:lnSpc>
              <a:spcBef>
                <a:spcPts val="0"/>
              </a:spcBef>
              <a:spcAft>
                <a:spcPts val="900"/>
              </a:spcAft>
              <a:buClrTx/>
              <a:buSzTx/>
              <a:buFontTx/>
              <a:buNone/>
              <a:tabLst/>
              <a:defRPr/>
            </a:pPr>
            <a:r>
              <a:rPr lang="en-US" sz="2000" b="1" dirty="0">
                <a:latin typeface="Arial"/>
                <a:cs typeface="Arial"/>
              </a:rPr>
              <a:t>MERP Administrative Core 		</a:t>
            </a:r>
            <a:r>
              <a:rPr lang="en-US" sz="2000" dirty="0">
                <a:latin typeface="Arial"/>
                <a:cs typeface="Arial"/>
              </a:rPr>
              <a:t>merpadmincore@va.gov</a:t>
            </a:r>
          </a:p>
          <a:p>
            <a:pPr marL="342900" marR="1156970">
              <a:spcAft>
                <a:spcPts val="900"/>
              </a:spcAft>
              <a:defRPr/>
            </a:pPr>
            <a:r>
              <a:rPr lang="en-US" sz="2000" b="1" dirty="0">
                <a:latin typeface="Arial"/>
                <a:cs typeface="Arial"/>
              </a:rPr>
              <a:t>Rudolph (Rudy) Johnson, Ph.D.      MERP Director – </a:t>
            </a:r>
            <a:r>
              <a:rPr lang="en-US" sz="2000" dirty="0">
                <a:latin typeface="Arial"/>
                <a:cs typeface="Arial"/>
              </a:rPr>
              <a:t>Rudolph.Johnson3@va.gov </a:t>
            </a:r>
          </a:p>
          <a:p>
            <a:pPr marL="342900" marR="1156970">
              <a:spcAft>
                <a:spcPts val="900"/>
              </a:spcAft>
              <a:defRPr/>
            </a:pPr>
            <a:r>
              <a:rPr lang="en-US" sz="2000" b="1" dirty="0">
                <a:latin typeface="Arial"/>
                <a:cs typeface="Arial"/>
              </a:rPr>
              <a:t>Shakeria (Shay) Cohen, Ph.D.          Scientific Program Officer - </a:t>
            </a:r>
            <a:r>
              <a:rPr lang="en-US" sz="2000" dirty="0">
                <a:latin typeface="Arial"/>
                <a:cs typeface="Arial"/>
              </a:rPr>
              <a:t>shakeria.cohen@va.gov</a:t>
            </a:r>
            <a:br>
              <a:rPr lang="en-US" sz="2000" dirty="0">
                <a:latin typeface="Arial"/>
                <a:ea typeface="Source Sans Pro"/>
              </a:rPr>
            </a:br>
            <a:endParaRPr lang="en-US" sz="2000" dirty="0">
              <a:latin typeface="Arial"/>
              <a:cs typeface="Arial"/>
            </a:endParaRPr>
          </a:p>
          <a:p>
            <a:pPr marL="342900" marR="1156970">
              <a:spcAft>
                <a:spcPts val="900"/>
              </a:spcAft>
              <a:defRPr/>
            </a:pPr>
            <a:r>
              <a:rPr lang="en-US" sz="2000" b="1" dirty="0">
                <a:latin typeface="Arial"/>
                <a:cs typeface="Arial"/>
              </a:rPr>
              <a:t>Deputy Chief Research and Development Officers:</a:t>
            </a:r>
            <a:endParaRPr lang="en-US" sz="2000" b="1" dirty="0">
              <a:latin typeface="Arial"/>
              <a:ea typeface="Source Sans Pro"/>
              <a:cs typeface="Arial" panose="020B0604020202020204" pitchFamily="34" charset="0"/>
            </a:endParaRPr>
          </a:p>
          <a:p>
            <a:pPr marL="342900" marR="1156970">
              <a:spcAft>
                <a:spcPts val="900"/>
              </a:spcAft>
              <a:defRPr/>
            </a:pPr>
            <a:r>
              <a:rPr lang="en-US" sz="2000" b="1" dirty="0">
                <a:latin typeface="Arial"/>
                <a:cs typeface="Arial"/>
              </a:rPr>
              <a:t>Chris Bever, MD, MBA                        Deputy CRADO– </a:t>
            </a:r>
            <a:r>
              <a:rPr lang="en-US" sz="2000" dirty="0">
                <a:latin typeface="Arial"/>
                <a:cs typeface="Arial"/>
              </a:rPr>
              <a:t>christopher.bever@va.gov</a:t>
            </a:r>
            <a:endParaRPr lang="en-US" sz="2000" dirty="0">
              <a:latin typeface="Arial"/>
              <a:ea typeface="Source Sans Pro"/>
              <a:cs typeface="Arial"/>
            </a:endParaRPr>
          </a:p>
          <a:p>
            <a:pPr marL="342900" marR="1156970">
              <a:spcAft>
                <a:spcPts val="900"/>
              </a:spcAft>
              <a:defRPr/>
            </a:pPr>
            <a:r>
              <a:rPr lang="en-US" sz="2000" b="1" dirty="0">
                <a:latin typeface="Arial"/>
                <a:cs typeface="Arial"/>
              </a:rPr>
              <a:t>Wendy Tenhula, Ph.D.                        Deputy CRADO– </a:t>
            </a:r>
            <a:r>
              <a:rPr lang="en-US" sz="2000" dirty="0">
                <a:latin typeface="Arial"/>
                <a:cs typeface="Arial"/>
              </a:rPr>
              <a:t>wendy.tenhula@va.gov</a:t>
            </a:r>
            <a:endParaRPr lang="en-US" sz="2000" dirty="0">
              <a:latin typeface="Arial"/>
              <a:ea typeface="Source Sans Pro"/>
              <a:cs typeface="Arial"/>
            </a:endParaRPr>
          </a:p>
          <a:p>
            <a:pPr marL="342900" marR="1156970">
              <a:spcAft>
                <a:spcPts val="900"/>
              </a:spcAft>
              <a:defRPr/>
            </a:pPr>
            <a:r>
              <a:rPr lang="en-US" sz="2000" b="1" dirty="0">
                <a:latin typeface="Arial"/>
                <a:cs typeface="Arial"/>
              </a:rPr>
              <a:t>Grant Huang, Ph.D., MPH                   Deputy CRADO– </a:t>
            </a:r>
            <a:r>
              <a:rPr lang="en-US" sz="2000" dirty="0">
                <a:latin typeface="Arial"/>
                <a:cs typeface="Arial"/>
              </a:rPr>
              <a:t>grant.huang@va.gov</a:t>
            </a:r>
            <a:endParaRPr lang="en-US" sz="2000" dirty="0">
              <a:latin typeface="Arial"/>
              <a:ea typeface="Source Sans Pro"/>
              <a:cs typeface="Arial"/>
            </a:endParaRPr>
          </a:p>
        </p:txBody>
      </p:sp>
      <p:sp>
        <p:nvSpPr>
          <p:cNvPr id="7" name="Rectangle 6">
            <a:extLst>
              <a:ext uri="{FF2B5EF4-FFF2-40B4-BE49-F238E27FC236}">
                <a16:creationId xmlns:a16="http://schemas.microsoft.com/office/drawing/2014/main" id="{51CE89FA-C17D-48E3-ADB5-7CDE7BE5BA0C}"/>
              </a:ext>
            </a:extLst>
          </p:cNvPr>
          <p:cNvSpPr/>
          <p:nvPr/>
        </p:nvSpPr>
        <p:spPr>
          <a:xfrm>
            <a:off x="-1" y="1012185"/>
            <a:ext cx="4460789" cy="569727"/>
          </a:xfrm>
          <a:prstGeom prst="rect">
            <a:avLst/>
          </a:prstGeom>
          <a:solidFill>
            <a:srgbClr val="00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5FFA24F2-FDC5-4276-A235-B234F762FF98}"/>
              </a:ext>
            </a:extLst>
          </p:cNvPr>
          <p:cNvSpPr txBox="1"/>
          <p:nvPr/>
        </p:nvSpPr>
        <p:spPr>
          <a:xfrm>
            <a:off x="431921" y="1058521"/>
            <a:ext cx="3785655" cy="477054"/>
          </a:xfrm>
          <a:prstGeom prst="rect">
            <a:avLst/>
          </a:prstGeom>
          <a:noFill/>
        </p:spPr>
        <p:txBody>
          <a:bodyPr wrap="square" lIns="91440" tIns="45720" rIns="91440" bIns="45720" anchor="t">
            <a:spAutoFit/>
          </a:bodyPr>
          <a:lstStyle/>
          <a:p>
            <a:pPr>
              <a:spcBef>
                <a:spcPts val="600"/>
              </a:spcBef>
              <a:defRPr/>
            </a:pPr>
            <a:r>
              <a:rPr lang="en-US" sz="2500" b="1" dirty="0">
                <a:solidFill>
                  <a:schemeClr val="bg1"/>
                </a:solidFill>
                <a:latin typeface="Arial"/>
                <a:cs typeface="Arial"/>
              </a:rPr>
              <a:t>CONTACT</a:t>
            </a:r>
          </a:p>
        </p:txBody>
      </p:sp>
      <p:sp>
        <p:nvSpPr>
          <p:cNvPr id="9" name="TextBox 8">
            <a:extLst>
              <a:ext uri="{FF2B5EF4-FFF2-40B4-BE49-F238E27FC236}">
                <a16:creationId xmlns:a16="http://schemas.microsoft.com/office/drawing/2014/main" id="{C133D18C-9F65-4150-8707-00079BF419E1}"/>
              </a:ext>
            </a:extLst>
          </p:cNvPr>
          <p:cNvSpPr txBox="1"/>
          <p:nvPr/>
        </p:nvSpPr>
        <p:spPr>
          <a:xfrm>
            <a:off x="2833546" y="99209"/>
            <a:ext cx="6524908" cy="584775"/>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Arial"/>
                <a:cs typeface="Arial"/>
              </a:rPr>
              <a:t>MERP – </a:t>
            </a:r>
            <a:r>
              <a:rPr kumimoji="0" lang="en-US" sz="3200" b="1" u="none" strike="noStrike" kern="1200" cap="none" spc="0" normalizeH="0" baseline="0" noProof="0" dirty="0">
                <a:ln>
                  <a:noFill/>
                </a:ln>
                <a:solidFill>
                  <a:prstClr val="white"/>
                </a:solidFill>
                <a:effectLst/>
                <a:uLnTx/>
                <a:uFillTx/>
                <a:latin typeface="Arial"/>
                <a:cs typeface="Arial"/>
              </a:rPr>
              <a:t>Contact Us</a:t>
            </a:r>
            <a:endParaRPr lang="en-US" sz="3200" b="1" u="none" strike="noStrike" kern="1200" cap="none" spc="0" normalizeH="0" baseline="0" noProof="0" dirty="0">
              <a:ln>
                <a:noFill/>
              </a:ln>
              <a:solidFill>
                <a:prstClr val="white"/>
              </a:solidFill>
              <a:effectLst/>
              <a:uLnTx/>
              <a:uFillTx/>
              <a:latin typeface="Arial"/>
              <a:cs typeface="Arial"/>
            </a:endParaRPr>
          </a:p>
        </p:txBody>
      </p:sp>
    </p:spTree>
    <p:extLst>
      <p:ext uri="{BB962C8B-B14F-4D97-AF65-F5344CB8AC3E}">
        <p14:creationId xmlns:p14="http://schemas.microsoft.com/office/powerpoint/2010/main" val="34938117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3E72">
            <a:alpha val="96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7DB59-FE21-F7BB-D28F-926BCB54EE71}"/>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40480452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XtVhG23Fd4LGA2BwU1MQP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tVhG23Fd4LGA2BwU1MQP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VAIRRS Main Slides">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ource Sans Pro"/>
        <a:ea typeface=""/>
        <a:cs typeface=""/>
      </a:majorFont>
      <a:minorFont>
        <a:latin typeface="Source San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VAIRRS Main Slides">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ource Sans Pro"/>
        <a:ea typeface=""/>
        <a:cs typeface=""/>
      </a:majorFont>
      <a:minorFont>
        <a:latin typeface="Source San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2_Office Theme">
  <a:themeElements>
    <a:clrScheme name="myVA">
      <a:dk1>
        <a:srgbClr val="000000"/>
      </a:dk1>
      <a:lt1>
        <a:sysClr val="window" lastClr="FFFFFF"/>
      </a:lt1>
      <a:dk2>
        <a:srgbClr val="003F72"/>
      </a:dk2>
      <a:lt2>
        <a:srgbClr val="EEECE1"/>
      </a:lt2>
      <a:accent1>
        <a:srgbClr val="C62630"/>
      </a:accent1>
      <a:accent2>
        <a:srgbClr val="0083BE"/>
      </a:accent2>
      <a:accent3>
        <a:srgbClr val="F3CF45"/>
      </a:accent3>
      <a:accent4>
        <a:srgbClr val="F7955B"/>
      </a:accent4>
      <a:accent5>
        <a:srgbClr val="839097"/>
      </a:accent5>
      <a:accent6>
        <a:srgbClr val="DCDDDE"/>
      </a:accent6>
      <a:hlink>
        <a:srgbClr val="C2B48F"/>
      </a:hlink>
      <a:folHlink>
        <a:srgbClr val="A3A86B"/>
      </a:folHlink>
    </a:clrScheme>
    <a:fontScheme name="Custom 1">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40_Office Theme">
  <a:themeElements>
    <a:clrScheme name="myVA">
      <a:dk1>
        <a:srgbClr val="000000"/>
      </a:dk1>
      <a:lt1>
        <a:sysClr val="window" lastClr="FFFFFF"/>
      </a:lt1>
      <a:dk2>
        <a:srgbClr val="003F72"/>
      </a:dk2>
      <a:lt2>
        <a:srgbClr val="EEECE1"/>
      </a:lt2>
      <a:accent1>
        <a:srgbClr val="C62630"/>
      </a:accent1>
      <a:accent2>
        <a:srgbClr val="0083BE"/>
      </a:accent2>
      <a:accent3>
        <a:srgbClr val="F3CF45"/>
      </a:accent3>
      <a:accent4>
        <a:srgbClr val="F7955B"/>
      </a:accent4>
      <a:accent5>
        <a:srgbClr val="839097"/>
      </a:accent5>
      <a:accent6>
        <a:srgbClr val="DCDDDE"/>
      </a:accent6>
      <a:hlink>
        <a:srgbClr val="C2B48F"/>
      </a:hlink>
      <a:folHlink>
        <a:srgbClr val="A3A86B"/>
      </a:folHlink>
    </a:clrScheme>
    <a:fontScheme name="Custom 1">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extLst>
            <a:ext uri="{C807C97D-BFC1-408E-A445-0C87EB9F89A2}">
              <ask:lineSketchStyleProps xmlns:ask="http://schemas.microsoft.com/office/drawing/2018/sketchyshapes" sd="1219033472">
                <a:custGeom>
                  <a:avLst/>
                  <a:gdLst>
                    <a:gd name="connsiteX0" fmla="*/ 0 w 343214"/>
                    <a:gd name="connsiteY0" fmla="*/ 278296 h 540689"/>
                    <a:gd name="connsiteX1" fmla="*/ 23854 w 343214"/>
                    <a:gd name="connsiteY1" fmla="*/ 238539 h 540689"/>
                    <a:gd name="connsiteX2" fmla="*/ 39757 w 343214"/>
                    <a:gd name="connsiteY2" fmla="*/ 214685 h 540689"/>
                    <a:gd name="connsiteX3" fmla="*/ 79513 w 343214"/>
                    <a:gd name="connsiteY3" fmla="*/ 127221 h 540689"/>
                    <a:gd name="connsiteX4" fmla="*/ 95416 w 343214"/>
                    <a:gd name="connsiteY4" fmla="*/ 55659 h 540689"/>
                    <a:gd name="connsiteX5" fmla="*/ 135173 w 343214"/>
                    <a:gd name="connsiteY5" fmla="*/ 0 h 540689"/>
                    <a:gd name="connsiteX6" fmla="*/ 159026 w 343214"/>
                    <a:gd name="connsiteY6" fmla="*/ 286247 h 540689"/>
                    <a:gd name="connsiteX7" fmla="*/ 174929 w 343214"/>
                    <a:gd name="connsiteY7" fmla="*/ 333955 h 540689"/>
                    <a:gd name="connsiteX8" fmla="*/ 182880 w 343214"/>
                    <a:gd name="connsiteY8" fmla="*/ 365760 h 540689"/>
                    <a:gd name="connsiteX9" fmla="*/ 190832 w 343214"/>
                    <a:gd name="connsiteY9" fmla="*/ 469127 h 540689"/>
                    <a:gd name="connsiteX10" fmla="*/ 206734 w 343214"/>
                    <a:gd name="connsiteY10" fmla="*/ 540689 h 540689"/>
                    <a:gd name="connsiteX11" fmla="*/ 222637 w 343214"/>
                    <a:gd name="connsiteY11" fmla="*/ 485030 h 540689"/>
                    <a:gd name="connsiteX12" fmla="*/ 254442 w 343214"/>
                    <a:gd name="connsiteY12" fmla="*/ 421419 h 540689"/>
                    <a:gd name="connsiteX13" fmla="*/ 270345 w 343214"/>
                    <a:gd name="connsiteY13" fmla="*/ 381663 h 540689"/>
                    <a:gd name="connsiteX14" fmla="*/ 294199 w 343214"/>
                    <a:gd name="connsiteY14" fmla="*/ 270344 h 540689"/>
                    <a:gd name="connsiteX15" fmla="*/ 310101 w 343214"/>
                    <a:gd name="connsiteY15" fmla="*/ 214685 h 540689"/>
                    <a:gd name="connsiteX16" fmla="*/ 318053 w 343214"/>
                    <a:gd name="connsiteY16" fmla="*/ 190831 h 540689"/>
                    <a:gd name="connsiteX17" fmla="*/ 333955 w 343214"/>
                    <a:gd name="connsiteY17" fmla="*/ 111318 h 540689"/>
                    <a:gd name="connsiteX18" fmla="*/ 341906 w 343214"/>
                    <a:gd name="connsiteY18" fmla="*/ 87464 h 540689"/>
                    <a:gd name="connsiteX19" fmla="*/ 341906 w 343214"/>
                    <a:gd name="connsiteY19" fmla="*/ 326004 h 54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3214" h="540689" extrusionOk="0">
                      <a:moveTo>
                        <a:pt x="0" y="278296"/>
                      </a:moveTo>
                      <a:cubicBezTo>
                        <a:pt x="4136" y="262691"/>
                        <a:pt x="13585" y="252425"/>
                        <a:pt x="23854" y="238539"/>
                      </a:cubicBezTo>
                      <a:cubicBezTo>
                        <a:pt x="31183" y="230912"/>
                        <a:pt x="32640" y="223118"/>
                        <a:pt x="39757" y="214685"/>
                      </a:cubicBezTo>
                      <a:cubicBezTo>
                        <a:pt x="59334" y="177783"/>
                        <a:pt x="63783" y="167033"/>
                        <a:pt x="79513" y="127221"/>
                      </a:cubicBezTo>
                      <a:cubicBezTo>
                        <a:pt x="78715" y="116276"/>
                        <a:pt x="87839" y="71410"/>
                        <a:pt x="95416" y="55659"/>
                      </a:cubicBezTo>
                      <a:cubicBezTo>
                        <a:pt x="111146" y="36582"/>
                        <a:pt x="123257" y="15804"/>
                        <a:pt x="135173" y="0"/>
                      </a:cubicBezTo>
                      <a:cubicBezTo>
                        <a:pt x="102433" y="131415"/>
                        <a:pt x="110121" y="-90048"/>
                        <a:pt x="159026" y="286247"/>
                      </a:cubicBezTo>
                      <a:cubicBezTo>
                        <a:pt x="160673" y="301439"/>
                        <a:pt x="167219" y="321919"/>
                        <a:pt x="174929" y="333955"/>
                      </a:cubicBezTo>
                      <a:cubicBezTo>
                        <a:pt x="178746" y="344801"/>
                        <a:pt x="181162" y="355382"/>
                        <a:pt x="182880" y="365760"/>
                      </a:cubicBezTo>
                      <a:cubicBezTo>
                        <a:pt x="182147" y="399669"/>
                        <a:pt x="195018" y="441325"/>
                        <a:pt x="190832" y="469127"/>
                      </a:cubicBezTo>
                      <a:cubicBezTo>
                        <a:pt x="193660" y="488503"/>
                        <a:pt x="202585" y="527585"/>
                        <a:pt x="206734" y="540689"/>
                      </a:cubicBezTo>
                      <a:cubicBezTo>
                        <a:pt x="214598" y="526084"/>
                        <a:pt x="218635" y="506820"/>
                        <a:pt x="222637" y="485030"/>
                      </a:cubicBezTo>
                      <a:cubicBezTo>
                        <a:pt x="234683" y="460181"/>
                        <a:pt x="245806" y="436837"/>
                        <a:pt x="254442" y="421419"/>
                      </a:cubicBezTo>
                      <a:cubicBezTo>
                        <a:pt x="258037" y="408852"/>
                        <a:pt x="262598" y="393227"/>
                        <a:pt x="270345" y="381663"/>
                      </a:cubicBezTo>
                      <a:cubicBezTo>
                        <a:pt x="279787" y="322101"/>
                        <a:pt x="276342" y="335895"/>
                        <a:pt x="294199" y="270344"/>
                      </a:cubicBezTo>
                      <a:cubicBezTo>
                        <a:pt x="299475" y="247584"/>
                        <a:pt x="302380" y="234437"/>
                        <a:pt x="310101" y="214685"/>
                      </a:cubicBezTo>
                      <a:cubicBezTo>
                        <a:pt x="312005" y="207558"/>
                        <a:pt x="318008" y="200365"/>
                        <a:pt x="318053" y="190831"/>
                      </a:cubicBezTo>
                      <a:cubicBezTo>
                        <a:pt x="323898" y="170035"/>
                        <a:pt x="326753" y="136162"/>
                        <a:pt x="333955" y="111318"/>
                      </a:cubicBezTo>
                      <a:cubicBezTo>
                        <a:pt x="335799" y="104646"/>
                        <a:pt x="341210" y="79109"/>
                        <a:pt x="341906" y="87464"/>
                      </a:cubicBezTo>
                      <a:cubicBezTo>
                        <a:pt x="347584" y="172339"/>
                        <a:pt x="333522" y="250912"/>
                        <a:pt x="341906" y="326004"/>
                      </a:cubicBezTo>
                    </a:path>
                  </a:pathLst>
                </a:custGeom>
                <ask:type>
                  <ask:lineSketchNone/>
                </ask:type>
              </ask:lineSketchStyleProps>
            </a:ext>
          </a:extLst>
        </a:ln>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670CDE65625E449B41BBE9E2A9D6E5A" ma:contentTypeVersion="14" ma:contentTypeDescription="Create a new document." ma:contentTypeScope="" ma:versionID="8b6d79dcc5f754c7cfb59536e3674b4c">
  <xsd:schema xmlns:xsd="http://www.w3.org/2001/XMLSchema" xmlns:xs="http://www.w3.org/2001/XMLSchema" xmlns:p="http://schemas.microsoft.com/office/2006/metadata/properties" xmlns:ns2="46ade7e5-a61b-41ef-8b65-1672892065de" xmlns:ns3="6fd99b86-a2da-47ef-ab26-55e7009dfe6e" targetNamespace="http://schemas.microsoft.com/office/2006/metadata/properties" ma:root="true" ma:fieldsID="64eb71bd406154cbfd68acd3ef293514" ns2:_="" ns3:_="">
    <xsd:import namespace="46ade7e5-a61b-41ef-8b65-1672892065de"/>
    <xsd:import namespace="6fd99b86-a2da-47ef-ab26-55e7009dfe6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Topic"/>
                <xsd:element ref="ns2:DocumentType"/>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PageReferenc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ade7e5-a61b-41ef-8b65-1672892065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Topic" ma:index="12" ma:displayName="Topic" ma:format="Dropdown" ma:internalName="Topic">
      <xsd:simpleType>
        <xsd:restriction base="dms:Choice">
          <xsd:enumeration value="Animal Research"/>
          <xsd:enumeration value="Artificial Intelligence (AI)"/>
          <xsd:enumeration value="Budget"/>
          <xsd:enumeration value="Cannabis"/>
          <xsd:enumeration value="Centers"/>
          <xsd:enumeration value="Clinical Trials"/>
          <xsd:enumeration value="Community Care"/>
          <xsd:enumeration value="Congress"/>
          <xsd:enumeration value="COVID"/>
          <xsd:enumeration value="Enterprise Transformation"/>
          <xsd:enumeration value="General ORD"/>
          <xsd:enumeration value="Mental Health"/>
          <xsd:enumeration value="Mortality Data"/>
          <xsd:enumeration value="MVP"/>
          <xsd:enumeration value="NRAC"/>
          <xsd:enumeration value="Precision Oncology"/>
          <xsd:enumeration value="Psychedelics"/>
          <xsd:enumeration value="Rural Health"/>
          <xsd:enumeration value="Spinal Cord Injury (SCI)"/>
          <xsd:enumeration value="Suicide Prevention"/>
          <xsd:enumeration value="Traumatic Brain Injury (TBI)"/>
          <xsd:enumeration value="Technology Transfer Program"/>
          <xsd:enumeration value="Toxic Exposure - MERP"/>
          <xsd:enumeration value="VA Secretary"/>
          <xsd:enumeration value="VHA USH"/>
          <xsd:enumeration value="Women’s Health – Maternity and Infertility"/>
        </xsd:restriction>
      </xsd:simpleType>
    </xsd:element>
    <xsd:element name="DocumentType" ma:index="13" ma:displayName="Document Type" ma:format="Dropdown" ma:internalName="DocumentType">
      <xsd:simpleType>
        <xsd:restriction base="dms:Choice">
          <xsd:enumeration value="Briefing Papers - Congress"/>
          <xsd:enumeration value="Briefing Papers - VA-VHA"/>
          <xsd:enumeration value="Briefing Papers - Other"/>
          <xsd:enumeration value="Budget Justification"/>
          <xsd:enumeration value="GAO"/>
          <xsd:enumeration value="Mandated Congressional Reports"/>
          <xsd:enumeration value="News Articles"/>
          <xsd:enumeration value="Press Releases"/>
          <xsd:enumeration value="Publications-Studies"/>
          <xsd:enumeration value="RFA"/>
          <xsd:enumeration value="RFI - Congress"/>
          <xsd:enumeration value="Slide Presentations"/>
          <xsd:enumeration value="Talking Points - Congress"/>
          <xsd:enumeration value="Testimony - Congress Speeches"/>
          <xsd:enumeration value="Talking Points - VA-VHA"/>
          <xsd:enumeration value="Talking Points - Other"/>
          <xsd:enumeration value="Other-Misc Documents"/>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f0ac6538-d41a-4f9a-bd67-5f7ae81a6d74"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PageReference" ma:index="21" nillable="true" ma:displayName="Page Reference" ma:description="provide a page reference for longer documents" ma:format="Dropdown" ma:internalName="PageReferenc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fd99b86-a2da-47ef-ab26-55e7009dfe6e"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736d572-348b-4845-bc48-0c7ae7dc85c2}" ma:internalName="TaxCatchAll" ma:showField="CatchAllData" ma:web="6fd99b86-a2da-47ef-ab26-55e7009dfe6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6fd99b86-a2da-47ef-ab26-55e7009dfe6e" xsi:nil="true"/>
    <lcf76f155ced4ddcb4097134ff3c332f xmlns="46ade7e5-a61b-41ef-8b65-1672892065de">
      <Terms xmlns="http://schemas.microsoft.com/office/infopath/2007/PartnerControls"/>
    </lcf76f155ced4ddcb4097134ff3c332f>
    <DocumentType xmlns="46ade7e5-a61b-41ef-8b65-1672892065de">Presentations and Other Documents</DocumentType>
    <Topic xmlns="46ade7e5-a61b-41ef-8b65-1672892065de">Toxic Exposure - MERP</Topic>
    <PageReference xmlns="46ade7e5-a61b-41ef-8b65-1672892065d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D36C2E5-8EF1-4A09-AECE-A51B7325CED6}"/>
</file>

<file path=customXml/itemProps2.xml><?xml version="1.0" encoding="utf-8"?>
<ds:datastoreItem xmlns:ds="http://schemas.openxmlformats.org/officeDocument/2006/customXml" ds:itemID="{F7E291F7-E2C5-4795-B483-46E11CE830AC}">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f86a40a2-0666-44e4-a690-13c7fceb6e4f"/>
    <ds:schemaRef ds:uri="http://schemas.microsoft.com/sharepoint/v3"/>
    <ds:schemaRef ds:uri="6642d1a9-ebb9-407d-afff-6770473e06d7"/>
    <ds:schemaRef ds:uri="http://www.w3.org/XML/1998/namespace"/>
    <ds:schemaRef ds:uri="http://purl.org/dc/dcmitype/"/>
  </ds:schemaRefs>
</ds:datastoreItem>
</file>

<file path=customXml/itemProps3.xml><?xml version="1.0" encoding="utf-8"?>
<ds:datastoreItem xmlns:ds="http://schemas.openxmlformats.org/officeDocument/2006/customXml" ds:itemID="{50322C62-54B8-4944-9E3F-B31BD4F82084}">
  <ds:schemaRefs>
    <ds:schemaRef ds:uri="http://schemas.microsoft.com/sharepoint/v3/contenttype/forms"/>
  </ds:schemaRefs>
</ds:datastoreItem>
</file>

<file path=docMetadata/LabelInfo.xml><?xml version="1.0" encoding="utf-8"?>
<clbl:labelList xmlns:clbl="http://schemas.microsoft.com/office/2020/mipLabelMetadata">
  <clbl:label id="{e95f1b23-abaf-45ee-821d-b7ab251ab3bf}" enabled="0" method="" siteId="{e95f1b23-abaf-45ee-821d-b7ab251ab3bf}" removed="1"/>
</clbl:labelList>
</file>

<file path=docProps/app.xml><?xml version="1.0" encoding="utf-8"?>
<Properties xmlns="http://schemas.openxmlformats.org/officeDocument/2006/extended-properties" xmlns:vt="http://schemas.openxmlformats.org/officeDocument/2006/docPropsVTypes">
  <Template>office theme</Template>
  <TotalTime>3170</TotalTime>
  <Words>1847</Words>
  <Application>Microsoft Office PowerPoint</Application>
  <PresentationFormat>Widescreen</PresentationFormat>
  <Paragraphs>253</Paragraphs>
  <Slides>25</Slides>
  <Notes>13</Notes>
  <HiddenSlides>0</HiddenSlides>
  <MMClips>0</MMClips>
  <ScaleCrop>false</ScaleCrop>
  <HeadingPairs>
    <vt:vector size="8" baseType="variant">
      <vt:variant>
        <vt:lpstr>Fonts Used</vt:lpstr>
      </vt:variant>
      <vt:variant>
        <vt:i4>5</vt:i4>
      </vt:variant>
      <vt:variant>
        <vt:lpstr>Theme</vt:lpstr>
      </vt:variant>
      <vt:variant>
        <vt:i4>4</vt:i4>
      </vt:variant>
      <vt:variant>
        <vt:lpstr>Embedded OLE Servers</vt:lpstr>
      </vt:variant>
      <vt:variant>
        <vt:i4>1</vt:i4>
      </vt:variant>
      <vt:variant>
        <vt:lpstr>Slide Titles</vt:lpstr>
      </vt:variant>
      <vt:variant>
        <vt:i4>25</vt:i4>
      </vt:variant>
    </vt:vector>
  </HeadingPairs>
  <TitlesOfParts>
    <vt:vector size="35" baseType="lpstr">
      <vt:lpstr>Arial</vt:lpstr>
      <vt:lpstr>Calibri</vt:lpstr>
      <vt:lpstr>Source Sans Pro</vt:lpstr>
      <vt:lpstr>Symbol</vt:lpstr>
      <vt:lpstr>Wingdings</vt:lpstr>
      <vt:lpstr>VAIRRS Main Slides</vt:lpstr>
      <vt:lpstr>1_VAIRRS Main Slides</vt:lpstr>
      <vt:lpstr>42_Office Theme</vt:lpstr>
      <vt:lpstr>40_Office Theme</vt:lpstr>
      <vt:lpstr>think-cell Slide</vt:lpstr>
      <vt:lpstr>Military Exposures Research Program  Rudolph Johnson, Ph.D. 12 September 2024 </vt:lpstr>
      <vt:lpstr>PowerPoint Presentation</vt:lpstr>
      <vt:lpstr>PACT Act</vt:lpstr>
      <vt:lpstr>PACT Act (1 of 2) </vt:lpstr>
      <vt:lpstr>PACT Act (2 of 2) </vt:lpstr>
      <vt:lpstr>PowerPoint Presentation</vt:lpstr>
      <vt:lpstr>Military Exposures and Research Program</vt:lpstr>
      <vt:lpstr>PowerPoint Presentation</vt:lpstr>
      <vt:lpstr>MERP – Building Nexus (2 of 3)</vt:lpstr>
      <vt:lpstr>PowerPoint Presentation</vt:lpstr>
      <vt:lpstr>Actively Managed Portfolio (AMP) Approach</vt:lpstr>
      <vt:lpstr>Military Exposures Research Program</vt:lpstr>
      <vt:lpstr>PowerPoint Presentation</vt:lpstr>
      <vt:lpstr>PowerPoint Presentation</vt:lpstr>
      <vt:lpstr>MERP Cores</vt:lpstr>
      <vt:lpstr>PowerPoint Presentation</vt:lpstr>
      <vt:lpstr>MERP Opportunities</vt:lpstr>
      <vt:lpstr>PowerPoint Presentation</vt:lpstr>
      <vt:lpstr>PowerPoint Presentation</vt:lpstr>
      <vt:lpstr>PowerPoint Presentation</vt:lpstr>
      <vt:lpstr>PowerPoint Presentation</vt:lpstr>
      <vt:lpstr>PowerPoint Presentation</vt:lpstr>
      <vt:lpstr>MERP Contact</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JOHNSON PP PRESENTATION--9-12-24--VISN 8 POLYTRAUMA CONFERENCE MERP</dc:title>
  <dc:creator>Michael Tipsword</dc:creator>
  <cp:lastModifiedBy>Johnson, Rudolph C.</cp:lastModifiedBy>
  <cp:revision>438</cp:revision>
  <dcterms:created xsi:type="dcterms:W3CDTF">2023-05-16T19:51:16Z</dcterms:created>
  <dcterms:modified xsi:type="dcterms:W3CDTF">2024-08-07T15:40:23Z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0x010100F670CDE65625E449B41BBE9E2A9D6E5A</vt:lpwstr>
  </property>
  <property fmtid="{D5CDD505-2E9C-101B-9397-08002B2CF9AE}" pid="3" name="MediaServiceImageTags">
    <vt:lpwstr/>
  </property>
</Properties>
</file>