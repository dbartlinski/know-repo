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28.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40.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notesSlides/notesSlide4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705" r:id="rId4"/>
  </p:sldMasterIdLst>
  <p:notesMasterIdLst>
    <p:notesMasterId r:id="rId70"/>
  </p:notesMasterIdLst>
  <p:sldIdLst>
    <p:sldId id="2134806269" r:id="rId5"/>
    <p:sldId id="2134806270" r:id="rId6"/>
    <p:sldId id="2134806271" r:id="rId7"/>
    <p:sldId id="2134806235" r:id="rId8"/>
    <p:sldId id="2134806236" r:id="rId9"/>
    <p:sldId id="2134806237" r:id="rId10"/>
    <p:sldId id="2134806238" r:id="rId11"/>
    <p:sldId id="2134806239" r:id="rId12"/>
    <p:sldId id="2134806272" r:id="rId13"/>
    <p:sldId id="2134806228" r:id="rId14"/>
    <p:sldId id="2134806229" r:id="rId15"/>
    <p:sldId id="2134806230" r:id="rId16"/>
    <p:sldId id="2134806231" r:id="rId17"/>
    <p:sldId id="2134806232" r:id="rId18"/>
    <p:sldId id="2134806233" r:id="rId19"/>
    <p:sldId id="2134806273" r:id="rId20"/>
    <p:sldId id="2134806274" r:id="rId21"/>
    <p:sldId id="2134806275" r:id="rId22"/>
    <p:sldId id="2134806276" r:id="rId23"/>
    <p:sldId id="2134806277" r:id="rId24"/>
    <p:sldId id="2134806278" r:id="rId25"/>
    <p:sldId id="2134806246" r:id="rId26"/>
    <p:sldId id="2134806247" r:id="rId27"/>
    <p:sldId id="2134806222" r:id="rId28"/>
    <p:sldId id="838841002" r:id="rId29"/>
    <p:sldId id="2134806226" r:id="rId30"/>
    <p:sldId id="2134806219" r:id="rId31"/>
    <p:sldId id="2134806225" r:id="rId32"/>
    <p:sldId id="2134806220" r:id="rId33"/>
    <p:sldId id="2134806227" r:id="rId34"/>
    <p:sldId id="2134806267" r:id="rId35"/>
    <p:sldId id="2134806221" r:id="rId36"/>
    <p:sldId id="2134806268" r:id="rId37"/>
    <p:sldId id="2134806241" r:id="rId38"/>
    <p:sldId id="2134806264" r:id="rId39"/>
    <p:sldId id="2134806265" r:id="rId40"/>
    <p:sldId id="2134806266" r:id="rId41"/>
    <p:sldId id="2134806243" r:id="rId42"/>
    <p:sldId id="2134806253" r:id="rId43"/>
    <p:sldId id="2134806254" r:id="rId44"/>
    <p:sldId id="2134806255" r:id="rId45"/>
    <p:sldId id="2134806224" r:id="rId46"/>
    <p:sldId id="2134806256" r:id="rId47"/>
    <p:sldId id="2134806240" r:id="rId48"/>
    <p:sldId id="838840715" r:id="rId49"/>
    <p:sldId id="838840735" r:id="rId50"/>
    <p:sldId id="2134806234" r:id="rId51"/>
    <p:sldId id="2134806242" r:id="rId52"/>
    <p:sldId id="2134806280" r:id="rId53"/>
    <p:sldId id="2134806281" r:id="rId54"/>
    <p:sldId id="2134806282" r:id="rId55"/>
    <p:sldId id="2134806248" r:id="rId56"/>
    <p:sldId id="838840718" r:id="rId57"/>
    <p:sldId id="2134806188" r:id="rId58"/>
    <p:sldId id="2134806223" r:id="rId59"/>
    <p:sldId id="2134806056" r:id="rId60"/>
    <p:sldId id="2134806086" r:id="rId61"/>
    <p:sldId id="2134806245" r:id="rId62"/>
    <p:sldId id="2134806251" r:id="rId63"/>
    <p:sldId id="838840747" r:id="rId64"/>
    <p:sldId id="838840758" r:id="rId65"/>
    <p:sldId id="2134806252" r:id="rId66"/>
    <p:sldId id="838840770" r:id="rId67"/>
    <p:sldId id="2134806258" r:id="rId68"/>
    <p:sldId id="2134806257" r:id="rId6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F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1F46C2-A80E-4870-8A2D-8BAED19E1DFB}" v="2" dt="2022-08-19T15:09:55.875"/>
    <p1510:client id="{C7B38AB0-0A94-66BF-6829-77B1A555D574}" v="2" dt="2022-09-01T21:10:19.8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577" autoAdjust="0"/>
    <p:restoredTop sz="67568" autoAdjust="0"/>
  </p:normalViewPr>
  <p:slideViewPr>
    <p:cSldViewPr snapToGrid="0">
      <p:cViewPr varScale="1">
        <p:scale>
          <a:sx n="42" d="100"/>
          <a:sy n="42" d="100"/>
        </p:scale>
        <p:origin x="1312"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slide" Target="slides/slide64.xml"/><Relationship Id="rId76" Type="http://schemas.microsoft.com/office/2015/10/relationships/revisionInfo" Target="revisionInfo.xml"/><Relationship Id="rId7" Type="http://schemas.openxmlformats.org/officeDocument/2006/relationships/slide" Target="slides/slide3.xml"/><Relationship Id="rId71"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61" Type="http://schemas.openxmlformats.org/officeDocument/2006/relationships/slide" Target="slides/slide57.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BC1C83-F8CF-46CE-B6C2-69C9C5AE2D0B}" type="datetimeFigureOut">
              <a:rPr lang="en-US" smtClean="0"/>
              <a:t>10/11/2022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A44EB1-6611-4A48-BE2D-B5989E7E7C75}" type="slidenum">
              <a:rPr lang="en-US" smtClean="0"/>
              <a:t>‹#›</a:t>
            </a:fld>
            <a:endParaRPr lang="en-US"/>
          </a:p>
        </p:txBody>
      </p:sp>
    </p:spTree>
    <p:extLst>
      <p:ext uri="{BB962C8B-B14F-4D97-AF65-F5344CB8AC3E}">
        <p14:creationId xmlns:p14="http://schemas.microsoft.com/office/powerpoint/2010/main" val="2487473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Rachel to Present</a:t>
            </a:r>
          </a:p>
          <a:p>
            <a:endParaRPr lang="en-US" i="1" dirty="0"/>
          </a:p>
          <a:p>
            <a:pPr marL="171450" indent="-171450">
              <a:buFont typeface="Arial" panose="020B0604020202020204" pitchFamily="34" charset="0"/>
              <a:buChar char="•"/>
            </a:pPr>
            <a:r>
              <a:rPr lang="en-US" i="0" dirty="0"/>
              <a:t>Good afternoon and welcome to the first session of the Research Enterprise Report-Out Sessions</a:t>
            </a:r>
          </a:p>
          <a:p>
            <a:pPr marL="171450" indent="-171450">
              <a:buFont typeface="Arial" panose="020B0604020202020204" pitchFamily="34" charset="0"/>
              <a:buChar char="•"/>
            </a:pPr>
            <a:r>
              <a:rPr lang="en-US" i="0" dirty="0"/>
              <a:t>Today, we will be reviewing the progress and next steps of each of the initiatives we launched last year as part of the Research Enterprise Transformation. </a:t>
            </a:r>
          </a:p>
          <a:p>
            <a:pPr marL="171450" indent="-171450">
              <a:buFont typeface="Arial" panose="020B0604020202020204" pitchFamily="34" charset="0"/>
              <a:buChar char="•"/>
            </a:pPr>
            <a:r>
              <a:rPr lang="en-US" i="0" dirty="0"/>
              <a:t>These meetings will help ORD Leadership determine the next steps and future of the broader Research Enterprise Transformation. </a:t>
            </a:r>
          </a:p>
          <a:p>
            <a:pPr marL="171450" indent="-171450">
              <a:buFont typeface="Arial" panose="020B0604020202020204" pitchFamily="34" charset="0"/>
              <a:buChar char="•"/>
            </a:pPr>
            <a:r>
              <a:rPr lang="en-US" b="1" i="0" dirty="0"/>
              <a:t>[Rachel to share any other applicable thoughts or recommendations regarding these meetings]</a:t>
            </a:r>
          </a:p>
        </p:txBody>
      </p:sp>
      <p:sp>
        <p:nvSpPr>
          <p:cNvPr id="4" name="Slide Number Placeholder 3"/>
          <p:cNvSpPr>
            <a:spLocks noGrp="1"/>
          </p:cNvSpPr>
          <p:nvPr>
            <p:ph type="sldNum" sz="quarter" idx="5"/>
          </p:nvPr>
        </p:nvSpPr>
        <p:spPr/>
        <p:txBody>
          <a:bodyPr/>
          <a:lstStyle/>
          <a:p>
            <a:fld id="{98A44EB1-6611-4A48-BE2D-B5989E7E7C75}" type="slidenum">
              <a:rPr lang="en-US" smtClean="0"/>
              <a:t>1</a:t>
            </a:fld>
            <a:endParaRPr lang="en-US"/>
          </a:p>
        </p:txBody>
      </p:sp>
    </p:spTree>
    <p:extLst>
      <p:ext uri="{BB962C8B-B14F-4D97-AF65-F5344CB8AC3E}">
        <p14:creationId xmlns:p14="http://schemas.microsoft.com/office/powerpoint/2010/main" val="17774217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i="1" dirty="0"/>
              <a:t>Rachel to Present</a:t>
            </a:r>
          </a:p>
          <a:p>
            <a:endParaRPr lang="en-US" sz="1800" dirty="0">
              <a:solidFill>
                <a:srgbClr val="000000"/>
              </a:solidFill>
              <a:effectLst/>
              <a:latin typeface="Calibri" panose="020F0502020204030204" pitchFamily="34" charset="0"/>
              <a:ea typeface="Times New Roman" panose="02020603050405020304" pitchFamily="18" charset="0"/>
            </a:endParaRPr>
          </a:p>
          <a:p>
            <a:pPr marL="285750" indent="-285750">
              <a:buFont typeface="Arial" panose="020B0604020202020204" pitchFamily="34" charset="0"/>
              <a:buChar char="•"/>
            </a:pPr>
            <a:r>
              <a:rPr lang="en-US" sz="1800" dirty="0">
                <a:solidFill>
                  <a:srgbClr val="000000"/>
                </a:solidFill>
                <a:effectLst/>
                <a:latin typeface="Calibri" panose="020F0502020204030204" pitchFamily="34" charset="0"/>
                <a:ea typeface="Times New Roman" panose="02020603050405020304" pitchFamily="18" charset="0"/>
              </a:rPr>
              <a:t>During the first session, myself, Chris, and Wendy will present on the initiative that each of us sponsor. </a:t>
            </a:r>
          </a:p>
          <a:p>
            <a:pPr marL="285750" indent="-285750">
              <a:buFont typeface="Arial" panose="020B0604020202020204" pitchFamily="34" charset="0"/>
              <a:buChar char="•"/>
            </a:pPr>
            <a:r>
              <a:rPr lang="en-US" sz="1800" dirty="0">
                <a:solidFill>
                  <a:srgbClr val="000000"/>
                </a:solidFill>
                <a:effectLst/>
                <a:latin typeface="Calibri" panose="020F0502020204030204" pitchFamily="34" charset="0"/>
                <a:ea typeface="Times New Roman" panose="02020603050405020304" pitchFamily="18" charset="0"/>
              </a:rPr>
              <a:t>During the second session, Grant and Molly will present on their initiatives. </a:t>
            </a:r>
          </a:p>
          <a:p>
            <a:pPr marL="285750" indent="-285750">
              <a:buFont typeface="Arial" panose="020B0604020202020204" pitchFamily="34" charset="0"/>
              <a:buChar char="•"/>
            </a:pPr>
            <a:r>
              <a:rPr lang="en-US" sz="1800" dirty="0">
                <a:solidFill>
                  <a:srgbClr val="000000"/>
                </a:solidFill>
                <a:effectLst/>
                <a:latin typeface="Calibri" panose="020F0502020204030204" pitchFamily="34" charset="0"/>
                <a:ea typeface="Times New Roman" panose="02020603050405020304" pitchFamily="18" charset="0"/>
              </a:rPr>
              <a:t>I will start out by presenting on the Organizational Alignment initiative.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87C5501-5A46-42AC-BFBE-2D1EBB5177F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080133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35E6A-F08E-4F1B-9A48-61657B91EA9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486940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6E0020C-34B3-4644-B138-3A9503ECB28E}" type="slidenum">
              <a:rPr kumimoji="0" lang="en-US" sz="13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3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319396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35E6A-F08E-4F1B-9A48-61657B91EA9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321768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46E0020C-34B3-4644-B138-3A9503ECB28E}" type="slidenum">
              <a:rPr lang="en-US" smtClean="0"/>
              <a:pPr/>
              <a:t>10</a:t>
            </a:fld>
            <a:endParaRPr lang="en-US"/>
          </a:p>
        </p:txBody>
      </p:sp>
    </p:spTree>
    <p:extLst>
      <p:ext uri="{BB962C8B-B14F-4D97-AF65-F5344CB8AC3E}">
        <p14:creationId xmlns:p14="http://schemas.microsoft.com/office/powerpoint/2010/main" val="21756560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46E0020C-34B3-4644-B138-3A9503ECB28E}" type="slidenum">
              <a:rPr lang="en-US" smtClean="0"/>
              <a:pPr/>
              <a:t>11</a:t>
            </a:fld>
            <a:endParaRPr lang="en-US"/>
          </a:p>
        </p:txBody>
      </p:sp>
    </p:spTree>
    <p:extLst>
      <p:ext uri="{BB962C8B-B14F-4D97-AF65-F5344CB8AC3E}">
        <p14:creationId xmlns:p14="http://schemas.microsoft.com/office/powerpoint/2010/main" val="29020342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46E0020C-34B3-4644-B138-3A9503ECB28E}" type="slidenum">
              <a:rPr lang="en-US" smtClean="0"/>
              <a:pPr/>
              <a:t>12</a:t>
            </a:fld>
            <a:endParaRPr lang="en-US"/>
          </a:p>
        </p:txBody>
      </p:sp>
    </p:spTree>
    <p:extLst>
      <p:ext uri="{BB962C8B-B14F-4D97-AF65-F5344CB8AC3E}">
        <p14:creationId xmlns:p14="http://schemas.microsoft.com/office/powerpoint/2010/main" val="13787171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46E0020C-34B3-4644-B138-3A9503ECB28E}" type="slidenum">
              <a:rPr lang="en-US" smtClean="0"/>
              <a:pPr/>
              <a:t>13</a:t>
            </a:fld>
            <a:endParaRPr lang="en-US"/>
          </a:p>
        </p:txBody>
      </p:sp>
    </p:spTree>
    <p:extLst>
      <p:ext uri="{BB962C8B-B14F-4D97-AF65-F5344CB8AC3E}">
        <p14:creationId xmlns:p14="http://schemas.microsoft.com/office/powerpoint/2010/main" val="17104063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46E0020C-34B3-4644-B138-3A9503ECB28E}" type="slidenum">
              <a:rPr lang="en-US" smtClean="0"/>
              <a:pPr/>
              <a:t>14</a:t>
            </a:fld>
            <a:endParaRPr lang="en-US"/>
          </a:p>
        </p:txBody>
      </p:sp>
    </p:spTree>
    <p:extLst>
      <p:ext uri="{BB962C8B-B14F-4D97-AF65-F5344CB8AC3E}">
        <p14:creationId xmlns:p14="http://schemas.microsoft.com/office/powerpoint/2010/main" val="6437568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46E0020C-34B3-4644-B138-3A9503ECB28E}" type="slidenum">
              <a:rPr lang="en-US" smtClean="0"/>
              <a:pPr/>
              <a:t>15</a:t>
            </a:fld>
            <a:endParaRPr lang="en-US"/>
          </a:p>
        </p:txBody>
      </p:sp>
    </p:spTree>
    <p:extLst>
      <p:ext uri="{BB962C8B-B14F-4D97-AF65-F5344CB8AC3E}">
        <p14:creationId xmlns:p14="http://schemas.microsoft.com/office/powerpoint/2010/main" val="38335947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35E6A-F08E-4F1B-9A48-61657B91EA9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537170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Notes: </a:t>
            </a:r>
            <a:r>
              <a:rPr lang="en-US" sz="1200" dirty="0">
                <a:solidFill>
                  <a:schemeClr val="bg1"/>
                </a:solidFill>
              </a:rPr>
              <a:t>The table shows the outputs that have been developed, delivered and rescheduled as a part of Initiative Objectives until July, 2022. The tasks pertaining to Objectives 3 &amp; 4 regarding reallocation criteria and processes have gone through initial phase of development (May-July) but were rescheduled to be further developed in FY 23 to maintain priority on trainings and best practices that were determined as a critical foundational steps to enable further changes.</a:t>
            </a:r>
            <a:endParaRPr lang="en-US" dirty="0">
              <a:solidFill>
                <a:schemeClr val="bg1"/>
              </a:solidFill>
            </a:endParaRP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6E0020C-34B3-4644-B138-3A9503ECB28E}" type="slidenum">
              <a:rPr kumimoji="0" lang="en-US" sz="13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3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5466577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rPr>
              <a:t>Trainings, best practice documentation and communications have been the primary focus in FY 22 as the initiative team has determined that the field staff need to be empowered with knowledge on policies, procedures, systems and tools through foundational trainings prior to developing and implementing the complex tools of reallocation. So, the tasks pertaining to Obj 3&amp;4 have been rescheduled for further development and testing in FY 23 to maximize the impact.</a:t>
            </a:r>
            <a:endParaRPr lang="en-US" dirty="0">
              <a:solidFill>
                <a:schemeClr val="bg1"/>
              </a:solidFill>
            </a:endParaRP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6E0020C-34B3-4644-B138-3A9503ECB28E}" type="slidenum">
              <a:rPr kumimoji="0" lang="en-US" sz="13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3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9360420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rPr>
              <a:t>The next steps for remainder of FY 22 include continuation of trainings, building best practice documentation with initiative team and communicating these resources to the field. One of important steps include drafting a policy on 4% Carry over based on the memo from PY to increase compliance to obligation of funds by the field by end of FY. To prepare for FY23, initiative team has begun working on developing and strategically prioritizing objectives based on field feedback through survey and initiative team insights for FY 23.</a:t>
            </a:r>
            <a:endParaRPr lang="en-US" dirty="0">
              <a:solidFill>
                <a:schemeClr val="bg1"/>
              </a:solidFill>
            </a:endParaRP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6E0020C-34B3-4644-B138-3A9503ECB28E}" type="slidenum">
              <a:rPr kumimoji="0" lang="en-US" sz="13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3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3592014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35E6A-F08E-4F1B-9A48-61657B91EA9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056606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0" i="0" strike="noStrike">
                <a:solidFill>
                  <a:schemeClr val="tx1"/>
                </a:solidFill>
              </a:rPr>
              <a:t>STEAM developed objectives:</a:t>
            </a:r>
          </a:p>
          <a:p>
            <a:pPr marL="285750" indent="-285750">
              <a:buFont typeface="Arial" panose="020B0604020202020204" pitchFamily="34" charset="0"/>
              <a:buChar char="•"/>
            </a:pPr>
            <a:r>
              <a:rPr lang="en-US" b="1" i="0" strike="noStrike">
                <a:solidFill>
                  <a:schemeClr val="tx1"/>
                </a:solidFill>
              </a:rPr>
              <a:t>Increase access</a:t>
            </a:r>
            <a:r>
              <a:rPr lang="en-US" b="0" i="0" strike="noStrike">
                <a:solidFill>
                  <a:schemeClr val="tx1"/>
                </a:solidFill>
              </a:rPr>
              <a:t> to leadership and team development training</a:t>
            </a:r>
          </a:p>
          <a:p>
            <a:pPr marL="285750" indent="-285750">
              <a:buFont typeface="Arial" panose="020B0604020202020204" pitchFamily="34" charset="0"/>
              <a:buChar char="•"/>
            </a:pPr>
            <a:r>
              <a:rPr lang="en-US" b="1" i="0" strike="noStrike">
                <a:solidFill>
                  <a:schemeClr val="tx1"/>
                </a:solidFill>
              </a:rPr>
              <a:t>Build skill development </a:t>
            </a:r>
            <a:r>
              <a:rPr lang="en-US" b="0" i="0" strike="noStrike">
                <a:solidFill>
                  <a:schemeClr val="tx1"/>
                </a:solidFill>
              </a:rPr>
              <a:t>around:</a:t>
            </a:r>
          </a:p>
          <a:p>
            <a:pPr marL="1200150" lvl="2" indent="-285750">
              <a:buFont typeface="Arial" panose="020B0604020202020204" pitchFamily="34" charset="0"/>
              <a:buChar char="•"/>
            </a:pPr>
            <a:r>
              <a:rPr lang="en-US" b="0" i="0" strike="noStrike">
                <a:solidFill>
                  <a:schemeClr val="tx1"/>
                </a:solidFill>
              </a:rPr>
              <a:t>Leadership</a:t>
            </a:r>
          </a:p>
          <a:p>
            <a:pPr marL="1200150" lvl="2" indent="-285750">
              <a:buFont typeface="Arial" panose="020B0604020202020204" pitchFamily="34" charset="0"/>
              <a:buChar char="•"/>
            </a:pPr>
            <a:r>
              <a:rPr lang="en-US" b="0" i="0" strike="noStrike">
                <a:solidFill>
                  <a:schemeClr val="tx1"/>
                </a:solidFill>
              </a:rPr>
              <a:t>Communication</a:t>
            </a:r>
          </a:p>
          <a:p>
            <a:pPr marL="1200150" lvl="2" indent="-285750">
              <a:buFont typeface="Arial" panose="020B0604020202020204" pitchFamily="34" charset="0"/>
              <a:buChar char="•"/>
            </a:pPr>
            <a:r>
              <a:rPr lang="en-US" b="0" i="0" strike="noStrike">
                <a:solidFill>
                  <a:schemeClr val="tx1"/>
                </a:solidFill>
              </a:rPr>
              <a:t>Team Building</a:t>
            </a:r>
          </a:p>
          <a:p>
            <a:pPr marL="1200150" lvl="2" indent="-285750">
              <a:buFont typeface="Arial" panose="020B0604020202020204" pitchFamily="34" charset="0"/>
              <a:buChar char="•"/>
            </a:pPr>
            <a:r>
              <a:rPr lang="en-US" b="0" i="0" strike="noStrike">
                <a:solidFill>
                  <a:schemeClr val="tx1"/>
                </a:solidFill>
              </a:rPr>
              <a:t>Growth</a:t>
            </a:r>
          </a:p>
          <a:p>
            <a:pPr marL="1200150" lvl="2" indent="-285750">
              <a:buFont typeface="Arial" panose="020B0604020202020204" pitchFamily="34" charset="0"/>
              <a:buChar char="•"/>
            </a:pPr>
            <a:r>
              <a:rPr lang="en-US" b="0" i="0" strike="noStrike">
                <a:solidFill>
                  <a:schemeClr val="tx1"/>
                </a:solidFill>
              </a:rPr>
              <a:t>Future of Work</a:t>
            </a:r>
          </a:p>
          <a:p>
            <a:pPr marL="285750" lvl="0" indent="-285750">
              <a:buFont typeface="Arial" panose="020B0604020202020204" pitchFamily="34" charset="0"/>
              <a:buChar char="•"/>
            </a:pPr>
            <a:r>
              <a:rPr lang="en-US" b="0" i="0" strike="noStrike">
                <a:solidFill>
                  <a:schemeClr val="tx1"/>
                </a:solidFill>
              </a:rPr>
              <a:t>Cultivate a staff that feels </a:t>
            </a:r>
            <a:r>
              <a:rPr lang="en-US" b="1" i="0" strike="noStrike">
                <a:solidFill>
                  <a:schemeClr val="tx1"/>
                </a:solidFill>
              </a:rPr>
              <a:t>empowered, valued, and able to apply </a:t>
            </a:r>
            <a:r>
              <a:rPr lang="en-US" b="0" i="0" strike="noStrike">
                <a:solidFill>
                  <a:schemeClr val="tx1"/>
                </a:solidFill>
              </a:rPr>
              <a:t>their enhanced skills</a:t>
            </a: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6E0020C-34B3-4644-B138-3A9503ECB28E}" type="slidenum">
              <a:rPr kumimoji="0" lang="en-US" sz="13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3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1953301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Rachel to Present</a:t>
            </a:r>
          </a:p>
          <a:p>
            <a:endParaRPr lang="en-US" i="1" dirty="0"/>
          </a:p>
          <a:p>
            <a:pPr marL="171450" indent="-171450">
              <a:buFont typeface="Arial" panose="020B0604020202020204" pitchFamily="34" charset="0"/>
              <a:buChar char="•"/>
            </a:pPr>
            <a:r>
              <a:rPr lang="en-US" i="0" dirty="0"/>
              <a:t>Good afternoon and welcome to the second session of the Research Enterprise Report-Out Sessions</a:t>
            </a:r>
          </a:p>
          <a:p>
            <a:pPr marL="171450" indent="-171450">
              <a:buFont typeface="Arial" panose="020B0604020202020204" pitchFamily="34" charset="0"/>
              <a:buChar char="•"/>
            </a:pPr>
            <a:r>
              <a:rPr lang="en-US" i="0" dirty="0"/>
              <a:t>Today, we will be reviewing the progress and next steps of each of the initiatives we launched last year as part of the Research Enterprise Transformation. </a:t>
            </a:r>
          </a:p>
          <a:p>
            <a:pPr marL="171450" indent="-171450">
              <a:buFont typeface="Arial" panose="020B0604020202020204" pitchFamily="34" charset="0"/>
              <a:buChar char="•"/>
            </a:pPr>
            <a:r>
              <a:rPr lang="en-US" i="0" dirty="0"/>
              <a:t>These meetings will help ORD Leadership determine the next steps and future of the broader Research Enterprise Transformation. </a:t>
            </a:r>
          </a:p>
          <a:p>
            <a:pPr marL="171450" indent="-171450">
              <a:buFont typeface="Arial" panose="020B0604020202020204" pitchFamily="34" charset="0"/>
              <a:buChar char="•"/>
            </a:pPr>
            <a:r>
              <a:rPr lang="en-US" b="1" i="0" dirty="0"/>
              <a:t>[Rachel to share any other applicable thoughts or recommendations regarding these meetings]</a:t>
            </a:r>
          </a:p>
        </p:txBody>
      </p:sp>
      <p:sp>
        <p:nvSpPr>
          <p:cNvPr id="4" name="Slide Number Placeholder 3"/>
          <p:cNvSpPr>
            <a:spLocks noGrp="1"/>
          </p:cNvSpPr>
          <p:nvPr>
            <p:ph type="sldNum" sz="quarter" idx="5"/>
          </p:nvPr>
        </p:nvSpPr>
        <p:spPr/>
        <p:txBody>
          <a:bodyPr/>
          <a:lstStyle/>
          <a:p>
            <a:fld id="{98A44EB1-6611-4A48-BE2D-B5989E7E7C75}" type="slidenum">
              <a:rPr lang="en-US" smtClean="0"/>
              <a:t>24</a:t>
            </a:fld>
            <a:endParaRPr lang="en-US"/>
          </a:p>
        </p:txBody>
      </p:sp>
    </p:spTree>
    <p:extLst>
      <p:ext uri="{BB962C8B-B14F-4D97-AF65-F5344CB8AC3E}">
        <p14:creationId xmlns:p14="http://schemas.microsoft.com/office/powerpoint/2010/main" val="17774217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i="1" dirty="0"/>
              <a:t>Rachel to Present</a:t>
            </a:r>
          </a:p>
          <a:p>
            <a:endParaRPr lang="en-US" sz="1800" dirty="0">
              <a:solidFill>
                <a:srgbClr val="000000"/>
              </a:solidFill>
              <a:effectLst/>
              <a:latin typeface="Calibri" panose="020F0502020204030204" pitchFamily="34" charset="0"/>
              <a:ea typeface="Times New Roman" panose="02020603050405020304" pitchFamily="18" charset="0"/>
            </a:endParaRPr>
          </a:p>
          <a:p>
            <a:pPr marL="285750" indent="-285750">
              <a:buFont typeface="Arial" panose="020B0604020202020204" pitchFamily="34" charset="0"/>
              <a:buChar char="•"/>
            </a:pPr>
            <a:r>
              <a:rPr lang="en-US" sz="1800" dirty="0">
                <a:solidFill>
                  <a:srgbClr val="000000"/>
                </a:solidFill>
                <a:effectLst/>
                <a:latin typeface="Calibri" panose="020F0502020204030204" pitchFamily="34" charset="0"/>
                <a:ea typeface="Times New Roman" panose="02020603050405020304" pitchFamily="18" charset="0"/>
              </a:rPr>
              <a:t>During the second session, Grant and Molly will present on the initiatives they sponsor.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87C5501-5A46-42AC-BFBE-2D1EBB5177F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080133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35E6A-F08E-4F1B-9A48-61657B91EA9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486940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6E0020C-34B3-4644-B138-3A9503ECB28E}" type="slidenum">
              <a:rPr lang="en-US" smtClean="0"/>
              <a:pPr/>
              <a:t>27</a:t>
            </a:fld>
            <a:endParaRPr lang="en-US"/>
          </a:p>
        </p:txBody>
      </p:sp>
    </p:spTree>
    <p:extLst>
      <p:ext uri="{BB962C8B-B14F-4D97-AF65-F5344CB8AC3E}">
        <p14:creationId xmlns:p14="http://schemas.microsoft.com/office/powerpoint/2010/main" val="2899700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increasing awareness of the IT and data environment to support the strategic plan, we shifted some focus to operational line of effort to take opportunity to increase compute capabilities and data repository capacity that more immediately affects research. Moved other SOPs and governance activities to after delivering strategic plan that which will include a set of more informed, actionable items for these elements.</a:t>
            </a:r>
          </a:p>
          <a:p>
            <a:endParaRPr lang="en-US" dirty="0"/>
          </a:p>
        </p:txBody>
      </p:sp>
      <p:sp>
        <p:nvSpPr>
          <p:cNvPr id="4" name="Slide Number Placeholder 3"/>
          <p:cNvSpPr>
            <a:spLocks noGrp="1"/>
          </p:cNvSpPr>
          <p:nvPr>
            <p:ph type="sldNum" sz="quarter" idx="5"/>
          </p:nvPr>
        </p:nvSpPr>
        <p:spPr/>
        <p:txBody>
          <a:bodyPr/>
          <a:lstStyle/>
          <a:p>
            <a:fld id="{46E0020C-34B3-4644-B138-3A9503ECB28E}" type="slidenum">
              <a:rPr lang="en-US" smtClean="0"/>
              <a:pPr/>
              <a:t>28</a:t>
            </a:fld>
            <a:endParaRPr lang="en-US"/>
          </a:p>
        </p:txBody>
      </p:sp>
    </p:spTree>
    <p:extLst>
      <p:ext uri="{BB962C8B-B14F-4D97-AF65-F5344CB8AC3E}">
        <p14:creationId xmlns:p14="http://schemas.microsoft.com/office/powerpoint/2010/main" val="26415405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6E0020C-34B3-4644-B138-3A9503ECB28E}" type="slidenum">
              <a:rPr lang="en-US" smtClean="0"/>
              <a:pPr/>
              <a:t>29</a:t>
            </a:fld>
            <a:endParaRPr lang="en-US"/>
          </a:p>
        </p:txBody>
      </p:sp>
    </p:spTree>
    <p:extLst>
      <p:ext uri="{BB962C8B-B14F-4D97-AF65-F5344CB8AC3E}">
        <p14:creationId xmlns:p14="http://schemas.microsoft.com/office/powerpoint/2010/main" val="21975557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35E6A-F08E-4F1B-9A48-61657B91EA9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321768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35E6A-F08E-4F1B-9A48-61657B91EA9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537170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35E6A-F08E-4F1B-9A48-61657B91EA9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056606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35E6A-F08E-4F1B-9A48-61657B91EA9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095894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35E6A-F08E-4F1B-9A48-61657B91EA9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2425590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solidFill>
                  <a:srgbClr val="000000"/>
                </a:solidFill>
              </a:rPr>
              <a:t>Phase 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solidFill>
                  <a:srgbClr val="000000"/>
                </a:solidFill>
              </a:rPr>
              <a:t>*AMP Charter: describe unit’s mission, key activities, scope of control, relationships to other units.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a:solidFill>
                <a:srgbClr val="00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solidFill>
                  <a:srgbClr val="000000"/>
                </a:solidFill>
              </a:rPr>
              <a:t>Phase 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solidFill>
                  <a:srgbClr val="000000"/>
                </a:solidFill>
              </a:rPr>
              <a:t>P.O. the maturity assessment/gap analysis/prioritization plan for Precision Oncology will reveal which resources currently exist that are required for an AMP as well as building out those not currently in existence (obviously certain resources will be funding process and metric dashboards already covered in other objectives but resources such as support personnel, </a:t>
            </a:r>
            <a:r>
              <a:rPr lang="en-US" sz="1200" b="0" err="1">
                <a:solidFill>
                  <a:srgbClr val="000000"/>
                </a:solidFill>
              </a:rPr>
              <a:t>etc</a:t>
            </a:r>
            <a:r>
              <a:rPr lang="en-US" sz="1200" b="0">
                <a:solidFill>
                  <a:srgbClr val="000000"/>
                </a:solidFill>
              </a:rPr>
              <a:t> would be coordinated with Org Design team)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a:solidFill>
                <a:srgbClr val="00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solidFill>
                  <a:srgbClr val="000000"/>
                </a:solidFill>
              </a:rPr>
              <a:t>Phase 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solidFill>
                  <a:srgbClr val="000000"/>
                </a:solidFill>
              </a:rPr>
              <a:t>**Plan to mature the Precision Oncology Portfolio as an AMP is important b/c it is currently the most closely aligned research portfolio to an AMP. As referenced in the introduction to LHS model, the Precision Oncology portfolio has considerable experience developing certain critical structures to operate as a learning health system. Building off these existing structures in P.O. will not only provide critical abilities inside the portfolio, it will also reduce the time needed to fully develop the framework and structures of an Actively Managed Portfolio, hastening its adoption to other research portfolios of high importance to the veteran community.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solidFill>
                  <a:srgbClr val="000000"/>
                </a:solidFill>
              </a:rPr>
              <a:t>Phase 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solidFill>
                  <a:srgbClr val="000000"/>
                </a:solidFill>
              </a:rPr>
              <a:t>**Portfolio Analysis Dashboard: Potentially interactive graphs in </a:t>
            </a:r>
            <a:r>
              <a:rPr lang="en-US" sz="1200" b="0" err="1">
                <a:solidFill>
                  <a:srgbClr val="000000"/>
                </a:solidFill>
              </a:rPr>
              <a:t>PowerBI</a:t>
            </a:r>
            <a:r>
              <a:rPr lang="en-US" sz="1200" b="0">
                <a:solidFill>
                  <a:srgbClr val="000000"/>
                </a:solidFill>
              </a:rPr>
              <a:t> that pull research directly from VAIRRS, allowing the AMP leader to assess the corpus of research across given categories.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a:solidFill>
                <a:srgbClr val="00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solidFill>
                  <a:srgbClr val="000000"/>
                </a:solidFill>
              </a:rPr>
              <a:t>Phase 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solidFill>
                  <a:srgbClr val="000000"/>
                </a:solidFill>
              </a:rPr>
              <a:t>**Funding composition targets refers to establishing an appropriate balance between portfolio directed and service directed funding levels for the portfolio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solidFill>
                  <a:srgbClr val="000000"/>
                </a:solidFill>
              </a:rPr>
              <a:t>**Dates have been added instead of weeks per Rachel’s feedback.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a:solidFill>
                <a:srgbClr val="000000"/>
              </a:solidFill>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6E0020C-34B3-4644-B138-3A9503ECB28E}" type="slidenum">
              <a:rPr kumimoji="0" lang="en-US" sz="13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3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345505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35E6A-F08E-4F1B-9A48-61657B91EA9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905395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6E0020C-34B3-4644-B138-3A9503ECB28E}" type="slidenum">
              <a:rPr kumimoji="0" lang="en-US" sz="13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13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4096974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6E0020C-34B3-4644-B138-3A9503ECB28E}" type="slidenum">
              <a:rPr kumimoji="0" lang="en-US" sz="13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US" sz="13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4061945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35E6A-F08E-4F1B-9A48-61657B91EA9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7292108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5 Phases:</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a:br>
            <a:r>
              <a:rPr lang="en-US"/>
              <a:t>Each phase after Phase 1 aligns with the Corresponding FY Quarter</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6E0020C-34B3-4644-B138-3A9503ECB28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8897833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35E6A-F08E-4F1B-9A48-61657B91EA9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820275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UPDATES: </a:t>
            </a:r>
          </a:p>
          <a:p>
            <a:pPr marL="119063" indent="-119063">
              <a:buFont typeface="Arial" panose="020B0604020202020204" pitchFamily="34" charset="0"/>
              <a:buChar char="•"/>
            </a:pPr>
            <a:r>
              <a:rPr lang="en-US" sz="900" b="1" dirty="0">
                <a:solidFill>
                  <a:prstClr val="black"/>
                </a:solidFill>
                <a:latin typeface="Source Sans Pro Light" panose="020B0403030403020204" pitchFamily="34" charset="0"/>
                <a:ea typeface="Source Sans Pro Light" panose="020B0403030403020204" pitchFamily="34" charset="0"/>
                <a:cs typeface="Source Sans Pro Light" panose="020F0302020204030204" pitchFamily="34" charset="0"/>
              </a:rPr>
              <a:t>MS 1.2: </a:t>
            </a:r>
            <a:r>
              <a:rPr lang="en-US" sz="900" b="1" dirty="0">
                <a:solidFill>
                  <a:prstClr val="black"/>
                </a:solidFill>
                <a:latin typeface="Source Sans Pro Light" panose="020B0403030403020204" pitchFamily="34" charset="0"/>
                <a:ea typeface="Source Sans Pro Light" panose="020B0403030403020204" pitchFamily="34" charset="0"/>
                <a:cs typeface="Calibri" panose="020F0502020204030204" pitchFamily="34" charset="0"/>
              </a:rPr>
              <a:t>Establish ORD Governance council</a:t>
            </a:r>
          </a:p>
          <a:p>
            <a:pPr marL="231775" indent="-112713">
              <a:buFont typeface="Arial" panose="020B0604020202020204" pitchFamily="34" charset="0"/>
              <a:buChar char="•"/>
            </a:pPr>
            <a:r>
              <a:rPr lang="en-US" sz="900" i="1" dirty="0">
                <a:solidFill>
                  <a:schemeClr val="tx1"/>
                </a:solidFill>
                <a:latin typeface="Source Sans Pro Light" panose="020F0302020204030204" pitchFamily="34" charset="0"/>
                <a:ea typeface="Source Sans Pro" panose="020B0503030403020204" pitchFamily="34" charset="0"/>
                <a:cs typeface="Source Sans Pro Light" panose="020F0302020204030204" pitchFamily="34" charset="0"/>
              </a:rPr>
              <a:t>Moved from before strategic plan to after its approval anticipating that an office might be recommend to provide governance.</a:t>
            </a:r>
            <a:endParaRPr lang="en-US" sz="900" dirty="0">
              <a:solidFill>
                <a:prstClr val="black"/>
              </a:solidFill>
              <a:latin typeface="Source Sans Pro Light" panose="020B0403030403020204" pitchFamily="34" charset="0"/>
              <a:ea typeface="Source Sans Pro Light" panose="020B0403030403020204" pitchFamily="34" charset="0"/>
              <a:cs typeface="Source Sans Pro Light" panose="020F0302020204030204" pitchFamily="34" charset="0"/>
            </a:endParaRPr>
          </a:p>
          <a:p>
            <a:pPr marL="120650" indent="-120650">
              <a:spcBef>
                <a:spcPts val="600"/>
              </a:spcBef>
              <a:buFont typeface="Arial" panose="020B0604020202020204" pitchFamily="34" charset="0"/>
              <a:buChar char="•"/>
            </a:pPr>
            <a:r>
              <a:rPr lang="en-US" sz="900" b="1" dirty="0">
                <a:solidFill>
                  <a:schemeClr val="tx1"/>
                </a:solidFill>
                <a:latin typeface="Source Sans Pro Light" panose="020F0302020204030204" pitchFamily="34" charset="0"/>
                <a:ea typeface="Source Sans Pro" panose="020B0503030403020204" pitchFamily="34" charset="0"/>
                <a:cs typeface="Source Sans Pro Light" panose="020F0302020204030204" pitchFamily="34" charset="0"/>
              </a:rPr>
              <a:t>MS 1.4: Policy and rules recommendations prioritized and provided</a:t>
            </a:r>
          </a:p>
          <a:p>
            <a:pPr marL="231775" indent="-112713">
              <a:buFont typeface="Arial" panose="020B0604020202020204" pitchFamily="34" charset="0"/>
              <a:buChar char="•"/>
            </a:pPr>
            <a:r>
              <a:rPr lang="en-US" sz="900" i="1" dirty="0">
                <a:solidFill>
                  <a:schemeClr val="tx1"/>
                </a:solidFill>
                <a:latin typeface="Source Sans Pro Light" panose="020F0302020204030204" pitchFamily="34" charset="0"/>
                <a:ea typeface="Source Sans Pro" panose="020B0503030403020204" pitchFamily="34" charset="0"/>
                <a:cs typeface="Source Sans Pro Light" panose="020F0302020204030204" pitchFamily="34" charset="0"/>
              </a:rPr>
              <a:t>Implied and included it MS 1.3 (</a:t>
            </a:r>
            <a:r>
              <a:rPr lang="en-US" sz="900" i="1" dirty="0">
                <a:solidFill>
                  <a:prstClr val="black"/>
                </a:solidFill>
                <a:latin typeface="Source Sans Pro Light" panose="020B0403030403020204" pitchFamily="34" charset="0"/>
                <a:ea typeface="Source Sans Pro Light" panose="020B0403030403020204" pitchFamily="34" charset="0"/>
                <a:cs typeface="Source Sans Pro Light" panose="020F0302020204030204" pitchFamily="34" charset="0"/>
              </a:rPr>
              <a:t>First set of  </a:t>
            </a:r>
            <a:r>
              <a:rPr lang="en-US" sz="900" i="1" dirty="0">
                <a:solidFill>
                  <a:prstClr val="black"/>
                </a:solidFill>
                <a:latin typeface="Source Sans Pro Light" panose="020B0403030403020204" pitchFamily="34" charset="0"/>
                <a:ea typeface="Source Sans Pro Light" panose="020B0403030403020204" pitchFamily="34" charset="0"/>
                <a:cs typeface="Calibri" panose="020F0502020204030204" pitchFamily="34" charset="0"/>
              </a:rPr>
              <a:t>new and updated policies published)</a:t>
            </a:r>
            <a:endParaRPr lang="en-US" sz="900" i="1" dirty="0">
              <a:solidFill>
                <a:schemeClr val="tx1"/>
              </a:solidFill>
              <a:latin typeface="Source Sans Pro Light" panose="020F0302020204030204" pitchFamily="34" charset="0"/>
              <a:ea typeface="Source Sans Pro" panose="020B0503030403020204" pitchFamily="34" charset="0"/>
              <a:cs typeface="Source Sans Pro Light" panose="020F0302020204030204" pitchFamily="34" charset="0"/>
            </a:endParaRPr>
          </a:p>
          <a:p>
            <a:pPr marL="120650" indent="-120650">
              <a:spcBef>
                <a:spcPts val="600"/>
              </a:spcBef>
              <a:buFont typeface="Arial" panose="020B0604020202020204" pitchFamily="34" charset="0"/>
              <a:buChar char="•"/>
            </a:pPr>
            <a:r>
              <a:rPr lang="en-US" sz="900" b="1" dirty="0">
                <a:solidFill>
                  <a:prstClr val="black"/>
                </a:solidFill>
                <a:latin typeface="Source Sans Pro Light" panose="020B0403030403020204" pitchFamily="34" charset="0"/>
                <a:ea typeface="Source Sans Pro Light" panose="020B0403030403020204" pitchFamily="34" charset="0"/>
                <a:cs typeface="Source Sans Pro Light" panose="020F0302020204030204" pitchFamily="34" charset="0"/>
              </a:rPr>
              <a:t>MS 2.1: </a:t>
            </a:r>
            <a:r>
              <a:rPr lang="en-US" sz="900" b="1" dirty="0">
                <a:solidFill>
                  <a:prstClr val="black"/>
                </a:solidFill>
                <a:latin typeface="Source Sans Pro Light" panose="020B0403030403020204" pitchFamily="34" charset="0"/>
                <a:ea typeface="Source Sans Pro Light" panose="020B0403030403020204" pitchFamily="34" charset="0"/>
                <a:cs typeface="Calibri" panose="020F0502020204030204" pitchFamily="34" charset="0"/>
              </a:rPr>
              <a:t>Initiative (Mission Analysis)</a:t>
            </a:r>
          </a:p>
          <a:p>
            <a:pPr marL="231775" indent="-112713">
              <a:buFont typeface="Arial" panose="020B0604020202020204" pitchFamily="34" charset="0"/>
              <a:buChar char="•"/>
            </a:pPr>
            <a:r>
              <a:rPr lang="en-US" sz="900" i="1" dirty="0">
                <a:solidFill>
                  <a:schemeClr val="tx1"/>
                </a:solidFill>
                <a:latin typeface="Source Sans Pro Light" panose="020F0302020204030204" pitchFamily="34" charset="0"/>
                <a:ea typeface="Source Sans Pro" panose="020B0503030403020204" pitchFamily="34" charset="0"/>
                <a:cs typeface="Source Sans Pro Light" panose="020F0302020204030204" pitchFamily="34" charset="0"/>
              </a:rPr>
              <a:t>Add to capture the milestone completed</a:t>
            </a:r>
            <a:endParaRPr lang="en-US" sz="900" dirty="0">
              <a:solidFill>
                <a:prstClr val="black"/>
              </a:solidFill>
              <a:latin typeface="Source Sans Pro Light" panose="020B0403030403020204" pitchFamily="34" charset="0"/>
              <a:ea typeface="Source Sans Pro Light" panose="020B0403030403020204" pitchFamily="34" charset="0"/>
              <a:cs typeface="Source Sans Pro Light" panose="020F0302020204030204" pitchFamily="34" charset="0"/>
            </a:endParaRPr>
          </a:p>
          <a:p>
            <a:pPr marL="120650" indent="-120650">
              <a:spcBef>
                <a:spcPts val="600"/>
              </a:spcBef>
              <a:buFont typeface="Arial" panose="020B0604020202020204" pitchFamily="34" charset="0"/>
              <a:buChar char="•"/>
            </a:pPr>
            <a:r>
              <a:rPr lang="en-US" sz="900" b="1" dirty="0">
                <a:solidFill>
                  <a:schemeClr val="tx1"/>
                </a:solidFill>
                <a:latin typeface="Source Sans Pro Light" panose="020F0302020204030204" pitchFamily="34" charset="0"/>
                <a:ea typeface="Source Sans Pro" panose="020B0503030403020204" pitchFamily="34" charset="0"/>
                <a:cs typeface="Source Sans Pro Light" panose="020F0302020204030204" pitchFamily="34" charset="0"/>
              </a:rPr>
              <a:t>MS 2.3: Desired endstate developed</a:t>
            </a:r>
          </a:p>
          <a:p>
            <a:pPr marL="231775" lvl="1" indent="-111125">
              <a:buFont typeface="Arial" panose="020B0604020202020204" pitchFamily="34" charset="0"/>
              <a:buChar char="•"/>
            </a:pPr>
            <a:r>
              <a:rPr lang="en-US" sz="900" i="1" dirty="0">
                <a:solidFill>
                  <a:schemeClr val="tx1"/>
                </a:solidFill>
                <a:latin typeface="Source Sans Pro Light" panose="020F0302020204030204" pitchFamily="34" charset="0"/>
                <a:ea typeface="Source Sans Pro" panose="020B0503030403020204" pitchFamily="34" charset="0"/>
                <a:cs typeface="Source Sans Pro Light" panose="020F0302020204030204" pitchFamily="34" charset="0"/>
              </a:rPr>
              <a:t>Included it MS 2.5 (</a:t>
            </a:r>
            <a:r>
              <a:rPr lang="en-US" sz="900" i="1" dirty="0">
                <a:solidFill>
                  <a:prstClr val="black"/>
                </a:solidFill>
                <a:latin typeface="Source Sans Pro Light" panose="020B0403030403020204" pitchFamily="34" charset="0"/>
                <a:ea typeface="Source Sans Pro Light" panose="020B0403030403020204" pitchFamily="34" charset="0"/>
                <a:cs typeface="Calibri" panose="020F0502020204030204" pitchFamily="34" charset="0"/>
              </a:rPr>
              <a:t>Draft strategic plan completed)</a:t>
            </a:r>
            <a:endParaRPr lang="en-US" sz="900" i="1" dirty="0">
              <a:solidFill>
                <a:schemeClr val="tx1"/>
              </a:solidFill>
              <a:latin typeface="Source Sans Pro Light" panose="020F0302020204030204" pitchFamily="34" charset="0"/>
              <a:ea typeface="Source Sans Pro" panose="020B0503030403020204" pitchFamily="34" charset="0"/>
              <a:cs typeface="Source Sans Pro Light" panose="020F0302020204030204" pitchFamily="34" charset="0"/>
            </a:endParaRPr>
          </a:p>
          <a:p>
            <a:pPr marL="120650" indent="-120650">
              <a:spcBef>
                <a:spcPts val="600"/>
              </a:spcBef>
              <a:buFont typeface="Arial" panose="020B0604020202020204" pitchFamily="34" charset="0"/>
              <a:buChar char="•"/>
            </a:pPr>
            <a:r>
              <a:rPr lang="en-US" sz="900" b="1" dirty="0">
                <a:solidFill>
                  <a:schemeClr val="tx1"/>
                </a:solidFill>
                <a:latin typeface="Source Sans Pro Light" panose="020F0302020204030204" pitchFamily="34" charset="0"/>
                <a:ea typeface="Source Sans Pro" panose="020B0503030403020204" pitchFamily="34" charset="0"/>
                <a:cs typeface="Source Sans Pro Light" panose="020F0302020204030204" pitchFamily="34" charset="0"/>
              </a:rPr>
              <a:t>MS 2.7: Strategic plan implemented that aligns resources</a:t>
            </a:r>
          </a:p>
          <a:p>
            <a:pPr marL="231775" lvl="1" indent="-112713">
              <a:buFont typeface="Arial" panose="020B0604020202020204" pitchFamily="34" charset="0"/>
              <a:buChar char="•"/>
            </a:pPr>
            <a:r>
              <a:rPr lang="en-US" sz="900" i="1" dirty="0">
                <a:solidFill>
                  <a:schemeClr val="tx1"/>
                </a:solidFill>
                <a:latin typeface="Source Sans Pro Light" panose="020F0302020204030204" pitchFamily="34" charset="0"/>
                <a:ea typeface="Source Sans Pro" panose="020B0503030403020204" pitchFamily="34" charset="0"/>
                <a:cs typeface="Source Sans Pro Light" panose="020F0302020204030204" pitchFamily="34" charset="0"/>
              </a:rPr>
              <a:t>Implied and included in MS 2.6 (</a:t>
            </a:r>
            <a:r>
              <a:rPr lang="en-US" sz="900" i="1" dirty="0">
                <a:solidFill>
                  <a:prstClr val="black"/>
                </a:solidFill>
                <a:latin typeface="Source Sans Pro Light" panose="020B0403030403020204" pitchFamily="34" charset="0"/>
                <a:ea typeface="Source Sans Pro Light" panose="020B0403030403020204" pitchFamily="34" charset="0"/>
                <a:cs typeface="Calibri" panose="020F0502020204030204" pitchFamily="34" charset="0"/>
              </a:rPr>
              <a:t>ESC approved strategic plan)</a:t>
            </a:r>
          </a:p>
          <a:p>
            <a:pPr marL="120650" indent="-120650">
              <a:spcBef>
                <a:spcPts val="600"/>
              </a:spcBef>
              <a:buFont typeface="Arial" panose="020B0604020202020204" pitchFamily="34" charset="0"/>
              <a:buChar char="•"/>
            </a:pPr>
            <a:r>
              <a:rPr lang="en-US" sz="900" b="1" dirty="0">
                <a:solidFill>
                  <a:schemeClr val="tx1"/>
                </a:solidFill>
                <a:latin typeface="Source Sans Pro Light" panose="020F0302020204030204" pitchFamily="34" charset="0"/>
                <a:ea typeface="Source Sans Pro" panose="020B0503030403020204" pitchFamily="34" charset="0"/>
                <a:cs typeface="Source Sans Pro Light" panose="020F0302020204030204" pitchFamily="34" charset="0"/>
              </a:rPr>
              <a:t>MS 3.2: IT &amp; Data Team established, and initial process developed</a:t>
            </a:r>
          </a:p>
          <a:p>
            <a:pPr marL="231775" lvl="1" indent="-112713">
              <a:buFont typeface="Arial" panose="020B0604020202020204" pitchFamily="34" charset="0"/>
              <a:buChar char="•"/>
            </a:pPr>
            <a:r>
              <a:rPr lang="en-US" sz="900" i="1" dirty="0">
                <a:solidFill>
                  <a:schemeClr val="tx1"/>
                </a:solidFill>
                <a:latin typeface="Source Sans Pro Light" panose="020F0302020204030204" pitchFamily="34" charset="0"/>
                <a:ea typeface="Source Sans Pro" panose="020B0503030403020204" pitchFamily="34" charset="0"/>
                <a:cs typeface="Source Sans Pro Light" panose="020F0302020204030204" pitchFamily="34" charset="0"/>
              </a:rPr>
              <a:t>Deleted as it was not in updated Initiative guidance slide.  Anticipate it will be part of draft Strategic Plan</a:t>
            </a:r>
          </a:p>
          <a:p>
            <a:pPr marL="120650" indent="-120650">
              <a:spcBef>
                <a:spcPts val="600"/>
              </a:spcBef>
              <a:buFont typeface="Arial" panose="020B0604020202020204" pitchFamily="34" charset="0"/>
              <a:buChar char="•"/>
            </a:pPr>
            <a:r>
              <a:rPr lang="en-US" sz="900" b="1" dirty="0">
                <a:solidFill>
                  <a:schemeClr val="tx1"/>
                </a:solidFill>
                <a:latin typeface="Source Sans Pro Light" panose="020F0302020204030204" pitchFamily="34" charset="0"/>
                <a:ea typeface="Source Sans Pro" panose="020B0503030403020204" pitchFamily="34" charset="0"/>
                <a:cs typeface="Source Sans Pro Light" panose="020F0302020204030204" pitchFamily="34" charset="0"/>
              </a:rPr>
              <a:t>MS 3.3: SOP gaps identified, prioritized, &amp; recommendations made</a:t>
            </a:r>
          </a:p>
          <a:p>
            <a:pPr marL="231775" indent="-112713">
              <a:buFont typeface="Arial" panose="020B0604020202020204" pitchFamily="34" charset="0"/>
              <a:buChar char="•"/>
            </a:pPr>
            <a:r>
              <a:rPr lang="en-US" sz="900" i="1" dirty="0">
                <a:solidFill>
                  <a:schemeClr val="tx1"/>
                </a:solidFill>
                <a:latin typeface="Source Sans Pro Light" panose="020F0302020204030204" pitchFamily="34" charset="0"/>
                <a:ea typeface="Source Sans Pro" panose="020B0503030403020204" pitchFamily="34" charset="0"/>
                <a:cs typeface="Source Sans Pro Light" panose="020F0302020204030204" pitchFamily="34" charset="0"/>
              </a:rPr>
              <a:t>Included it MS 3.2 (</a:t>
            </a:r>
            <a:r>
              <a:rPr lang="en-US" sz="900" dirty="0">
                <a:solidFill>
                  <a:prstClr val="black"/>
                </a:solidFill>
                <a:latin typeface="Source Sans Pro Light" panose="020B0403030403020204" pitchFamily="34" charset="0"/>
                <a:ea typeface="Source Sans Pro Light" panose="020B0403030403020204" pitchFamily="34" charset="0"/>
              </a:rPr>
              <a:t>First set of new and updated SOPs published</a:t>
            </a:r>
            <a:r>
              <a:rPr lang="en-US" sz="900" i="1" dirty="0">
                <a:solidFill>
                  <a:prstClr val="black"/>
                </a:solidFill>
                <a:latin typeface="Source Sans Pro Light" panose="020B0403030403020204" pitchFamily="34" charset="0"/>
                <a:ea typeface="Source Sans Pro Light" panose="020B0403030403020204" pitchFamily="34" charset="0"/>
                <a:cs typeface="Calibri" panose="020F0502020204030204" pitchFamily="34" charset="0"/>
              </a:rPr>
              <a:t>)</a:t>
            </a:r>
            <a:endParaRPr lang="en-US" sz="900" dirty="0">
              <a:solidFill>
                <a:schemeClr val="tx1"/>
              </a:solidFill>
              <a:latin typeface="Source Sans Pro Light" panose="020F0302020204030204" pitchFamily="34" charset="0"/>
              <a:ea typeface="Source Sans Pro" panose="020B0503030403020204" pitchFamily="34" charset="0"/>
              <a:cs typeface="Source Sans Pro Light" panose="020F0302020204030204" pitchFamily="34" charset="0"/>
            </a:endParaRPr>
          </a:p>
          <a:p>
            <a:endParaRPr lang="en-US" dirty="0"/>
          </a:p>
        </p:txBody>
      </p:sp>
      <p:sp>
        <p:nvSpPr>
          <p:cNvPr id="4" name="Header Placeholder 3"/>
          <p:cNvSpPr>
            <a:spLocks noGrp="1"/>
          </p:cNvSpPr>
          <p:nvPr>
            <p:ph type="hdr" sz="quarter"/>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Kupersmith MOAA 11-16-12</a:t>
            </a:r>
          </a:p>
        </p:txBody>
      </p:sp>
      <p:sp>
        <p:nvSpPr>
          <p:cNvPr id="5" name="Slide Number Placeholder 4"/>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FD3E557-29CA-2942-B5B0-BBAE067F573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2174566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Kupersmith MOAA 11-16-12</a:t>
            </a:r>
          </a:p>
        </p:txBody>
      </p:sp>
      <p:sp>
        <p:nvSpPr>
          <p:cNvPr id="5" name="Slide Number Placeholder 4"/>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FD3E557-29CA-2942-B5B0-BBAE067F573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9199953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800" i="0" u="none" dirty="0"/>
              <a:t>To facilitate the process to develop a strategic plan focused on governance, we developed a framework to help us better understand the connectedness of the wider IT and &amp; data research structure.</a:t>
            </a:r>
          </a:p>
          <a:p>
            <a:pPr marL="171450" indent="-171450">
              <a:buFont typeface="Arial" panose="020B0604020202020204" pitchFamily="34" charset="0"/>
              <a:buChar char="•"/>
            </a:pPr>
            <a:r>
              <a:rPr lang="en-US" sz="1800" i="0" u="none" dirty="0"/>
              <a:t>We decided on the term System-of-Systems (SoS), which we define as a collection of systems that support research, each capable of independent operation, that when organized together achieve additional desired research capabilities.</a:t>
            </a:r>
          </a:p>
          <a:p>
            <a:pPr marL="171450" indent="-171450">
              <a:buFont typeface="Arial" panose="020B0604020202020204" pitchFamily="34" charset="0"/>
              <a:buChar char="•"/>
            </a:pPr>
            <a:r>
              <a:rPr lang="en-US" sz="1800" i="0" u="none" dirty="0"/>
              <a:t>We define an individual system as a working combination of some, or all, components of </a:t>
            </a:r>
            <a:r>
              <a:rPr lang="en-US" sz="1800" i="0" u="sng" dirty="0"/>
              <a:t>infrastructure</a:t>
            </a:r>
            <a:r>
              <a:rPr lang="en-US" sz="1800" i="0" u="none" dirty="0"/>
              <a:t>, </a:t>
            </a:r>
            <a:r>
              <a:rPr lang="en-US" sz="1800" i="0" u="sng" dirty="0"/>
              <a:t>tools</a:t>
            </a:r>
            <a:r>
              <a:rPr lang="en-US" sz="1800" i="0" u="none" dirty="0"/>
              <a:t>, </a:t>
            </a:r>
            <a:r>
              <a:rPr lang="en-US" sz="1800" i="0" u="sng" dirty="0"/>
              <a:t>data</a:t>
            </a:r>
            <a:r>
              <a:rPr lang="en-US" sz="1800" i="0" u="none" dirty="0"/>
              <a:t>, and </a:t>
            </a:r>
            <a:r>
              <a:rPr lang="en-US" sz="1800" i="0" u="sng" dirty="0"/>
              <a:t>support services </a:t>
            </a:r>
            <a:r>
              <a:rPr lang="en-US" sz="1800" i="0" u="none" dirty="0"/>
              <a:t>under direct management control that provide the capability to conduct research.</a:t>
            </a:r>
          </a:p>
          <a:p>
            <a:pPr marL="171450" indent="-171450">
              <a:buFont typeface="Arial" panose="020B0604020202020204" pitchFamily="34" charset="0"/>
              <a:buChar char="•"/>
            </a:pPr>
            <a:r>
              <a:rPr lang="en-US" sz="1800" i="0" u="none" dirty="0"/>
              <a:t>This framework will allow us to focus inventories to increase our understanding of the environment, develop goals and objectives from an ORD IT and data perspective, and work collectively to provide more capability and capacity, and ultimately strengthen the potential impact that ORD research has.</a:t>
            </a:r>
          </a:p>
          <a:p>
            <a:pPr marL="171450" indent="-171450">
              <a:buFont typeface="Arial" panose="020B0604020202020204" pitchFamily="34" charset="0"/>
              <a:buChar char="•"/>
            </a:pPr>
            <a:endParaRPr lang="en-US" sz="1800" i="0" u="none" dirty="0"/>
          </a:p>
          <a:p>
            <a:pPr marL="0" indent="0">
              <a:buFont typeface="Arial" panose="020B0604020202020204" pitchFamily="34" charset="0"/>
              <a:buNone/>
            </a:pPr>
            <a:r>
              <a:rPr lang="en-US" sz="1800" b="1" i="0" u="sng" dirty="0">
                <a:cs typeface="Calibri" panose="020F0502020204030204"/>
              </a:rPr>
              <a:t>Component Definitions:</a:t>
            </a:r>
          </a:p>
          <a:p>
            <a:pPr marL="171450" indent="-171450">
              <a:buFont typeface="Arial" panose="020B0604020202020204" pitchFamily="34" charset="0"/>
              <a:buChar char="•"/>
            </a:pPr>
            <a:r>
              <a:rPr lang="en-US" sz="1800" i="0" u="sng" dirty="0">
                <a:cs typeface="Calibri" panose="020F0502020204030204"/>
              </a:rPr>
              <a:t>Data: </a:t>
            </a:r>
            <a:r>
              <a:rPr lang="en-US" sz="1800" i="0" u="none" dirty="0">
                <a:cs typeface="Calibri" panose="020F0502020204030204"/>
              </a:rPr>
              <a:t>An elementary description of things, events, activities, and transactions derived directly or indirectly from patients or human research subjects that are recorded, classified, and stored, but not organized to convey any specific meaning. Data items can be numeric, alphabetic, figures, sounds, or images</a:t>
            </a:r>
          </a:p>
          <a:p>
            <a:pPr marL="171450" indent="-171450">
              <a:buFont typeface="Arial" panose="020B0604020202020204" pitchFamily="34" charset="0"/>
              <a:buChar char="•"/>
            </a:pPr>
            <a:r>
              <a:rPr lang="en-US" sz="1800" i="0" u="sng" dirty="0">
                <a:cs typeface="Calibri" panose="020F0502020204030204"/>
              </a:rPr>
              <a:t>Infrastructure: </a:t>
            </a:r>
            <a:r>
              <a:rPr lang="en-US" sz="1800" i="0" u="none" dirty="0">
                <a:cs typeface="Calibri" panose="020F0502020204030204"/>
              </a:rPr>
              <a:t>The processing, storage, networks, operating systems, and other fundamental computing resources that provides the user the ability to deploy and run tools to conduct research.</a:t>
            </a:r>
          </a:p>
          <a:p>
            <a:pPr marL="171450" indent="-171450">
              <a:buFont typeface="Arial" panose="020B0604020202020204" pitchFamily="34" charset="0"/>
              <a:buChar char="•"/>
            </a:pPr>
            <a:r>
              <a:rPr lang="en-US" sz="1800" i="0" u="sng" dirty="0">
                <a:cs typeface="Calibri" panose="020F0502020204030204"/>
              </a:rPr>
              <a:t>Support Services: </a:t>
            </a:r>
            <a:r>
              <a:rPr lang="en-US" sz="1800" i="0" u="none" dirty="0">
                <a:cs typeface="Calibri" panose="020F0502020204030204"/>
              </a:rPr>
              <a:t>A mechanism that can be accessed by users to support the use of one or more tools, data, and system to enable research.</a:t>
            </a:r>
          </a:p>
          <a:p>
            <a:pPr marL="171450" indent="-171450">
              <a:buFont typeface="Arial" panose="020B0604020202020204" pitchFamily="34" charset="0"/>
              <a:buChar char="•"/>
            </a:pPr>
            <a:r>
              <a:rPr lang="en-US" sz="1800" i="0" u="sng" dirty="0">
                <a:cs typeface="Calibri" panose="020F0502020204030204"/>
              </a:rPr>
              <a:t>Tools: </a:t>
            </a:r>
            <a:r>
              <a:rPr lang="en-US" sz="1800" i="0" u="none" dirty="0">
                <a:cs typeface="Calibri" panose="020F0502020204030204"/>
              </a:rPr>
              <a:t>Something, such as a commercially purchased or internally developed software, that allows users to perform a particular activity for research.</a:t>
            </a:r>
          </a:p>
          <a:p>
            <a:pPr marL="171450" indent="-171450">
              <a:buFont typeface="Arial" panose="020B0604020202020204" pitchFamily="34" charset="0"/>
              <a:buChar char="•"/>
            </a:pPr>
            <a:endParaRPr lang="en-US" sz="1800" i="0" u="none" dirty="0">
              <a:cs typeface="Calibri" panose="020F0502020204030204"/>
            </a:endParaRPr>
          </a:p>
          <a:p>
            <a:pPr marL="0" indent="0">
              <a:buFont typeface="Arial" panose="020B0604020202020204" pitchFamily="34" charset="0"/>
              <a:buNone/>
            </a:pPr>
            <a:r>
              <a:rPr lang="en-US" sz="1800" b="1" i="0" u="sng" dirty="0">
                <a:cs typeface="Calibri" panose="020F0502020204030204"/>
              </a:rPr>
              <a:t>Systems Descriptions</a:t>
            </a:r>
          </a:p>
          <a:p>
            <a:pPr marL="171450" indent="-171450">
              <a:buFont typeface="Arial" panose="020B0604020202020204" pitchFamily="34" charset="0"/>
              <a:buChar char="•"/>
            </a:pPr>
            <a:r>
              <a:rPr lang="en-US" dirty="0"/>
              <a:t>Quantitative Analysis:  </a:t>
            </a:r>
            <a:endParaRPr lang="en-US" dirty="0">
              <a:cs typeface="Calibri" panose="020F0502020204030204"/>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Qualitative Analysis:  </a:t>
            </a:r>
            <a:endParaRPr lang="en-US" dirty="0">
              <a:cs typeface="Calibri" panose="020F0502020204030204"/>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Wet lab:  </a:t>
            </a:r>
            <a:endParaRPr lang="en-US" dirty="0">
              <a:cs typeface="Calibri" panose="020F0502020204030204"/>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Biomedical (Plugged into scientific equipment</a:t>
            </a:r>
            <a:r>
              <a:rPr lang="en-US" dirty="0">
                <a:cs typeface="Calibri"/>
              </a:rPr>
              <a:t>)</a:t>
            </a:r>
            <a:r>
              <a:rPr lang="en-US" dirty="0"/>
              <a:t>:  </a:t>
            </a:r>
            <a:endParaRPr lang="en-US" dirty="0">
              <a:cs typeface="Calibri"/>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Patient Registry:  </a:t>
            </a:r>
            <a:endParaRPr lang="en-US" dirty="0">
              <a:cs typeface="Calibri" panose="020F0502020204030204"/>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Data Repository:  </a:t>
            </a:r>
            <a:endParaRPr lang="en-US" dirty="0">
              <a:cs typeface="Calibri" panose="020F0502020204030204"/>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Biorepository:  </a:t>
            </a:r>
            <a:endParaRPr lang="en-US" dirty="0">
              <a:cs typeface="Calibri" panose="020F0502020204030204"/>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Clinical Trial:  </a:t>
            </a:r>
            <a:endParaRPr lang="en-US" dirty="0">
              <a:ea typeface="Calibri"/>
              <a:cs typeface="Calibri"/>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Finance:  </a:t>
            </a:r>
            <a:endParaRPr lang="en-US" dirty="0">
              <a:cs typeface="Calibri" panose="020F0502020204030204"/>
            </a:endParaRPr>
          </a:p>
          <a:p>
            <a:pPr marL="171450" indent="-171450">
              <a:buFont typeface="Arial" panose="020B0604020202020204" pitchFamily="34" charset="0"/>
              <a:buChar char="•"/>
              <a:defRPr/>
            </a:pPr>
            <a:r>
              <a:rPr lang="en-US" dirty="0">
                <a:latin typeface="Arial"/>
                <a:cs typeface="Arial"/>
              </a:rPr>
              <a:t>Grant Management:  Includes Merit Review.</a:t>
            </a:r>
            <a:endParaRPr lang="en-US" dirty="0">
              <a:cs typeface="Calibri" panose="020F0502020204030204"/>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Research Administration (other):  </a:t>
            </a:r>
            <a:endParaRPr lang="en-US" dirty="0">
              <a:cs typeface="Calibri" panose="020F0502020204030204"/>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Veterinary (animal research):  </a:t>
            </a:r>
            <a:endParaRPr lang="en-US" dirty="0">
              <a:cs typeface="Calibri"/>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Regulatory: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Multi-year Planning, Programming, Budgeting and Evaluation (PPBE) </a:t>
            </a:r>
            <a:r>
              <a:rPr lang="en-US" sz="1200" dirty="0">
                <a:solidFill>
                  <a:schemeClr val="tx1"/>
                </a:solidFill>
                <a:latin typeface="Calibri Light"/>
                <a:ea typeface="+mn-lt"/>
                <a:cs typeface="+mn-lt"/>
              </a:rPr>
              <a:t>Strategic Management:  </a:t>
            </a:r>
            <a:r>
              <a:rPr lang="en-US" sz="1200" kern="1200" dirty="0">
                <a:solidFill>
                  <a:schemeClr val="tx1"/>
                </a:solidFill>
                <a:effectLst/>
                <a:latin typeface="+mn-lt"/>
                <a:ea typeface="+mn-ea"/>
                <a:cs typeface="+mn-cs"/>
              </a:rPr>
              <a:t>The PPBE process is VA’s multi-year resource allocation process.  Planning establishes the strategic priorities and required capabilities. Programming identifies and allocates the resources to the programs that will provide the capabilities. Budgeting develops the budgets and operating plans and provides justification for the approved programs. Execution involves developing and delivering the required capabilities to achieve the goals and objectives as well as evaluating if the outcomes.</a:t>
            </a:r>
            <a:endParaRPr lang="en-US" dirty="0"/>
          </a:p>
          <a:p>
            <a:pPr marL="628650" lvl="1" indent="-171450">
              <a:buFont typeface="Arial" panose="020B0604020202020204" pitchFamily="34" charset="0"/>
              <a:buChar char="•"/>
              <a:defRPr/>
            </a:pPr>
            <a:r>
              <a:rPr lang="en-US" dirty="0">
                <a:latin typeface="Arial"/>
                <a:cs typeface="Arial"/>
              </a:rPr>
              <a:t>Includes Contracts</a:t>
            </a:r>
            <a:endParaRPr lang="en-US" dirty="0">
              <a:cs typeface="Arial"/>
            </a:endParaRPr>
          </a:p>
          <a:p>
            <a:pPr marL="628650" lvl="1" indent="-171450">
              <a:buFont typeface="Arial" panose="020B0604020202020204" pitchFamily="34" charset="0"/>
              <a:buChar char="•"/>
              <a:defRPr/>
            </a:pPr>
            <a:r>
              <a:rPr lang="en-US" dirty="0" err="1">
                <a:latin typeface="Arial"/>
                <a:cs typeface="Arial"/>
              </a:rPr>
              <a:t>Inlcuedes</a:t>
            </a:r>
            <a:r>
              <a:rPr lang="en-US" dirty="0">
                <a:latin typeface="Arial"/>
                <a:cs typeface="Arial"/>
              </a:rPr>
              <a:t> ATOs: VA distributes Authority to Operate (ATO) clearances to business partners to give them a “green light” to develop systems, products, and processes intended for use at VA. All VA information systems, including the system of the Contractor, must receive ATOs and complete other security requirements. This is a requirement to appropriately ensure the sensitive information of Veterans is appropriately protected.</a:t>
            </a:r>
            <a:endParaRPr lang="en-US" dirty="0">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Field-based Research:  </a:t>
            </a:r>
            <a:endParaRPr lang="en-US" dirty="0">
              <a:cs typeface="Calibri"/>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Academic Affiliate: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lvl="1" indent="-171450">
              <a:buFont typeface="Arial" panose="020B0604020202020204" pitchFamily="34" charset="0"/>
              <a:buChar char="•"/>
            </a:pPr>
            <a:endParaRPr lang="en-US" dirty="0">
              <a:ea typeface="Calibri"/>
              <a:cs typeface="Calibri"/>
            </a:endParaRPr>
          </a:p>
          <a:p>
            <a:pPr marL="171450" indent="-171450">
              <a:buFont typeface="Arial" panose="020B0604020202020204" pitchFamily="34" charset="0"/>
              <a:buChar char="•"/>
            </a:pPr>
            <a:endParaRPr lang="en-US" sz="1800" dirty="0">
              <a:ea typeface="Calibri" panose="020F0502020204030204"/>
              <a:cs typeface="Calibri" panose="020F0502020204030204"/>
            </a:endParaRPr>
          </a:p>
          <a:p>
            <a:pPr marL="0" indent="0">
              <a:buFont typeface="Arial" panose="020B0604020202020204" pitchFamily="34" charset="0"/>
              <a:buNone/>
            </a:pPr>
            <a:r>
              <a:rPr lang="en-US" sz="1800" b="1" u="sng" dirty="0">
                <a:ea typeface="Calibri" panose="020F0502020204030204"/>
                <a:cs typeface="Calibri" panose="020F0502020204030204"/>
              </a:rPr>
              <a:t>Cross-functional activities for each system:</a:t>
            </a:r>
          </a:p>
          <a:p>
            <a:pPr marL="171450" indent="-171450">
              <a:buFont typeface="Arial" panose="020B0604020202020204" pitchFamily="34" charset="0"/>
              <a:buChar char="•"/>
            </a:pPr>
            <a:r>
              <a:rPr lang="en-US" sz="1800" dirty="0">
                <a:ea typeface="Calibri" panose="020F0502020204030204"/>
                <a:cs typeface="Calibri" panose="020F0502020204030204"/>
              </a:rPr>
              <a:t>Policy and Plans: Orchestration of procedures and policy implementation</a:t>
            </a:r>
          </a:p>
          <a:p>
            <a:pPr marL="171450" indent="-171450">
              <a:buFont typeface="Arial" panose="020B0604020202020204" pitchFamily="34" charset="0"/>
              <a:buChar char="•"/>
            </a:pPr>
            <a:r>
              <a:rPr lang="en-US" sz="1800" dirty="0">
                <a:ea typeface="Calibri" panose="020F0502020204030204"/>
                <a:cs typeface="Calibri" panose="020F0502020204030204"/>
              </a:rPr>
              <a:t>Concierge: help desk, guide, training/education, intersystem support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F89D0F-256A-4575-80D7-88928E6D719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5209089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35E6A-F08E-4F1B-9A48-61657B91EA9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1007940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6E0020C-34B3-4644-B138-3A9503ECB28E}" type="slidenum">
              <a:rPr kumimoji="0" lang="en-US" sz="13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US" sz="13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78664293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6E0020C-34B3-4644-B138-3A9503ECB28E}" type="slidenum">
              <a:rPr lang="en-US" smtClean="0"/>
              <a:pPr/>
              <a:t>61</a:t>
            </a:fld>
            <a:endParaRPr lang="en-US" dirty="0"/>
          </a:p>
        </p:txBody>
      </p:sp>
    </p:spTree>
    <p:extLst>
      <p:ext uri="{BB962C8B-B14F-4D97-AF65-F5344CB8AC3E}">
        <p14:creationId xmlns:p14="http://schemas.microsoft.com/office/powerpoint/2010/main" val="1845486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35E6A-F08E-4F1B-9A48-61657B91EA9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4887487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i="0" dirty="0"/>
          </a:p>
        </p:txBody>
      </p:sp>
      <p:sp>
        <p:nvSpPr>
          <p:cNvPr id="4" name="Slide Number Placeholder 3"/>
          <p:cNvSpPr>
            <a:spLocks noGrp="1"/>
          </p:cNvSpPr>
          <p:nvPr>
            <p:ph type="sldNum" sz="quarter" idx="5"/>
          </p:nvPr>
        </p:nvSpPr>
        <p:spPr/>
        <p:txBody>
          <a:bodyPr/>
          <a:lstStyle/>
          <a:p>
            <a:fld id="{46E0020C-34B3-4644-B138-3A9503ECB28E}" type="slidenum">
              <a:rPr lang="en-US" smtClean="0"/>
              <a:pPr/>
              <a:t>63</a:t>
            </a:fld>
            <a:endParaRPr lang="en-US" dirty="0"/>
          </a:p>
        </p:txBody>
      </p:sp>
    </p:spTree>
    <p:extLst>
      <p:ext uri="{BB962C8B-B14F-4D97-AF65-F5344CB8AC3E}">
        <p14:creationId xmlns:p14="http://schemas.microsoft.com/office/powerpoint/2010/main" val="76846851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35E6A-F08E-4F1B-9A48-61657B91EA9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8750523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46E0020C-34B3-4644-B138-3A9503ECB28E}" type="slidenum">
              <a:rPr lang="en-US" smtClean="0"/>
              <a:pPr/>
              <a:t>65</a:t>
            </a:fld>
            <a:endParaRPr lang="en-US"/>
          </a:p>
        </p:txBody>
      </p:sp>
    </p:spTree>
    <p:extLst>
      <p:ext uri="{BB962C8B-B14F-4D97-AF65-F5344CB8AC3E}">
        <p14:creationId xmlns:p14="http://schemas.microsoft.com/office/powerpoint/2010/main" val="40498627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vmlDrawing" Target="../drawings/vmlDrawing2.vml"/><Relationship Id="rId5" Type="http://schemas.openxmlformats.org/officeDocument/2006/relationships/image" Target="../media/image4.emf"/><Relationship Id="rId4" Type="http://schemas.openxmlformats.org/officeDocument/2006/relationships/oleObject" Target="../embeddings/oleObject2.bin"/></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10/11/2022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0A9334-4E67-F94F-A05E-0CE8B74A054E}" type="slidenum">
              <a:rPr lang="en-US" smtClean="0"/>
              <a:pPr/>
              <a:t>‹#›</a:t>
            </a:fld>
            <a:endParaRPr lang="en-US"/>
          </a:p>
        </p:txBody>
      </p:sp>
    </p:spTree>
    <p:extLst>
      <p:ext uri="{BB962C8B-B14F-4D97-AF65-F5344CB8AC3E}">
        <p14:creationId xmlns:p14="http://schemas.microsoft.com/office/powerpoint/2010/main" val="51154276"/>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10/11/2022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0A9334-4E67-F94F-A05E-0CE8B74A054E}" type="slidenum">
              <a:rPr lang="en-US" smtClean="0"/>
              <a:t>‹#›</a:t>
            </a:fld>
            <a:endParaRPr lang="en-US"/>
          </a:p>
        </p:txBody>
      </p:sp>
      <p:cxnSp>
        <p:nvCxnSpPr>
          <p:cNvPr id="7" name="Straight Connector 6" descr="&quot;&quot;">
            <a:extLst>
              <a:ext uri="{FF2B5EF4-FFF2-40B4-BE49-F238E27FC236}">
                <a16:creationId xmlns:a16="http://schemas.microsoft.com/office/drawing/2014/main" id="{BEAC91FE-22FD-4E6A-87EB-4B75B31CDEB8}"/>
              </a:ext>
            </a:extLst>
          </p:cNvPr>
          <p:cNvCxnSpPr/>
          <p:nvPr userDrawn="1"/>
        </p:nvCxnSpPr>
        <p:spPr>
          <a:xfrm>
            <a:off x="831851" y="3571876"/>
            <a:ext cx="10515600" cy="0"/>
          </a:xfrm>
          <a:prstGeom prst="line">
            <a:avLst/>
          </a:prstGeom>
          <a:ln>
            <a:solidFill>
              <a:srgbClr val="003F7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29959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10/11/2022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2978005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10/11/2022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70A9334-4E67-F94F-A05E-0CE8B74A054E}" type="slidenum">
              <a:rPr lang="en-US" smtClean="0"/>
              <a:pPr/>
              <a:t>‹#›</a:t>
            </a:fld>
            <a:endParaRPr lang="en-US"/>
          </a:p>
        </p:txBody>
      </p:sp>
    </p:spTree>
    <p:extLst>
      <p:ext uri="{BB962C8B-B14F-4D97-AF65-F5344CB8AC3E}">
        <p14:creationId xmlns:p14="http://schemas.microsoft.com/office/powerpoint/2010/main" val="3002650794"/>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w/ Alt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118873"/>
            <a:ext cx="10515600" cy="752929"/>
          </a:xfrm>
        </p:spPr>
        <p:txBody>
          <a:bodyPr/>
          <a:lstStyle/>
          <a:p>
            <a:r>
              <a:rPr lang="en-US"/>
              <a:t>Click to edit master title style</a:t>
            </a:r>
          </a:p>
        </p:txBody>
      </p:sp>
      <p:sp>
        <p:nvSpPr>
          <p:cNvPr id="3" name="Content Placeholder 2"/>
          <p:cNvSpPr>
            <a:spLocks noGrp="1"/>
          </p:cNvSpPr>
          <p:nvPr>
            <p:ph idx="1"/>
          </p:nvPr>
        </p:nvSpPr>
        <p:spPr>
          <a:xfrm>
            <a:off x="838200" y="1133857"/>
            <a:ext cx="10515600" cy="4818857"/>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FD912DB-CF58-2B44-B78F-FA5C3CCFF15B}"/>
              </a:ext>
            </a:extLst>
          </p:cNvPr>
          <p:cNvSpPr>
            <a:spLocks noGrp="1"/>
          </p:cNvSpPr>
          <p:nvPr>
            <p:ph type="body" sz="quarter" idx="13" hasCustomPrompt="1"/>
          </p:nvPr>
        </p:nvSpPr>
        <p:spPr>
          <a:xfrm>
            <a:off x="-3383279" y="982664"/>
            <a:ext cx="3108113" cy="5064125"/>
          </a:xfrm>
        </p:spPr>
        <p:txBody>
          <a:bodyPr/>
          <a:lstStyle>
            <a:lvl1pPr>
              <a:defRPr/>
            </a:lvl1pPr>
          </a:lstStyle>
          <a:p>
            <a:pPr lvl="0"/>
            <a:r>
              <a:rPr lang="en-US"/>
              <a:t>Insert alt text for complex graphic</a:t>
            </a:r>
          </a:p>
        </p:txBody>
      </p:sp>
      <p:sp>
        <p:nvSpPr>
          <p:cNvPr id="6" name="Slide Number Placeholder 5"/>
          <p:cNvSpPr>
            <a:spLocks noGrp="1"/>
          </p:cNvSpPr>
          <p:nvPr>
            <p:ph type="sldNum" sz="quarter" idx="12"/>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15726399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42"/>
        <p:cNvGrpSpPr/>
        <p:nvPr/>
      </p:nvGrpSpPr>
      <p:grpSpPr>
        <a:xfrm>
          <a:off x="0" y="0"/>
          <a:ext cx="0" cy="0"/>
          <a:chOff x="0" y="0"/>
          <a:chExt cx="0" cy="0"/>
        </a:xfrm>
      </p:grpSpPr>
      <p:sp>
        <p:nvSpPr>
          <p:cNvPr id="43" name="Google Shape;43;p6"/>
          <p:cNvSpPr txBox="1">
            <a:spLocks noGrp="1"/>
          </p:cNvSpPr>
          <p:nvPr>
            <p:ph type="title"/>
          </p:nvPr>
        </p:nvSpPr>
        <p:spPr>
          <a:xfrm>
            <a:off x="345018" y="332076"/>
            <a:ext cx="10027707" cy="776139"/>
          </a:xfrm>
          <a:prstGeom prst="rect">
            <a:avLst/>
          </a:prstGeom>
          <a:noFill/>
          <a:ln>
            <a:noFill/>
          </a:ln>
        </p:spPr>
        <p:txBody>
          <a:bodyPr spcFirstLastPara="1" wrap="square" lIns="0" tIns="0" rIns="130100" bIns="0" anchor="t" anchorCtr="0">
            <a:noAutofit/>
          </a:bodyPr>
          <a:lstStyle>
            <a:lvl1pPr lvl="0" algn="l">
              <a:lnSpc>
                <a:spcPct val="80000"/>
              </a:lnSpc>
              <a:spcBef>
                <a:spcPts val="0"/>
              </a:spcBef>
              <a:spcAft>
                <a:spcPts val="0"/>
              </a:spcAft>
              <a:buClr>
                <a:schemeClr val="accent1"/>
              </a:buClr>
              <a:buSzPts val="3200"/>
              <a:buFont typeface="Arial Black"/>
              <a:buNone/>
              <a:defRPr>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6"/>
          <p:cNvSpPr txBox="1">
            <a:spLocks noGrp="1"/>
          </p:cNvSpPr>
          <p:nvPr>
            <p:ph type="ftr" idx="11"/>
          </p:nvPr>
        </p:nvSpPr>
        <p:spPr>
          <a:xfrm>
            <a:off x="7410450" y="6386400"/>
            <a:ext cx="4114800" cy="140400"/>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r" defTabSz="914400" rtl="0" eaLnBrk="1" fontAlgn="auto" latinLnBrk="0" hangingPunct="1">
              <a:lnSpc>
                <a:spcPct val="100000"/>
              </a:lnSpc>
              <a:spcBef>
                <a:spcPts val="0"/>
              </a:spcBef>
              <a:spcAft>
                <a:spcPts val="0"/>
              </a:spcAft>
              <a:buClrTx/>
              <a:buSzPts val="1400"/>
              <a:buFontTx/>
              <a:buNone/>
              <a:tabLst/>
              <a:defRPr/>
            </a:pPr>
            <a:endParaRPr kumimoji="0"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5" name="Google Shape;45;p6"/>
          <p:cNvSpPr txBox="1">
            <a:spLocks noGrp="1"/>
          </p:cNvSpPr>
          <p:nvPr>
            <p:ph type="sldNum" idx="12"/>
          </p:nvPr>
        </p:nvSpPr>
        <p:spPr>
          <a:xfrm>
            <a:off x="11639450" y="6386400"/>
            <a:ext cx="216000" cy="1404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42736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6DD2AB52-3520-4185-840D-69649027815F}"/>
              </a:ext>
            </a:extLst>
          </p:cNvPr>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050" name="think-cell Slide" r:id="rId4" imgW="395" imgH="394" progId="TCLayout.ActiveDocument.1">
                  <p:embed/>
                </p:oleObj>
              </mc:Choice>
              <mc:Fallback>
                <p:oleObj name="think-cell Slide" r:id="rId4" imgW="395" imgH="394" progId="TCLayout.ActiveDocument.1">
                  <p:embed/>
                  <p:pic>
                    <p:nvPicPr>
                      <p:cNvPr id="8" name="Object 7" hidden="1">
                        <a:extLst>
                          <a:ext uri="{FF2B5EF4-FFF2-40B4-BE49-F238E27FC236}">
                            <a16:creationId xmlns:a16="http://schemas.microsoft.com/office/drawing/2014/main" id="{6DD2AB52-3520-4185-840D-69649027815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285750" y="166264"/>
            <a:ext cx="10515600" cy="618385"/>
          </a:xfrm>
        </p:spPr>
        <p:txBody>
          <a:bodyPr vert="horz"/>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10/11/2022</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7326345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2.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tags" Target="../tags/tag1.xml"/><Relationship Id="rId4" Type="http://schemas.openxmlformats.org/officeDocument/2006/relationships/slideLayout" Target="../slideLayouts/slideLayout4.xml"/><Relationship Id="rId9" Type="http://schemas.openxmlformats.org/officeDocument/2006/relationships/vmlDrawing" Target="../drawings/vmlDrawing1.v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BCCC815A-F2C9-434C-A69F-6B52C370B91D}"/>
              </a:ext>
            </a:extLst>
          </p:cNvPr>
          <p:cNvGraphicFramePr>
            <a:graphicFrameLocks noChangeAspect="1"/>
          </p:cNvGraphicFramePr>
          <p:nvPr userDrawn="1">
            <p:custDataLst>
              <p:tags r:id="rId10"/>
            </p:custDataLst>
            <p:extLst>
              <p:ext uri="{D42A27DB-BD31-4B8C-83A1-F6EECF244321}">
                <p14:modId xmlns:p14="http://schemas.microsoft.com/office/powerpoint/2010/main" val="19039799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26" name="think-cell Slide" r:id="rId12" imgW="395" imgH="396" progId="TCLayout.ActiveDocument.1">
                  <p:embed/>
                </p:oleObj>
              </mc:Choice>
              <mc:Fallback>
                <p:oleObj name="think-cell Slide" r:id="rId12" imgW="395" imgH="396" progId="TCLayout.ActiveDocument.1">
                  <p:embed/>
                  <p:pic>
                    <p:nvPicPr>
                      <p:cNvPr id="13" name="Object 12" hidden="1">
                        <a:extLst>
                          <a:ext uri="{FF2B5EF4-FFF2-40B4-BE49-F238E27FC236}">
                            <a16:creationId xmlns:a16="http://schemas.microsoft.com/office/drawing/2014/main" id="{BCCC815A-F2C9-434C-A69F-6B52C370B91D}"/>
                          </a:ext>
                        </a:extLst>
                      </p:cNvPr>
                      <p:cNvPicPr/>
                      <p:nvPr/>
                    </p:nvPicPr>
                    <p:blipFill>
                      <a:blip r:embed="rId13"/>
                      <a:stretch>
                        <a:fillRect/>
                      </a:stretch>
                    </p:blipFill>
                    <p:spPr>
                      <a:xfrm>
                        <a:off x="1588" y="1588"/>
                        <a:ext cx="1588" cy="1588"/>
                      </a:xfrm>
                      <a:prstGeom prst="rect">
                        <a:avLst/>
                      </a:prstGeom>
                    </p:spPr>
                  </p:pic>
                </p:oleObj>
              </mc:Fallback>
            </mc:AlternateContent>
          </a:graphicData>
        </a:graphic>
      </p:graphicFrame>
      <p:sp>
        <p:nvSpPr>
          <p:cNvPr id="12" name="Rectangle 11" hidden="1">
            <a:extLst>
              <a:ext uri="{FF2B5EF4-FFF2-40B4-BE49-F238E27FC236}">
                <a16:creationId xmlns:a16="http://schemas.microsoft.com/office/drawing/2014/main" id="{7E99BCBC-83A5-40D0-8DE3-4DB102CDECA1}"/>
              </a:ext>
            </a:extLst>
          </p:cNvPr>
          <p:cNvSpPr/>
          <p:nvPr userDrawn="1">
            <p:custDataLst>
              <p:tags r:id="rId11"/>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4400" b="0" i="0" baseline="0">
              <a:latin typeface="Calibri Light" panose="020F0302020204030204" pitchFamily="34" charset="0"/>
              <a:ea typeface="+mj-ea"/>
              <a:cs typeface="+mj-cs"/>
              <a:sym typeface="Calibri Light" panose="020F0302020204030204" pitchFamily="34" charset="0"/>
            </a:endParaRPr>
          </a:p>
        </p:txBody>
      </p:sp>
      <p:sp>
        <p:nvSpPr>
          <p:cNvPr id="3" name="Text Placeholder 2"/>
          <p:cNvSpPr>
            <a:spLocks noGrp="1"/>
          </p:cNvSpPr>
          <p:nvPr>
            <p:ph type="body" idx="1"/>
          </p:nvPr>
        </p:nvSpPr>
        <p:spPr>
          <a:xfrm>
            <a:off x="371475" y="1361621"/>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10/11/2022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0A9334-4E67-F94F-A05E-0CE8B74A054E}" type="slidenum">
              <a:rPr lang="en-US" smtClean="0"/>
              <a:pPr/>
              <a:t>‹#›</a:t>
            </a:fld>
            <a:endParaRPr lang="en-US"/>
          </a:p>
        </p:txBody>
      </p:sp>
      <p:sp>
        <p:nvSpPr>
          <p:cNvPr id="7" name="Rectangle 6" descr="&quot;&quot;">
            <a:extLst>
              <a:ext uri="{FF2B5EF4-FFF2-40B4-BE49-F238E27FC236}">
                <a16:creationId xmlns:a16="http://schemas.microsoft.com/office/drawing/2014/main" id="{9A344643-0805-4A78-8519-399E280674A5}"/>
              </a:ext>
            </a:extLst>
          </p:cNvPr>
          <p:cNvSpPr/>
          <p:nvPr userDrawn="1"/>
        </p:nvSpPr>
        <p:spPr>
          <a:xfrm>
            <a:off x="0" y="0"/>
            <a:ext cx="12192000" cy="872671"/>
          </a:xfrm>
          <a:prstGeom prst="rect">
            <a:avLst/>
          </a:prstGeom>
          <a:solidFill>
            <a:srgbClr val="002F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a:extLst>
              <a:ext uri="{FF2B5EF4-FFF2-40B4-BE49-F238E27FC236}">
                <a16:creationId xmlns:a16="http://schemas.microsoft.com/office/drawing/2014/main" id="{451C4A79-7B67-4263-9C21-0F0F093D2ECB}"/>
              </a:ext>
            </a:extLst>
          </p:cNvPr>
          <p:cNvSpPr/>
          <p:nvPr userDrawn="1"/>
        </p:nvSpPr>
        <p:spPr>
          <a:xfrm>
            <a:off x="0" y="6140681"/>
            <a:ext cx="12192000" cy="731839"/>
          </a:xfrm>
          <a:prstGeom prst="rect">
            <a:avLst/>
          </a:prstGeom>
          <a:solidFill>
            <a:srgbClr val="002F56"/>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defTabSz="457200"/>
            <a:endParaRPr lang="en-US" sz="1800">
              <a:solidFill>
                <a:prstClr val="white"/>
              </a:solidFill>
            </a:endParaRPr>
          </a:p>
        </p:txBody>
      </p:sp>
      <p:pic>
        <p:nvPicPr>
          <p:cNvPr id="9" name="Picture 2" descr="Choose VA logo">
            <a:extLst>
              <a:ext uri="{FF2B5EF4-FFF2-40B4-BE49-F238E27FC236}">
                <a16:creationId xmlns:a16="http://schemas.microsoft.com/office/drawing/2014/main" id="{ED68DA6A-5DF1-4139-9A45-26BF50A0D2A3}"/>
              </a:ext>
            </a:extLst>
          </p:cNvPr>
          <p:cNvPicPr>
            <a:picLocks noChangeAspect="1" noChangeArrowheads="1"/>
          </p:cNvPicPr>
          <p:nvPr userDrawn="1"/>
        </p:nvPicPr>
        <p:blipFill>
          <a:blip r:embed="rId14" cstate="print">
            <a:extLst>
              <a:ext uri="{28A0092B-C50C-407E-A947-70E740481C1C}">
                <a14:useLocalDpi xmlns:a14="http://schemas.microsoft.com/office/drawing/2010/main"/>
              </a:ext>
            </a:extLst>
          </a:blip>
          <a:srcRect/>
          <a:stretch>
            <a:fillRect/>
          </a:stretch>
        </p:blipFill>
        <p:spPr bwMode="auto">
          <a:xfrm>
            <a:off x="203201" y="6191250"/>
            <a:ext cx="2368550" cy="54864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Seal and logo for the U.S. Department of Veterans Affairs">
            <a:extLst>
              <a:ext uri="{FF2B5EF4-FFF2-40B4-BE49-F238E27FC236}">
                <a16:creationId xmlns:a16="http://schemas.microsoft.com/office/drawing/2014/main" id="{89C54729-2C98-4A73-B5EB-4446016F3463}"/>
              </a:ext>
            </a:extLst>
          </p:cNvPr>
          <p:cNvPicPr>
            <a:picLocks noChangeAspect="1"/>
          </p:cNvPicPr>
          <p:nvPr userDrawn="1"/>
        </p:nvPicPr>
        <p:blipFill>
          <a:blip r:embed="rId15" cstate="print">
            <a:extLst>
              <a:ext uri="{28A0092B-C50C-407E-A947-70E740481C1C}">
                <a14:useLocalDpi xmlns:a14="http://schemas.microsoft.com/office/drawing/2010/main"/>
              </a:ext>
            </a:extLst>
          </a:blip>
          <a:stretch>
            <a:fillRect/>
          </a:stretch>
        </p:blipFill>
        <p:spPr>
          <a:xfrm>
            <a:off x="8743950" y="6184206"/>
            <a:ext cx="2940051" cy="641708"/>
          </a:xfrm>
          <a:prstGeom prst="rect">
            <a:avLst/>
          </a:prstGeom>
        </p:spPr>
      </p:pic>
      <p:sp>
        <p:nvSpPr>
          <p:cNvPr id="2" name="Title Placeholder 1"/>
          <p:cNvSpPr>
            <a:spLocks noGrp="1"/>
          </p:cNvSpPr>
          <p:nvPr>
            <p:ph type="title"/>
          </p:nvPr>
        </p:nvSpPr>
        <p:spPr>
          <a:xfrm>
            <a:off x="390525" y="97245"/>
            <a:ext cx="10515600" cy="680223"/>
          </a:xfrm>
          <a:prstGeom prst="rect">
            <a:avLst/>
          </a:prstGeom>
        </p:spPr>
        <p:txBody>
          <a:bodyPr vert="horz" lIns="91440" tIns="45720" rIns="91440" bIns="45720" rtlCol="0" anchor="ctr">
            <a:noAutofit/>
          </a:bodyPr>
          <a:lstStyle/>
          <a:p>
            <a:r>
              <a:rPr lang="en-US"/>
              <a:t>Click to edit Master title style</a:t>
            </a:r>
          </a:p>
        </p:txBody>
      </p:sp>
    </p:spTree>
    <p:extLst>
      <p:ext uri="{BB962C8B-B14F-4D97-AF65-F5344CB8AC3E}">
        <p14:creationId xmlns:p14="http://schemas.microsoft.com/office/powerpoint/2010/main" val="2368130433"/>
      </p:ext>
    </p:extLst>
  </p:cSld>
  <p:clrMap bg1="lt1" tx1="dk1" bg2="lt2" tx2="dk2" accent1="accent1" accent2="accent2" accent3="accent3" accent4="accent4" accent5="accent5" accent6="accent6" hlink="hlink" folHlink="folHlink"/>
  <p:sldLayoutIdLst>
    <p:sldLayoutId id="2147483706" r:id="rId1"/>
    <p:sldLayoutId id="2147483708" r:id="rId2"/>
    <p:sldLayoutId id="2147483711" r:id="rId3"/>
    <p:sldLayoutId id="2147483712" r:id="rId4"/>
    <p:sldLayoutId id="2147483718" r:id="rId5"/>
    <p:sldLayoutId id="2147483719" r:id="rId6"/>
    <p:sldLayoutId id="2147483720" r:id="rId7"/>
  </p:sldLayoutIdLst>
  <p:hf hdr="0" ftr="0" dt="0"/>
  <p:txStyles>
    <p:titleStyle>
      <a:lvl1pPr algn="l" defTabSz="914400" rtl="0" eaLnBrk="1" latinLnBrk="0" hangingPunct="1">
        <a:lnSpc>
          <a:spcPct val="90000"/>
        </a:lnSpc>
        <a:spcBef>
          <a:spcPct val="0"/>
        </a:spcBef>
        <a:buNone/>
        <a:defRPr sz="3600" b="1"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6.svg"/></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8.sv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8.sv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8.sv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8.sv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8.sv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8.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0.sv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0.sv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10.sv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12.svg"/></Relationships>
</file>

<file path=ppt/slides/_rels/slide2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14.svg"/></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14.svg"/></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14.sv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5.xml"/><Relationship Id="rId1" Type="http://schemas.openxmlformats.org/officeDocument/2006/relationships/tags" Target="../tags/tag4.xml"/></Relationships>
</file>

<file path=ppt/slides/_rels/slide46.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tags" Target="../tags/tag6.xml"/><Relationship Id="rId4"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8" Type="http://schemas.openxmlformats.org/officeDocument/2006/relationships/tags" Target="../tags/tag16.xml"/><Relationship Id="rId13" Type="http://schemas.openxmlformats.org/officeDocument/2006/relationships/tags" Target="../tags/tag21.xml"/><Relationship Id="rId3" Type="http://schemas.openxmlformats.org/officeDocument/2006/relationships/tags" Target="../tags/tag11.xml"/><Relationship Id="rId7" Type="http://schemas.openxmlformats.org/officeDocument/2006/relationships/tags" Target="../tags/tag15.xml"/><Relationship Id="rId12" Type="http://schemas.openxmlformats.org/officeDocument/2006/relationships/tags" Target="../tags/tag20.xml"/><Relationship Id="rId17" Type="http://schemas.openxmlformats.org/officeDocument/2006/relationships/notesSlide" Target="../notesSlides/notesSlide29.xml"/><Relationship Id="rId2" Type="http://schemas.openxmlformats.org/officeDocument/2006/relationships/tags" Target="../tags/tag10.xml"/><Relationship Id="rId16" Type="http://schemas.openxmlformats.org/officeDocument/2006/relationships/slideLayout" Target="../slideLayouts/slideLayout3.xml"/><Relationship Id="rId1" Type="http://schemas.openxmlformats.org/officeDocument/2006/relationships/tags" Target="../tags/tag9.xml"/><Relationship Id="rId6" Type="http://schemas.openxmlformats.org/officeDocument/2006/relationships/tags" Target="../tags/tag14.xml"/><Relationship Id="rId11" Type="http://schemas.openxmlformats.org/officeDocument/2006/relationships/tags" Target="../tags/tag19.xml"/><Relationship Id="rId5" Type="http://schemas.openxmlformats.org/officeDocument/2006/relationships/tags" Target="../tags/tag13.xml"/><Relationship Id="rId15" Type="http://schemas.openxmlformats.org/officeDocument/2006/relationships/tags" Target="../tags/tag23.xml"/><Relationship Id="rId10" Type="http://schemas.openxmlformats.org/officeDocument/2006/relationships/tags" Target="../tags/tag18.xml"/><Relationship Id="rId4" Type="http://schemas.openxmlformats.org/officeDocument/2006/relationships/tags" Target="../tags/tag12.xml"/><Relationship Id="rId9" Type="http://schemas.openxmlformats.org/officeDocument/2006/relationships/tags" Target="../tags/tag17.xml"/><Relationship Id="rId14" Type="http://schemas.openxmlformats.org/officeDocument/2006/relationships/tags" Target="../tags/tag2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tags" Target="../tags/tag26.xml"/><Relationship Id="rId7" Type="http://schemas.openxmlformats.org/officeDocument/2006/relationships/notesSlide" Target="../notesSlides/notesSlide34.xml"/><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slideLayout" Target="../slideLayouts/slideLayout3.xml"/><Relationship Id="rId5" Type="http://schemas.openxmlformats.org/officeDocument/2006/relationships/tags" Target="../tags/tag28.xml"/><Relationship Id="rId4" Type="http://schemas.openxmlformats.org/officeDocument/2006/relationships/tags" Target="../tags/tag2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 Id="rId5" Type="http://schemas.openxmlformats.org/officeDocument/2006/relationships/notesSlide" Target="../notesSlides/notesSlide40.xml"/><Relationship Id="rId4"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33.xml"/><Relationship Id="rId1" Type="http://schemas.openxmlformats.org/officeDocument/2006/relationships/tags" Target="../tags/tag32.xml"/><Relationship Id="rId4" Type="http://schemas.openxmlformats.org/officeDocument/2006/relationships/notesSlide" Target="../notesSlides/notesSlide4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notesSlide" Target="../notesSlides/notesSlide43.xml"/><Relationship Id="rId5" Type="http://schemas.openxmlformats.org/officeDocument/2006/relationships/slideLayout" Target="../slideLayouts/slideLayout3.xml"/><Relationship Id="rId4" Type="http://schemas.openxmlformats.org/officeDocument/2006/relationships/tags" Target="../tags/tag3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8" Type="http://schemas.openxmlformats.org/officeDocument/2006/relationships/tags" Target="../tags/tag45.xml"/><Relationship Id="rId13" Type="http://schemas.openxmlformats.org/officeDocument/2006/relationships/slideLayout" Target="../slideLayouts/slideLayout3.xml"/><Relationship Id="rId3" Type="http://schemas.openxmlformats.org/officeDocument/2006/relationships/tags" Target="../tags/tag40.xml"/><Relationship Id="rId7" Type="http://schemas.openxmlformats.org/officeDocument/2006/relationships/tags" Target="../tags/tag44.xml"/><Relationship Id="rId12" Type="http://schemas.openxmlformats.org/officeDocument/2006/relationships/tags" Target="../tags/tag49.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tags" Target="../tags/tag43.xml"/><Relationship Id="rId11" Type="http://schemas.openxmlformats.org/officeDocument/2006/relationships/tags" Target="../tags/tag48.xml"/><Relationship Id="rId5" Type="http://schemas.openxmlformats.org/officeDocument/2006/relationships/tags" Target="../tags/tag42.xml"/><Relationship Id="rId10" Type="http://schemas.openxmlformats.org/officeDocument/2006/relationships/tags" Target="../tags/tag47.xml"/><Relationship Id="rId4" Type="http://schemas.openxmlformats.org/officeDocument/2006/relationships/tags" Target="../tags/tag41.xml"/><Relationship Id="rId9" Type="http://schemas.openxmlformats.org/officeDocument/2006/relationships/tags" Target="../tags/tag46.xml"/><Relationship Id="rId14"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FB68B-46CE-95B7-E1BC-7CEB1C348323}"/>
              </a:ext>
            </a:extLst>
          </p:cNvPr>
          <p:cNvSpPr>
            <a:spLocks noGrp="1"/>
          </p:cNvSpPr>
          <p:nvPr>
            <p:ph type="ctrTitle"/>
          </p:nvPr>
        </p:nvSpPr>
        <p:spPr/>
        <p:txBody>
          <a:bodyPr/>
          <a:lstStyle/>
          <a:p>
            <a:r>
              <a:rPr lang="en-US" sz="4800" dirty="0">
                <a:solidFill>
                  <a:schemeClr val="tx1">
                    <a:lumMod val="50000"/>
                  </a:schemeClr>
                </a:solidFill>
              </a:rPr>
              <a:t>Research Enterprise Initiative Report-Out: Session 1</a:t>
            </a:r>
          </a:p>
        </p:txBody>
      </p:sp>
      <p:sp>
        <p:nvSpPr>
          <p:cNvPr id="3" name="Subtitle 2">
            <a:extLst>
              <a:ext uri="{FF2B5EF4-FFF2-40B4-BE49-F238E27FC236}">
                <a16:creationId xmlns:a16="http://schemas.microsoft.com/office/drawing/2014/main" id="{36EABBF6-799B-3A96-1B4F-DA0F207ACA9E}"/>
              </a:ext>
            </a:extLst>
          </p:cNvPr>
          <p:cNvSpPr>
            <a:spLocks noGrp="1"/>
          </p:cNvSpPr>
          <p:nvPr>
            <p:ph type="subTitle" idx="1"/>
          </p:nvPr>
        </p:nvSpPr>
        <p:spPr/>
        <p:txBody>
          <a:bodyPr/>
          <a:lstStyle/>
          <a:p>
            <a:r>
              <a:rPr lang="en-US" dirty="0"/>
              <a:t>August 17, 2022</a:t>
            </a:r>
          </a:p>
        </p:txBody>
      </p:sp>
      <p:sp>
        <p:nvSpPr>
          <p:cNvPr id="5" name="Slide Number Placeholder 2">
            <a:extLst>
              <a:ext uri="{FF2B5EF4-FFF2-40B4-BE49-F238E27FC236}">
                <a16:creationId xmlns:a16="http://schemas.microsoft.com/office/drawing/2014/main" id="{723C30D5-E49F-2013-76BD-249F1397E50B}"/>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362364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0AA1619E-2335-7250-B91C-9AAA986B194F}"/>
              </a:ext>
            </a:extLst>
          </p:cNvPr>
          <p:cNvSpPr txBox="1"/>
          <p:nvPr/>
        </p:nvSpPr>
        <p:spPr>
          <a:xfrm>
            <a:off x="594196" y="4989446"/>
            <a:ext cx="8316402"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prstClr val="black"/>
                </a:solidFill>
                <a:effectLst/>
                <a:uLnTx/>
                <a:uFillTx/>
                <a:latin typeface="Calibri" panose="020F0502020204030204"/>
                <a:ea typeface="+mn-ea"/>
                <a:cs typeface="+mn-cs"/>
              </a:rPr>
              <a:t>* Initiative Executive Sponsors are the first name listed for each initiative above; initiative owners are the second name</a:t>
            </a:r>
          </a:p>
        </p:txBody>
      </p:sp>
      <p:sp>
        <p:nvSpPr>
          <p:cNvPr id="7" name="TextBox 6">
            <a:extLst>
              <a:ext uri="{FF2B5EF4-FFF2-40B4-BE49-F238E27FC236}">
                <a16:creationId xmlns:a16="http://schemas.microsoft.com/office/drawing/2014/main" id="{E381CA38-9548-499E-23F9-6B15E1E7B1B1}"/>
              </a:ext>
            </a:extLst>
          </p:cNvPr>
          <p:cNvSpPr txBox="1"/>
          <p:nvPr/>
        </p:nvSpPr>
        <p:spPr>
          <a:xfrm>
            <a:off x="388008" y="1683888"/>
            <a:ext cx="5908017" cy="2923877"/>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rPr>
              <a:t>Session 1 ORD Strategy &amp; Internal Organization Initiatives</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rPr>
              <a:t>8/17, 1:30 – 2:30 PM:</a:t>
            </a:r>
          </a:p>
          <a:p>
            <a:pPr marL="342900" marR="0" lvl="0"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(5 mins) Introduction: Rachel Ramoni</a:t>
            </a:r>
          </a:p>
          <a:p>
            <a:pPr marL="342900" marR="0" lvl="0"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(15 mins) Org Alignment: Rachel Ramoni &amp; Molly Klote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Calibri"/>
            </a:endParaRPr>
          </a:p>
          <a:p>
            <a:pPr marL="342900" marR="0" lvl="0"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(15 mins) AMP: Chris Bever &amp; Ken Myrie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Calibri"/>
            </a:endParaRPr>
          </a:p>
          <a:p>
            <a:pPr marL="342900" marR="0" lvl="0"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i="0" u="none" strike="noStrike" kern="1200" cap="none" spc="0" normalizeH="0" baseline="0" noProof="0" dirty="0">
                <a:ln>
                  <a:noFill/>
                </a:ln>
                <a:solidFill>
                  <a:prstClr val="black"/>
                </a:solidFill>
                <a:effectLst/>
                <a:uLnTx/>
                <a:uFillTx/>
                <a:latin typeface="Calibri" panose="020F0502020204030204"/>
                <a:ea typeface="+mn-ea"/>
                <a:cs typeface="+mn-cs"/>
              </a:rPr>
              <a:t>(5 mins) STEAM: Wendy Tenhula &amp; Eva-Marie Austin </a:t>
            </a:r>
          </a:p>
          <a:p>
            <a:pPr marL="342900" marR="0" lvl="0"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i="0" u="none" strike="noStrike" kern="1200" cap="none" spc="0" normalizeH="0" baseline="0" noProof="0" dirty="0">
                <a:ln>
                  <a:noFill/>
                </a:ln>
                <a:solidFill>
                  <a:prstClr val="black"/>
                </a:solidFill>
                <a:effectLst/>
                <a:uLnTx/>
                <a:uFillTx/>
                <a:latin typeface="Calibri" panose="020F0502020204030204"/>
                <a:ea typeface="+mn-ea"/>
                <a:cs typeface="+mn-cs"/>
              </a:rPr>
              <a:t>(5 mins) Finance Process: Wendy Tenhula &amp; Jason Berlow</a:t>
            </a:r>
          </a:p>
          <a:p>
            <a:pPr marL="342900" marR="0" lvl="0"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(10 mins) Discussion</a:t>
            </a:r>
          </a:p>
          <a:p>
            <a:pPr marL="342900" marR="0" lvl="0"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(5 mins) Decisions and Action Items</a:t>
            </a:r>
          </a:p>
        </p:txBody>
      </p:sp>
      <p:sp>
        <p:nvSpPr>
          <p:cNvPr id="8" name="TextBox 7">
            <a:extLst>
              <a:ext uri="{FF2B5EF4-FFF2-40B4-BE49-F238E27FC236}">
                <a16:creationId xmlns:a16="http://schemas.microsoft.com/office/drawing/2014/main" id="{22BF31E3-CE65-17D7-00C1-746446A1B08E}"/>
              </a:ext>
            </a:extLst>
          </p:cNvPr>
          <p:cNvSpPr txBox="1"/>
          <p:nvPr/>
        </p:nvSpPr>
        <p:spPr>
          <a:xfrm>
            <a:off x="5895975" y="1683888"/>
            <a:ext cx="5908017" cy="29238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a:ln>
                  <a:noFill/>
                </a:ln>
                <a:solidFill>
                  <a:prstClr val="black"/>
                </a:solidFill>
                <a:effectLst/>
                <a:uLnTx/>
                <a:uFillTx/>
                <a:latin typeface="Calibri" panose="020F0502020204030204"/>
                <a:ea typeface="+mn-ea"/>
                <a:cs typeface="+mn-cs"/>
              </a:rPr>
              <a:t>Session 2 Field Support Initiatives</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a:ln>
                  <a:noFill/>
                </a:ln>
                <a:solidFill>
                  <a:prstClr val="black"/>
                </a:solidFill>
                <a:effectLst/>
                <a:uLnTx/>
                <a:uFillTx/>
                <a:latin typeface="Calibri" panose="020F0502020204030204"/>
                <a:ea typeface="+mn-ea"/>
                <a:cs typeface="+mn-cs"/>
              </a:rPr>
              <a:t>8/19, 1:00 – 2:00 PM:</a:t>
            </a:r>
          </a:p>
          <a:p>
            <a:pPr marL="342900" marR="0" lvl="0"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(5 mins) Introduction: Rachel Ramoni</a:t>
            </a:r>
          </a:p>
          <a:p>
            <a:pPr marL="342900" marR="0" lvl="0"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(20 mins) IT &amp; Data Governance: Molly Klote &amp; Scott DuVall</a:t>
            </a:r>
          </a:p>
          <a:p>
            <a:pPr marL="342900" marR="0" lvl="0"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(5 mins) FERSS: Grant Huang &amp; Tony Laracuente</a:t>
            </a:r>
          </a:p>
          <a:p>
            <a:pPr marL="342900" marR="0" lvl="0"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(5 mins) Central Research HR: Grant Huang &amp; Tony Laracuente</a:t>
            </a:r>
          </a:p>
          <a:p>
            <a:pPr marL="342900" marR="0" lvl="0"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(5 mins) PRP: Grant Huang &amp; Krissa Caroff </a:t>
            </a:r>
          </a:p>
          <a:p>
            <a:pPr marL="342900" marR="0" lvl="0"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(10 mins) Discussion</a:t>
            </a:r>
          </a:p>
          <a:p>
            <a:pPr marL="342900" marR="0" lvl="0"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(5 mins) Decisions and Action Items</a:t>
            </a:r>
          </a:p>
        </p:txBody>
      </p:sp>
      <p:sp>
        <p:nvSpPr>
          <p:cNvPr id="10" name="Slide Number Placeholder 3">
            <a:extLst>
              <a:ext uri="{FF2B5EF4-FFF2-40B4-BE49-F238E27FC236}">
                <a16:creationId xmlns:a16="http://schemas.microsoft.com/office/drawing/2014/main" id="{292787C2-D152-023E-E2EF-9E39DB35EACE}"/>
              </a:ext>
            </a:extLst>
          </p:cNvPr>
          <p:cNvSpPr>
            <a:spLocks noGrp="1"/>
          </p:cNvSpPr>
          <p:nvPr>
            <p:ph type="sldNum" sz="quarter" idx="12"/>
          </p:nvPr>
        </p:nvSpPr>
        <p:spPr>
          <a:xfrm>
            <a:off x="9448800" y="6492875"/>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Title 1">
            <a:extLst>
              <a:ext uri="{FF2B5EF4-FFF2-40B4-BE49-F238E27FC236}">
                <a16:creationId xmlns:a16="http://schemas.microsoft.com/office/drawing/2014/main" id="{A064C2D3-F1E9-1500-4C37-24A44CCE3CFA}"/>
              </a:ext>
            </a:extLst>
          </p:cNvPr>
          <p:cNvSpPr txBox="1">
            <a:spLocks/>
          </p:cNvSpPr>
          <p:nvPr/>
        </p:nvSpPr>
        <p:spPr>
          <a:xfrm>
            <a:off x="304800" y="-6117"/>
            <a:ext cx="10515600" cy="8814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Report-Out Schedule</a:t>
            </a:r>
          </a:p>
        </p:txBody>
      </p:sp>
    </p:spTree>
    <p:extLst>
      <p:ext uri="{BB962C8B-B14F-4D97-AF65-F5344CB8AC3E}">
        <p14:creationId xmlns:p14="http://schemas.microsoft.com/office/powerpoint/2010/main" val="34006710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312732-C7CE-47D3-A994-5C9DAF8F6542}"/>
              </a:ext>
            </a:extLst>
          </p:cNvPr>
          <p:cNvSpPr>
            <a:spLocks noGrp="1"/>
          </p:cNvSpPr>
          <p:nvPr>
            <p:ph type="title"/>
          </p:nvPr>
        </p:nvSpPr>
        <p:spPr/>
        <p:txBody>
          <a:bodyPr/>
          <a:lstStyle/>
          <a:p>
            <a:r>
              <a:rPr lang="en-US" dirty="0">
                <a:solidFill>
                  <a:schemeClr val="tx1"/>
                </a:solidFill>
              </a:rPr>
              <a:t>Organizational Alignment</a:t>
            </a:r>
            <a:br>
              <a:rPr lang="en-US" dirty="0">
                <a:solidFill>
                  <a:schemeClr val="tx1"/>
                </a:solidFill>
              </a:rPr>
            </a:br>
            <a:endParaRPr lang="en-US" dirty="0">
              <a:solidFill>
                <a:schemeClr val="tx1"/>
              </a:solidFill>
            </a:endParaRPr>
          </a:p>
        </p:txBody>
      </p:sp>
      <p:sp>
        <p:nvSpPr>
          <p:cNvPr id="6" name="Slide Number Placeholder 2">
            <a:extLst>
              <a:ext uri="{FF2B5EF4-FFF2-40B4-BE49-F238E27FC236}">
                <a16:creationId xmlns:a16="http://schemas.microsoft.com/office/drawing/2014/main" id="{348A4DB6-213A-EF35-FF18-1097643D6169}"/>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131740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descr="Cycle with people outline">
            <a:extLst>
              <a:ext uri="{FF2B5EF4-FFF2-40B4-BE49-F238E27FC236}">
                <a16:creationId xmlns:a16="http://schemas.microsoft.com/office/drawing/2014/main" id="{521BD697-AAD5-F155-F9EB-C0BDF21580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11527" y="106045"/>
            <a:ext cx="685800" cy="685800"/>
          </a:xfrm>
          <a:prstGeom prst="rect">
            <a:avLst/>
          </a:prstGeom>
        </p:spPr>
      </p:pic>
      <p:graphicFrame>
        <p:nvGraphicFramePr>
          <p:cNvPr id="4" name="Table 4">
            <a:extLst>
              <a:ext uri="{FF2B5EF4-FFF2-40B4-BE49-F238E27FC236}">
                <a16:creationId xmlns:a16="http://schemas.microsoft.com/office/drawing/2014/main" id="{89D270C5-A08C-47F8-3DFF-659BE2F232FF}"/>
              </a:ext>
            </a:extLst>
          </p:cNvPr>
          <p:cNvGraphicFramePr>
            <a:graphicFrameLocks noGrp="1"/>
          </p:cNvGraphicFramePr>
          <p:nvPr/>
        </p:nvGraphicFramePr>
        <p:xfrm>
          <a:off x="0" y="879636"/>
          <a:ext cx="12192000" cy="4084741"/>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080473561"/>
                    </a:ext>
                  </a:extLst>
                </a:gridCol>
                <a:gridCol w="9525000">
                  <a:extLst>
                    <a:ext uri="{9D8B030D-6E8A-4147-A177-3AD203B41FA5}">
                      <a16:colId xmlns:a16="http://schemas.microsoft.com/office/drawing/2014/main" val="1869368987"/>
                    </a:ext>
                  </a:extLst>
                </a:gridCol>
              </a:tblGrid>
              <a:tr h="1408531">
                <a:tc>
                  <a:txBody>
                    <a:bodyPr/>
                    <a:lstStyle/>
                    <a:p>
                      <a:r>
                        <a:rPr lang="en-US" b="1" strike="noStrike" dirty="0">
                          <a:solidFill>
                            <a:schemeClr val="tx1"/>
                          </a:solidFill>
                        </a:rPr>
                        <a:t>Initiative Objectives: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r>
                        <a:rPr lang="en-US" b="0" i="0" strike="noStrike" dirty="0">
                          <a:solidFill>
                            <a:schemeClr val="tx1"/>
                          </a:solidFill>
                        </a:rPr>
                        <a:t>Ensure alignment of organizational structure and roles with the desired enterprise functions to build capacity and better support researchers, Veterans, and the broader VA Research Enterprise</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3835389272"/>
                  </a:ext>
                </a:extLst>
              </a:tr>
              <a:tr h="2676210">
                <a:tc>
                  <a:txBody>
                    <a:bodyPr/>
                    <a:lstStyle/>
                    <a:p>
                      <a:r>
                        <a:rPr lang="en-US" b="1" strike="noStrike" dirty="0">
                          <a:solidFill>
                            <a:schemeClr val="tx1"/>
                          </a:solidFill>
                        </a:rPr>
                        <a:t>Major Outputs Promised:</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pPr marL="285750" indent="-285750">
                        <a:buFont typeface="Arial" panose="020B0604020202020204" pitchFamily="34" charset="0"/>
                        <a:buChar char="•"/>
                      </a:pPr>
                      <a:r>
                        <a:rPr lang="en-US" i="1" strike="noStrike" dirty="0">
                          <a:solidFill>
                            <a:schemeClr val="tx1"/>
                          </a:solidFill>
                        </a:rPr>
                        <a:t>Design principles and standards</a:t>
                      </a:r>
                    </a:p>
                    <a:p>
                      <a:pPr marL="285750" indent="-285750">
                        <a:buFont typeface="Arial" panose="020B0604020202020204" pitchFamily="34" charset="0"/>
                        <a:buChar char="•"/>
                      </a:pPr>
                      <a:r>
                        <a:rPr lang="en-US" b="0" i="1" strike="noStrike" dirty="0">
                          <a:solidFill>
                            <a:schemeClr val="tx1"/>
                          </a:solidFill>
                        </a:rPr>
                        <a:t>Official org chart compared with real-world scope of control analysis </a:t>
                      </a:r>
                    </a:p>
                    <a:p>
                      <a:pPr marL="285750" indent="-285750">
                        <a:buFont typeface="Arial" panose="020B0604020202020204" pitchFamily="34" charset="0"/>
                        <a:buChar char="•"/>
                      </a:pPr>
                      <a:r>
                        <a:rPr lang="en-US" i="1" strike="noStrike" dirty="0">
                          <a:solidFill>
                            <a:schemeClr val="tx1"/>
                          </a:solidFill>
                        </a:rPr>
                        <a:t>L1 &amp; L2 org chart, role charters, decision rights</a:t>
                      </a:r>
                    </a:p>
                    <a:p>
                      <a:pPr marL="285750" indent="-285750">
                        <a:buFont typeface="Arial" panose="020B0604020202020204" pitchFamily="34" charset="0"/>
                        <a:buChar char="•"/>
                      </a:pPr>
                      <a:r>
                        <a:rPr lang="en-US" i="1" strike="noStrike" dirty="0">
                          <a:solidFill>
                            <a:schemeClr val="tx1"/>
                          </a:solidFill>
                        </a:rPr>
                        <a:t>L3-L5 org chart, role charters, decision rights </a:t>
                      </a:r>
                    </a:p>
                    <a:p>
                      <a:pPr marL="285750" indent="-285750">
                        <a:buFont typeface="Arial" panose="020B0604020202020204" pitchFamily="34" charset="0"/>
                        <a:buChar char="•"/>
                      </a:pPr>
                      <a:r>
                        <a:rPr lang="en-US" i="1" strike="noStrike" dirty="0">
                          <a:solidFill>
                            <a:schemeClr val="tx1"/>
                          </a:solidFill>
                        </a:rPr>
                        <a:t>Communications plan</a:t>
                      </a:r>
                    </a:p>
                    <a:p>
                      <a:pPr marL="285750" indent="-285750">
                        <a:buFont typeface="Arial" panose="020B0604020202020204" pitchFamily="34" charset="0"/>
                        <a:buChar char="•"/>
                      </a:pPr>
                      <a:r>
                        <a:rPr lang="en-US" i="1" strike="noStrike" dirty="0">
                          <a:solidFill>
                            <a:schemeClr val="tx1"/>
                          </a:solidFill>
                        </a:rPr>
                        <a:t>All new signed org chart and position descriptions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2389873790"/>
                  </a:ext>
                </a:extLst>
              </a:tr>
            </a:tbl>
          </a:graphicData>
        </a:graphic>
      </p:graphicFrame>
      <p:sp>
        <p:nvSpPr>
          <p:cNvPr id="13" name="Title 1">
            <a:extLst>
              <a:ext uri="{FF2B5EF4-FFF2-40B4-BE49-F238E27FC236}">
                <a16:creationId xmlns:a16="http://schemas.microsoft.com/office/drawing/2014/main" id="{2D24CA2F-9675-E687-2802-67F560F334E4}"/>
              </a:ext>
            </a:extLst>
          </p:cNvPr>
          <p:cNvSpPr>
            <a:spLocks noGrp="1"/>
          </p:cNvSpPr>
          <p:nvPr>
            <p:ph type="title"/>
          </p:nvPr>
        </p:nvSpPr>
        <p:spPr>
          <a:xfrm>
            <a:off x="1011627" y="108834"/>
            <a:ext cx="10515600" cy="680223"/>
          </a:xfrm>
        </p:spPr>
        <p:txBody>
          <a:bodyPr/>
          <a:lstStyle/>
          <a:p>
            <a:r>
              <a:rPr lang="en-US" sz="2400" dirty="0"/>
              <a:t>Organizational Alignment: Objectives</a:t>
            </a:r>
          </a:p>
        </p:txBody>
      </p:sp>
      <p:sp>
        <p:nvSpPr>
          <p:cNvPr id="6" name="Slide Number Placeholder 2">
            <a:extLst>
              <a:ext uri="{FF2B5EF4-FFF2-40B4-BE49-F238E27FC236}">
                <a16:creationId xmlns:a16="http://schemas.microsoft.com/office/drawing/2014/main" id="{3F5B6B3B-6C8C-6BE4-BFA9-82589091D5AE}"/>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964420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89D270C5-A08C-47F8-3DFF-659BE2F232FF}"/>
              </a:ext>
            </a:extLst>
          </p:cNvPr>
          <p:cNvGraphicFramePr>
            <a:graphicFrameLocks noGrp="1"/>
          </p:cNvGraphicFramePr>
          <p:nvPr/>
        </p:nvGraphicFramePr>
        <p:xfrm>
          <a:off x="0" y="888690"/>
          <a:ext cx="12192000" cy="4454233"/>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080473561"/>
                    </a:ext>
                  </a:extLst>
                </a:gridCol>
                <a:gridCol w="9525000">
                  <a:extLst>
                    <a:ext uri="{9D8B030D-6E8A-4147-A177-3AD203B41FA5}">
                      <a16:colId xmlns:a16="http://schemas.microsoft.com/office/drawing/2014/main" val="1869368987"/>
                    </a:ext>
                  </a:extLst>
                </a:gridCol>
              </a:tblGrid>
              <a:tr h="970992">
                <a:tc>
                  <a:txBody>
                    <a:bodyPr/>
                    <a:lstStyle/>
                    <a:p>
                      <a:r>
                        <a:rPr lang="en-US" b="1" strike="noStrike" dirty="0">
                          <a:solidFill>
                            <a:schemeClr val="tx1"/>
                          </a:solidFill>
                        </a:rPr>
                        <a:t>Outputs Delivered:</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pPr marL="285750" indent="-285750">
                        <a:buFont typeface="Arial" panose="020B0604020202020204" pitchFamily="34" charset="0"/>
                        <a:buChar char="•"/>
                      </a:pPr>
                      <a:r>
                        <a:rPr lang="en-US" b="0" i="1" strike="noStrike" dirty="0">
                          <a:solidFill>
                            <a:schemeClr val="tx1"/>
                          </a:solidFill>
                        </a:rPr>
                        <a:t>Design principles and standards; official org chart compared with real-world scope of control analysis; L1 &amp; L2 org chart, role charters, decision rights; Communications plan; Compiled org charts reflecting Oct 1 changes; DEAN’s Concurrence Form signature for Oct 1 changes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3835389272"/>
                  </a:ext>
                </a:extLst>
              </a:tr>
              <a:tr h="562559">
                <a:tc>
                  <a:txBody>
                    <a:bodyPr/>
                    <a:lstStyle/>
                    <a:p>
                      <a:r>
                        <a:rPr lang="en-US" b="1" strike="noStrike" dirty="0">
                          <a:solidFill>
                            <a:schemeClr val="tx1"/>
                          </a:solidFill>
                        </a:rPr>
                        <a:t>Outputs Rescheduled:</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pPr marL="285750" indent="-285750">
                        <a:buFont typeface="Arial" panose="020B0604020202020204" pitchFamily="34" charset="0"/>
                        <a:buChar char="•"/>
                      </a:pPr>
                      <a:r>
                        <a:rPr lang="en-US" i="1" strike="noStrike" dirty="0">
                          <a:solidFill>
                            <a:schemeClr val="tx1"/>
                          </a:solidFill>
                        </a:rPr>
                        <a:t>L3-L5 org chart, decision rights, end-state signed org chart</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2389873790"/>
                  </a:ext>
                </a:extLst>
              </a:tr>
              <a:tr h="1387131">
                <a:tc>
                  <a:txBody>
                    <a:bodyPr/>
                    <a:lstStyle/>
                    <a:p>
                      <a:r>
                        <a:rPr lang="en-US" b="1" dirty="0">
                          <a:solidFill>
                            <a:schemeClr val="tx1"/>
                          </a:solidFill>
                        </a:rPr>
                        <a:t>Lessons Learned:</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pPr marL="285750" indent="-285750">
                        <a:buFont typeface="Arial" panose="020B0604020202020204" pitchFamily="34" charset="0"/>
                        <a:buChar char="•"/>
                      </a:pPr>
                      <a:r>
                        <a:rPr lang="en-US" i="1" dirty="0">
                          <a:solidFill>
                            <a:schemeClr val="tx1"/>
                          </a:solidFill>
                        </a:rPr>
                        <a:t>Decided to shift to phased roll-out approach to allow for learning from prototypes and additional opportunities to have stakeholder participation.  This created a major shift away from fully designing the organization by Oct 1. </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2668848712"/>
                  </a:ext>
                </a:extLst>
              </a:tr>
              <a:tr h="562559">
                <a:tc>
                  <a:txBody>
                    <a:bodyPr/>
                    <a:lstStyle/>
                    <a:p>
                      <a:r>
                        <a:rPr lang="en-US" b="1" u="sng" dirty="0">
                          <a:solidFill>
                            <a:schemeClr val="tx1"/>
                          </a:solidFill>
                        </a:rPr>
                        <a:t>Current</a:t>
                      </a:r>
                      <a:r>
                        <a:rPr lang="en-US" b="1" dirty="0">
                          <a:solidFill>
                            <a:schemeClr val="tx1"/>
                          </a:solidFill>
                        </a:rPr>
                        <a:t> Roadblocks: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i="1" u="none" dirty="0">
                          <a:solidFill>
                            <a:schemeClr val="tx1"/>
                          </a:solidFill>
                        </a:rPr>
                        <a:t>No currently identified roadblocks </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3999873908"/>
                  </a:ext>
                </a:extLst>
              </a:tr>
              <a:tr h="970992">
                <a:tc>
                  <a:txBody>
                    <a:bodyPr/>
                    <a:lstStyle/>
                    <a:p>
                      <a:r>
                        <a:rPr lang="en-US" b="1" dirty="0">
                          <a:solidFill>
                            <a:schemeClr val="tx1"/>
                          </a:solidFill>
                        </a:rPr>
                        <a:t>Mitigation Strategies: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r>
                        <a:rPr lang="en-US" i="1" dirty="0">
                          <a:solidFill>
                            <a:schemeClr val="tx1"/>
                          </a:solidFill>
                        </a:rPr>
                        <a:t>N/A</a:t>
                      </a:r>
                    </a:p>
                    <a:p>
                      <a:endParaRPr lang="en-US" i="1" dirty="0">
                        <a:solidFill>
                          <a:schemeClr val="tx1"/>
                        </a:solidFill>
                      </a:endParaRP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1463779455"/>
                  </a:ext>
                </a:extLst>
              </a:tr>
            </a:tbl>
          </a:graphicData>
        </a:graphic>
      </p:graphicFrame>
      <p:sp>
        <p:nvSpPr>
          <p:cNvPr id="13" name="Title 1">
            <a:extLst>
              <a:ext uri="{FF2B5EF4-FFF2-40B4-BE49-F238E27FC236}">
                <a16:creationId xmlns:a16="http://schemas.microsoft.com/office/drawing/2014/main" id="{2D24CA2F-9675-E687-2802-67F560F334E4}"/>
              </a:ext>
            </a:extLst>
          </p:cNvPr>
          <p:cNvSpPr>
            <a:spLocks noGrp="1"/>
          </p:cNvSpPr>
          <p:nvPr>
            <p:ph type="title"/>
          </p:nvPr>
        </p:nvSpPr>
        <p:spPr>
          <a:xfrm>
            <a:off x="1011627" y="108834"/>
            <a:ext cx="10515600" cy="680223"/>
          </a:xfrm>
        </p:spPr>
        <p:txBody>
          <a:bodyPr/>
          <a:lstStyle/>
          <a:p>
            <a:r>
              <a:rPr lang="en-US" sz="2400" dirty="0"/>
              <a:t>Organizational Alignment: Delivery Status</a:t>
            </a:r>
          </a:p>
        </p:txBody>
      </p:sp>
      <p:sp>
        <p:nvSpPr>
          <p:cNvPr id="6" name="Slide Number Placeholder 2">
            <a:extLst>
              <a:ext uri="{FF2B5EF4-FFF2-40B4-BE49-F238E27FC236}">
                <a16:creationId xmlns:a16="http://schemas.microsoft.com/office/drawing/2014/main" id="{8BA51756-C407-A46A-8629-848245F6DF91}"/>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Graphic 6" descr="Cycle with people outline">
            <a:extLst>
              <a:ext uri="{FF2B5EF4-FFF2-40B4-BE49-F238E27FC236}">
                <a16:creationId xmlns:a16="http://schemas.microsoft.com/office/drawing/2014/main" id="{CC830047-C4BD-0331-D78A-B2C6E3ED8B2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11527" y="106045"/>
            <a:ext cx="685800" cy="685800"/>
          </a:xfrm>
          <a:prstGeom prst="rect">
            <a:avLst/>
          </a:prstGeom>
        </p:spPr>
      </p:pic>
    </p:spTree>
    <p:extLst>
      <p:ext uri="{BB962C8B-B14F-4D97-AF65-F5344CB8AC3E}">
        <p14:creationId xmlns:p14="http://schemas.microsoft.com/office/powerpoint/2010/main" val="25670601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89D270C5-A08C-47F8-3DFF-659BE2F232FF}"/>
              </a:ext>
            </a:extLst>
          </p:cNvPr>
          <p:cNvGraphicFramePr>
            <a:graphicFrameLocks noGrp="1"/>
          </p:cNvGraphicFramePr>
          <p:nvPr/>
        </p:nvGraphicFramePr>
        <p:xfrm>
          <a:off x="0" y="861531"/>
          <a:ext cx="12192000" cy="475488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080473561"/>
                    </a:ext>
                  </a:extLst>
                </a:gridCol>
                <a:gridCol w="9525000">
                  <a:extLst>
                    <a:ext uri="{9D8B030D-6E8A-4147-A177-3AD203B41FA5}">
                      <a16:colId xmlns:a16="http://schemas.microsoft.com/office/drawing/2014/main" val="1869368987"/>
                    </a:ext>
                  </a:extLst>
                </a:gridCol>
              </a:tblGrid>
              <a:tr h="370840">
                <a:tc>
                  <a:txBody>
                    <a:bodyPr/>
                    <a:lstStyle/>
                    <a:p>
                      <a:r>
                        <a:rPr lang="en-US" b="1" dirty="0">
                          <a:solidFill>
                            <a:schemeClr val="tx1"/>
                          </a:solidFill>
                        </a:rPr>
                        <a:t>Recommendations for Initiative in FY23:</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pPr marL="285750" indent="-285750">
                        <a:buFont typeface="Arial" panose="020B0604020202020204" pitchFamily="34" charset="0"/>
                        <a:buChar char="•"/>
                      </a:pPr>
                      <a:r>
                        <a:rPr lang="en-US" b="0" i="1" dirty="0">
                          <a:solidFill>
                            <a:schemeClr val="tx1"/>
                          </a:solidFill>
                        </a:rPr>
                        <a:t>Based upon the approximate 2-year timeline announced in June, org alignment should be fully completed by October 1, 2024.</a:t>
                      </a:r>
                    </a:p>
                    <a:p>
                      <a:pPr marL="285750" indent="-285750">
                        <a:buFont typeface="Arial" panose="020B0604020202020204" pitchFamily="34" charset="0"/>
                        <a:buChar char="•"/>
                      </a:pPr>
                      <a:r>
                        <a:rPr lang="en-US" b="0" i="1" dirty="0">
                          <a:solidFill>
                            <a:schemeClr val="tx1"/>
                          </a:solidFill>
                        </a:rPr>
                        <a:t>By Dec 31, 2022, we should have a firm timeline for the remainder of the phases and what they will entail.  (Including but not limited to, Chris must decide how and when we will phase in the new RFA, review, and award process.)</a:t>
                      </a:r>
                    </a:p>
                    <a:p>
                      <a:pPr marL="285750" indent="-285750">
                        <a:buFont typeface="Arial" panose="020B0604020202020204" pitchFamily="34" charset="0"/>
                        <a:buChar char="•"/>
                      </a:pPr>
                      <a:r>
                        <a:rPr lang="en-US" b="0" i="1" dirty="0">
                          <a:solidFill>
                            <a:schemeClr val="tx1"/>
                          </a:solidFill>
                        </a:rPr>
                        <a:t>Ensure that resources are in place to support the transition to the new RFA, submission, review, and award process, for example, training, communication, help desk, adjustments in eRA Commons, etc.</a:t>
                      </a:r>
                    </a:p>
                    <a:p>
                      <a:pPr marL="285750" indent="-285750">
                        <a:buFont typeface="Arial" panose="020B0604020202020204" pitchFamily="34" charset="0"/>
                        <a:buChar char="•"/>
                      </a:pPr>
                      <a:r>
                        <a:rPr lang="en-US" b="0" i="1" dirty="0">
                          <a:solidFill>
                            <a:schemeClr val="tx1"/>
                          </a:solidFill>
                        </a:rPr>
                        <a:t>Identify enterprise centers that will not need to compete for funding and create a plan to establish them.</a:t>
                      </a:r>
                    </a:p>
                    <a:p>
                      <a:pPr marL="285750" indent="-285750">
                        <a:buFont typeface="Arial" panose="020B0604020202020204" pitchFamily="34" charset="0"/>
                        <a:buChar char="•"/>
                      </a:pPr>
                      <a:r>
                        <a:rPr lang="en-US" b="0" i="1" dirty="0">
                          <a:solidFill>
                            <a:schemeClr val="tx1"/>
                          </a:solidFill>
                        </a:rPr>
                        <a:t>During Phase 2 (Proposed: Oct 1, 2022 to April 1, 2023), establish final form of reporting to L1 (all final L2s established, no other parties reporting to L1, and all non-L1 functions are being conducted by an L2).</a:t>
                      </a:r>
                    </a:p>
                    <a:p>
                      <a:pPr marL="285750" indent="-285750">
                        <a:buFont typeface="Arial" panose="020B0604020202020204" pitchFamily="34" charset="0"/>
                        <a:buChar char="•"/>
                      </a:pPr>
                      <a:r>
                        <a:rPr lang="en-US" b="0" i="1" dirty="0">
                          <a:solidFill>
                            <a:schemeClr val="tx1"/>
                          </a:solidFill>
                        </a:rPr>
                        <a:t>Create a plan to document standard operating procedures for ORD and begin documenting those that have been established.</a:t>
                      </a:r>
                    </a:p>
                    <a:p>
                      <a:pPr marL="285750" indent="-285750">
                        <a:buFont typeface="Arial" panose="020B0604020202020204" pitchFamily="34" charset="0"/>
                        <a:buChar char="•"/>
                      </a:pPr>
                      <a:r>
                        <a:rPr lang="en-US" b="0" i="1" dirty="0">
                          <a:solidFill>
                            <a:schemeClr val="tx1"/>
                          </a:solidFill>
                        </a:rPr>
                        <a:t>Ensure that all known, and newly identified ORD functions and activities have an L2 accountable party and a plan for a responsible party.</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1267919758"/>
                  </a:ext>
                </a:extLst>
              </a:tr>
            </a:tbl>
          </a:graphicData>
        </a:graphic>
      </p:graphicFrame>
      <p:sp>
        <p:nvSpPr>
          <p:cNvPr id="33" name="Title 1">
            <a:extLst>
              <a:ext uri="{FF2B5EF4-FFF2-40B4-BE49-F238E27FC236}">
                <a16:creationId xmlns:a16="http://schemas.microsoft.com/office/drawing/2014/main" id="{52BAEF8F-4780-E243-448F-F93727927AA7}"/>
              </a:ext>
            </a:extLst>
          </p:cNvPr>
          <p:cNvSpPr>
            <a:spLocks noGrp="1"/>
          </p:cNvSpPr>
          <p:nvPr>
            <p:ph type="title"/>
          </p:nvPr>
        </p:nvSpPr>
        <p:spPr>
          <a:xfrm>
            <a:off x="1011627" y="108834"/>
            <a:ext cx="10515600" cy="680223"/>
          </a:xfrm>
        </p:spPr>
        <p:txBody>
          <a:bodyPr/>
          <a:lstStyle/>
          <a:p>
            <a:r>
              <a:rPr lang="en-US" sz="2400" dirty="0"/>
              <a:t>Organizational Alignment: Proposed Next Steps</a:t>
            </a:r>
          </a:p>
        </p:txBody>
      </p:sp>
      <p:sp>
        <p:nvSpPr>
          <p:cNvPr id="6" name="Slide Number Placeholder 2">
            <a:extLst>
              <a:ext uri="{FF2B5EF4-FFF2-40B4-BE49-F238E27FC236}">
                <a16:creationId xmlns:a16="http://schemas.microsoft.com/office/drawing/2014/main" id="{A0C82229-221F-D8C7-EF9B-E54CF929AB02}"/>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Graphic 6" descr="Cycle with people outline">
            <a:extLst>
              <a:ext uri="{FF2B5EF4-FFF2-40B4-BE49-F238E27FC236}">
                <a16:creationId xmlns:a16="http://schemas.microsoft.com/office/drawing/2014/main" id="{5F1605DB-B227-A11D-4F9B-BD48F2DA454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11527" y="106045"/>
            <a:ext cx="685800" cy="685800"/>
          </a:xfrm>
          <a:prstGeom prst="rect">
            <a:avLst/>
          </a:prstGeom>
        </p:spPr>
      </p:pic>
    </p:spTree>
    <p:extLst>
      <p:ext uri="{BB962C8B-B14F-4D97-AF65-F5344CB8AC3E}">
        <p14:creationId xmlns:p14="http://schemas.microsoft.com/office/powerpoint/2010/main" val="8138448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89D270C5-A08C-47F8-3DFF-659BE2F232FF}"/>
              </a:ext>
            </a:extLst>
          </p:cNvPr>
          <p:cNvGraphicFramePr>
            <a:graphicFrameLocks noGrp="1"/>
          </p:cNvGraphicFramePr>
          <p:nvPr/>
        </p:nvGraphicFramePr>
        <p:xfrm>
          <a:off x="0" y="862264"/>
          <a:ext cx="12192000" cy="310896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080473561"/>
                    </a:ext>
                  </a:extLst>
                </a:gridCol>
                <a:gridCol w="9525000">
                  <a:extLst>
                    <a:ext uri="{9D8B030D-6E8A-4147-A177-3AD203B41FA5}">
                      <a16:colId xmlns:a16="http://schemas.microsoft.com/office/drawing/2014/main" val="1869368987"/>
                    </a:ext>
                  </a:extLst>
                </a:gridCol>
              </a:tblGrid>
              <a:tr h="370840">
                <a:tc>
                  <a:txBody>
                    <a:bodyPr/>
                    <a:lstStyle/>
                    <a:p>
                      <a:r>
                        <a:rPr lang="en-US" b="1" dirty="0">
                          <a:solidFill>
                            <a:schemeClr val="tx1"/>
                          </a:solidFill>
                        </a:rPr>
                        <a:t>Proposed Phased Implementation Timeline:</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endParaRPr lang="en-US" b="0" i="1" dirty="0">
                        <a:solidFill>
                          <a:schemeClr val="tx1"/>
                        </a:solidFill>
                      </a:endParaRPr>
                    </a:p>
                    <a:p>
                      <a:endParaRPr lang="en-US" b="0" i="1" dirty="0">
                        <a:solidFill>
                          <a:schemeClr val="tx1"/>
                        </a:solidFill>
                      </a:endParaRPr>
                    </a:p>
                    <a:p>
                      <a:endParaRPr lang="en-US" b="0" i="1" dirty="0">
                        <a:solidFill>
                          <a:schemeClr val="tx1"/>
                        </a:solidFill>
                      </a:endParaRPr>
                    </a:p>
                    <a:p>
                      <a:endParaRPr lang="en-US" b="0" i="1" dirty="0">
                        <a:solidFill>
                          <a:schemeClr val="tx1"/>
                        </a:solidFill>
                      </a:endParaRPr>
                    </a:p>
                    <a:p>
                      <a:endParaRPr lang="en-US" b="0" i="1" dirty="0">
                        <a:solidFill>
                          <a:schemeClr val="tx1"/>
                        </a:solidFill>
                      </a:endParaRPr>
                    </a:p>
                    <a:p>
                      <a:endParaRPr lang="en-US" b="0" i="1" dirty="0">
                        <a:solidFill>
                          <a:schemeClr val="tx1"/>
                        </a:solidFill>
                      </a:endParaRPr>
                    </a:p>
                    <a:p>
                      <a:endParaRPr lang="en-US" b="0" i="1" dirty="0">
                        <a:solidFill>
                          <a:schemeClr val="tx1"/>
                        </a:solidFill>
                      </a:endParaRPr>
                    </a:p>
                    <a:p>
                      <a:endParaRPr lang="en-US" b="0" i="1" dirty="0">
                        <a:solidFill>
                          <a:schemeClr val="tx1"/>
                        </a:solidFill>
                      </a:endParaRPr>
                    </a:p>
                    <a:p>
                      <a:endParaRPr lang="en-US" b="0" i="1" dirty="0">
                        <a:solidFill>
                          <a:schemeClr val="tx1"/>
                        </a:solidFill>
                      </a:endParaRPr>
                    </a:p>
                    <a:p>
                      <a:endParaRPr lang="en-US" b="0" i="1" dirty="0">
                        <a:solidFill>
                          <a:schemeClr val="tx1"/>
                        </a:solidFill>
                      </a:endParaRPr>
                    </a:p>
                    <a:p>
                      <a:endParaRPr lang="en-US" b="0" i="1" dirty="0">
                        <a:solidFill>
                          <a:schemeClr val="tx1"/>
                        </a:solidFill>
                      </a:endParaRP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1267919758"/>
                  </a:ext>
                </a:extLst>
              </a:tr>
            </a:tbl>
          </a:graphicData>
        </a:graphic>
      </p:graphicFrame>
      <p:sp>
        <p:nvSpPr>
          <p:cNvPr id="33" name="Title 1">
            <a:extLst>
              <a:ext uri="{FF2B5EF4-FFF2-40B4-BE49-F238E27FC236}">
                <a16:creationId xmlns:a16="http://schemas.microsoft.com/office/drawing/2014/main" id="{52BAEF8F-4780-E243-448F-F93727927AA7}"/>
              </a:ext>
            </a:extLst>
          </p:cNvPr>
          <p:cNvSpPr>
            <a:spLocks noGrp="1"/>
          </p:cNvSpPr>
          <p:nvPr>
            <p:ph type="title"/>
          </p:nvPr>
        </p:nvSpPr>
        <p:spPr>
          <a:xfrm>
            <a:off x="1011627" y="108834"/>
            <a:ext cx="10515600" cy="680223"/>
          </a:xfrm>
        </p:spPr>
        <p:txBody>
          <a:bodyPr/>
          <a:lstStyle/>
          <a:p>
            <a:r>
              <a:rPr lang="en-US" sz="2400" dirty="0"/>
              <a:t>Organizational Alignment: Proposed Phased Implementation Timeline</a:t>
            </a:r>
          </a:p>
        </p:txBody>
      </p:sp>
      <p:sp>
        <p:nvSpPr>
          <p:cNvPr id="6" name="Slide Number Placeholder 2">
            <a:extLst>
              <a:ext uri="{FF2B5EF4-FFF2-40B4-BE49-F238E27FC236}">
                <a16:creationId xmlns:a16="http://schemas.microsoft.com/office/drawing/2014/main" id="{A0C82229-221F-D8C7-EF9B-E54CF929AB02}"/>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Graphic 6" descr="Cycle with people outline">
            <a:extLst>
              <a:ext uri="{FF2B5EF4-FFF2-40B4-BE49-F238E27FC236}">
                <a16:creationId xmlns:a16="http://schemas.microsoft.com/office/drawing/2014/main" id="{5F1605DB-B227-A11D-4F9B-BD48F2DA454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11527" y="106045"/>
            <a:ext cx="685800" cy="685800"/>
          </a:xfrm>
          <a:prstGeom prst="rect">
            <a:avLst/>
          </a:prstGeom>
        </p:spPr>
      </p:pic>
      <p:graphicFrame>
        <p:nvGraphicFramePr>
          <p:cNvPr id="8" name="Table 2">
            <a:extLst>
              <a:ext uri="{FF2B5EF4-FFF2-40B4-BE49-F238E27FC236}">
                <a16:creationId xmlns:a16="http://schemas.microsoft.com/office/drawing/2014/main" id="{1D4504F5-A26F-C8CC-981C-B3DE51FDF2A6}"/>
              </a:ext>
            </a:extLst>
          </p:cNvPr>
          <p:cNvGraphicFramePr>
            <a:graphicFrameLocks noGrp="1"/>
          </p:cNvGraphicFramePr>
          <p:nvPr/>
        </p:nvGraphicFramePr>
        <p:xfrm>
          <a:off x="3472832" y="1055153"/>
          <a:ext cx="6255958" cy="2723182"/>
        </p:xfrm>
        <a:graphic>
          <a:graphicData uri="http://schemas.openxmlformats.org/drawingml/2006/table">
            <a:tbl>
              <a:tblPr firstRow="1" bandRow="1">
                <a:tableStyleId>{073A0DAA-6AF3-43AB-8588-CEC1D06C72B9}</a:tableStyleId>
              </a:tblPr>
              <a:tblGrid>
                <a:gridCol w="1218611">
                  <a:extLst>
                    <a:ext uri="{9D8B030D-6E8A-4147-A177-3AD203B41FA5}">
                      <a16:colId xmlns:a16="http://schemas.microsoft.com/office/drawing/2014/main" val="3509730103"/>
                    </a:ext>
                  </a:extLst>
                </a:gridCol>
                <a:gridCol w="1682025">
                  <a:extLst>
                    <a:ext uri="{9D8B030D-6E8A-4147-A177-3AD203B41FA5}">
                      <a16:colId xmlns:a16="http://schemas.microsoft.com/office/drawing/2014/main" val="2731534602"/>
                    </a:ext>
                  </a:extLst>
                </a:gridCol>
                <a:gridCol w="1853660">
                  <a:extLst>
                    <a:ext uri="{9D8B030D-6E8A-4147-A177-3AD203B41FA5}">
                      <a16:colId xmlns:a16="http://schemas.microsoft.com/office/drawing/2014/main" val="1180626670"/>
                    </a:ext>
                  </a:extLst>
                </a:gridCol>
                <a:gridCol w="1501662">
                  <a:extLst>
                    <a:ext uri="{9D8B030D-6E8A-4147-A177-3AD203B41FA5}">
                      <a16:colId xmlns:a16="http://schemas.microsoft.com/office/drawing/2014/main" val="2751688312"/>
                    </a:ext>
                  </a:extLst>
                </a:gridCol>
              </a:tblGrid>
              <a:tr h="421270">
                <a:tc>
                  <a:txBody>
                    <a:bodyPr/>
                    <a:lstStyle/>
                    <a:p>
                      <a:r>
                        <a:rPr lang="en-US" sz="1800" dirty="0"/>
                        <a:t>Phase</a:t>
                      </a:r>
                    </a:p>
                  </a:txBody>
                  <a:tcPr>
                    <a:solidFill>
                      <a:srgbClr val="002F56"/>
                    </a:solidFill>
                  </a:tcPr>
                </a:tc>
                <a:tc>
                  <a:txBody>
                    <a:bodyPr/>
                    <a:lstStyle/>
                    <a:p>
                      <a:r>
                        <a:rPr lang="en-US" sz="1800" dirty="0"/>
                        <a:t>Start date</a:t>
                      </a:r>
                    </a:p>
                  </a:txBody>
                  <a:tcPr>
                    <a:solidFill>
                      <a:srgbClr val="002F56"/>
                    </a:solidFill>
                  </a:tcPr>
                </a:tc>
                <a:tc>
                  <a:txBody>
                    <a:bodyPr/>
                    <a:lstStyle/>
                    <a:p>
                      <a:r>
                        <a:rPr lang="en-US" sz="1800" dirty="0"/>
                        <a:t>End date</a:t>
                      </a:r>
                    </a:p>
                  </a:txBody>
                  <a:tcPr>
                    <a:solidFill>
                      <a:srgbClr val="002F56"/>
                    </a:solidFill>
                  </a:tcPr>
                </a:tc>
                <a:tc>
                  <a:txBody>
                    <a:bodyPr/>
                    <a:lstStyle/>
                    <a:p>
                      <a:r>
                        <a:rPr lang="en-US" sz="1800" dirty="0"/>
                        <a:t>Duration</a:t>
                      </a:r>
                    </a:p>
                  </a:txBody>
                  <a:tcPr>
                    <a:solidFill>
                      <a:srgbClr val="002F56"/>
                    </a:solidFill>
                  </a:tcPr>
                </a:tc>
                <a:extLst>
                  <a:ext uri="{0D108BD9-81ED-4DB2-BD59-A6C34878D82A}">
                    <a16:rowId xmlns:a16="http://schemas.microsoft.com/office/drawing/2014/main" val="1526549915"/>
                  </a:ext>
                </a:extLst>
              </a:tr>
              <a:tr h="575478">
                <a:tc>
                  <a:txBody>
                    <a:bodyPr/>
                    <a:lstStyle/>
                    <a:p>
                      <a:r>
                        <a:rPr lang="en-US" sz="1600" b="1" dirty="0">
                          <a:solidFill>
                            <a:schemeClr val="tx1"/>
                          </a:solidFill>
                        </a:rPr>
                        <a:t>Phase 1: </a:t>
                      </a:r>
                      <a:endParaRPr lang="en-US" sz="1600" dirty="0"/>
                    </a:p>
                  </a:txBody>
                  <a:tcPr>
                    <a:solidFill>
                      <a:srgbClr val="FFFFFF"/>
                    </a:solidFill>
                  </a:tcPr>
                </a:tc>
                <a:tc>
                  <a:txBody>
                    <a:bodyPr/>
                    <a:lstStyle/>
                    <a:p>
                      <a:r>
                        <a:rPr lang="en-US" sz="1600" b="0" dirty="0"/>
                        <a:t>~May 1, 2022 </a:t>
                      </a:r>
                    </a:p>
                  </a:txBody>
                  <a:tcPr>
                    <a:solidFill>
                      <a:srgbClr val="FFFFFF"/>
                    </a:solidFill>
                  </a:tcPr>
                </a:tc>
                <a:tc>
                  <a:txBody>
                    <a:bodyPr/>
                    <a:lstStyle/>
                    <a:p>
                      <a:r>
                        <a:rPr lang="en-US" sz="1600" b="0" dirty="0">
                          <a:solidFill>
                            <a:schemeClr val="tx1"/>
                          </a:solidFill>
                        </a:rPr>
                        <a:t>Oct 1, 2022 </a:t>
                      </a:r>
                      <a:endParaRPr lang="en-US" sz="1600" b="0" dirty="0"/>
                    </a:p>
                  </a:txBody>
                  <a:tcP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5-months</a:t>
                      </a:r>
                    </a:p>
                  </a:txBody>
                  <a:tcPr>
                    <a:solidFill>
                      <a:srgbClr val="FFFFFF"/>
                    </a:solidFill>
                  </a:tcPr>
                </a:tc>
                <a:extLst>
                  <a:ext uri="{0D108BD9-81ED-4DB2-BD59-A6C34878D82A}">
                    <a16:rowId xmlns:a16="http://schemas.microsoft.com/office/drawing/2014/main" val="4143300434"/>
                  </a:ext>
                </a:extLst>
              </a:tr>
              <a:tr h="575478">
                <a:tc>
                  <a:txBody>
                    <a:bodyPr/>
                    <a:lstStyle/>
                    <a:p>
                      <a:r>
                        <a:rPr lang="en-US" sz="1600" b="1" dirty="0">
                          <a:solidFill>
                            <a:schemeClr val="tx1"/>
                          </a:solidFill>
                        </a:rPr>
                        <a:t>Phase 2: </a:t>
                      </a:r>
                      <a:endParaRPr lang="en-US" sz="1600" dirty="0"/>
                    </a:p>
                  </a:txBody>
                  <a:tcPr/>
                </a:tc>
                <a:tc>
                  <a:txBody>
                    <a:bodyPr/>
                    <a:lstStyle/>
                    <a:p>
                      <a:r>
                        <a:rPr lang="en-US" sz="1600" b="0" dirty="0">
                          <a:solidFill>
                            <a:schemeClr val="tx1"/>
                          </a:solidFill>
                        </a:rPr>
                        <a:t>Oct 2, 2022 </a:t>
                      </a:r>
                      <a:endParaRPr lang="en-US" sz="1600" b="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dirty="0">
                          <a:solidFill>
                            <a:schemeClr val="tx1"/>
                          </a:solidFill>
                        </a:rPr>
                        <a:t>April 1, 2023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u="none" strike="noStrike" kern="1200" cap="none" spc="0" normalizeH="0" baseline="0" noProof="0" dirty="0">
                          <a:ln>
                            <a:noFill/>
                          </a:ln>
                          <a:solidFill>
                            <a:prstClr val="black"/>
                          </a:solidFill>
                          <a:effectLst/>
                          <a:uLnTx/>
                          <a:uFillTx/>
                        </a:rPr>
                        <a:t>6-months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2242586600"/>
                  </a:ext>
                </a:extLst>
              </a:tr>
              <a:tr h="575478">
                <a:tc>
                  <a:txBody>
                    <a:bodyPr/>
                    <a:lstStyle/>
                    <a:p>
                      <a:r>
                        <a:rPr lang="en-US" sz="1600" b="1" dirty="0">
                          <a:solidFill>
                            <a:schemeClr val="tx1"/>
                          </a:solidFill>
                        </a:rPr>
                        <a:t>Phase 3: </a:t>
                      </a:r>
                      <a:endParaRPr lang="en-US" sz="1600" dirty="0"/>
                    </a:p>
                  </a:txBody>
                  <a:tcPr>
                    <a:solidFill>
                      <a:srgbClr val="FFFFFF"/>
                    </a:solidFill>
                  </a:tcPr>
                </a:tc>
                <a:tc>
                  <a:txBody>
                    <a:bodyPr/>
                    <a:lstStyle/>
                    <a:p>
                      <a:r>
                        <a:rPr lang="en-US" sz="1600" b="0" dirty="0">
                          <a:solidFill>
                            <a:schemeClr val="tx1"/>
                          </a:solidFill>
                        </a:rPr>
                        <a:t>April 2, 2023 </a:t>
                      </a:r>
                      <a:endParaRPr lang="en-US" sz="1600" b="0" dirty="0"/>
                    </a:p>
                  </a:txBody>
                  <a:tcP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dirty="0">
                          <a:solidFill>
                            <a:schemeClr val="tx1"/>
                          </a:solidFill>
                        </a:rPr>
                        <a:t>Oct 1, 2023</a:t>
                      </a:r>
                    </a:p>
                  </a:txBody>
                  <a:tcP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u="none" strike="noStrike" kern="1200" cap="none" spc="0" normalizeH="0" baseline="0" noProof="0" dirty="0">
                          <a:ln>
                            <a:noFill/>
                          </a:ln>
                          <a:solidFill>
                            <a:prstClr val="black"/>
                          </a:solidFill>
                          <a:effectLst/>
                          <a:uLnTx/>
                          <a:uFillTx/>
                        </a:rPr>
                        <a:t>6-months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solidFill>
                      <a:srgbClr val="FFFFFF"/>
                    </a:solidFill>
                  </a:tcPr>
                </a:tc>
                <a:extLst>
                  <a:ext uri="{0D108BD9-81ED-4DB2-BD59-A6C34878D82A}">
                    <a16:rowId xmlns:a16="http://schemas.microsoft.com/office/drawing/2014/main" val="1506242251"/>
                  </a:ext>
                </a:extLst>
              </a:tr>
              <a:tr h="575478">
                <a:tc>
                  <a:txBody>
                    <a:bodyPr/>
                    <a:lstStyle/>
                    <a:p>
                      <a:r>
                        <a:rPr lang="en-US" sz="1600" b="1" dirty="0">
                          <a:solidFill>
                            <a:schemeClr val="tx1"/>
                          </a:solidFill>
                        </a:rPr>
                        <a:t>Phase 4: </a:t>
                      </a:r>
                      <a:endParaRPr lang="en-US" sz="1600" dirty="0"/>
                    </a:p>
                  </a:txBody>
                  <a:tcPr/>
                </a:tc>
                <a:tc>
                  <a:txBody>
                    <a:bodyPr/>
                    <a:lstStyle/>
                    <a:p>
                      <a:r>
                        <a:rPr lang="en-US" sz="1600" b="0" dirty="0">
                          <a:solidFill>
                            <a:schemeClr val="tx1"/>
                          </a:solidFill>
                        </a:rPr>
                        <a:t>Oct 2, 2023 </a:t>
                      </a:r>
                      <a:endParaRPr lang="en-US" sz="1600" b="0" dirty="0"/>
                    </a:p>
                  </a:txBody>
                  <a:tcPr/>
                </a:tc>
                <a:tc>
                  <a:txBody>
                    <a:bodyPr/>
                    <a:lstStyle/>
                    <a:p>
                      <a:r>
                        <a:rPr lang="en-US" sz="1600" b="0" dirty="0">
                          <a:solidFill>
                            <a:schemeClr val="tx1"/>
                          </a:solidFill>
                        </a:rPr>
                        <a:t>Oct 1, 2024</a:t>
                      </a:r>
                      <a:endParaRPr lang="en-US" sz="1600" b="0" dirty="0"/>
                    </a:p>
                  </a:txBody>
                  <a:tcPr/>
                </a:tc>
                <a:tc>
                  <a:txBody>
                    <a:bodyPr/>
                    <a:lstStyle/>
                    <a:p>
                      <a:r>
                        <a:rPr lang="en-US" sz="1600" dirty="0"/>
                        <a:t>1-year</a:t>
                      </a:r>
                    </a:p>
                  </a:txBody>
                  <a:tcPr/>
                </a:tc>
                <a:extLst>
                  <a:ext uri="{0D108BD9-81ED-4DB2-BD59-A6C34878D82A}">
                    <a16:rowId xmlns:a16="http://schemas.microsoft.com/office/drawing/2014/main" val="1337750788"/>
                  </a:ext>
                </a:extLst>
              </a:tr>
            </a:tbl>
          </a:graphicData>
        </a:graphic>
      </p:graphicFrame>
    </p:spTree>
    <p:extLst>
      <p:ext uri="{BB962C8B-B14F-4D97-AF65-F5344CB8AC3E}">
        <p14:creationId xmlns:p14="http://schemas.microsoft.com/office/powerpoint/2010/main" val="26692946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89D270C5-A08C-47F8-3DFF-659BE2F232FF}"/>
              </a:ext>
            </a:extLst>
          </p:cNvPr>
          <p:cNvGraphicFramePr>
            <a:graphicFrameLocks noGrp="1"/>
          </p:cNvGraphicFramePr>
          <p:nvPr/>
        </p:nvGraphicFramePr>
        <p:xfrm>
          <a:off x="0" y="754249"/>
          <a:ext cx="12192000" cy="548640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080473561"/>
                    </a:ext>
                  </a:extLst>
                </a:gridCol>
                <a:gridCol w="9525000">
                  <a:extLst>
                    <a:ext uri="{9D8B030D-6E8A-4147-A177-3AD203B41FA5}">
                      <a16:colId xmlns:a16="http://schemas.microsoft.com/office/drawing/2014/main" val="1869368987"/>
                    </a:ext>
                  </a:extLst>
                </a:gridCol>
              </a:tblGrid>
              <a:tr h="370840">
                <a:tc>
                  <a:txBody>
                    <a:bodyPr/>
                    <a:lstStyle/>
                    <a:p>
                      <a:r>
                        <a:rPr lang="en-US" b="1" dirty="0">
                          <a:solidFill>
                            <a:schemeClr val="tx1"/>
                          </a:solidFill>
                        </a:rPr>
                        <a:t>Major FY23 Outputs: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pPr marL="285750" indent="-285750">
                        <a:buFont typeface="Arial" panose="020B0604020202020204" pitchFamily="34" charset="0"/>
                        <a:buChar char="•"/>
                      </a:pPr>
                      <a:r>
                        <a:rPr lang="en-US" b="0" i="1" dirty="0">
                          <a:solidFill>
                            <a:schemeClr val="tx1"/>
                          </a:solidFill>
                        </a:rPr>
                        <a:t>Timeline for remaining phases.</a:t>
                      </a:r>
                    </a:p>
                    <a:p>
                      <a:pPr marL="285750" indent="-285750">
                        <a:buFont typeface="Arial" panose="020B0604020202020204" pitchFamily="34" charset="0"/>
                        <a:buChar char="•"/>
                      </a:pPr>
                      <a:r>
                        <a:rPr lang="en-US" b="0" i="1" dirty="0">
                          <a:solidFill>
                            <a:schemeClr val="tx1"/>
                          </a:solidFill>
                        </a:rPr>
                        <a:t>Plan for transition from existing RFA, submission, review, and funding model to new model.</a:t>
                      </a:r>
                    </a:p>
                    <a:p>
                      <a:pPr marL="285750" indent="-285750">
                        <a:buFont typeface="Arial" panose="020B0604020202020204" pitchFamily="34" charset="0"/>
                        <a:buChar char="•"/>
                      </a:pPr>
                      <a:r>
                        <a:rPr lang="en-US" b="0" i="1" dirty="0">
                          <a:solidFill>
                            <a:schemeClr val="tx1"/>
                          </a:solidFill>
                        </a:rPr>
                        <a:t>Resource needs to transition from existing processes including but not limited to RFA, submission, review, and funding model to a new model.</a:t>
                      </a:r>
                    </a:p>
                    <a:p>
                      <a:pPr marL="285750" indent="-285750">
                        <a:buFont typeface="Arial" panose="020B0604020202020204" pitchFamily="34" charset="0"/>
                        <a:buChar char="•"/>
                      </a:pPr>
                      <a:r>
                        <a:rPr lang="en-US" b="0" i="1" dirty="0">
                          <a:solidFill>
                            <a:schemeClr val="tx1"/>
                          </a:solidFill>
                        </a:rPr>
                        <a:t>L1 reporting structure in final form.</a:t>
                      </a:r>
                    </a:p>
                    <a:p>
                      <a:pPr marL="285750" indent="-285750">
                        <a:buFont typeface="Arial" panose="020B0604020202020204" pitchFamily="34" charset="0"/>
                        <a:buChar char="•"/>
                      </a:pPr>
                      <a:r>
                        <a:rPr lang="en-US" b="0" i="1" dirty="0">
                          <a:solidFill>
                            <a:schemeClr val="tx1"/>
                          </a:solidFill>
                        </a:rPr>
                        <a:t>Plan for enterprise centers.</a:t>
                      </a:r>
                    </a:p>
                    <a:p>
                      <a:pPr marL="285750" indent="-285750">
                        <a:buFont typeface="Arial" panose="020B0604020202020204" pitchFamily="34" charset="0"/>
                        <a:buChar char="•"/>
                      </a:pPr>
                      <a:r>
                        <a:rPr lang="en-US" b="0" i="1" dirty="0">
                          <a:solidFill>
                            <a:schemeClr val="tx1"/>
                          </a:solidFill>
                        </a:rPr>
                        <a:t>Identification and assignment of critical functions and activities (some may need to be piloted or tested)</a:t>
                      </a:r>
                    </a:p>
                    <a:p>
                      <a:pPr marL="285750" indent="-285750">
                        <a:buFont typeface="Arial" panose="020B0604020202020204" pitchFamily="34" charset="0"/>
                        <a:buChar char="•"/>
                      </a:pPr>
                      <a:r>
                        <a:rPr lang="en-US" b="0" i="1" dirty="0">
                          <a:solidFill>
                            <a:schemeClr val="tx1"/>
                          </a:solidFill>
                        </a:rPr>
                        <a:t>Implementation of selected functions, activities, and necessary change management (feedback/focus groups/workgroups/etc.) </a:t>
                      </a:r>
                    </a:p>
                    <a:p>
                      <a:pPr marL="285750" indent="-285750">
                        <a:buFont typeface="Arial" panose="020B0604020202020204" pitchFamily="34" charset="0"/>
                        <a:buChar char="•"/>
                      </a:pPr>
                      <a:r>
                        <a:rPr lang="en-US" b="0" i="1" dirty="0">
                          <a:solidFill>
                            <a:schemeClr val="tx1"/>
                          </a:solidFill>
                        </a:rPr>
                        <a:t>Publish ORD standard operating procedures </a:t>
                      </a:r>
                    </a:p>
                    <a:p>
                      <a:pPr marL="285750" indent="-285750">
                        <a:buFont typeface="Arial" panose="020B0604020202020204" pitchFamily="34" charset="0"/>
                        <a:buChar char="•"/>
                      </a:pPr>
                      <a:r>
                        <a:rPr lang="en-US" b="0" i="1" dirty="0">
                          <a:solidFill>
                            <a:schemeClr val="tx1"/>
                          </a:solidFill>
                        </a:rPr>
                        <a:t>Plan for and successfully executed change management activities </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13577779"/>
                  </a:ext>
                </a:extLst>
              </a:tr>
              <a:tr h="370840">
                <a:tc>
                  <a:txBody>
                    <a:bodyPr/>
                    <a:lstStyle/>
                    <a:p>
                      <a:r>
                        <a:rPr lang="en-US" b="1" dirty="0">
                          <a:solidFill>
                            <a:schemeClr val="tx1"/>
                          </a:solidFill>
                        </a:rPr>
                        <a:t>Immediate Next Steps: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pPr marL="285750" indent="-285750">
                        <a:buFont typeface="Arial" panose="020B0604020202020204" pitchFamily="34" charset="0"/>
                        <a:buChar char="•"/>
                      </a:pPr>
                      <a:r>
                        <a:rPr lang="en-US" b="0" i="1" dirty="0">
                          <a:solidFill>
                            <a:schemeClr val="tx1"/>
                          </a:solidFill>
                        </a:rPr>
                        <a:t>Identify and document known functions and activities for ORD at this time and ensure that they have an L2 assigned.</a:t>
                      </a:r>
                    </a:p>
                    <a:p>
                      <a:pPr marL="285750" indent="-285750">
                        <a:buFont typeface="Arial" panose="020B0604020202020204" pitchFamily="34" charset="0"/>
                        <a:buChar char="•"/>
                      </a:pPr>
                      <a:r>
                        <a:rPr lang="en-US" b="0" i="1" dirty="0">
                          <a:solidFill>
                            <a:schemeClr val="tx1"/>
                          </a:solidFill>
                        </a:rPr>
                        <a:t>Between now and December 2022, each L2 will define their organizational alignment activities for each phase based on the proposed phased implementation timeline.</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4279033902"/>
                  </a:ext>
                </a:extLst>
              </a:tr>
              <a:tr h="370840">
                <a:tc>
                  <a:txBody>
                    <a:bodyPr/>
                    <a:lstStyle/>
                    <a:p>
                      <a:r>
                        <a:rPr lang="en-US" b="1" dirty="0">
                          <a:solidFill>
                            <a:schemeClr val="tx1"/>
                          </a:solidFill>
                        </a:rPr>
                        <a:t>ORD Leadership Support Required to Accomplish Initiative Objective: </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285750" indent="-285750">
                        <a:buFont typeface="Arial" panose="020B0604020202020204" pitchFamily="34" charset="0"/>
                        <a:buChar char="•"/>
                      </a:pPr>
                      <a:r>
                        <a:rPr lang="en-US" i="1" dirty="0">
                          <a:solidFill>
                            <a:schemeClr val="tx1"/>
                          </a:solidFill>
                        </a:rPr>
                        <a:t>Proactive engagement between L2s to complete FY23 outputs. </a:t>
                      </a:r>
                    </a:p>
                    <a:p>
                      <a:pPr marL="285750" indent="-285750">
                        <a:buFont typeface="Arial" panose="020B0604020202020204" pitchFamily="34" charset="0"/>
                        <a:buChar char="•"/>
                      </a:pPr>
                      <a:r>
                        <a:rPr lang="en-US" i="1" dirty="0">
                          <a:solidFill>
                            <a:schemeClr val="tx1"/>
                          </a:solidFill>
                        </a:rPr>
                        <a:t>Proactive engagement by L2s to involve staff in completing FY23 outputs.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206889529"/>
                  </a:ext>
                </a:extLst>
              </a:tr>
            </a:tbl>
          </a:graphicData>
        </a:graphic>
      </p:graphicFrame>
      <p:sp>
        <p:nvSpPr>
          <p:cNvPr id="33" name="Title 1">
            <a:extLst>
              <a:ext uri="{FF2B5EF4-FFF2-40B4-BE49-F238E27FC236}">
                <a16:creationId xmlns:a16="http://schemas.microsoft.com/office/drawing/2014/main" id="{52BAEF8F-4780-E243-448F-F93727927AA7}"/>
              </a:ext>
            </a:extLst>
          </p:cNvPr>
          <p:cNvSpPr>
            <a:spLocks noGrp="1"/>
          </p:cNvSpPr>
          <p:nvPr>
            <p:ph type="title"/>
          </p:nvPr>
        </p:nvSpPr>
        <p:spPr>
          <a:xfrm>
            <a:off x="1011627" y="108834"/>
            <a:ext cx="10515600" cy="680223"/>
          </a:xfrm>
        </p:spPr>
        <p:txBody>
          <a:bodyPr/>
          <a:lstStyle/>
          <a:p>
            <a:r>
              <a:rPr lang="en-US" sz="2400" dirty="0"/>
              <a:t>Organizational Alignment: Proposed Next Steps</a:t>
            </a:r>
          </a:p>
        </p:txBody>
      </p:sp>
      <p:sp>
        <p:nvSpPr>
          <p:cNvPr id="6" name="Slide Number Placeholder 2">
            <a:extLst>
              <a:ext uri="{FF2B5EF4-FFF2-40B4-BE49-F238E27FC236}">
                <a16:creationId xmlns:a16="http://schemas.microsoft.com/office/drawing/2014/main" id="{A0C82229-221F-D8C7-EF9B-E54CF929AB02}"/>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Graphic 6" descr="Cycle with people outline">
            <a:extLst>
              <a:ext uri="{FF2B5EF4-FFF2-40B4-BE49-F238E27FC236}">
                <a16:creationId xmlns:a16="http://schemas.microsoft.com/office/drawing/2014/main" id="{5F1605DB-B227-A11D-4F9B-BD48F2DA454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11527" y="106045"/>
            <a:ext cx="685800" cy="685800"/>
          </a:xfrm>
          <a:prstGeom prst="rect">
            <a:avLst/>
          </a:prstGeom>
        </p:spPr>
      </p:pic>
    </p:spTree>
    <p:extLst>
      <p:ext uri="{BB962C8B-B14F-4D97-AF65-F5344CB8AC3E}">
        <p14:creationId xmlns:p14="http://schemas.microsoft.com/office/powerpoint/2010/main" val="36559912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312732-C7CE-47D3-A994-5C9DAF8F6542}"/>
              </a:ext>
            </a:extLst>
          </p:cNvPr>
          <p:cNvSpPr>
            <a:spLocks noGrp="1"/>
          </p:cNvSpPr>
          <p:nvPr>
            <p:ph type="title"/>
          </p:nvPr>
        </p:nvSpPr>
        <p:spPr/>
        <p:txBody>
          <a:bodyPr/>
          <a:lstStyle/>
          <a:p>
            <a:r>
              <a:rPr lang="en-US" dirty="0">
                <a:solidFill>
                  <a:schemeClr val="tx1"/>
                </a:solidFill>
              </a:rPr>
              <a:t>Actively Managed Portfolios</a:t>
            </a:r>
            <a:br>
              <a:rPr lang="en-US" dirty="0">
                <a:solidFill>
                  <a:schemeClr val="tx1"/>
                </a:solidFill>
              </a:rPr>
            </a:br>
            <a:endParaRPr lang="en-US" dirty="0">
              <a:solidFill>
                <a:schemeClr val="tx1"/>
              </a:solidFill>
            </a:endParaRPr>
          </a:p>
        </p:txBody>
      </p:sp>
      <p:sp>
        <p:nvSpPr>
          <p:cNvPr id="6" name="Slide Number Placeholder 2">
            <a:extLst>
              <a:ext uri="{FF2B5EF4-FFF2-40B4-BE49-F238E27FC236}">
                <a16:creationId xmlns:a16="http://schemas.microsoft.com/office/drawing/2014/main" id="{348A4DB6-213A-EF35-FF18-1097643D6169}"/>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34321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phic 6" descr="Folder Search outline">
            <a:extLst>
              <a:ext uri="{FF2B5EF4-FFF2-40B4-BE49-F238E27FC236}">
                <a16:creationId xmlns:a16="http://schemas.microsoft.com/office/drawing/2014/main" id="{D56059FC-C961-DF34-E309-6C474B671120}"/>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1527" y="106045"/>
            <a:ext cx="685800" cy="685800"/>
          </a:xfrm>
          <a:prstGeom prst="rect">
            <a:avLst/>
          </a:prstGeom>
        </p:spPr>
      </p:pic>
      <p:sp>
        <p:nvSpPr>
          <p:cNvPr id="13" name="Title 1">
            <a:extLst>
              <a:ext uri="{FF2B5EF4-FFF2-40B4-BE49-F238E27FC236}">
                <a16:creationId xmlns:a16="http://schemas.microsoft.com/office/drawing/2014/main" id="{2D24CA2F-9675-E687-2802-67F560F334E4}"/>
              </a:ext>
            </a:extLst>
          </p:cNvPr>
          <p:cNvSpPr>
            <a:spLocks noGrp="1"/>
          </p:cNvSpPr>
          <p:nvPr>
            <p:ph type="title"/>
          </p:nvPr>
        </p:nvSpPr>
        <p:spPr>
          <a:xfrm>
            <a:off x="1011627" y="108834"/>
            <a:ext cx="10515600" cy="680223"/>
          </a:xfrm>
        </p:spPr>
        <p:txBody>
          <a:bodyPr/>
          <a:lstStyle/>
          <a:p>
            <a:r>
              <a:rPr lang="en-US" sz="2400" dirty="0"/>
              <a:t>Actively Managed Portfolio: Objectives </a:t>
            </a:r>
          </a:p>
        </p:txBody>
      </p:sp>
      <p:sp>
        <p:nvSpPr>
          <p:cNvPr id="5" name="Slide Number Placeholder 2">
            <a:extLst>
              <a:ext uri="{FF2B5EF4-FFF2-40B4-BE49-F238E27FC236}">
                <a16:creationId xmlns:a16="http://schemas.microsoft.com/office/drawing/2014/main" id="{8BA64919-FFFC-086B-4B09-C2A1A17E9DF4}"/>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119E0ECB-097C-30BD-974B-7E0CD412076B}"/>
              </a:ext>
            </a:extLst>
          </p:cNvPr>
          <p:cNvSpPr txBox="1"/>
          <p:nvPr/>
        </p:nvSpPr>
        <p:spPr>
          <a:xfrm>
            <a:off x="350520" y="955040"/>
            <a:ext cx="11490959" cy="5663089"/>
          </a:xfrm>
          <a:prstGeom prst="rect">
            <a:avLst/>
          </a:prstGeom>
          <a:noFill/>
        </p:spPr>
        <p:txBody>
          <a:bodyPr wrap="square" rtlCol="0">
            <a:spAutoFit/>
          </a:bodyPr>
          <a:lstStyle/>
          <a:p>
            <a:pPr marL="285750" indent="-285750" algn="l" rtl="0" eaLnBrk="1" fontAlgn="t" latinLnBrk="0" hangingPunct="1">
              <a:spcBef>
                <a:spcPts val="0"/>
              </a:spcBef>
              <a:spcAft>
                <a:spcPts val="0"/>
              </a:spcAft>
              <a:buClr>
                <a:schemeClr val="tx1"/>
              </a:buClr>
              <a:buSzPts val="1800"/>
              <a:buFont typeface="Arial" panose="020B0604020202020204" pitchFamily="34" charset="0"/>
              <a:buChar char="•"/>
            </a:pPr>
            <a:r>
              <a:rPr lang="en-US" sz="1800" b="1" i="0" u="none" strike="noStrike" kern="1200" dirty="0">
                <a:solidFill>
                  <a:srgbClr val="000000"/>
                </a:solidFill>
                <a:effectLst/>
                <a:latin typeface="Calibri" panose="020F0502020204030204" pitchFamily="34" charset="0"/>
              </a:rPr>
              <a:t>Initiative Objective: </a:t>
            </a:r>
            <a:r>
              <a:rPr lang="en-US" sz="1800" b="0" i="0" u="none" strike="noStrike" kern="1200" dirty="0">
                <a:solidFill>
                  <a:srgbClr val="000000"/>
                </a:solidFill>
                <a:effectLst/>
                <a:latin typeface="Calibri" panose="020F0502020204030204" pitchFamily="34" charset="0"/>
              </a:rPr>
              <a:t>Provide research leaders with the autonomy and tools to enhance communication, coordination, and collaboration with clinical partners to enable a more rapid response to research priorities focused on the unique health challenges faced by Veterans.</a:t>
            </a:r>
          </a:p>
          <a:p>
            <a:pPr algn="l" rtl="0" eaLnBrk="1" fontAlgn="t" latinLnBrk="0" hangingPunct="1">
              <a:spcBef>
                <a:spcPts val="0"/>
              </a:spcBef>
              <a:spcAft>
                <a:spcPts val="0"/>
              </a:spcAft>
              <a:buClr>
                <a:schemeClr val="tx1"/>
              </a:buClr>
              <a:buSzPts val="1800"/>
            </a:pPr>
            <a:endParaRPr lang="en-US" sz="1800" b="0" i="0" u="none" strike="noStrike" kern="1200" dirty="0">
              <a:solidFill>
                <a:srgbClr val="000000"/>
              </a:solidFill>
              <a:effectLst/>
              <a:latin typeface="Calibri" panose="020F0502020204030204" pitchFamily="34" charset="0"/>
            </a:endParaRPr>
          </a:p>
          <a:p>
            <a:pPr marL="285750" indent="-285750" algn="l" rtl="0" eaLnBrk="1" fontAlgn="t" latinLnBrk="0" hangingPunct="1">
              <a:spcBef>
                <a:spcPts val="0"/>
              </a:spcBef>
              <a:spcAft>
                <a:spcPts val="0"/>
              </a:spcAft>
              <a:buClr>
                <a:schemeClr val="tx1"/>
              </a:buClr>
              <a:buSzPts val="1800"/>
              <a:buFont typeface="Arial" panose="020B0604020202020204" pitchFamily="34" charset="0"/>
              <a:buChar cha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This will be accomplished through the following actions:</a:t>
            </a:r>
            <a:endParaRPr lang="en-US" sz="1800" b="0" i="0" u="none" strike="noStrike" kern="1200" dirty="0">
              <a:solidFill>
                <a:srgbClr val="000000"/>
              </a:solidFill>
              <a:effectLst/>
              <a:latin typeface="Calibri" panose="020F0502020204030204" pitchFamily="34" charset="0"/>
            </a:endParaRPr>
          </a:p>
          <a:p>
            <a:pPr marL="285750" indent="-285750" algn="l" rtl="0" eaLnBrk="1" fontAlgn="t" latinLnBrk="0" hangingPunct="1">
              <a:spcBef>
                <a:spcPts val="0"/>
              </a:spcBef>
              <a:spcAft>
                <a:spcPts val="0"/>
              </a:spcAft>
              <a:buClr>
                <a:schemeClr val="tx1"/>
              </a:buClr>
              <a:buSzPts val="1800"/>
              <a:buFont typeface="Arial" panose="020B0604020202020204" pitchFamily="34" charset="0"/>
              <a:buChar char="•"/>
            </a:pPr>
            <a:endParaRPr lang="en-US" sz="1800" b="0" i="0" u="none" strike="noStrike" dirty="0">
              <a:effectLst/>
              <a:latin typeface="Arial" panose="020B0604020202020204" pitchFamily="34" charset="0"/>
            </a:endParaRPr>
          </a:p>
          <a:p>
            <a:pPr marL="800100" marR="0" indent="-342900" algn="l" rtl="0" eaLnBrk="1" fontAlgn="base" latinLnBrk="0" hangingPunct="1">
              <a:spcBef>
                <a:spcPts val="0"/>
              </a:spcBef>
              <a:spcAft>
                <a:spcPts val="1200"/>
              </a:spcAft>
              <a:buAutoNum type="arabicPeriod"/>
            </a:pPr>
            <a:r>
              <a:rPr lang="en-US" sz="1600" b="1" i="0" u="none" strike="noStrike" kern="1200" spc="0" baseline="0" dirty="0">
                <a:ln>
                  <a:noFill/>
                </a:ln>
                <a:solidFill>
                  <a:srgbClr val="000000"/>
                </a:solidFill>
                <a:effectLst/>
                <a:latin typeface="Calibri" panose="020F0502020204030204" pitchFamily="34" charset="0"/>
              </a:rPr>
              <a:t>Define the requirements, capabilities, processes, and resources that comprise an Actively Managed Portfolio</a:t>
            </a:r>
            <a:r>
              <a:rPr lang="en-US" sz="1600" b="0" i="0" u="none" strike="noStrike" kern="1200" spc="0" baseline="0" dirty="0">
                <a:ln>
                  <a:noFill/>
                </a:ln>
                <a:solidFill>
                  <a:srgbClr val="000000"/>
                </a:solidFill>
                <a:effectLst/>
                <a:latin typeface="Calibri" panose="020F0502020204030204" pitchFamily="34" charset="0"/>
              </a:rPr>
              <a:t> (informed by the Learning Health System model)</a:t>
            </a:r>
          </a:p>
          <a:p>
            <a:pPr marL="800100" marR="0" indent="-342900" algn="l" rtl="0" eaLnBrk="1" fontAlgn="base" latinLnBrk="0" hangingPunct="1">
              <a:spcBef>
                <a:spcPts val="0"/>
              </a:spcBef>
              <a:spcAft>
                <a:spcPts val="1200"/>
              </a:spcAft>
              <a:buAutoNum type="arabicPeriod"/>
            </a:pPr>
            <a:r>
              <a:rPr lang="en-US" sz="1600" b="1" i="0" u="none" strike="noStrike" kern="1200" spc="0" baseline="0" dirty="0">
                <a:ln>
                  <a:noFill/>
                </a:ln>
                <a:solidFill>
                  <a:srgbClr val="000000"/>
                </a:solidFill>
                <a:effectLst/>
                <a:latin typeface="Calibri" panose="020F0502020204030204" pitchFamily="34" charset="0"/>
              </a:rPr>
              <a:t>Develop a plan to increase the maturity of the Precision Oncology Portfolio as an AMP</a:t>
            </a:r>
            <a:r>
              <a:rPr lang="en-US" sz="1600" b="0" i="0" u="none" strike="noStrike" kern="1200" spc="0" baseline="0" dirty="0">
                <a:ln>
                  <a:noFill/>
                </a:ln>
                <a:solidFill>
                  <a:srgbClr val="000000"/>
                </a:solidFill>
                <a:effectLst/>
                <a:latin typeface="Calibri" panose="020F0502020204030204" pitchFamily="34" charset="0"/>
              </a:rPr>
              <a:t>​ in order to serve as a model and establish the Standard Operating Procedures and structures for other portfolios</a:t>
            </a:r>
          </a:p>
          <a:p>
            <a:pPr marL="800100" marR="0" indent="-342900" algn="l" rtl="0" eaLnBrk="1" fontAlgn="base" latinLnBrk="0" hangingPunct="1">
              <a:spcBef>
                <a:spcPts val="0"/>
              </a:spcBef>
              <a:spcAft>
                <a:spcPts val="1200"/>
              </a:spcAft>
              <a:buAutoNum type="arabicPeriod"/>
            </a:pPr>
            <a:r>
              <a:rPr lang="en-US" sz="1600" b="1" i="0" u="none" strike="noStrike" kern="1200" spc="0" baseline="0" dirty="0">
                <a:ln>
                  <a:noFill/>
                </a:ln>
                <a:solidFill>
                  <a:srgbClr val="000000"/>
                </a:solidFill>
                <a:effectLst/>
                <a:latin typeface="Calibri" panose="020F0502020204030204" pitchFamily="34" charset="0"/>
              </a:rPr>
              <a:t>Establish key performance indicators for Actively Managed Portfolios </a:t>
            </a:r>
            <a:r>
              <a:rPr lang="en-US" sz="1600" b="0" i="0" u="none" strike="noStrike" kern="1200" spc="0" baseline="0" dirty="0">
                <a:ln>
                  <a:noFill/>
                </a:ln>
                <a:solidFill>
                  <a:srgbClr val="000000"/>
                </a:solidFill>
                <a:effectLst/>
                <a:latin typeface="Calibri" panose="020F0502020204030204" pitchFamily="34" charset="0"/>
              </a:rPr>
              <a:t>to track and evaluate the efficacy of research projects and the performance of an Actively Managed Portfolio​ against its critical goals</a:t>
            </a:r>
          </a:p>
          <a:p>
            <a:pPr marL="800100" marR="0" indent="-342900" algn="l" rtl="0" eaLnBrk="1" fontAlgn="base" latinLnBrk="0" hangingPunct="1">
              <a:spcBef>
                <a:spcPts val="0"/>
              </a:spcBef>
              <a:spcAft>
                <a:spcPts val="1200"/>
              </a:spcAft>
              <a:buAutoNum type="arabicPeriod"/>
            </a:pPr>
            <a:r>
              <a:rPr lang="en-US" sz="1600" b="1" i="0" u="none" strike="noStrike" kern="1200" spc="0" baseline="0" dirty="0">
                <a:ln>
                  <a:noFill/>
                </a:ln>
                <a:solidFill>
                  <a:srgbClr val="000000"/>
                </a:solidFill>
                <a:effectLst/>
                <a:latin typeface="Calibri" panose="020F0502020204030204" pitchFamily="34" charset="0"/>
              </a:rPr>
              <a:t>Coordinate and prioritize funding for research projects within an AMP by:</a:t>
            </a:r>
            <a:endParaRPr lang="en-US" sz="1600" b="0" i="0" u="none" strike="noStrike" dirty="0">
              <a:effectLst/>
              <a:latin typeface="Arial" panose="020B0604020202020204" pitchFamily="34" charset="0"/>
            </a:endParaRPr>
          </a:p>
          <a:p>
            <a:pPr marL="1200150" marR="0" indent="-285750" algn="l" rtl="0" eaLnBrk="1" fontAlgn="auto" latinLnBrk="0" hangingPunct="1">
              <a:spcBef>
                <a:spcPts val="0"/>
              </a:spcBef>
              <a:spcAft>
                <a:spcPts val="1200"/>
              </a:spcAft>
              <a:buFont typeface="Arial" panose="020B0604020202020204" pitchFamily="34" charset="0"/>
              <a:buChar char="•"/>
            </a:pPr>
            <a:r>
              <a:rPr lang="en-US" sz="1600" b="1" i="0" u="none" strike="noStrike" kern="1200" spc="0" baseline="0" dirty="0">
                <a:ln>
                  <a:noFill/>
                </a:ln>
                <a:solidFill>
                  <a:srgbClr val="000000"/>
                </a:solidFill>
                <a:effectLst/>
                <a:latin typeface="Calibri" panose="020F0502020204030204" pitchFamily="34" charset="0"/>
              </a:rPr>
              <a:t>Establishing standard operating procedures for how an AMP lead will coordinate ORD funded projects and funding decisions within their purview</a:t>
            </a:r>
            <a:endParaRPr lang="en-US" sz="1600" b="0" i="0" u="none" strike="noStrike" dirty="0">
              <a:effectLst/>
              <a:latin typeface="Arial" panose="020B0604020202020204" pitchFamily="34" charset="0"/>
            </a:endParaRPr>
          </a:p>
          <a:p>
            <a:pPr marL="1200150" marR="0" indent="-285750" algn="l" rtl="0" eaLnBrk="1" fontAlgn="auto" latinLnBrk="0" hangingPunct="1">
              <a:spcBef>
                <a:spcPts val="0"/>
              </a:spcBef>
              <a:spcAft>
                <a:spcPts val="1200"/>
              </a:spcAft>
              <a:buFont typeface="Arial" panose="020B0604020202020204" pitchFamily="34" charset="0"/>
              <a:buChar char="•"/>
            </a:pPr>
            <a:r>
              <a:rPr lang="en-US" sz="1600" b="1" i="0" u="none" strike="noStrike" kern="1200" spc="0" baseline="0" dirty="0">
                <a:ln>
                  <a:noFill/>
                </a:ln>
                <a:solidFill>
                  <a:srgbClr val="000000"/>
                </a:solidFill>
                <a:effectLst/>
                <a:latin typeface="Calibri" panose="020F0502020204030204" pitchFamily="34" charset="0"/>
              </a:rPr>
              <a:t>Developing standard operating procedures for rapid and program-directed peer review of proposals, </a:t>
            </a:r>
            <a:r>
              <a:rPr lang="en-US" sz="1600" b="0" i="0" u="none" strike="noStrike" kern="1200" spc="0" baseline="0" dirty="0">
                <a:ln>
                  <a:noFill/>
                </a:ln>
                <a:solidFill>
                  <a:srgbClr val="000000"/>
                </a:solidFill>
                <a:effectLst/>
                <a:latin typeface="Calibri" panose="020F0502020204030204" pitchFamily="34" charset="0"/>
              </a:rPr>
              <a:t>when such approaches are necessary to meet AMP performance targets</a:t>
            </a:r>
            <a:endParaRPr lang="en-US" sz="1600" b="0" i="0" u="none" strike="noStrike" dirty="0">
              <a:effectLst/>
              <a:latin typeface="Arial" panose="020B0604020202020204" pitchFamily="34" charset="0"/>
            </a:endParaRPr>
          </a:p>
          <a:p>
            <a:endParaRPr lang="en-US" dirty="0"/>
          </a:p>
        </p:txBody>
      </p:sp>
    </p:spTree>
    <p:extLst>
      <p:ext uri="{BB962C8B-B14F-4D97-AF65-F5344CB8AC3E}">
        <p14:creationId xmlns:p14="http://schemas.microsoft.com/office/powerpoint/2010/main" val="4205650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phic 6" descr="Folder Search outline">
            <a:extLst>
              <a:ext uri="{FF2B5EF4-FFF2-40B4-BE49-F238E27FC236}">
                <a16:creationId xmlns:a16="http://schemas.microsoft.com/office/drawing/2014/main" id="{D56059FC-C961-DF34-E309-6C474B671120}"/>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1527" y="106045"/>
            <a:ext cx="685800" cy="685800"/>
          </a:xfrm>
          <a:prstGeom prst="rect">
            <a:avLst/>
          </a:prstGeom>
        </p:spPr>
      </p:pic>
      <p:graphicFrame>
        <p:nvGraphicFramePr>
          <p:cNvPr id="4" name="Table 4">
            <a:extLst>
              <a:ext uri="{FF2B5EF4-FFF2-40B4-BE49-F238E27FC236}">
                <a16:creationId xmlns:a16="http://schemas.microsoft.com/office/drawing/2014/main" id="{89D270C5-A08C-47F8-3DFF-659BE2F232FF}"/>
              </a:ext>
            </a:extLst>
          </p:cNvPr>
          <p:cNvGraphicFramePr>
            <a:graphicFrameLocks noGrp="1"/>
          </p:cNvGraphicFramePr>
          <p:nvPr/>
        </p:nvGraphicFramePr>
        <p:xfrm>
          <a:off x="0" y="878186"/>
          <a:ext cx="12192000" cy="4196053"/>
        </p:xfrm>
        <a:graphic>
          <a:graphicData uri="http://schemas.openxmlformats.org/drawingml/2006/table">
            <a:tbl>
              <a:tblPr firstRow="1" bandRow="1">
                <a:tableStyleId>{5C22544A-7EE6-4342-B048-85BDC9FD1C3A}</a:tableStyleId>
              </a:tblPr>
              <a:tblGrid>
                <a:gridCol w="2666999">
                  <a:extLst>
                    <a:ext uri="{9D8B030D-6E8A-4147-A177-3AD203B41FA5}">
                      <a16:colId xmlns:a16="http://schemas.microsoft.com/office/drawing/2014/main" val="2080473561"/>
                    </a:ext>
                  </a:extLst>
                </a:gridCol>
                <a:gridCol w="9525001">
                  <a:extLst>
                    <a:ext uri="{9D8B030D-6E8A-4147-A177-3AD203B41FA5}">
                      <a16:colId xmlns:a16="http://schemas.microsoft.com/office/drawing/2014/main" val="1869368987"/>
                    </a:ext>
                  </a:extLst>
                </a:gridCol>
              </a:tblGrid>
              <a:tr h="4196053">
                <a:tc>
                  <a:txBody>
                    <a:bodyPr/>
                    <a:lstStyle/>
                    <a:p>
                      <a:pPr marL="285750" indent="-285750">
                        <a:buClr>
                          <a:schemeClr val="tx1"/>
                        </a:buClr>
                        <a:buFont typeface="Arial" panose="020B0604020202020204" pitchFamily="34" charset="0"/>
                        <a:buChar char="•"/>
                      </a:pPr>
                      <a:r>
                        <a:rPr lang="en-US" b="1" strike="noStrike" dirty="0">
                          <a:solidFill>
                            <a:schemeClr val="tx1"/>
                          </a:solidFill>
                        </a:rPr>
                        <a:t>Outputs Listed:</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pPr marL="285750" lvl="0" indent="-285750">
                        <a:buClr>
                          <a:schemeClr val="tx1"/>
                        </a:buClr>
                        <a:buFont typeface="Arial" panose="020B0604020202020204" pitchFamily="34" charset="0"/>
                        <a:buChar char="•"/>
                      </a:pPr>
                      <a:r>
                        <a:rPr lang="en-US" sz="1800" b="0" i="0" u="none" strike="noStrike" noProof="0" dirty="0">
                          <a:solidFill>
                            <a:schemeClr val="tx1"/>
                          </a:solidFill>
                          <a:latin typeface="Calibri"/>
                        </a:rPr>
                        <a:t>AMP Charter </a:t>
                      </a:r>
                    </a:p>
                    <a:p>
                      <a:pPr marL="285750" marR="0" lvl="1" indent="-285750" algn="l">
                        <a:lnSpc>
                          <a:spcPct val="100000"/>
                        </a:lnSpc>
                        <a:spcBef>
                          <a:spcPts val="0"/>
                        </a:spcBef>
                        <a:spcAft>
                          <a:spcPts val="0"/>
                        </a:spcAft>
                        <a:buClr>
                          <a:schemeClr val="tx1"/>
                        </a:buClr>
                        <a:buFont typeface="Arial" panose="020B0604020202020204" pitchFamily="34" charset="0"/>
                        <a:buChar char="•"/>
                      </a:pPr>
                      <a:r>
                        <a:rPr lang="en-US" sz="1800" b="0" i="0" u="none" strike="noStrike" noProof="0" dirty="0">
                          <a:solidFill>
                            <a:schemeClr val="tx1"/>
                          </a:solidFill>
                          <a:latin typeface="Calibri"/>
                        </a:rPr>
                        <a:t>AMP Leader Role Charter</a:t>
                      </a:r>
                      <a:endParaRPr lang="en-US" sz="1800" b="0" i="0" u="none" strike="noStrike" noProof="0" dirty="0">
                        <a:solidFill>
                          <a:schemeClr val="tx1"/>
                        </a:solidFill>
                      </a:endParaRPr>
                    </a:p>
                    <a:p>
                      <a:pPr marL="285750" marR="0" lvl="1" indent="-285750" algn="l">
                        <a:lnSpc>
                          <a:spcPct val="100000"/>
                        </a:lnSpc>
                        <a:spcBef>
                          <a:spcPts val="0"/>
                        </a:spcBef>
                        <a:spcAft>
                          <a:spcPts val="0"/>
                        </a:spcAft>
                        <a:buClr>
                          <a:schemeClr val="tx1"/>
                        </a:buClr>
                        <a:buFont typeface="Arial" panose="020B0604020202020204" pitchFamily="34" charset="0"/>
                        <a:buChar char="•"/>
                      </a:pPr>
                      <a:r>
                        <a:rPr lang="en-US" sz="1800" b="0" i="0" u="none" strike="noStrike" noProof="0" dirty="0">
                          <a:solidFill>
                            <a:schemeClr val="tx1"/>
                          </a:solidFill>
                          <a:latin typeface="Calibri"/>
                        </a:rPr>
                        <a:t>Gap Analysis of P.O.</a:t>
                      </a:r>
                      <a:endParaRPr lang="en-US" sz="1800" b="0" i="0" u="none" strike="noStrike" noProof="0" dirty="0">
                        <a:solidFill>
                          <a:schemeClr val="tx1"/>
                        </a:solidFill>
                      </a:endParaRPr>
                    </a:p>
                    <a:p>
                      <a:pPr marL="285750" marR="0" lvl="1" indent="-285750" algn="l">
                        <a:lnSpc>
                          <a:spcPct val="100000"/>
                        </a:lnSpc>
                        <a:spcBef>
                          <a:spcPts val="0"/>
                        </a:spcBef>
                        <a:spcAft>
                          <a:spcPts val="0"/>
                        </a:spcAft>
                        <a:buClr>
                          <a:schemeClr val="tx1"/>
                        </a:buClr>
                        <a:buFont typeface="Arial" panose="020B0604020202020204" pitchFamily="34" charset="0"/>
                        <a:buChar char="•"/>
                      </a:pPr>
                      <a:r>
                        <a:rPr lang="en-US" sz="1800" b="0" i="0" u="none" strike="noStrike" noProof="0" dirty="0">
                          <a:solidFill>
                            <a:schemeClr val="tx1"/>
                          </a:solidFill>
                          <a:latin typeface="Calibri"/>
                        </a:rPr>
                        <a:t>Communications Framework</a:t>
                      </a:r>
                      <a:endParaRPr lang="en-US" sz="1800" b="0" i="0" u="none" strike="noStrike" noProof="0" dirty="0">
                        <a:solidFill>
                          <a:schemeClr val="tx1"/>
                        </a:solidFill>
                      </a:endParaRPr>
                    </a:p>
                    <a:p>
                      <a:pPr marL="285750" marR="0" lvl="1" indent="-285750" algn="l">
                        <a:lnSpc>
                          <a:spcPct val="100000"/>
                        </a:lnSpc>
                        <a:spcBef>
                          <a:spcPts val="0"/>
                        </a:spcBef>
                        <a:spcAft>
                          <a:spcPts val="0"/>
                        </a:spcAft>
                        <a:buClr>
                          <a:schemeClr val="tx1"/>
                        </a:buClr>
                        <a:buFont typeface="Arial" panose="020B0604020202020204" pitchFamily="34" charset="0"/>
                        <a:buChar char="•"/>
                      </a:pPr>
                      <a:r>
                        <a:rPr lang="en-US" sz="1800" b="0" i="0" u="none" strike="noStrike" noProof="0" dirty="0">
                          <a:solidFill>
                            <a:schemeClr val="tx1"/>
                          </a:solidFill>
                          <a:latin typeface="Calibri"/>
                        </a:rPr>
                        <a:t>Change Champion materials</a:t>
                      </a:r>
                    </a:p>
                    <a:p>
                      <a:pPr marL="285750" marR="0" lvl="1" indent="-285750" algn="l" defTabSz="914400" rtl="0" eaLnBrk="1" fontAlgn="auto" latinLnBrk="0" hangingPunct="1">
                        <a:lnSpc>
                          <a:spcPct val="100000"/>
                        </a:lnSpc>
                        <a:spcBef>
                          <a:spcPts val="0"/>
                        </a:spcBef>
                        <a:spcAft>
                          <a:spcPts val="0"/>
                        </a:spcAft>
                        <a:buClr>
                          <a:schemeClr val="tx1"/>
                        </a:buClr>
                        <a:buSzTx/>
                        <a:buFont typeface="Arial" panose="020B0604020202020204" pitchFamily="34" charset="0"/>
                        <a:buChar char="•"/>
                        <a:tabLst/>
                        <a:defRPr/>
                      </a:pPr>
                      <a:r>
                        <a:rPr kumimoji="0" lang="en-US" sz="1800" b="0" i="0" u="none" strike="noStrike" kern="1200" cap="none" spc="0" normalizeH="0" baseline="0" noProof="0" dirty="0">
                          <a:ln>
                            <a:noFill/>
                          </a:ln>
                          <a:solidFill>
                            <a:schemeClr val="tx1"/>
                          </a:solidFill>
                          <a:effectLst/>
                          <a:uLnTx/>
                          <a:uFillTx/>
                          <a:latin typeface="+mn-lt"/>
                          <a:ea typeface="+mn-ea"/>
                          <a:cs typeface="Arial"/>
                        </a:rPr>
                        <a:t>P.O. Prioritized Action Plan</a:t>
                      </a:r>
                    </a:p>
                    <a:p>
                      <a:pPr marL="285750" marR="0" lvl="1" indent="-285750" algn="l" defTabSz="914400" rtl="0" eaLnBrk="1" fontAlgn="auto" latinLnBrk="0" hangingPunct="1">
                        <a:lnSpc>
                          <a:spcPct val="100000"/>
                        </a:lnSpc>
                        <a:spcBef>
                          <a:spcPts val="0"/>
                        </a:spcBef>
                        <a:spcAft>
                          <a:spcPts val="0"/>
                        </a:spcAft>
                        <a:buClr>
                          <a:schemeClr val="tx1"/>
                        </a:buClr>
                        <a:buSzTx/>
                        <a:buFont typeface="Arial" panose="020B0604020202020204" pitchFamily="34" charset="0"/>
                        <a:buChar char="•"/>
                        <a:tabLst/>
                        <a:defRPr/>
                      </a:pPr>
                      <a:r>
                        <a:rPr kumimoji="0" lang="en-US" sz="1800" b="0" i="0" u="none" strike="noStrike" kern="1200" cap="none" spc="0" normalizeH="0" baseline="0" noProof="0" dirty="0">
                          <a:ln>
                            <a:noFill/>
                          </a:ln>
                          <a:solidFill>
                            <a:schemeClr val="tx1"/>
                          </a:solidFill>
                          <a:effectLst/>
                          <a:uLnTx/>
                          <a:uFillTx/>
                          <a:latin typeface="+mn-lt"/>
                          <a:ea typeface="+mn-ea"/>
                          <a:cs typeface="Arial"/>
                        </a:rPr>
                        <a:t>AMP funding decision SOPs</a:t>
                      </a:r>
                      <a:endParaRPr lang="en-US" sz="1800" b="0" i="0" u="none" strike="noStrike" kern="1200" cap="none" spc="0" normalizeH="0" baseline="0" noProof="0" dirty="0">
                        <a:ln>
                          <a:noFill/>
                        </a:ln>
                        <a:solidFill>
                          <a:schemeClr val="tx1"/>
                        </a:solidFill>
                        <a:effectLst/>
                        <a:uLnTx/>
                        <a:uFillTx/>
                        <a:latin typeface="+mn-lt"/>
                        <a:cs typeface="Arial"/>
                      </a:endParaRPr>
                    </a:p>
                    <a:p>
                      <a:pPr marL="285750" marR="0" lvl="1" indent="-285750" algn="l" defTabSz="914400" rtl="0" eaLnBrk="1" fontAlgn="auto" latinLnBrk="0" hangingPunct="1">
                        <a:lnSpc>
                          <a:spcPct val="100000"/>
                        </a:lnSpc>
                        <a:spcBef>
                          <a:spcPts val="0"/>
                        </a:spcBef>
                        <a:spcAft>
                          <a:spcPts val="0"/>
                        </a:spcAft>
                        <a:buClr>
                          <a:schemeClr val="tx1"/>
                        </a:buClr>
                        <a:buSzTx/>
                        <a:buFont typeface="Arial" panose="020B0604020202020204" pitchFamily="34" charset="0"/>
                        <a:buChar char="•"/>
                        <a:tabLst/>
                        <a:defRPr/>
                      </a:pPr>
                      <a:r>
                        <a:rPr kumimoji="0" lang="en-US" sz="1800" b="0" i="0" u="none" strike="noStrike" kern="1200" cap="none" spc="0" normalizeH="0" baseline="0" noProof="0" dirty="0">
                          <a:ln>
                            <a:noFill/>
                          </a:ln>
                          <a:solidFill>
                            <a:schemeClr val="tx1"/>
                          </a:solidFill>
                          <a:effectLst/>
                          <a:uLnTx/>
                          <a:uFillTx/>
                          <a:latin typeface="+mn-lt"/>
                          <a:ea typeface="+mn-ea"/>
                          <a:cs typeface="Arial"/>
                        </a:rPr>
                        <a:t>SOPs for rapid and program-directed peer reviews and funding</a:t>
                      </a:r>
                    </a:p>
                    <a:p>
                      <a:pPr marL="285750" marR="0" lvl="1" indent="-285750" algn="l" defTabSz="914400" rtl="0" eaLnBrk="1" fontAlgn="auto" latinLnBrk="0" hangingPunct="1">
                        <a:lnSpc>
                          <a:spcPct val="100000"/>
                        </a:lnSpc>
                        <a:spcBef>
                          <a:spcPts val="0"/>
                        </a:spcBef>
                        <a:spcAft>
                          <a:spcPts val="0"/>
                        </a:spcAft>
                        <a:buClr>
                          <a:schemeClr val="tx1"/>
                        </a:buClr>
                        <a:buSzTx/>
                        <a:buFont typeface="Arial" panose="020B0604020202020204" pitchFamily="34" charset="0"/>
                        <a:buChar char="•"/>
                        <a:tabLst/>
                        <a:defRPr/>
                      </a:pPr>
                      <a:r>
                        <a:rPr kumimoji="0" lang="en-US" sz="1800" b="0" i="0" u="none" strike="noStrike" kern="1200" cap="none" spc="0" normalizeH="0" baseline="0" noProof="0" dirty="0">
                          <a:ln>
                            <a:noFill/>
                          </a:ln>
                          <a:solidFill>
                            <a:schemeClr val="tx1"/>
                          </a:solidFill>
                          <a:effectLst/>
                          <a:uLnTx/>
                          <a:uFillTx/>
                          <a:latin typeface="+mn-lt"/>
                          <a:ea typeface="+mn-ea"/>
                          <a:cs typeface="Arial"/>
                        </a:rPr>
                        <a:t>Inventory of needed dashboard functionality</a:t>
                      </a:r>
                      <a:r>
                        <a:rPr lang="en-US" sz="1800" b="0" dirty="0">
                          <a:solidFill>
                            <a:schemeClr val="tx1"/>
                          </a:solidFill>
                          <a:latin typeface="+mn-lt"/>
                          <a:cs typeface="Arial"/>
                        </a:rPr>
                        <a:t> with PA Team</a:t>
                      </a:r>
                    </a:p>
                    <a:p>
                      <a:pPr marL="285750" marR="0" lvl="1" indent="-285750" algn="l" defTabSz="914400" rtl="0" eaLnBrk="1" fontAlgn="auto" latinLnBrk="0" hangingPunct="1">
                        <a:lnSpc>
                          <a:spcPct val="100000"/>
                        </a:lnSpc>
                        <a:spcBef>
                          <a:spcPts val="0"/>
                        </a:spcBef>
                        <a:spcAft>
                          <a:spcPts val="0"/>
                        </a:spcAft>
                        <a:buClr>
                          <a:schemeClr val="tx1"/>
                        </a:buClr>
                        <a:buSzTx/>
                        <a:buFont typeface="Arial" panose="020B0604020202020204" pitchFamily="34" charset="0"/>
                        <a:buChar char="•"/>
                        <a:tabLst/>
                        <a:defRPr/>
                      </a:pPr>
                      <a:r>
                        <a:rPr kumimoji="0" lang="en-US" sz="18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P.O. funding autonomy</a:t>
                      </a:r>
                    </a:p>
                    <a:p>
                      <a:pPr marL="285750" marR="0" lvl="1" indent="-285750" algn="l" defTabSz="914400" rtl="0" eaLnBrk="1" fontAlgn="auto" latinLnBrk="0" hangingPunct="1">
                        <a:lnSpc>
                          <a:spcPct val="100000"/>
                        </a:lnSpc>
                        <a:spcBef>
                          <a:spcPts val="0"/>
                        </a:spcBef>
                        <a:spcAft>
                          <a:spcPts val="0"/>
                        </a:spcAft>
                        <a:buClr>
                          <a:schemeClr val="tx1"/>
                        </a:buClr>
                        <a:buSzTx/>
                        <a:buFont typeface="Arial" panose="020B0604020202020204" pitchFamily="34" charset="0"/>
                        <a:buChar char="•"/>
                        <a:tabLst/>
                        <a:defRPr/>
                      </a:pPr>
                      <a:r>
                        <a:rPr kumimoji="0" lang="en-US" sz="18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Codified performance metrics to measure an AMP</a:t>
                      </a:r>
                    </a:p>
                    <a:p>
                      <a:pPr marL="285750" marR="0" lvl="1" indent="-285750" algn="l" defTabSz="914400" rtl="0" eaLnBrk="1" fontAlgn="auto" latinLnBrk="0" hangingPunct="1">
                        <a:lnSpc>
                          <a:spcPct val="100000"/>
                        </a:lnSpc>
                        <a:spcBef>
                          <a:spcPts val="0"/>
                        </a:spcBef>
                        <a:spcAft>
                          <a:spcPts val="0"/>
                        </a:spcAft>
                        <a:buClr>
                          <a:schemeClr val="tx1"/>
                        </a:buClr>
                        <a:buSzTx/>
                        <a:buFont typeface="Arial" panose="020B0604020202020204" pitchFamily="34" charset="0"/>
                        <a:buChar char="•"/>
                        <a:tabLst/>
                        <a:defRPr/>
                      </a:pPr>
                      <a:r>
                        <a:rPr kumimoji="0" lang="en-US" sz="18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Portfolio Analysis Dashboard </a:t>
                      </a:r>
                    </a:p>
                    <a:p>
                      <a:pPr marL="285750" marR="0" lvl="1" indent="-285750" algn="l" defTabSz="914400" rtl="0" eaLnBrk="1" fontAlgn="auto" latinLnBrk="0" hangingPunct="1">
                        <a:lnSpc>
                          <a:spcPct val="100000"/>
                        </a:lnSpc>
                        <a:spcBef>
                          <a:spcPts val="0"/>
                        </a:spcBef>
                        <a:spcAft>
                          <a:spcPts val="0"/>
                        </a:spcAft>
                        <a:buClr>
                          <a:schemeClr val="tx1"/>
                        </a:buClr>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mn-lt"/>
                          <a:ea typeface="+mn-ea"/>
                          <a:cs typeface="Arial"/>
                        </a:rPr>
                        <a:t>AMP progress reports on objective accomplishments </a:t>
                      </a:r>
                      <a:endParaRPr lang="en-US" b="0" dirty="0">
                        <a:solidFill>
                          <a:schemeClr val="tx1"/>
                        </a:solidFill>
                      </a:endParaRPr>
                    </a:p>
                    <a:p>
                      <a:pPr marL="285750" lvl="0" indent="-285750">
                        <a:buClr>
                          <a:schemeClr val="tx1"/>
                        </a:buClr>
                        <a:buFont typeface="Arial" panose="020B0604020202020204" pitchFamily="34" charset="0"/>
                        <a:buChar char="•"/>
                      </a:pPr>
                      <a:endParaRPr lang="en-US" i="1" strike="noStrike" dirty="0">
                        <a:solidFill>
                          <a:schemeClr val="tx1"/>
                        </a:solidFill>
                      </a:endParaRP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2389873790"/>
                  </a:ext>
                </a:extLst>
              </a:tr>
            </a:tbl>
          </a:graphicData>
        </a:graphic>
      </p:graphicFrame>
      <p:sp>
        <p:nvSpPr>
          <p:cNvPr id="13" name="Title 1">
            <a:extLst>
              <a:ext uri="{FF2B5EF4-FFF2-40B4-BE49-F238E27FC236}">
                <a16:creationId xmlns:a16="http://schemas.microsoft.com/office/drawing/2014/main" id="{2D24CA2F-9675-E687-2802-67F560F334E4}"/>
              </a:ext>
            </a:extLst>
          </p:cNvPr>
          <p:cNvSpPr>
            <a:spLocks noGrp="1"/>
          </p:cNvSpPr>
          <p:nvPr>
            <p:ph type="title"/>
          </p:nvPr>
        </p:nvSpPr>
        <p:spPr>
          <a:xfrm>
            <a:off x="1011627" y="108834"/>
            <a:ext cx="10515600" cy="680223"/>
          </a:xfrm>
        </p:spPr>
        <p:txBody>
          <a:bodyPr/>
          <a:lstStyle/>
          <a:p>
            <a:r>
              <a:rPr lang="en-US" sz="2400" dirty="0"/>
              <a:t>Actively Managed Portfolio: Objectives </a:t>
            </a:r>
          </a:p>
        </p:txBody>
      </p:sp>
      <p:sp>
        <p:nvSpPr>
          <p:cNvPr id="5" name="Slide Number Placeholder 2">
            <a:extLst>
              <a:ext uri="{FF2B5EF4-FFF2-40B4-BE49-F238E27FC236}">
                <a16:creationId xmlns:a16="http://schemas.microsoft.com/office/drawing/2014/main" id="{8BA64919-FFFC-086B-4B09-C2A1A17E9DF4}"/>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774807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89D270C5-A08C-47F8-3DFF-659BE2F232FF}"/>
              </a:ext>
            </a:extLst>
          </p:cNvPr>
          <p:cNvGraphicFramePr>
            <a:graphicFrameLocks noGrp="1"/>
          </p:cNvGraphicFramePr>
          <p:nvPr/>
        </p:nvGraphicFramePr>
        <p:xfrm>
          <a:off x="0" y="861485"/>
          <a:ext cx="12192000" cy="347472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080473561"/>
                    </a:ext>
                  </a:extLst>
                </a:gridCol>
                <a:gridCol w="9525000">
                  <a:extLst>
                    <a:ext uri="{9D8B030D-6E8A-4147-A177-3AD203B41FA5}">
                      <a16:colId xmlns:a16="http://schemas.microsoft.com/office/drawing/2014/main" val="1869368987"/>
                    </a:ext>
                  </a:extLst>
                </a:gridCol>
              </a:tblGrid>
              <a:tr h="370840">
                <a:tc>
                  <a:txBody>
                    <a:bodyPr/>
                    <a:lstStyle/>
                    <a:p>
                      <a:pPr marL="285750" indent="-285750">
                        <a:buFont typeface="Arial" panose="020B0604020202020204" pitchFamily="34" charset="0"/>
                        <a:buChar char="•"/>
                      </a:pPr>
                      <a:r>
                        <a:rPr lang="en-US" b="1" strike="noStrike" dirty="0">
                          <a:solidFill>
                            <a:schemeClr val="tx1"/>
                          </a:solidFill>
                        </a:rPr>
                        <a:t>Outputs Delivered:</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pPr marL="285750" lvl="0" indent="-285750">
                        <a:buClr>
                          <a:schemeClr val="tx1"/>
                        </a:buClr>
                        <a:buFont typeface="Arial" panose="020B0604020202020204" pitchFamily="34" charset="0"/>
                        <a:buChar char="•"/>
                      </a:pPr>
                      <a:r>
                        <a:rPr lang="en-US" sz="1800" b="0" i="0" u="none" strike="noStrike" noProof="0" dirty="0">
                          <a:solidFill>
                            <a:schemeClr val="tx1"/>
                          </a:solidFill>
                          <a:latin typeface="+mn-lt"/>
                        </a:rPr>
                        <a:t>AMP Charter </a:t>
                      </a:r>
                    </a:p>
                    <a:p>
                      <a:pPr marL="285750" marR="0" lvl="1" indent="-285750" algn="l">
                        <a:lnSpc>
                          <a:spcPct val="100000"/>
                        </a:lnSpc>
                        <a:spcBef>
                          <a:spcPts val="0"/>
                        </a:spcBef>
                        <a:spcAft>
                          <a:spcPts val="0"/>
                        </a:spcAft>
                        <a:buClr>
                          <a:schemeClr val="tx1"/>
                        </a:buClr>
                        <a:buFont typeface="Arial" panose="020B0604020202020204" pitchFamily="34" charset="0"/>
                        <a:buChar char="•"/>
                      </a:pPr>
                      <a:r>
                        <a:rPr lang="en-US" sz="1800" b="0" i="0" u="none" strike="noStrike" noProof="0" dirty="0">
                          <a:solidFill>
                            <a:schemeClr val="tx1"/>
                          </a:solidFill>
                          <a:latin typeface="+mn-lt"/>
                        </a:rPr>
                        <a:t>AMP Leader Role Charter</a:t>
                      </a:r>
                      <a:endParaRPr lang="en-US" sz="1800" b="0" i="0" u="none" strike="noStrike" noProof="0" dirty="0">
                        <a:solidFill>
                          <a:schemeClr val="tx1"/>
                        </a:solidFill>
                      </a:endParaRPr>
                    </a:p>
                    <a:p>
                      <a:pPr marL="285750" marR="0" lvl="1" indent="-285750" algn="l">
                        <a:lnSpc>
                          <a:spcPct val="100000"/>
                        </a:lnSpc>
                        <a:spcBef>
                          <a:spcPts val="0"/>
                        </a:spcBef>
                        <a:spcAft>
                          <a:spcPts val="0"/>
                        </a:spcAft>
                        <a:buClr>
                          <a:schemeClr val="tx1"/>
                        </a:buClr>
                        <a:buFont typeface="Arial" panose="020B0604020202020204" pitchFamily="34" charset="0"/>
                        <a:buChar char="•"/>
                      </a:pPr>
                      <a:r>
                        <a:rPr lang="en-US" sz="1800" b="0" i="0" u="none" strike="noStrike" noProof="0" dirty="0">
                          <a:solidFill>
                            <a:schemeClr val="tx1"/>
                          </a:solidFill>
                          <a:latin typeface="+mn-lt"/>
                        </a:rPr>
                        <a:t>Gap Analysis of P.O.</a:t>
                      </a:r>
                      <a:endParaRPr lang="en-US" sz="1800" b="0" i="0" u="none" strike="noStrike" noProof="0" dirty="0">
                        <a:solidFill>
                          <a:schemeClr val="tx1"/>
                        </a:solidFill>
                      </a:endParaRPr>
                    </a:p>
                    <a:p>
                      <a:pPr marL="285750" marR="0" lvl="1" indent="-285750" algn="l">
                        <a:lnSpc>
                          <a:spcPct val="100000"/>
                        </a:lnSpc>
                        <a:spcBef>
                          <a:spcPts val="0"/>
                        </a:spcBef>
                        <a:spcAft>
                          <a:spcPts val="0"/>
                        </a:spcAft>
                        <a:buClr>
                          <a:schemeClr val="tx1"/>
                        </a:buClr>
                        <a:buFont typeface="Arial" panose="020B0604020202020204" pitchFamily="34" charset="0"/>
                        <a:buChar char="•"/>
                      </a:pPr>
                      <a:r>
                        <a:rPr lang="en-US" sz="1800" b="0" i="0" u="none" strike="noStrike" noProof="0" dirty="0">
                          <a:solidFill>
                            <a:schemeClr val="tx1"/>
                          </a:solidFill>
                          <a:latin typeface="+mn-lt"/>
                        </a:rPr>
                        <a:t>Communications Framework</a:t>
                      </a:r>
                      <a:endParaRPr lang="en-US" sz="1800" b="0" i="0" u="none" strike="noStrike" noProof="0" dirty="0">
                        <a:solidFill>
                          <a:schemeClr val="tx1"/>
                        </a:solidFill>
                      </a:endParaRPr>
                    </a:p>
                    <a:p>
                      <a:pPr marL="285750" marR="0" lvl="1" indent="-285750" algn="l" defTabSz="914400" rtl="0" eaLnBrk="1" fontAlgn="auto" latinLnBrk="0" hangingPunct="1">
                        <a:lnSpc>
                          <a:spcPct val="100000"/>
                        </a:lnSpc>
                        <a:spcBef>
                          <a:spcPts val="0"/>
                        </a:spcBef>
                        <a:spcAft>
                          <a:spcPts val="0"/>
                        </a:spcAft>
                        <a:buClr>
                          <a:schemeClr val="tx1"/>
                        </a:buClr>
                        <a:buSzTx/>
                        <a:buFont typeface="Arial" panose="020B0604020202020204" pitchFamily="34" charset="0"/>
                        <a:buChar char="•"/>
                        <a:tabLst/>
                        <a:defRPr/>
                      </a:pPr>
                      <a:r>
                        <a:rPr lang="en-US" sz="1800" b="0" i="0" u="none" strike="noStrike" noProof="0" dirty="0">
                          <a:solidFill>
                            <a:schemeClr val="tx1"/>
                          </a:solidFill>
                          <a:latin typeface="+mn-lt"/>
                        </a:rPr>
                        <a:t>Change Champion materials</a:t>
                      </a:r>
                    </a:p>
                    <a:p>
                      <a:pPr marL="285750" marR="0" lvl="1" indent="-285750" algn="l" defTabSz="914400" rtl="0" eaLnBrk="1" fontAlgn="auto" latinLnBrk="0" hangingPunct="1">
                        <a:lnSpc>
                          <a:spcPct val="100000"/>
                        </a:lnSpc>
                        <a:spcBef>
                          <a:spcPts val="0"/>
                        </a:spcBef>
                        <a:spcAft>
                          <a:spcPts val="0"/>
                        </a:spcAft>
                        <a:buClr>
                          <a:schemeClr val="tx1"/>
                        </a:buClr>
                        <a:buSzTx/>
                        <a:buFont typeface="Arial" panose="020B0604020202020204" pitchFamily="34" charset="0"/>
                        <a:buChar char="•"/>
                        <a:tabLst/>
                        <a:defRPr/>
                      </a:pPr>
                      <a:r>
                        <a:rPr kumimoji="0" lang="en-US" sz="1800" b="0" i="0" u="none" strike="noStrike" kern="1200" cap="none" spc="0" normalizeH="0" baseline="0" noProof="0" dirty="0">
                          <a:ln>
                            <a:noFill/>
                          </a:ln>
                          <a:solidFill>
                            <a:schemeClr val="tx1"/>
                          </a:solidFill>
                          <a:effectLst/>
                          <a:uLnTx/>
                          <a:uFillTx/>
                          <a:latin typeface="+mn-lt"/>
                          <a:ea typeface="+mn-ea"/>
                          <a:cs typeface="Arial"/>
                        </a:rPr>
                        <a:t>SOPs for rapid and program-directed peer reviews and funding (In Process)</a:t>
                      </a:r>
                    </a:p>
                    <a:p>
                      <a:pPr marL="285750" marR="0" lvl="1" indent="-285750" algn="l" defTabSz="914400" rtl="0" eaLnBrk="1" fontAlgn="auto" latinLnBrk="0" hangingPunct="1">
                        <a:lnSpc>
                          <a:spcPct val="100000"/>
                        </a:lnSpc>
                        <a:spcBef>
                          <a:spcPts val="0"/>
                        </a:spcBef>
                        <a:spcAft>
                          <a:spcPts val="0"/>
                        </a:spcAft>
                        <a:buClr>
                          <a:schemeClr val="tx1"/>
                        </a:buClr>
                        <a:buSzTx/>
                        <a:buFont typeface="Arial" panose="020B0604020202020204" pitchFamily="34" charset="0"/>
                        <a:buChar char="•"/>
                        <a:tabLst/>
                        <a:defRPr/>
                      </a:pPr>
                      <a:r>
                        <a:rPr kumimoji="0" lang="en-US" sz="1800" b="0" i="0" u="none" strike="noStrike" kern="1200" cap="none" spc="0" normalizeH="0" baseline="0" noProof="0" dirty="0">
                          <a:ln>
                            <a:noFill/>
                          </a:ln>
                          <a:solidFill>
                            <a:schemeClr val="tx1"/>
                          </a:solidFill>
                          <a:effectLst/>
                          <a:uLnTx/>
                          <a:uFillTx/>
                          <a:latin typeface="+mn-lt"/>
                          <a:ea typeface="+mn-ea"/>
                          <a:cs typeface="Arial"/>
                        </a:rPr>
                        <a:t>P.O. Prioritized Action Plan (In Process)</a:t>
                      </a:r>
                    </a:p>
                    <a:p>
                      <a:pPr marL="285750" marR="0" lvl="1" indent="-285750" algn="l" defTabSz="914400" rtl="0" eaLnBrk="1" fontAlgn="auto" latinLnBrk="0" hangingPunct="1">
                        <a:lnSpc>
                          <a:spcPct val="100000"/>
                        </a:lnSpc>
                        <a:spcBef>
                          <a:spcPts val="0"/>
                        </a:spcBef>
                        <a:spcAft>
                          <a:spcPts val="0"/>
                        </a:spcAft>
                        <a:buClr>
                          <a:schemeClr val="tx1"/>
                        </a:buClr>
                        <a:buSzTx/>
                        <a:buFont typeface="Arial" panose="020B0604020202020204" pitchFamily="34" charset="0"/>
                        <a:buChar char="•"/>
                        <a:tabLst/>
                        <a:defRPr/>
                      </a:pPr>
                      <a:r>
                        <a:rPr kumimoji="0" lang="en-US" sz="1800" b="0" i="0" u="none" strike="noStrike" kern="1200" cap="none" spc="0" normalizeH="0" baseline="0" noProof="0" dirty="0">
                          <a:ln>
                            <a:noFill/>
                          </a:ln>
                          <a:solidFill>
                            <a:schemeClr val="tx1"/>
                          </a:solidFill>
                          <a:effectLst/>
                          <a:uLnTx/>
                          <a:uFillTx/>
                          <a:latin typeface="+mn-lt"/>
                          <a:ea typeface="+mn-ea"/>
                          <a:cs typeface="Arial"/>
                        </a:rPr>
                        <a:t>Inventory of needed dashboard functionality</a:t>
                      </a:r>
                      <a:r>
                        <a:rPr lang="en-US" sz="1800" b="0" dirty="0">
                          <a:solidFill>
                            <a:schemeClr val="tx1"/>
                          </a:solidFill>
                          <a:latin typeface="+mn-lt"/>
                          <a:cs typeface="Arial"/>
                        </a:rPr>
                        <a:t> with PA Team</a:t>
                      </a:r>
                    </a:p>
                    <a:p>
                      <a:pPr marL="285750" marR="0" lvl="1" indent="-285750" algn="l" defTabSz="914400" rtl="0" eaLnBrk="1" fontAlgn="auto" latinLnBrk="0" hangingPunct="1">
                        <a:lnSpc>
                          <a:spcPct val="100000"/>
                        </a:lnSpc>
                        <a:spcBef>
                          <a:spcPts val="0"/>
                        </a:spcBef>
                        <a:spcAft>
                          <a:spcPts val="0"/>
                        </a:spcAft>
                        <a:buClr>
                          <a:schemeClr val="tx1"/>
                        </a:buClr>
                        <a:buSzTx/>
                        <a:buFont typeface="Arial" panose="020B0604020202020204" pitchFamily="34" charset="0"/>
                        <a:buChar char="•"/>
                        <a:tabLst/>
                        <a:defRPr/>
                      </a:pPr>
                      <a:r>
                        <a:rPr kumimoji="0" lang="en-US" sz="18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Portfolio Analysis Dashboard (By EOFY 22)</a:t>
                      </a:r>
                      <a:endParaRPr lang="en-US" b="0" i="1" strike="noStrike" dirty="0">
                        <a:solidFill>
                          <a:schemeClr val="tx1"/>
                        </a:solidFill>
                      </a:endParaRP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3835389272"/>
                  </a:ext>
                </a:extLst>
              </a:tr>
              <a:tr h="370840">
                <a:tc>
                  <a:txBody>
                    <a:bodyPr/>
                    <a:lstStyle/>
                    <a:p>
                      <a:pPr marL="285750" indent="-285750">
                        <a:buFont typeface="Arial" panose="020B0604020202020204" pitchFamily="34" charset="0"/>
                        <a:buChar char="•"/>
                      </a:pPr>
                      <a:r>
                        <a:rPr lang="en-US" b="1" strike="noStrike" dirty="0">
                          <a:solidFill>
                            <a:schemeClr val="tx1"/>
                          </a:solidFill>
                        </a:rPr>
                        <a:t>Outputs Rescheduled:</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en-US" sz="1800" b="0" i="0" u="none" strike="noStrike" kern="1200" cap="none" spc="0" normalizeH="0" baseline="0" noProof="0" dirty="0">
                          <a:ln>
                            <a:noFill/>
                          </a:ln>
                          <a:solidFill>
                            <a:schemeClr val="tx1"/>
                          </a:solidFill>
                          <a:effectLst/>
                          <a:uLnTx/>
                          <a:uFillTx/>
                          <a:latin typeface="+mn-lt"/>
                          <a:ea typeface="+mn-ea"/>
                          <a:cs typeface="Arial"/>
                        </a:rPr>
                        <a:t>Still Planned But Delayed (FY 23)</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tx1"/>
                          </a:solidFill>
                          <a:effectLst/>
                          <a:uLnTx/>
                          <a:uFillTx/>
                          <a:latin typeface="+mn-lt"/>
                          <a:ea typeface="+mn-ea"/>
                          <a:cs typeface="Arial"/>
                        </a:rPr>
                        <a:t>AMP budget decision SOPs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Codified performance metrics to measure an AMP</a:t>
                      </a:r>
                      <a:endParaRPr lang="en-US" sz="1800" b="0" i="0" u="none" strike="noStrike" kern="1200" cap="none" spc="0" normalizeH="0" baseline="0" noProof="0" dirty="0">
                        <a:ln>
                          <a:noFill/>
                        </a:ln>
                        <a:solidFill>
                          <a:schemeClr val="tx1"/>
                        </a:solidFill>
                        <a:effectLst/>
                        <a:uLnTx/>
                        <a:uFillTx/>
                        <a:latin typeface="+mn-lt"/>
                        <a:cs typeface="Arial"/>
                      </a:endParaRP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2389873790"/>
                  </a:ext>
                </a:extLst>
              </a:tr>
            </a:tbl>
          </a:graphicData>
        </a:graphic>
      </p:graphicFrame>
      <p:sp>
        <p:nvSpPr>
          <p:cNvPr id="13" name="Title 1">
            <a:extLst>
              <a:ext uri="{FF2B5EF4-FFF2-40B4-BE49-F238E27FC236}">
                <a16:creationId xmlns:a16="http://schemas.microsoft.com/office/drawing/2014/main" id="{2D24CA2F-9675-E687-2802-67F560F334E4}"/>
              </a:ext>
            </a:extLst>
          </p:cNvPr>
          <p:cNvSpPr>
            <a:spLocks noGrp="1"/>
          </p:cNvSpPr>
          <p:nvPr>
            <p:ph type="title"/>
          </p:nvPr>
        </p:nvSpPr>
        <p:spPr>
          <a:xfrm>
            <a:off x="1011627" y="108834"/>
            <a:ext cx="10515600" cy="680223"/>
          </a:xfrm>
        </p:spPr>
        <p:txBody>
          <a:bodyPr/>
          <a:lstStyle/>
          <a:p>
            <a:r>
              <a:rPr lang="en-US" sz="2400" dirty="0"/>
              <a:t>Actively Managed Portfolio: Delivery Status</a:t>
            </a:r>
          </a:p>
        </p:txBody>
      </p:sp>
      <p:pic>
        <p:nvPicPr>
          <p:cNvPr id="7" name="Graphic 6" descr="Folder Search outline">
            <a:extLst>
              <a:ext uri="{FF2B5EF4-FFF2-40B4-BE49-F238E27FC236}">
                <a16:creationId xmlns:a16="http://schemas.microsoft.com/office/drawing/2014/main" id="{A5655DEC-0EE2-4D63-E839-F6BC933A31C4}"/>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1527" y="106045"/>
            <a:ext cx="685800" cy="685800"/>
          </a:xfrm>
          <a:prstGeom prst="rect">
            <a:avLst/>
          </a:prstGeom>
        </p:spPr>
      </p:pic>
      <p:sp>
        <p:nvSpPr>
          <p:cNvPr id="5" name="Slide Number Placeholder 2">
            <a:extLst>
              <a:ext uri="{FF2B5EF4-FFF2-40B4-BE49-F238E27FC236}">
                <a16:creationId xmlns:a16="http://schemas.microsoft.com/office/drawing/2014/main" id="{A10F567F-6E0D-6C8F-99E5-9ECDADE582C8}"/>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046432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89D270C5-A08C-47F8-3DFF-659BE2F232FF}"/>
              </a:ext>
            </a:extLst>
          </p:cNvPr>
          <p:cNvGraphicFramePr>
            <a:graphicFrameLocks noGrp="1"/>
          </p:cNvGraphicFramePr>
          <p:nvPr/>
        </p:nvGraphicFramePr>
        <p:xfrm>
          <a:off x="0" y="789057"/>
          <a:ext cx="12192000" cy="466344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080473561"/>
                    </a:ext>
                  </a:extLst>
                </a:gridCol>
                <a:gridCol w="9525000">
                  <a:extLst>
                    <a:ext uri="{9D8B030D-6E8A-4147-A177-3AD203B41FA5}">
                      <a16:colId xmlns:a16="http://schemas.microsoft.com/office/drawing/2014/main" val="1869368987"/>
                    </a:ext>
                  </a:extLst>
                </a:gridCol>
              </a:tblGrid>
              <a:tr h="615992">
                <a:tc>
                  <a:txBody>
                    <a:bodyPr/>
                    <a:lstStyle/>
                    <a:p>
                      <a:r>
                        <a:rPr lang="en-US" b="1" dirty="0">
                          <a:solidFill>
                            <a:schemeClr val="tx1"/>
                          </a:solidFill>
                        </a:rPr>
                        <a:t>Lessons Learned:</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r>
                        <a:rPr lang="en-US" sz="1800" b="0" i="0" kern="1200" dirty="0">
                          <a:solidFill>
                            <a:schemeClr val="tx1"/>
                          </a:solidFill>
                          <a:effectLst/>
                          <a:latin typeface="+mn-lt"/>
                          <a:ea typeface="+mn-ea"/>
                          <a:cs typeface="+mn-cs"/>
                        </a:rPr>
                        <a:t>The underlying structure that supports the review process presents challenges to developing and implementing accelerated reviews as extensions of the already existing process. </a:t>
                      </a:r>
                      <a:endParaRPr lang="en-US" i="1" dirty="0">
                        <a:solidFill>
                          <a:schemeClr val="tx1"/>
                        </a:solidFill>
                      </a:endParaRP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2668848712"/>
                  </a:ext>
                </a:extLst>
              </a:tr>
              <a:tr h="2190242">
                <a:tc>
                  <a:txBody>
                    <a:bodyPr/>
                    <a:lstStyle/>
                    <a:p>
                      <a:r>
                        <a:rPr lang="en-US" b="1" u="sng" dirty="0">
                          <a:solidFill>
                            <a:schemeClr val="tx1"/>
                          </a:solidFill>
                        </a:rPr>
                        <a:t>Current</a:t>
                      </a:r>
                      <a:r>
                        <a:rPr lang="en-US" b="1" dirty="0">
                          <a:solidFill>
                            <a:schemeClr val="tx1"/>
                          </a:solidFill>
                        </a:rPr>
                        <a:t> Roadblocks: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pPr marL="285750" marR="0" lvl="0" indent="-285750" algn="l" rtl="0" eaLnBrk="1" fontAlgn="auto" latinLnBrk="0" hangingPunct="1">
                        <a:lnSpc>
                          <a:spcPct val="100000"/>
                        </a:lnSpc>
                        <a:spcBef>
                          <a:spcPts val="0"/>
                        </a:spcBef>
                        <a:spcAft>
                          <a:spcPts val="0"/>
                        </a:spcAft>
                        <a:buClrTx/>
                        <a:buSzTx/>
                        <a:buFont typeface="Arial" panose="020B0604020202020204" pitchFamily="34" charset="0"/>
                        <a:buChar char="•"/>
                      </a:pPr>
                      <a:r>
                        <a:rPr lang="en-US" i="0" u="none" dirty="0">
                          <a:solidFill>
                            <a:schemeClr val="tx1"/>
                          </a:solidFill>
                        </a:rPr>
                        <a:t>There are no significant strategic roadblocks hindering completion of the initiative</a:t>
                      </a:r>
                    </a:p>
                    <a:p>
                      <a:pPr marL="285750" marR="0" lvl="0" indent="-285750" algn="l" rtl="0" eaLnBrk="1" fontAlgn="auto" latinLnBrk="0" hangingPunct="1">
                        <a:lnSpc>
                          <a:spcPct val="100000"/>
                        </a:lnSpc>
                        <a:spcBef>
                          <a:spcPts val="0"/>
                        </a:spcBef>
                        <a:spcAft>
                          <a:spcPts val="0"/>
                        </a:spcAft>
                        <a:buClrTx/>
                        <a:buSzTx/>
                        <a:buFont typeface="Arial" panose="020B0604020202020204" pitchFamily="34" charset="0"/>
                        <a:buChar char="•"/>
                      </a:pPr>
                      <a:r>
                        <a:rPr lang="en-US" i="0" u="none" dirty="0">
                          <a:solidFill>
                            <a:schemeClr val="tx1"/>
                          </a:solidFill>
                        </a:rPr>
                        <a:t>Tactical challenges which will be addressed as AMP continues in development:</a:t>
                      </a:r>
                    </a:p>
                    <a:p>
                      <a:pPr marL="342900" indent="-342900" rtl="0" fontAlgn="base">
                        <a:buFont typeface="+mj-lt"/>
                        <a:buAutoNum type="arabicPeriod"/>
                      </a:pPr>
                      <a:r>
                        <a:rPr lang="en-US" sz="1800" b="0" i="0" kern="1200" dirty="0">
                          <a:solidFill>
                            <a:schemeClr val="dk1"/>
                          </a:solidFill>
                          <a:effectLst/>
                          <a:latin typeface="+mn-lt"/>
                          <a:ea typeface="+mn-ea"/>
                          <a:cs typeface="+mn-cs"/>
                        </a:rPr>
                        <a:t>IC Codes, </a:t>
                      </a:r>
                      <a:r>
                        <a:rPr lang="en-US" sz="1800" b="0" i="0" kern="1200" dirty="0" err="1">
                          <a:solidFill>
                            <a:schemeClr val="dk1"/>
                          </a:solidFill>
                          <a:effectLst/>
                          <a:latin typeface="+mn-lt"/>
                          <a:ea typeface="+mn-ea"/>
                          <a:cs typeface="+mn-cs"/>
                        </a:rPr>
                        <a:t>eRA</a:t>
                      </a:r>
                      <a:r>
                        <a:rPr lang="en-US" sz="1800" b="0" i="0" kern="1200" dirty="0">
                          <a:solidFill>
                            <a:schemeClr val="dk1"/>
                          </a:solidFill>
                          <a:effectLst/>
                          <a:latin typeface="+mn-lt"/>
                          <a:ea typeface="+mn-ea"/>
                          <a:cs typeface="+mn-cs"/>
                        </a:rPr>
                        <a:t>, RAFT</a:t>
                      </a:r>
                    </a:p>
                    <a:p>
                      <a:pPr marL="800100" lvl="1" indent="-342900" rtl="0" fontAlgn="base">
                        <a:buFont typeface="Arial" panose="020B0604020202020204" pitchFamily="34" charset="0"/>
                        <a:buChar char="•"/>
                      </a:pPr>
                      <a:r>
                        <a:rPr lang="en-US" sz="1800" b="0" i="0" kern="1200" dirty="0">
                          <a:solidFill>
                            <a:schemeClr val="dk1"/>
                          </a:solidFill>
                          <a:effectLst/>
                          <a:latin typeface="+mn-lt"/>
                          <a:ea typeface="+mn-ea"/>
                          <a:cs typeface="+mn-cs"/>
                        </a:rPr>
                        <a:t>Flexibility with systems like </a:t>
                      </a:r>
                      <a:r>
                        <a:rPr lang="en-US" sz="1800" b="0" i="0" kern="1200" dirty="0" err="1">
                          <a:solidFill>
                            <a:schemeClr val="dk1"/>
                          </a:solidFill>
                          <a:effectLst/>
                          <a:latin typeface="+mn-lt"/>
                          <a:ea typeface="+mn-ea"/>
                          <a:cs typeface="+mn-cs"/>
                        </a:rPr>
                        <a:t>eRA</a:t>
                      </a:r>
                      <a:r>
                        <a:rPr lang="en-US" sz="1800" b="0" i="0" kern="1200" dirty="0">
                          <a:solidFill>
                            <a:schemeClr val="dk1"/>
                          </a:solidFill>
                          <a:effectLst/>
                          <a:latin typeface="+mn-lt"/>
                          <a:ea typeface="+mn-ea"/>
                          <a:cs typeface="+mn-cs"/>
                        </a:rPr>
                        <a:t> is a challenge</a:t>
                      </a:r>
                    </a:p>
                    <a:p>
                      <a:pPr marL="800100" lvl="1" indent="-342900" rtl="0" fontAlgn="base">
                        <a:buFont typeface="Arial" panose="020B0604020202020204" pitchFamily="34" charset="0"/>
                        <a:buChar char="•"/>
                      </a:pPr>
                      <a:r>
                        <a:rPr lang="en-US" sz="1800" b="0" i="0" kern="1200" dirty="0">
                          <a:solidFill>
                            <a:schemeClr val="dk1"/>
                          </a:solidFill>
                          <a:effectLst/>
                          <a:latin typeface="+mn-lt"/>
                          <a:ea typeface="+mn-ea"/>
                          <a:cs typeface="+mn-cs"/>
                        </a:rPr>
                        <a:t>RAFT changes cannot occur quickly</a:t>
                      </a:r>
                    </a:p>
                    <a:p>
                      <a:pPr marL="342900" indent="-342900" rtl="0" fontAlgn="base">
                        <a:buFont typeface="+mj-lt"/>
                        <a:buAutoNum type="arabicPeriod"/>
                      </a:pPr>
                      <a:r>
                        <a:rPr lang="en-US" sz="1800" b="0" i="0" kern="1200" dirty="0">
                          <a:solidFill>
                            <a:schemeClr val="dk1"/>
                          </a:solidFill>
                          <a:effectLst/>
                          <a:latin typeface="+mn-lt"/>
                          <a:ea typeface="+mn-ea"/>
                          <a:cs typeface="+mn-cs"/>
                        </a:rPr>
                        <a:t>Working with existing systems to maintain compliance as prototype launches and operates</a:t>
                      </a:r>
                    </a:p>
                    <a:p>
                      <a:pPr marL="342900" marR="0" lvl="0" indent="-342900" algn="l" defTabSz="914400" rtl="0" eaLnBrk="1" fontAlgn="base" latinLnBrk="0" hangingPunct="1">
                        <a:lnSpc>
                          <a:spcPct val="100000"/>
                        </a:lnSpc>
                        <a:spcBef>
                          <a:spcPts val="0"/>
                        </a:spcBef>
                        <a:spcAft>
                          <a:spcPts val="0"/>
                        </a:spcAft>
                        <a:buClrTx/>
                        <a:buSzTx/>
                        <a:buFont typeface="+mj-lt"/>
                        <a:buAutoNum type="arabicPeriod"/>
                        <a:tabLst/>
                        <a:defRPr/>
                      </a:pPr>
                      <a:r>
                        <a:rPr lang="en-US" sz="1800" b="0" i="0" kern="1200" dirty="0">
                          <a:solidFill>
                            <a:schemeClr val="dk1"/>
                          </a:solidFill>
                          <a:effectLst/>
                          <a:latin typeface="+mn-lt"/>
                          <a:ea typeface="+mn-ea"/>
                          <a:cs typeface="+mn-cs"/>
                        </a:rPr>
                        <a:t>The current review systems are not flexible/nimble enough in supporting a prototype AMP that utilizes standard merit review process and accelerated review processes. This presents challenges to integration of processes already firmly in place throughout the enterprise </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3999873908"/>
                  </a:ext>
                </a:extLst>
              </a:tr>
              <a:tr h="876097">
                <a:tc>
                  <a:txBody>
                    <a:bodyPr/>
                    <a:lstStyle/>
                    <a:p>
                      <a:r>
                        <a:rPr lang="en-US" b="1" dirty="0">
                          <a:solidFill>
                            <a:schemeClr val="tx1"/>
                          </a:solidFill>
                        </a:rPr>
                        <a:t>Mitigation Strategies: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pPr marL="285750" indent="-285750">
                        <a:buFont typeface="Arial" panose="020B0604020202020204" pitchFamily="34" charset="0"/>
                        <a:buChar char="•"/>
                      </a:pPr>
                      <a:r>
                        <a:rPr lang="en-US" i="0" u="none" dirty="0">
                          <a:solidFill>
                            <a:schemeClr val="tx1"/>
                          </a:solidFill>
                        </a:rPr>
                        <a:t>PO AMP will </a:t>
                      </a:r>
                      <a:r>
                        <a:rPr lang="en-US" sz="1800" b="0" i="0" u="none" kern="1200" dirty="0">
                          <a:solidFill>
                            <a:schemeClr val="dk1"/>
                          </a:solidFill>
                          <a:effectLst/>
                          <a:latin typeface="+mn-lt"/>
                          <a:ea typeface="+mn-ea"/>
                          <a:cs typeface="+mn-cs"/>
                        </a:rPr>
                        <a:t>w</a:t>
                      </a:r>
                      <a:r>
                        <a:rPr lang="en-US" sz="1800" b="0" i="0" kern="1200" dirty="0">
                          <a:solidFill>
                            <a:schemeClr val="dk1"/>
                          </a:solidFill>
                          <a:effectLst/>
                          <a:latin typeface="+mn-lt"/>
                          <a:ea typeface="+mn-ea"/>
                          <a:cs typeface="+mn-cs"/>
                        </a:rPr>
                        <a:t>ork with administrators to overcome these challenges</a:t>
                      </a:r>
                      <a:endParaRPr lang="en-US" i="0" u="none" dirty="0">
                        <a:solidFill>
                          <a:schemeClr val="tx1"/>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i="0" u="none" dirty="0">
                          <a:solidFill>
                            <a:schemeClr val="tx1"/>
                          </a:solidFill>
                        </a:rPr>
                        <a:t>Prototype implementation is on track and continuing planned work will be addressed in FY 23</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i="0" u="none" dirty="0">
                          <a:solidFill>
                            <a:schemeClr val="tx1"/>
                          </a:solidFill>
                        </a:rPr>
                        <a:t>PO AMP will continue building on its iterative design model to preserve successful initiative components, phase out elements as necessary, and introduce additional opportunities for high operational performance </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1463779455"/>
                  </a:ext>
                </a:extLst>
              </a:tr>
            </a:tbl>
          </a:graphicData>
        </a:graphic>
      </p:graphicFrame>
      <p:sp>
        <p:nvSpPr>
          <p:cNvPr id="13" name="Title 1">
            <a:extLst>
              <a:ext uri="{FF2B5EF4-FFF2-40B4-BE49-F238E27FC236}">
                <a16:creationId xmlns:a16="http://schemas.microsoft.com/office/drawing/2014/main" id="{2D24CA2F-9675-E687-2802-67F560F334E4}"/>
              </a:ext>
            </a:extLst>
          </p:cNvPr>
          <p:cNvSpPr>
            <a:spLocks noGrp="1"/>
          </p:cNvSpPr>
          <p:nvPr>
            <p:ph type="title"/>
          </p:nvPr>
        </p:nvSpPr>
        <p:spPr>
          <a:xfrm>
            <a:off x="1011627" y="108834"/>
            <a:ext cx="10515600" cy="680223"/>
          </a:xfrm>
        </p:spPr>
        <p:txBody>
          <a:bodyPr/>
          <a:lstStyle/>
          <a:p>
            <a:r>
              <a:rPr lang="en-US" sz="2400"/>
              <a:t>Actively Managed Portfolio: Delivery Status</a:t>
            </a:r>
          </a:p>
        </p:txBody>
      </p:sp>
      <p:pic>
        <p:nvPicPr>
          <p:cNvPr id="7" name="Graphic 6" descr="Folder Search outline">
            <a:extLst>
              <a:ext uri="{FF2B5EF4-FFF2-40B4-BE49-F238E27FC236}">
                <a16:creationId xmlns:a16="http://schemas.microsoft.com/office/drawing/2014/main" id="{A5655DEC-0EE2-4D63-E839-F6BC933A31C4}"/>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1527" y="106045"/>
            <a:ext cx="685800" cy="685800"/>
          </a:xfrm>
          <a:prstGeom prst="rect">
            <a:avLst/>
          </a:prstGeom>
        </p:spPr>
      </p:pic>
      <p:sp>
        <p:nvSpPr>
          <p:cNvPr id="5" name="Slide Number Placeholder 2">
            <a:extLst>
              <a:ext uri="{FF2B5EF4-FFF2-40B4-BE49-F238E27FC236}">
                <a16:creationId xmlns:a16="http://schemas.microsoft.com/office/drawing/2014/main" id="{A10F567F-6E0D-6C8F-99E5-9ECDADE582C8}"/>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897440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89D270C5-A08C-47F8-3DFF-659BE2F232FF}"/>
              </a:ext>
            </a:extLst>
          </p:cNvPr>
          <p:cNvGraphicFramePr>
            <a:graphicFrameLocks noGrp="1"/>
          </p:cNvGraphicFramePr>
          <p:nvPr/>
        </p:nvGraphicFramePr>
        <p:xfrm>
          <a:off x="0" y="885705"/>
          <a:ext cx="12192000" cy="265176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080473561"/>
                    </a:ext>
                  </a:extLst>
                </a:gridCol>
                <a:gridCol w="9525000">
                  <a:extLst>
                    <a:ext uri="{9D8B030D-6E8A-4147-A177-3AD203B41FA5}">
                      <a16:colId xmlns:a16="http://schemas.microsoft.com/office/drawing/2014/main" val="1869368987"/>
                    </a:ext>
                  </a:extLst>
                </a:gridCol>
              </a:tblGrid>
              <a:tr h="370840">
                <a:tc>
                  <a:txBody>
                    <a:bodyPr/>
                    <a:lstStyle/>
                    <a:p>
                      <a:r>
                        <a:rPr lang="en-US" b="1">
                          <a:solidFill>
                            <a:schemeClr val="tx1"/>
                          </a:solidFill>
                        </a:rPr>
                        <a:t>Recommendation for Initiative in FY23:</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pPr marL="285750" indent="-285750">
                        <a:buFont typeface="Arial" panose="020B0604020202020204" pitchFamily="34" charset="0"/>
                        <a:buChar char="•"/>
                      </a:pPr>
                      <a:r>
                        <a:rPr lang="en-US" b="0" i="0" dirty="0">
                          <a:solidFill>
                            <a:schemeClr val="tx1"/>
                          </a:solidFill>
                        </a:rPr>
                        <a:t>Carry on with original objectives on extended timeline</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1267919758"/>
                  </a:ext>
                </a:extLst>
              </a:tr>
              <a:tr h="370840">
                <a:tc>
                  <a:txBody>
                    <a:bodyPr/>
                    <a:lstStyle/>
                    <a:p>
                      <a:r>
                        <a:rPr lang="en-US" b="1" dirty="0">
                          <a:solidFill>
                            <a:schemeClr val="tx1"/>
                          </a:solidFill>
                        </a:rPr>
                        <a:t>Major FY23 Outputs: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pPr marL="285750" lvl="0" indent="-285750">
                        <a:buFont typeface="Arial" panose="020B0604020202020204" pitchFamily="34" charset="0"/>
                        <a:buChar char="•"/>
                      </a:pPr>
                      <a:r>
                        <a:rPr lang="en-US" i="0" dirty="0">
                          <a:solidFill>
                            <a:schemeClr val="tx1"/>
                          </a:solidFill>
                        </a:rPr>
                        <a:t>Performance metrics developed as AMP matures over first-year of operations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Develop feedback mechanisms and formal evaluation criteria</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Identify and launch at least 1 additional prototype AMP</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Develop criteria/playbook for establishing additional AMPs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Formalize feedback/iterations of prototypes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tx1"/>
                          </a:solidFill>
                          <a:effectLst/>
                          <a:uLnTx/>
                          <a:uFillTx/>
                          <a:latin typeface="+mn-lt"/>
                          <a:ea typeface="+mn-ea"/>
                          <a:cs typeface="+mn-cs"/>
                        </a:rPr>
                        <a:t>Revise and update AMP Charters as necessary based on learnings </a:t>
                      </a:r>
                    </a:p>
                    <a:p>
                      <a:pPr marL="285750" lvl="0" indent="-285750">
                        <a:buFont typeface="Arial" panose="020B0604020202020204" pitchFamily="34" charset="0"/>
                        <a:buChar char="•"/>
                      </a:pPr>
                      <a:endParaRPr lang="en-US" i="0" dirty="0">
                        <a:solidFill>
                          <a:schemeClr val="tx1"/>
                        </a:solidFill>
                      </a:endParaRP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13577779"/>
                  </a:ext>
                </a:extLst>
              </a:tr>
            </a:tbl>
          </a:graphicData>
        </a:graphic>
      </p:graphicFrame>
      <p:sp>
        <p:nvSpPr>
          <p:cNvPr id="33" name="Title 1">
            <a:extLst>
              <a:ext uri="{FF2B5EF4-FFF2-40B4-BE49-F238E27FC236}">
                <a16:creationId xmlns:a16="http://schemas.microsoft.com/office/drawing/2014/main" id="{52BAEF8F-4780-E243-448F-F93727927AA7}"/>
              </a:ext>
            </a:extLst>
          </p:cNvPr>
          <p:cNvSpPr>
            <a:spLocks noGrp="1"/>
          </p:cNvSpPr>
          <p:nvPr>
            <p:ph type="title"/>
          </p:nvPr>
        </p:nvSpPr>
        <p:spPr>
          <a:xfrm>
            <a:off x="1011627" y="108834"/>
            <a:ext cx="10515600" cy="680223"/>
          </a:xfrm>
        </p:spPr>
        <p:txBody>
          <a:bodyPr/>
          <a:lstStyle/>
          <a:p>
            <a:r>
              <a:rPr lang="en-US" sz="2400"/>
              <a:t>Actively Managed Portfolio: Proposed Next Steps</a:t>
            </a:r>
          </a:p>
        </p:txBody>
      </p:sp>
      <p:pic>
        <p:nvPicPr>
          <p:cNvPr id="7" name="Graphic 6" descr="Folder Search outline">
            <a:extLst>
              <a:ext uri="{FF2B5EF4-FFF2-40B4-BE49-F238E27FC236}">
                <a16:creationId xmlns:a16="http://schemas.microsoft.com/office/drawing/2014/main" id="{5502A95C-DD87-87B2-F3C5-5AFD5708CBD6}"/>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1527" y="106045"/>
            <a:ext cx="685800" cy="685800"/>
          </a:xfrm>
          <a:prstGeom prst="rect">
            <a:avLst/>
          </a:prstGeom>
        </p:spPr>
      </p:pic>
      <p:sp>
        <p:nvSpPr>
          <p:cNvPr id="5" name="Slide Number Placeholder 2">
            <a:extLst>
              <a:ext uri="{FF2B5EF4-FFF2-40B4-BE49-F238E27FC236}">
                <a16:creationId xmlns:a16="http://schemas.microsoft.com/office/drawing/2014/main" id="{1C8613D0-9056-776B-E5D2-514D74E09AB7}"/>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03266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89D270C5-A08C-47F8-3DFF-659BE2F232FF}"/>
              </a:ext>
            </a:extLst>
          </p:cNvPr>
          <p:cNvGraphicFramePr>
            <a:graphicFrameLocks noGrp="1"/>
          </p:cNvGraphicFramePr>
          <p:nvPr/>
        </p:nvGraphicFramePr>
        <p:xfrm>
          <a:off x="0" y="879638"/>
          <a:ext cx="12192000" cy="265176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080473561"/>
                    </a:ext>
                  </a:extLst>
                </a:gridCol>
                <a:gridCol w="9525000">
                  <a:extLst>
                    <a:ext uri="{9D8B030D-6E8A-4147-A177-3AD203B41FA5}">
                      <a16:colId xmlns:a16="http://schemas.microsoft.com/office/drawing/2014/main" val="1869368987"/>
                    </a:ext>
                  </a:extLst>
                </a:gridCol>
              </a:tblGrid>
              <a:tr h="370840">
                <a:tc>
                  <a:txBody>
                    <a:bodyPr/>
                    <a:lstStyle/>
                    <a:p>
                      <a:r>
                        <a:rPr lang="en-US" b="1" dirty="0">
                          <a:solidFill>
                            <a:schemeClr val="tx1"/>
                          </a:solidFill>
                        </a:rPr>
                        <a:t>Immediate Next Steps: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pPr marL="285750" indent="-285750">
                        <a:buFont typeface="Arial" panose="020B0604020202020204" pitchFamily="34" charset="0"/>
                        <a:buChar char="•"/>
                      </a:pPr>
                      <a:r>
                        <a:rPr lang="en-US" b="0" i="0" dirty="0">
                          <a:solidFill>
                            <a:schemeClr val="tx1"/>
                          </a:solidFill>
                        </a:rPr>
                        <a:t>Finalize policies for prototype implementation on 1 Oct 22</a:t>
                      </a:r>
                    </a:p>
                    <a:p>
                      <a:pPr marL="285750" indent="-285750">
                        <a:buFont typeface="Arial" panose="020B0604020202020204" pitchFamily="34" charset="0"/>
                        <a:buChar char="•"/>
                      </a:pPr>
                      <a:r>
                        <a:rPr lang="en-US" b="0" i="0" dirty="0">
                          <a:solidFill>
                            <a:schemeClr val="tx1"/>
                          </a:solidFill>
                        </a:rPr>
                        <a:t>Develop LOI template (input from ORPPE&amp;E), RFA(s)</a:t>
                      </a:r>
                    </a:p>
                    <a:p>
                      <a:pPr marL="285750" indent="-285750">
                        <a:buFont typeface="Arial" panose="020B0604020202020204" pitchFamily="34" charset="0"/>
                        <a:buChar char="•"/>
                      </a:pPr>
                      <a:r>
                        <a:rPr lang="en-US" b="0" i="0" dirty="0">
                          <a:solidFill>
                            <a:schemeClr val="tx1"/>
                          </a:solidFill>
                        </a:rPr>
                        <a:t>Continue Research Roadmap development with 1 Oct 22 target for prototype implementation</a:t>
                      </a:r>
                    </a:p>
                    <a:p>
                      <a:pPr marL="285750" indent="-285750">
                        <a:buFont typeface="Arial" panose="020B0604020202020204" pitchFamily="34" charset="0"/>
                        <a:buChar char="•"/>
                      </a:pPr>
                      <a:r>
                        <a:rPr lang="en-US" b="0" i="0" dirty="0">
                          <a:solidFill>
                            <a:schemeClr val="tx1"/>
                          </a:solidFill>
                        </a:rPr>
                        <a:t>Plan and test initial research case through PO AMP </a:t>
                      </a:r>
                    </a:p>
                    <a:p>
                      <a:pPr marL="285750" indent="-285750">
                        <a:buFont typeface="Arial" panose="020B0604020202020204" pitchFamily="34" charset="0"/>
                        <a:buChar char="•"/>
                      </a:pPr>
                      <a:r>
                        <a:rPr lang="en-US" b="0" i="0" dirty="0">
                          <a:solidFill>
                            <a:schemeClr val="tx1"/>
                          </a:solidFill>
                        </a:rPr>
                        <a:t>Meet with Director of IRB network (Don Workman) and Chief Veterinary Medical Officer (George Lathrop) to discuss process improvements for accelerated reviews </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4279033902"/>
                  </a:ext>
                </a:extLst>
              </a:tr>
              <a:tr h="370840">
                <a:tc>
                  <a:txBody>
                    <a:bodyPr/>
                    <a:lstStyle/>
                    <a:p>
                      <a:r>
                        <a:rPr lang="en-US" b="1" dirty="0">
                          <a:solidFill>
                            <a:schemeClr val="tx1"/>
                          </a:solidFill>
                        </a:rPr>
                        <a:t>ORD Leadership Support Required to Accomplish Initiative Objective: </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pPr marL="285750" indent="-285750">
                        <a:buFont typeface="Arial" panose="020B0604020202020204" pitchFamily="34" charset="0"/>
                        <a:buChar char="•"/>
                      </a:pPr>
                      <a:r>
                        <a:rPr lang="en-US" b="0" i="0" dirty="0">
                          <a:solidFill>
                            <a:schemeClr val="tx1"/>
                          </a:solidFill>
                        </a:rPr>
                        <a:t>Approval of contract staff support for AMP accelerated reviews </a:t>
                      </a:r>
                    </a:p>
                    <a:p>
                      <a:pPr marL="285750" indent="-285750">
                        <a:buFont typeface="Arial" panose="020B0604020202020204" pitchFamily="34" charset="0"/>
                        <a:buChar char="•"/>
                      </a:pPr>
                      <a:r>
                        <a:rPr lang="en-US" b="0" i="0" dirty="0">
                          <a:solidFill>
                            <a:schemeClr val="tx1"/>
                          </a:solidFill>
                        </a:rPr>
                        <a:t>Establish whether AMPs have a separate budget and, if so, how that is determined</a:t>
                      </a:r>
                    </a:p>
                    <a:p>
                      <a:endParaRPr lang="en-US" b="1" i="1" dirty="0">
                        <a:solidFill>
                          <a:schemeClr val="tx1"/>
                        </a:solidFill>
                      </a:endParaRP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2206889529"/>
                  </a:ext>
                </a:extLst>
              </a:tr>
            </a:tbl>
          </a:graphicData>
        </a:graphic>
      </p:graphicFrame>
      <p:sp>
        <p:nvSpPr>
          <p:cNvPr id="33" name="Title 1">
            <a:extLst>
              <a:ext uri="{FF2B5EF4-FFF2-40B4-BE49-F238E27FC236}">
                <a16:creationId xmlns:a16="http://schemas.microsoft.com/office/drawing/2014/main" id="{52BAEF8F-4780-E243-448F-F93727927AA7}"/>
              </a:ext>
            </a:extLst>
          </p:cNvPr>
          <p:cNvSpPr>
            <a:spLocks noGrp="1"/>
          </p:cNvSpPr>
          <p:nvPr>
            <p:ph type="title"/>
          </p:nvPr>
        </p:nvSpPr>
        <p:spPr>
          <a:xfrm>
            <a:off x="1011627" y="108834"/>
            <a:ext cx="10515600" cy="680223"/>
          </a:xfrm>
        </p:spPr>
        <p:txBody>
          <a:bodyPr/>
          <a:lstStyle/>
          <a:p>
            <a:r>
              <a:rPr lang="en-US" sz="2400"/>
              <a:t>Actively Managed Portfolio: Proposed Next Steps</a:t>
            </a:r>
          </a:p>
        </p:txBody>
      </p:sp>
      <p:pic>
        <p:nvPicPr>
          <p:cNvPr id="7" name="Graphic 6" descr="Folder Search outline">
            <a:extLst>
              <a:ext uri="{FF2B5EF4-FFF2-40B4-BE49-F238E27FC236}">
                <a16:creationId xmlns:a16="http://schemas.microsoft.com/office/drawing/2014/main" id="{5502A95C-DD87-87B2-F3C5-5AFD5708CBD6}"/>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1527" y="106045"/>
            <a:ext cx="685800" cy="685800"/>
          </a:xfrm>
          <a:prstGeom prst="rect">
            <a:avLst/>
          </a:prstGeom>
        </p:spPr>
      </p:pic>
      <p:sp>
        <p:nvSpPr>
          <p:cNvPr id="5" name="Slide Number Placeholder 2">
            <a:extLst>
              <a:ext uri="{FF2B5EF4-FFF2-40B4-BE49-F238E27FC236}">
                <a16:creationId xmlns:a16="http://schemas.microsoft.com/office/drawing/2014/main" id="{1C8613D0-9056-776B-E5D2-514D74E09AB7}"/>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787023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312732-C7CE-47D3-A994-5C9DAF8F6542}"/>
              </a:ext>
            </a:extLst>
          </p:cNvPr>
          <p:cNvSpPr>
            <a:spLocks noGrp="1"/>
          </p:cNvSpPr>
          <p:nvPr>
            <p:ph type="title"/>
          </p:nvPr>
        </p:nvSpPr>
        <p:spPr/>
        <p:txBody>
          <a:bodyPr/>
          <a:lstStyle/>
          <a:p>
            <a:r>
              <a:rPr lang="en-US" dirty="0">
                <a:solidFill>
                  <a:schemeClr val="tx1"/>
                </a:solidFill>
              </a:rPr>
              <a:t>Finance Process</a:t>
            </a:r>
            <a:br>
              <a:rPr lang="en-US" dirty="0">
                <a:solidFill>
                  <a:schemeClr val="tx1"/>
                </a:solidFill>
              </a:rPr>
            </a:br>
            <a:endParaRPr lang="en-US" dirty="0">
              <a:solidFill>
                <a:schemeClr val="tx1"/>
              </a:solidFill>
            </a:endParaRPr>
          </a:p>
        </p:txBody>
      </p:sp>
      <p:sp>
        <p:nvSpPr>
          <p:cNvPr id="6" name="Slide Number Placeholder 2">
            <a:extLst>
              <a:ext uri="{FF2B5EF4-FFF2-40B4-BE49-F238E27FC236}">
                <a16:creationId xmlns:a16="http://schemas.microsoft.com/office/drawing/2014/main" id="{348A4DB6-213A-EF35-FF18-1097643D6169}"/>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759027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Graphic 7" descr="Philanthropy outline">
            <a:extLst>
              <a:ext uri="{FF2B5EF4-FFF2-40B4-BE49-F238E27FC236}">
                <a16:creationId xmlns:a16="http://schemas.microsoft.com/office/drawing/2014/main" id="{8FE6A6ED-B6AC-D26D-7F83-CDC1CC0276A4}"/>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1527" y="106045"/>
            <a:ext cx="685800" cy="685800"/>
          </a:xfrm>
          <a:prstGeom prst="rect">
            <a:avLst/>
          </a:prstGeom>
        </p:spPr>
      </p:pic>
      <p:graphicFrame>
        <p:nvGraphicFramePr>
          <p:cNvPr id="4" name="Table 4">
            <a:extLst>
              <a:ext uri="{FF2B5EF4-FFF2-40B4-BE49-F238E27FC236}">
                <a16:creationId xmlns:a16="http://schemas.microsoft.com/office/drawing/2014/main" id="{89D270C5-A08C-47F8-3DFF-659BE2F232FF}"/>
              </a:ext>
            </a:extLst>
          </p:cNvPr>
          <p:cNvGraphicFramePr>
            <a:graphicFrameLocks noGrp="1"/>
          </p:cNvGraphicFramePr>
          <p:nvPr/>
        </p:nvGraphicFramePr>
        <p:xfrm>
          <a:off x="0" y="894764"/>
          <a:ext cx="12192000" cy="5226426"/>
        </p:xfrm>
        <a:graphic>
          <a:graphicData uri="http://schemas.openxmlformats.org/drawingml/2006/table">
            <a:tbl>
              <a:tblPr firstRow="1" bandRow="1">
                <a:tableStyleId>{5C22544A-7EE6-4342-B048-85BDC9FD1C3A}</a:tableStyleId>
              </a:tblPr>
              <a:tblGrid>
                <a:gridCol w="2307897">
                  <a:extLst>
                    <a:ext uri="{9D8B030D-6E8A-4147-A177-3AD203B41FA5}">
                      <a16:colId xmlns:a16="http://schemas.microsoft.com/office/drawing/2014/main" val="2080473561"/>
                    </a:ext>
                  </a:extLst>
                </a:gridCol>
                <a:gridCol w="9884103">
                  <a:extLst>
                    <a:ext uri="{9D8B030D-6E8A-4147-A177-3AD203B41FA5}">
                      <a16:colId xmlns:a16="http://schemas.microsoft.com/office/drawing/2014/main" val="1869368987"/>
                    </a:ext>
                  </a:extLst>
                </a:gridCol>
              </a:tblGrid>
              <a:tr h="716144">
                <a:tc>
                  <a:txBody>
                    <a:bodyPr/>
                    <a:lstStyle/>
                    <a:p>
                      <a:r>
                        <a:rPr lang="en-US" b="1" strike="noStrike" dirty="0">
                          <a:solidFill>
                            <a:schemeClr val="tx1"/>
                          </a:solidFill>
                        </a:rPr>
                        <a:t>Initiative Objectives: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r>
                        <a:rPr lang="en-US" b="0" i="0" strike="noStrike" dirty="0">
                          <a:solidFill>
                            <a:schemeClr val="tx1"/>
                          </a:solidFill>
                        </a:rPr>
                        <a:t>Maximize the impact of VA research funding by establishing standardized, transparent processes for allocating, obligating, and expending ORD funds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3835389272"/>
                  </a:ext>
                </a:extLst>
              </a:tr>
              <a:tr h="4510282">
                <a:tc>
                  <a:txBody>
                    <a:bodyPr/>
                    <a:lstStyle/>
                    <a:p>
                      <a:r>
                        <a:rPr lang="en-US" b="1" strike="noStrike" dirty="0">
                          <a:solidFill>
                            <a:schemeClr val="tx1"/>
                          </a:solidFill>
                        </a:rPr>
                        <a:t>Outputs Listed:</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endParaRPr lang="en-US" i="1" strike="noStrike" dirty="0">
                        <a:solidFill>
                          <a:schemeClr val="tx1"/>
                        </a:solidFill>
                      </a:endParaRPr>
                    </a:p>
                    <a:p>
                      <a:endParaRPr lang="en-US" i="1" strike="noStrike" dirty="0">
                        <a:solidFill>
                          <a:schemeClr val="tx1"/>
                        </a:solidFill>
                      </a:endParaRPr>
                    </a:p>
                    <a:p>
                      <a:endParaRPr lang="en-US" i="1" strike="noStrike" dirty="0">
                        <a:solidFill>
                          <a:schemeClr val="tx1"/>
                        </a:solidFill>
                      </a:endParaRP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2389873790"/>
                  </a:ext>
                </a:extLst>
              </a:tr>
            </a:tbl>
          </a:graphicData>
        </a:graphic>
      </p:graphicFrame>
      <p:sp>
        <p:nvSpPr>
          <p:cNvPr id="13" name="Title 1">
            <a:extLst>
              <a:ext uri="{FF2B5EF4-FFF2-40B4-BE49-F238E27FC236}">
                <a16:creationId xmlns:a16="http://schemas.microsoft.com/office/drawing/2014/main" id="{2D24CA2F-9675-E687-2802-67F560F334E4}"/>
              </a:ext>
            </a:extLst>
          </p:cNvPr>
          <p:cNvSpPr>
            <a:spLocks noGrp="1"/>
          </p:cNvSpPr>
          <p:nvPr>
            <p:ph type="title"/>
          </p:nvPr>
        </p:nvSpPr>
        <p:spPr>
          <a:xfrm>
            <a:off x="1011627" y="108834"/>
            <a:ext cx="10515600" cy="680223"/>
          </a:xfrm>
        </p:spPr>
        <p:txBody>
          <a:bodyPr/>
          <a:lstStyle/>
          <a:p>
            <a:r>
              <a:rPr lang="en-US" sz="2400" dirty="0"/>
              <a:t>Finance Process: Objectives</a:t>
            </a:r>
          </a:p>
        </p:txBody>
      </p:sp>
      <p:sp>
        <p:nvSpPr>
          <p:cNvPr id="12" name="Slide Number Placeholder 2">
            <a:extLst>
              <a:ext uri="{FF2B5EF4-FFF2-40B4-BE49-F238E27FC236}">
                <a16:creationId xmlns:a16="http://schemas.microsoft.com/office/drawing/2014/main" id="{1424883C-AE4D-9BB2-D377-37A8E9CF6A98}"/>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aphicFrame>
        <p:nvGraphicFramePr>
          <p:cNvPr id="2" name="Table 2">
            <a:extLst>
              <a:ext uri="{FF2B5EF4-FFF2-40B4-BE49-F238E27FC236}">
                <a16:creationId xmlns:a16="http://schemas.microsoft.com/office/drawing/2014/main" id="{0D773D93-7C15-AFD3-8D66-6E33C0A3F82C}"/>
              </a:ext>
            </a:extLst>
          </p:cNvPr>
          <p:cNvGraphicFramePr>
            <a:graphicFrameLocks noGrp="1"/>
          </p:cNvGraphicFramePr>
          <p:nvPr/>
        </p:nvGraphicFramePr>
        <p:xfrm>
          <a:off x="2379804" y="1810430"/>
          <a:ext cx="8720805" cy="4152806"/>
        </p:xfrm>
        <a:graphic>
          <a:graphicData uri="http://schemas.openxmlformats.org/drawingml/2006/table">
            <a:tbl>
              <a:tblPr firstRow="1" bandRow="1">
                <a:tableStyleId>{5C22544A-7EE6-4342-B048-85BDC9FD1C3A}</a:tableStyleId>
              </a:tblPr>
              <a:tblGrid>
                <a:gridCol w="4381081">
                  <a:extLst>
                    <a:ext uri="{9D8B030D-6E8A-4147-A177-3AD203B41FA5}">
                      <a16:colId xmlns:a16="http://schemas.microsoft.com/office/drawing/2014/main" val="2663740232"/>
                    </a:ext>
                  </a:extLst>
                </a:gridCol>
                <a:gridCol w="4339724">
                  <a:extLst>
                    <a:ext uri="{9D8B030D-6E8A-4147-A177-3AD203B41FA5}">
                      <a16:colId xmlns:a16="http://schemas.microsoft.com/office/drawing/2014/main" val="610466914"/>
                    </a:ext>
                  </a:extLst>
                </a:gridCol>
              </a:tblGrid>
              <a:tr h="262843">
                <a:tc>
                  <a:txBody>
                    <a:bodyPr/>
                    <a:lstStyle/>
                    <a:p>
                      <a:r>
                        <a:rPr lang="en-US" sz="1100" dirty="0"/>
                        <a:t>Deliverable</a:t>
                      </a:r>
                    </a:p>
                  </a:txBody>
                  <a:tcPr/>
                </a:tc>
                <a:tc>
                  <a:txBody>
                    <a:bodyPr/>
                    <a:lstStyle/>
                    <a:p>
                      <a:r>
                        <a:rPr lang="en-US" sz="1100" dirty="0"/>
                        <a:t>Status</a:t>
                      </a:r>
                    </a:p>
                  </a:txBody>
                  <a:tcPr/>
                </a:tc>
                <a:extLst>
                  <a:ext uri="{0D108BD9-81ED-4DB2-BD59-A6C34878D82A}">
                    <a16:rowId xmlns:a16="http://schemas.microsoft.com/office/drawing/2014/main" val="2156168306"/>
                  </a:ext>
                </a:extLst>
              </a:tr>
              <a:tr h="242085">
                <a:tc>
                  <a:txBody>
                    <a:bodyPr/>
                    <a:lstStyle/>
                    <a:p>
                      <a:r>
                        <a:rPr lang="en-US" sz="1100" i="0" strike="noStrike" dirty="0">
                          <a:solidFill>
                            <a:schemeClr val="tx1"/>
                          </a:solidFill>
                        </a:rPr>
                        <a:t>Stakeholder Interviews and Findings </a:t>
                      </a:r>
                    </a:p>
                  </a:txBody>
                  <a:tcPr/>
                </a:tc>
                <a:tc>
                  <a:txBody>
                    <a:bodyPr/>
                    <a:lstStyle/>
                    <a:p>
                      <a:r>
                        <a:rPr lang="en-US" sz="1100" i="0" dirty="0"/>
                        <a:t>Delivered</a:t>
                      </a:r>
                    </a:p>
                  </a:txBody>
                  <a:tcPr/>
                </a:tc>
                <a:extLst>
                  <a:ext uri="{0D108BD9-81ED-4DB2-BD59-A6C34878D82A}">
                    <a16:rowId xmlns:a16="http://schemas.microsoft.com/office/drawing/2014/main" val="1855977141"/>
                  </a:ext>
                </a:extLst>
              </a:tr>
              <a:tr h="2420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i="0" strike="noStrike" dirty="0">
                          <a:solidFill>
                            <a:schemeClr val="tx1"/>
                          </a:solidFill>
                        </a:rPr>
                        <a:t>Monthly Training Topics and Cadence for FY22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i="0" dirty="0"/>
                        <a:t>Delivered</a:t>
                      </a:r>
                    </a:p>
                  </a:txBody>
                  <a:tcPr/>
                </a:tc>
                <a:extLst>
                  <a:ext uri="{0D108BD9-81ED-4DB2-BD59-A6C34878D82A}">
                    <a16:rowId xmlns:a16="http://schemas.microsoft.com/office/drawing/2014/main" val="73911344"/>
                  </a:ext>
                </a:extLst>
              </a:tr>
              <a:tr h="2420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i="0" strike="noStrike" dirty="0">
                          <a:solidFill>
                            <a:schemeClr val="tx1"/>
                          </a:solidFill>
                        </a:rPr>
                        <a:t>Monthly Training sessions: 4 (As of July, 2022)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i="0" dirty="0"/>
                        <a:t>Delivered</a:t>
                      </a:r>
                    </a:p>
                  </a:txBody>
                  <a:tcPr/>
                </a:tc>
                <a:extLst>
                  <a:ext uri="{0D108BD9-81ED-4DB2-BD59-A6C34878D82A}">
                    <a16:rowId xmlns:a16="http://schemas.microsoft.com/office/drawing/2014/main" val="2979236543"/>
                  </a:ext>
                </a:extLst>
              </a:tr>
              <a:tr h="2420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i="0" strike="noStrike" dirty="0">
                          <a:solidFill>
                            <a:schemeClr val="tx1"/>
                          </a:solidFill>
                        </a:rPr>
                        <a:t>Field Survey Analysis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i="0" dirty="0"/>
                        <a:t>Delivered</a:t>
                      </a:r>
                    </a:p>
                  </a:txBody>
                  <a:tcPr/>
                </a:tc>
                <a:extLst>
                  <a:ext uri="{0D108BD9-81ED-4DB2-BD59-A6C34878D82A}">
                    <a16:rowId xmlns:a16="http://schemas.microsoft.com/office/drawing/2014/main" val="3965460375"/>
                  </a:ext>
                </a:extLst>
              </a:tr>
              <a:tr h="2420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i="0" strike="noStrike" dirty="0">
                          <a:solidFill>
                            <a:schemeClr val="tx1"/>
                          </a:solidFill>
                        </a:rPr>
                        <a:t>Quarterly Thematic Training Outline for FY 23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i="0" dirty="0"/>
                        <a:t>Delivered</a:t>
                      </a:r>
                    </a:p>
                  </a:txBody>
                  <a:tcPr/>
                </a:tc>
                <a:extLst>
                  <a:ext uri="{0D108BD9-81ED-4DB2-BD59-A6C34878D82A}">
                    <a16:rowId xmlns:a16="http://schemas.microsoft.com/office/drawing/2014/main" val="2173833898"/>
                  </a:ext>
                </a:extLst>
              </a:tr>
              <a:tr h="2420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i="0" strike="noStrike" dirty="0">
                          <a:solidFill>
                            <a:schemeClr val="tx1"/>
                          </a:solidFill>
                        </a:rPr>
                        <a:t>Monthly Training Plan FY 23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i="0" dirty="0"/>
                        <a:t>Delivered</a:t>
                      </a:r>
                    </a:p>
                  </a:txBody>
                  <a:tcPr/>
                </a:tc>
                <a:extLst>
                  <a:ext uri="{0D108BD9-81ED-4DB2-BD59-A6C34878D82A}">
                    <a16:rowId xmlns:a16="http://schemas.microsoft.com/office/drawing/2014/main" val="2920299619"/>
                  </a:ext>
                </a:extLst>
              </a:tr>
              <a:tr h="2420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i="0" strike="noStrike" dirty="0">
                          <a:solidFill>
                            <a:schemeClr val="tx1"/>
                          </a:solidFill>
                        </a:rPr>
                        <a:t>Process Map: RAFT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i="0" dirty="0"/>
                        <a:t>Delivered</a:t>
                      </a:r>
                    </a:p>
                  </a:txBody>
                  <a:tcPr/>
                </a:tc>
                <a:extLst>
                  <a:ext uri="{0D108BD9-81ED-4DB2-BD59-A6C34878D82A}">
                    <a16:rowId xmlns:a16="http://schemas.microsoft.com/office/drawing/2014/main" val="100616100"/>
                  </a:ext>
                </a:extLst>
              </a:tr>
              <a:tr h="2420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i="0" strike="noStrike" dirty="0">
                          <a:solidFill>
                            <a:schemeClr val="tx1"/>
                          </a:solidFill>
                        </a:rPr>
                        <a:t>Policy on Carryover by Field by Q1 (Memo)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i="0"/>
                        <a:t>Rescheduled (September2022</a:t>
                      </a:r>
                      <a:r>
                        <a:rPr lang="en-US" sz="1100" i="0" dirty="0"/>
                        <a:t>)</a:t>
                      </a:r>
                    </a:p>
                  </a:txBody>
                  <a:tcPr/>
                </a:tc>
                <a:extLst>
                  <a:ext uri="{0D108BD9-81ED-4DB2-BD59-A6C34878D82A}">
                    <a16:rowId xmlns:a16="http://schemas.microsoft.com/office/drawing/2014/main" val="1424925319"/>
                  </a:ext>
                </a:extLst>
              </a:tr>
              <a:tr h="2420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i="1" strike="noStrike" dirty="0">
                          <a:solidFill>
                            <a:schemeClr val="tx1"/>
                          </a:solidFill>
                        </a:rPr>
                        <a:t>SOP: Reallocation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i="0" dirty="0"/>
                        <a:t>Delivered V1 (Rescheduled for Implementation in FY 23)</a:t>
                      </a:r>
                    </a:p>
                  </a:txBody>
                  <a:tcPr/>
                </a:tc>
                <a:extLst>
                  <a:ext uri="{0D108BD9-81ED-4DB2-BD59-A6C34878D82A}">
                    <a16:rowId xmlns:a16="http://schemas.microsoft.com/office/drawing/2014/main" val="567026588"/>
                  </a:ext>
                </a:extLst>
              </a:tr>
              <a:tr h="2420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i="1" strike="noStrike" dirty="0">
                          <a:solidFill>
                            <a:schemeClr val="tx1"/>
                          </a:solidFill>
                        </a:rPr>
                        <a:t>Framework and Criteria for Reallocation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i="0" dirty="0"/>
                        <a:t>Delivered V1 (Rescheduled for Implementation in FY 23)</a:t>
                      </a:r>
                    </a:p>
                  </a:txBody>
                  <a:tcPr/>
                </a:tc>
                <a:extLst>
                  <a:ext uri="{0D108BD9-81ED-4DB2-BD59-A6C34878D82A}">
                    <a16:rowId xmlns:a16="http://schemas.microsoft.com/office/drawing/2014/main" val="3090093019"/>
                  </a:ext>
                </a:extLst>
              </a:tr>
              <a:tr h="2420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i="1" strike="noStrike" dirty="0">
                          <a:solidFill>
                            <a:schemeClr val="tx1"/>
                          </a:solidFill>
                        </a:rPr>
                        <a:t>Score Card for Proposal Review</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i="0" dirty="0"/>
                        <a:t>Delivered V1 (Rescheduled for Implementation in FY 23)</a:t>
                      </a:r>
                    </a:p>
                  </a:txBody>
                  <a:tcPr/>
                </a:tc>
                <a:extLst>
                  <a:ext uri="{0D108BD9-81ED-4DB2-BD59-A6C34878D82A}">
                    <a16:rowId xmlns:a16="http://schemas.microsoft.com/office/drawing/2014/main" val="703128268"/>
                  </a:ext>
                </a:extLst>
              </a:tr>
              <a:tr h="2420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i="0" strike="noStrike" dirty="0">
                          <a:solidFill>
                            <a:schemeClr val="tx1"/>
                          </a:solidFill>
                        </a:rPr>
                        <a:t>Best Practice Documentation Template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i="0" dirty="0"/>
                        <a:t>Delivered</a:t>
                      </a:r>
                    </a:p>
                  </a:txBody>
                  <a:tcPr/>
                </a:tc>
                <a:extLst>
                  <a:ext uri="{0D108BD9-81ED-4DB2-BD59-A6C34878D82A}">
                    <a16:rowId xmlns:a16="http://schemas.microsoft.com/office/drawing/2014/main" val="1913314522"/>
                  </a:ext>
                </a:extLst>
              </a:tr>
              <a:tr h="2420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i="0" strike="noStrike" dirty="0">
                          <a:solidFill>
                            <a:schemeClr val="tx1"/>
                          </a:solidFill>
                        </a:rPr>
                        <a:t>Best Practice Documents – 3 Topics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i="0" dirty="0"/>
                        <a:t>Rescheduled (September 2022)</a:t>
                      </a:r>
                    </a:p>
                  </a:txBody>
                  <a:tcPr/>
                </a:tc>
                <a:extLst>
                  <a:ext uri="{0D108BD9-81ED-4DB2-BD59-A6C34878D82A}">
                    <a16:rowId xmlns:a16="http://schemas.microsoft.com/office/drawing/2014/main" val="1343450946"/>
                  </a:ext>
                </a:extLst>
              </a:tr>
              <a:tr h="2420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i="0" strike="noStrike" dirty="0">
                          <a:solidFill>
                            <a:schemeClr val="tx1"/>
                          </a:solidFill>
                        </a:rPr>
                        <a:t>Share Point Centralized Landing Page</a:t>
                      </a:r>
                    </a:p>
                  </a:txBody>
                  <a:tcPr/>
                </a:tc>
                <a:tc>
                  <a:txBody>
                    <a:bodyPr/>
                    <a:lstStyle/>
                    <a:p>
                      <a:r>
                        <a:rPr lang="en-US" sz="1100" i="0" dirty="0"/>
                        <a:t>Rescheduled (September 2022)</a:t>
                      </a:r>
                    </a:p>
                  </a:txBody>
                  <a:tcPr/>
                </a:tc>
                <a:extLst>
                  <a:ext uri="{0D108BD9-81ED-4DB2-BD59-A6C34878D82A}">
                    <a16:rowId xmlns:a16="http://schemas.microsoft.com/office/drawing/2014/main" val="1107723038"/>
                  </a:ext>
                </a:extLst>
              </a:tr>
              <a:tr h="262843">
                <a:tc>
                  <a:txBody>
                    <a:bodyPr/>
                    <a:lstStyle/>
                    <a:p>
                      <a:r>
                        <a:rPr lang="en-US" sz="1100" i="0" dirty="0"/>
                        <a:t>Finance Communication Plan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i="0" dirty="0"/>
                        <a:t>Rescheduled (September 2022)</a:t>
                      </a:r>
                    </a:p>
                  </a:txBody>
                  <a:tcPr/>
                </a:tc>
                <a:extLst>
                  <a:ext uri="{0D108BD9-81ED-4DB2-BD59-A6C34878D82A}">
                    <a16:rowId xmlns:a16="http://schemas.microsoft.com/office/drawing/2014/main" val="3708913921"/>
                  </a:ext>
                </a:extLst>
              </a:tr>
            </a:tbl>
          </a:graphicData>
        </a:graphic>
      </p:graphicFrame>
    </p:spTree>
    <p:extLst>
      <p:ext uri="{BB962C8B-B14F-4D97-AF65-F5344CB8AC3E}">
        <p14:creationId xmlns:p14="http://schemas.microsoft.com/office/powerpoint/2010/main" val="16958246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89D270C5-A08C-47F8-3DFF-659BE2F232FF}"/>
              </a:ext>
            </a:extLst>
          </p:cNvPr>
          <p:cNvGraphicFramePr>
            <a:graphicFrameLocks noGrp="1"/>
          </p:cNvGraphicFramePr>
          <p:nvPr/>
        </p:nvGraphicFramePr>
        <p:xfrm>
          <a:off x="0" y="876745"/>
          <a:ext cx="12191999" cy="5364480"/>
        </p:xfrm>
        <a:graphic>
          <a:graphicData uri="http://schemas.openxmlformats.org/drawingml/2006/table">
            <a:tbl>
              <a:tblPr firstRow="1" bandRow="1">
                <a:tableStyleId>{5C22544A-7EE6-4342-B048-85BDC9FD1C3A}</a:tableStyleId>
              </a:tblPr>
              <a:tblGrid>
                <a:gridCol w="2413963">
                  <a:extLst>
                    <a:ext uri="{9D8B030D-6E8A-4147-A177-3AD203B41FA5}">
                      <a16:colId xmlns:a16="http://schemas.microsoft.com/office/drawing/2014/main" val="2080473561"/>
                    </a:ext>
                  </a:extLst>
                </a:gridCol>
                <a:gridCol w="9778036">
                  <a:extLst>
                    <a:ext uri="{9D8B030D-6E8A-4147-A177-3AD203B41FA5}">
                      <a16:colId xmlns:a16="http://schemas.microsoft.com/office/drawing/2014/main" val="1869368987"/>
                    </a:ext>
                  </a:extLst>
                </a:gridCol>
              </a:tblGrid>
              <a:tr h="914117">
                <a:tc>
                  <a:txBody>
                    <a:bodyPr/>
                    <a:lstStyle/>
                    <a:p>
                      <a:r>
                        <a:rPr lang="en-US" b="1" strike="noStrike" dirty="0">
                          <a:solidFill>
                            <a:schemeClr val="tx1"/>
                          </a:solidFill>
                        </a:rPr>
                        <a:t>Outputs Delivered:</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r>
                        <a:rPr lang="en-US" sz="1400" b="0" i="0" strike="noStrike" dirty="0">
                          <a:solidFill>
                            <a:schemeClr val="tx1"/>
                          </a:solidFill>
                        </a:rPr>
                        <a:t>Stakeholder Interviews and Findings, Monthly Training Topics and Cadence for FY22, Q2 RAFT Data Analysis, Monthly Training sessions: 4 (As of July 2022), Field Survey Analysis, Quarterly Thematic Training Outline for FY 23, Monthly Training Plan FY 23, Process Maps: Reallocation; RAFT; PMO; Pull Backs, SOP: Reallocation, Framework and Criteria for Reallocation, Score Card for Proposal Review, Best Practice Documentation Template, Outlines for Best Practice Documentation</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3835389272"/>
                  </a:ext>
                </a:extLst>
              </a:tr>
              <a:tr h="1326944">
                <a:tc>
                  <a:txBody>
                    <a:bodyPr/>
                    <a:lstStyle/>
                    <a:p>
                      <a:r>
                        <a:rPr lang="en-US" b="1" strike="noStrike" dirty="0">
                          <a:solidFill>
                            <a:schemeClr val="tx1"/>
                          </a:solidFill>
                        </a:rPr>
                        <a:t>Outputs Rescheduled:</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r>
                        <a:rPr lang="en-US" sz="1400" b="1" i="0" kern="1200" dirty="0">
                          <a:solidFill>
                            <a:schemeClr val="dk1"/>
                          </a:solidFill>
                          <a:effectLst/>
                          <a:latin typeface="+mn-lt"/>
                          <a:ea typeface="+mn-ea"/>
                          <a:cs typeface="+mn-cs"/>
                        </a:rPr>
                        <a:t>SOP: Reallocation, Framework and Criteria for Reallocation, Score Card for Proposal Review (Rescheduled for FY 23), Landing Page, Communication Plan, Best Practice Documentation</a:t>
                      </a:r>
                    </a:p>
                    <a:p>
                      <a:r>
                        <a:rPr lang="en-US" sz="1400" i="0" strike="noStrike" dirty="0">
                          <a:solidFill>
                            <a:schemeClr val="tx1"/>
                          </a:solidFill>
                        </a:rPr>
                        <a:t>Outputs supporting Objectives 3 &amp; 4 have been drafted and delivered for review. But the implementation of these deliverables has been postponed to FY 23 as the initiative owner has determined that the </a:t>
                      </a:r>
                      <a:r>
                        <a:rPr lang="en-US" sz="1400" b="1" i="0" strike="noStrike" dirty="0">
                          <a:solidFill>
                            <a:schemeClr val="tx1"/>
                          </a:solidFill>
                        </a:rPr>
                        <a:t>current needs of field trainings along with best practice documentation are critical and need to be strategically prioritized to enable the successful implementation of these outputs</a:t>
                      </a:r>
                      <a:r>
                        <a:rPr lang="en-US" sz="1400" i="0" strike="noStrike" dirty="0">
                          <a:solidFill>
                            <a:schemeClr val="tx1"/>
                          </a:solidFill>
                        </a:rPr>
                        <a:t>. These deliverables will be further developed  in FY 23 for implementation.</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2389873790"/>
                  </a:ext>
                </a:extLst>
              </a:tr>
              <a:tr h="914117">
                <a:tc>
                  <a:txBody>
                    <a:bodyPr/>
                    <a:lstStyle/>
                    <a:p>
                      <a:r>
                        <a:rPr lang="en-US" b="1" dirty="0">
                          <a:solidFill>
                            <a:schemeClr val="tx1"/>
                          </a:solidFill>
                        </a:rPr>
                        <a:t>Lessons Learned:</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r>
                        <a:rPr lang="en-US" sz="1400" i="0" dirty="0">
                          <a:solidFill>
                            <a:schemeClr val="tx1"/>
                          </a:solidFill>
                          <a:highlight>
                            <a:srgbClr val="FFFFFF"/>
                          </a:highlight>
                        </a:rPr>
                        <a:t>We have discovered during development that training programs play a critical role in successfully implementing all the five objectives of finance initiative. In order to establish effective and efficient financial processes at the stations to allocate and obligate funds in a timely manner,  </a:t>
                      </a:r>
                      <a:r>
                        <a:rPr lang="en-US" sz="1400" b="1" i="0" dirty="0">
                          <a:solidFill>
                            <a:schemeClr val="tx1"/>
                          </a:solidFill>
                          <a:highlight>
                            <a:srgbClr val="FFFFFF"/>
                          </a:highlight>
                        </a:rPr>
                        <a:t>field staff need to be empowered with knowledge on policies, procedures, systems and tools through foundational trainings.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2668848712"/>
                  </a:ext>
                </a:extLst>
              </a:tr>
              <a:tr h="501290">
                <a:tc>
                  <a:txBody>
                    <a:bodyPr/>
                    <a:lstStyle/>
                    <a:p>
                      <a:r>
                        <a:rPr lang="en-US" b="1" u="sng" dirty="0">
                          <a:solidFill>
                            <a:schemeClr val="tx1"/>
                          </a:solidFill>
                        </a:rPr>
                        <a:t>Current</a:t>
                      </a:r>
                      <a:r>
                        <a:rPr lang="en-US" b="1" dirty="0">
                          <a:solidFill>
                            <a:schemeClr val="tx1"/>
                          </a:solidFill>
                        </a:rPr>
                        <a:t> Roadblocks: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400" i="0" dirty="0">
                          <a:solidFill>
                            <a:schemeClr val="tx1"/>
                          </a:solidFill>
                        </a:rPr>
                        <a:t>None (</a:t>
                      </a:r>
                      <a:r>
                        <a:rPr lang="en-US" sz="1400" b="1" i="0" dirty="0">
                          <a:solidFill>
                            <a:schemeClr val="tx1"/>
                          </a:solidFill>
                        </a:rPr>
                        <a:t>Challenges</a:t>
                      </a:r>
                      <a:r>
                        <a:rPr lang="en-US" sz="1400" i="0" dirty="0">
                          <a:solidFill>
                            <a:schemeClr val="tx1"/>
                          </a:solidFill>
                        </a:rPr>
                        <a:t>: Bandwidth of Initiative team  to contribute to initiative workload and identifying the field SMEs to develop best practices)</a:t>
                      </a:r>
                      <a:endParaRPr lang="en-US" sz="1400" i="0" u="sng" dirty="0">
                        <a:solidFill>
                          <a:schemeClr val="tx1"/>
                        </a:solidFill>
                      </a:endParaRP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3999873908"/>
                  </a:ext>
                </a:extLst>
              </a:tr>
              <a:tr h="1533358">
                <a:tc>
                  <a:txBody>
                    <a:bodyPr/>
                    <a:lstStyle/>
                    <a:p>
                      <a:r>
                        <a:rPr lang="en-US" b="1" dirty="0">
                          <a:solidFill>
                            <a:schemeClr val="tx1"/>
                          </a:solidFill>
                        </a:rPr>
                        <a:t>Mitigation Strategies: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r>
                        <a:rPr lang="en-US" sz="1400" i="0" kern="1200" dirty="0">
                          <a:solidFill>
                            <a:schemeClr val="dk1"/>
                          </a:solidFill>
                          <a:effectLst/>
                          <a:latin typeface="+mn-lt"/>
                          <a:ea typeface="+mn-ea"/>
                          <a:cs typeface="+mn-cs"/>
                        </a:rPr>
                        <a:t>We are continuing to monitor feedback from the trainings, as participation and buy-in from the field is critical to success. We have been </a:t>
                      </a:r>
                      <a:r>
                        <a:rPr lang="en-US" sz="1400" b="1" i="0" kern="1200" dirty="0">
                          <a:solidFill>
                            <a:schemeClr val="dk1"/>
                          </a:solidFill>
                          <a:effectLst/>
                          <a:latin typeface="+mn-lt"/>
                          <a:ea typeface="+mn-ea"/>
                          <a:cs typeface="+mn-cs"/>
                        </a:rPr>
                        <a:t>involving the initiative team in the development process and maintaining clear lines of communication to accommodate any changes and additional requests</a:t>
                      </a:r>
                      <a:r>
                        <a:rPr lang="en-US" sz="1400" i="0" kern="1200" dirty="0">
                          <a:solidFill>
                            <a:schemeClr val="dk1"/>
                          </a:solidFill>
                          <a:effectLst/>
                          <a:latin typeface="+mn-lt"/>
                          <a:ea typeface="+mn-ea"/>
                          <a:cs typeface="+mn-cs"/>
                        </a:rPr>
                        <a:t>. As a part of maintain clear lines of communication, we have planned to establish centralized landing page in SharePoint by end of August 2022 to organize and communicate information with the field stakeholders. We are mitigating the risk of noncompliance or lack of buy-in with our recommendations for trainings, best practice documentation, communication plans by </a:t>
                      </a:r>
                      <a:r>
                        <a:rPr lang="en-US" sz="1400" b="1" i="0" kern="1200" dirty="0">
                          <a:solidFill>
                            <a:schemeClr val="dk1"/>
                          </a:solidFill>
                          <a:effectLst/>
                          <a:latin typeface="+mn-lt"/>
                          <a:ea typeface="+mn-ea"/>
                          <a:cs typeface="+mn-cs"/>
                        </a:rPr>
                        <a:t>gathering constant feedback </a:t>
                      </a:r>
                      <a:r>
                        <a:rPr lang="en-US" sz="1400" i="0" kern="1200" dirty="0">
                          <a:solidFill>
                            <a:schemeClr val="dk1"/>
                          </a:solidFill>
                          <a:effectLst/>
                          <a:latin typeface="+mn-lt"/>
                          <a:ea typeface="+mn-ea"/>
                          <a:cs typeface="+mn-cs"/>
                        </a:rPr>
                        <a:t>from the initiative team and following an </a:t>
                      </a:r>
                      <a:r>
                        <a:rPr lang="en-US" sz="1400" b="1" i="0" kern="1200" dirty="0">
                          <a:solidFill>
                            <a:schemeClr val="dk1"/>
                          </a:solidFill>
                          <a:effectLst/>
                          <a:latin typeface="+mn-lt"/>
                          <a:ea typeface="+mn-ea"/>
                          <a:cs typeface="+mn-cs"/>
                        </a:rPr>
                        <a:t>iterative approach to development </a:t>
                      </a:r>
                      <a:r>
                        <a:rPr lang="en-US" sz="1400" i="0" kern="1200" dirty="0">
                          <a:solidFill>
                            <a:schemeClr val="dk1"/>
                          </a:solidFill>
                          <a:effectLst/>
                          <a:latin typeface="+mn-lt"/>
                          <a:ea typeface="+mn-ea"/>
                          <a:cs typeface="+mn-cs"/>
                        </a:rPr>
                        <a:t>of training plans and </a:t>
                      </a:r>
                      <a:r>
                        <a:rPr lang="en-US" sz="1400" b="1" i="0" kern="1200" dirty="0">
                          <a:solidFill>
                            <a:schemeClr val="dk1"/>
                          </a:solidFill>
                          <a:effectLst/>
                          <a:latin typeface="+mn-lt"/>
                          <a:ea typeface="+mn-ea"/>
                          <a:cs typeface="+mn-cs"/>
                        </a:rPr>
                        <a:t>streamlined process documentation</a:t>
                      </a:r>
                      <a:r>
                        <a:rPr lang="en-US" sz="1400" i="0" kern="1200" dirty="0">
                          <a:solidFill>
                            <a:schemeClr val="dk1"/>
                          </a:solidFill>
                          <a:effectLst/>
                          <a:latin typeface="+mn-lt"/>
                          <a:ea typeface="+mn-ea"/>
                          <a:cs typeface="+mn-cs"/>
                        </a:rPr>
                        <a:t>. </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1463779455"/>
                  </a:ext>
                </a:extLst>
              </a:tr>
            </a:tbl>
          </a:graphicData>
        </a:graphic>
      </p:graphicFrame>
      <p:sp>
        <p:nvSpPr>
          <p:cNvPr id="13" name="Title 1">
            <a:extLst>
              <a:ext uri="{FF2B5EF4-FFF2-40B4-BE49-F238E27FC236}">
                <a16:creationId xmlns:a16="http://schemas.microsoft.com/office/drawing/2014/main" id="{2D24CA2F-9675-E687-2802-67F560F334E4}"/>
              </a:ext>
            </a:extLst>
          </p:cNvPr>
          <p:cNvSpPr>
            <a:spLocks noGrp="1"/>
          </p:cNvSpPr>
          <p:nvPr>
            <p:ph type="title"/>
          </p:nvPr>
        </p:nvSpPr>
        <p:spPr>
          <a:xfrm>
            <a:off x="1011627" y="108834"/>
            <a:ext cx="10515600" cy="680223"/>
          </a:xfrm>
        </p:spPr>
        <p:txBody>
          <a:bodyPr/>
          <a:lstStyle/>
          <a:p>
            <a:r>
              <a:rPr lang="en-US" sz="2400" dirty="0"/>
              <a:t>Finance Process: Delivery Status</a:t>
            </a:r>
          </a:p>
        </p:txBody>
      </p:sp>
      <p:sp>
        <p:nvSpPr>
          <p:cNvPr id="15" name="Slide Number Placeholder 2">
            <a:extLst>
              <a:ext uri="{FF2B5EF4-FFF2-40B4-BE49-F238E27FC236}">
                <a16:creationId xmlns:a16="http://schemas.microsoft.com/office/drawing/2014/main" id="{956E199C-E614-10A7-1A8B-B10AF099E0C9}"/>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7" name="Graphic 6" descr="Philanthropy outline">
            <a:extLst>
              <a:ext uri="{FF2B5EF4-FFF2-40B4-BE49-F238E27FC236}">
                <a16:creationId xmlns:a16="http://schemas.microsoft.com/office/drawing/2014/main" id="{F4B3B874-8129-4516-30FB-9652BE27F252}"/>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1527" y="106045"/>
            <a:ext cx="685800" cy="685800"/>
          </a:xfrm>
          <a:prstGeom prst="rect">
            <a:avLst/>
          </a:prstGeom>
        </p:spPr>
      </p:pic>
    </p:spTree>
    <p:extLst>
      <p:ext uri="{BB962C8B-B14F-4D97-AF65-F5344CB8AC3E}">
        <p14:creationId xmlns:p14="http://schemas.microsoft.com/office/powerpoint/2010/main" val="36448115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89D270C5-A08C-47F8-3DFF-659BE2F232FF}"/>
              </a:ext>
            </a:extLst>
          </p:cNvPr>
          <p:cNvGraphicFramePr>
            <a:graphicFrameLocks noGrp="1"/>
          </p:cNvGraphicFramePr>
          <p:nvPr/>
        </p:nvGraphicFramePr>
        <p:xfrm>
          <a:off x="0" y="893664"/>
          <a:ext cx="12192000" cy="5132325"/>
        </p:xfrm>
        <a:graphic>
          <a:graphicData uri="http://schemas.openxmlformats.org/drawingml/2006/table">
            <a:tbl>
              <a:tblPr firstRow="1" bandRow="1">
                <a:tableStyleId>{5C22544A-7EE6-4342-B048-85BDC9FD1C3A}</a:tableStyleId>
              </a:tblPr>
              <a:tblGrid>
                <a:gridCol w="2667001">
                  <a:extLst>
                    <a:ext uri="{9D8B030D-6E8A-4147-A177-3AD203B41FA5}">
                      <a16:colId xmlns:a16="http://schemas.microsoft.com/office/drawing/2014/main" val="2080473561"/>
                    </a:ext>
                  </a:extLst>
                </a:gridCol>
                <a:gridCol w="9524999">
                  <a:extLst>
                    <a:ext uri="{9D8B030D-6E8A-4147-A177-3AD203B41FA5}">
                      <a16:colId xmlns:a16="http://schemas.microsoft.com/office/drawing/2014/main" val="1869368987"/>
                    </a:ext>
                  </a:extLst>
                </a:gridCol>
              </a:tblGrid>
              <a:tr h="1291845">
                <a:tc>
                  <a:txBody>
                    <a:bodyPr/>
                    <a:lstStyle/>
                    <a:p>
                      <a:r>
                        <a:rPr lang="en-US" b="1" dirty="0">
                          <a:solidFill>
                            <a:schemeClr val="tx1"/>
                          </a:solidFill>
                        </a:rPr>
                        <a:t>Recommendation </a:t>
                      </a:r>
                      <a:r>
                        <a:rPr lang="en-US" b="1">
                          <a:solidFill>
                            <a:schemeClr val="tx1"/>
                          </a:solidFill>
                        </a:rPr>
                        <a:t>for Initiative </a:t>
                      </a:r>
                      <a:r>
                        <a:rPr lang="en-US" b="1" dirty="0">
                          <a:solidFill>
                            <a:schemeClr val="tx1"/>
                          </a:solidFill>
                        </a:rPr>
                        <a:t>in FY23:</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pPr marL="285750" indent="-285750">
                        <a:buFont typeface="Arial" panose="020B0604020202020204" pitchFamily="34" charset="0"/>
                        <a:buChar char="•"/>
                      </a:pPr>
                      <a:r>
                        <a:rPr lang="en-US" b="0" i="1" dirty="0">
                          <a:solidFill>
                            <a:schemeClr val="tx1"/>
                          </a:solidFill>
                        </a:rPr>
                        <a:t>Prioritization of FY 22 Objectives 3 &amp; 4 in FY 23​</a:t>
                      </a:r>
                    </a:p>
                    <a:p>
                      <a:pPr marL="285750" indent="-285750">
                        <a:buFont typeface="Arial" panose="020B0604020202020204" pitchFamily="34" charset="0"/>
                        <a:buChar char="•"/>
                      </a:pPr>
                      <a:r>
                        <a:rPr lang="en-US" b="0" i="1" dirty="0">
                          <a:solidFill>
                            <a:schemeClr val="tx1"/>
                          </a:solidFill>
                        </a:rPr>
                        <a:t>Integrating budget execution/formulation processes​</a:t>
                      </a:r>
                    </a:p>
                    <a:p>
                      <a:pPr marL="285750" indent="-285750">
                        <a:buFont typeface="Arial" panose="020B0604020202020204" pitchFamily="34" charset="0"/>
                        <a:buChar char="•"/>
                      </a:pPr>
                      <a:r>
                        <a:rPr lang="en-US" b="0" i="1" dirty="0">
                          <a:solidFill>
                            <a:schemeClr val="tx1"/>
                          </a:solidFill>
                        </a:rPr>
                        <a:t>Ensuring ORD- and VHA-level policy alignment on issues impacting local finance stakeholders​</a:t>
                      </a:r>
                    </a:p>
                    <a:p>
                      <a:pPr marL="285750" indent="-285750">
                        <a:buFont typeface="Arial" panose="020B0604020202020204" pitchFamily="34" charset="0"/>
                        <a:buChar char="•"/>
                      </a:pPr>
                      <a:r>
                        <a:rPr lang="en-US" b="0" i="1" dirty="0">
                          <a:solidFill>
                            <a:schemeClr val="tx1"/>
                          </a:solidFill>
                        </a:rPr>
                        <a:t>Improving operations under financial uncertainty, like Continuing Resolutions​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1267919758"/>
                  </a:ext>
                </a:extLst>
              </a:tr>
              <a:tr h="627029">
                <a:tc>
                  <a:txBody>
                    <a:bodyPr/>
                    <a:lstStyle/>
                    <a:p>
                      <a:r>
                        <a:rPr lang="en-US" b="1" dirty="0">
                          <a:solidFill>
                            <a:schemeClr val="tx1"/>
                          </a:solidFill>
                        </a:rPr>
                        <a:t>Major FY23 Outputs: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pPr lvl="0"/>
                      <a:r>
                        <a:rPr lang="en-US" b="0" i="1" dirty="0">
                          <a:solidFill>
                            <a:schemeClr val="tx1"/>
                          </a:solidFill>
                        </a:rPr>
                        <a:t>Trainings; Formalized Reallocation processes; Streamlined Operations-PMOs and Pull Backs; Communication Plan with tools-Centralized Landing Page; Best Practice Documentation</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13577779"/>
                  </a:ext>
                </a:extLst>
              </a:tr>
              <a:tr h="2239391">
                <a:tc>
                  <a:txBody>
                    <a:bodyPr/>
                    <a:lstStyle/>
                    <a:p>
                      <a:r>
                        <a:rPr lang="en-US" b="1" dirty="0">
                          <a:solidFill>
                            <a:schemeClr val="tx1"/>
                          </a:solidFill>
                        </a:rPr>
                        <a:t>Immediate Next Steps: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r>
                        <a:rPr lang="en-US" b="0" i="1" dirty="0">
                          <a:solidFill>
                            <a:schemeClr val="tx1"/>
                          </a:solidFill>
                        </a:rPr>
                        <a:t>List of immediate next steps initiative will take based on:</a:t>
                      </a:r>
                    </a:p>
                    <a:p>
                      <a:pPr marL="285750" indent="-285750">
                        <a:buFont typeface="Arial" panose="020B0604020202020204" pitchFamily="34" charset="0"/>
                        <a:buChar char="•"/>
                      </a:pPr>
                      <a:r>
                        <a:rPr lang="en-US" b="0" i="1" dirty="0">
                          <a:solidFill>
                            <a:schemeClr val="tx1"/>
                          </a:solidFill>
                        </a:rPr>
                        <a:t>Maintain clear lines of communication between Field and VA ORD Finance through development of Best practice documentations and Centralized landing page</a:t>
                      </a:r>
                    </a:p>
                    <a:p>
                      <a:pPr marL="285750" indent="-285750">
                        <a:buFont typeface="Arial" panose="020B0604020202020204" pitchFamily="34" charset="0"/>
                        <a:buChar char="•"/>
                      </a:pPr>
                      <a:r>
                        <a:rPr lang="en-US" b="0" i="1" dirty="0">
                          <a:solidFill>
                            <a:schemeClr val="tx1"/>
                          </a:solidFill>
                        </a:rPr>
                        <a:t>Continue Monthly Trainings and make updates to trainings as per feedback from field survey</a:t>
                      </a:r>
                    </a:p>
                    <a:p>
                      <a:pPr marL="285750" indent="-285750">
                        <a:buFont typeface="Arial" panose="020B0604020202020204" pitchFamily="34" charset="0"/>
                        <a:buChar char="•"/>
                      </a:pPr>
                      <a:r>
                        <a:rPr lang="en-US" b="0" i="1" dirty="0">
                          <a:solidFill>
                            <a:schemeClr val="tx1"/>
                          </a:solidFill>
                        </a:rPr>
                        <a:t>Draft policies for field implementation in FY 2023</a:t>
                      </a:r>
                    </a:p>
                    <a:p>
                      <a:pPr marL="285750" indent="-285750">
                        <a:buFont typeface="Arial" panose="020B0604020202020204" pitchFamily="34" charset="0"/>
                        <a:buChar char="•"/>
                      </a:pPr>
                      <a:r>
                        <a:rPr lang="en-US" b="0" i="1" dirty="0">
                          <a:solidFill>
                            <a:schemeClr val="tx1"/>
                          </a:solidFill>
                        </a:rPr>
                        <a:t>Develop policy on 4% Carryover</a:t>
                      </a:r>
                    </a:p>
                    <a:p>
                      <a:pPr marL="285750" indent="-285750">
                        <a:buFont typeface="Arial" panose="020B0604020202020204" pitchFamily="34" charset="0"/>
                        <a:buChar char="•"/>
                      </a:pPr>
                      <a:r>
                        <a:rPr lang="en-US" b="0" i="1" dirty="0">
                          <a:solidFill>
                            <a:schemeClr val="tx1"/>
                          </a:solidFill>
                        </a:rPr>
                        <a:t>Prioritization of Objectives 3 &amp; 4</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i="1" dirty="0">
                          <a:solidFill>
                            <a:schemeClr val="tx1"/>
                          </a:solidFill>
                        </a:rPr>
                        <a:t>Establishing objectives for FY 23</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4279033902"/>
                  </a:ext>
                </a:extLst>
              </a:tr>
              <a:tr h="895756">
                <a:tc>
                  <a:txBody>
                    <a:bodyPr/>
                    <a:lstStyle/>
                    <a:p>
                      <a:r>
                        <a:rPr lang="en-US" b="1" dirty="0">
                          <a:solidFill>
                            <a:schemeClr val="tx1"/>
                          </a:solidFill>
                        </a:rPr>
                        <a:t>ORD Leadership Support Required to Accomplish Initiative Objective: </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endParaRPr lang="en-US" i="1" dirty="0">
                        <a:solidFill>
                          <a:schemeClr val="tx1"/>
                        </a:solidFill>
                      </a:endParaRPr>
                    </a:p>
                    <a:p>
                      <a:r>
                        <a:rPr lang="en-US" i="1" dirty="0">
                          <a:solidFill>
                            <a:schemeClr val="tx1"/>
                          </a:solidFill>
                        </a:rPr>
                        <a:t>Leadership has provided support at the right level to implement the finance objectives.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2206889529"/>
                  </a:ext>
                </a:extLst>
              </a:tr>
            </a:tbl>
          </a:graphicData>
        </a:graphic>
      </p:graphicFrame>
      <p:sp>
        <p:nvSpPr>
          <p:cNvPr id="33" name="Title 1">
            <a:extLst>
              <a:ext uri="{FF2B5EF4-FFF2-40B4-BE49-F238E27FC236}">
                <a16:creationId xmlns:a16="http://schemas.microsoft.com/office/drawing/2014/main" id="{52BAEF8F-4780-E243-448F-F93727927AA7}"/>
              </a:ext>
            </a:extLst>
          </p:cNvPr>
          <p:cNvSpPr>
            <a:spLocks noGrp="1"/>
          </p:cNvSpPr>
          <p:nvPr>
            <p:ph type="title"/>
          </p:nvPr>
        </p:nvSpPr>
        <p:spPr>
          <a:xfrm>
            <a:off x="1011627" y="108834"/>
            <a:ext cx="10515600" cy="680223"/>
          </a:xfrm>
        </p:spPr>
        <p:txBody>
          <a:bodyPr/>
          <a:lstStyle/>
          <a:p>
            <a:r>
              <a:rPr lang="en-US" sz="2400" dirty="0"/>
              <a:t>Finance Process: Proposed Next Steps</a:t>
            </a:r>
          </a:p>
        </p:txBody>
      </p:sp>
      <p:sp>
        <p:nvSpPr>
          <p:cNvPr id="12" name="Slide Number Placeholder 2">
            <a:extLst>
              <a:ext uri="{FF2B5EF4-FFF2-40B4-BE49-F238E27FC236}">
                <a16:creationId xmlns:a16="http://schemas.microsoft.com/office/drawing/2014/main" id="{79DF789A-3DFF-A928-9990-3F94DFE7FF90}"/>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7" name="Graphic 6" descr="Philanthropy outline">
            <a:extLst>
              <a:ext uri="{FF2B5EF4-FFF2-40B4-BE49-F238E27FC236}">
                <a16:creationId xmlns:a16="http://schemas.microsoft.com/office/drawing/2014/main" id="{F2FF9EFC-844B-00E1-CC1D-010D7B7BB23C}"/>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1527" y="106045"/>
            <a:ext cx="685800" cy="685800"/>
          </a:xfrm>
          <a:prstGeom prst="rect">
            <a:avLst/>
          </a:prstGeom>
        </p:spPr>
      </p:pic>
    </p:spTree>
    <p:extLst>
      <p:ext uri="{BB962C8B-B14F-4D97-AF65-F5344CB8AC3E}">
        <p14:creationId xmlns:p14="http://schemas.microsoft.com/office/powerpoint/2010/main" val="21048362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312732-C7CE-47D3-A994-5C9DAF8F6542}"/>
              </a:ext>
            </a:extLst>
          </p:cNvPr>
          <p:cNvSpPr>
            <a:spLocks noGrp="1"/>
          </p:cNvSpPr>
          <p:nvPr>
            <p:ph type="title"/>
          </p:nvPr>
        </p:nvSpPr>
        <p:spPr/>
        <p:txBody>
          <a:bodyPr/>
          <a:lstStyle/>
          <a:p>
            <a:r>
              <a:rPr lang="en-US" dirty="0">
                <a:solidFill>
                  <a:schemeClr val="tx1"/>
                </a:solidFill>
              </a:rPr>
              <a:t>Staff Training Empowerment and Motivation</a:t>
            </a:r>
            <a:br>
              <a:rPr lang="en-US" dirty="0">
                <a:solidFill>
                  <a:schemeClr val="tx1"/>
                </a:solidFill>
              </a:rPr>
            </a:br>
            <a:endParaRPr lang="en-US" dirty="0">
              <a:solidFill>
                <a:schemeClr val="tx1"/>
              </a:solidFill>
            </a:endParaRPr>
          </a:p>
        </p:txBody>
      </p:sp>
      <p:sp>
        <p:nvSpPr>
          <p:cNvPr id="6" name="Slide Number Placeholder 2">
            <a:extLst>
              <a:ext uri="{FF2B5EF4-FFF2-40B4-BE49-F238E27FC236}">
                <a16:creationId xmlns:a16="http://schemas.microsoft.com/office/drawing/2014/main" id="{348A4DB6-213A-EF35-FF18-1097643D6169}"/>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070848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descr="Upstairs outline">
            <a:extLst>
              <a:ext uri="{FF2B5EF4-FFF2-40B4-BE49-F238E27FC236}">
                <a16:creationId xmlns:a16="http://schemas.microsoft.com/office/drawing/2014/main" id="{3FF13DCA-67E5-DB0D-BF1E-40C538C98A0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11527" y="106045"/>
            <a:ext cx="685800" cy="685800"/>
          </a:xfrm>
          <a:prstGeom prst="rect">
            <a:avLst/>
          </a:prstGeom>
        </p:spPr>
      </p:pic>
      <p:graphicFrame>
        <p:nvGraphicFramePr>
          <p:cNvPr id="4" name="Table 4">
            <a:extLst>
              <a:ext uri="{FF2B5EF4-FFF2-40B4-BE49-F238E27FC236}">
                <a16:creationId xmlns:a16="http://schemas.microsoft.com/office/drawing/2014/main" id="{89D270C5-A08C-47F8-3DFF-659BE2F232FF}"/>
              </a:ext>
            </a:extLst>
          </p:cNvPr>
          <p:cNvGraphicFramePr>
            <a:graphicFrameLocks noGrp="1"/>
          </p:cNvGraphicFramePr>
          <p:nvPr/>
        </p:nvGraphicFramePr>
        <p:xfrm>
          <a:off x="0" y="852478"/>
          <a:ext cx="12192000" cy="2431427"/>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080473561"/>
                    </a:ext>
                  </a:extLst>
                </a:gridCol>
                <a:gridCol w="9525000">
                  <a:extLst>
                    <a:ext uri="{9D8B030D-6E8A-4147-A177-3AD203B41FA5}">
                      <a16:colId xmlns:a16="http://schemas.microsoft.com/office/drawing/2014/main" val="1869368987"/>
                    </a:ext>
                  </a:extLst>
                </a:gridCol>
              </a:tblGrid>
              <a:tr h="419747">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strike="noStrike">
                          <a:solidFill>
                            <a:schemeClr val="tx1"/>
                          </a:solidFill>
                        </a:rPr>
                        <a:t>Initiative Objectives: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Implement effective leadership practices across ORD and help with career development for all staff</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3835389272"/>
                  </a:ext>
                </a:extLst>
              </a:tr>
              <a:tr h="1319203">
                <a:tc>
                  <a:txBody>
                    <a:bodyPr/>
                    <a:lstStyle/>
                    <a:p>
                      <a:pPr>
                        <a:spcBef>
                          <a:spcPts val="0"/>
                        </a:spcBef>
                        <a:spcAft>
                          <a:spcPts val="0"/>
                        </a:spcAft>
                      </a:pPr>
                      <a:r>
                        <a:rPr lang="en-US" b="1" strike="noStrike">
                          <a:solidFill>
                            <a:schemeClr val="tx1"/>
                          </a:solidFill>
                        </a:rPr>
                        <a:t>Outputs Listed:</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0" strike="noStrike" dirty="0">
                          <a:solidFill>
                            <a:schemeClr val="tx1"/>
                          </a:solidFill>
                        </a:rPr>
                        <a:t>In Phase 3: Formalization (July 22 – September 22) of Five-Phase Roadmap </a:t>
                      </a:r>
                    </a:p>
                    <a:p>
                      <a:pPr marL="742950" lvl="1" indent="-285750">
                        <a:spcBef>
                          <a:spcPts val="0"/>
                        </a:spcBef>
                        <a:spcAft>
                          <a:spcPts val="0"/>
                        </a:spcAft>
                        <a:buFont typeface="Arial" panose="020B0604020202020204" pitchFamily="34" charset="0"/>
                        <a:buChar char="•"/>
                      </a:pPr>
                      <a:r>
                        <a:rPr lang="en-US" i="0" strike="noStrike" dirty="0">
                          <a:solidFill>
                            <a:schemeClr val="tx1"/>
                          </a:solidFill>
                        </a:rPr>
                        <a:t>Proposed:</a:t>
                      </a:r>
                    </a:p>
                    <a:p>
                      <a:pPr marL="1200150" lvl="2" indent="-285750">
                        <a:spcBef>
                          <a:spcPts val="0"/>
                        </a:spcBef>
                        <a:spcAft>
                          <a:spcPts val="0"/>
                        </a:spcAft>
                        <a:buFont typeface="Arial" panose="020B0604020202020204" pitchFamily="34" charset="0"/>
                        <a:buChar char="•"/>
                      </a:pPr>
                      <a:r>
                        <a:rPr lang="en-US" i="0" strike="noStrike" dirty="0">
                          <a:solidFill>
                            <a:schemeClr val="tx1"/>
                          </a:solidFill>
                        </a:rPr>
                        <a:t>Formalization of plan, timelines, and committed resources</a:t>
                      </a:r>
                    </a:p>
                    <a:p>
                      <a:pPr marL="1200150" lvl="2" indent="-285750">
                        <a:spcBef>
                          <a:spcPts val="0"/>
                        </a:spcBef>
                        <a:spcAft>
                          <a:spcPts val="0"/>
                        </a:spcAft>
                        <a:buFont typeface="Arial" panose="020B0604020202020204" pitchFamily="34" charset="0"/>
                        <a:buChar char="•"/>
                      </a:pPr>
                      <a:r>
                        <a:rPr lang="en-US" i="0" strike="noStrike" dirty="0">
                          <a:solidFill>
                            <a:schemeClr val="tx1"/>
                          </a:solidFill>
                        </a:rPr>
                        <a:t>Contract awarded (if applicable)</a:t>
                      </a:r>
                    </a:p>
                    <a:p>
                      <a:pPr marL="742950" lvl="1" indent="-285750">
                        <a:spcBef>
                          <a:spcPts val="0"/>
                        </a:spcBef>
                        <a:spcAft>
                          <a:spcPts val="0"/>
                        </a:spcAft>
                        <a:buFont typeface="Arial" panose="020B0604020202020204" pitchFamily="34" charset="0"/>
                        <a:buChar char="•"/>
                      </a:pPr>
                      <a:r>
                        <a:rPr lang="en-US" i="0" strike="noStrike" dirty="0">
                          <a:solidFill>
                            <a:schemeClr val="tx1"/>
                          </a:solidFill>
                        </a:rPr>
                        <a:t>Actual:</a:t>
                      </a:r>
                    </a:p>
                    <a:p>
                      <a:pPr marL="1200150" lvl="2" indent="-285750">
                        <a:spcBef>
                          <a:spcPts val="0"/>
                        </a:spcBef>
                        <a:spcAft>
                          <a:spcPts val="0"/>
                        </a:spcAft>
                        <a:buFont typeface="Arial" panose="020B0604020202020204" pitchFamily="34" charset="0"/>
                        <a:buChar char="•"/>
                      </a:pPr>
                      <a:r>
                        <a:rPr lang="en-US" i="0" strike="noStrike" dirty="0">
                          <a:solidFill>
                            <a:schemeClr val="tx1"/>
                          </a:solidFill>
                        </a:rPr>
                        <a:t>Plan, timeline, resources: Statement of Work and Financial Docs – reviewed by OGC</a:t>
                      </a:r>
                    </a:p>
                    <a:p>
                      <a:pPr marL="1200150" lvl="2" indent="-285750">
                        <a:spcBef>
                          <a:spcPts val="0"/>
                        </a:spcBef>
                        <a:spcAft>
                          <a:spcPts val="0"/>
                        </a:spcAft>
                        <a:buFont typeface="Arial" panose="020B0604020202020204" pitchFamily="34" charset="0"/>
                        <a:buChar char="•"/>
                      </a:pPr>
                      <a:r>
                        <a:rPr lang="en-US" i="0" strike="noStrike" dirty="0">
                          <a:solidFill>
                            <a:schemeClr val="tx1"/>
                          </a:solidFill>
                        </a:rPr>
                        <a:t>OPM and VA need to agree on recommended OGC revisions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2389873790"/>
                  </a:ext>
                </a:extLst>
              </a:tr>
            </a:tbl>
          </a:graphicData>
        </a:graphic>
      </p:graphicFrame>
      <p:sp>
        <p:nvSpPr>
          <p:cNvPr id="13" name="Title 1">
            <a:extLst>
              <a:ext uri="{FF2B5EF4-FFF2-40B4-BE49-F238E27FC236}">
                <a16:creationId xmlns:a16="http://schemas.microsoft.com/office/drawing/2014/main" id="{2D24CA2F-9675-E687-2802-67F560F334E4}"/>
              </a:ext>
            </a:extLst>
          </p:cNvPr>
          <p:cNvSpPr>
            <a:spLocks noGrp="1"/>
          </p:cNvSpPr>
          <p:nvPr>
            <p:ph type="title"/>
          </p:nvPr>
        </p:nvSpPr>
        <p:spPr>
          <a:xfrm>
            <a:off x="1011627" y="108834"/>
            <a:ext cx="10515600" cy="680223"/>
          </a:xfrm>
        </p:spPr>
        <p:txBody>
          <a:bodyPr/>
          <a:lstStyle/>
          <a:p>
            <a:r>
              <a:rPr lang="en-US" sz="2400"/>
              <a:t>STEAM: Objectives</a:t>
            </a:r>
          </a:p>
        </p:txBody>
      </p:sp>
      <p:sp>
        <p:nvSpPr>
          <p:cNvPr id="12" name="Slide Number Placeholder 2">
            <a:extLst>
              <a:ext uri="{FF2B5EF4-FFF2-40B4-BE49-F238E27FC236}">
                <a16:creationId xmlns:a16="http://schemas.microsoft.com/office/drawing/2014/main" id="{1424883C-AE4D-9BB2-D377-37A8E9CF6A98}"/>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711653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89D270C5-A08C-47F8-3DFF-659BE2F232FF}"/>
              </a:ext>
            </a:extLst>
          </p:cNvPr>
          <p:cNvGraphicFramePr>
            <a:graphicFrameLocks noGrp="1"/>
          </p:cNvGraphicFramePr>
          <p:nvPr/>
        </p:nvGraphicFramePr>
        <p:xfrm>
          <a:off x="0" y="868680"/>
          <a:ext cx="12191999" cy="5120640"/>
        </p:xfrm>
        <a:graphic>
          <a:graphicData uri="http://schemas.openxmlformats.org/drawingml/2006/table">
            <a:tbl>
              <a:tblPr firstRow="1" bandRow="1">
                <a:tableStyleId>{5C22544A-7EE6-4342-B048-85BDC9FD1C3A}</a:tableStyleId>
              </a:tblPr>
              <a:tblGrid>
                <a:gridCol w="2386049">
                  <a:extLst>
                    <a:ext uri="{9D8B030D-6E8A-4147-A177-3AD203B41FA5}">
                      <a16:colId xmlns:a16="http://schemas.microsoft.com/office/drawing/2014/main" val="2080473561"/>
                    </a:ext>
                  </a:extLst>
                </a:gridCol>
                <a:gridCol w="9805950">
                  <a:extLst>
                    <a:ext uri="{9D8B030D-6E8A-4147-A177-3AD203B41FA5}">
                      <a16:colId xmlns:a16="http://schemas.microsoft.com/office/drawing/2014/main" val="1869368987"/>
                    </a:ext>
                  </a:extLst>
                </a:gridCol>
              </a:tblGrid>
              <a:tr h="786782">
                <a:tc>
                  <a:txBody>
                    <a:bodyPr/>
                    <a:lstStyle/>
                    <a:p>
                      <a:r>
                        <a:rPr lang="en-US" b="1" strike="noStrike">
                          <a:solidFill>
                            <a:schemeClr val="tx1"/>
                          </a:solidFill>
                        </a:rPr>
                        <a:t>Outputs Delivered:</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pPr marL="285750" indent="-285750">
                        <a:buFont typeface="Arial" panose="020B0604020202020204" pitchFamily="34" charset="0"/>
                        <a:buChar char="•"/>
                      </a:pPr>
                      <a:r>
                        <a:rPr lang="en-US" b="0" i="0" strike="noStrike">
                          <a:solidFill>
                            <a:schemeClr val="tx1"/>
                          </a:solidFill>
                        </a:rPr>
                        <a:t>Phase I Data Collection and Scope</a:t>
                      </a:r>
                    </a:p>
                    <a:p>
                      <a:pPr marL="285750" indent="-285750">
                        <a:buFont typeface="Arial" panose="020B0604020202020204" pitchFamily="34" charset="0"/>
                        <a:buChar char="•"/>
                      </a:pPr>
                      <a:r>
                        <a:rPr lang="en-US" b="0" i="0" strike="noStrike">
                          <a:solidFill>
                            <a:schemeClr val="tx1"/>
                          </a:solidFill>
                        </a:rPr>
                        <a:t>Phase II Resource Development</a:t>
                      </a:r>
                    </a:p>
                    <a:p>
                      <a:pPr marL="285750" indent="-285750">
                        <a:buFont typeface="Arial" panose="020B0604020202020204" pitchFamily="34" charset="0"/>
                        <a:buChar char="•"/>
                      </a:pPr>
                      <a:r>
                        <a:rPr lang="en-US" b="0" i="0" strike="noStrike">
                          <a:solidFill>
                            <a:schemeClr val="tx1"/>
                          </a:solidFill>
                        </a:rPr>
                        <a:t>Phase III Formalization (in-process)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3835389272"/>
                  </a:ext>
                </a:extLst>
              </a:tr>
              <a:tr h="550747">
                <a:tc>
                  <a:txBody>
                    <a:bodyPr/>
                    <a:lstStyle/>
                    <a:p>
                      <a:r>
                        <a:rPr lang="en-US" b="1" strike="noStrike">
                          <a:solidFill>
                            <a:schemeClr val="tx1"/>
                          </a:solidFill>
                        </a:rPr>
                        <a:t>Outputs Undelivered:</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r>
                        <a:rPr lang="en-US" b="1" i="0" strike="noStrike" dirty="0">
                          <a:solidFill>
                            <a:schemeClr val="tx1"/>
                          </a:solidFill>
                        </a:rPr>
                        <a:t>None</a:t>
                      </a:r>
                      <a:r>
                        <a:rPr lang="en-US" i="0" strike="noStrike" dirty="0">
                          <a:solidFill>
                            <a:schemeClr val="tx1"/>
                          </a:solidFill>
                        </a:rPr>
                        <a:t> - Aim is to have Statement of Work (SOW) and 7600 Finance Documents signed by OPM and VA by End of Fiscal Year 2022</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2389873790"/>
                  </a:ext>
                </a:extLst>
              </a:tr>
              <a:tr h="2439023">
                <a:tc>
                  <a:txBody>
                    <a:bodyPr/>
                    <a:lstStyle/>
                    <a:p>
                      <a:r>
                        <a:rPr lang="en-US" b="1">
                          <a:solidFill>
                            <a:schemeClr val="tx1"/>
                          </a:solidFill>
                        </a:rPr>
                        <a:t>Lessons Learned:</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r>
                        <a:rPr lang="en-US" i="0" dirty="0">
                          <a:solidFill>
                            <a:schemeClr val="tx1"/>
                          </a:solidFill>
                        </a:rPr>
                        <a:t>Sustain: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i="0" dirty="0">
                          <a:solidFill>
                            <a:schemeClr val="tx1"/>
                          </a:solidFill>
                        </a:rPr>
                        <a:t>Resource Allocation (i.e. budget)</a:t>
                      </a:r>
                    </a:p>
                    <a:p>
                      <a:pPr marL="742950" lvl="1" indent="-285750">
                        <a:buFont typeface="Arial" panose="020B0604020202020204" pitchFamily="34" charset="0"/>
                        <a:buChar char="•"/>
                      </a:pPr>
                      <a:r>
                        <a:rPr lang="en-US" i="0" dirty="0">
                          <a:solidFill>
                            <a:schemeClr val="tx1"/>
                          </a:solidFill>
                        </a:rPr>
                        <a:t>Weekly meeting cadence – rapid succession generated ideas for vision and scope</a:t>
                      </a:r>
                    </a:p>
                    <a:p>
                      <a:pPr marL="742950" lvl="1" indent="-285750">
                        <a:buFont typeface="Arial" panose="020B0604020202020204" pitchFamily="34" charset="0"/>
                        <a:buChar char="•"/>
                      </a:pPr>
                      <a:r>
                        <a:rPr lang="en-US" i="0" dirty="0">
                          <a:solidFill>
                            <a:schemeClr val="tx1"/>
                          </a:solidFill>
                        </a:rPr>
                        <a:t>Diversity of workgroup</a:t>
                      </a:r>
                    </a:p>
                    <a:p>
                      <a:pPr marL="742950" lvl="1" indent="-285750">
                        <a:buFont typeface="Arial" panose="020B0604020202020204" pitchFamily="34" charset="0"/>
                        <a:buChar char="•"/>
                      </a:pPr>
                      <a:r>
                        <a:rPr lang="en-US" i="0" dirty="0">
                          <a:solidFill>
                            <a:schemeClr val="tx1"/>
                          </a:solidFill>
                        </a:rPr>
                        <a:t>Focus interviews – provided relevant/validating feedback</a:t>
                      </a:r>
                    </a:p>
                    <a:p>
                      <a:pPr marL="0" lvl="0" indent="0">
                        <a:buFont typeface="Arial" panose="020B0604020202020204" pitchFamily="34" charset="0"/>
                        <a:buNone/>
                      </a:pPr>
                      <a:r>
                        <a:rPr lang="en-US" i="0" dirty="0">
                          <a:solidFill>
                            <a:schemeClr val="tx1"/>
                          </a:solidFill>
                        </a:rPr>
                        <a:t>Opportunity for Growth:</a:t>
                      </a:r>
                    </a:p>
                    <a:p>
                      <a:pPr marL="742950" lvl="1" indent="-285750">
                        <a:buFont typeface="Arial" panose="020B0604020202020204" pitchFamily="34" charset="0"/>
                        <a:buChar char="•"/>
                      </a:pPr>
                      <a:r>
                        <a:rPr lang="en-US" i="0" dirty="0">
                          <a:solidFill>
                            <a:schemeClr val="tx1"/>
                          </a:solidFill>
                        </a:rPr>
                        <a:t>Sustainment beyond FY 25/26</a:t>
                      </a:r>
                    </a:p>
                    <a:p>
                      <a:pPr marL="742950" lvl="1" indent="-285750">
                        <a:buFont typeface="Arial" panose="020B0604020202020204" pitchFamily="34" charset="0"/>
                        <a:buChar char="•"/>
                      </a:pPr>
                      <a:r>
                        <a:rPr lang="en-US" i="0" dirty="0">
                          <a:solidFill>
                            <a:schemeClr val="tx1"/>
                          </a:solidFill>
                        </a:rPr>
                        <a:t>Offerings/participation beyond ORD staff</a:t>
                      </a:r>
                    </a:p>
                    <a:p>
                      <a:pPr marL="742950" lvl="1" indent="-285750">
                        <a:buFont typeface="Arial" panose="020B0604020202020204" pitchFamily="34" charset="0"/>
                        <a:buChar char="•"/>
                      </a:pPr>
                      <a:r>
                        <a:rPr lang="en-US" i="0" dirty="0">
                          <a:solidFill>
                            <a:schemeClr val="tx1"/>
                          </a:solidFill>
                        </a:rPr>
                        <a:t>Visibility/accountability of previous leadership trainings for individuals – opportunity to share</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2668848712"/>
                  </a:ext>
                </a:extLst>
              </a:tr>
              <a:tr h="550747">
                <a:tc>
                  <a:txBody>
                    <a:bodyPr/>
                    <a:lstStyle/>
                    <a:p>
                      <a:r>
                        <a:rPr lang="en-US" b="1" u="sng">
                          <a:solidFill>
                            <a:schemeClr val="tx1"/>
                          </a:solidFill>
                        </a:rPr>
                        <a:t>Current</a:t>
                      </a:r>
                      <a:r>
                        <a:rPr lang="en-US" b="1">
                          <a:solidFill>
                            <a:schemeClr val="tx1"/>
                          </a:solidFill>
                        </a:rPr>
                        <a:t> Roadblocks: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i="0">
                          <a:solidFill>
                            <a:schemeClr val="tx1"/>
                          </a:solidFill>
                        </a:rPr>
                        <a:t>Post-legal review requires revised SOW and 7600s for both agencies, risk of further delay, yet still slated for FY23 start</a:t>
                      </a:r>
                      <a:endParaRPr lang="en-US" i="0" u="sng">
                        <a:solidFill>
                          <a:schemeClr val="tx1"/>
                        </a:solidFill>
                      </a:endParaRP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3999873908"/>
                  </a:ext>
                </a:extLst>
              </a:tr>
              <a:tr h="314713">
                <a:tc>
                  <a:txBody>
                    <a:bodyPr/>
                    <a:lstStyle/>
                    <a:p>
                      <a:r>
                        <a:rPr lang="en-US" b="1">
                          <a:solidFill>
                            <a:schemeClr val="tx1"/>
                          </a:solidFill>
                        </a:rPr>
                        <a:t>Mitigation Strategies: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r>
                        <a:rPr lang="en-US" i="0" dirty="0">
                          <a:solidFill>
                            <a:schemeClr val="tx1"/>
                          </a:solidFill>
                        </a:rPr>
                        <a:t>Rapid and transparent engagement with Finance, OGC, OPM, and STEAM for finalized product</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1463779455"/>
                  </a:ext>
                </a:extLst>
              </a:tr>
            </a:tbl>
          </a:graphicData>
        </a:graphic>
      </p:graphicFrame>
      <p:sp>
        <p:nvSpPr>
          <p:cNvPr id="13" name="Title 1">
            <a:extLst>
              <a:ext uri="{FF2B5EF4-FFF2-40B4-BE49-F238E27FC236}">
                <a16:creationId xmlns:a16="http://schemas.microsoft.com/office/drawing/2014/main" id="{2D24CA2F-9675-E687-2802-67F560F334E4}"/>
              </a:ext>
            </a:extLst>
          </p:cNvPr>
          <p:cNvSpPr>
            <a:spLocks noGrp="1"/>
          </p:cNvSpPr>
          <p:nvPr>
            <p:ph type="title"/>
          </p:nvPr>
        </p:nvSpPr>
        <p:spPr>
          <a:xfrm>
            <a:off x="1011627" y="108834"/>
            <a:ext cx="10515600" cy="680223"/>
          </a:xfrm>
        </p:spPr>
        <p:txBody>
          <a:bodyPr/>
          <a:lstStyle/>
          <a:p>
            <a:r>
              <a:rPr lang="en-US" sz="2400"/>
              <a:t>STEAM: Delivery Status</a:t>
            </a:r>
          </a:p>
        </p:txBody>
      </p:sp>
      <p:sp>
        <p:nvSpPr>
          <p:cNvPr id="15" name="Slide Number Placeholder 2">
            <a:extLst>
              <a:ext uri="{FF2B5EF4-FFF2-40B4-BE49-F238E27FC236}">
                <a16:creationId xmlns:a16="http://schemas.microsoft.com/office/drawing/2014/main" id="{956E199C-E614-10A7-1A8B-B10AF099E0C9}"/>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Graphic 5" descr="Upstairs outline">
            <a:extLst>
              <a:ext uri="{FF2B5EF4-FFF2-40B4-BE49-F238E27FC236}">
                <a16:creationId xmlns:a16="http://schemas.microsoft.com/office/drawing/2014/main" id="{FA5E4B61-42BA-BBDE-B0E5-990393C9E8E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11527" y="106045"/>
            <a:ext cx="685800" cy="685800"/>
          </a:xfrm>
          <a:prstGeom prst="rect">
            <a:avLst/>
          </a:prstGeom>
        </p:spPr>
      </p:pic>
    </p:spTree>
    <p:extLst>
      <p:ext uri="{BB962C8B-B14F-4D97-AF65-F5344CB8AC3E}">
        <p14:creationId xmlns:p14="http://schemas.microsoft.com/office/powerpoint/2010/main" val="40743396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89D270C5-A08C-47F8-3DFF-659BE2F232FF}"/>
              </a:ext>
            </a:extLst>
          </p:cNvPr>
          <p:cNvGraphicFramePr>
            <a:graphicFrameLocks noGrp="1"/>
          </p:cNvGraphicFramePr>
          <p:nvPr/>
        </p:nvGraphicFramePr>
        <p:xfrm>
          <a:off x="0" y="852477"/>
          <a:ext cx="12192000" cy="365760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080473561"/>
                    </a:ext>
                  </a:extLst>
                </a:gridCol>
                <a:gridCol w="9525000">
                  <a:extLst>
                    <a:ext uri="{9D8B030D-6E8A-4147-A177-3AD203B41FA5}">
                      <a16:colId xmlns:a16="http://schemas.microsoft.com/office/drawing/2014/main" val="1869368987"/>
                    </a:ext>
                  </a:extLst>
                </a:gridCol>
              </a:tblGrid>
              <a:tr h="370840">
                <a:tc>
                  <a:txBody>
                    <a:bodyPr/>
                    <a:lstStyle/>
                    <a:p>
                      <a:r>
                        <a:rPr lang="en-US" b="1">
                          <a:solidFill>
                            <a:schemeClr val="tx1"/>
                          </a:solidFill>
                        </a:rPr>
                        <a:t>Recommendation for Initiative in FY23:</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pPr marL="285750" indent="-285750">
                        <a:buFont typeface="Arial" panose="020B0604020202020204" pitchFamily="34" charset="0"/>
                        <a:buChar char="•"/>
                      </a:pPr>
                      <a:r>
                        <a:rPr lang="en-US" b="0" i="0">
                          <a:solidFill>
                            <a:schemeClr val="tx1"/>
                          </a:solidFill>
                        </a:rPr>
                        <a:t>Period of Performance for Option Year 1: Oct 1, 2022 – Sep 30, 2023</a:t>
                      </a:r>
                    </a:p>
                    <a:p>
                      <a:pPr marL="285750" indent="-285750">
                        <a:buFont typeface="Arial" panose="020B0604020202020204" pitchFamily="34" charset="0"/>
                        <a:buChar char="•"/>
                      </a:pPr>
                      <a:r>
                        <a:rPr lang="en-US" b="0" i="0">
                          <a:solidFill>
                            <a:schemeClr val="tx1"/>
                          </a:solidFill>
                        </a:rPr>
                        <a:t>Timelines for courses established and courses scheduled for FY23</a:t>
                      </a:r>
                    </a:p>
                    <a:p>
                      <a:pPr marL="285750" indent="-285750">
                        <a:buFont typeface="Arial" panose="020B0604020202020204" pitchFamily="34" charset="0"/>
                        <a:buChar char="•"/>
                      </a:pPr>
                      <a:r>
                        <a:rPr lang="en-US" b="0" i="0">
                          <a:solidFill>
                            <a:schemeClr val="tx1"/>
                          </a:solidFill>
                        </a:rPr>
                        <a:t>Launch OPM-sponsored long-term success metrics plan for 3-9 months post-course impact</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1267919758"/>
                  </a:ext>
                </a:extLst>
              </a:tr>
              <a:tr h="370840">
                <a:tc>
                  <a:txBody>
                    <a:bodyPr/>
                    <a:lstStyle/>
                    <a:p>
                      <a:r>
                        <a:rPr lang="en-US" b="1">
                          <a:solidFill>
                            <a:schemeClr val="tx1"/>
                          </a:solidFill>
                        </a:rPr>
                        <a:t>Major FY23 Outputs: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pPr marL="285750" indent="-285750">
                        <a:buFont typeface="Arial" panose="020B0604020202020204" pitchFamily="34" charset="0"/>
                        <a:buChar char="•"/>
                      </a:pPr>
                      <a:r>
                        <a:rPr lang="en-US" i="0" dirty="0">
                          <a:solidFill>
                            <a:schemeClr val="tx1"/>
                          </a:solidFill>
                        </a:rPr>
                        <a:t>Half-day and two-day courses underway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i="0" dirty="0">
                          <a:solidFill>
                            <a:schemeClr val="tx1"/>
                          </a:solidFill>
                        </a:rPr>
                        <a:t>Application screening for Regional Leadership Development Program (RLDP) participants</a:t>
                      </a:r>
                    </a:p>
                    <a:p>
                      <a:pPr marL="285750" indent="-285750">
                        <a:buFont typeface="Arial" panose="020B0604020202020204" pitchFamily="34" charset="0"/>
                        <a:buChar char="•"/>
                      </a:pPr>
                      <a:r>
                        <a:rPr lang="en-US" i="0" dirty="0">
                          <a:solidFill>
                            <a:schemeClr val="tx1"/>
                          </a:solidFill>
                        </a:rPr>
                        <a:t>Start RLDP (6 months) </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13577779"/>
                  </a:ext>
                </a:extLst>
              </a:tr>
              <a:tr h="370840">
                <a:tc>
                  <a:txBody>
                    <a:bodyPr/>
                    <a:lstStyle/>
                    <a:p>
                      <a:r>
                        <a:rPr lang="en-US" b="1">
                          <a:solidFill>
                            <a:schemeClr val="tx1"/>
                          </a:solidFill>
                        </a:rPr>
                        <a:t>Immediate Next Steps: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pPr marL="285750" indent="-285750">
                        <a:buFont typeface="Arial" panose="020B0604020202020204" pitchFamily="34" charset="0"/>
                        <a:buChar char="•"/>
                      </a:pPr>
                      <a:r>
                        <a:rPr lang="en-US" b="0" i="0" dirty="0">
                          <a:solidFill>
                            <a:schemeClr val="tx1"/>
                          </a:solidFill>
                        </a:rPr>
                        <a:t>OPM and VA agree on revised SOW – pre-signatures</a:t>
                      </a:r>
                    </a:p>
                    <a:p>
                      <a:pPr marL="285750" indent="-285750">
                        <a:buFont typeface="Arial" panose="020B0604020202020204" pitchFamily="34" charset="0"/>
                        <a:buChar char="•"/>
                      </a:pPr>
                      <a:r>
                        <a:rPr lang="en-US" b="0" i="0" dirty="0">
                          <a:solidFill>
                            <a:schemeClr val="tx1"/>
                          </a:solidFill>
                        </a:rPr>
                        <a:t>SOW signed by both agencies; funds obligated </a:t>
                      </a:r>
                    </a:p>
                    <a:p>
                      <a:pPr marL="285750" indent="-285750">
                        <a:buFont typeface="Arial" panose="020B0604020202020204" pitchFamily="34" charset="0"/>
                        <a:buChar char="•"/>
                      </a:pPr>
                      <a:r>
                        <a:rPr lang="en-US" b="0" i="0" dirty="0">
                          <a:solidFill>
                            <a:schemeClr val="tx1"/>
                          </a:solidFill>
                        </a:rPr>
                        <a:t>First two courses scheduled for FY23 Q1</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4279033902"/>
                  </a:ext>
                </a:extLst>
              </a:tr>
              <a:tr h="370840">
                <a:tc>
                  <a:txBody>
                    <a:bodyPr/>
                    <a:lstStyle/>
                    <a:p>
                      <a:r>
                        <a:rPr lang="en-US" b="1">
                          <a:solidFill>
                            <a:schemeClr val="tx1"/>
                          </a:solidFill>
                        </a:rPr>
                        <a:t>ORD Leadership Support Required to Accomplish Initiative Objective: </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pPr marL="285750" indent="-285750">
                        <a:buFont typeface="Arial" panose="020B0604020202020204" pitchFamily="34" charset="0"/>
                        <a:buChar char="•"/>
                      </a:pPr>
                      <a:r>
                        <a:rPr lang="en-US" i="0" dirty="0">
                          <a:solidFill>
                            <a:schemeClr val="tx1"/>
                          </a:solidFill>
                        </a:rPr>
                        <a:t>Managers and Supervisors to support protected time for employees to participate</a:t>
                      </a:r>
                    </a:p>
                    <a:p>
                      <a:pPr marL="285750" indent="-285750">
                        <a:buFont typeface="Arial" panose="020B0604020202020204" pitchFamily="34" charset="0"/>
                        <a:buChar char="•"/>
                      </a:pPr>
                      <a:r>
                        <a:rPr lang="en-US" i="0" dirty="0">
                          <a:solidFill>
                            <a:schemeClr val="tx1"/>
                          </a:solidFill>
                        </a:rPr>
                        <a:t>Financial resources committed for courses – please ensure staff participation so a slot does not go unused</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2206889529"/>
                  </a:ext>
                </a:extLst>
              </a:tr>
            </a:tbl>
          </a:graphicData>
        </a:graphic>
      </p:graphicFrame>
      <p:sp>
        <p:nvSpPr>
          <p:cNvPr id="33" name="Title 1">
            <a:extLst>
              <a:ext uri="{FF2B5EF4-FFF2-40B4-BE49-F238E27FC236}">
                <a16:creationId xmlns:a16="http://schemas.microsoft.com/office/drawing/2014/main" id="{52BAEF8F-4780-E243-448F-F93727927AA7}"/>
              </a:ext>
            </a:extLst>
          </p:cNvPr>
          <p:cNvSpPr>
            <a:spLocks noGrp="1"/>
          </p:cNvSpPr>
          <p:nvPr>
            <p:ph type="title"/>
          </p:nvPr>
        </p:nvSpPr>
        <p:spPr>
          <a:xfrm>
            <a:off x="1011627" y="108834"/>
            <a:ext cx="10515600" cy="680223"/>
          </a:xfrm>
        </p:spPr>
        <p:txBody>
          <a:bodyPr/>
          <a:lstStyle/>
          <a:p>
            <a:r>
              <a:rPr lang="en-US" sz="2400"/>
              <a:t>STEAM: Proposed Next Steps</a:t>
            </a:r>
          </a:p>
        </p:txBody>
      </p:sp>
      <p:sp>
        <p:nvSpPr>
          <p:cNvPr id="12" name="Slide Number Placeholder 2">
            <a:extLst>
              <a:ext uri="{FF2B5EF4-FFF2-40B4-BE49-F238E27FC236}">
                <a16:creationId xmlns:a16="http://schemas.microsoft.com/office/drawing/2014/main" id="{79DF789A-3DFF-A928-9990-3F94DFE7FF90}"/>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Graphic 5" descr="Upstairs outline">
            <a:extLst>
              <a:ext uri="{FF2B5EF4-FFF2-40B4-BE49-F238E27FC236}">
                <a16:creationId xmlns:a16="http://schemas.microsoft.com/office/drawing/2014/main" id="{F6692C99-9BF8-65F3-78CA-C132C58BB6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11527" y="106045"/>
            <a:ext cx="685800" cy="685800"/>
          </a:xfrm>
          <a:prstGeom prst="rect">
            <a:avLst/>
          </a:prstGeom>
        </p:spPr>
      </p:pic>
    </p:spTree>
    <p:extLst>
      <p:ext uri="{BB962C8B-B14F-4D97-AF65-F5344CB8AC3E}">
        <p14:creationId xmlns:p14="http://schemas.microsoft.com/office/powerpoint/2010/main" val="24033061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FB68B-46CE-95B7-E1BC-7CEB1C348323}"/>
              </a:ext>
            </a:extLst>
          </p:cNvPr>
          <p:cNvSpPr>
            <a:spLocks noGrp="1"/>
          </p:cNvSpPr>
          <p:nvPr>
            <p:ph type="ctrTitle"/>
          </p:nvPr>
        </p:nvSpPr>
        <p:spPr/>
        <p:txBody>
          <a:bodyPr/>
          <a:lstStyle/>
          <a:p>
            <a:r>
              <a:rPr lang="en-US" sz="4800" dirty="0">
                <a:solidFill>
                  <a:schemeClr val="tx1">
                    <a:lumMod val="50000"/>
                  </a:schemeClr>
                </a:solidFill>
              </a:rPr>
              <a:t>Research Enterprise Initiative Report-Out: Session 2</a:t>
            </a:r>
          </a:p>
        </p:txBody>
      </p:sp>
      <p:sp>
        <p:nvSpPr>
          <p:cNvPr id="3" name="Subtitle 2">
            <a:extLst>
              <a:ext uri="{FF2B5EF4-FFF2-40B4-BE49-F238E27FC236}">
                <a16:creationId xmlns:a16="http://schemas.microsoft.com/office/drawing/2014/main" id="{36EABBF6-799B-3A96-1B4F-DA0F207ACA9E}"/>
              </a:ext>
            </a:extLst>
          </p:cNvPr>
          <p:cNvSpPr>
            <a:spLocks noGrp="1"/>
          </p:cNvSpPr>
          <p:nvPr>
            <p:ph type="subTitle" idx="1"/>
          </p:nvPr>
        </p:nvSpPr>
        <p:spPr/>
        <p:txBody>
          <a:bodyPr/>
          <a:lstStyle/>
          <a:p>
            <a:r>
              <a:rPr lang="en-US" dirty="0"/>
              <a:t>August 19, 2022</a:t>
            </a:r>
          </a:p>
        </p:txBody>
      </p:sp>
      <p:sp>
        <p:nvSpPr>
          <p:cNvPr id="5" name="Slide Number Placeholder 2">
            <a:extLst>
              <a:ext uri="{FF2B5EF4-FFF2-40B4-BE49-F238E27FC236}">
                <a16:creationId xmlns:a16="http://schemas.microsoft.com/office/drawing/2014/main" id="{723C30D5-E49F-2013-76BD-249F1397E50B}"/>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525353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0AA1619E-2335-7250-B91C-9AAA986B194F}"/>
              </a:ext>
            </a:extLst>
          </p:cNvPr>
          <p:cNvSpPr txBox="1"/>
          <p:nvPr/>
        </p:nvSpPr>
        <p:spPr>
          <a:xfrm>
            <a:off x="594196" y="4989446"/>
            <a:ext cx="8316402"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prstClr val="black"/>
                </a:solidFill>
                <a:effectLst/>
                <a:uLnTx/>
                <a:uFillTx/>
                <a:latin typeface="Calibri" panose="020F0502020204030204"/>
                <a:ea typeface="+mn-ea"/>
                <a:cs typeface="+mn-cs"/>
              </a:rPr>
              <a:t>* Initiative Executive Sponsors are the first name listed for each initiative above; initiative owners are the second name</a:t>
            </a:r>
          </a:p>
        </p:txBody>
      </p:sp>
      <p:sp>
        <p:nvSpPr>
          <p:cNvPr id="7" name="TextBox 6">
            <a:extLst>
              <a:ext uri="{FF2B5EF4-FFF2-40B4-BE49-F238E27FC236}">
                <a16:creationId xmlns:a16="http://schemas.microsoft.com/office/drawing/2014/main" id="{E381CA38-9548-499E-23F9-6B15E1E7B1B1}"/>
              </a:ext>
            </a:extLst>
          </p:cNvPr>
          <p:cNvSpPr txBox="1"/>
          <p:nvPr/>
        </p:nvSpPr>
        <p:spPr>
          <a:xfrm>
            <a:off x="388008" y="1683888"/>
            <a:ext cx="5908017" cy="2923877"/>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rPr>
              <a:t>Session 1 ORD Strategy &amp; Internal Organization Initiatives</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rPr>
              <a:t>8/17, 1:30 – 2:30 PM:</a:t>
            </a:r>
          </a:p>
          <a:p>
            <a:pPr marL="342900" marR="0" lvl="0"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(5 mins) Introduction: Rachel Ramoni</a:t>
            </a:r>
          </a:p>
          <a:p>
            <a:pPr marL="342900" marR="0" lvl="0"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(15 mins) Org Alignment: Rachel Ramoni &amp; Molly Klote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Calibri"/>
            </a:endParaRPr>
          </a:p>
          <a:p>
            <a:pPr marL="342900" marR="0" lvl="0"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(15 mins) AMP: Chris Bever &amp; Ken Myrie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Calibri"/>
            </a:endParaRPr>
          </a:p>
          <a:p>
            <a:pPr marL="342900" marR="0" lvl="0"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i="0" u="none" strike="noStrike" kern="1200" cap="none" spc="0" normalizeH="0" baseline="0" noProof="0" dirty="0">
                <a:ln>
                  <a:noFill/>
                </a:ln>
                <a:solidFill>
                  <a:prstClr val="black"/>
                </a:solidFill>
                <a:effectLst/>
                <a:uLnTx/>
                <a:uFillTx/>
                <a:latin typeface="Calibri" panose="020F0502020204030204"/>
                <a:ea typeface="+mn-ea"/>
                <a:cs typeface="+mn-cs"/>
              </a:rPr>
              <a:t>(5 mins) STEAM: Wendy Tenhula &amp; Eva-Marie Austin </a:t>
            </a:r>
          </a:p>
          <a:p>
            <a:pPr marL="342900" marR="0" lvl="0"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i="0" u="none" strike="noStrike" kern="1200" cap="none" spc="0" normalizeH="0" baseline="0" noProof="0" dirty="0">
                <a:ln>
                  <a:noFill/>
                </a:ln>
                <a:solidFill>
                  <a:prstClr val="black"/>
                </a:solidFill>
                <a:effectLst/>
                <a:uLnTx/>
                <a:uFillTx/>
                <a:latin typeface="Calibri" panose="020F0502020204030204"/>
                <a:ea typeface="+mn-ea"/>
                <a:cs typeface="+mn-cs"/>
              </a:rPr>
              <a:t>(5 mins) Finance Process: Wendy Tenhula &amp; Jason Berlow</a:t>
            </a:r>
          </a:p>
          <a:p>
            <a:pPr marL="342900" marR="0" lvl="0"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(10 mins) Discussion</a:t>
            </a:r>
          </a:p>
          <a:p>
            <a:pPr marL="342900" marR="0" lvl="0"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(5 mins) Decisions and Action Items</a:t>
            </a:r>
          </a:p>
        </p:txBody>
      </p:sp>
      <p:sp>
        <p:nvSpPr>
          <p:cNvPr id="8" name="TextBox 7">
            <a:extLst>
              <a:ext uri="{FF2B5EF4-FFF2-40B4-BE49-F238E27FC236}">
                <a16:creationId xmlns:a16="http://schemas.microsoft.com/office/drawing/2014/main" id="{22BF31E3-CE65-17D7-00C1-746446A1B08E}"/>
              </a:ext>
            </a:extLst>
          </p:cNvPr>
          <p:cNvSpPr txBox="1"/>
          <p:nvPr/>
        </p:nvSpPr>
        <p:spPr>
          <a:xfrm>
            <a:off x="5895975" y="1683888"/>
            <a:ext cx="5908017" cy="29238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rPr>
              <a:t>Session 2 Field Support Initiatives</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rPr>
              <a:t>8/19, 1:00 – 2:00 PM:</a:t>
            </a:r>
          </a:p>
          <a:p>
            <a:pPr marL="342900" marR="0" lvl="0"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(5 mins) Introduction: Rachel Ramoni</a:t>
            </a:r>
          </a:p>
          <a:p>
            <a:pPr marL="342900" marR="0" lvl="0"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(20 mins) IT &amp; Data Governance: Molly Klote &amp; Scott DuVall</a:t>
            </a:r>
          </a:p>
          <a:p>
            <a:pPr marL="342900" marR="0" lvl="0"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(5 mins) FERSS: Grant Huang &amp; Tony Laracuente</a:t>
            </a:r>
          </a:p>
          <a:p>
            <a:pPr marL="342900" marR="0" lvl="0"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(5 mins) Central Research HR: Grant Huang &amp; Tony Laracuente</a:t>
            </a:r>
          </a:p>
          <a:p>
            <a:pPr marL="342900" marR="0" lvl="0"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(5 mins) PRP: Grant Huang &amp; Krissa Caroff </a:t>
            </a:r>
          </a:p>
          <a:p>
            <a:pPr marL="342900" marR="0" lvl="0"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(10 mins) Discussion</a:t>
            </a:r>
          </a:p>
          <a:p>
            <a:pPr marL="342900" marR="0" lvl="0"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(5 mins) Decisions and Action Items</a:t>
            </a:r>
          </a:p>
        </p:txBody>
      </p:sp>
      <p:sp>
        <p:nvSpPr>
          <p:cNvPr id="10" name="Slide Number Placeholder 3">
            <a:extLst>
              <a:ext uri="{FF2B5EF4-FFF2-40B4-BE49-F238E27FC236}">
                <a16:creationId xmlns:a16="http://schemas.microsoft.com/office/drawing/2014/main" id="{292787C2-D152-023E-E2EF-9E39DB35EACE}"/>
              </a:ext>
            </a:extLst>
          </p:cNvPr>
          <p:cNvSpPr>
            <a:spLocks noGrp="1"/>
          </p:cNvSpPr>
          <p:nvPr>
            <p:ph type="sldNum" sz="quarter" idx="12"/>
          </p:nvPr>
        </p:nvSpPr>
        <p:spPr>
          <a:xfrm>
            <a:off x="9448800" y="6492875"/>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Title 1">
            <a:extLst>
              <a:ext uri="{FF2B5EF4-FFF2-40B4-BE49-F238E27FC236}">
                <a16:creationId xmlns:a16="http://schemas.microsoft.com/office/drawing/2014/main" id="{A064C2D3-F1E9-1500-4C37-24A44CCE3CFA}"/>
              </a:ext>
            </a:extLst>
          </p:cNvPr>
          <p:cNvSpPr txBox="1">
            <a:spLocks/>
          </p:cNvSpPr>
          <p:nvPr/>
        </p:nvSpPr>
        <p:spPr>
          <a:xfrm>
            <a:off x="304800" y="-6117"/>
            <a:ext cx="10515600" cy="8814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Report-Out Schedule</a:t>
            </a:r>
          </a:p>
        </p:txBody>
      </p:sp>
    </p:spTree>
    <p:extLst>
      <p:ext uri="{BB962C8B-B14F-4D97-AF65-F5344CB8AC3E}">
        <p14:creationId xmlns:p14="http://schemas.microsoft.com/office/powerpoint/2010/main" val="6390764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312732-C7CE-47D3-A994-5C9DAF8F6542}"/>
              </a:ext>
            </a:extLst>
          </p:cNvPr>
          <p:cNvSpPr>
            <a:spLocks noGrp="1"/>
          </p:cNvSpPr>
          <p:nvPr>
            <p:ph type="title"/>
          </p:nvPr>
        </p:nvSpPr>
        <p:spPr/>
        <p:txBody>
          <a:bodyPr/>
          <a:lstStyle/>
          <a:p>
            <a:r>
              <a:rPr lang="en-US" dirty="0">
                <a:solidFill>
                  <a:schemeClr val="tx1"/>
                </a:solidFill>
              </a:rPr>
              <a:t>IT &amp; Data Governance</a:t>
            </a:r>
            <a:br>
              <a:rPr lang="en-US" dirty="0">
                <a:solidFill>
                  <a:schemeClr val="tx1"/>
                </a:solidFill>
              </a:rPr>
            </a:br>
            <a:endParaRPr lang="en-US" dirty="0">
              <a:solidFill>
                <a:schemeClr val="tx1"/>
              </a:solidFill>
            </a:endParaRPr>
          </a:p>
        </p:txBody>
      </p:sp>
      <p:sp>
        <p:nvSpPr>
          <p:cNvPr id="6" name="Slide Number Placeholder 2">
            <a:extLst>
              <a:ext uri="{FF2B5EF4-FFF2-40B4-BE49-F238E27FC236}">
                <a16:creationId xmlns:a16="http://schemas.microsoft.com/office/drawing/2014/main" id="{348A4DB6-213A-EF35-FF18-1097643D6169}"/>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245724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descr="Internet Of Things outline">
            <a:extLst>
              <a:ext uri="{FF2B5EF4-FFF2-40B4-BE49-F238E27FC236}">
                <a16:creationId xmlns:a16="http://schemas.microsoft.com/office/drawing/2014/main" id="{14F7AD17-5F62-B820-D050-C56821BF0C93}"/>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1527" y="106045"/>
            <a:ext cx="685800" cy="685800"/>
          </a:xfrm>
          <a:prstGeom prst="rect">
            <a:avLst/>
          </a:prstGeom>
        </p:spPr>
      </p:pic>
      <p:graphicFrame>
        <p:nvGraphicFramePr>
          <p:cNvPr id="4" name="Table 4">
            <a:extLst>
              <a:ext uri="{FF2B5EF4-FFF2-40B4-BE49-F238E27FC236}">
                <a16:creationId xmlns:a16="http://schemas.microsoft.com/office/drawing/2014/main" id="{89D270C5-A08C-47F8-3DFF-659BE2F232FF}"/>
              </a:ext>
            </a:extLst>
          </p:cNvPr>
          <p:cNvGraphicFramePr>
            <a:graphicFrameLocks noGrp="1"/>
          </p:cNvGraphicFramePr>
          <p:nvPr/>
        </p:nvGraphicFramePr>
        <p:xfrm>
          <a:off x="243840" y="912900"/>
          <a:ext cx="11627525" cy="5059680"/>
        </p:xfrm>
        <a:graphic>
          <a:graphicData uri="http://schemas.openxmlformats.org/drawingml/2006/table">
            <a:tbl>
              <a:tblPr firstRow="1" bandRow="1">
                <a:tableStyleId>{5C22544A-7EE6-4342-B048-85BDC9FD1C3A}</a:tableStyleId>
              </a:tblPr>
              <a:tblGrid>
                <a:gridCol w="2543520">
                  <a:extLst>
                    <a:ext uri="{9D8B030D-6E8A-4147-A177-3AD203B41FA5}">
                      <a16:colId xmlns:a16="http://schemas.microsoft.com/office/drawing/2014/main" val="2080473561"/>
                    </a:ext>
                  </a:extLst>
                </a:gridCol>
                <a:gridCol w="9084005">
                  <a:extLst>
                    <a:ext uri="{9D8B030D-6E8A-4147-A177-3AD203B41FA5}">
                      <a16:colId xmlns:a16="http://schemas.microsoft.com/office/drawing/2014/main" val="1869368987"/>
                    </a:ext>
                  </a:extLst>
                </a:gridCol>
              </a:tblGrid>
              <a:tr h="1378832">
                <a:tc>
                  <a:txBody>
                    <a:bodyPr/>
                    <a:lstStyle/>
                    <a:p>
                      <a:r>
                        <a:rPr lang="en-US" sz="1600" b="1" strike="noStrike" dirty="0">
                          <a:solidFill>
                            <a:schemeClr val="tx1"/>
                          </a:solidFill>
                        </a:rPr>
                        <a:t>Initiative Background:</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kumimoji="0" lang="en-US" sz="1600" b="0" i="0" u="none" strike="noStrike" kern="1200" cap="none" spc="0" normalizeH="0" baseline="0" noProof="0" dirty="0">
                          <a:ln>
                            <a:noFill/>
                          </a:ln>
                          <a:solidFill>
                            <a:schemeClr val="tx1"/>
                          </a:solidFill>
                          <a:effectLst/>
                          <a:uLnTx/>
                          <a:uFillTx/>
                          <a:latin typeface="+mn-lt"/>
                          <a:ea typeface="+mn-ea"/>
                          <a:cs typeface="Calibri Light"/>
                        </a:rPr>
                        <a:t>VA has some of the most complex and comprehensive medical record data in the world.</a:t>
                      </a:r>
                      <a:r>
                        <a:rPr lang="en-US" sz="1600" b="0" i="0" u="none" strike="noStrike" kern="1200" cap="none" spc="0" normalizeH="0" baseline="0" noProof="0" dirty="0">
                          <a:ln>
                            <a:noFill/>
                          </a:ln>
                          <a:solidFill>
                            <a:schemeClr val="tx1"/>
                          </a:solidFill>
                          <a:effectLst/>
                          <a:uLnTx/>
                          <a:uFillTx/>
                          <a:latin typeface="+mn-lt"/>
                          <a:ea typeface="+mn-ea"/>
                          <a:cs typeface="Calibri Light"/>
                        </a:rPr>
                        <a:t> </a:t>
                      </a:r>
                      <a:r>
                        <a:rPr kumimoji="0" lang="en-US" sz="1600" b="0" i="0" u="none" strike="noStrike" kern="1200" cap="none" spc="0" normalizeH="0" baseline="0" noProof="0" dirty="0">
                          <a:ln>
                            <a:noFill/>
                          </a:ln>
                          <a:solidFill>
                            <a:schemeClr val="tx1"/>
                          </a:solidFill>
                          <a:effectLst/>
                          <a:uLnTx/>
                          <a:uFillTx/>
                          <a:latin typeface="+mn-lt"/>
                          <a:ea typeface="+mn-ea"/>
                          <a:cs typeface="Calibri Light"/>
                        </a:rPr>
                        <a:t> Research has a critical dependency on IT and data systems that are often funded through a separate appropriation.</a:t>
                      </a:r>
                      <a:r>
                        <a:rPr lang="en-US" sz="1600" b="0" i="0" u="none" strike="noStrike" kern="1200" cap="none" spc="0" normalizeH="0" baseline="0" noProof="0" dirty="0">
                          <a:ln>
                            <a:noFill/>
                          </a:ln>
                          <a:solidFill>
                            <a:schemeClr val="tx1"/>
                          </a:solidFill>
                          <a:effectLst/>
                          <a:uLnTx/>
                          <a:uFillTx/>
                          <a:latin typeface="+mn-lt"/>
                          <a:ea typeface="+mn-ea"/>
                          <a:cs typeface="Calibri Light"/>
                        </a:rPr>
                        <a:t> </a:t>
                      </a:r>
                      <a:r>
                        <a:rPr kumimoji="0" lang="en-US" sz="1600" b="0" i="0" u="none" strike="noStrike" kern="1200" cap="none" spc="0" normalizeH="0" baseline="0" noProof="0" dirty="0">
                          <a:ln>
                            <a:noFill/>
                          </a:ln>
                          <a:solidFill>
                            <a:schemeClr val="tx1"/>
                          </a:solidFill>
                          <a:effectLst/>
                          <a:uLnTx/>
                          <a:uFillTx/>
                          <a:latin typeface="+mn-lt"/>
                          <a:ea typeface="+mn-ea"/>
                          <a:cs typeface="Calibri Light"/>
                        </a:rPr>
                        <a:t> To accomplish particular projects or types of research, ORD and other groups have built specialized systems within these resource constraints.</a:t>
                      </a:r>
                      <a:r>
                        <a:rPr lang="en-US" sz="1600" b="0" i="0" u="none" strike="noStrike" kern="1200" cap="none" spc="0" normalizeH="0" baseline="0" noProof="0" dirty="0">
                          <a:ln>
                            <a:noFill/>
                          </a:ln>
                          <a:solidFill>
                            <a:schemeClr val="tx1"/>
                          </a:solidFill>
                          <a:effectLst/>
                          <a:uLnTx/>
                          <a:uFillTx/>
                          <a:latin typeface="+mn-lt"/>
                          <a:ea typeface="+mn-ea"/>
                          <a:cs typeface="Calibri Light"/>
                        </a:rPr>
                        <a:t> </a:t>
                      </a:r>
                      <a:r>
                        <a:rPr kumimoji="0" lang="en-US" sz="1600" b="0" i="0" u="none" strike="noStrike" kern="1200" cap="none" spc="0" normalizeH="0" baseline="0" noProof="0" dirty="0">
                          <a:ln>
                            <a:noFill/>
                          </a:ln>
                          <a:solidFill>
                            <a:schemeClr val="tx1"/>
                          </a:solidFill>
                          <a:effectLst/>
                          <a:uLnTx/>
                          <a:uFillTx/>
                          <a:latin typeface="+mn-lt"/>
                          <a:ea typeface="+mn-ea"/>
                          <a:cs typeface="Calibri Light"/>
                        </a:rPr>
                        <a:t> For the VA to maintain its position at the forefront of scientific discovery, strategy and oversight are needed to align resources, organize systems, and standardize processes supporting research.</a:t>
                      </a:r>
                      <a:r>
                        <a:rPr lang="en-US" sz="1600" b="0" i="0" u="none" strike="noStrike" kern="1200" cap="none" spc="0" normalizeH="0" baseline="0" noProof="0" dirty="0">
                          <a:ln>
                            <a:noFill/>
                          </a:ln>
                          <a:solidFill>
                            <a:schemeClr val="tx1"/>
                          </a:solidFill>
                          <a:effectLst/>
                          <a:uLnTx/>
                          <a:uFillTx/>
                          <a:latin typeface="+mn-lt"/>
                          <a:ea typeface="+mn-ea"/>
                          <a:cs typeface="Calibri Light"/>
                        </a:rPr>
                        <a:t> </a:t>
                      </a:r>
                      <a:r>
                        <a:rPr kumimoji="0" lang="en-US" sz="1600" b="0" i="0" u="none" strike="noStrike" kern="1200" cap="none" spc="0" normalizeH="0" baseline="0" noProof="0" dirty="0">
                          <a:ln>
                            <a:noFill/>
                          </a:ln>
                          <a:solidFill>
                            <a:schemeClr val="tx1"/>
                          </a:solidFill>
                          <a:effectLst/>
                          <a:uLnTx/>
                          <a:uFillTx/>
                          <a:latin typeface="+mn-lt"/>
                          <a:ea typeface="+mn-ea"/>
                          <a:cs typeface="Calibri Light"/>
                        </a:rPr>
                        <a:t> The initiative will establish a centralized system of systems to increase capabilities and resources for researchers to efficiently and effectively conduct research to meet the needs of Veterans.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3835389272"/>
                  </a:ext>
                </a:extLst>
              </a:tr>
              <a:tr h="370840">
                <a:tc>
                  <a:txBody>
                    <a:bodyPr/>
                    <a:lstStyle/>
                    <a:p>
                      <a:r>
                        <a:rPr lang="en-US" sz="1600" b="1" strike="noStrike" dirty="0">
                          <a:solidFill>
                            <a:schemeClr val="tx1"/>
                          </a:solidFill>
                        </a:rPr>
                        <a:t>Goals and Objectives :</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pPr marL="0" marR="0" lvl="0" indent="0" algn="l">
                        <a:lnSpc>
                          <a:spcPct val="100000"/>
                        </a:lnSpc>
                        <a:spcBef>
                          <a:spcPts val="0"/>
                        </a:spcBef>
                        <a:spcAft>
                          <a:spcPts val="0"/>
                        </a:spcAft>
                        <a:buNone/>
                      </a:pPr>
                      <a:r>
                        <a:rPr lang="en-US" sz="1600" b="0" i="0" u="none" strike="noStrike" noProof="0" dirty="0"/>
                        <a:t>ORD has governance over a modernized, secure, collaborative system-of-systems with associated processes that increase capability and access for ORD staff and researchers to efficiently conduct and support research.</a:t>
                      </a:r>
                      <a:r>
                        <a:rPr lang="en-US" sz="1600" b="0" dirty="0">
                          <a:latin typeface="+mn-lt"/>
                          <a:cs typeface="Calibri Light"/>
                        </a:rPr>
                        <a:t> </a:t>
                      </a:r>
                      <a:endParaRPr lang="en-US" sz="1600" b="0" i="0" u="none" strike="noStrike" kern="1200" cap="none" spc="0" normalizeH="0" baseline="0" noProof="0" dirty="0">
                        <a:ln>
                          <a:noFill/>
                        </a:ln>
                        <a:solidFill>
                          <a:srgbClr val="000000"/>
                        </a:solidFill>
                        <a:effectLst/>
                        <a:uLnTx/>
                        <a:uFillTx/>
                        <a:latin typeface="+mn-lt"/>
                        <a:ea typeface="+mn-ea"/>
                        <a:cs typeface="+mn-cs"/>
                      </a:endParaRPr>
                    </a:p>
                    <a:p>
                      <a:pPr marL="0" marR="0" lvl="0" indent="0" algn="l">
                        <a:lnSpc>
                          <a:spcPct val="100000"/>
                        </a:lnSpc>
                        <a:spcBef>
                          <a:spcPts val="0"/>
                        </a:spcBef>
                        <a:spcAft>
                          <a:spcPts val="0"/>
                        </a:spcAft>
                        <a:buNone/>
                      </a:pPr>
                      <a:endParaRPr lang="en-US" sz="1600" b="0" i="0" u="none" strike="noStrike" kern="1200" cap="none" spc="0" normalizeH="0" baseline="0" noProof="0" dirty="0">
                        <a:ln>
                          <a:noFill/>
                        </a:ln>
                        <a:solidFill>
                          <a:srgbClr val="000000"/>
                        </a:solidFill>
                        <a:effectLst/>
                        <a:uLnTx/>
                        <a:uFillTx/>
                        <a:latin typeface="+mn-lt"/>
                        <a:ea typeface="+mn-ea"/>
                        <a:cs typeface="+mn-cs"/>
                      </a:endParaRPr>
                    </a:p>
                    <a:p>
                      <a:pPr marL="228600" marR="0" lvl="0" indent="-228600" algn="l">
                        <a:lnSpc>
                          <a:spcPct val="100000"/>
                        </a:lnSpc>
                        <a:spcBef>
                          <a:spcPts val="0"/>
                        </a:spcBef>
                        <a:spcAft>
                          <a:spcPts val="0"/>
                        </a:spcAft>
                        <a:buAutoNum type="arabicPeriod"/>
                        <a:tabLst/>
                      </a:pPr>
                      <a:r>
                        <a:rPr lang="en-US" sz="1600" b="0" i="0" u="none" strike="noStrike" kern="1200" cap="none" spc="0" normalizeH="0" baseline="0" noProof="0" dirty="0">
                          <a:ln>
                            <a:noFill/>
                          </a:ln>
                          <a:effectLst/>
                          <a:uLnTx/>
                          <a:uFillTx/>
                        </a:rPr>
                        <a:t>ORD will </a:t>
                      </a:r>
                      <a:r>
                        <a:rPr kumimoji="0" lang="en-US" sz="1600" b="0" i="0" u="none" strike="noStrike" kern="1200" cap="none" spc="0" normalizeH="0" baseline="0" noProof="0" dirty="0">
                          <a:ln>
                            <a:noFill/>
                          </a:ln>
                          <a:solidFill>
                            <a:srgbClr val="000000"/>
                          </a:solidFill>
                          <a:effectLst/>
                          <a:uLnTx/>
                          <a:uFillTx/>
                          <a:latin typeface="+mn-lt"/>
                          <a:ea typeface="+mn-ea"/>
                          <a:cs typeface="+mn-cs"/>
                        </a:rPr>
                        <a:t>develop and implement a strategic plan to organize the systems and their components across the research enterprise, which aligns with current and forecasted resources, policies, and ORD’s strategic priorities.</a:t>
                      </a:r>
                    </a:p>
                    <a:p>
                      <a:pPr marL="228600" marR="0" lvl="0" indent="-228600" algn="l">
                        <a:lnSpc>
                          <a:spcPct val="100000"/>
                        </a:lnSpc>
                        <a:spcBef>
                          <a:spcPts val="0"/>
                        </a:spcBef>
                        <a:spcAft>
                          <a:spcPts val="0"/>
                        </a:spcAft>
                        <a:buAutoNum type="arabicPeriod"/>
                        <a:tabLst/>
                      </a:pPr>
                      <a:r>
                        <a:rPr lang="en-US" sz="1600" b="0" i="0" u="none" strike="noStrike" kern="1200" cap="none" spc="0" normalizeH="0" baseline="0" noProof="0" dirty="0">
                          <a:ln>
                            <a:noFill/>
                          </a:ln>
                          <a:effectLst/>
                          <a:uLnTx/>
                          <a:uFillTx/>
                        </a:rPr>
                        <a:t>ORD will </a:t>
                      </a:r>
                      <a:r>
                        <a:rPr kumimoji="0" lang="en-US" sz="1600" b="0" i="0" u="none" strike="noStrike" kern="1200" cap="none" spc="0" normalizeH="0" baseline="0" noProof="0" dirty="0">
                          <a:ln>
                            <a:noFill/>
                          </a:ln>
                          <a:solidFill>
                            <a:srgbClr val="000000"/>
                          </a:solidFill>
                          <a:effectLst/>
                          <a:uLnTx/>
                          <a:uFillTx/>
                          <a:latin typeface="+mn-lt"/>
                          <a:ea typeface="+mn-ea"/>
                          <a:cs typeface="+mn-cs"/>
                        </a:rPr>
                        <a:t>establish Standard Operating Procedures (SOP) to support current policies and systems for both IT and Data, that ensure services and products are delivered consistently every time across the research enterprise.</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600" b="0" i="0" u="none" strike="noStrike" kern="1200" cap="none" spc="0" normalizeH="0" baseline="0" noProof="0" dirty="0">
                          <a:ln>
                            <a:noFill/>
                          </a:ln>
                          <a:effectLst/>
                          <a:uLnTx/>
                          <a:uFillTx/>
                        </a:rPr>
                        <a:t>ORD will establish IT </a:t>
                      </a:r>
                      <a:r>
                        <a:rPr kumimoji="0" lang="en-US" sz="1600" b="0" i="0" u="none" strike="noStrike" kern="1200" cap="none" spc="0" normalizeH="0" baseline="0" noProof="0" dirty="0">
                          <a:ln>
                            <a:noFill/>
                          </a:ln>
                          <a:effectLst/>
                          <a:uLnTx/>
                          <a:uFillTx/>
                        </a:rPr>
                        <a:t>and </a:t>
                      </a:r>
                      <a:r>
                        <a:rPr lang="en-US" sz="1600" b="0" i="0" u="none" strike="noStrike" kern="1200" cap="none" spc="0" normalizeH="0" baseline="0" noProof="0" dirty="0">
                          <a:ln>
                            <a:noFill/>
                          </a:ln>
                          <a:effectLst/>
                          <a:uLnTx/>
                          <a:uFillTx/>
                        </a:rPr>
                        <a:t>Data Governance to provide policy, </a:t>
                      </a:r>
                      <a:r>
                        <a:rPr kumimoji="0" lang="en-US" sz="1600" b="0" i="0" u="none" strike="noStrike" kern="1200" cap="none" spc="0" normalizeH="0" baseline="0" noProof="0" dirty="0">
                          <a:ln>
                            <a:noFill/>
                          </a:ln>
                          <a:effectLst/>
                          <a:uLnTx/>
                          <a:uFillTx/>
                        </a:rPr>
                        <a:t>strategy</a:t>
                      </a:r>
                      <a:r>
                        <a:rPr lang="en-US" sz="1600" b="0" i="0" u="none" strike="noStrike" kern="1200" cap="none" spc="0" normalizeH="0" baseline="0" noProof="0" dirty="0">
                          <a:ln>
                            <a:noFill/>
                          </a:ln>
                          <a:effectLst/>
                          <a:uLnTx/>
                          <a:uFillTx/>
                        </a:rPr>
                        <a:t>, best practices, coordination, </a:t>
                      </a:r>
                      <a:br>
                        <a:rPr lang="en-US" sz="1600" b="0" i="0" u="none" strike="noStrike" kern="1200" cap="none" spc="0" normalizeH="0" baseline="0" noProof="0" dirty="0">
                          <a:ln>
                            <a:noFill/>
                          </a:ln>
                          <a:effectLst/>
                          <a:uLnTx/>
                          <a:uFillTx/>
                        </a:rPr>
                      </a:br>
                      <a:r>
                        <a:rPr lang="en-US" sz="1600" b="0" i="0" u="none" strike="noStrike" kern="1200" cap="none" spc="0" normalizeH="0" baseline="0" noProof="0" dirty="0">
                          <a:ln>
                            <a:noFill/>
                          </a:ln>
                          <a:effectLst/>
                          <a:uLnTx/>
                          <a:uFillTx/>
                        </a:rPr>
                        <a:t>and standards aligned with the VA </a:t>
                      </a:r>
                      <a:r>
                        <a:rPr kumimoji="0" lang="en-US" sz="1600" b="0" i="0" u="none" strike="noStrike" kern="1200" cap="none" spc="0" normalizeH="0" baseline="0" noProof="0" dirty="0">
                          <a:ln>
                            <a:noFill/>
                          </a:ln>
                          <a:effectLst/>
                          <a:uLnTx/>
                          <a:uFillTx/>
                        </a:rPr>
                        <a:t>and </a:t>
                      </a:r>
                      <a:r>
                        <a:rPr lang="en-US" sz="1600" b="0" i="0" u="none" strike="noStrike" kern="1200" cap="none" spc="0" normalizeH="0" baseline="0" noProof="0" dirty="0">
                          <a:ln>
                            <a:noFill/>
                          </a:ln>
                          <a:effectLst/>
                          <a:uLnTx/>
                          <a:uFillTx/>
                        </a:rPr>
                        <a:t>VHA Data Management Strategy.</a:t>
                      </a:r>
                    </a:p>
                    <a:p>
                      <a:pPr marL="0" marR="0" lvl="0" indent="0" algn="l">
                        <a:lnSpc>
                          <a:spcPct val="100000"/>
                        </a:lnSpc>
                        <a:spcBef>
                          <a:spcPts val="0"/>
                        </a:spcBef>
                        <a:spcAft>
                          <a:spcPts val="0"/>
                        </a:spcAft>
                        <a:buNone/>
                        <a:tabLst/>
                      </a:pPr>
                      <a:endParaRPr kumimoji="0" lang="en-US" sz="1600" b="0" i="0" u="none" strike="noStrike" kern="1200" cap="none" spc="0" normalizeH="0" baseline="0" noProof="0" dirty="0">
                        <a:ln>
                          <a:noFill/>
                        </a:ln>
                        <a:solidFill>
                          <a:srgbClr val="000000"/>
                        </a:solidFill>
                        <a:effectLst/>
                        <a:uLnTx/>
                        <a:uFillTx/>
                        <a:latin typeface="+mn-lt"/>
                        <a:ea typeface="+mn-ea"/>
                        <a:cs typeface="+mn-cs"/>
                      </a:endParaRP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2389873790"/>
                  </a:ext>
                </a:extLst>
              </a:tr>
            </a:tbl>
          </a:graphicData>
        </a:graphic>
      </p:graphicFrame>
      <p:sp>
        <p:nvSpPr>
          <p:cNvPr id="13" name="Title 1">
            <a:extLst>
              <a:ext uri="{FF2B5EF4-FFF2-40B4-BE49-F238E27FC236}">
                <a16:creationId xmlns:a16="http://schemas.microsoft.com/office/drawing/2014/main" id="{2D24CA2F-9675-E687-2802-67F560F334E4}"/>
              </a:ext>
            </a:extLst>
          </p:cNvPr>
          <p:cNvSpPr>
            <a:spLocks noGrp="1"/>
          </p:cNvSpPr>
          <p:nvPr>
            <p:ph type="title"/>
          </p:nvPr>
        </p:nvSpPr>
        <p:spPr>
          <a:xfrm>
            <a:off x="1011627" y="108834"/>
            <a:ext cx="10515600" cy="680223"/>
          </a:xfrm>
        </p:spPr>
        <p:txBody>
          <a:bodyPr/>
          <a:lstStyle/>
          <a:p>
            <a:r>
              <a:rPr lang="en-US" sz="2400"/>
              <a:t>IT &amp; Data Governance: Objectives</a:t>
            </a:r>
          </a:p>
        </p:txBody>
      </p:sp>
      <p:sp>
        <p:nvSpPr>
          <p:cNvPr id="5" name="Slide Number Placeholder 2">
            <a:extLst>
              <a:ext uri="{FF2B5EF4-FFF2-40B4-BE49-F238E27FC236}">
                <a16:creationId xmlns:a16="http://schemas.microsoft.com/office/drawing/2014/main" id="{3791F6B8-5909-CF58-4BB8-6409C692D560}"/>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903643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89D270C5-A08C-47F8-3DFF-659BE2F232FF}"/>
              </a:ext>
            </a:extLst>
          </p:cNvPr>
          <p:cNvGraphicFramePr>
            <a:graphicFrameLocks noGrp="1"/>
          </p:cNvGraphicFramePr>
          <p:nvPr/>
        </p:nvGraphicFramePr>
        <p:xfrm>
          <a:off x="64121" y="896716"/>
          <a:ext cx="11912230" cy="4396266"/>
        </p:xfrm>
        <a:graphic>
          <a:graphicData uri="http://schemas.openxmlformats.org/drawingml/2006/table">
            <a:tbl>
              <a:tblPr firstRow="1" bandRow="1">
                <a:tableStyleId>{5C22544A-7EE6-4342-B048-85BDC9FD1C3A}</a:tableStyleId>
              </a:tblPr>
              <a:tblGrid>
                <a:gridCol w="2576876">
                  <a:extLst>
                    <a:ext uri="{9D8B030D-6E8A-4147-A177-3AD203B41FA5}">
                      <a16:colId xmlns:a16="http://schemas.microsoft.com/office/drawing/2014/main" val="2080473561"/>
                    </a:ext>
                  </a:extLst>
                </a:gridCol>
                <a:gridCol w="9335354">
                  <a:extLst>
                    <a:ext uri="{9D8B030D-6E8A-4147-A177-3AD203B41FA5}">
                      <a16:colId xmlns:a16="http://schemas.microsoft.com/office/drawing/2014/main" val="1869368987"/>
                    </a:ext>
                  </a:extLst>
                </a:gridCol>
              </a:tblGrid>
              <a:tr h="757717">
                <a:tc>
                  <a:txBody>
                    <a:bodyPr/>
                    <a:lstStyle/>
                    <a:p>
                      <a:r>
                        <a:rPr lang="en-US" sz="1600" b="1" strike="noStrike" dirty="0">
                          <a:solidFill>
                            <a:schemeClr val="tx1"/>
                          </a:solidFill>
                        </a:rPr>
                        <a:t>Outputs Delivered:</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pPr marL="234950" indent="-234950">
                        <a:buFont typeface="Arial" panose="020B0604020202020204" pitchFamily="34" charset="0"/>
                        <a:buChar char="•"/>
                        <a:tabLst/>
                      </a:pPr>
                      <a:r>
                        <a:rPr lang="en-US" sz="1600" b="0" i="0" strike="noStrike" dirty="0">
                          <a:solidFill>
                            <a:schemeClr val="tx1"/>
                          </a:solidFill>
                        </a:rPr>
                        <a:t>Initial assessment of IT resources (interviews of system owners and system SMEs).</a:t>
                      </a:r>
                    </a:p>
                    <a:p>
                      <a:pPr marL="234950" indent="-234950">
                        <a:buFont typeface="Arial" panose="020B0604020202020204" pitchFamily="34" charset="0"/>
                        <a:buChar char="•"/>
                        <a:tabLst/>
                      </a:pPr>
                      <a:r>
                        <a:rPr lang="en-US" sz="1600" b="0" i="0" strike="noStrike" dirty="0">
                          <a:solidFill>
                            <a:schemeClr val="tx1"/>
                          </a:solidFill>
                        </a:rPr>
                        <a:t>Selected set of system resource maps.</a:t>
                      </a:r>
                    </a:p>
                    <a:p>
                      <a:pPr marL="234950" indent="-234950">
                        <a:buFont typeface="Arial" panose="020B0604020202020204" pitchFamily="34" charset="0"/>
                        <a:buChar char="•"/>
                        <a:tabLst/>
                      </a:pPr>
                      <a:r>
                        <a:rPr lang="en-US" sz="1600" b="0" i="0" strike="noStrike" dirty="0">
                          <a:solidFill>
                            <a:schemeClr val="tx1"/>
                          </a:solidFill>
                        </a:rPr>
                        <a:t>Established a System Owner Committee (SOC) to share information and lay groundwork for governance through the development of business requirements.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3835389272"/>
                  </a:ext>
                </a:extLst>
              </a:tr>
              <a:tr h="7577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strike="noStrike" dirty="0">
                          <a:solidFill>
                            <a:schemeClr val="tx1"/>
                          </a:solidFill>
                        </a:rPr>
                        <a:t>Outputs Rescheduled:</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pPr marL="228600" marR="0" lvl="0" indent="-228600" algn="l">
                        <a:lnSpc>
                          <a:spcPct val="100000"/>
                        </a:lnSpc>
                        <a:spcBef>
                          <a:spcPts val="0"/>
                        </a:spcBef>
                        <a:spcAft>
                          <a:spcPts val="0"/>
                        </a:spcAft>
                        <a:buAutoNum type="arabicPeriod"/>
                        <a:tabLst/>
                      </a:pPr>
                      <a:r>
                        <a:rPr lang="en-US" sz="1600" b="0" i="0" u="none" strike="noStrike" kern="1200" cap="none" spc="0" normalizeH="0" baseline="0" noProof="0" dirty="0">
                          <a:ln>
                            <a:noFill/>
                          </a:ln>
                          <a:effectLst/>
                          <a:uLnTx/>
                          <a:uFillTx/>
                        </a:rPr>
                        <a:t>D</a:t>
                      </a:r>
                      <a:r>
                        <a:rPr kumimoji="0" lang="en-US" sz="1600" b="0" i="0" u="none" strike="noStrike" kern="1200" cap="none" spc="0" normalizeH="0" baseline="0" noProof="0" dirty="0">
                          <a:ln>
                            <a:noFill/>
                          </a:ln>
                          <a:solidFill>
                            <a:srgbClr val="000000"/>
                          </a:solidFill>
                          <a:effectLst/>
                          <a:uLnTx/>
                          <a:uFillTx/>
                          <a:latin typeface="+mn-lt"/>
                          <a:ea typeface="+mn-ea"/>
                          <a:cs typeface="+mn-cs"/>
                        </a:rPr>
                        <a:t>evelop and implement a strategic plan to organize the systems and their components across the research enterprise, which aligns with current and forecasted resources, policies, and ORD’s strategic priorities.</a:t>
                      </a:r>
                    </a:p>
                    <a:p>
                      <a:pPr marL="228600" marR="0" lvl="0" indent="-228600" algn="l">
                        <a:lnSpc>
                          <a:spcPct val="100000"/>
                        </a:lnSpc>
                        <a:spcBef>
                          <a:spcPts val="0"/>
                        </a:spcBef>
                        <a:spcAft>
                          <a:spcPts val="0"/>
                        </a:spcAft>
                        <a:buAutoNum type="arabicPeriod"/>
                        <a:tabLst/>
                      </a:pPr>
                      <a:r>
                        <a:rPr lang="en-US" sz="1600" b="0" i="0" u="none" strike="noStrike" kern="1200" cap="none" spc="0" normalizeH="0" baseline="0" noProof="0" dirty="0">
                          <a:ln>
                            <a:noFill/>
                          </a:ln>
                          <a:effectLst/>
                          <a:uLnTx/>
                          <a:uFillTx/>
                        </a:rPr>
                        <a:t>Establish </a:t>
                      </a:r>
                      <a:r>
                        <a:rPr kumimoji="0" lang="en-US" sz="1600" b="0" i="0" u="none" strike="noStrike" kern="1200" cap="none" spc="0" normalizeH="0" baseline="0" noProof="0" dirty="0">
                          <a:ln>
                            <a:noFill/>
                          </a:ln>
                          <a:solidFill>
                            <a:srgbClr val="000000"/>
                          </a:solidFill>
                          <a:effectLst/>
                          <a:uLnTx/>
                          <a:uFillTx/>
                          <a:latin typeface="+mn-lt"/>
                          <a:ea typeface="+mn-ea"/>
                          <a:cs typeface="+mn-cs"/>
                        </a:rPr>
                        <a:t>Standard Operating Procedures (SOP) to support current policies and systems for both IT and Data, that ensure services and products are delivered consistently every time across the research enterprise.</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600" b="0" i="0" u="none" strike="noStrike" kern="1200" cap="none" spc="0" normalizeH="0" baseline="0" noProof="0" dirty="0">
                          <a:ln>
                            <a:noFill/>
                          </a:ln>
                          <a:effectLst/>
                          <a:uLnTx/>
                          <a:uFillTx/>
                        </a:rPr>
                        <a:t>Establish IT </a:t>
                      </a:r>
                      <a:r>
                        <a:rPr kumimoji="0" lang="en-US" sz="1600" b="0" i="0" u="none" strike="noStrike" kern="1200" cap="none" spc="0" normalizeH="0" baseline="0" noProof="0" dirty="0">
                          <a:ln>
                            <a:noFill/>
                          </a:ln>
                          <a:effectLst/>
                          <a:uLnTx/>
                          <a:uFillTx/>
                        </a:rPr>
                        <a:t>and </a:t>
                      </a:r>
                      <a:r>
                        <a:rPr lang="en-US" sz="1600" b="0" i="0" u="none" strike="noStrike" kern="1200" cap="none" spc="0" normalizeH="0" baseline="0" noProof="0" dirty="0">
                          <a:ln>
                            <a:noFill/>
                          </a:ln>
                          <a:effectLst/>
                          <a:uLnTx/>
                          <a:uFillTx/>
                        </a:rPr>
                        <a:t>Data Governance to provide policy, </a:t>
                      </a:r>
                      <a:r>
                        <a:rPr kumimoji="0" lang="en-US" sz="1600" b="0" i="0" u="none" strike="noStrike" kern="1200" cap="none" spc="0" normalizeH="0" baseline="0" noProof="0" dirty="0">
                          <a:ln>
                            <a:noFill/>
                          </a:ln>
                          <a:effectLst/>
                          <a:uLnTx/>
                          <a:uFillTx/>
                        </a:rPr>
                        <a:t>strategy</a:t>
                      </a:r>
                      <a:r>
                        <a:rPr lang="en-US" sz="1600" b="0" i="0" u="none" strike="noStrike" kern="1200" cap="none" spc="0" normalizeH="0" baseline="0" noProof="0" dirty="0">
                          <a:ln>
                            <a:noFill/>
                          </a:ln>
                          <a:effectLst/>
                          <a:uLnTx/>
                          <a:uFillTx/>
                        </a:rPr>
                        <a:t>, best practices, coordination, </a:t>
                      </a:r>
                      <a:br>
                        <a:rPr lang="en-US" sz="1600" b="0" i="0" u="none" strike="noStrike" kern="1200" cap="none" spc="0" normalizeH="0" baseline="0" noProof="0" dirty="0">
                          <a:ln>
                            <a:noFill/>
                          </a:ln>
                          <a:effectLst/>
                          <a:uLnTx/>
                          <a:uFillTx/>
                        </a:rPr>
                      </a:br>
                      <a:r>
                        <a:rPr lang="en-US" sz="1600" b="0" i="0" u="none" strike="noStrike" kern="1200" cap="none" spc="0" normalizeH="0" baseline="0" noProof="0" dirty="0">
                          <a:ln>
                            <a:noFill/>
                          </a:ln>
                          <a:effectLst/>
                          <a:uLnTx/>
                          <a:uFillTx/>
                        </a:rPr>
                        <a:t>and standards aligned with the VA </a:t>
                      </a:r>
                      <a:r>
                        <a:rPr kumimoji="0" lang="en-US" sz="1600" b="0" i="0" u="none" strike="noStrike" kern="1200" cap="none" spc="0" normalizeH="0" baseline="0" noProof="0" dirty="0">
                          <a:ln>
                            <a:noFill/>
                          </a:ln>
                          <a:effectLst/>
                          <a:uLnTx/>
                          <a:uFillTx/>
                        </a:rPr>
                        <a:t>and </a:t>
                      </a:r>
                      <a:r>
                        <a:rPr lang="en-US" sz="1600" b="0" i="0" u="none" strike="noStrike" kern="1200" cap="none" spc="0" normalizeH="0" baseline="0" noProof="0" dirty="0">
                          <a:ln>
                            <a:noFill/>
                          </a:ln>
                          <a:effectLst/>
                          <a:uLnTx/>
                          <a:uFillTx/>
                        </a:rPr>
                        <a:t>VHA Data Management Strategy.</a:t>
                      </a:r>
                      <a:endParaRPr lang="en-US" sz="1600" i="0" strike="noStrike" dirty="0">
                        <a:solidFill>
                          <a:schemeClr val="tx1"/>
                        </a:solidFill>
                      </a:endParaRP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2389873790"/>
                  </a:ext>
                </a:extLst>
              </a:tr>
              <a:tr h="616746">
                <a:tc>
                  <a:txBody>
                    <a:bodyPr/>
                    <a:lstStyle/>
                    <a:p>
                      <a:r>
                        <a:rPr lang="en-US" sz="1600" b="1" dirty="0">
                          <a:solidFill>
                            <a:schemeClr val="tx1"/>
                          </a:solidFill>
                        </a:rPr>
                        <a:t>Lessons Learned:</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pPr marL="234950" marR="0" lvl="0" indent="-234950" algn="l">
                        <a:lnSpc>
                          <a:spcPct val="100000"/>
                        </a:lnSpc>
                        <a:spcBef>
                          <a:spcPts val="0"/>
                        </a:spcBef>
                        <a:spcAft>
                          <a:spcPts val="0"/>
                        </a:spcAft>
                        <a:buClr>
                          <a:srgbClr val="000000"/>
                        </a:buClr>
                        <a:buAutoNum type="arabicPeriod"/>
                      </a:pPr>
                      <a:r>
                        <a:rPr lang="en-US" sz="1600" b="0" i="0" u="none" strike="noStrike" noProof="0" dirty="0">
                          <a:solidFill>
                            <a:schemeClr val="tx1"/>
                          </a:solidFill>
                          <a:latin typeface="Calibri"/>
                        </a:rPr>
                        <a:t>Stakeholders' willingness and time allocated to contribute to this initiative </a:t>
                      </a:r>
                      <a:r>
                        <a:rPr lang="en-US" sz="1600" b="0" i="0" u="none" strike="noStrike" noProof="0" dirty="0"/>
                        <a:t>presumably </a:t>
                      </a:r>
                      <a:r>
                        <a:rPr lang="en-US" sz="1600" b="0" i="0" u="none" strike="noStrike" noProof="0" dirty="0">
                          <a:solidFill>
                            <a:schemeClr val="tx1"/>
                          </a:solidFill>
                          <a:latin typeface="Calibri"/>
                        </a:rPr>
                        <a:t>connected to incentive structure based on position, interests, and perceived impact to their research.</a:t>
                      </a:r>
                      <a:endParaRPr lang="en-US" sz="1600" b="0" i="0" u="none" strike="noStrike" noProof="0" dirty="0">
                        <a:solidFill>
                          <a:schemeClr val="tx1"/>
                        </a:solidFill>
                      </a:endParaRPr>
                    </a:p>
                    <a:p>
                      <a:pPr marL="234950" marR="0" lvl="0" indent="-234950" algn="l">
                        <a:lnSpc>
                          <a:spcPct val="100000"/>
                        </a:lnSpc>
                        <a:spcBef>
                          <a:spcPts val="0"/>
                        </a:spcBef>
                        <a:spcAft>
                          <a:spcPts val="0"/>
                        </a:spcAft>
                        <a:buClr>
                          <a:srgbClr val="000000"/>
                        </a:buClr>
                        <a:buAutoNum type="arabicPeriod"/>
                      </a:pPr>
                      <a:r>
                        <a:rPr lang="en-US" sz="1600" b="0" i="0" u="none" strike="noStrike" noProof="0" dirty="0">
                          <a:solidFill>
                            <a:schemeClr val="tx1"/>
                          </a:solidFill>
                          <a:latin typeface="Calibri"/>
                        </a:rPr>
                        <a:t>Nature of ORD's IT and data is even more extensive, decentralized, and difficult to reveal than anticipated.  </a:t>
                      </a:r>
                      <a:endParaRPr lang="en-US" sz="1600" b="0" i="0" u="none" strike="noStrike" noProof="0" dirty="0">
                        <a:solidFill>
                          <a:schemeClr val="tx1"/>
                        </a:solidFill>
                      </a:endParaRP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2668848712"/>
                  </a:ext>
                </a:extLst>
              </a:tr>
              <a:tr h="334805">
                <a:tc>
                  <a:txBody>
                    <a:bodyPr/>
                    <a:lstStyle/>
                    <a:p>
                      <a:r>
                        <a:rPr lang="en-US" sz="1600" b="1" u="sng" dirty="0">
                          <a:solidFill>
                            <a:schemeClr val="tx1"/>
                          </a:solidFill>
                        </a:rPr>
                        <a:t>Current</a:t>
                      </a:r>
                      <a:r>
                        <a:rPr lang="en-US" sz="1600" b="1" dirty="0">
                          <a:solidFill>
                            <a:schemeClr val="tx1"/>
                          </a:solidFill>
                        </a:rPr>
                        <a:t> Roadblocks: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pPr marL="234950" marR="0" lvl="0" indent="-234950" algn="l">
                        <a:lnSpc>
                          <a:spcPct val="100000"/>
                        </a:lnSpc>
                        <a:spcBef>
                          <a:spcPts val="0"/>
                        </a:spcBef>
                        <a:spcAft>
                          <a:spcPts val="0"/>
                        </a:spcAft>
                        <a:buFont typeface="+mj-lt"/>
                        <a:buAutoNum type="arabicPeriod"/>
                        <a:tabLst/>
                      </a:pPr>
                      <a:r>
                        <a:rPr lang="en-US" sz="1600" i="0" dirty="0">
                          <a:solidFill>
                            <a:schemeClr val="tx1"/>
                          </a:solidFill>
                        </a:rPr>
                        <a:t>Personnel shortages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3999873908"/>
                  </a:ext>
                </a:extLst>
              </a:tr>
              <a:tr h="616746">
                <a:tc>
                  <a:txBody>
                    <a:bodyPr/>
                    <a:lstStyle/>
                    <a:p>
                      <a:r>
                        <a:rPr lang="en-US" sz="1600" b="1" dirty="0">
                          <a:solidFill>
                            <a:schemeClr val="tx1"/>
                          </a:solidFill>
                        </a:rPr>
                        <a:t>Mitigation Strategies: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pPr marL="234950" lvl="0" indent="-234950">
                        <a:buFont typeface="+mj-lt"/>
                        <a:buAutoNum type="arabicPeriod"/>
                      </a:pPr>
                      <a:r>
                        <a:rPr lang="en-US" sz="1600" b="0" i="0" u="none" strike="noStrike" noProof="0" dirty="0">
                          <a:solidFill>
                            <a:schemeClr val="tx1"/>
                          </a:solidFill>
                          <a:latin typeface="Calibri"/>
                        </a:rPr>
                        <a:t>Leverage Rios team to a</a:t>
                      </a:r>
                      <a:r>
                        <a:rPr lang="en-US" sz="1600" b="0" i="0" u="none" strike="noStrike" noProof="0" dirty="0">
                          <a:solidFill>
                            <a:schemeClr val="tx1"/>
                          </a:solidFill>
                        </a:rPr>
                        <a:t>pply lessons learned from initial inventory </a:t>
                      </a:r>
                      <a:r>
                        <a:rPr lang="en-US" sz="1600" b="0" i="0" u="none" strike="noStrike" noProof="0" dirty="0">
                          <a:solidFill>
                            <a:schemeClr val="tx1"/>
                          </a:solidFill>
                          <a:latin typeface="Calibri"/>
                        </a:rPr>
                        <a:t>to complete the inventory work. </a:t>
                      </a:r>
                    </a:p>
                    <a:p>
                      <a:pPr marL="234950" lvl="0" indent="-234950">
                        <a:buFont typeface="+mj-lt"/>
                        <a:buAutoNum type="arabicPeriod"/>
                      </a:pPr>
                      <a:r>
                        <a:rPr lang="en-US" sz="1600" b="0" i="0" u="none" strike="noStrike" noProof="0" dirty="0">
                          <a:solidFill>
                            <a:schemeClr val="tx1"/>
                          </a:solidFill>
                          <a:latin typeface="Calibri"/>
                        </a:rPr>
                        <a:t>Focus on the deliverables.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1463779455"/>
                  </a:ext>
                </a:extLst>
              </a:tr>
            </a:tbl>
          </a:graphicData>
        </a:graphic>
      </p:graphicFrame>
      <p:sp>
        <p:nvSpPr>
          <p:cNvPr id="13" name="Title 1">
            <a:extLst>
              <a:ext uri="{FF2B5EF4-FFF2-40B4-BE49-F238E27FC236}">
                <a16:creationId xmlns:a16="http://schemas.microsoft.com/office/drawing/2014/main" id="{2D24CA2F-9675-E687-2802-67F560F334E4}"/>
              </a:ext>
            </a:extLst>
          </p:cNvPr>
          <p:cNvSpPr>
            <a:spLocks noGrp="1"/>
          </p:cNvSpPr>
          <p:nvPr>
            <p:ph type="title"/>
          </p:nvPr>
        </p:nvSpPr>
        <p:spPr>
          <a:xfrm>
            <a:off x="1011627" y="108834"/>
            <a:ext cx="10515600" cy="680223"/>
          </a:xfrm>
        </p:spPr>
        <p:txBody>
          <a:bodyPr/>
          <a:lstStyle/>
          <a:p>
            <a:r>
              <a:rPr lang="en-US" sz="2400"/>
              <a:t>IT &amp; Data Governance: Delivery Status</a:t>
            </a:r>
          </a:p>
        </p:txBody>
      </p:sp>
      <p:pic>
        <p:nvPicPr>
          <p:cNvPr id="6" name="Graphic 5" descr="Internet Of Things outline">
            <a:extLst>
              <a:ext uri="{FF2B5EF4-FFF2-40B4-BE49-F238E27FC236}">
                <a16:creationId xmlns:a16="http://schemas.microsoft.com/office/drawing/2014/main" id="{D0A43E07-AA8A-0439-2041-848B9DFB6881}"/>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1527" y="106045"/>
            <a:ext cx="685800" cy="685800"/>
          </a:xfrm>
          <a:prstGeom prst="rect">
            <a:avLst/>
          </a:prstGeom>
        </p:spPr>
      </p:pic>
      <p:sp>
        <p:nvSpPr>
          <p:cNvPr id="5" name="Slide Number Placeholder 2">
            <a:extLst>
              <a:ext uri="{FF2B5EF4-FFF2-40B4-BE49-F238E27FC236}">
                <a16:creationId xmlns:a16="http://schemas.microsoft.com/office/drawing/2014/main" id="{ABC787A6-0683-9B24-9A04-96F563DB257D}"/>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664520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89D270C5-A08C-47F8-3DFF-659BE2F232FF}"/>
              </a:ext>
            </a:extLst>
          </p:cNvPr>
          <p:cNvGraphicFramePr>
            <a:graphicFrameLocks noGrp="1"/>
          </p:cNvGraphicFramePr>
          <p:nvPr/>
        </p:nvGraphicFramePr>
        <p:xfrm>
          <a:off x="71312" y="900125"/>
          <a:ext cx="11988688" cy="3779520"/>
        </p:xfrm>
        <a:graphic>
          <a:graphicData uri="http://schemas.openxmlformats.org/drawingml/2006/table">
            <a:tbl>
              <a:tblPr firstRow="1" bandRow="1">
                <a:tableStyleId>{5C22544A-7EE6-4342-B048-85BDC9FD1C3A}</a:tableStyleId>
              </a:tblPr>
              <a:tblGrid>
                <a:gridCol w="2622524">
                  <a:extLst>
                    <a:ext uri="{9D8B030D-6E8A-4147-A177-3AD203B41FA5}">
                      <a16:colId xmlns:a16="http://schemas.microsoft.com/office/drawing/2014/main" val="2080473561"/>
                    </a:ext>
                  </a:extLst>
                </a:gridCol>
                <a:gridCol w="9366164">
                  <a:extLst>
                    <a:ext uri="{9D8B030D-6E8A-4147-A177-3AD203B41FA5}">
                      <a16:colId xmlns:a16="http://schemas.microsoft.com/office/drawing/2014/main" val="1869368987"/>
                    </a:ext>
                  </a:extLst>
                </a:gridCol>
              </a:tblGrid>
              <a:tr h="370840">
                <a:tc>
                  <a:txBody>
                    <a:bodyPr/>
                    <a:lstStyle/>
                    <a:p>
                      <a:r>
                        <a:rPr lang="en-US" sz="1600" b="1" dirty="0">
                          <a:solidFill>
                            <a:schemeClr val="tx1"/>
                          </a:solidFill>
                        </a:rPr>
                        <a:t>Recommendation for Initiative in FY23:</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pPr marL="0" indent="0">
                        <a:buFont typeface="Arial" panose="020B0604020202020204" pitchFamily="34" charset="0"/>
                        <a:buNone/>
                      </a:pPr>
                      <a:r>
                        <a:rPr lang="en-US" sz="1600" b="0" i="0" dirty="0">
                          <a:solidFill>
                            <a:schemeClr val="tx1"/>
                          </a:solidFill>
                        </a:rPr>
                        <a:t>The team continues forward progress along the strategic line of effort developing the strategic plan after finishing the capability (gap) analysis in Dec-2022.  </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1267919758"/>
                  </a:ext>
                </a:extLst>
              </a:tr>
              <a:tr h="370840">
                <a:tc>
                  <a:txBody>
                    <a:bodyPr/>
                    <a:lstStyle/>
                    <a:p>
                      <a:r>
                        <a:rPr lang="en-US" sz="1600" b="1" dirty="0">
                          <a:solidFill>
                            <a:schemeClr val="tx1"/>
                          </a:solidFill>
                        </a:rPr>
                        <a:t>Major FY23 Outputs: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i="0" dirty="0">
                          <a:solidFill>
                            <a:schemeClr val="tx1"/>
                          </a:solidFill>
                        </a:rPr>
                        <a:t>Develop comprehensive business requirements for enterprise IT</a:t>
                      </a: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i="0" dirty="0">
                          <a:solidFill>
                            <a:schemeClr val="tx1"/>
                          </a:solidFill>
                        </a:rPr>
                        <a:t>Complete a </a:t>
                      </a:r>
                      <a:r>
                        <a:rPr lang="en-US" sz="1600" b="0" i="0" u="none" strike="noStrike" noProof="0" dirty="0">
                          <a:solidFill>
                            <a:schemeClr val="tx1"/>
                          </a:solidFill>
                        </a:rPr>
                        <a:t>systematic, full </a:t>
                      </a:r>
                      <a:r>
                        <a:rPr lang="en-US" sz="1600" b="0" i="0" u="none" strike="noStrike" noProof="0" dirty="0">
                          <a:solidFill>
                            <a:schemeClr val="tx1"/>
                          </a:solidFill>
                          <a:latin typeface="+mn-lt"/>
                        </a:rPr>
                        <a:t>inventory of IT and data across enterprise</a:t>
                      </a:r>
                      <a:r>
                        <a:rPr lang="en-US" sz="1600" b="0" i="0" u="none" strike="noStrike" noProof="0" dirty="0">
                          <a:solidFill>
                            <a:schemeClr val="tx1"/>
                          </a:solidFill>
                        </a:rPr>
                        <a:t>.</a:t>
                      </a: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i="0" dirty="0">
                          <a:solidFill>
                            <a:schemeClr val="tx1"/>
                          </a:solidFill>
                        </a:rPr>
                        <a:t>Draft strategic plan, and subsequent implementation after committee feedback.</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13577779"/>
                  </a:ext>
                </a:extLst>
              </a:tr>
              <a:tr h="370840">
                <a:tc>
                  <a:txBody>
                    <a:bodyPr/>
                    <a:lstStyle/>
                    <a:p>
                      <a:r>
                        <a:rPr lang="en-US" sz="1600" b="1" dirty="0">
                          <a:solidFill>
                            <a:schemeClr val="tx1"/>
                          </a:solidFill>
                        </a:rPr>
                        <a:t>Immediate Next Steps: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pPr marL="228600" indent="-228600">
                        <a:buFont typeface="Arial" panose="020B0604020202020204" pitchFamily="34" charset="0"/>
                        <a:buChar char="•"/>
                        <a:tabLst/>
                      </a:pPr>
                      <a:r>
                        <a:rPr lang="en-US" sz="1600" b="0" i="0" dirty="0">
                          <a:solidFill>
                            <a:schemeClr val="tx1"/>
                          </a:solidFill>
                        </a:rPr>
                        <a:t>Test and refine the capability (gap) analysis process that will provide understanding of current state.</a:t>
                      </a:r>
                    </a:p>
                    <a:p>
                      <a:pPr marL="228600" indent="-228600">
                        <a:buFont typeface="Arial" panose="020B0604020202020204" pitchFamily="34" charset="0"/>
                        <a:buChar char="•"/>
                        <a:tabLst/>
                      </a:pPr>
                      <a:r>
                        <a:rPr lang="en-US" sz="1600" b="0" i="0" dirty="0">
                          <a:solidFill>
                            <a:schemeClr val="tx1"/>
                          </a:solidFill>
                        </a:rPr>
                        <a:t>Interview systems owners to understand current capabilities; interview and survey researchers and staff to understand business requirements; and conduct the capability (gap) analysis.</a:t>
                      </a:r>
                    </a:p>
                    <a:p>
                      <a:pPr marL="228600" indent="-228600">
                        <a:buFont typeface="Arial" panose="020B0604020202020204" pitchFamily="34" charset="0"/>
                        <a:buChar char="•"/>
                        <a:tabLst/>
                      </a:pPr>
                      <a:r>
                        <a:rPr lang="en-US" sz="1600" b="0" i="0" dirty="0">
                          <a:solidFill>
                            <a:schemeClr val="tx1"/>
                          </a:solidFill>
                        </a:rPr>
                        <a:t>Continue to work on other parts of the strategic plan, to include visualizing the future state.</a:t>
                      </a:r>
                    </a:p>
                    <a:p>
                      <a:pPr marL="228600" lvl="0" indent="-228600">
                        <a:buFont typeface="Arial" panose="020B0604020202020204" pitchFamily="34" charset="0"/>
                        <a:buChar char="•"/>
                        <a:tabLst/>
                      </a:pPr>
                      <a:r>
                        <a:rPr lang="en-US" sz="1600" b="0" i="0" dirty="0">
                          <a:solidFill>
                            <a:schemeClr val="tx1"/>
                          </a:solidFill>
                        </a:rPr>
                        <a:t>Continue to cultivate SOC forum to further open communication, receive feedback, and strengthen trust.</a:t>
                      </a:r>
                    </a:p>
                    <a:p>
                      <a:pPr marL="228600" lvl="0" indent="-228600">
                        <a:buFont typeface="Arial" panose="020B0604020202020204" pitchFamily="34" charset="0"/>
                        <a:buChar char="•"/>
                        <a:tabLst/>
                      </a:pPr>
                      <a:r>
                        <a:rPr lang="en-US" sz="1600" b="0" i="0" dirty="0">
                          <a:solidFill>
                            <a:schemeClr val="tx1"/>
                          </a:solidFill>
                        </a:rPr>
                        <a:t>Define requirements </a:t>
                      </a:r>
                      <a:r>
                        <a:rPr lang="en-US" sz="1600" i="0" dirty="0">
                          <a:solidFill>
                            <a:schemeClr val="tx1"/>
                          </a:solidFill>
                        </a:rPr>
                        <a:t>to conduct a </a:t>
                      </a:r>
                      <a:r>
                        <a:rPr lang="en-US" sz="1600" b="0" i="0" u="none" strike="noStrike" noProof="0" dirty="0">
                          <a:solidFill>
                            <a:schemeClr val="tx1"/>
                          </a:solidFill>
                        </a:rPr>
                        <a:t>full </a:t>
                      </a:r>
                      <a:r>
                        <a:rPr lang="en-US" sz="1600" b="0" i="0" u="none" strike="noStrike" noProof="0" dirty="0">
                          <a:solidFill>
                            <a:schemeClr val="tx1"/>
                          </a:solidFill>
                          <a:latin typeface="+mn-lt"/>
                        </a:rPr>
                        <a:t>inventory of IT and data </a:t>
                      </a:r>
                      <a:r>
                        <a:rPr lang="en-US" sz="1600" b="0" i="0" u="none" strike="noStrike" noProof="0" dirty="0">
                          <a:solidFill>
                            <a:schemeClr val="tx1"/>
                          </a:solidFill>
                        </a:rPr>
                        <a:t>across the medical centers.</a:t>
                      </a:r>
                      <a:endParaRPr lang="en-US" sz="1600" b="0" i="0" dirty="0">
                        <a:solidFill>
                          <a:schemeClr val="tx1"/>
                        </a:solidFill>
                      </a:endParaRP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4279033902"/>
                  </a:ext>
                </a:extLst>
              </a:tr>
              <a:tr h="370840">
                <a:tc>
                  <a:txBody>
                    <a:bodyPr/>
                    <a:lstStyle/>
                    <a:p>
                      <a:r>
                        <a:rPr lang="en-US" sz="1600" b="1" dirty="0">
                          <a:solidFill>
                            <a:schemeClr val="tx1"/>
                          </a:solidFill>
                        </a:rPr>
                        <a:t>ORD Leadership Support Required to Accomplish Initiative Objective: </a:t>
                      </a:r>
                      <a:endParaRPr lang="en-US" sz="1600" b="1">
                        <a:solidFill>
                          <a:schemeClr val="tx1"/>
                        </a:solidFill>
                      </a:endParaRP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pPr marL="0" indent="0">
                        <a:buFont typeface="Arial" panose="020B0604020202020204" pitchFamily="34" charset="0"/>
                        <a:buNone/>
                        <a:tabLst/>
                      </a:pPr>
                      <a:endParaRPr lang="en-US" sz="1600" i="0" dirty="0">
                        <a:solidFill>
                          <a:schemeClr val="tx1"/>
                        </a:solidFill>
                        <a:highlight>
                          <a:srgbClr val="FFFF00"/>
                        </a:highlight>
                      </a:endParaRP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2206889529"/>
                  </a:ext>
                </a:extLst>
              </a:tr>
            </a:tbl>
          </a:graphicData>
        </a:graphic>
      </p:graphicFrame>
      <p:sp>
        <p:nvSpPr>
          <p:cNvPr id="33" name="Title 1">
            <a:extLst>
              <a:ext uri="{FF2B5EF4-FFF2-40B4-BE49-F238E27FC236}">
                <a16:creationId xmlns:a16="http://schemas.microsoft.com/office/drawing/2014/main" id="{52BAEF8F-4780-E243-448F-F93727927AA7}"/>
              </a:ext>
            </a:extLst>
          </p:cNvPr>
          <p:cNvSpPr>
            <a:spLocks noGrp="1"/>
          </p:cNvSpPr>
          <p:nvPr>
            <p:ph type="title"/>
          </p:nvPr>
        </p:nvSpPr>
        <p:spPr>
          <a:xfrm>
            <a:off x="1011627" y="108834"/>
            <a:ext cx="10515600" cy="680223"/>
          </a:xfrm>
        </p:spPr>
        <p:txBody>
          <a:bodyPr/>
          <a:lstStyle/>
          <a:p>
            <a:r>
              <a:rPr lang="en-US" sz="2400"/>
              <a:t>IT &amp; Data Governance: Proposed Next Steps</a:t>
            </a:r>
          </a:p>
        </p:txBody>
      </p:sp>
      <p:pic>
        <p:nvPicPr>
          <p:cNvPr id="6" name="Graphic 5" descr="Internet Of Things outline">
            <a:extLst>
              <a:ext uri="{FF2B5EF4-FFF2-40B4-BE49-F238E27FC236}">
                <a16:creationId xmlns:a16="http://schemas.microsoft.com/office/drawing/2014/main" id="{860893BE-E6F9-8B51-9B7E-76B532B0552C}"/>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1527" y="106045"/>
            <a:ext cx="685800" cy="685800"/>
          </a:xfrm>
          <a:prstGeom prst="rect">
            <a:avLst/>
          </a:prstGeom>
        </p:spPr>
      </p:pic>
      <p:sp>
        <p:nvSpPr>
          <p:cNvPr id="5" name="Slide Number Placeholder 2">
            <a:extLst>
              <a:ext uri="{FF2B5EF4-FFF2-40B4-BE49-F238E27FC236}">
                <a16:creationId xmlns:a16="http://schemas.microsoft.com/office/drawing/2014/main" id="{739F391C-24C2-E40D-E115-F90DEB485FBD}"/>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75609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312732-C7CE-47D3-A994-5C9DAF8F6542}"/>
              </a:ext>
            </a:extLst>
          </p:cNvPr>
          <p:cNvSpPr>
            <a:spLocks noGrp="1"/>
          </p:cNvSpPr>
          <p:nvPr>
            <p:ph type="title"/>
          </p:nvPr>
        </p:nvSpPr>
        <p:spPr/>
        <p:txBody>
          <a:bodyPr/>
          <a:lstStyle/>
          <a:p>
            <a:r>
              <a:rPr lang="en-US" dirty="0">
                <a:solidFill>
                  <a:schemeClr val="tx1"/>
                </a:solidFill>
              </a:rPr>
              <a:t>FERSS</a:t>
            </a:r>
            <a:br>
              <a:rPr lang="en-US" dirty="0">
                <a:solidFill>
                  <a:schemeClr val="tx1"/>
                </a:solidFill>
              </a:rPr>
            </a:br>
            <a:endParaRPr lang="en-US" dirty="0">
              <a:solidFill>
                <a:schemeClr val="tx1"/>
              </a:solidFill>
            </a:endParaRPr>
          </a:p>
        </p:txBody>
      </p:sp>
      <p:sp>
        <p:nvSpPr>
          <p:cNvPr id="6" name="Slide Number Placeholder 2">
            <a:extLst>
              <a:ext uri="{FF2B5EF4-FFF2-40B4-BE49-F238E27FC236}">
                <a16:creationId xmlns:a16="http://schemas.microsoft.com/office/drawing/2014/main" id="{348A4DB6-213A-EF35-FF18-1097643D6169}"/>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241447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89D270C5-A08C-47F8-3DFF-659BE2F232FF}"/>
              </a:ext>
            </a:extLst>
          </p:cNvPr>
          <p:cNvGraphicFramePr>
            <a:graphicFrameLocks noGrp="1"/>
          </p:cNvGraphicFramePr>
          <p:nvPr/>
        </p:nvGraphicFramePr>
        <p:xfrm>
          <a:off x="243840" y="1250830"/>
          <a:ext cx="11704320" cy="237744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80473561"/>
                    </a:ext>
                  </a:extLst>
                </a:gridCol>
                <a:gridCol w="9144000">
                  <a:extLst>
                    <a:ext uri="{9D8B030D-6E8A-4147-A177-3AD203B41FA5}">
                      <a16:colId xmlns:a16="http://schemas.microsoft.com/office/drawing/2014/main" val="1869368987"/>
                    </a:ext>
                  </a:extLst>
                </a:gridCol>
              </a:tblGrid>
              <a:tr h="370840">
                <a:tc>
                  <a:txBody>
                    <a:bodyPr/>
                    <a:lstStyle/>
                    <a:p>
                      <a:r>
                        <a:rPr lang="en-US" b="1" strike="noStrike" dirty="0">
                          <a:solidFill>
                            <a:schemeClr val="tx1"/>
                          </a:solidFill>
                        </a:rPr>
                        <a:t>Initiative Objectives: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r>
                        <a:rPr lang="en-US" b="0" i="0" strike="noStrike" dirty="0">
                          <a:solidFill>
                            <a:schemeClr val="tx1"/>
                          </a:solidFill>
                        </a:rPr>
                        <a:t>Rollout tools to provide VA researchers and R&amp;D offices with access to a wide range of short-term contracted research support resources (e.g., biostatisticians, study coordinators, home-visit nurses) needed to get critical research started or across the finish line more rapidly.</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3835389272"/>
                  </a:ext>
                </a:extLst>
              </a:tr>
              <a:tr h="370840">
                <a:tc>
                  <a:txBody>
                    <a:bodyPr/>
                    <a:lstStyle/>
                    <a:p>
                      <a:r>
                        <a:rPr lang="en-US" b="1" strike="noStrike" dirty="0">
                          <a:solidFill>
                            <a:schemeClr val="tx1"/>
                          </a:solidFill>
                        </a:rPr>
                        <a:t>Outputs Listed:</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r>
                        <a:rPr lang="en-US" i="1" strike="noStrike" dirty="0">
                          <a:solidFill>
                            <a:schemeClr val="tx1"/>
                          </a:solidFill>
                        </a:rPr>
                        <a:t>FERSS Initiative has been fully rolled out to the field and includes: </a:t>
                      </a:r>
                    </a:p>
                    <a:p>
                      <a:pPr marL="285750" indent="-285750">
                        <a:buFont typeface="Arial" panose="020B0604020202020204" pitchFamily="34" charset="0"/>
                        <a:buChar char="•"/>
                      </a:pPr>
                      <a:r>
                        <a:rPr lang="en-US" i="1" strike="noStrike" dirty="0">
                          <a:solidFill>
                            <a:schemeClr val="tx1"/>
                          </a:solidFill>
                        </a:rPr>
                        <a:t>a request portal</a:t>
                      </a:r>
                    </a:p>
                    <a:p>
                      <a:pPr marL="285750" indent="-285750">
                        <a:buFont typeface="Arial" panose="020B0604020202020204" pitchFamily="34" charset="0"/>
                        <a:buChar char="•"/>
                      </a:pPr>
                      <a:r>
                        <a:rPr lang="en-US" i="1" strike="noStrike" dirty="0">
                          <a:solidFill>
                            <a:schemeClr val="tx1"/>
                          </a:solidFill>
                        </a:rPr>
                        <a:t>process for review and approval</a:t>
                      </a:r>
                    </a:p>
                    <a:p>
                      <a:pPr marL="285750" indent="-285750">
                        <a:buFont typeface="Arial" panose="020B0604020202020204" pitchFamily="34" charset="0"/>
                        <a:buChar char="•"/>
                      </a:pPr>
                      <a:r>
                        <a:rPr lang="en-US" i="1" strike="noStrike" dirty="0">
                          <a:solidFill>
                            <a:schemeClr val="tx1"/>
                          </a:solidFill>
                        </a:rPr>
                        <a:t>communication between ORD and vendor</a:t>
                      </a:r>
                    </a:p>
                    <a:p>
                      <a:pPr marL="285750" indent="-285750">
                        <a:buFont typeface="Arial" panose="020B0604020202020204" pitchFamily="34" charset="0"/>
                        <a:buChar char="•"/>
                      </a:pPr>
                      <a:r>
                        <a:rPr lang="en-US" i="1" strike="noStrike" dirty="0">
                          <a:solidFill>
                            <a:schemeClr val="tx1"/>
                          </a:solidFill>
                        </a:rPr>
                        <a:t>process deployment of contracted resources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2389873790"/>
                  </a:ext>
                </a:extLst>
              </a:tr>
            </a:tbl>
          </a:graphicData>
        </a:graphic>
      </p:graphicFrame>
      <p:sp>
        <p:nvSpPr>
          <p:cNvPr id="13" name="Title 1">
            <a:extLst>
              <a:ext uri="{FF2B5EF4-FFF2-40B4-BE49-F238E27FC236}">
                <a16:creationId xmlns:a16="http://schemas.microsoft.com/office/drawing/2014/main" id="{2D24CA2F-9675-E687-2802-67F560F334E4}"/>
              </a:ext>
            </a:extLst>
          </p:cNvPr>
          <p:cNvSpPr>
            <a:spLocks noGrp="1"/>
          </p:cNvSpPr>
          <p:nvPr>
            <p:ph type="title"/>
          </p:nvPr>
        </p:nvSpPr>
        <p:spPr>
          <a:xfrm>
            <a:off x="1011627" y="108834"/>
            <a:ext cx="10515600" cy="680223"/>
          </a:xfrm>
        </p:spPr>
        <p:txBody>
          <a:bodyPr/>
          <a:lstStyle/>
          <a:p>
            <a:r>
              <a:rPr lang="en-US" sz="2400" dirty="0"/>
              <a:t>FERSS: Objectives</a:t>
            </a:r>
          </a:p>
        </p:txBody>
      </p:sp>
      <p:pic>
        <p:nvPicPr>
          <p:cNvPr id="10" name="Graphic 9" descr="Doctor female outline">
            <a:extLst>
              <a:ext uri="{FF2B5EF4-FFF2-40B4-BE49-F238E27FC236}">
                <a16:creationId xmlns:a16="http://schemas.microsoft.com/office/drawing/2014/main" id="{5494DE86-8EEC-EED3-D993-3D3E6296B3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11527" y="106045"/>
            <a:ext cx="685800" cy="685800"/>
          </a:xfrm>
          <a:prstGeom prst="rect">
            <a:avLst/>
          </a:prstGeom>
        </p:spPr>
      </p:pic>
      <p:sp>
        <p:nvSpPr>
          <p:cNvPr id="5" name="Slide Number Placeholder 2">
            <a:extLst>
              <a:ext uri="{FF2B5EF4-FFF2-40B4-BE49-F238E27FC236}">
                <a16:creationId xmlns:a16="http://schemas.microsoft.com/office/drawing/2014/main" id="{3A807901-AFC7-0D05-F766-29F98530D37B}"/>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28808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descr="Doctor female outline">
            <a:extLst>
              <a:ext uri="{FF2B5EF4-FFF2-40B4-BE49-F238E27FC236}">
                <a16:creationId xmlns:a16="http://schemas.microsoft.com/office/drawing/2014/main" id="{1FD5CE17-2F18-1665-8370-D811AF45B59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11527" y="106045"/>
            <a:ext cx="685800" cy="685800"/>
          </a:xfrm>
          <a:prstGeom prst="rect">
            <a:avLst/>
          </a:prstGeom>
        </p:spPr>
      </p:pic>
      <p:graphicFrame>
        <p:nvGraphicFramePr>
          <p:cNvPr id="4" name="Table 4">
            <a:extLst>
              <a:ext uri="{FF2B5EF4-FFF2-40B4-BE49-F238E27FC236}">
                <a16:creationId xmlns:a16="http://schemas.microsoft.com/office/drawing/2014/main" id="{89D270C5-A08C-47F8-3DFF-659BE2F232FF}"/>
              </a:ext>
            </a:extLst>
          </p:cNvPr>
          <p:cNvGraphicFramePr>
            <a:graphicFrameLocks noGrp="1"/>
          </p:cNvGraphicFramePr>
          <p:nvPr/>
        </p:nvGraphicFramePr>
        <p:xfrm>
          <a:off x="417267" y="1280160"/>
          <a:ext cx="11704320" cy="4404360"/>
        </p:xfrm>
        <a:graphic>
          <a:graphicData uri="http://schemas.openxmlformats.org/drawingml/2006/table">
            <a:tbl>
              <a:tblPr firstRow="1" bandRow="1">
                <a:tableStyleId>{5C22544A-7EE6-4342-B048-85BDC9FD1C3A}</a:tableStyleId>
              </a:tblPr>
              <a:tblGrid>
                <a:gridCol w="2611683">
                  <a:extLst>
                    <a:ext uri="{9D8B030D-6E8A-4147-A177-3AD203B41FA5}">
                      <a16:colId xmlns:a16="http://schemas.microsoft.com/office/drawing/2014/main" val="2080473561"/>
                    </a:ext>
                  </a:extLst>
                </a:gridCol>
                <a:gridCol w="9092637">
                  <a:extLst>
                    <a:ext uri="{9D8B030D-6E8A-4147-A177-3AD203B41FA5}">
                      <a16:colId xmlns:a16="http://schemas.microsoft.com/office/drawing/2014/main" val="1869368987"/>
                    </a:ext>
                  </a:extLst>
                </a:gridCol>
              </a:tblGrid>
              <a:tr h="0">
                <a:tc>
                  <a:txBody>
                    <a:bodyPr/>
                    <a:lstStyle/>
                    <a:p>
                      <a:r>
                        <a:rPr lang="en-US" b="1" strike="noStrike" dirty="0">
                          <a:solidFill>
                            <a:schemeClr val="tx1"/>
                          </a:solidFill>
                        </a:rPr>
                        <a:t>Outputs Delivered:</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pPr marL="285750" lvl="0" indent="-285750" algn="l">
                        <a:buFont typeface="Wingdings" panose="05000000000000000000" pitchFamily="2" charset="2"/>
                        <a:buChar char="ü"/>
                      </a:pPr>
                      <a:r>
                        <a:rPr lang="en-US" sz="1600" b="0" i="0" u="none" strike="noStrike" dirty="0">
                          <a:solidFill>
                            <a:srgbClr val="000000"/>
                          </a:solidFill>
                          <a:effectLst/>
                          <a:latin typeface="Calibri" panose="020F0502020204030204" pitchFamily="34" charset="0"/>
                        </a:rPr>
                        <a:t>May 2021 – FERSS Contracting process began</a:t>
                      </a:r>
                      <a:r>
                        <a:rPr lang="en-US" sz="1600" b="0" i="0" dirty="0">
                          <a:solidFill>
                            <a:srgbClr val="000000"/>
                          </a:solidFill>
                          <a:effectLst/>
                          <a:latin typeface="Calibri" panose="020F0502020204030204" pitchFamily="34" charset="0"/>
                        </a:rPr>
                        <a:t>​</a:t>
                      </a:r>
                      <a:endParaRPr lang="en-US" sz="1600" b="0" i="0" dirty="0">
                        <a:solidFill>
                          <a:srgbClr val="000000"/>
                        </a:solidFill>
                        <a:effectLst/>
                        <a:latin typeface="Arial" panose="020B0604020202020204" pitchFamily="34" charset="0"/>
                      </a:endParaRPr>
                    </a:p>
                    <a:p>
                      <a:pPr marL="285750" lvl="0" indent="-285750" algn="l">
                        <a:buFont typeface="Wingdings" panose="05000000000000000000" pitchFamily="2" charset="2"/>
                        <a:buChar char="ü"/>
                      </a:pPr>
                      <a:r>
                        <a:rPr lang="en-US" sz="1600" b="0" i="0" u="none" strike="noStrike" dirty="0">
                          <a:solidFill>
                            <a:srgbClr val="000000"/>
                          </a:solidFill>
                          <a:effectLst/>
                          <a:latin typeface="Calibri" panose="020F0502020204030204" pitchFamily="34" charset="0"/>
                        </a:rPr>
                        <a:t>July 2021 – ORD Workgroups organized to address policy/procedures</a:t>
                      </a:r>
                    </a:p>
                    <a:p>
                      <a:pPr marL="285750" lvl="0" indent="-285750" algn="l">
                        <a:buFont typeface="Wingdings" panose="05000000000000000000" pitchFamily="2" charset="2"/>
                        <a:buChar char="ü"/>
                      </a:pPr>
                      <a:r>
                        <a:rPr lang="en-US" sz="1600" b="0" i="0" dirty="0">
                          <a:solidFill>
                            <a:srgbClr val="000000"/>
                          </a:solidFill>
                          <a:effectLst/>
                          <a:latin typeface="Calibri" panose="020F0502020204030204" pitchFamily="34" charset="0"/>
                        </a:rPr>
                        <a:t>August 2021 – Project Manager engaged from Titan Alpha contract​</a:t>
                      </a:r>
                      <a:endParaRPr lang="en-US" sz="1600" b="0" i="0" dirty="0">
                        <a:solidFill>
                          <a:srgbClr val="000000"/>
                        </a:solidFill>
                        <a:effectLst/>
                        <a:latin typeface="Arial" panose="020B0604020202020204" pitchFamily="34" charset="0"/>
                      </a:endParaRPr>
                    </a:p>
                    <a:p>
                      <a:pPr marL="285750" lvl="0" indent="-285750" algn="l">
                        <a:buFont typeface="Wingdings" panose="05000000000000000000" pitchFamily="2" charset="2"/>
                        <a:buChar char="ü"/>
                      </a:pPr>
                      <a:r>
                        <a:rPr lang="en-US" sz="1600" b="0" i="0" u="none" strike="noStrike" dirty="0">
                          <a:solidFill>
                            <a:srgbClr val="000000"/>
                          </a:solidFill>
                          <a:effectLst/>
                          <a:latin typeface="Calibri" panose="020F0502020204030204" pitchFamily="34" charset="0"/>
                        </a:rPr>
                        <a:t>Sept 2021 – FERSS Contract awarded</a:t>
                      </a:r>
                      <a:r>
                        <a:rPr lang="en-US" sz="1600" b="0" i="0" dirty="0">
                          <a:solidFill>
                            <a:srgbClr val="000000"/>
                          </a:solidFill>
                          <a:effectLst/>
                          <a:latin typeface="Calibri" panose="020F0502020204030204" pitchFamily="34" charset="0"/>
                        </a:rPr>
                        <a:t>​ (contractor: Aptive HTG)</a:t>
                      </a:r>
                      <a:endParaRPr lang="en-US" sz="1600" b="0" i="0" dirty="0">
                        <a:solidFill>
                          <a:srgbClr val="000000"/>
                        </a:solidFill>
                        <a:effectLst/>
                        <a:latin typeface="Arial" panose="020B0604020202020204" pitchFamily="34" charset="0"/>
                      </a:endParaRPr>
                    </a:p>
                    <a:p>
                      <a:pPr marL="285750" lvl="0" indent="-285750" algn="l">
                        <a:buFont typeface="Wingdings" panose="05000000000000000000" pitchFamily="2" charset="2"/>
                        <a:buChar char="ü"/>
                      </a:pPr>
                      <a:r>
                        <a:rPr lang="en-US" sz="1600" b="0" i="0" u="none" strike="noStrike" dirty="0">
                          <a:solidFill>
                            <a:srgbClr val="000000"/>
                          </a:solidFill>
                          <a:effectLst/>
                          <a:latin typeface="Calibri" panose="020F0502020204030204" pitchFamily="34" charset="0"/>
                        </a:rPr>
                        <a:t>Jan 2022 – Use cases piloted at 3 sites: Cleveland, Madison, and Portland </a:t>
                      </a:r>
                      <a:r>
                        <a:rPr lang="en-US" sz="1600" b="0" i="0" dirty="0">
                          <a:solidFill>
                            <a:srgbClr val="000000"/>
                          </a:solidFill>
                          <a:effectLst/>
                          <a:latin typeface="Calibri" panose="020F0502020204030204" pitchFamily="34" charset="0"/>
                        </a:rPr>
                        <a:t>​</a:t>
                      </a:r>
                      <a:endParaRPr lang="en-US" sz="1600" b="0" i="0" dirty="0">
                        <a:solidFill>
                          <a:srgbClr val="000000"/>
                        </a:solidFill>
                        <a:effectLst/>
                        <a:latin typeface="Arial" panose="020B0604020202020204" pitchFamily="34" charset="0"/>
                      </a:endParaRPr>
                    </a:p>
                    <a:p>
                      <a:pPr marL="285750" lvl="0" indent="-285750" algn="l">
                        <a:buFont typeface="Wingdings" panose="05000000000000000000" pitchFamily="2" charset="2"/>
                        <a:buChar char="ü"/>
                      </a:pPr>
                      <a:r>
                        <a:rPr lang="en-US" sz="1600" b="0" i="0" u="none" strike="noStrike" dirty="0">
                          <a:solidFill>
                            <a:srgbClr val="000000"/>
                          </a:solidFill>
                          <a:effectLst/>
                          <a:latin typeface="Calibri" panose="020F0502020204030204" pitchFamily="34" charset="0"/>
                        </a:rPr>
                        <a:t>March 2022 – FERSS request SharePoint site launched</a:t>
                      </a:r>
                      <a:r>
                        <a:rPr lang="en-US" sz="1600" b="0" i="0" dirty="0">
                          <a:solidFill>
                            <a:srgbClr val="000000"/>
                          </a:solidFill>
                          <a:effectLst/>
                          <a:latin typeface="Calibri" panose="020F0502020204030204" pitchFamily="34" charset="0"/>
                        </a:rPr>
                        <a:t>​</a:t>
                      </a:r>
                      <a:endParaRPr lang="en-US" sz="1600" b="0" i="0" dirty="0">
                        <a:solidFill>
                          <a:srgbClr val="000000"/>
                        </a:solidFill>
                        <a:effectLst/>
                        <a:latin typeface="Arial" panose="020B0604020202020204" pitchFamily="34" charset="0"/>
                      </a:endParaRP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3835389272"/>
                  </a:ext>
                </a:extLst>
              </a:tr>
              <a:tr h="370840">
                <a:tc>
                  <a:txBody>
                    <a:bodyPr/>
                    <a:lstStyle/>
                    <a:p>
                      <a:r>
                        <a:rPr lang="en-US" b="1" strike="noStrike" dirty="0">
                          <a:solidFill>
                            <a:schemeClr val="tx1"/>
                          </a:solidFill>
                        </a:rPr>
                        <a:t>Outputs Rescheduled:</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r>
                        <a:rPr lang="en-US" i="1" strike="noStrike" dirty="0">
                          <a:solidFill>
                            <a:schemeClr val="tx1"/>
                          </a:solidFill>
                        </a:rPr>
                        <a:t>None</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2389873790"/>
                  </a:ext>
                </a:extLst>
              </a:tr>
              <a:tr h="370840">
                <a:tc>
                  <a:txBody>
                    <a:bodyPr/>
                    <a:lstStyle/>
                    <a:p>
                      <a:r>
                        <a:rPr lang="en-US" b="1" dirty="0">
                          <a:solidFill>
                            <a:schemeClr val="tx1"/>
                          </a:solidFill>
                        </a:rPr>
                        <a:t>Lessons Learned:</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r>
                        <a:rPr lang="en-US" i="1" dirty="0">
                          <a:solidFill>
                            <a:schemeClr val="tx1"/>
                          </a:solidFill>
                        </a:rPr>
                        <a:t>Biggest lesson learned involved the limitations in contractors accessing resources at the facility.  This took initial negotiation and discussion on logistics and details with contractor.  Workflows and processes were developed to address it and the process slightly altered from initial design. </a:t>
                      </a:r>
                    </a:p>
                    <a:p>
                      <a:endParaRPr lang="en-US" i="1" dirty="0">
                        <a:solidFill>
                          <a:schemeClr val="tx1"/>
                        </a:solidFill>
                      </a:endParaRPr>
                    </a:p>
                    <a:p>
                      <a:r>
                        <a:rPr lang="en-US" i="1" dirty="0">
                          <a:solidFill>
                            <a:schemeClr val="tx1"/>
                          </a:solidFill>
                        </a:rPr>
                        <a:t>Engagement and planning with field input was invaluable.  </a:t>
                      </a:r>
                    </a:p>
                    <a:p>
                      <a:endParaRPr lang="en-US" i="1" dirty="0">
                        <a:solidFill>
                          <a:schemeClr val="tx1"/>
                        </a:solidFill>
                      </a:endParaRP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2668848712"/>
                  </a:ext>
                </a:extLst>
              </a:tr>
              <a:tr h="370840">
                <a:tc>
                  <a:txBody>
                    <a:bodyPr/>
                    <a:lstStyle/>
                    <a:p>
                      <a:r>
                        <a:rPr lang="en-US" b="1" u="sng" dirty="0">
                          <a:solidFill>
                            <a:schemeClr val="tx1"/>
                          </a:solidFill>
                        </a:rPr>
                        <a:t>Current</a:t>
                      </a:r>
                      <a:r>
                        <a:rPr lang="en-US" b="1" dirty="0">
                          <a:solidFill>
                            <a:schemeClr val="tx1"/>
                          </a:solidFill>
                        </a:rPr>
                        <a:t> Roadblocks: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i="1" dirty="0">
                          <a:solidFill>
                            <a:schemeClr val="tx1"/>
                          </a:solidFill>
                        </a:rPr>
                        <a:t>None</a:t>
                      </a:r>
                      <a:endParaRPr lang="en-US" i="1" u="sng" dirty="0">
                        <a:solidFill>
                          <a:schemeClr val="tx1"/>
                        </a:solidFill>
                      </a:endParaRP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3999873908"/>
                  </a:ext>
                </a:extLst>
              </a:tr>
              <a:tr h="370840">
                <a:tc>
                  <a:txBody>
                    <a:bodyPr/>
                    <a:lstStyle/>
                    <a:p>
                      <a:r>
                        <a:rPr lang="en-US" b="1" dirty="0">
                          <a:solidFill>
                            <a:schemeClr val="tx1"/>
                          </a:solidFill>
                        </a:rPr>
                        <a:t>Mitigation Strategies: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r>
                        <a:rPr lang="en-US" i="1" dirty="0">
                          <a:solidFill>
                            <a:schemeClr val="tx1"/>
                          </a:solidFill>
                        </a:rPr>
                        <a:t>None</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1463779455"/>
                  </a:ext>
                </a:extLst>
              </a:tr>
            </a:tbl>
          </a:graphicData>
        </a:graphic>
      </p:graphicFrame>
      <p:sp>
        <p:nvSpPr>
          <p:cNvPr id="13" name="Title 1">
            <a:extLst>
              <a:ext uri="{FF2B5EF4-FFF2-40B4-BE49-F238E27FC236}">
                <a16:creationId xmlns:a16="http://schemas.microsoft.com/office/drawing/2014/main" id="{2D24CA2F-9675-E687-2802-67F560F334E4}"/>
              </a:ext>
            </a:extLst>
          </p:cNvPr>
          <p:cNvSpPr>
            <a:spLocks noGrp="1"/>
          </p:cNvSpPr>
          <p:nvPr>
            <p:ph type="title"/>
          </p:nvPr>
        </p:nvSpPr>
        <p:spPr>
          <a:xfrm>
            <a:off x="1011627" y="108834"/>
            <a:ext cx="10515600" cy="680223"/>
          </a:xfrm>
        </p:spPr>
        <p:txBody>
          <a:bodyPr/>
          <a:lstStyle/>
          <a:p>
            <a:r>
              <a:rPr lang="en-US" sz="2400" dirty="0"/>
              <a:t>FERSS: Delivery Status</a:t>
            </a:r>
          </a:p>
        </p:txBody>
      </p:sp>
      <p:sp>
        <p:nvSpPr>
          <p:cNvPr id="5" name="Slide Number Placeholder 2">
            <a:extLst>
              <a:ext uri="{FF2B5EF4-FFF2-40B4-BE49-F238E27FC236}">
                <a16:creationId xmlns:a16="http://schemas.microsoft.com/office/drawing/2014/main" id="{F5980550-F59B-37C2-0672-9137F0AC5240}"/>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768312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89D270C5-A08C-47F8-3DFF-659BE2F232FF}"/>
              </a:ext>
            </a:extLst>
          </p:cNvPr>
          <p:cNvGraphicFramePr>
            <a:graphicFrameLocks noGrp="1"/>
          </p:cNvGraphicFramePr>
          <p:nvPr/>
        </p:nvGraphicFramePr>
        <p:xfrm>
          <a:off x="243840" y="1250830"/>
          <a:ext cx="11704320" cy="3108960"/>
        </p:xfrm>
        <a:graphic>
          <a:graphicData uri="http://schemas.openxmlformats.org/drawingml/2006/table">
            <a:tbl>
              <a:tblPr firstRow="1" bandRow="1">
                <a:tableStyleId>{5C22544A-7EE6-4342-B048-85BDC9FD1C3A}</a:tableStyleId>
              </a:tblPr>
              <a:tblGrid>
                <a:gridCol w="2656523">
                  <a:extLst>
                    <a:ext uri="{9D8B030D-6E8A-4147-A177-3AD203B41FA5}">
                      <a16:colId xmlns:a16="http://schemas.microsoft.com/office/drawing/2014/main" val="2080473561"/>
                    </a:ext>
                  </a:extLst>
                </a:gridCol>
                <a:gridCol w="9047797">
                  <a:extLst>
                    <a:ext uri="{9D8B030D-6E8A-4147-A177-3AD203B41FA5}">
                      <a16:colId xmlns:a16="http://schemas.microsoft.com/office/drawing/2014/main" val="1869368987"/>
                    </a:ext>
                  </a:extLst>
                </a:gridCol>
              </a:tblGrid>
              <a:tr h="370840">
                <a:tc>
                  <a:txBody>
                    <a:bodyPr/>
                    <a:lstStyle/>
                    <a:p>
                      <a:r>
                        <a:rPr lang="en-US" b="1" dirty="0">
                          <a:solidFill>
                            <a:schemeClr val="tx1"/>
                          </a:solidFill>
                        </a:rPr>
                        <a:t>Recommendation </a:t>
                      </a:r>
                      <a:r>
                        <a:rPr lang="en-US" b="1">
                          <a:solidFill>
                            <a:schemeClr val="tx1"/>
                          </a:solidFill>
                        </a:rPr>
                        <a:t>for Initiative </a:t>
                      </a:r>
                      <a:r>
                        <a:rPr lang="en-US" b="1" dirty="0">
                          <a:solidFill>
                            <a:schemeClr val="tx1"/>
                          </a:solidFill>
                        </a:rPr>
                        <a:t>in FY23:</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r>
                        <a:rPr lang="en-US" b="0" i="1" dirty="0">
                          <a:solidFill>
                            <a:schemeClr val="tx1"/>
                          </a:solidFill>
                        </a:rPr>
                        <a:t>Based on current progress and experience, the initiative owner/sponsor’s recommendation for the future of the initiative:</a:t>
                      </a:r>
                    </a:p>
                    <a:p>
                      <a:pPr marL="285750" indent="-285750">
                        <a:buFont typeface="Arial" panose="020B0604020202020204" pitchFamily="34" charset="0"/>
                        <a:buChar char="•"/>
                      </a:pPr>
                      <a:r>
                        <a:rPr lang="en-US" b="0" i="1" dirty="0">
                          <a:solidFill>
                            <a:schemeClr val="tx1"/>
                          </a:solidFill>
                        </a:rPr>
                        <a:t>Continue the initiative into FY 23</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1267919758"/>
                  </a:ext>
                </a:extLst>
              </a:tr>
              <a:tr h="370840">
                <a:tc>
                  <a:txBody>
                    <a:bodyPr/>
                    <a:lstStyle/>
                    <a:p>
                      <a:r>
                        <a:rPr lang="en-US" b="1" dirty="0">
                          <a:solidFill>
                            <a:schemeClr val="tx1"/>
                          </a:solidFill>
                        </a:rPr>
                        <a:t>Major FY23 Outputs: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r>
                        <a:rPr lang="en-US" i="1" dirty="0">
                          <a:solidFill>
                            <a:schemeClr val="tx1"/>
                          </a:solidFill>
                        </a:rPr>
                        <a:t>Increase the number of stations utilizing FERSS </a:t>
                      </a:r>
                    </a:p>
                    <a:p>
                      <a:r>
                        <a:rPr lang="en-US" i="1" dirty="0">
                          <a:solidFill>
                            <a:schemeClr val="tx1"/>
                          </a:solidFill>
                        </a:rPr>
                        <a:t>Develop sustainment plan (i.e., budgeting model)</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13577779"/>
                  </a:ext>
                </a:extLst>
              </a:tr>
              <a:tr h="370840">
                <a:tc>
                  <a:txBody>
                    <a:bodyPr/>
                    <a:lstStyle/>
                    <a:p>
                      <a:r>
                        <a:rPr lang="en-US" b="1" dirty="0">
                          <a:solidFill>
                            <a:schemeClr val="tx1"/>
                          </a:solidFill>
                        </a:rPr>
                        <a:t>Immediate Next Steps: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r>
                        <a:rPr lang="en-US" b="0" i="1" dirty="0">
                          <a:solidFill>
                            <a:schemeClr val="tx1"/>
                          </a:solidFill>
                        </a:rPr>
                        <a:t>List of immediate next steps initiative with take based on:</a:t>
                      </a:r>
                    </a:p>
                    <a:p>
                      <a:pPr marL="285750" indent="-285750">
                        <a:buFont typeface="Arial" panose="020B0604020202020204" pitchFamily="34" charset="0"/>
                        <a:buChar char="•"/>
                      </a:pPr>
                      <a:r>
                        <a:rPr lang="en-US" b="0" i="1" dirty="0">
                          <a:solidFill>
                            <a:schemeClr val="tx1"/>
                          </a:solidFill>
                        </a:rPr>
                        <a:t>Exercise option year 1</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4279033902"/>
                  </a:ext>
                </a:extLst>
              </a:tr>
              <a:tr h="370840">
                <a:tc>
                  <a:txBody>
                    <a:bodyPr/>
                    <a:lstStyle/>
                    <a:p>
                      <a:r>
                        <a:rPr lang="en-US" b="1" dirty="0">
                          <a:solidFill>
                            <a:schemeClr val="tx1"/>
                          </a:solidFill>
                        </a:rPr>
                        <a:t>ORD Leadership Support Required to Accomplish Initiative Objective: </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r>
                        <a:rPr lang="en-US" i="1" dirty="0">
                          <a:solidFill>
                            <a:schemeClr val="tx1"/>
                          </a:solidFill>
                        </a:rPr>
                        <a:t>None at this point.</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2206889529"/>
                  </a:ext>
                </a:extLst>
              </a:tr>
            </a:tbl>
          </a:graphicData>
        </a:graphic>
      </p:graphicFrame>
      <p:sp>
        <p:nvSpPr>
          <p:cNvPr id="33" name="Title 1">
            <a:extLst>
              <a:ext uri="{FF2B5EF4-FFF2-40B4-BE49-F238E27FC236}">
                <a16:creationId xmlns:a16="http://schemas.microsoft.com/office/drawing/2014/main" id="{52BAEF8F-4780-E243-448F-F93727927AA7}"/>
              </a:ext>
            </a:extLst>
          </p:cNvPr>
          <p:cNvSpPr>
            <a:spLocks noGrp="1"/>
          </p:cNvSpPr>
          <p:nvPr>
            <p:ph type="title"/>
          </p:nvPr>
        </p:nvSpPr>
        <p:spPr>
          <a:xfrm>
            <a:off x="1011627" y="108834"/>
            <a:ext cx="10515600" cy="680223"/>
          </a:xfrm>
        </p:spPr>
        <p:txBody>
          <a:bodyPr/>
          <a:lstStyle/>
          <a:p>
            <a:r>
              <a:rPr lang="en-US" sz="2400" dirty="0"/>
              <a:t>FERSS: Proposed Next Steps</a:t>
            </a:r>
          </a:p>
        </p:txBody>
      </p:sp>
      <p:pic>
        <p:nvPicPr>
          <p:cNvPr id="9" name="Graphic 8" descr="Doctor female outline">
            <a:extLst>
              <a:ext uri="{FF2B5EF4-FFF2-40B4-BE49-F238E27FC236}">
                <a16:creationId xmlns:a16="http://schemas.microsoft.com/office/drawing/2014/main" id="{65FF11F4-C6EF-1A99-EAF5-3FCDE18D0B0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11527" y="106045"/>
            <a:ext cx="685800" cy="685800"/>
          </a:xfrm>
          <a:prstGeom prst="rect">
            <a:avLst/>
          </a:prstGeom>
        </p:spPr>
      </p:pic>
      <p:sp>
        <p:nvSpPr>
          <p:cNvPr id="5" name="Slide Number Placeholder 2">
            <a:extLst>
              <a:ext uri="{FF2B5EF4-FFF2-40B4-BE49-F238E27FC236}">
                <a16:creationId xmlns:a16="http://schemas.microsoft.com/office/drawing/2014/main" id="{97ACEAA8-2AA3-4DA3-0BC0-33E70A57DEB3}"/>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690322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312732-C7CE-47D3-A994-5C9DAF8F6542}"/>
              </a:ext>
            </a:extLst>
          </p:cNvPr>
          <p:cNvSpPr>
            <a:spLocks noGrp="1"/>
          </p:cNvSpPr>
          <p:nvPr>
            <p:ph type="title"/>
          </p:nvPr>
        </p:nvSpPr>
        <p:spPr/>
        <p:txBody>
          <a:bodyPr/>
          <a:lstStyle/>
          <a:p>
            <a:r>
              <a:rPr lang="en-US" dirty="0">
                <a:solidFill>
                  <a:schemeClr val="tx1"/>
                </a:solidFill>
              </a:rPr>
              <a:t>Central Research HR Function</a:t>
            </a:r>
            <a:br>
              <a:rPr lang="en-US" dirty="0">
                <a:solidFill>
                  <a:schemeClr val="tx1"/>
                </a:solidFill>
              </a:rPr>
            </a:br>
            <a:endParaRPr lang="en-US" dirty="0">
              <a:solidFill>
                <a:schemeClr val="tx1"/>
              </a:solidFill>
            </a:endParaRPr>
          </a:p>
        </p:txBody>
      </p:sp>
      <p:sp>
        <p:nvSpPr>
          <p:cNvPr id="6" name="Slide Number Placeholder 2">
            <a:extLst>
              <a:ext uri="{FF2B5EF4-FFF2-40B4-BE49-F238E27FC236}">
                <a16:creationId xmlns:a16="http://schemas.microsoft.com/office/drawing/2014/main" id="{348A4DB6-213A-EF35-FF18-1097643D6169}"/>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578858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Graphic 7" descr="Boardroom outline">
            <a:extLst>
              <a:ext uri="{FF2B5EF4-FFF2-40B4-BE49-F238E27FC236}">
                <a16:creationId xmlns:a16="http://schemas.microsoft.com/office/drawing/2014/main" id="{06A9A92C-3AFC-5A57-9664-4A0C0B54930F}"/>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11527" y="106045"/>
            <a:ext cx="685800" cy="685800"/>
          </a:xfrm>
          <a:prstGeom prst="rect">
            <a:avLst/>
          </a:prstGeom>
        </p:spPr>
      </p:pic>
      <p:graphicFrame>
        <p:nvGraphicFramePr>
          <p:cNvPr id="4" name="Table 4">
            <a:extLst>
              <a:ext uri="{FF2B5EF4-FFF2-40B4-BE49-F238E27FC236}">
                <a16:creationId xmlns:a16="http://schemas.microsoft.com/office/drawing/2014/main" id="{89D270C5-A08C-47F8-3DFF-659BE2F232FF}"/>
              </a:ext>
            </a:extLst>
          </p:cNvPr>
          <p:cNvGraphicFramePr>
            <a:graphicFrameLocks noGrp="1"/>
          </p:cNvGraphicFramePr>
          <p:nvPr/>
        </p:nvGraphicFramePr>
        <p:xfrm>
          <a:off x="243840" y="1250830"/>
          <a:ext cx="11704320" cy="1554480"/>
        </p:xfrm>
        <a:graphic>
          <a:graphicData uri="http://schemas.openxmlformats.org/drawingml/2006/table">
            <a:tbl>
              <a:tblPr firstRow="1" bandRow="1">
                <a:tableStyleId>{5C22544A-7EE6-4342-B048-85BDC9FD1C3A}</a:tableStyleId>
              </a:tblPr>
              <a:tblGrid>
                <a:gridCol w="2661920">
                  <a:extLst>
                    <a:ext uri="{9D8B030D-6E8A-4147-A177-3AD203B41FA5}">
                      <a16:colId xmlns:a16="http://schemas.microsoft.com/office/drawing/2014/main" val="2080473561"/>
                    </a:ext>
                  </a:extLst>
                </a:gridCol>
                <a:gridCol w="9042400">
                  <a:extLst>
                    <a:ext uri="{9D8B030D-6E8A-4147-A177-3AD203B41FA5}">
                      <a16:colId xmlns:a16="http://schemas.microsoft.com/office/drawing/2014/main" val="1869368987"/>
                    </a:ext>
                  </a:extLst>
                </a:gridCol>
              </a:tblGrid>
              <a:tr h="370840">
                <a:tc>
                  <a:txBody>
                    <a:bodyPr/>
                    <a:lstStyle/>
                    <a:p>
                      <a:r>
                        <a:rPr lang="en-US" b="1" strike="noStrike" dirty="0">
                          <a:solidFill>
                            <a:schemeClr val="tx1"/>
                          </a:solidFill>
                        </a:rPr>
                        <a:t>Initiative Objectives: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r>
                        <a:rPr lang="en-US" b="0" i="0" strike="noStrike" dirty="0">
                          <a:solidFill>
                            <a:schemeClr val="tx1"/>
                          </a:solidFill>
                        </a:rPr>
                        <a:t>Establish a central research HR team to efficiently manage research HR processes, classify positions, hire, and onboard qualified staff for VA Research projects, limiting research start-up and execution delays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3835389272"/>
                  </a:ext>
                </a:extLst>
              </a:tr>
              <a:tr h="370840">
                <a:tc>
                  <a:txBody>
                    <a:bodyPr/>
                    <a:lstStyle/>
                    <a:p>
                      <a:r>
                        <a:rPr lang="en-US" b="1" strike="noStrike" dirty="0">
                          <a:solidFill>
                            <a:schemeClr val="tx1"/>
                          </a:solidFill>
                        </a:rPr>
                        <a:t>Outputs Listed:</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r>
                        <a:rPr lang="en-US" i="1" strike="noStrike" dirty="0">
                          <a:solidFill>
                            <a:schemeClr val="tx1"/>
                          </a:solidFill>
                        </a:rPr>
                        <a:t>Primary output of establishing a Service Line Agreement was achieved in July 2022.   However, this output will need to be redone.</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2389873790"/>
                  </a:ext>
                </a:extLst>
              </a:tr>
            </a:tbl>
          </a:graphicData>
        </a:graphic>
      </p:graphicFrame>
      <p:sp>
        <p:nvSpPr>
          <p:cNvPr id="13" name="Title 1">
            <a:extLst>
              <a:ext uri="{FF2B5EF4-FFF2-40B4-BE49-F238E27FC236}">
                <a16:creationId xmlns:a16="http://schemas.microsoft.com/office/drawing/2014/main" id="{2D24CA2F-9675-E687-2802-67F560F334E4}"/>
              </a:ext>
            </a:extLst>
          </p:cNvPr>
          <p:cNvSpPr>
            <a:spLocks noGrp="1"/>
          </p:cNvSpPr>
          <p:nvPr>
            <p:ph type="title"/>
          </p:nvPr>
        </p:nvSpPr>
        <p:spPr>
          <a:xfrm>
            <a:off x="1011627" y="108834"/>
            <a:ext cx="10515600" cy="680223"/>
          </a:xfrm>
        </p:spPr>
        <p:txBody>
          <a:bodyPr/>
          <a:lstStyle/>
          <a:p>
            <a:r>
              <a:rPr lang="en-US" sz="2400" dirty="0"/>
              <a:t>Central Research HR Function: Objectives</a:t>
            </a:r>
          </a:p>
        </p:txBody>
      </p:sp>
      <p:sp>
        <p:nvSpPr>
          <p:cNvPr id="5" name="Slide Number Placeholder 2">
            <a:extLst>
              <a:ext uri="{FF2B5EF4-FFF2-40B4-BE49-F238E27FC236}">
                <a16:creationId xmlns:a16="http://schemas.microsoft.com/office/drawing/2014/main" id="{0A4601DE-03C5-41E7-F70C-103B4F952277}"/>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483473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89D270C5-A08C-47F8-3DFF-659BE2F232FF}"/>
              </a:ext>
            </a:extLst>
          </p:cNvPr>
          <p:cNvGraphicFramePr>
            <a:graphicFrameLocks noGrp="1"/>
          </p:cNvGraphicFramePr>
          <p:nvPr/>
        </p:nvGraphicFramePr>
        <p:xfrm>
          <a:off x="243840" y="1250830"/>
          <a:ext cx="11704320" cy="403352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80473561"/>
                    </a:ext>
                  </a:extLst>
                </a:gridCol>
                <a:gridCol w="9144000">
                  <a:extLst>
                    <a:ext uri="{9D8B030D-6E8A-4147-A177-3AD203B41FA5}">
                      <a16:colId xmlns:a16="http://schemas.microsoft.com/office/drawing/2014/main" val="1869368987"/>
                    </a:ext>
                  </a:extLst>
                </a:gridCol>
              </a:tblGrid>
              <a:tr h="370840">
                <a:tc>
                  <a:txBody>
                    <a:bodyPr/>
                    <a:lstStyle/>
                    <a:p>
                      <a:r>
                        <a:rPr lang="en-US" b="1" strike="noStrike" dirty="0">
                          <a:solidFill>
                            <a:schemeClr val="tx1"/>
                          </a:solidFill>
                        </a:rPr>
                        <a:t>Outputs Delivered:</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r>
                        <a:rPr lang="en-US" b="0" i="1" strike="noStrike" dirty="0">
                          <a:solidFill>
                            <a:schemeClr val="tx1"/>
                          </a:solidFill>
                        </a:rPr>
                        <a:t>Primary objective was to obtain the Service Line Agreement (SLA)</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3835389272"/>
                  </a:ext>
                </a:extLst>
              </a:tr>
              <a:tr h="370840">
                <a:tc>
                  <a:txBody>
                    <a:bodyPr/>
                    <a:lstStyle/>
                    <a:p>
                      <a:r>
                        <a:rPr lang="en-US" b="1" strike="noStrike" dirty="0">
                          <a:solidFill>
                            <a:schemeClr val="tx1"/>
                          </a:solidFill>
                        </a:rPr>
                        <a:t>Outputs Rescheduled:</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r>
                        <a:rPr lang="en-US" i="1" strike="noStrike" dirty="0">
                          <a:solidFill>
                            <a:schemeClr val="tx1"/>
                          </a:solidFill>
                        </a:rPr>
                        <a:t>While the SLA was signed, the implementation of the Pilot has been delayed.</a:t>
                      </a:r>
                    </a:p>
                    <a:p>
                      <a:pPr marL="285750" indent="-285750">
                        <a:buFont typeface="Arial" panose="020B0604020202020204" pitchFamily="34" charset="0"/>
                        <a:buChar char="•"/>
                      </a:pPr>
                      <a:r>
                        <a:rPr lang="en-US" i="1" strike="noStrike" dirty="0">
                          <a:solidFill>
                            <a:schemeClr val="tx1"/>
                          </a:solidFill>
                        </a:rPr>
                        <a:t>SLA will need to be re-negotiated</a:t>
                      </a:r>
                    </a:p>
                    <a:p>
                      <a:pPr marL="285750" indent="-285750">
                        <a:buFont typeface="Arial" panose="020B0604020202020204" pitchFamily="34" charset="0"/>
                        <a:buChar char="•"/>
                      </a:pPr>
                      <a:r>
                        <a:rPr lang="en-US" i="1" strike="noStrike" dirty="0">
                          <a:solidFill>
                            <a:schemeClr val="tx1"/>
                          </a:solidFill>
                        </a:rPr>
                        <a:t>Centralized HR processes will occur but in a different fashion</a:t>
                      </a:r>
                    </a:p>
                    <a:p>
                      <a:endParaRPr lang="en-US" i="1" strike="noStrike" dirty="0">
                        <a:solidFill>
                          <a:schemeClr val="tx1"/>
                        </a:solidFill>
                      </a:endParaRPr>
                    </a:p>
                    <a:p>
                      <a:endParaRPr lang="en-US" i="1" strike="noStrike" dirty="0">
                        <a:solidFill>
                          <a:schemeClr val="tx1"/>
                        </a:solidFill>
                      </a:endParaRP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2389873790"/>
                  </a:ext>
                </a:extLst>
              </a:tr>
              <a:tr h="370840">
                <a:tc>
                  <a:txBody>
                    <a:bodyPr/>
                    <a:lstStyle/>
                    <a:p>
                      <a:r>
                        <a:rPr lang="en-US" b="1" dirty="0">
                          <a:solidFill>
                            <a:schemeClr val="tx1"/>
                          </a:solidFill>
                        </a:rPr>
                        <a:t>Lessons Learned:</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r>
                        <a:rPr lang="en-US" i="1" dirty="0">
                          <a:solidFill>
                            <a:schemeClr val="tx1"/>
                          </a:solidFill>
                        </a:rPr>
                        <a:t>Constant communication to local Human Resource Officers would have allowed for the successful implementation of the Pilot. Confirmation and possible ownership of parts can facilitate continual engagement.</a:t>
                      </a:r>
                    </a:p>
                    <a:p>
                      <a:r>
                        <a:rPr lang="en-US" i="1" dirty="0">
                          <a:solidFill>
                            <a:schemeClr val="tx1"/>
                          </a:solidFill>
                        </a:rPr>
                        <a:t>WOC implementation will be difficult due to variety of systems used to manage them.</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2668848712"/>
                  </a:ext>
                </a:extLst>
              </a:tr>
              <a:tr h="370840">
                <a:tc>
                  <a:txBody>
                    <a:bodyPr/>
                    <a:lstStyle/>
                    <a:p>
                      <a:r>
                        <a:rPr lang="en-US" b="1" u="sng" dirty="0">
                          <a:solidFill>
                            <a:schemeClr val="tx1"/>
                          </a:solidFill>
                        </a:rPr>
                        <a:t>Current</a:t>
                      </a:r>
                      <a:r>
                        <a:rPr lang="en-US" b="1" dirty="0">
                          <a:solidFill>
                            <a:schemeClr val="tx1"/>
                          </a:solidFill>
                        </a:rPr>
                        <a:t> Roadblocks: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i="1" dirty="0">
                          <a:solidFill>
                            <a:schemeClr val="tx1"/>
                          </a:solidFill>
                        </a:rPr>
                        <a:t>Need for new SLA</a:t>
                      </a:r>
                      <a:endParaRPr lang="en-US" i="1" u="sng" dirty="0">
                        <a:solidFill>
                          <a:schemeClr val="tx1"/>
                        </a:solidFill>
                      </a:endParaRP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3999873908"/>
                  </a:ext>
                </a:extLst>
              </a:tr>
              <a:tr h="370840">
                <a:tc>
                  <a:txBody>
                    <a:bodyPr/>
                    <a:lstStyle/>
                    <a:p>
                      <a:r>
                        <a:rPr lang="en-US" b="1" dirty="0">
                          <a:solidFill>
                            <a:schemeClr val="tx1"/>
                          </a:solidFill>
                        </a:rPr>
                        <a:t>Mitigation Strategies: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r>
                        <a:rPr lang="en-US" i="1" dirty="0">
                          <a:solidFill>
                            <a:schemeClr val="tx1"/>
                          </a:solidFill>
                        </a:rPr>
                        <a:t>Continue to analyze and redefine the implementation. Consider implementation into two waves rather then 8.  First wave will be all VA paid staff. Second wave will encompass WOC</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1463779455"/>
                  </a:ext>
                </a:extLst>
              </a:tr>
            </a:tbl>
          </a:graphicData>
        </a:graphic>
      </p:graphicFrame>
      <p:sp>
        <p:nvSpPr>
          <p:cNvPr id="13" name="Title 1">
            <a:extLst>
              <a:ext uri="{FF2B5EF4-FFF2-40B4-BE49-F238E27FC236}">
                <a16:creationId xmlns:a16="http://schemas.microsoft.com/office/drawing/2014/main" id="{2D24CA2F-9675-E687-2802-67F560F334E4}"/>
              </a:ext>
            </a:extLst>
          </p:cNvPr>
          <p:cNvSpPr>
            <a:spLocks noGrp="1"/>
          </p:cNvSpPr>
          <p:nvPr>
            <p:ph type="title"/>
          </p:nvPr>
        </p:nvSpPr>
        <p:spPr>
          <a:xfrm>
            <a:off x="1011627" y="108834"/>
            <a:ext cx="10515600" cy="680223"/>
          </a:xfrm>
        </p:spPr>
        <p:txBody>
          <a:bodyPr/>
          <a:lstStyle/>
          <a:p>
            <a:r>
              <a:rPr lang="en-US" sz="2400" dirty="0"/>
              <a:t>Central Research HR Function: Delivery Status</a:t>
            </a:r>
          </a:p>
        </p:txBody>
      </p:sp>
      <p:pic>
        <p:nvPicPr>
          <p:cNvPr id="8" name="Graphic 7" descr="Boardroom outline">
            <a:extLst>
              <a:ext uri="{FF2B5EF4-FFF2-40B4-BE49-F238E27FC236}">
                <a16:creationId xmlns:a16="http://schemas.microsoft.com/office/drawing/2014/main" id="{F81D8378-91B0-6F47-61A0-C3FFC5BD484E}"/>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11527" y="106045"/>
            <a:ext cx="685800" cy="685800"/>
          </a:xfrm>
          <a:prstGeom prst="rect">
            <a:avLst/>
          </a:prstGeom>
        </p:spPr>
      </p:pic>
      <p:sp>
        <p:nvSpPr>
          <p:cNvPr id="5" name="Slide Number Placeholder 2">
            <a:extLst>
              <a:ext uri="{FF2B5EF4-FFF2-40B4-BE49-F238E27FC236}">
                <a16:creationId xmlns:a16="http://schemas.microsoft.com/office/drawing/2014/main" id="{41FC0151-9A41-ED9E-A340-BA2E503E5CF7}"/>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395040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89D270C5-A08C-47F8-3DFF-659BE2F232FF}"/>
              </a:ext>
            </a:extLst>
          </p:cNvPr>
          <p:cNvGraphicFramePr>
            <a:graphicFrameLocks noGrp="1"/>
          </p:cNvGraphicFramePr>
          <p:nvPr/>
        </p:nvGraphicFramePr>
        <p:xfrm>
          <a:off x="243840" y="1250830"/>
          <a:ext cx="11704320" cy="3657600"/>
        </p:xfrm>
        <a:graphic>
          <a:graphicData uri="http://schemas.openxmlformats.org/drawingml/2006/table">
            <a:tbl>
              <a:tblPr firstRow="1" bandRow="1">
                <a:tableStyleId>{5C22544A-7EE6-4342-B048-85BDC9FD1C3A}</a:tableStyleId>
              </a:tblPr>
              <a:tblGrid>
                <a:gridCol w="2489200">
                  <a:extLst>
                    <a:ext uri="{9D8B030D-6E8A-4147-A177-3AD203B41FA5}">
                      <a16:colId xmlns:a16="http://schemas.microsoft.com/office/drawing/2014/main" val="2080473561"/>
                    </a:ext>
                  </a:extLst>
                </a:gridCol>
                <a:gridCol w="9215120">
                  <a:extLst>
                    <a:ext uri="{9D8B030D-6E8A-4147-A177-3AD203B41FA5}">
                      <a16:colId xmlns:a16="http://schemas.microsoft.com/office/drawing/2014/main" val="1869368987"/>
                    </a:ext>
                  </a:extLst>
                </a:gridCol>
              </a:tblGrid>
              <a:tr h="370840">
                <a:tc>
                  <a:txBody>
                    <a:bodyPr/>
                    <a:lstStyle/>
                    <a:p>
                      <a:r>
                        <a:rPr lang="en-US" b="1" dirty="0">
                          <a:solidFill>
                            <a:schemeClr val="tx1"/>
                          </a:solidFill>
                        </a:rPr>
                        <a:t>Recommendation </a:t>
                      </a:r>
                      <a:r>
                        <a:rPr lang="en-US" b="1">
                          <a:solidFill>
                            <a:schemeClr val="tx1"/>
                          </a:solidFill>
                        </a:rPr>
                        <a:t>for Initiative </a:t>
                      </a:r>
                      <a:r>
                        <a:rPr lang="en-US" b="1" dirty="0">
                          <a:solidFill>
                            <a:schemeClr val="tx1"/>
                          </a:solidFill>
                        </a:rPr>
                        <a:t>in FY23:</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r>
                        <a:rPr lang="en-US" b="0" i="1" dirty="0">
                          <a:solidFill>
                            <a:schemeClr val="tx1"/>
                          </a:solidFill>
                        </a:rPr>
                        <a:t>Based on current progress and experience, the initiative owner/sponsor’s recommendation for the future of the initiative:</a:t>
                      </a:r>
                    </a:p>
                    <a:p>
                      <a:pPr marL="285750" indent="-285750">
                        <a:buFont typeface="Arial" panose="020B0604020202020204" pitchFamily="34" charset="0"/>
                        <a:buChar char="•"/>
                      </a:pPr>
                      <a:r>
                        <a:rPr lang="en-US" b="0" i="1" dirty="0">
                          <a:solidFill>
                            <a:schemeClr val="tx1"/>
                          </a:solidFill>
                        </a:rPr>
                        <a:t>Continue to negotiate and finalize SLA in FY 22 so that implementation of VA salaried staff transition occurs in 1</a:t>
                      </a:r>
                      <a:r>
                        <a:rPr lang="en-US" b="0" i="1" baseline="30000" dirty="0">
                          <a:solidFill>
                            <a:schemeClr val="tx1"/>
                          </a:solidFill>
                        </a:rPr>
                        <a:t>st</a:t>
                      </a:r>
                      <a:r>
                        <a:rPr lang="en-US" b="0" i="1" dirty="0">
                          <a:solidFill>
                            <a:schemeClr val="tx1"/>
                          </a:solidFill>
                        </a:rPr>
                        <a:t> Quarter.</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1267919758"/>
                  </a:ext>
                </a:extLst>
              </a:tr>
              <a:tr h="370840">
                <a:tc>
                  <a:txBody>
                    <a:bodyPr/>
                    <a:lstStyle/>
                    <a:p>
                      <a:r>
                        <a:rPr lang="en-US" b="1" dirty="0">
                          <a:solidFill>
                            <a:schemeClr val="tx1"/>
                          </a:solidFill>
                        </a:rPr>
                        <a:t>Major FY23 Outputs: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r>
                        <a:rPr lang="en-US" i="1" dirty="0">
                          <a:solidFill>
                            <a:schemeClr val="tx1"/>
                          </a:solidFill>
                        </a:rPr>
                        <a:t>Milestone 1  - end of 1st </a:t>
                      </a:r>
                      <a:r>
                        <a:rPr lang="en-US" i="1" dirty="0" err="1">
                          <a:solidFill>
                            <a:schemeClr val="tx1"/>
                          </a:solidFill>
                        </a:rPr>
                        <a:t>qtr</a:t>
                      </a:r>
                      <a:r>
                        <a:rPr lang="en-US" i="1" dirty="0">
                          <a:solidFill>
                            <a:schemeClr val="tx1"/>
                          </a:solidFill>
                        </a:rPr>
                        <a:t> – Transfer all VA Research Paid staff to Centralized system</a:t>
                      </a:r>
                    </a:p>
                    <a:p>
                      <a:r>
                        <a:rPr lang="en-US" i="1" dirty="0">
                          <a:solidFill>
                            <a:schemeClr val="tx1"/>
                          </a:solidFill>
                        </a:rPr>
                        <a:t>Milestone 2 – end of 4th </a:t>
                      </a:r>
                      <a:r>
                        <a:rPr lang="en-US" i="1" dirty="0" err="1">
                          <a:solidFill>
                            <a:schemeClr val="tx1"/>
                          </a:solidFill>
                        </a:rPr>
                        <a:t>qtr</a:t>
                      </a:r>
                      <a:r>
                        <a:rPr lang="en-US" i="1" dirty="0">
                          <a:solidFill>
                            <a:schemeClr val="tx1"/>
                          </a:solidFill>
                        </a:rPr>
                        <a:t>- develop and implement plan for WOC transition</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13577779"/>
                  </a:ext>
                </a:extLst>
              </a:tr>
              <a:tr h="370840">
                <a:tc>
                  <a:txBody>
                    <a:bodyPr/>
                    <a:lstStyle/>
                    <a:p>
                      <a:r>
                        <a:rPr lang="en-US" b="1" dirty="0">
                          <a:solidFill>
                            <a:schemeClr val="tx1"/>
                          </a:solidFill>
                        </a:rPr>
                        <a:t>Immediate Next Steps: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r>
                        <a:rPr lang="en-US" b="0" i="1" dirty="0">
                          <a:solidFill>
                            <a:schemeClr val="tx1"/>
                          </a:solidFill>
                        </a:rPr>
                        <a:t>List of immediate next steps initiative with take based on:</a:t>
                      </a:r>
                    </a:p>
                    <a:p>
                      <a:pPr marL="285750" indent="-285750">
                        <a:buFont typeface="Arial" panose="020B0604020202020204" pitchFamily="34" charset="0"/>
                        <a:buChar char="•"/>
                      </a:pPr>
                      <a:r>
                        <a:rPr lang="en-US" b="0" i="1" dirty="0">
                          <a:solidFill>
                            <a:schemeClr val="tx1"/>
                          </a:solidFill>
                        </a:rPr>
                        <a:t>Finalize negotiations of SLA </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4279033902"/>
                  </a:ext>
                </a:extLst>
              </a:tr>
              <a:tr h="370840">
                <a:tc>
                  <a:txBody>
                    <a:bodyPr/>
                    <a:lstStyle/>
                    <a:p>
                      <a:r>
                        <a:rPr lang="en-US" b="1" dirty="0">
                          <a:solidFill>
                            <a:schemeClr val="tx1"/>
                          </a:solidFill>
                        </a:rPr>
                        <a:t>ORD Leadership Support Required to Accomplish Initiative Objective: </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r>
                        <a:rPr lang="en-US" i="1" dirty="0">
                          <a:solidFill>
                            <a:schemeClr val="tx1"/>
                          </a:solidFill>
                        </a:rPr>
                        <a:t>CRADO has been informed of delay.  ORD leadership may need to discuss with VHA leadership the delays and may need to request meeting with operations leadership to further champion the transition.  This activity should be delayed until mid September and the meeting should be pursued if  there is no forward movement by WMC.</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2206889529"/>
                  </a:ext>
                </a:extLst>
              </a:tr>
            </a:tbl>
          </a:graphicData>
        </a:graphic>
      </p:graphicFrame>
      <p:sp>
        <p:nvSpPr>
          <p:cNvPr id="33" name="Title 1">
            <a:extLst>
              <a:ext uri="{FF2B5EF4-FFF2-40B4-BE49-F238E27FC236}">
                <a16:creationId xmlns:a16="http://schemas.microsoft.com/office/drawing/2014/main" id="{52BAEF8F-4780-E243-448F-F93727927AA7}"/>
              </a:ext>
            </a:extLst>
          </p:cNvPr>
          <p:cNvSpPr>
            <a:spLocks noGrp="1"/>
          </p:cNvSpPr>
          <p:nvPr>
            <p:ph type="title"/>
          </p:nvPr>
        </p:nvSpPr>
        <p:spPr>
          <a:xfrm>
            <a:off x="1011627" y="108834"/>
            <a:ext cx="10515600" cy="680223"/>
          </a:xfrm>
        </p:spPr>
        <p:txBody>
          <a:bodyPr/>
          <a:lstStyle/>
          <a:p>
            <a:r>
              <a:rPr lang="en-US" sz="2400" dirty="0"/>
              <a:t>Central Research HR Function: Proposed Next Steps</a:t>
            </a:r>
          </a:p>
        </p:txBody>
      </p:sp>
      <p:pic>
        <p:nvPicPr>
          <p:cNvPr id="8" name="Graphic 7" descr="Boardroom outline">
            <a:extLst>
              <a:ext uri="{FF2B5EF4-FFF2-40B4-BE49-F238E27FC236}">
                <a16:creationId xmlns:a16="http://schemas.microsoft.com/office/drawing/2014/main" id="{5594F857-9067-276D-6E84-E8E98E7CC68F}"/>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11527" y="106045"/>
            <a:ext cx="685800" cy="685800"/>
          </a:xfrm>
          <a:prstGeom prst="rect">
            <a:avLst/>
          </a:prstGeom>
        </p:spPr>
      </p:pic>
      <p:sp>
        <p:nvSpPr>
          <p:cNvPr id="5" name="Slide Number Placeholder 2">
            <a:extLst>
              <a:ext uri="{FF2B5EF4-FFF2-40B4-BE49-F238E27FC236}">
                <a16:creationId xmlns:a16="http://schemas.microsoft.com/office/drawing/2014/main" id="{0F6F86F4-D4E0-B2E8-9548-D40D71FA724D}"/>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678044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312732-C7CE-47D3-A994-5C9DAF8F6542}"/>
              </a:ext>
            </a:extLst>
          </p:cNvPr>
          <p:cNvSpPr>
            <a:spLocks noGrp="1"/>
          </p:cNvSpPr>
          <p:nvPr>
            <p:ph type="title"/>
          </p:nvPr>
        </p:nvSpPr>
        <p:spPr/>
        <p:txBody>
          <a:bodyPr/>
          <a:lstStyle/>
          <a:p>
            <a:r>
              <a:rPr lang="en-US" dirty="0">
                <a:solidFill>
                  <a:schemeClr val="tx1"/>
                </a:solidFill>
              </a:rPr>
              <a:t>Partnered Research Program</a:t>
            </a:r>
            <a:br>
              <a:rPr lang="en-US" dirty="0">
                <a:solidFill>
                  <a:schemeClr val="tx1"/>
                </a:solidFill>
              </a:rPr>
            </a:br>
            <a:endParaRPr lang="en-US" dirty="0">
              <a:solidFill>
                <a:schemeClr val="tx1"/>
              </a:solidFill>
            </a:endParaRPr>
          </a:p>
        </p:txBody>
      </p:sp>
      <p:sp>
        <p:nvSpPr>
          <p:cNvPr id="6" name="Slide Number Placeholder 2">
            <a:extLst>
              <a:ext uri="{FF2B5EF4-FFF2-40B4-BE49-F238E27FC236}">
                <a16:creationId xmlns:a16="http://schemas.microsoft.com/office/drawing/2014/main" id="{348A4DB6-213A-EF35-FF18-1097643D6169}"/>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693059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phic 10" descr="Handshake outline">
            <a:extLst>
              <a:ext uri="{FF2B5EF4-FFF2-40B4-BE49-F238E27FC236}">
                <a16:creationId xmlns:a16="http://schemas.microsoft.com/office/drawing/2014/main" id="{E3EC2B3A-B707-B3BD-3651-D6A0FDAC4442}"/>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11527" y="106045"/>
            <a:ext cx="685800" cy="685800"/>
          </a:xfrm>
          <a:prstGeom prst="rect">
            <a:avLst/>
          </a:prstGeom>
        </p:spPr>
      </p:pic>
      <p:graphicFrame>
        <p:nvGraphicFramePr>
          <p:cNvPr id="4" name="Table 4">
            <a:extLst>
              <a:ext uri="{FF2B5EF4-FFF2-40B4-BE49-F238E27FC236}">
                <a16:creationId xmlns:a16="http://schemas.microsoft.com/office/drawing/2014/main" id="{89D270C5-A08C-47F8-3DFF-659BE2F232FF}"/>
              </a:ext>
            </a:extLst>
          </p:cNvPr>
          <p:cNvGraphicFramePr>
            <a:graphicFrameLocks noGrp="1"/>
          </p:cNvGraphicFramePr>
          <p:nvPr>
            <p:extLst>
              <p:ext uri="{D42A27DB-BD31-4B8C-83A1-F6EECF244321}">
                <p14:modId xmlns:p14="http://schemas.microsoft.com/office/powerpoint/2010/main" val="1993157151"/>
              </p:ext>
            </p:extLst>
          </p:nvPr>
        </p:nvGraphicFramePr>
        <p:xfrm>
          <a:off x="243840" y="1008993"/>
          <a:ext cx="11704320" cy="4569718"/>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80473561"/>
                    </a:ext>
                  </a:extLst>
                </a:gridCol>
                <a:gridCol w="9144000">
                  <a:extLst>
                    <a:ext uri="{9D8B030D-6E8A-4147-A177-3AD203B41FA5}">
                      <a16:colId xmlns:a16="http://schemas.microsoft.com/office/drawing/2014/main" val="1869368987"/>
                    </a:ext>
                  </a:extLst>
                </a:gridCol>
              </a:tblGrid>
              <a:tr h="677422">
                <a:tc>
                  <a:txBody>
                    <a:bodyPr/>
                    <a:lstStyle/>
                    <a:p>
                      <a:r>
                        <a:rPr lang="en-US" b="1" strike="noStrike" dirty="0">
                          <a:solidFill>
                            <a:schemeClr val="tx1"/>
                          </a:solidFill>
                        </a:rPr>
                        <a:t>Initiative Objectives: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r>
                        <a:rPr lang="en-US" sz="1800" b="0" i="0" strike="noStrike" dirty="0">
                          <a:solidFill>
                            <a:schemeClr val="tx1"/>
                          </a:solidFill>
                        </a:rPr>
                        <a:t>Implement streamlined and standardized clinical trial start-up activities for industry-sponsored multisite trials to expand Veterans’ access to high-quality clinical trials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3835389272"/>
                  </a:ext>
                </a:extLst>
              </a:tr>
              <a:tr h="3709695">
                <a:tc>
                  <a:txBody>
                    <a:bodyPr/>
                    <a:lstStyle/>
                    <a:p>
                      <a:r>
                        <a:rPr lang="en-US" b="1" strike="noStrike" dirty="0">
                          <a:solidFill>
                            <a:schemeClr val="tx1"/>
                          </a:solidFill>
                        </a:rPr>
                        <a:t>Outputs Listed:</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pPr marL="0" marR="0" lvl="1" indent="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None/>
                        <a:tabLst/>
                        <a:defRPr/>
                      </a:pPr>
                      <a:r>
                        <a:rPr kumimoji="0" lang="en-US" sz="1800" b="0" i="0" u="sng" strike="noStrike" kern="1200" cap="none" spc="0" normalizeH="0" baseline="0" noProof="0" dirty="0">
                          <a:ln>
                            <a:noFill/>
                          </a:ln>
                          <a:solidFill>
                            <a:prstClr val="black"/>
                          </a:solidFill>
                          <a:effectLst/>
                          <a:uLnTx/>
                          <a:uFillTx/>
                          <a:latin typeface="+mn-lt"/>
                          <a:ea typeface="+mn-ea"/>
                          <a:cs typeface="Arial" panose="020B0604020202020204" pitchFamily="34" charset="0"/>
                        </a:rPr>
                        <a:t>By April 30, 2022:</a:t>
                      </a:r>
                    </a:p>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80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PRP Strategic Plan (including budget, concept of operations, PRP office staffing and structure)</a:t>
                      </a:r>
                    </a:p>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80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Service specific SOPs</a:t>
                      </a:r>
                    </a:p>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80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Additional resources to support day-to-day operations</a:t>
                      </a:r>
                    </a:p>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80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Post trial start up evaluations</a:t>
                      </a:r>
                    </a:p>
                    <a:p>
                      <a:pPr marL="0" marR="0" lvl="1" indent="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None/>
                        <a:tabLst/>
                        <a:defRPr/>
                      </a:pPr>
                      <a:r>
                        <a:rPr kumimoji="0" lang="en-US" sz="1800" b="0" i="0" u="sng" strike="noStrike" kern="1200" cap="none" spc="0" normalizeH="0" baseline="0" noProof="0" dirty="0">
                          <a:ln>
                            <a:noFill/>
                          </a:ln>
                          <a:solidFill>
                            <a:prstClr val="black"/>
                          </a:solidFill>
                          <a:effectLst/>
                          <a:uLnTx/>
                          <a:uFillTx/>
                          <a:latin typeface="+mn-lt"/>
                          <a:ea typeface="+mn-ea"/>
                          <a:cs typeface="Arial" panose="020B0604020202020204" pitchFamily="34" charset="0"/>
                        </a:rPr>
                        <a:t>By October 30, 2022: </a:t>
                      </a:r>
                    </a:p>
                    <a:p>
                      <a:pPr marL="174625" marR="0" lvl="1" indent="-174625"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80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Staff to implement PRP functions</a:t>
                      </a:r>
                    </a:p>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80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Additional identified SOPs</a:t>
                      </a:r>
                    </a:p>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80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Detailed communication plan and feedback mechanism</a:t>
                      </a:r>
                    </a:p>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80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Deployed SAG</a:t>
                      </a:r>
                    </a:p>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endParaRPr kumimoji="0" lang="en-US" sz="1600" b="0" i="0" u="none" strike="noStrike" kern="1200" cap="none" spc="0" normalizeH="0" baseline="0" noProof="0" dirty="0">
                        <a:ln>
                          <a:noFill/>
                        </a:ln>
                        <a:solidFill>
                          <a:prstClr val="black"/>
                        </a:solidFill>
                        <a:effectLst/>
                        <a:uLnTx/>
                        <a:uFillTx/>
                        <a:latin typeface="+mn-lt"/>
                        <a:ea typeface="+mn-ea"/>
                        <a:cs typeface="Arial" panose="020B0604020202020204" pitchFamily="34" charset="0"/>
                      </a:endParaRP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2389873790"/>
                  </a:ext>
                </a:extLst>
              </a:tr>
            </a:tbl>
          </a:graphicData>
        </a:graphic>
      </p:graphicFrame>
      <p:sp>
        <p:nvSpPr>
          <p:cNvPr id="13" name="Title 1">
            <a:extLst>
              <a:ext uri="{FF2B5EF4-FFF2-40B4-BE49-F238E27FC236}">
                <a16:creationId xmlns:a16="http://schemas.microsoft.com/office/drawing/2014/main" id="{2D24CA2F-9675-E687-2802-67F560F334E4}"/>
              </a:ext>
            </a:extLst>
          </p:cNvPr>
          <p:cNvSpPr>
            <a:spLocks noGrp="1"/>
          </p:cNvSpPr>
          <p:nvPr>
            <p:ph type="title"/>
          </p:nvPr>
        </p:nvSpPr>
        <p:spPr>
          <a:xfrm>
            <a:off x="1011627" y="108834"/>
            <a:ext cx="10515600" cy="680223"/>
          </a:xfrm>
        </p:spPr>
        <p:txBody>
          <a:bodyPr/>
          <a:lstStyle/>
          <a:p>
            <a:r>
              <a:rPr lang="en-US" sz="2400" dirty="0"/>
              <a:t>PRP: Objectives</a:t>
            </a:r>
          </a:p>
        </p:txBody>
      </p:sp>
      <p:sp>
        <p:nvSpPr>
          <p:cNvPr id="12" name="Slide Number Placeholder 2">
            <a:extLst>
              <a:ext uri="{FF2B5EF4-FFF2-40B4-BE49-F238E27FC236}">
                <a16:creationId xmlns:a16="http://schemas.microsoft.com/office/drawing/2014/main" id="{1424883C-AE4D-9BB2-D377-37A8E9CF6A98}"/>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180327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89D270C5-A08C-47F8-3DFF-659BE2F232FF}"/>
              </a:ext>
            </a:extLst>
          </p:cNvPr>
          <p:cNvGraphicFramePr>
            <a:graphicFrameLocks noGrp="1"/>
          </p:cNvGraphicFramePr>
          <p:nvPr>
            <p:extLst>
              <p:ext uri="{D42A27DB-BD31-4B8C-83A1-F6EECF244321}">
                <p14:modId xmlns:p14="http://schemas.microsoft.com/office/powerpoint/2010/main" val="3148338523"/>
              </p:ext>
            </p:extLst>
          </p:nvPr>
        </p:nvGraphicFramePr>
        <p:xfrm>
          <a:off x="211527" y="951186"/>
          <a:ext cx="11704320" cy="5132832"/>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80473561"/>
                    </a:ext>
                  </a:extLst>
                </a:gridCol>
                <a:gridCol w="9144000">
                  <a:extLst>
                    <a:ext uri="{9D8B030D-6E8A-4147-A177-3AD203B41FA5}">
                      <a16:colId xmlns:a16="http://schemas.microsoft.com/office/drawing/2014/main" val="1869368987"/>
                    </a:ext>
                  </a:extLst>
                </a:gridCol>
              </a:tblGrid>
              <a:tr h="1040373">
                <a:tc>
                  <a:txBody>
                    <a:bodyPr/>
                    <a:lstStyle/>
                    <a:p>
                      <a:r>
                        <a:rPr lang="en-US" b="1" strike="noStrike" dirty="0">
                          <a:solidFill>
                            <a:schemeClr val="tx1"/>
                          </a:solidFill>
                        </a:rPr>
                        <a:t>Outputs Delivered:</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80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Service specific SOPs and email templates related to initial inquiries, centralized CDAs</a:t>
                      </a:r>
                    </a:p>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80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Creation of PRP webpage</a:t>
                      </a:r>
                    </a:p>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80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Development of Decision Tool/Guidance for External Partners interested in partnership.</a:t>
                      </a:r>
                    </a:p>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80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Development of Request for Collaboration form to streamline initial engagement</a:t>
                      </a:r>
                    </a:p>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80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Development and management of Inquiry Database, Project Database and Reporting tool to track and manage requests for collaboration and activity related to subsequent projects.</a:t>
                      </a:r>
                    </a:p>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80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Implementation of VAIRRS based centralized privacy review process for select multisite trials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3835389272"/>
                  </a:ext>
                </a:extLst>
              </a:tr>
              <a:tr h="1668404">
                <a:tc>
                  <a:txBody>
                    <a:bodyPr/>
                    <a:lstStyle/>
                    <a:p>
                      <a:r>
                        <a:rPr lang="en-US" b="1" strike="noStrike" dirty="0">
                          <a:solidFill>
                            <a:schemeClr val="tx1"/>
                          </a:solidFill>
                        </a:rPr>
                        <a:t>Outputs Rescheduled:</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80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Detailed communication plan and feedback mechanism*</a:t>
                      </a:r>
                    </a:p>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80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Additional resources to support day-to-day operations*</a:t>
                      </a:r>
                    </a:p>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80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Post trial start up evaluations</a:t>
                      </a:r>
                    </a:p>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80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Staff to implement PRP functions*</a:t>
                      </a:r>
                    </a:p>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80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Deployed Staff Administrative Guide (SAG)*</a:t>
                      </a:r>
                    </a:p>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80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PRP Strategic Plan*</a:t>
                      </a:r>
                    </a:p>
                    <a:p>
                      <a:pPr marL="0" marR="0" lvl="1" indent="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*Delivery of these outputs has been postponed to FY 2023 due to reconsiderations made by initiative owner based upon lessons learned.</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2389873790"/>
                  </a:ext>
                </a:extLst>
              </a:tr>
            </a:tbl>
          </a:graphicData>
        </a:graphic>
      </p:graphicFrame>
      <p:sp>
        <p:nvSpPr>
          <p:cNvPr id="13" name="Title 1">
            <a:extLst>
              <a:ext uri="{FF2B5EF4-FFF2-40B4-BE49-F238E27FC236}">
                <a16:creationId xmlns:a16="http://schemas.microsoft.com/office/drawing/2014/main" id="{2D24CA2F-9675-E687-2802-67F560F334E4}"/>
              </a:ext>
            </a:extLst>
          </p:cNvPr>
          <p:cNvSpPr>
            <a:spLocks noGrp="1"/>
          </p:cNvSpPr>
          <p:nvPr>
            <p:ph type="title"/>
          </p:nvPr>
        </p:nvSpPr>
        <p:spPr>
          <a:xfrm>
            <a:off x="1011627" y="108834"/>
            <a:ext cx="10515600" cy="680223"/>
          </a:xfrm>
        </p:spPr>
        <p:txBody>
          <a:bodyPr/>
          <a:lstStyle/>
          <a:p>
            <a:r>
              <a:rPr lang="en-US" sz="2400" dirty="0"/>
              <a:t>PRP: Delivery Status</a:t>
            </a:r>
          </a:p>
        </p:txBody>
      </p:sp>
      <p:pic>
        <p:nvPicPr>
          <p:cNvPr id="12" name="Graphic 11" descr="Handshake outline">
            <a:extLst>
              <a:ext uri="{FF2B5EF4-FFF2-40B4-BE49-F238E27FC236}">
                <a16:creationId xmlns:a16="http://schemas.microsoft.com/office/drawing/2014/main" id="{6B630C74-C9BE-7B7F-1D22-8A2D83BC9F0F}"/>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11527" y="106045"/>
            <a:ext cx="685800" cy="685800"/>
          </a:xfrm>
          <a:prstGeom prst="rect">
            <a:avLst/>
          </a:prstGeom>
        </p:spPr>
      </p:pic>
      <p:sp>
        <p:nvSpPr>
          <p:cNvPr id="15" name="Slide Number Placeholder 2">
            <a:extLst>
              <a:ext uri="{FF2B5EF4-FFF2-40B4-BE49-F238E27FC236}">
                <a16:creationId xmlns:a16="http://schemas.microsoft.com/office/drawing/2014/main" id="{956E199C-E614-10A7-1A8B-B10AF099E0C9}"/>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005135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89D270C5-A08C-47F8-3DFF-659BE2F232FF}"/>
              </a:ext>
            </a:extLst>
          </p:cNvPr>
          <p:cNvGraphicFramePr>
            <a:graphicFrameLocks noGrp="1"/>
          </p:cNvGraphicFramePr>
          <p:nvPr/>
        </p:nvGraphicFramePr>
        <p:xfrm>
          <a:off x="211527" y="943486"/>
          <a:ext cx="11704320" cy="4837204"/>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80473561"/>
                    </a:ext>
                  </a:extLst>
                </a:gridCol>
                <a:gridCol w="9144000">
                  <a:extLst>
                    <a:ext uri="{9D8B030D-6E8A-4147-A177-3AD203B41FA5}">
                      <a16:colId xmlns:a16="http://schemas.microsoft.com/office/drawing/2014/main" val="1869368987"/>
                    </a:ext>
                  </a:extLst>
                </a:gridCol>
              </a:tblGrid>
              <a:tr h="4837204">
                <a:tc>
                  <a:txBody>
                    <a:bodyPr/>
                    <a:lstStyle/>
                    <a:p>
                      <a:r>
                        <a:rPr lang="en-US" b="1" dirty="0">
                          <a:solidFill>
                            <a:schemeClr val="tx1"/>
                          </a:solidFill>
                        </a:rPr>
                        <a:t>Lessons Learned:</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pPr marL="0" indent="0">
                        <a:buFont typeface="Arial" panose="020B0604020202020204" pitchFamily="34" charset="0"/>
                        <a:buNone/>
                      </a:pPr>
                      <a:r>
                        <a:rPr lang="en-US" b="0" i="0" dirty="0">
                          <a:solidFill>
                            <a:schemeClr val="tx1"/>
                          </a:solidFill>
                        </a:rPr>
                        <a:t>Some outputs initially proposed assumed that existing resources would be sufficient to meet completion goals. However, additional time and resources were required to address unanticipated foundational issues. Specifically:</a:t>
                      </a:r>
                    </a:p>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80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There was insufficient information available and/or heterogeneity regarding VA site and industry experience, challenges and best practices which required more effort to streamline and standardize start up activities.</a:t>
                      </a:r>
                    </a:p>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lang="en-US" b="0" i="0" dirty="0">
                          <a:solidFill>
                            <a:schemeClr val="tx1"/>
                          </a:solidFill>
                        </a:rPr>
                        <a:t>Stakeholders had broader expectations for PRP resulting in regular need to work with/communicate role and expectations.  i.e., stakeholders expected PRP to now be free service to handle time intensive activities without consideration of primary scope.</a:t>
                      </a:r>
                    </a:p>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lang="en-US" b="0" i="0" dirty="0">
                          <a:solidFill>
                            <a:schemeClr val="tx1"/>
                          </a:solidFill>
                        </a:rPr>
                        <a:t>Lack of clarity around use of contractor support impeded ability to allocate various day-to-day PRP operational tasks to others. </a:t>
                      </a:r>
                    </a:p>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lang="en-US" b="0" i="0" dirty="0">
                          <a:solidFill>
                            <a:schemeClr val="tx1"/>
                          </a:solidFill>
                        </a:rPr>
                        <a:t>Communications by others created expectation that VA was more open for business and it was PRP’s role to handle it.</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2668848712"/>
                  </a:ext>
                </a:extLst>
              </a:tr>
            </a:tbl>
          </a:graphicData>
        </a:graphic>
      </p:graphicFrame>
      <p:sp>
        <p:nvSpPr>
          <p:cNvPr id="13" name="Title 1">
            <a:extLst>
              <a:ext uri="{FF2B5EF4-FFF2-40B4-BE49-F238E27FC236}">
                <a16:creationId xmlns:a16="http://schemas.microsoft.com/office/drawing/2014/main" id="{2D24CA2F-9675-E687-2802-67F560F334E4}"/>
              </a:ext>
            </a:extLst>
          </p:cNvPr>
          <p:cNvSpPr>
            <a:spLocks noGrp="1"/>
          </p:cNvSpPr>
          <p:nvPr>
            <p:ph type="title"/>
          </p:nvPr>
        </p:nvSpPr>
        <p:spPr>
          <a:xfrm>
            <a:off x="1011627" y="108834"/>
            <a:ext cx="10515600" cy="680223"/>
          </a:xfrm>
        </p:spPr>
        <p:txBody>
          <a:bodyPr/>
          <a:lstStyle/>
          <a:p>
            <a:r>
              <a:rPr lang="en-US" sz="2400" dirty="0"/>
              <a:t>PRP: Delivery Status (continued)</a:t>
            </a:r>
          </a:p>
        </p:txBody>
      </p:sp>
      <p:pic>
        <p:nvPicPr>
          <p:cNvPr id="12" name="Graphic 11" descr="Handshake outline">
            <a:extLst>
              <a:ext uri="{FF2B5EF4-FFF2-40B4-BE49-F238E27FC236}">
                <a16:creationId xmlns:a16="http://schemas.microsoft.com/office/drawing/2014/main" id="{6B630C74-C9BE-7B7F-1D22-8A2D83BC9F0F}"/>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11527" y="106045"/>
            <a:ext cx="685800" cy="685800"/>
          </a:xfrm>
          <a:prstGeom prst="rect">
            <a:avLst/>
          </a:prstGeom>
        </p:spPr>
      </p:pic>
      <p:sp>
        <p:nvSpPr>
          <p:cNvPr id="15" name="Slide Number Placeholder 2">
            <a:extLst>
              <a:ext uri="{FF2B5EF4-FFF2-40B4-BE49-F238E27FC236}">
                <a16:creationId xmlns:a16="http://schemas.microsoft.com/office/drawing/2014/main" id="{956E199C-E614-10A7-1A8B-B10AF099E0C9}"/>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154721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89D270C5-A08C-47F8-3DFF-659BE2F232FF}"/>
              </a:ext>
            </a:extLst>
          </p:cNvPr>
          <p:cNvGraphicFramePr>
            <a:graphicFrameLocks noGrp="1"/>
          </p:cNvGraphicFramePr>
          <p:nvPr/>
        </p:nvGraphicFramePr>
        <p:xfrm>
          <a:off x="80555" y="985000"/>
          <a:ext cx="11704320" cy="320040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80473561"/>
                    </a:ext>
                  </a:extLst>
                </a:gridCol>
                <a:gridCol w="9144000">
                  <a:extLst>
                    <a:ext uri="{9D8B030D-6E8A-4147-A177-3AD203B41FA5}">
                      <a16:colId xmlns:a16="http://schemas.microsoft.com/office/drawing/2014/main" val="1869368987"/>
                    </a:ext>
                  </a:extLst>
                </a:gridCol>
              </a:tblGrid>
              <a:tr h="666093">
                <a:tc>
                  <a:txBody>
                    <a:bodyPr/>
                    <a:lstStyle/>
                    <a:p>
                      <a:r>
                        <a:rPr lang="en-US" b="1" u="sng" dirty="0">
                          <a:solidFill>
                            <a:schemeClr val="tx1"/>
                          </a:solidFill>
                        </a:rPr>
                        <a:t>Current</a:t>
                      </a:r>
                      <a:r>
                        <a:rPr lang="en-US" b="1" dirty="0">
                          <a:solidFill>
                            <a:schemeClr val="tx1"/>
                          </a:solidFill>
                        </a:rPr>
                        <a:t> Roadblocks: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pPr marL="285750" marR="0" lvl="0" indent="-285750" algn="l" rtl="0" eaLnBrk="1" fontAlgn="auto" latinLnBrk="0" hangingPunct="1">
                        <a:lnSpc>
                          <a:spcPct val="100000"/>
                        </a:lnSpc>
                        <a:spcBef>
                          <a:spcPts val="0"/>
                        </a:spcBef>
                        <a:spcAft>
                          <a:spcPts val="0"/>
                        </a:spcAft>
                        <a:buClr>
                          <a:srgbClr val="517FD5"/>
                        </a:buClr>
                        <a:buSzTx/>
                        <a:buFont typeface="Wingdings" panose="05000000000000000000" pitchFamily="2" charset="2"/>
                        <a:buChar char="§"/>
                      </a:pPr>
                      <a:r>
                        <a:rPr lang="en-US" b="0" i="0" dirty="0">
                          <a:solidFill>
                            <a:schemeClr val="tx1"/>
                          </a:solidFill>
                        </a:rPr>
                        <a:t>Resourcing/Strain on bandwidth of PRP Manager (and DCRADO-EO to an extent) to devote to initiative while managing majority of day-to-day activities for PRP in its current state (mailbox management, meetings, working with SPMs/clinical experts, CDAs, tracking, electronic filing, overseeing 2 pilot trials and activities of the contractor facilitator). This further complicated by the ongoing issue of contractor access/engagement in trials under the terms of VA CDAs and CRADAs</a:t>
                      </a:r>
                      <a:r>
                        <a:rPr lang="en-US" b="0" i="0" u="none" dirty="0">
                          <a:solidFill>
                            <a:schemeClr val="tx1"/>
                          </a:solidFill>
                        </a:rPr>
                        <a:t>. </a:t>
                      </a:r>
                      <a:endParaRPr lang="en-US" b="0" i="1" u="sng" dirty="0">
                        <a:solidFill>
                          <a:schemeClr val="tx1"/>
                        </a:solidFill>
                      </a:endParaRP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2444077378"/>
                  </a:ext>
                </a:extLst>
              </a:tr>
              <a:tr h="666093">
                <a:tc>
                  <a:txBody>
                    <a:bodyPr/>
                    <a:lstStyle/>
                    <a:p>
                      <a:r>
                        <a:rPr lang="en-US" b="1" dirty="0">
                          <a:solidFill>
                            <a:schemeClr val="tx1"/>
                          </a:solidFill>
                        </a:rPr>
                        <a:t>Mitigation Strategies: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pPr marL="285750" indent="-285750">
                        <a:buClr>
                          <a:srgbClr val="517FD5"/>
                        </a:buClr>
                        <a:buFont typeface="Wingdings" panose="05000000000000000000" pitchFamily="2" charset="2"/>
                        <a:buChar char="§"/>
                      </a:pPr>
                      <a:r>
                        <a:rPr lang="en-US" b="0" i="0" dirty="0">
                          <a:solidFill>
                            <a:schemeClr val="tx1"/>
                          </a:solidFill>
                        </a:rPr>
                        <a:t>Awaiting formal opinion on contractor role/access from Office of General Counsel</a:t>
                      </a:r>
                    </a:p>
                    <a:p>
                      <a:pPr marL="285750" indent="-285750">
                        <a:buClr>
                          <a:srgbClr val="517FD5"/>
                        </a:buClr>
                        <a:buFont typeface="Wingdings" panose="05000000000000000000" pitchFamily="2" charset="2"/>
                        <a:buChar char="§"/>
                      </a:pPr>
                      <a:r>
                        <a:rPr lang="en-US" b="0" i="0" dirty="0">
                          <a:solidFill>
                            <a:schemeClr val="tx1"/>
                          </a:solidFill>
                        </a:rPr>
                        <a:t>Request submitted for contractor support in the form of administrative support for mailbox management &amp; electronic filing/tracking</a:t>
                      </a:r>
                    </a:p>
                    <a:p>
                      <a:pPr marL="285750" indent="-285750">
                        <a:buClr>
                          <a:srgbClr val="517FD5"/>
                        </a:buClr>
                        <a:buFont typeface="Wingdings" panose="05000000000000000000" pitchFamily="2" charset="2"/>
                        <a:buChar char="§"/>
                      </a:pPr>
                      <a:r>
                        <a:rPr lang="en-US" b="0" i="0" dirty="0">
                          <a:solidFill>
                            <a:schemeClr val="tx1"/>
                          </a:solidFill>
                        </a:rPr>
                        <a:t>Request submitted for contractor support for Project Lead/Manager to assist Program Manager with Initiative activities. </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1463779455"/>
                  </a:ext>
                </a:extLst>
              </a:tr>
            </a:tbl>
          </a:graphicData>
        </a:graphic>
      </p:graphicFrame>
      <p:sp>
        <p:nvSpPr>
          <p:cNvPr id="13" name="Title 1">
            <a:extLst>
              <a:ext uri="{FF2B5EF4-FFF2-40B4-BE49-F238E27FC236}">
                <a16:creationId xmlns:a16="http://schemas.microsoft.com/office/drawing/2014/main" id="{2D24CA2F-9675-E687-2802-67F560F334E4}"/>
              </a:ext>
            </a:extLst>
          </p:cNvPr>
          <p:cNvSpPr>
            <a:spLocks noGrp="1"/>
          </p:cNvSpPr>
          <p:nvPr>
            <p:ph type="title"/>
          </p:nvPr>
        </p:nvSpPr>
        <p:spPr>
          <a:xfrm>
            <a:off x="1011627" y="108834"/>
            <a:ext cx="10515600" cy="680223"/>
          </a:xfrm>
        </p:spPr>
        <p:txBody>
          <a:bodyPr/>
          <a:lstStyle/>
          <a:p>
            <a:r>
              <a:rPr lang="en-US" sz="2400" dirty="0"/>
              <a:t>PRP: Delivery Status (continued)</a:t>
            </a:r>
          </a:p>
        </p:txBody>
      </p:sp>
      <p:pic>
        <p:nvPicPr>
          <p:cNvPr id="12" name="Graphic 11" descr="Handshake outline">
            <a:extLst>
              <a:ext uri="{FF2B5EF4-FFF2-40B4-BE49-F238E27FC236}">
                <a16:creationId xmlns:a16="http://schemas.microsoft.com/office/drawing/2014/main" id="{6B630C74-C9BE-7B7F-1D22-8A2D83BC9F0F}"/>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11527" y="106045"/>
            <a:ext cx="685800" cy="685800"/>
          </a:xfrm>
          <a:prstGeom prst="rect">
            <a:avLst/>
          </a:prstGeom>
        </p:spPr>
      </p:pic>
      <p:sp>
        <p:nvSpPr>
          <p:cNvPr id="15" name="Slide Number Placeholder 2">
            <a:extLst>
              <a:ext uri="{FF2B5EF4-FFF2-40B4-BE49-F238E27FC236}">
                <a16:creationId xmlns:a16="http://schemas.microsoft.com/office/drawing/2014/main" id="{956E199C-E614-10A7-1A8B-B10AF099E0C9}"/>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820366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89D270C5-A08C-47F8-3DFF-659BE2F232FF}"/>
              </a:ext>
            </a:extLst>
          </p:cNvPr>
          <p:cNvGraphicFramePr>
            <a:graphicFrameLocks noGrp="1"/>
          </p:cNvGraphicFramePr>
          <p:nvPr>
            <p:extLst>
              <p:ext uri="{D42A27DB-BD31-4B8C-83A1-F6EECF244321}">
                <p14:modId xmlns:p14="http://schemas.microsoft.com/office/powerpoint/2010/main" val="2714795834"/>
              </p:ext>
            </p:extLst>
          </p:nvPr>
        </p:nvGraphicFramePr>
        <p:xfrm>
          <a:off x="171078" y="999122"/>
          <a:ext cx="11849844" cy="5084064"/>
        </p:xfrm>
        <a:graphic>
          <a:graphicData uri="http://schemas.openxmlformats.org/drawingml/2006/table">
            <a:tbl>
              <a:tblPr firstRow="1" bandRow="1">
                <a:tableStyleId>{5C22544A-7EE6-4342-B048-85BDC9FD1C3A}</a:tableStyleId>
              </a:tblPr>
              <a:tblGrid>
                <a:gridCol w="2592153">
                  <a:extLst>
                    <a:ext uri="{9D8B030D-6E8A-4147-A177-3AD203B41FA5}">
                      <a16:colId xmlns:a16="http://schemas.microsoft.com/office/drawing/2014/main" val="2080473561"/>
                    </a:ext>
                  </a:extLst>
                </a:gridCol>
                <a:gridCol w="9257691">
                  <a:extLst>
                    <a:ext uri="{9D8B030D-6E8A-4147-A177-3AD203B41FA5}">
                      <a16:colId xmlns:a16="http://schemas.microsoft.com/office/drawing/2014/main" val="1869368987"/>
                    </a:ext>
                  </a:extLst>
                </a:gridCol>
              </a:tblGrid>
              <a:tr h="370840">
                <a:tc>
                  <a:txBody>
                    <a:bodyPr/>
                    <a:lstStyle/>
                    <a:p>
                      <a:r>
                        <a:rPr lang="en-US" b="1" dirty="0">
                          <a:solidFill>
                            <a:schemeClr val="tx1"/>
                          </a:solidFill>
                        </a:rPr>
                        <a:t>Recommendation </a:t>
                      </a:r>
                      <a:r>
                        <a:rPr lang="en-US" b="1">
                          <a:solidFill>
                            <a:schemeClr val="tx1"/>
                          </a:solidFill>
                        </a:rPr>
                        <a:t>for Initiative </a:t>
                      </a:r>
                      <a:r>
                        <a:rPr lang="en-US" b="1" dirty="0">
                          <a:solidFill>
                            <a:schemeClr val="tx1"/>
                          </a:solidFill>
                        </a:rPr>
                        <a:t>in FY23:</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r>
                        <a:rPr lang="en-US" sz="1800" b="0" i="0" dirty="0">
                          <a:solidFill>
                            <a:schemeClr val="tx1"/>
                          </a:solidFill>
                        </a:rPr>
                        <a:t>Revise outputs in response to lessons learned and better assessment of requirements to complete them</a:t>
                      </a:r>
                    </a:p>
                    <a:p>
                      <a:r>
                        <a:rPr lang="en-US" sz="1800" b="0" i="0" dirty="0">
                          <a:solidFill>
                            <a:schemeClr val="tx1"/>
                          </a:solidFill>
                        </a:rPr>
                        <a:t>Provide talking points to ORD and Field on PRP’s current capabilities/roles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1267919758"/>
                  </a:ext>
                </a:extLst>
              </a:tr>
              <a:tr h="370840">
                <a:tc>
                  <a:txBody>
                    <a:bodyPr/>
                    <a:lstStyle/>
                    <a:p>
                      <a:r>
                        <a:rPr lang="en-US" b="1" dirty="0">
                          <a:solidFill>
                            <a:schemeClr val="tx1"/>
                          </a:solidFill>
                        </a:rPr>
                        <a:t>Major FY23 Outputs: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pPr marL="285750" marR="0" lvl="1" indent="-285750" algn="l" defTabSz="914400" rtl="0" eaLnBrk="1" fontAlgn="auto" latinLnBrk="0" hangingPunct="1">
                        <a:lnSpc>
                          <a:spcPct val="100000"/>
                        </a:lnSpc>
                        <a:spcBef>
                          <a:spcPct val="30000"/>
                        </a:spcBef>
                        <a:spcAft>
                          <a:spcPts val="0"/>
                        </a:spcAft>
                        <a:buClr>
                          <a:srgbClr val="517FD5"/>
                        </a:buClr>
                        <a:buSzTx/>
                        <a:buFont typeface="Wingdings" panose="05000000000000000000" pitchFamily="2" charset="2"/>
                        <a:buChar char="§"/>
                        <a:tabLst/>
                        <a:defRPr/>
                      </a:pPr>
                      <a:r>
                        <a:rPr lang="en-US" sz="1800" dirty="0">
                          <a:solidFill>
                            <a:prstClr val="black"/>
                          </a:solidFill>
                          <a:latin typeface="+mn-lt"/>
                          <a:cs typeface="Arial" panose="020B0604020202020204" pitchFamily="34" charset="0"/>
                        </a:rPr>
                        <a:t>Continue to identify existing tools and resources required to streamline/standardized key processes within each workstream</a:t>
                      </a:r>
                    </a:p>
                    <a:p>
                      <a:pPr marL="285750" marR="0" lvl="1" indent="-285750" algn="l" defTabSz="914400" rtl="0" eaLnBrk="1" fontAlgn="auto" latinLnBrk="0" hangingPunct="1">
                        <a:lnSpc>
                          <a:spcPct val="100000"/>
                        </a:lnSpc>
                        <a:spcBef>
                          <a:spcPct val="30000"/>
                        </a:spcBef>
                        <a:spcAft>
                          <a:spcPts val="0"/>
                        </a:spcAft>
                        <a:buClr>
                          <a:srgbClr val="517FD5"/>
                        </a:buClr>
                        <a:buSzTx/>
                        <a:buFont typeface="Wingdings" panose="05000000000000000000" pitchFamily="2" charset="2"/>
                        <a:buChar char="§"/>
                        <a:tabLst/>
                        <a:defRPr/>
                      </a:pPr>
                      <a:r>
                        <a:rPr lang="en-US" sz="1800" dirty="0">
                          <a:solidFill>
                            <a:prstClr val="black"/>
                          </a:solidFill>
                          <a:latin typeface="+mn-lt"/>
                          <a:cs typeface="Arial" panose="020B0604020202020204" pitchFamily="34" charset="0"/>
                        </a:rPr>
                        <a:t>Finalize Process Map defining </a:t>
                      </a:r>
                      <a:r>
                        <a:rPr kumimoji="0" lang="en-US" sz="180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the industry and researcher customer journeys (2 workstreams) and associated model(s) for partnership.</a:t>
                      </a:r>
                    </a:p>
                    <a:p>
                      <a:pPr marL="285750" marR="0" lvl="1" indent="-285750" algn="l" defTabSz="914400" rtl="0" eaLnBrk="1" fontAlgn="auto" latinLnBrk="0" hangingPunct="1">
                        <a:lnSpc>
                          <a:spcPct val="100000"/>
                        </a:lnSpc>
                        <a:spcBef>
                          <a:spcPct val="30000"/>
                        </a:spcBef>
                        <a:spcAft>
                          <a:spcPts val="0"/>
                        </a:spcAft>
                        <a:buClr>
                          <a:srgbClr val="517FD5"/>
                        </a:buClr>
                        <a:buSzTx/>
                        <a:buFont typeface="Wingdings" panose="05000000000000000000" pitchFamily="2" charset="2"/>
                        <a:buChar char="§"/>
                        <a:tabLst/>
                        <a:defRPr/>
                      </a:pPr>
                      <a:r>
                        <a:rPr lang="en-US" sz="1800" dirty="0">
                          <a:solidFill>
                            <a:prstClr val="black"/>
                          </a:solidFill>
                          <a:latin typeface="+mn-lt"/>
                          <a:cs typeface="Arial" panose="020B0604020202020204" pitchFamily="34" charset="0"/>
                        </a:rPr>
                        <a:t>Develop repository of existing tools and resources/FAQs</a:t>
                      </a:r>
                    </a:p>
                    <a:p>
                      <a:pPr marL="285750" marR="0" lvl="1" indent="-285750" algn="l" defTabSz="914400" rtl="0" eaLnBrk="1" fontAlgn="auto" latinLnBrk="0" hangingPunct="1">
                        <a:lnSpc>
                          <a:spcPct val="100000"/>
                        </a:lnSpc>
                        <a:spcBef>
                          <a:spcPct val="30000"/>
                        </a:spcBef>
                        <a:spcAft>
                          <a:spcPts val="0"/>
                        </a:spcAft>
                        <a:buClr>
                          <a:srgbClr val="517FD5"/>
                        </a:buClr>
                        <a:buSzTx/>
                        <a:buFont typeface="Wingdings" panose="05000000000000000000" pitchFamily="2" charset="2"/>
                        <a:buChar char="§"/>
                        <a:tabLst/>
                        <a:defRPr/>
                      </a:pPr>
                      <a:r>
                        <a:rPr lang="en-US" sz="1800" dirty="0">
                          <a:solidFill>
                            <a:prstClr val="black"/>
                          </a:solidFill>
                          <a:latin typeface="+mn-lt"/>
                          <a:cs typeface="Arial" panose="020B0604020202020204" pitchFamily="34" charset="0"/>
                        </a:rPr>
                        <a:t>VAIRRS based process for centralized Information Security Reviews.</a:t>
                      </a:r>
                    </a:p>
                    <a:p>
                      <a:pPr marL="285750" marR="0" lvl="1" indent="-285750" algn="l" defTabSz="914400" rtl="0" eaLnBrk="1" fontAlgn="auto" latinLnBrk="0" hangingPunct="1">
                        <a:lnSpc>
                          <a:spcPct val="100000"/>
                        </a:lnSpc>
                        <a:spcBef>
                          <a:spcPct val="30000"/>
                        </a:spcBef>
                        <a:spcAft>
                          <a:spcPts val="0"/>
                        </a:spcAft>
                        <a:buClr>
                          <a:srgbClr val="517FD5"/>
                        </a:buClr>
                        <a:buSzTx/>
                        <a:buFont typeface="Wingdings" panose="05000000000000000000" pitchFamily="2" charset="2"/>
                        <a:buChar char="§"/>
                        <a:tabLst/>
                        <a:defRPr/>
                      </a:pPr>
                      <a:r>
                        <a:rPr lang="en-US" sz="1800" dirty="0">
                          <a:solidFill>
                            <a:prstClr val="black"/>
                          </a:solidFill>
                          <a:latin typeface="+mn-lt"/>
                          <a:cs typeface="Arial" panose="020B0604020202020204" pitchFamily="34" charset="0"/>
                        </a:rPr>
                        <a:t>Develop Strategic Plan for PRP expansion including </a:t>
                      </a:r>
                      <a:r>
                        <a:rPr kumimoji="0" lang="en-US" sz="180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budget, concept of operations, staffing and structure</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13577779"/>
                  </a:ext>
                </a:extLst>
              </a:tr>
              <a:tr h="370840">
                <a:tc>
                  <a:txBody>
                    <a:bodyPr/>
                    <a:lstStyle/>
                    <a:p>
                      <a:r>
                        <a:rPr lang="en-US" b="1" dirty="0">
                          <a:solidFill>
                            <a:schemeClr val="tx1"/>
                          </a:solidFill>
                        </a:rPr>
                        <a:t>Immediate Next Steps: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pPr marL="285750" indent="-285750">
                        <a:buClr>
                          <a:srgbClr val="517FD5"/>
                        </a:buClr>
                        <a:buFont typeface="Wingdings" panose="05000000000000000000" pitchFamily="2" charset="2"/>
                        <a:buChar char="§"/>
                      </a:pPr>
                      <a:r>
                        <a:rPr lang="en-US" sz="1800" b="0" i="0" dirty="0">
                          <a:solidFill>
                            <a:schemeClr val="tx1"/>
                          </a:solidFill>
                        </a:rPr>
                        <a:t>Use contractor support to bring on Project Manager dedicated to Initiative efforts.</a:t>
                      </a:r>
                    </a:p>
                    <a:p>
                      <a:pPr marL="285750" indent="-285750">
                        <a:buClr>
                          <a:srgbClr val="517FD5"/>
                        </a:buClr>
                        <a:buFont typeface="Wingdings" panose="05000000000000000000" pitchFamily="2" charset="2"/>
                        <a:buChar char="§"/>
                      </a:pPr>
                      <a:r>
                        <a:rPr lang="en-US" sz="1800" b="0" i="0" dirty="0">
                          <a:solidFill>
                            <a:schemeClr val="tx1"/>
                          </a:solidFill>
                        </a:rPr>
                        <a:t>Use contract mechanism to bring on PT support for PRP administrative tasks</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4279033902"/>
                  </a:ext>
                </a:extLst>
              </a:tr>
              <a:tr h="370840">
                <a:tc>
                  <a:txBody>
                    <a:bodyPr/>
                    <a:lstStyle/>
                    <a:p>
                      <a:r>
                        <a:rPr lang="en-US" b="1" dirty="0">
                          <a:solidFill>
                            <a:schemeClr val="tx1"/>
                          </a:solidFill>
                        </a:rPr>
                        <a:t>ORD Leadership Support Required to Accomplish Initiative Objective: </a:t>
                      </a: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tc>
                  <a:txBody>
                    <a:bodyPr/>
                    <a:lstStyle/>
                    <a:p>
                      <a:pPr marL="285750" indent="-285750">
                        <a:buClr>
                          <a:srgbClr val="517FD5"/>
                        </a:buClr>
                        <a:buFont typeface="Wingdings" panose="05000000000000000000" pitchFamily="2" charset="2"/>
                        <a:buChar char="§"/>
                      </a:pPr>
                      <a:r>
                        <a:rPr lang="en-US" sz="1800" b="0" i="0" dirty="0">
                          <a:solidFill>
                            <a:schemeClr val="tx1"/>
                          </a:solidFill>
                        </a:rPr>
                        <a:t>Provide briefing to ORD leaders and have PRP provide talking points to ORD and Field on PRP’s current capabilities/roles to mitigate added duties and/or responsibilities</a:t>
                      </a:r>
                      <a:endParaRPr lang="en-US" sz="1800" i="0" strike="sngStrike" dirty="0">
                        <a:solidFill>
                          <a:schemeClr val="tx1"/>
                        </a:solidFill>
                      </a:endParaRP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solidFill>
                      <a:schemeClr val="bg1"/>
                    </a:solidFill>
                  </a:tcPr>
                </a:tc>
                <a:extLst>
                  <a:ext uri="{0D108BD9-81ED-4DB2-BD59-A6C34878D82A}">
                    <a16:rowId xmlns:a16="http://schemas.microsoft.com/office/drawing/2014/main" val="2206889529"/>
                  </a:ext>
                </a:extLst>
              </a:tr>
            </a:tbl>
          </a:graphicData>
        </a:graphic>
      </p:graphicFrame>
      <p:sp>
        <p:nvSpPr>
          <p:cNvPr id="33" name="Title 1">
            <a:extLst>
              <a:ext uri="{FF2B5EF4-FFF2-40B4-BE49-F238E27FC236}">
                <a16:creationId xmlns:a16="http://schemas.microsoft.com/office/drawing/2014/main" id="{52BAEF8F-4780-E243-448F-F93727927AA7}"/>
              </a:ext>
            </a:extLst>
          </p:cNvPr>
          <p:cNvSpPr>
            <a:spLocks noGrp="1"/>
          </p:cNvSpPr>
          <p:nvPr>
            <p:ph type="title"/>
          </p:nvPr>
        </p:nvSpPr>
        <p:spPr>
          <a:xfrm>
            <a:off x="1011627" y="108834"/>
            <a:ext cx="10515600" cy="680223"/>
          </a:xfrm>
        </p:spPr>
        <p:txBody>
          <a:bodyPr/>
          <a:lstStyle/>
          <a:p>
            <a:r>
              <a:rPr lang="en-US" sz="2400" dirty="0"/>
              <a:t>PRP: Proposed Next Steps</a:t>
            </a:r>
          </a:p>
        </p:txBody>
      </p:sp>
      <p:pic>
        <p:nvPicPr>
          <p:cNvPr id="11" name="Graphic 10" descr="Handshake outline">
            <a:extLst>
              <a:ext uri="{FF2B5EF4-FFF2-40B4-BE49-F238E27FC236}">
                <a16:creationId xmlns:a16="http://schemas.microsoft.com/office/drawing/2014/main" id="{402B3773-A131-F272-CB31-1D4D4843C69D}"/>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11527" y="106045"/>
            <a:ext cx="685800" cy="685800"/>
          </a:xfrm>
          <a:prstGeom prst="rect">
            <a:avLst/>
          </a:prstGeom>
        </p:spPr>
      </p:pic>
      <p:sp>
        <p:nvSpPr>
          <p:cNvPr id="12" name="Slide Number Placeholder 2">
            <a:extLst>
              <a:ext uri="{FF2B5EF4-FFF2-40B4-BE49-F238E27FC236}">
                <a16:creationId xmlns:a16="http://schemas.microsoft.com/office/drawing/2014/main" id="{79DF789A-3DFF-A928-9990-3F94DFE7FF90}"/>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130575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312732-C7CE-47D3-A994-5C9DAF8F6542}"/>
              </a:ext>
            </a:extLst>
          </p:cNvPr>
          <p:cNvSpPr>
            <a:spLocks noGrp="1"/>
          </p:cNvSpPr>
          <p:nvPr>
            <p:ph type="title"/>
          </p:nvPr>
        </p:nvSpPr>
        <p:spPr>
          <a:xfrm>
            <a:off x="831850" y="3260242"/>
            <a:ext cx="10515600" cy="2852737"/>
          </a:xfrm>
        </p:spPr>
        <p:txBody>
          <a:bodyPr/>
          <a:lstStyle/>
          <a:p>
            <a:r>
              <a:rPr lang="en-US" dirty="0">
                <a:solidFill>
                  <a:schemeClr val="tx1"/>
                </a:solidFill>
              </a:rPr>
              <a:t>Appendix: </a:t>
            </a:r>
            <a:br>
              <a:rPr lang="en-US" dirty="0">
                <a:solidFill>
                  <a:schemeClr val="tx1"/>
                </a:solidFill>
              </a:rPr>
            </a:br>
            <a:r>
              <a:rPr lang="en-US" dirty="0">
                <a:solidFill>
                  <a:schemeClr val="tx1"/>
                </a:solidFill>
              </a:rPr>
              <a:t>Organizational Alignment Roadmap</a:t>
            </a:r>
            <a:br>
              <a:rPr lang="en-US" dirty="0">
                <a:solidFill>
                  <a:schemeClr val="tx1"/>
                </a:solidFill>
              </a:rPr>
            </a:br>
            <a:br>
              <a:rPr lang="en-US" dirty="0">
                <a:solidFill>
                  <a:schemeClr val="tx1"/>
                </a:solidFill>
              </a:rPr>
            </a:br>
            <a:br>
              <a:rPr lang="en-US" dirty="0">
                <a:solidFill>
                  <a:schemeClr val="tx1"/>
                </a:solidFill>
              </a:rPr>
            </a:br>
            <a:endParaRPr lang="en-US" dirty="0">
              <a:solidFill>
                <a:schemeClr val="tx1"/>
              </a:solidFill>
            </a:endParaRPr>
          </a:p>
        </p:txBody>
      </p:sp>
      <p:sp>
        <p:nvSpPr>
          <p:cNvPr id="6" name="Slide Number Placeholder 2">
            <a:extLst>
              <a:ext uri="{FF2B5EF4-FFF2-40B4-BE49-F238E27FC236}">
                <a16:creationId xmlns:a16="http://schemas.microsoft.com/office/drawing/2014/main" id="{348A4DB6-213A-EF35-FF18-1097643D6169}"/>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514536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ee4pHeader2">
            <a:extLst>
              <a:ext uri="{FF2B5EF4-FFF2-40B4-BE49-F238E27FC236}">
                <a16:creationId xmlns:a16="http://schemas.microsoft.com/office/drawing/2014/main" id="{4180A0B4-936C-4FA8-944A-8F39BD2A7C3F}"/>
              </a:ext>
            </a:extLst>
          </p:cNvPr>
          <p:cNvSpPr/>
          <p:nvPr>
            <p:custDataLst>
              <p:tags r:id="rId1"/>
            </p:custDataLst>
          </p:nvPr>
        </p:nvSpPr>
        <p:spPr bwMode="auto">
          <a:xfrm>
            <a:off x="6290845" y="926762"/>
            <a:ext cx="5545555" cy="622638"/>
          </a:xfrm>
          <a:prstGeom prst="chevron">
            <a:avLst>
              <a:gd name="adj" fmla="val 19696"/>
            </a:avLst>
          </a:prstGeom>
          <a:solidFill>
            <a:srgbClr val="002F56"/>
          </a:solidFill>
          <a:ln w="9525" cmpd="sng">
            <a:solidFill>
              <a:srgbClr val="002060"/>
            </a:solidFill>
            <a:prstDash val="solid"/>
            <a:miter lim="800000"/>
            <a:headEnd/>
            <a:tailEnd/>
          </a:ln>
          <a:effectLst/>
        </p:spPr>
        <p:txBody>
          <a:bodyPr anchor="ct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en-US"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ee4pHeader1">
            <a:extLst>
              <a:ext uri="{FF2B5EF4-FFF2-40B4-BE49-F238E27FC236}">
                <a16:creationId xmlns:a16="http://schemas.microsoft.com/office/drawing/2014/main" id="{8E178441-AF58-425F-AC3C-EFD78400A90C}"/>
              </a:ext>
            </a:extLst>
          </p:cNvPr>
          <p:cNvSpPr/>
          <p:nvPr>
            <p:custDataLst>
              <p:tags r:id="rId2"/>
            </p:custDataLst>
          </p:nvPr>
        </p:nvSpPr>
        <p:spPr bwMode="auto">
          <a:xfrm>
            <a:off x="1609828" y="926762"/>
            <a:ext cx="4587772" cy="622638"/>
          </a:xfrm>
          <a:prstGeom prst="homePlate">
            <a:avLst>
              <a:gd name="adj" fmla="val 19696"/>
            </a:avLst>
          </a:prstGeom>
          <a:solidFill>
            <a:srgbClr val="002F56"/>
          </a:solidFill>
          <a:ln w="9525" cmpd="sng">
            <a:solidFill>
              <a:srgbClr val="002060"/>
            </a:solidFill>
            <a:prstDash val="solid"/>
            <a:miter lim="800000"/>
            <a:headEnd/>
            <a:tailEnd/>
          </a:ln>
          <a:effectLst/>
        </p:spPr>
        <p:txBody>
          <a:bodyPr lIns="90000" tIns="46800" rIns="90000" bIns="46800" anchor="ct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en-US"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47" name="Table 47">
            <a:extLst>
              <a:ext uri="{FF2B5EF4-FFF2-40B4-BE49-F238E27FC236}">
                <a16:creationId xmlns:a16="http://schemas.microsoft.com/office/drawing/2014/main" id="{1F45C844-B51B-4B9A-B728-1B157737EB6B}"/>
              </a:ext>
            </a:extLst>
          </p:cNvPr>
          <p:cNvGraphicFramePr>
            <a:graphicFrameLocks noGrp="1"/>
          </p:cNvGraphicFramePr>
          <p:nvPr/>
        </p:nvGraphicFramePr>
        <p:xfrm>
          <a:off x="129986" y="926762"/>
          <a:ext cx="11706414" cy="5194113"/>
        </p:xfrm>
        <a:graphic>
          <a:graphicData uri="http://schemas.openxmlformats.org/drawingml/2006/table">
            <a:tbl>
              <a:tblPr firstRow="1" bandRow="1">
                <a:tableStyleId>{5C22544A-7EE6-4342-B048-85BDC9FD1C3A}</a:tableStyleId>
              </a:tblPr>
              <a:tblGrid>
                <a:gridCol w="432453">
                  <a:extLst>
                    <a:ext uri="{9D8B030D-6E8A-4147-A177-3AD203B41FA5}">
                      <a16:colId xmlns:a16="http://schemas.microsoft.com/office/drawing/2014/main" val="2042898500"/>
                    </a:ext>
                  </a:extLst>
                </a:gridCol>
                <a:gridCol w="5920166">
                  <a:extLst>
                    <a:ext uri="{9D8B030D-6E8A-4147-A177-3AD203B41FA5}">
                      <a16:colId xmlns:a16="http://schemas.microsoft.com/office/drawing/2014/main" val="1290404922"/>
                    </a:ext>
                  </a:extLst>
                </a:gridCol>
                <a:gridCol w="5353795">
                  <a:extLst>
                    <a:ext uri="{9D8B030D-6E8A-4147-A177-3AD203B41FA5}">
                      <a16:colId xmlns:a16="http://schemas.microsoft.com/office/drawing/2014/main" val="1422440764"/>
                    </a:ext>
                  </a:extLst>
                </a:gridCol>
              </a:tblGrid>
              <a:tr h="593259">
                <a:tc>
                  <a:txBody>
                    <a:bodyPr/>
                    <a:lstStyle/>
                    <a:p>
                      <a:pPr algn="l"/>
                      <a:endParaRPr lang="en-US" sz="1200">
                        <a:solidFill>
                          <a:schemeClr val="tx1"/>
                        </a:solidFill>
                        <a:latin typeface="+mn-lt"/>
                      </a:endParaRPr>
                    </a:p>
                  </a:txBody>
                  <a:tcPr marL="45720" marR="45720" anchor="ctr">
                    <a:lnL w="12700" cap="flat" cmpd="sng" algn="ctr">
                      <a:noFill/>
                      <a:prstDash val="sysDash"/>
                      <a:round/>
                      <a:headEnd type="none" w="med" len="med"/>
                      <a:tailEnd type="none" w="med" len="med"/>
                    </a:lnL>
                    <a:lnR w="12700" cap="flat" cmpd="sng" algn="ctr">
                      <a:noFill/>
                      <a:prstDash val="solid"/>
                      <a:round/>
                      <a:headEnd type="none" w="med" len="med"/>
                      <a:tailEnd type="none" w="med" len="med"/>
                    </a:lnR>
                    <a:lnT w="12700" cap="flat" cmpd="sng" algn="ctr">
                      <a:noFill/>
                      <a:prstDash val="sys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solidFill>
                            <a:schemeClr val="bg1"/>
                          </a:solidFill>
                        </a:rPr>
                        <a:t>Phase 0</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Roadmap Development Phase </a:t>
                      </a:r>
                      <a:endParaRPr lang="en-US" sz="1200">
                        <a:solidFill>
                          <a:schemeClr val="bg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a:solidFill>
                            <a:schemeClr val="bg1"/>
                          </a:solidFill>
                        </a:rPr>
                        <a:t>Sept 1 – Sept 30  (4w)</a:t>
                      </a:r>
                    </a:p>
                  </a:txBody>
                  <a:tcPr marL="45720" marR="45720" anchor="ctr">
                    <a:lnL w="12700" cap="flat" cmpd="sng" algn="ctr">
                      <a:noFill/>
                      <a:prstDash val="solid"/>
                      <a:round/>
                      <a:headEnd type="none" w="med" len="med"/>
                      <a:tailEnd type="none" w="med" len="med"/>
                    </a:lnL>
                    <a:lnR w="12700" cap="flat" cmpd="sng" algn="ctr">
                      <a:noFill/>
                      <a:prstDash val="sysDash"/>
                      <a:round/>
                      <a:headEnd type="none" w="med" len="med"/>
                      <a:tailEnd type="none" w="med" len="med"/>
                    </a:lnR>
                    <a:lnT w="12700" cap="flat" cmpd="sng" algn="ctr">
                      <a:noFill/>
                      <a:prstDash val="sysDash"/>
                      <a:round/>
                      <a:headEnd type="none" w="med" len="med"/>
                      <a:tailEnd type="none" w="med" len="med"/>
                    </a:lnT>
                    <a:lnB w="9525" cap="flat" cmpd="sng" algn="ctr">
                      <a:noFill/>
                      <a:prstDash val="lgDash"/>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solidFill>
                            <a:schemeClr val="bg1"/>
                          </a:solidFill>
                        </a:rPr>
                        <a:t>Phase 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End-state Org functions Phase</a:t>
                      </a:r>
                      <a:endParaRPr lang="en-US" sz="1200">
                        <a:solidFill>
                          <a:schemeClr val="bg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a:solidFill>
                            <a:schemeClr val="bg1"/>
                          </a:solidFill>
                        </a:rPr>
                        <a:t>Oct 1 – Nov 14  (6w)</a:t>
                      </a:r>
                    </a:p>
                  </a:txBody>
                  <a:tcPr marL="45720" marR="45720" anchor="ctr">
                    <a:lnL w="12700" cap="flat" cmpd="sng" algn="ctr">
                      <a:noFill/>
                      <a:prstDash val="sysDash"/>
                      <a:round/>
                      <a:headEnd type="none" w="med" len="med"/>
                      <a:tailEnd type="none" w="med" len="med"/>
                    </a:lnL>
                    <a:lnR w="12700" cap="flat" cmpd="sng" algn="ctr">
                      <a:noFill/>
                      <a:prstDash val="solid"/>
                      <a:round/>
                      <a:headEnd type="none" w="med" len="med"/>
                      <a:tailEnd type="none" w="med" len="med"/>
                    </a:lnR>
                    <a:lnT w="12700" cap="flat" cmpd="sng" algn="ctr">
                      <a:noFill/>
                      <a:prstDash val="sysDash"/>
                      <a:round/>
                      <a:headEnd type="none" w="med" len="med"/>
                      <a:tailEnd type="none" w="med" len="med"/>
                    </a:lnT>
                    <a:lnB w="9525" cap="flat" cmpd="sng" algn="ctr">
                      <a:noFill/>
                      <a:prstDash val="lg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24454973"/>
                  </a:ext>
                </a:extLst>
              </a:tr>
              <a:tr h="896958">
                <a:tc>
                  <a:txBody>
                    <a:bodyPr/>
                    <a:lstStyle/>
                    <a:p>
                      <a:pPr algn="ctr"/>
                      <a:r>
                        <a:rPr lang="en-US" sz="1200">
                          <a:solidFill>
                            <a:schemeClr val="tx1"/>
                          </a:solidFill>
                          <a:latin typeface="+mn-lt"/>
                        </a:rPr>
                        <a:t>Objectives</a:t>
                      </a:r>
                    </a:p>
                  </a:txBody>
                  <a:tcPr marL="45720" marR="45720" vert="vert270" anchor="ctr">
                    <a:lnL w="12700" cap="flat" cmpd="sng" algn="ctr">
                      <a:noFill/>
                      <a:prstDash val="sysDash"/>
                      <a:round/>
                      <a:headEnd type="none" w="med" len="med"/>
                      <a:tailEnd type="none" w="med" len="med"/>
                    </a:lnL>
                    <a:lnR w="12700" cap="flat" cmpd="sng" algn="ctr">
                      <a:noFill/>
                      <a:prstDash val="sysDash"/>
                      <a:round/>
                      <a:headEnd type="none" w="med" len="med"/>
                      <a:tailEnd type="none" w="med" len="med"/>
                    </a:lnR>
                    <a:lnT w="12700" cap="flat" cmpd="sng" algn="ctr">
                      <a:noFill/>
                      <a:prstDash val="solid"/>
                      <a:round/>
                      <a:headEnd type="none" w="med" len="med"/>
                      <a:tailEnd type="none" w="med" len="med"/>
                    </a:lnT>
                    <a:lnB w="3175" cap="flat" cmpd="sng" algn="ctr">
                      <a:noFill/>
                      <a:prstDash val="lg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l" defTabSz="914400" rtl="0" eaLnBrk="1" fontAlgn="auto" latinLnBrk="0" hangingPunct="1">
                        <a:lnSpc>
                          <a:spcPct val="100000"/>
                        </a:lnSpc>
                        <a:spcBef>
                          <a:spcPts val="0"/>
                        </a:spcBef>
                        <a:spcAft>
                          <a:spcPts val="0"/>
                        </a:spcAft>
                        <a:buClr>
                          <a:srgbClr val="12264A"/>
                        </a:buClr>
                        <a:buSzTx/>
                        <a:buFontTx/>
                        <a:buNone/>
                        <a:tabLst/>
                        <a:defRPr/>
                      </a:pPr>
                      <a:r>
                        <a:rPr kumimoji="0" lang="en-US" sz="1400" b="0" i="0" u="none" strike="noStrike" kern="0" cap="none" spc="0" normalizeH="0" baseline="0" noProof="0">
                          <a:ln>
                            <a:noFill/>
                          </a:ln>
                          <a:solidFill>
                            <a:prstClr val="black"/>
                          </a:solidFill>
                          <a:effectLst/>
                          <a:uLnTx/>
                          <a:uFillTx/>
                          <a:latin typeface="Calibri Light"/>
                          <a:ea typeface="+mn-ea"/>
                        </a:rPr>
                        <a:t>Kick-off org design team</a:t>
                      </a:r>
                      <a:r>
                        <a:rPr kumimoji="0" lang="en-US" sz="1400" b="0" i="0" u="none" strike="noStrike" kern="0" cap="none" spc="0" normalizeH="0" baseline="0" noProof="0">
                          <a:ln>
                            <a:noFill/>
                          </a:ln>
                          <a:solidFill>
                            <a:prstClr val="black"/>
                          </a:solidFill>
                          <a:effectLst/>
                          <a:uLnTx/>
                          <a:uFillTx/>
                          <a:latin typeface="Calibri Light"/>
                          <a:ea typeface="+mn-ea"/>
                          <a:cs typeface="Arial" panose="020B0604020202020204" pitchFamily="34" charset="0"/>
                        </a:rPr>
                        <a:t> and set up the project for success</a:t>
                      </a:r>
                    </a:p>
                    <a:p>
                      <a:pPr marL="285750" marR="0" lvl="1" indent="-285750" algn="l" defTabSz="914400" rtl="0" eaLnBrk="1" fontAlgn="auto" latinLnBrk="0" hangingPunct="1">
                        <a:lnSpc>
                          <a:spcPct val="100000"/>
                        </a:lnSpc>
                        <a:spcBef>
                          <a:spcPts val="0"/>
                        </a:spcBef>
                        <a:spcAft>
                          <a:spcPts val="0"/>
                        </a:spcAft>
                        <a:buClr>
                          <a:srgbClr val="12264A"/>
                        </a:buClr>
                        <a:buSzTx/>
                        <a:buFont typeface="Arial" panose="020B0604020202020204" pitchFamily="34" charset="0"/>
                        <a:buChar char="•"/>
                        <a:tabLst/>
                        <a:defRPr/>
                      </a:pPr>
                      <a:r>
                        <a:rPr kumimoji="0" lang="en-US" sz="1400" b="0" i="0" u="none" strike="noStrike" kern="0" cap="none" spc="0" normalizeH="0" baseline="0" noProof="0">
                          <a:ln>
                            <a:noFill/>
                          </a:ln>
                          <a:solidFill>
                            <a:prstClr val="black"/>
                          </a:solidFill>
                          <a:effectLst/>
                          <a:uLnTx/>
                          <a:uFillTx/>
                          <a:latin typeface="Calibri Light"/>
                          <a:ea typeface="+mn-ea"/>
                          <a:cs typeface="Arial" panose="020B0604020202020204" pitchFamily="34" charset="0"/>
                        </a:rPr>
                        <a:t>Finalize detailed project roadmap</a:t>
                      </a:r>
                    </a:p>
                  </a:txBody>
                  <a:tcPr marL="45720" marR="45720" anchor="ctr">
                    <a:lnL w="12700" cap="flat" cmpd="sng" algn="ctr">
                      <a:noFill/>
                      <a:prstDash val="sysDash"/>
                      <a:round/>
                      <a:headEnd type="none" w="med" len="med"/>
                      <a:tailEnd type="none" w="med" len="med"/>
                    </a:lnL>
                    <a:lnR w="12700" cap="flat" cmpd="sng" algn="ctr">
                      <a:noFill/>
                      <a:prstDash val="sysDash"/>
                      <a:round/>
                      <a:headEnd type="none" w="med" len="med"/>
                      <a:tailEnd type="none" w="med" len="med"/>
                    </a:lnR>
                    <a:lnT w="9525" cap="flat" cmpd="sng" algn="ctr">
                      <a:noFill/>
                      <a:prstDash val="lgDash"/>
                      <a:round/>
                      <a:headEnd type="none" w="med" len="med"/>
                      <a:tailEnd type="none" w="med" len="med"/>
                    </a:lnT>
                    <a:lnB w="9525" cap="flat" cmpd="sng" algn="ctr">
                      <a:solidFill>
                        <a:schemeClr val="tx1"/>
                      </a:solidFill>
                      <a:prstDash val="lg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solidFill>
                          <a:effectLst/>
                          <a:uLnTx/>
                          <a:uFillTx/>
                          <a:latin typeface="Calibri Light"/>
                          <a:ea typeface="+mn-ea"/>
                          <a:cs typeface="Arial" panose="020B0604020202020204" pitchFamily="34" charset="0"/>
                        </a:rPr>
                        <a:t>Identify gaps and pain points within the current org and process to design the future-state ORD.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a:ln>
                            <a:noFill/>
                          </a:ln>
                          <a:solidFill>
                            <a:prstClr val="black"/>
                          </a:solidFill>
                          <a:effectLst/>
                          <a:uLnTx/>
                          <a:uFillTx/>
                          <a:latin typeface="Calibri Light"/>
                          <a:ea typeface="+mn-ea"/>
                          <a:cs typeface="Arial" panose="020B0604020202020204" pitchFamily="34" charset="0"/>
                        </a:rPr>
                        <a:t>Establish statements for end-state ORD’s functions </a:t>
                      </a:r>
                      <a:endParaRPr kumimoji="0" lang="en-US" sz="1200" b="1" i="0" u="none" strike="noStrike" kern="0" cap="none" spc="0" normalizeH="0" baseline="0" noProof="0">
                        <a:ln>
                          <a:noFill/>
                        </a:ln>
                        <a:solidFill>
                          <a:prstClr val="black"/>
                        </a:solidFill>
                        <a:effectLst/>
                        <a:uLnTx/>
                        <a:uFillTx/>
                        <a:latin typeface="Calibri Light"/>
                        <a:ea typeface="+mn-ea"/>
                        <a:cs typeface="Arial" panose="020B0604020202020204" pitchFamily="34" charset="0"/>
                      </a:endParaRPr>
                    </a:p>
                  </a:txBody>
                  <a:tcPr marL="45720" marR="45720" anchor="ctr">
                    <a:lnL w="12700" cap="flat" cmpd="sng" algn="ctr">
                      <a:noFill/>
                      <a:prstDash val="sysDash"/>
                      <a:round/>
                      <a:headEnd type="none" w="med" len="med"/>
                      <a:tailEnd type="none" w="med" len="med"/>
                    </a:lnL>
                    <a:lnR w="12700" cap="flat" cmpd="sng" algn="ctr">
                      <a:noFill/>
                      <a:prstDash val="solid"/>
                      <a:round/>
                      <a:headEnd type="none" w="med" len="med"/>
                      <a:tailEnd type="none" w="med" len="med"/>
                    </a:lnR>
                    <a:lnT w="9525" cap="flat" cmpd="sng" algn="ctr">
                      <a:noFill/>
                      <a:prstDash val="lgDash"/>
                      <a:round/>
                      <a:headEnd type="none" w="med" len="med"/>
                      <a:tailEnd type="none" w="med" len="med"/>
                    </a:lnT>
                    <a:lnB w="9525" cap="flat" cmpd="sng" algn="ctr">
                      <a:solidFill>
                        <a:schemeClr val="tx1"/>
                      </a:solidFill>
                      <a:prstDash val="lg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59193774"/>
                  </a:ext>
                </a:extLst>
              </a:tr>
              <a:tr h="2457786">
                <a:tc>
                  <a:txBody>
                    <a:bodyPr/>
                    <a:lstStyle/>
                    <a:p>
                      <a:pPr algn="ctr"/>
                      <a:r>
                        <a:rPr lang="en-US" sz="1200">
                          <a:solidFill>
                            <a:schemeClr val="tx1"/>
                          </a:solidFill>
                          <a:latin typeface="+mn-lt"/>
                        </a:rPr>
                        <a:t>Milestones</a:t>
                      </a:r>
                    </a:p>
                  </a:txBody>
                  <a:tcPr marL="45720" marR="45720" vert="vert270" anchor="ctr">
                    <a:lnL w="12700" cap="flat" cmpd="sng" algn="ctr">
                      <a:noFill/>
                      <a:prstDash val="sysDash"/>
                      <a:round/>
                      <a:headEnd type="none" w="med" len="med"/>
                      <a:tailEnd type="none" w="med" len="med"/>
                    </a:lnL>
                    <a:lnR w="12700" cap="flat" cmpd="sng" algn="ctr">
                      <a:noFill/>
                      <a:prstDash val="sysDash"/>
                      <a:round/>
                      <a:headEnd type="none" w="med" len="med"/>
                      <a:tailEnd type="none" w="med" len="med"/>
                    </a:lnR>
                    <a:lnT w="3175" cap="flat" cmpd="sng" algn="ctr">
                      <a:noFill/>
                      <a:prstDash val="lgDash"/>
                      <a:round/>
                      <a:headEnd type="none" w="med" len="med"/>
                      <a:tailEnd type="none" w="med" len="med"/>
                    </a:lnT>
                    <a:lnB w="3175" cap="flat" cmpd="sng" algn="ctr">
                      <a:noFill/>
                      <a:prstDash val="lg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85750" marR="0" lvl="1" indent="-285750" algn="l" defTabSz="914400" rtl="0" eaLnBrk="1" fontAlgn="auto" latinLnBrk="0" hangingPunct="1">
                        <a:lnSpc>
                          <a:spcPct val="100000"/>
                        </a:lnSpc>
                        <a:spcBef>
                          <a:spcPts val="0"/>
                        </a:spcBef>
                        <a:spcAft>
                          <a:spcPts val="0"/>
                        </a:spcAft>
                        <a:buClr>
                          <a:srgbClr val="12264A"/>
                        </a:buClr>
                        <a:buSzTx/>
                        <a:buFont typeface="Wingdings" panose="05000000000000000000" pitchFamily="2" charset="2"/>
                        <a:buChar char="ü"/>
                        <a:tabLst/>
                        <a:defRPr/>
                      </a:pPr>
                      <a:r>
                        <a:rPr kumimoji="0" lang="en-US" sz="12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Establish project team </a:t>
                      </a:r>
                    </a:p>
                    <a:p>
                      <a:pPr marL="285750" lvl="1" indent="-285750">
                        <a:spcBef>
                          <a:spcPts val="0"/>
                        </a:spcBef>
                        <a:buClr>
                          <a:srgbClr val="12264A"/>
                        </a:buClr>
                        <a:buFont typeface="Wingdings" panose="05000000000000000000" pitchFamily="2" charset="2"/>
                        <a:buChar char="ü"/>
                        <a:defRPr/>
                      </a:pPr>
                      <a:r>
                        <a:rPr lang="en-US" sz="1200" b="0" dirty="0">
                          <a:solidFill>
                            <a:schemeClr val="tx1"/>
                          </a:solidFill>
                          <a:latin typeface="+mn-lt"/>
                        </a:rPr>
                        <a:t>Refine </a:t>
                      </a:r>
                      <a:r>
                        <a:rPr kumimoji="0" lang="en-US" sz="12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project scope and objectives </a:t>
                      </a:r>
                    </a:p>
                    <a:p>
                      <a:pPr marL="285750" lvl="1" indent="-285750">
                        <a:spcBef>
                          <a:spcPts val="0"/>
                        </a:spcBef>
                        <a:buClr>
                          <a:srgbClr val="12264A"/>
                        </a:buClr>
                        <a:buFont typeface="Wingdings" panose="05000000000000000000" pitchFamily="2" charset="2"/>
                        <a:buChar char="ü"/>
                        <a:defRPr/>
                      </a:pPr>
                      <a:r>
                        <a:rPr kumimoji="0" lang="en-US" sz="12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Finalize detailed project roadmap</a:t>
                      </a:r>
                    </a:p>
                    <a:p>
                      <a:pPr marL="285750" lvl="1" indent="-285750">
                        <a:spcBef>
                          <a:spcPts val="0"/>
                        </a:spcBef>
                        <a:buClr>
                          <a:srgbClr val="12264A"/>
                        </a:buClr>
                        <a:buFont typeface="Wingdings" panose="05000000000000000000" pitchFamily="2" charset="2"/>
                        <a:buChar char="ü"/>
                        <a:defRPr/>
                      </a:pPr>
                      <a:r>
                        <a:rPr kumimoji="0" lang="en-US" sz="12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Org design stakeholder list </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2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Develop project templates: roles charters, decision rights, functional statements, etc. </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2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Establish design principles </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200" b="0" i="0" u="none" strike="noStrike" kern="0" cap="none" spc="0" normalizeH="0" baseline="0" dirty="0">
                          <a:ln>
                            <a:noFill/>
                          </a:ln>
                          <a:solidFill>
                            <a:schemeClr val="tx1"/>
                          </a:solidFill>
                          <a:effectLst/>
                          <a:uLnTx/>
                          <a:uFillTx/>
                          <a:latin typeface="+mn-lt"/>
                          <a:ea typeface="+mn-ea"/>
                          <a:cs typeface="+mn-cs"/>
                        </a:rPr>
                        <a:t>Onboard the initiative team and ensure they understand their roles and responsibilities</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200" b="0" i="0" u="none" strike="noStrike" kern="0" cap="none" spc="0" normalizeH="0" baseline="0" dirty="0">
                          <a:ln>
                            <a:noFill/>
                          </a:ln>
                          <a:solidFill>
                            <a:schemeClr val="tx1"/>
                          </a:solidFill>
                          <a:effectLst/>
                          <a:uLnTx/>
                          <a:uFillTx/>
                          <a:latin typeface="+mn-lt"/>
                          <a:ea typeface="+mn-ea"/>
                          <a:cs typeface="+mn-cs"/>
                        </a:rPr>
                        <a:t>Ensure ORD staff is aware of the effort and understands its purpose</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200" b="0" dirty="0">
                          <a:solidFill>
                            <a:schemeClr val="tx1"/>
                          </a:solidFill>
                          <a:latin typeface="+mn-lt"/>
                        </a:rPr>
                        <a:t>Draft a Communication plan</a:t>
                      </a:r>
                      <a:endParaRPr kumimoji="0" lang="en-US" sz="1200" b="0" i="0" u="none" strike="noStrike" kern="1200" cap="none" spc="0" normalizeH="0" baseline="0" noProof="0" dirty="0">
                        <a:ln>
                          <a:noFill/>
                        </a:ln>
                        <a:solidFill>
                          <a:schemeClr val="tx1"/>
                        </a:solidFill>
                        <a:effectLst/>
                        <a:uLnTx/>
                        <a:uFillTx/>
                        <a:latin typeface="+mn-lt"/>
                        <a:ea typeface="+mn-ea"/>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2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Benchmark leading research organization’s functions </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2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Employee engagement list: working group and committees list </a:t>
                      </a:r>
                    </a:p>
                  </a:txBody>
                  <a:tcPr marL="45720" marR="45720" anchor="ctr">
                    <a:lnL w="12700" cap="flat" cmpd="sng" algn="ctr">
                      <a:noFill/>
                      <a:prstDash val="sysDash"/>
                      <a:round/>
                      <a:headEnd type="none" w="med" len="med"/>
                      <a:tailEnd type="none" w="med" len="med"/>
                    </a:lnL>
                    <a:lnR w="12700" cap="flat" cmpd="sng" algn="ctr">
                      <a:noFill/>
                      <a:prstDash val="sysDash"/>
                      <a:round/>
                      <a:headEnd type="none" w="med" len="med"/>
                      <a:tailEnd type="none" w="med" len="med"/>
                    </a:lnR>
                    <a:lnT w="9525" cap="flat" cmpd="sng" algn="ctr">
                      <a:solidFill>
                        <a:schemeClr val="tx1"/>
                      </a:solidFill>
                      <a:prstDash val="lgDash"/>
                      <a:round/>
                      <a:headEnd type="none" w="med" len="med"/>
                      <a:tailEnd type="none" w="med" len="med"/>
                    </a:lnT>
                    <a:lnB w="9525" cap="flat" cmpd="sng" algn="ctr">
                      <a:solidFill>
                        <a:schemeClr val="tx1"/>
                      </a:solidFill>
                      <a:prstDash val="lg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2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Develop the “real” org chart  </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2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Build excel “Scope of Control model”</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2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Map opportunities for improvement for the org structure, ORD research process, and functions </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2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Develop a draft statement of end-state ORD’s functions </a:t>
                      </a:r>
                    </a:p>
                    <a:p>
                      <a:pPr marL="171450" indent="-171450" algn="l">
                        <a:buFont typeface="Wingdings" panose="05000000000000000000" pitchFamily="2" charset="2"/>
                        <a:buChar char="ü"/>
                      </a:pPr>
                      <a:r>
                        <a:rPr lang="en-US" sz="1200" b="0" dirty="0">
                          <a:solidFill>
                            <a:schemeClr val="tx1"/>
                          </a:solidFill>
                          <a:latin typeface="+mn-lt"/>
                        </a:rPr>
                        <a:t>Finalize the Communication plan</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200" b="0" i="0" u="none" strike="noStrike" kern="0" cap="none" spc="0" normalizeH="0" baseline="0" dirty="0">
                          <a:ln>
                            <a:noFill/>
                          </a:ln>
                          <a:solidFill>
                            <a:schemeClr val="tx1"/>
                          </a:solidFill>
                          <a:effectLst/>
                          <a:uLnTx/>
                          <a:uFillTx/>
                          <a:latin typeface="+mn-lt"/>
                          <a:ea typeface="+mn-ea"/>
                          <a:cs typeface="+mn-cs"/>
                        </a:rPr>
                        <a:t>Engage the initiative team as well as ORD staff and leadership to validate the current org structure</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200" b="0" i="0" u="none" strike="noStrike" kern="0" cap="none" spc="0" normalizeH="0" baseline="0" noProof="0" dirty="0">
                          <a:ln>
                            <a:noFill/>
                          </a:ln>
                          <a:solidFill>
                            <a:prstClr val="black"/>
                          </a:solidFill>
                          <a:effectLst/>
                          <a:uLnTx/>
                          <a:uFillTx/>
                          <a:latin typeface="+mn-lt"/>
                          <a:ea typeface="+mn-ea"/>
                          <a:cs typeface="+mn-cs"/>
                        </a:rPr>
                        <a:t>Validate and get input into the  end-state organization functions with the leadership and the governance</a:t>
                      </a:r>
                    </a:p>
                  </a:txBody>
                  <a:tcPr marL="45720" marR="45720" anchor="ctr">
                    <a:lnL w="12700" cap="flat" cmpd="sng" algn="ctr">
                      <a:noFill/>
                      <a:prstDash val="sysDash"/>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lgDash"/>
                      <a:round/>
                      <a:headEnd type="none" w="med" len="med"/>
                      <a:tailEnd type="none" w="med" len="med"/>
                    </a:lnT>
                    <a:lnB w="9525" cap="flat" cmpd="sng" algn="ctr">
                      <a:solidFill>
                        <a:schemeClr val="tx1"/>
                      </a:solidFill>
                      <a:prstDash val="lg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4751108"/>
                  </a:ext>
                </a:extLst>
              </a:tr>
              <a:tr h="1199289">
                <a:tc>
                  <a:txBody>
                    <a:bodyPr/>
                    <a:lstStyle/>
                    <a:p>
                      <a:pPr algn="ctr"/>
                      <a:r>
                        <a:rPr lang="en-US" sz="1200">
                          <a:solidFill>
                            <a:schemeClr val="tx1"/>
                          </a:solidFill>
                          <a:latin typeface="+mn-lt"/>
                        </a:rPr>
                        <a:t>Outputs</a:t>
                      </a:r>
                    </a:p>
                  </a:txBody>
                  <a:tcPr marL="45720" marR="45720" vert="vert270" anchor="ctr">
                    <a:lnL w="12700" cap="flat" cmpd="sng" algn="ctr">
                      <a:noFill/>
                      <a:prstDash val="sysDash"/>
                      <a:round/>
                      <a:headEnd type="none" w="med" len="med"/>
                      <a:tailEnd type="none" w="med" len="med"/>
                    </a:lnL>
                    <a:lnR w="9525" cap="flat" cmpd="sng" algn="ctr">
                      <a:noFill/>
                      <a:prstDash val="lgDash"/>
                      <a:round/>
                      <a:headEnd type="none" w="med" len="med"/>
                      <a:tailEnd type="none" w="med" len="med"/>
                    </a:lnR>
                    <a:lnT w="12700" cap="flat" cmpd="sng" algn="ctr">
                      <a:noFill/>
                      <a:prstDash val="sysDash"/>
                      <a:round/>
                      <a:headEnd type="none" w="med" len="med"/>
                      <a:tailEnd type="none" w="med" len="med"/>
                    </a:lnT>
                    <a:lnB w="9525" cap="flat" cmpd="sng" algn="ctr">
                      <a:noFill/>
                      <a:prstDash val="lg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indent="-171450" algn="l">
                        <a:buFont typeface="Wingdings" panose="05000000000000000000" pitchFamily="2" charset="2"/>
                        <a:buChar char="ü"/>
                      </a:pPr>
                      <a:r>
                        <a:rPr lang="en-US" sz="1200" b="0" dirty="0">
                          <a:solidFill>
                            <a:schemeClr val="tx1"/>
                          </a:solidFill>
                          <a:latin typeface="+mn-lt"/>
                        </a:rPr>
                        <a:t>Initiative Overview and Roadmap</a:t>
                      </a:r>
                    </a:p>
                    <a:p>
                      <a:pPr marL="171450" indent="-171450" algn="l">
                        <a:buFont typeface="Wingdings" panose="05000000000000000000" pitchFamily="2" charset="2"/>
                        <a:buChar char="ü"/>
                      </a:pPr>
                      <a:r>
                        <a:rPr lang="en-US" sz="1200" b="0" dirty="0">
                          <a:solidFill>
                            <a:schemeClr val="tx1"/>
                          </a:solidFill>
                          <a:latin typeface="+mn-lt"/>
                        </a:rPr>
                        <a:t>Design principles and standards</a:t>
                      </a:r>
                    </a:p>
                    <a:p>
                      <a:pPr marL="171450" indent="-171450" algn="l">
                        <a:buFont typeface="Wingdings" panose="05000000000000000000" pitchFamily="2" charset="2"/>
                        <a:buChar char="ü"/>
                      </a:pPr>
                      <a:r>
                        <a:rPr lang="en-US" sz="1200" b="0" dirty="0">
                          <a:solidFill>
                            <a:schemeClr val="tx1"/>
                          </a:solidFill>
                          <a:latin typeface="+mn-lt"/>
                        </a:rPr>
                        <a:t>Stakeholder list</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200" b="0" dirty="0">
                          <a:solidFill>
                            <a:schemeClr val="tx1"/>
                          </a:solidFill>
                          <a:latin typeface="+mn-lt"/>
                        </a:rPr>
                        <a:t>Project templates</a:t>
                      </a:r>
                    </a:p>
                  </a:txBody>
                  <a:tcPr marL="45720" marR="45720" anchor="ctr">
                    <a:lnL w="9525" cap="flat" cmpd="sng" algn="ctr">
                      <a:noFill/>
                      <a:prstDash val="lgDash"/>
                      <a:round/>
                      <a:headEnd type="none" w="med" len="med"/>
                      <a:tailEnd type="none" w="med" len="med"/>
                    </a:lnL>
                    <a:lnR w="12700" cap="flat" cmpd="sng" algn="ctr">
                      <a:noFill/>
                      <a:prstDash val="sysDash"/>
                      <a:round/>
                      <a:headEnd type="none" w="med" len="med"/>
                      <a:tailEnd type="none" w="med" len="med"/>
                    </a:lnR>
                    <a:lnT w="9525" cap="flat" cmpd="sng" algn="ctr">
                      <a:solidFill>
                        <a:schemeClr val="tx1"/>
                      </a:solidFill>
                      <a:prstDash val="lgDash"/>
                      <a:round/>
                      <a:headEnd type="none" w="med" len="med"/>
                      <a:tailEnd type="none" w="med" len="med"/>
                    </a:lnT>
                    <a:lnB w="12700" cap="flat" cmpd="sng" algn="ctr">
                      <a:no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indent="-171450" algn="l">
                        <a:buFont typeface="Wingdings" panose="05000000000000000000" pitchFamily="2" charset="2"/>
                        <a:buChar char="ü"/>
                      </a:pPr>
                      <a:r>
                        <a:rPr lang="en-US" sz="1200" b="0" dirty="0">
                          <a:solidFill>
                            <a:schemeClr val="tx1"/>
                          </a:solidFill>
                          <a:latin typeface="+mn-lt"/>
                        </a:rPr>
                        <a:t>“Real” org chart (with Scope of Control (SoC) analysis)</a:t>
                      </a:r>
                    </a:p>
                    <a:p>
                      <a:pPr marL="171450" indent="-171450" algn="l">
                        <a:buFont typeface="Wingdings" panose="05000000000000000000" pitchFamily="2" charset="2"/>
                        <a:buChar char="ü"/>
                      </a:pPr>
                      <a:r>
                        <a:rPr lang="en-US" sz="1200" b="0" dirty="0">
                          <a:solidFill>
                            <a:schemeClr val="tx1"/>
                          </a:solidFill>
                          <a:latin typeface="+mn-lt"/>
                        </a:rPr>
                        <a:t>Org structure opportunity analysis </a:t>
                      </a:r>
                    </a:p>
                    <a:p>
                      <a:pPr marL="171450" indent="-171450" algn="l">
                        <a:buFont typeface="Wingdings" panose="05000000000000000000" pitchFamily="2" charset="2"/>
                        <a:buChar char="ü"/>
                      </a:pPr>
                      <a:r>
                        <a:rPr lang="en-US" sz="1200" b="0" dirty="0">
                          <a:solidFill>
                            <a:schemeClr val="tx1"/>
                          </a:solidFill>
                          <a:latin typeface="+mn-lt"/>
                        </a:rPr>
                        <a:t>End-state function statements  </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200" b="0" dirty="0">
                          <a:solidFill>
                            <a:schemeClr val="tx1"/>
                          </a:solidFill>
                          <a:latin typeface="+mn-lt"/>
                        </a:rPr>
                        <a:t>Communication plan</a:t>
                      </a:r>
                    </a:p>
                  </a:txBody>
                  <a:tcPr marL="45720" marR="45720" anchor="ctr">
                    <a:lnL w="12700" cap="flat" cmpd="sng" algn="ctr">
                      <a:noFill/>
                      <a:prstDash val="sysDash"/>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lgDash"/>
                      <a:round/>
                      <a:headEnd type="none" w="med" len="med"/>
                      <a:tailEnd type="none" w="med" len="med"/>
                    </a:lnT>
                    <a:lnB w="12700" cap="flat" cmpd="sng" algn="ctr">
                      <a:noFill/>
                      <a:prstDash val="sys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9790864"/>
                  </a:ext>
                </a:extLst>
              </a:tr>
            </a:tbl>
          </a:graphicData>
        </a:graphic>
      </p:graphicFrame>
      <p:sp>
        <p:nvSpPr>
          <p:cNvPr id="27" name="Title 1">
            <a:extLst>
              <a:ext uri="{FF2B5EF4-FFF2-40B4-BE49-F238E27FC236}">
                <a16:creationId xmlns:a16="http://schemas.microsoft.com/office/drawing/2014/main" id="{F819D592-BC1B-41EE-A8DF-5644C44A8DA1}"/>
              </a:ext>
            </a:extLst>
          </p:cNvPr>
          <p:cNvSpPr txBox="1">
            <a:spLocks/>
          </p:cNvSpPr>
          <p:nvPr/>
        </p:nvSpPr>
        <p:spPr>
          <a:xfrm>
            <a:off x="129986" y="38100"/>
            <a:ext cx="6938264" cy="76517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sym typeface="Trebuchet MS" panose="020B0603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ea typeface="+mj-ea"/>
                <a:cs typeface="+mj-cs"/>
                <a:sym typeface="Trebuchet MS" panose="020B0603020202020204" pitchFamily="34" charset="0"/>
              </a:rPr>
              <a:t>Org design team Roadmap  </a:t>
            </a:r>
            <a:r>
              <a:rPr kumimoji="0" lang="en-US" sz="2400" b="1" i="1" u="none" strike="noStrike" kern="1200" cap="none" spc="0" normalizeH="0" baseline="0" noProof="0" dirty="0">
                <a:ln>
                  <a:noFill/>
                </a:ln>
                <a:solidFill>
                  <a:prstClr val="white"/>
                </a:solidFill>
                <a:effectLst/>
                <a:uLnTx/>
                <a:uFillTx/>
                <a:ea typeface="+mj-ea"/>
                <a:cs typeface="+mj-cs"/>
                <a:sym typeface="Trebuchet MS" panose="020B0603020202020204" pitchFamily="34" charset="0"/>
              </a:rPr>
              <a:t>(page 1 of 2)</a:t>
            </a:r>
          </a:p>
        </p:txBody>
      </p:sp>
      <p:sp>
        <p:nvSpPr>
          <p:cNvPr id="6" name="Slide Number Placeholder 2">
            <a:extLst>
              <a:ext uri="{FF2B5EF4-FFF2-40B4-BE49-F238E27FC236}">
                <a16:creationId xmlns:a16="http://schemas.microsoft.com/office/drawing/2014/main" id="{07FD0553-C18A-77E9-48DA-7E12CBAA3FCF}"/>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972482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e4pHeader2">
            <a:extLst>
              <a:ext uri="{FF2B5EF4-FFF2-40B4-BE49-F238E27FC236}">
                <a16:creationId xmlns:a16="http://schemas.microsoft.com/office/drawing/2014/main" id="{0DF88728-304C-44CF-8D3F-9EAB03D3FF54}"/>
              </a:ext>
            </a:extLst>
          </p:cNvPr>
          <p:cNvSpPr/>
          <p:nvPr>
            <p:custDataLst>
              <p:tags r:id="rId1"/>
            </p:custDataLst>
          </p:nvPr>
        </p:nvSpPr>
        <p:spPr bwMode="auto">
          <a:xfrm>
            <a:off x="550445" y="926762"/>
            <a:ext cx="3792955" cy="622638"/>
          </a:xfrm>
          <a:prstGeom prst="chevron">
            <a:avLst>
              <a:gd name="adj" fmla="val 19696"/>
            </a:avLst>
          </a:prstGeom>
          <a:solidFill>
            <a:srgbClr val="002F56"/>
          </a:solidFill>
          <a:ln w="9525" cmpd="sng">
            <a:solidFill>
              <a:srgbClr val="002060"/>
            </a:solidFill>
            <a:prstDash val="solid"/>
            <a:miter lim="800000"/>
            <a:headEnd/>
            <a:tailEnd/>
          </a:ln>
          <a:effectLst/>
        </p:spPr>
        <p:txBody>
          <a:bodyPr anchor="ct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en-US"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ee4pHeader2">
            <a:extLst>
              <a:ext uri="{FF2B5EF4-FFF2-40B4-BE49-F238E27FC236}">
                <a16:creationId xmlns:a16="http://schemas.microsoft.com/office/drawing/2014/main" id="{A0148888-4C92-44CB-BDAB-730D1AA1DB71}"/>
              </a:ext>
            </a:extLst>
          </p:cNvPr>
          <p:cNvSpPr/>
          <p:nvPr>
            <p:custDataLst>
              <p:tags r:id="rId2"/>
            </p:custDataLst>
          </p:nvPr>
        </p:nvSpPr>
        <p:spPr bwMode="auto">
          <a:xfrm>
            <a:off x="4343400" y="926762"/>
            <a:ext cx="3792955" cy="622638"/>
          </a:xfrm>
          <a:prstGeom prst="chevron">
            <a:avLst>
              <a:gd name="adj" fmla="val 19696"/>
            </a:avLst>
          </a:prstGeom>
          <a:solidFill>
            <a:srgbClr val="002F56"/>
          </a:solidFill>
          <a:ln w="9525" cmpd="sng">
            <a:solidFill>
              <a:srgbClr val="002060"/>
            </a:solidFill>
            <a:prstDash val="solid"/>
            <a:miter lim="800000"/>
            <a:headEnd/>
            <a:tailEnd/>
          </a:ln>
          <a:effectLst/>
        </p:spPr>
        <p:txBody>
          <a:bodyPr anchor="ct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en-US"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ee4pHeader2">
            <a:extLst>
              <a:ext uri="{FF2B5EF4-FFF2-40B4-BE49-F238E27FC236}">
                <a16:creationId xmlns:a16="http://schemas.microsoft.com/office/drawing/2014/main" id="{22B480F7-0654-4903-B68B-0002FF5F6101}"/>
              </a:ext>
            </a:extLst>
          </p:cNvPr>
          <p:cNvSpPr/>
          <p:nvPr>
            <p:custDataLst>
              <p:tags r:id="rId3"/>
            </p:custDataLst>
          </p:nvPr>
        </p:nvSpPr>
        <p:spPr bwMode="auto">
          <a:xfrm>
            <a:off x="8136355" y="926762"/>
            <a:ext cx="3792955" cy="622638"/>
          </a:xfrm>
          <a:prstGeom prst="chevron">
            <a:avLst>
              <a:gd name="adj" fmla="val 19696"/>
            </a:avLst>
          </a:prstGeom>
          <a:solidFill>
            <a:srgbClr val="002F56"/>
          </a:solidFill>
          <a:ln w="9525" cmpd="sng">
            <a:solidFill>
              <a:srgbClr val="002060"/>
            </a:solidFill>
            <a:prstDash val="solid"/>
            <a:miter lim="800000"/>
            <a:headEnd/>
            <a:tailEnd/>
          </a:ln>
          <a:effectLst/>
        </p:spPr>
        <p:txBody>
          <a:bodyPr anchor="ct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en-US"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47" name="Table 47">
            <a:extLst>
              <a:ext uri="{FF2B5EF4-FFF2-40B4-BE49-F238E27FC236}">
                <a16:creationId xmlns:a16="http://schemas.microsoft.com/office/drawing/2014/main" id="{1F45C844-B51B-4B9A-B728-1B157737EB6B}"/>
              </a:ext>
            </a:extLst>
          </p:cNvPr>
          <p:cNvGraphicFramePr>
            <a:graphicFrameLocks noGrp="1"/>
          </p:cNvGraphicFramePr>
          <p:nvPr/>
        </p:nvGraphicFramePr>
        <p:xfrm>
          <a:off x="129986" y="926762"/>
          <a:ext cx="11579414" cy="5143838"/>
        </p:xfrm>
        <a:graphic>
          <a:graphicData uri="http://schemas.openxmlformats.org/drawingml/2006/table">
            <a:tbl>
              <a:tblPr firstRow="1" bandRow="1">
                <a:tableStyleId>{5C22544A-7EE6-4342-B048-85BDC9FD1C3A}</a:tableStyleId>
              </a:tblPr>
              <a:tblGrid>
                <a:gridCol w="293522">
                  <a:extLst>
                    <a:ext uri="{9D8B030D-6E8A-4147-A177-3AD203B41FA5}">
                      <a16:colId xmlns:a16="http://schemas.microsoft.com/office/drawing/2014/main" val="2042898500"/>
                    </a:ext>
                  </a:extLst>
                </a:gridCol>
                <a:gridCol w="4018242">
                  <a:extLst>
                    <a:ext uri="{9D8B030D-6E8A-4147-A177-3AD203B41FA5}">
                      <a16:colId xmlns:a16="http://schemas.microsoft.com/office/drawing/2014/main" val="1290404922"/>
                    </a:ext>
                  </a:extLst>
                </a:gridCol>
                <a:gridCol w="3633825">
                  <a:extLst>
                    <a:ext uri="{9D8B030D-6E8A-4147-A177-3AD203B41FA5}">
                      <a16:colId xmlns:a16="http://schemas.microsoft.com/office/drawing/2014/main" val="1422440764"/>
                    </a:ext>
                  </a:extLst>
                </a:gridCol>
                <a:gridCol w="3633825">
                  <a:extLst>
                    <a:ext uri="{9D8B030D-6E8A-4147-A177-3AD203B41FA5}">
                      <a16:colId xmlns:a16="http://schemas.microsoft.com/office/drawing/2014/main" val="3971802612"/>
                    </a:ext>
                  </a:extLst>
                </a:gridCol>
              </a:tblGrid>
              <a:tr h="682748">
                <a:tc>
                  <a:txBody>
                    <a:bodyPr/>
                    <a:lstStyle/>
                    <a:p>
                      <a:pPr algn="l"/>
                      <a:endParaRPr lang="en-US" sz="1200" dirty="0">
                        <a:solidFill>
                          <a:schemeClr val="tx1"/>
                        </a:solidFill>
                        <a:latin typeface="+mn-lt"/>
                      </a:endParaRPr>
                    </a:p>
                  </a:txBody>
                  <a:tcPr marL="45720" marR="45720" anchor="ctr">
                    <a:lnL w="12700" cap="flat" cmpd="sng" algn="ctr">
                      <a:noFill/>
                      <a:prstDash val="sysDash"/>
                      <a:round/>
                      <a:headEnd type="none" w="med" len="med"/>
                      <a:tailEnd type="none" w="med" len="med"/>
                    </a:lnL>
                    <a:lnR w="12700" cap="flat" cmpd="sng" algn="ctr">
                      <a:noFill/>
                      <a:prstDash val="solid"/>
                      <a:round/>
                      <a:headEnd type="none" w="med" len="med"/>
                      <a:tailEnd type="none" w="med" len="med"/>
                    </a:lnR>
                    <a:lnT w="12700" cap="flat" cmpd="sng" algn="ctr">
                      <a:noFill/>
                      <a:prstDash val="sys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a:solidFill>
                            <a:schemeClr val="bg1"/>
                          </a:solidFill>
                        </a:rPr>
                        <a:t>Phase 2</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L1 – L2 Design Phase</a:t>
                      </a:r>
                      <a:endParaRPr lang="en-US" sz="1200">
                        <a:solidFill>
                          <a:schemeClr val="bg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a:solidFill>
                            <a:schemeClr val="bg1"/>
                          </a:solidFill>
                        </a:rPr>
                        <a:t>Nov 15 – Jan 7 (8w)</a:t>
                      </a:r>
                    </a:p>
                  </a:txBody>
                  <a:tcPr marL="45720" marR="45720" anchor="ctr">
                    <a:lnL w="12700" cap="flat" cmpd="sng" algn="ctr">
                      <a:noFill/>
                      <a:prstDash val="solid"/>
                      <a:round/>
                      <a:headEnd type="none" w="med" len="med"/>
                      <a:tailEnd type="none" w="med" len="med"/>
                    </a:lnL>
                    <a:lnR w="12700" cap="flat" cmpd="sng" algn="ctr">
                      <a:noFill/>
                      <a:prstDash val="sysDash"/>
                      <a:round/>
                      <a:headEnd type="none" w="med" len="med"/>
                      <a:tailEnd type="none" w="med" len="med"/>
                    </a:lnR>
                    <a:lnT w="12700" cap="flat" cmpd="sng" algn="ctr">
                      <a:noFill/>
                      <a:prstDash val="sysDash"/>
                      <a:round/>
                      <a:headEnd type="none" w="med" len="med"/>
                      <a:tailEnd type="none" w="med" len="med"/>
                    </a:lnT>
                    <a:lnB w="9525" cap="flat" cmpd="sng" algn="ctr">
                      <a:noFill/>
                      <a:prstDash val="lgDash"/>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a:solidFill>
                            <a:schemeClr val="bg1"/>
                          </a:solidFill>
                        </a:rPr>
                        <a:t>Phase 3</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L3 – L5 Design Phase</a:t>
                      </a:r>
                      <a:endParaRPr lang="en-US" sz="1200" b="0">
                        <a:solidFill>
                          <a:schemeClr val="bg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a:solidFill>
                            <a:schemeClr val="bg1"/>
                          </a:solidFill>
                        </a:rPr>
                        <a:t>Jan 8 -  Mar 31 (3m)</a:t>
                      </a:r>
                    </a:p>
                  </a:txBody>
                  <a:tcPr marL="45720" marR="45720" anchor="ctr">
                    <a:lnL w="12700" cap="flat" cmpd="sng" algn="ctr">
                      <a:noFill/>
                      <a:prstDash val="sysDash"/>
                      <a:round/>
                      <a:headEnd type="none" w="med" len="med"/>
                      <a:tailEnd type="none" w="med" len="med"/>
                    </a:lnL>
                    <a:lnR w="12700" cap="flat" cmpd="sng" algn="ctr">
                      <a:noFill/>
                      <a:prstDash val="solid"/>
                      <a:round/>
                      <a:headEnd type="none" w="med" len="med"/>
                      <a:tailEnd type="none" w="med" len="med"/>
                    </a:lnR>
                    <a:lnT w="12700" cap="flat" cmpd="sng" algn="ctr">
                      <a:noFill/>
                      <a:prstDash val="sysDash"/>
                      <a:round/>
                      <a:headEnd type="none" w="med" len="med"/>
                      <a:tailEnd type="none" w="med" len="med"/>
                    </a:lnT>
                    <a:lnB w="9525" cap="flat" cmpd="sng" algn="ctr">
                      <a:noFill/>
                      <a:prstDash val="lgDash"/>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a:solidFill>
                            <a:schemeClr val="bg1"/>
                          </a:solidFill>
                        </a:rPr>
                        <a:t>Phase 4</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Continued Implementation Phase</a:t>
                      </a:r>
                      <a:endParaRPr lang="en-US" sz="1200" b="0">
                        <a:solidFill>
                          <a:schemeClr val="bg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a:solidFill>
                            <a:schemeClr val="bg1"/>
                          </a:solidFill>
                        </a:rPr>
                        <a:t>April 1 – Sept 30 (3m to 6m)</a:t>
                      </a:r>
                    </a:p>
                  </a:txBody>
                  <a:tcPr marL="45720" marR="45720" anchor="ctr">
                    <a:lnL w="12700" cap="flat" cmpd="sng" algn="ctr">
                      <a:noFill/>
                      <a:prstDash val="sysDash"/>
                      <a:round/>
                      <a:headEnd type="none" w="med" len="med"/>
                      <a:tailEnd type="none" w="med" len="med"/>
                    </a:lnL>
                    <a:lnR w="12700" cap="flat" cmpd="sng" algn="ctr">
                      <a:noFill/>
                      <a:prstDash val="solid"/>
                      <a:round/>
                      <a:headEnd type="none" w="med" len="med"/>
                      <a:tailEnd type="none" w="med" len="med"/>
                    </a:lnR>
                    <a:lnT w="12700" cap="flat" cmpd="sng" algn="ctr">
                      <a:noFill/>
                      <a:prstDash val="sysDash"/>
                      <a:round/>
                      <a:headEnd type="none" w="med" len="med"/>
                      <a:tailEnd type="none" w="med" len="med"/>
                    </a:lnT>
                    <a:lnB w="9525" cap="flat" cmpd="sng" algn="ctr">
                      <a:noFill/>
                      <a:prstDash val="lg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24454973"/>
                  </a:ext>
                </a:extLst>
              </a:tr>
              <a:tr h="801591">
                <a:tc>
                  <a:txBody>
                    <a:bodyPr/>
                    <a:lstStyle/>
                    <a:p>
                      <a:pPr algn="ctr"/>
                      <a:r>
                        <a:rPr lang="en-US" sz="1200">
                          <a:solidFill>
                            <a:schemeClr val="tx1"/>
                          </a:solidFill>
                          <a:latin typeface="+mn-lt"/>
                        </a:rPr>
                        <a:t>Objectives</a:t>
                      </a:r>
                    </a:p>
                  </a:txBody>
                  <a:tcPr marL="45720" marR="45720" vert="vert270" anchor="ctr">
                    <a:lnL w="12700" cap="flat" cmpd="sng" algn="ctr">
                      <a:noFill/>
                      <a:prstDash val="sysDash"/>
                      <a:round/>
                      <a:headEnd type="none" w="med" len="med"/>
                      <a:tailEnd type="none" w="med" len="med"/>
                    </a:lnL>
                    <a:lnR w="12700" cap="flat" cmpd="sng" algn="ctr">
                      <a:noFill/>
                      <a:prstDash val="sysDash"/>
                      <a:round/>
                      <a:headEnd type="none" w="med" len="med"/>
                      <a:tailEnd type="none" w="med" len="med"/>
                    </a:lnR>
                    <a:lnT w="12700" cap="flat" cmpd="sng" algn="ctr">
                      <a:noFill/>
                      <a:prstDash val="solid"/>
                      <a:round/>
                      <a:headEnd type="none" w="med" len="med"/>
                      <a:tailEnd type="none" w="med" len="med"/>
                    </a:lnT>
                    <a:lnB w="3175" cap="flat" cmpd="sng" algn="ctr">
                      <a:noFill/>
                      <a:prstDash val="lg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prstClr val="black"/>
                          </a:solidFill>
                          <a:effectLst/>
                          <a:uLnTx/>
                          <a:uFillTx/>
                          <a:latin typeface="Calibri Light"/>
                          <a:ea typeface="+mn-ea"/>
                          <a:cs typeface="Arial" panose="020B0604020202020204" pitchFamily="34" charset="0"/>
                        </a:rPr>
                        <a:t>Start to design the layers of the org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0" cap="none" spc="0" normalizeH="0" baseline="0" noProof="0">
                          <a:ln>
                            <a:noFill/>
                          </a:ln>
                          <a:solidFill>
                            <a:prstClr val="black"/>
                          </a:solidFill>
                          <a:effectLst/>
                          <a:uLnTx/>
                          <a:uFillTx/>
                          <a:latin typeface="Calibri Light"/>
                          <a:ea typeface="+mn-ea"/>
                          <a:cs typeface="Arial" panose="020B0604020202020204" pitchFamily="34" charset="0"/>
                        </a:rPr>
                        <a:t>Develop L1 - L2 roles, responsibilities, decision rights </a:t>
                      </a:r>
                    </a:p>
                  </a:txBody>
                  <a:tcPr marL="45720" marR="45720" anchor="ctr">
                    <a:lnL w="12700" cap="flat" cmpd="sng" algn="ctr">
                      <a:noFill/>
                      <a:prstDash val="sysDash"/>
                      <a:round/>
                      <a:headEnd type="none" w="med" len="med"/>
                      <a:tailEnd type="none" w="med" len="med"/>
                    </a:lnL>
                    <a:lnR w="12700" cap="flat" cmpd="sng" algn="ctr">
                      <a:noFill/>
                      <a:prstDash val="sysDash"/>
                      <a:round/>
                      <a:headEnd type="none" w="med" len="med"/>
                      <a:tailEnd type="none" w="med" len="med"/>
                    </a:lnR>
                    <a:lnT w="9525" cap="flat" cmpd="sng" algn="ctr">
                      <a:noFill/>
                      <a:prstDash val="lgDash"/>
                      <a:round/>
                      <a:headEnd type="none" w="med" len="med"/>
                      <a:tailEnd type="none" w="med" len="med"/>
                    </a:lnT>
                    <a:lnB w="9525" cap="flat" cmpd="sng" algn="ctr">
                      <a:solidFill>
                        <a:schemeClr val="tx1"/>
                      </a:solidFill>
                      <a:prstDash val="lg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solidFill>
                          <a:effectLst/>
                          <a:uLnTx/>
                          <a:uFillTx/>
                          <a:latin typeface="Calibri Light"/>
                          <a:ea typeface="+mn-ea"/>
                          <a:cs typeface="Arial" panose="020B0604020202020204" pitchFamily="34" charset="0"/>
                        </a:rPr>
                        <a:t>Continue to design each layer from top to bottom, ensuring collaboration mechanisms are in place.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a:ln>
                            <a:noFill/>
                          </a:ln>
                          <a:solidFill>
                            <a:prstClr val="black"/>
                          </a:solidFill>
                          <a:effectLst/>
                          <a:uLnTx/>
                          <a:uFillTx/>
                          <a:latin typeface="Calibri Light"/>
                          <a:ea typeface="+mn-ea"/>
                          <a:cs typeface="Arial" panose="020B0604020202020204" pitchFamily="34" charset="0"/>
                        </a:rPr>
                        <a:t>Develop L3 - L5 roles, responsibilities, decision rights </a:t>
                      </a:r>
                    </a:p>
                  </a:txBody>
                  <a:tcPr marL="45720" marR="45720" anchor="ctr">
                    <a:lnL w="12700" cap="flat" cmpd="sng" algn="ctr">
                      <a:noFill/>
                      <a:prstDash val="sysDash"/>
                      <a:round/>
                      <a:headEnd type="none" w="med" len="med"/>
                      <a:tailEnd type="none" w="med" len="med"/>
                    </a:lnL>
                    <a:lnR w="12700" cap="flat" cmpd="sng" algn="ctr">
                      <a:noFill/>
                      <a:prstDash val="solid"/>
                      <a:round/>
                      <a:headEnd type="none" w="med" len="med"/>
                      <a:tailEnd type="none" w="med" len="med"/>
                    </a:lnR>
                    <a:lnT w="9525" cap="flat" cmpd="sng" algn="ctr">
                      <a:noFill/>
                      <a:prstDash val="lgDash"/>
                      <a:round/>
                      <a:headEnd type="none" w="med" len="med"/>
                      <a:tailEnd type="none" w="med" len="med"/>
                    </a:lnT>
                    <a:lnB w="9525" cap="flat" cmpd="sng" algn="ctr">
                      <a:solidFill>
                        <a:schemeClr val="tx1"/>
                      </a:solidFill>
                      <a:prstDash val="lg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solidFill>
                          <a:effectLst/>
                          <a:uLnTx/>
                          <a:uFillTx/>
                          <a:latin typeface="Calibri Light"/>
                          <a:ea typeface="+mn-ea"/>
                          <a:cs typeface="Arial" panose="020B0604020202020204" pitchFamily="34" charset="0"/>
                        </a:rPr>
                        <a:t>Working with WMC to approve org chart and PD’s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a:ln>
                            <a:noFill/>
                          </a:ln>
                          <a:solidFill>
                            <a:prstClr val="black"/>
                          </a:solidFill>
                          <a:effectLst/>
                          <a:uLnTx/>
                          <a:uFillTx/>
                          <a:latin typeface="Calibri Light"/>
                          <a:ea typeface="+mn-ea"/>
                          <a:cs typeface="Arial" panose="020B0604020202020204" pitchFamily="34" charset="0"/>
                        </a:rPr>
                        <a:t>Implementation</a:t>
                      </a:r>
                    </a:p>
                  </a:txBody>
                  <a:tcPr marL="45720" marR="45720" anchor="ctr">
                    <a:lnL w="12700" cap="flat" cmpd="sng" algn="ctr">
                      <a:noFill/>
                      <a:prstDash val="sysDash"/>
                      <a:round/>
                      <a:headEnd type="none" w="med" len="med"/>
                      <a:tailEnd type="none" w="med" len="med"/>
                    </a:lnL>
                    <a:lnR w="12700" cap="flat" cmpd="sng" algn="ctr">
                      <a:noFill/>
                      <a:prstDash val="solid"/>
                      <a:round/>
                      <a:headEnd type="none" w="med" len="med"/>
                      <a:tailEnd type="none" w="med" len="med"/>
                    </a:lnR>
                    <a:lnT w="9525" cap="flat" cmpd="sng" algn="ctr">
                      <a:noFill/>
                      <a:prstDash val="lgDash"/>
                      <a:round/>
                      <a:headEnd type="none" w="med" len="med"/>
                      <a:tailEnd type="none" w="med" len="med"/>
                    </a:lnT>
                    <a:lnB w="9525" cap="flat" cmpd="sng" algn="ctr">
                      <a:solidFill>
                        <a:schemeClr val="tx1"/>
                      </a:solidFill>
                      <a:prstDash val="lg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59193774"/>
                  </a:ext>
                </a:extLst>
              </a:tr>
              <a:tr h="2196468">
                <a:tc>
                  <a:txBody>
                    <a:bodyPr/>
                    <a:lstStyle/>
                    <a:p>
                      <a:pPr algn="ctr"/>
                      <a:r>
                        <a:rPr lang="en-US" sz="1200">
                          <a:solidFill>
                            <a:schemeClr val="tx1"/>
                          </a:solidFill>
                          <a:latin typeface="+mn-lt"/>
                        </a:rPr>
                        <a:t>Milestones</a:t>
                      </a:r>
                    </a:p>
                  </a:txBody>
                  <a:tcPr marL="45720" marR="45720" vert="vert270" anchor="ctr">
                    <a:lnL w="12700" cap="flat" cmpd="sng" algn="ctr">
                      <a:noFill/>
                      <a:prstDash val="sysDash"/>
                      <a:round/>
                      <a:headEnd type="none" w="med" len="med"/>
                      <a:tailEnd type="none" w="med" len="med"/>
                    </a:lnL>
                    <a:lnR w="12700" cap="flat" cmpd="sng" algn="ctr">
                      <a:noFill/>
                      <a:prstDash val="sysDash"/>
                      <a:round/>
                      <a:headEnd type="none" w="med" len="med"/>
                      <a:tailEnd type="none" w="med" len="med"/>
                    </a:lnR>
                    <a:lnT w="3175" cap="flat" cmpd="sng" algn="ctr">
                      <a:noFill/>
                      <a:prstDash val="lgDash"/>
                      <a:round/>
                      <a:headEnd type="none" w="med" len="med"/>
                      <a:tailEnd type="none" w="med" len="med"/>
                    </a:lnT>
                    <a:lnB w="3175" cap="flat" cmpd="sng" algn="ctr">
                      <a:noFill/>
                      <a:prstDash val="lg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171450" algn="l" defTabSz="914400" rtl="0" eaLnBrk="1" fontAlgn="auto" latinLnBrk="0" hangingPunct="1">
                        <a:lnSpc>
                          <a:spcPct val="100000"/>
                        </a:lnSpc>
                        <a:spcBef>
                          <a:spcPts val="0"/>
                        </a:spcBef>
                        <a:spcAft>
                          <a:spcPts val="0"/>
                        </a:spcAft>
                        <a:buClr>
                          <a:srgbClr val="12264A"/>
                        </a:buClr>
                        <a:buSzTx/>
                        <a:buFont typeface="Wingdings" panose="05000000000000000000" pitchFamily="2" charset="2"/>
                        <a:buChar char="ü"/>
                        <a:tabLst/>
                        <a:defRPr/>
                      </a:pPr>
                      <a:r>
                        <a:rPr kumimoji="0" lang="en-US" sz="12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Develop L1-L2 structure options </a:t>
                      </a:r>
                    </a:p>
                    <a:p>
                      <a:pPr marL="0" marR="0" lvl="1" indent="-171450" algn="l" defTabSz="914400" rtl="0" eaLnBrk="1" fontAlgn="auto" latinLnBrk="0" hangingPunct="1">
                        <a:lnSpc>
                          <a:spcPct val="100000"/>
                        </a:lnSpc>
                        <a:spcBef>
                          <a:spcPts val="0"/>
                        </a:spcBef>
                        <a:spcAft>
                          <a:spcPts val="0"/>
                        </a:spcAft>
                        <a:buClr>
                          <a:srgbClr val="12264A"/>
                        </a:buClr>
                        <a:buSzTx/>
                        <a:buFont typeface="Wingdings" panose="05000000000000000000" pitchFamily="2" charset="2"/>
                        <a:buChar char="ü"/>
                        <a:tabLst/>
                        <a:defRPr/>
                      </a:pPr>
                      <a:r>
                        <a:rPr kumimoji="0" lang="en-US" sz="12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Develop high-level L1-L2 roles and responsibilities </a:t>
                      </a:r>
                    </a:p>
                    <a:p>
                      <a:pPr marL="0" marR="0" lvl="1" indent="-171450" algn="l" defTabSz="914400" rtl="0" eaLnBrk="1" fontAlgn="auto" latinLnBrk="0" hangingPunct="1">
                        <a:lnSpc>
                          <a:spcPct val="100000"/>
                        </a:lnSpc>
                        <a:spcBef>
                          <a:spcPts val="0"/>
                        </a:spcBef>
                        <a:spcAft>
                          <a:spcPts val="0"/>
                        </a:spcAft>
                        <a:buClr>
                          <a:srgbClr val="12264A"/>
                        </a:buClr>
                        <a:buSzTx/>
                        <a:buFont typeface="Wingdings" panose="05000000000000000000" pitchFamily="2" charset="2"/>
                        <a:buChar char="ü"/>
                        <a:tabLst/>
                        <a:defRPr/>
                      </a:pPr>
                      <a:r>
                        <a:rPr kumimoji="0" lang="en-US" sz="12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Define L1-L2 decision rights OVIS (RACI equitant framework)</a:t>
                      </a:r>
                    </a:p>
                    <a:p>
                      <a:pPr marL="0" marR="0" lvl="1" indent="-171450" algn="l" defTabSz="914400" rtl="0" eaLnBrk="1" fontAlgn="auto" latinLnBrk="0" hangingPunct="1">
                        <a:lnSpc>
                          <a:spcPct val="100000"/>
                        </a:lnSpc>
                        <a:spcBef>
                          <a:spcPts val="0"/>
                        </a:spcBef>
                        <a:spcAft>
                          <a:spcPts val="0"/>
                        </a:spcAft>
                        <a:buClr>
                          <a:srgbClr val="12264A"/>
                        </a:buClr>
                        <a:buSzTx/>
                        <a:buFont typeface="Wingdings" panose="05000000000000000000" pitchFamily="2" charset="2"/>
                        <a:buChar char="ü"/>
                        <a:tabLst/>
                        <a:defRPr/>
                      </a:pPr>
                      <a:r>
                        <a:rPr kumimoji="0" lang="en-US" sz="12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Develop / confirm detailed position descriptions for L1-L2 </a:t>
                      </a:r>
                    </a:p>
                    <a:p>
                      <a:pPr marL="0" marR="0" lvl="1" indent="-171450" algn="l" defTabSz="914400" rtl="0" eaLnBrk="1" fontAlgn="auto" latinLnBrk="0" hangingPunct="1">
                        <a:lnSpc>
                          <a:spcPct val="100000"/>
                        </a:lnSpc>
                        <a:spcBef>
                          <a:spcPts val="0"/>
                        </a:spcBef>
                        <a:spcAft>
                          <a:spcPts val="0"/>
                        </a:spcAft>
                        <a:buClr>
                          <a:srgbClr val="12264A"/>
                        </a:buClr>
                        <a:buSzTx/>
                        <a:buFont typeface="Wingdings" panose="05000000000000000000" pitchFamily="2" charset="2"/>
                        <a:buChar char="ü"/>
                        <a:tabLst/>
                        <a:defRPr/>
                      </a:pPr>
                      <a:r>
                        <a:rPr kumimoji="0" lang="en-US" sz="12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Workshop peer review of L2 </a:t>
                      </a:r>
                      <a:r>
                        <a:rPr kumimoji="0" lang="en-US" sz="1200" b="0" i="1" u="none" strike="noStrike" kern="1200" cap="none" spc="0" normalizeH="0" baseline="0" noProof="0" dirty="0">
                          <a:ln>
                            <a:noFill/>
                          </a:ln>
                          <a:solidFill>
                            <a:schemeClr val="tx1"/>
                          </a:solidFill>
                          <a:effectLst/>
                          <a:uLnTx/>
                          <a:uFillTx/>
                          <a:latin typeface="+mn-lt"/>
                          <a:ea typeface="+mn-ea"/>
                          <a:cs typeface="Arial" panose="020B0604020202020204" pitchFamily="34" charset="0"/>
                        </a:rPr>
                        <a:t>(final activity for L1 approval)</a:t>
                      </a:r>
                    </a:p>
                    <a:p>
                      <a:pPr marL="0" marR="0" lvl="1" indent="-171450" algn="l" defTabSz="914400" rtl="0" eaLnBrk="1" fontAlgn="auto" latinLnBrk="0" hangingPunct="1">
                        <a:lnSpc>
                          <a:spcPct val="100000"/>
                        </a:lnSpc>
                        <a:spcBef>
                          <a:spcPts val="0"/>
                        </a:spcBef>
                        <a:spcAft>
                          <a:spcPts val="0"/>
                        </a:spcAft>
                        <a:buClr>
                          <a:srgbClr val="12264A"/>
                        </a:buClr>
                        <a:buSzTx/>
                        <a:buFont typeface="Wingdings" panose="05000000000000000000" pitchFamily="2" charset="2"/>
                        <a:buChar char="ü"/>
                        <a:tabLst/>
                        <a:defRPr/>
                      </a:pPr>
                      <a:r>
                        <a:rPr kumimoji="0" lang="en-US" sz="12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Develop draft recruiting, staffing </a:t>
                      </a:r>
                    </a:p>
                    <a:p>
                      <a:pPr marL="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200" b="0" i="0" u="none" strike="noStrike" kern="0" cap="none" spc="0" normalizeH="0" baseline="0" noProof="0" dirty="0">
                          <a:ln>
                            <a:noFill/>
                          </a:ln>
                          <a:solidFill>
                            <a:prstClr val="black"/>
                          </a:solidFill>
                          <a:effectLst/>
                          <a:uLnTx/>
                          <a:uFillTx/>
                          <a:latin typeface="+mn-lt"/>
                          <a:ea typeface="+mn-ea"/>
                          <a:cs typeface="+mn-cs"/>
                        </a:rPr>
                        <a:t>Notify L3 to L5 staff about their involvement in the design process and the role they are going to play in it</a:t>
                      </a:r>
                    </a:p>
                    <a:p>
                      <a:pPr marL="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200" b="0" i="0" u="none" strike="noStrike" kern="0" cap="none" spc="0" normalizeH="0" baseline="0" noProof="0" dirty="0">
                          <a:ln>
                            <a:noFill/>
                          </a:ln>
                          <a:solidFill>
                            <a:prstClr val="black"/>
                          </a:solidFill>
                          <a:effectLst/>
                          <a:uLnTx/>
                          <a:uFillTx/>
                          <a:latin typeface="+mn-lt"/>
                          <a:ea typeface="+mn-ea"/>
                          <a:cs typeface="+mn-cs"/>
                        </a:rPr>
                        <a:t>Gather input from ORD leadership and the governance into the design of L1 and L2</a:t>
                      </a:r>
                    </a:p>
                  </a:txBody>
                  <a:tcPr marL="45720" marR="45720" anchor="ctr">
                    <a:lnL w="12700" cap="flat" cmpd="sng" algn="ctr">
                      <a:noFill/>
                      <a:prstDash val="sysDash"/>
                      <a:round/>
                      <a:headEnd type="none" w="med" len="med"/>
                      <a:tailEnd type="none" w="med" len="med"/>
                    </a:lnL>
                    <a:lnR w="12700" cap="flat" cmpd="sng" algn="ctr">
                      <a:noFill/>
                      <a:prstDash val="sysDash"/>
                      <a:round/>
                      <a:headEnd type="none" w="med" len="med"/>
                      <a:tailEnd type="none" w="med" len="med"/>
                    </a:lnR>
                    <a:lnT w="9525" cap="flat" cmpd="sng" algn="ctr">
                      <a:solidFill>
                        <a:schemeClr val="tx1"/>
                      </a:solidFill>
                      <a:prstDash val="lgDash"/>
                      <a:round/>
                      <a:headEnd type="none" w="med" len="med"/>
                      <a:tailEnd type="none" w="med" len="med"/>
                    </a:lnT>
                    <a:lnB w="9525" cap="flat" cmpd="sng" algn="ctr">
                      <a:solidFill>
                        <a:schemeClr val="tx1"/>
                      </a:solidFill>
                      <a:prstDash val="lg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91440" algn="l" defTabSz="914400" rtl="0" eaLnBrk="1" fontAlgn="auto" latinLnBrk="0" hangingPunct="1">
                        <a:lnSpc>
                          <a:spcPct val="100000"/>
                        </a:lnSpc>
                        <a:spcBef>
                          <a:spcPts val="0"/>
                        </a:spcBef>
                        <a:spcAft>
                          <a:spcPts val="0"/>
                        </a:spcAft>
                        <a:buClr>
                          <a:srgbClr val="12264A"/>
                        </a:buClr>
                        <a:buSzTx/>
                        <a:buFont typeface="Wingdings" panose="05000000000000000000" pitchFamily="2" charset="2"/>
                        <a:buChar char="§"/>
                        <a:tabLst/>
                        <a:defRPr/>
                      </a:pPr>
                      <a:r>
                        <a:rPr kumimoji="0" lang="en-US" sz="1200" b="0" i="0" u="none" strike="noStrike" kern="1200" cap="none" spc="0" normalizeH="0" baseline="0" noProof="0" dirty="0">
                          <a:ln>
                            <a:noFill/>
                          </a:ln>
                          <a:solidFill>
                            <a:schemeClr val="tx1"/>
                          </a:solidFill>
                          <a:effectLst/>
                          <a:uLnTx/>
                          <a:uFillTx/>
                          <a:latin typeface="+mn-lt"/>
                          <a:cs typeface="Arial" panose="020B0604020202020204" pitchFamily="34" charset="0"/>
                        </a:rPr>
                        <a:t>Develop L3  structure options </a:t>
                      </a:r>
                    </a:p>
                    <a:p>
                      <a:pPr marL="0" marR="0" lvl="1" indent="-91440" algn="l" defTabSz="914400" rtl="0" eaLnBrk="1" fontAlgn="auto" latinLnBrk="0" hangingPunct="1">
                        <a:lnSpc>
                          <a:spcPct val="100000"/>
                        </a:lnSpc>
                        <a:spcBef>
                          <a:spcPts val="0"/>
                        </a:spcBef>
                        <a:spcAft>
                          <a:spcPts val="0"/>
                        </a:spcAft>
                        <a:buClr>
                          <a:srgbClr val="12264A"/>
                        </a:buClr>
                        <a:buSzTx/>
                        <a:buFont typeface="Wingdings" panose="05000000000000000000" pitchFamily="2" charset="2"/>
                        <a:buChar char="§"/>
                        <a:tabLst/>
                        <a:defRPr/>
                      </a:pPr>
                      <a:r>
                        <a:rPr kumimoji="0" lang="en-US" sz="1200" b="0" i="0" u="none" strike="noStrike" kern="1200" cap="none" spc="0" normalizeH="0" baseline="0" noProof="0" dirty="0">
                          <a:ln>
                            <a:noFill/>
                          </a:ln>
                          <a:solidFill>
                            <a:schemeClr val="tx1"/>
                          </a:solidFill>
                          <a:effectLst/>
                          <a:uLnTx/>
                          <a:uFillTx/>
                          <a:latin typeface="+mn-lt"/>
                          <a:cs typeface="Arial" panose="020B0604020202020204" pitchFamily="34" charset="0"/>
                        </a:rPr>
                        <a:t>A) Develop high-level L3 roles and responsibilities </a:t>
                      </a:r>
                    </a:p>
                    <a:p>
                      <a:pPr marL="0" marR="0" lvl="1" indent="-171450" algn="l" defTabSz="914400" rtl="0" eaLnBrk="1" fontAlgn="auto" latinLnBrk="0" hangingPunct="1">
                        <a:lnSpc>
                          <a:spcPct val="100000"/>
                        </a:lnSpc>
                        <a:spcBef>
                          <a:spcPts val="0"/>
                        </a:spcBef>
                        <a:spcAft>
                          <a:spcPts val="0"/>
                        </a:spcAft>
                        <a:buClr>
                          <a:srgbClr val="12264A"/>
                        </a:buClr>
                        <a:buSzTx/>
                        <a:buFont typeface="Wingdings" panose="05000000000000000000" pitchFamily="2" charset="2"/>
                        <a:buChar char="§"/>
                        <a:tabLst/>
                        <a:defRPr/>
                      </a:pPr>
                      <a:r>
                        <a:rPr kumimoji="0" lang="en-US" sz="1200" b="0" i="0" u="none" strike="noStrike" kern="1200" cap="none" spc="0" normalizeH="0" baseline="0" noProof="0" dirty="0">
                          <a:ln>
                            <a:noFill/>
                          </a:ln>
                          <a:solidFill>
                            <a:schemeClr val="tx1"/>
                          </a:solidFill>
                          <a:effectLst/>
                          <a:uLnTx/>
                          <a:uFillTx/>
                          <a:latin typeface="+mn-lt"/>
                          <a:cs typeface="Arial" panose="020B0604020202020204" pitchFamily="34" charset="0"/>
                        </a:rPr>
                        <a:t>B) Define L3 decision rights </a:t>
                      </a:r>
                      <a:r>
                        <a:rPr kumimoji="0" lang="en-US" sz="12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OVIS (RACI equitant framework)</a:t>
                      </a:r>
                    </a:p>
                    <a:p>
                      <a:pPr marL="0" marR="0" lvl="1" indent="-91440" algn="l" defTabSz="914400" rtl="0" eaLnBrk="1" fontAlgn="auto" latinLnBrk="0" hangingPunct="1">
                        <a:lnSpc>
                          <a:spcPct val="100000"/>
                        </a:lnSpc>
                        <a:spcBef>
                          <a:spcPts val="0"/>
                        </a:spcBef>
                        <a:spcAft>
                          <a:spcPts val="0"/>
                        </a:spcAft>
                        <a:buClr>
                          <a:srgbClr val="12264A"/>
                        </a:buClr>
                        <a:buSzTx/>
                        <a:buFont typeface="Wingdings" panose="05000000000000000000" pitchFamily="2" charset="2"/>
                        <a:buChar char="§"/>
                        <a:tabLst/>
                        <a:defRPr/>
                      </a:pPr>
                      <a:r>
                        <a:rPr kumimoji="0" lang="en-US" sz="1200" b="0" i="0" u="none" strike="noStrike" kern="1200" cap="none" spc="0" normalizeH="0" baseline="0" noProof="0" dirty="0">
                          <a:ln>
                            <a:noFill/>
                          </a:ln>
                          <a:solidFill>
                            <a:schemeClr val="tx1"/>
                          </a:solidFill>
                          <a:effectLst/>
                          <a:uLnTx/>
                          <a:uFillTx/>
                          <a:latin typeface="+mn-lt"/>
                          <a:cs typeface="Arial" panose="020B0604020202020204" pitchFamily="34" charset="0"/>
                        </a:rPr>
                        <a:t>C) Workshop to draft L3 charters</a:t>
                      </a:r>
                    </a:p>
                    <a:p>
                      <a:pPr marL="0" marR="0" lvl="1" indent="-91440" algn="l" defTabSz="914400" rtl="0" eaLnBrk="1" fontAlgn="auto" latinLnBrk="0" hangingPunct="1">
                        <a:lnSpc>
                          <a:spcPct val="100000"/>
                        </a:lnSpc>
                        <a:spcBef>
                          <a:spcPts val="0"/>
                        </a:spcBef>
                        <a:spcAft>
                          <a:spcPts val="0"/>
                        </a:spcAft>
                        <a:buClr>
                          <a:srgbClr val="12264A"/>
                        </a:buClr>
                        <a:buSzTx/>
                        <a:buFont typeface="Wingdings" panose="05000000000000000000" pitchFamily="2" charset="2"/>
                        <a:buChar char="§"/>
                        <a:tabLst/>
                        <a:defRPr/>
                      </a:pPr>
                      <a:r>
                        <a:rPr kumimoji="0" lang="en-US" sz="1200" b="0" i="0" u="none" strike="noStrike" kern="1200" cap="none" spc="0" normalizeH="0" baseline="0" noProof="0" dirty="0">
                          <a:ln>
                            <a:noFill/>
                          </a:ln>
                          <a:solidFill>
                            <a:schemeClr val="tx1"/>
                          </a:solidFill>
                          <a:effectLst/>
                          <a:uLnTx/>
                          <a:uFillTx/>
                          <a:latin typeface="+mn-lt"/>
                          <a:cs typeface="Arial" panose="020B0604020202020204" pitchFamily="34" charset="0"/>
                        </a:rPr>
                        <a:t>D) Rule deviation charter review</a:t>
                      </a:r>
                    </a:p>
                    <a:p>
                      <a:pPr marL="0" marR="0" lvl="1" indent="-91440" algn="l" defTabSz="914400" rtl="0" eaLnBrk="1" fontAlgn="auto" latinLnBrk="0" hangingPunct="1">
                        <a:lnSpc>
                          <a:spcPct val="100000"/>
                        </a:lnSpc>
                        <a:spcBef>
                          <a:spcPts val="0"/>
                        </a:spcBef>
                        <a:spcAft>
                          <a:spcPts val="0"/>
                        </a:spcAft>
                        <a:buClr>
                          <a:srgbClr val="12264A"/>
                        </a:buClr>
                        <a:buSzTx/>
                        <a:buFont typeface="Wingdings" panose="05000000000000000000" pitchFamily="2" charset="2"/>
                        <a:buChar char="§"/>
                        <a:tabLst/>
                        <a:defRPr/>
                      </a:pPr>
                      <a:r>
                        <a:rPr kumimoji="0" lang="en-US" sz="1200" b="0" i="0" u="none" strike="noStrike" kern="1200" cap="none" spc="0" normalizeH="0" baseline="0" noProof="0" dirty="0">
                          <a:ln>
                            <a:noFill/>
                          </a:ln>
                          <a:solidFill>
                            <a:schemeClr val="tx1"/>
                          </a:solidFill>
                          <a:effectLst/>
                          <a:uLnTx/>
                          <a:uFillTx/>
                          <a:latin typeface="+mn-lt"/>
                          <a:cs typeface="Arial" panose="020B0604020202020204" pitchFamily="34" charset="0"/>
                        </a:rPr>
                        <a:t>E) Workshop peer review of L3 by L2 – final activity before L1 approval</a:t>
                      </a:r>
                    </a:p>
                    <a:p>
                      <a:pPr marL="0" marR="0" lvl="1" indent="-171450" algn="l" defTabSz="914400" rtl="0" eaLnBrk="1" fontAlgn="auto" latinLnBrk="0" hangingPunct="1">
                        <a:lnSpc>
                          <a:spcPct val="100000"/>
                        </a:lnSpc>
                        <a:spcBef>
                          <a:spcPts val="0"/>
                        </a:spcBef>
                        <a:spcAft>
                          <a:spcPts val="0"/>
                        </a:spcAft>
                        <a:buClr>
                          <a:srgbClr val="12264A"/>
                        </a:buClr>
                        <a:buSzTx/>
                        <a:buFont typeface="Wingdings" panose="05000000000000000000" pitchFamily="2" charset="2"/>
                        <a:buChar char="Ø"/>
                        <a:tabLst/>
                        <a:defRPr/>
                      </a:pPr>
                      <a:r>
                        <a:rPr kumimoji="0" lang="en-US" sz="1200" b="0" i="1" u="none" strike="noStrike" kern="1200" cap="none" spc="0" normalizeH="0" baseline="0" noProof="0" dirty="0">
                          <a:ln>
                            <a:noFill/>
                          </a:ln>
                          <a:solidFill>
                            <a:schemeClr val="tx1"/>
                          </a:solidFill>
                          <a:effectLst/>
                          <a:uLnTx/>
                          <a:uFillTx/>
                          <a:latin typeface="+mn-lt"/>
                          <a:cs typeface="Arial" panose="020B0604020202020204" pitchFamily="34" charset="0"/>
                        </a:rPr>
                        <a:t>Repeat steps A) to E)  for L4 to L5</a:t>
                      </a:r>
                    </a:p>
                    <a:p>
                      <a:pPr marL="0" marR="0" lvl="1" indent="-91440" algn="l" defTabSz="914400" rtl="0" eaLnBrk="1" fontAlgn="auto" latinLnBrk="0" hangingPunct="1">
                        <a:lnSpc>
                          <a:spcPct val="100000"/>
                        </a:lnSpc>
                        <a:spcBef>
                          <a:spcPts val="0"/>
                        </a:spcBef>
                        <a:spcAft>
                          <a:spcPts val="0"/>
                        </a:spcAft>
                        <a:buClr>
                          <a:srgbClr val="12264A"/>
                        </a:buClr>
                        <a:buSzTx/>
                        <a:buFont typeface="Wingdings" panose="05000000000000000000" pitchFamily="2" charset="2"/>
                        <a:buChar char="§"/>
                        <a:tabLst/>
                        <a:defRPr/>
                      </a:pPr>
                      <a:r>
                        <a:rPr kumimoji="0" lang="en-US" sz="1200" b="0" i="0" u="none" strike="noStrike" kern="1200" cap="none" spc="0" normalizeH="0" baseline="0" noProof="0" dirty="0">
                          <a:ln>
                            <a:noFill/>
                          </a:ln>
                          <a:solidFill>
                            <a:schemeClr val="tx1"/>
                          </a:solidFill>
                          <a:effectLst/>
                          <a:uLnTx/>
                          <a:uFillTx/>
                          <a:latin typeface="+mn-lt"/>
                          <a:cs typeface="Arial" panose="020B0604020202020204" pitchFamily="34" charset="0"/>
                        </a:rPr>
                        <a:t>Develop </a:t>
                      </a:r>
                      <a:r>
                        <a:rPr lang="en-US" sz="1200" b="0" dirty="0">
                          <a:solidFill>
                            <a:schemeClr val="tx1"/>
                          </a:solidFill>
                          <a:latin typeface="+mn-lt"/>
                        </a:rPr>
                        <a:t>mechanisms for </a:t>
                      </a:r>
                      <a:r>
                        <a:rPr kumimoji="0" lang="en-US" sz="1200" b="0" i="0" u="none" strike="noStrike" kern="1200" cap="none" spc="0" normalizeH="0" baseline="0" noProof="0" dirty="0">
                          <a:ln>
                            <a:noFill/>
                          </a:ln>
                          <a:solidFill>
                            <a:schemeClr val="tx1"/>
                          </a:solidFill>
                          <a:effectLst/>
                          <a:uLnTx/>
                          <a:uFillTx/>
                          <a:latin typeface="+mn-lt"/>
                          <a:cs typeface="Arial" panose="020B0604020202020204" pitchFamily="34" charset="0"/>
                        </a:rPr>
                        <a:t>collaboration and cooperation </a:t>
                      </a:r>
                    </a:p>
                  </a:txBody>
                  <a:tcPr marL="45720" marR="45720" anchor="ctr">
                    <a:lnL w="12700" cap="flat" cmpd="sng" algn="ctr">
                      <a:noFill/>
                      <a:prstDash val="sysDash"/>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lgDash"/>
                      <a:round/>
                      <a:headEnd type="none" w="med" len="med"/>
                      <a:tailEnd type="none" w="med" len="med"/>
                    </a:lnT>
                    <a:lnB w="9525" cap="flat" cmpd="sng" algn="ctr">
                      <a:solidFill>
                        <a:schemeClr val="tx1"/>
                      </a:solidFill>
                      <a:prstDash val="lg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171450" algn="l" defTabSz="914400" rtl="0" eaLnBrk="1" fontAlgn="auto" latinLnBrk="0" hangingPunct="1">
                        <a:lnSpc>
                          <a:spcPct val="100000"/>
                        </a:lnSpc>
                        <a:spcBef>
                          <a:spcPts val="0"/>
                        </a:spcBef>
                        <a:spcAft>
                          <a:spcPts val="0"/>
                        </a:spcAft>
                        <a:buClr>
                          <a:srgbClr val="12264A"/>
                        </a:buClr>
                        <a:buSzTx/>
                        <a:buFont typeface="Wingdings" panose="05000000000000000000" pitchFamily="2" charset="2"/>
                        <a:buChar char="§"/>
                        <a:tabLst/>
                        <a:defRPr/>
                      </a:pPr>
                      <a:r>
                        <a:rPr kumimoji="0" lang="en-US" sz="1200" b="0" i="0" u="none" strike="noStrike" kern="1200" cap="none" spc="0" normalizeH="0" baseline="0" noProof="0">
                          <a:ln>
                            <a:noFill/>
                          </a:ln>
                          <a:solidFill>
                            <a:schemeClr val="tx1"/>
                          </a:solidFill>
                          <a:effectLst/>
                          <a:uLnTx/>
                          <a:uFillTx/>
                          <a:latin typeface="+mn-lt"/>
                          <a:cs typeface="Arial" panose="020B0604020202020204" pitchFamily="34" charset="0"/>
                        </a:rPr>
                        <a:t>Final org chart hand-off to WMC/HR</a:t>
                      </a:r>
                    </a:p>
                    <a:p>
                      <a:pPr marL="0" marR="0" lvl="1" indent="-171450" algn="l" defTabSz="914400" rtl="0" eaLnBrk="1" fontAlgn="auto" latinLnBrk="0" hangingPunct="1">
                        <a:lnSpc>
                          <a:spcPct val="100000"/>
                        </a:lnSpc>
                        <a:spcBef>
                          <a:spcPts val="0"/>
                        </a:spcBef>
                        <a:spcAft>
                          <a:spcPts val="0"/>
                        </a:spcAft>
                        <a:buClr>
                          <a:srgbClr val="12264A"/>
                        </a:buClr>
                        <a:buSzTx/>
                        <a:buFont typeface="Wingdings" panose="05000000000000000000" pitchFamily="2" charset="2"/>
                        <a:buChar char="§"/>
                        <a:tabLst/>
                        <a:defRPr/>
                      </a:pPr>
                      <a:r>
                        <a:rPr kumimoji="0" lang="en-US" sz="1200" b="0" i="0" u="none" strike="noStrike" kern="1200" cap="none" spc="0" normalizeH="0" baseline="0" noProof="0">
                          <a:ln>
                            <a:noFill/>
                          </a:ln>
                          <a:solidFill>
                            <a:schemeClr val="tx1"/>
                          </a:solidFill>
                          <a:effectLst/>
                          <a:uLnTx/>
                          <a:uFillTx/>
                          <a:latin typeface="+mn-lt"/>
                          <a:cs typeface="Arial" panose="020B0604020202020204" pitchFamily="34" charset="0"/>
                        </a:rPr>
                        <a:t>Signed org chart</a:t>
                      </a:r>
                    </a:p>
                    <a:p>
                      <a:pPr marL="0" marR="0" lvl="1" indent="-171450" algn="l" defTabSz="914400" rtl="0" eaLnBrk="1" fontAlgn="auto" latinLnBrk="0" hangingPunct="1">
                        <a:lnSpc>
                          <a:spcPct val="100000"/>
                        </a:lnSpc>
                        <a:spcBef>
                          <a:spcPts val="0"/>
                        </a:spcBef>
                        <a:spcAft>
                          <a:spcPts val="0"/>
                        </a:spcAft>
                        <a:buClr>
                          <a:srgbClr val="12264A"/>
                        </a:buClr>
                        <a:buSzTx/>
                        <a:buFont typeface="Wingdings" panose="05000000000000000000" pitchFamily="2" charset="2"/>
                        <a:buChar char="§"/>
                        <a:tabLst/>
                        <a:defRPr/>
                      </a:pPr>
                      <a:r>
                        <a:rPr kumimoji="0" lang="en-US" sz="1200" b="0" i="0" u="none" strike="noStrike" kern="1200" cap="none" spc="0" normalizeH="0" baseline="0" noProof="0">
                          <a:ln>
                            <a:noFill/>
                          </a:ln>
                          <a:solidFill>
                            <a:schemeClr val="tx1"/>
                          </a:solidFill>
                          <a:effectLst/>
                          <a:uLnTx/>
                          <a:uFillTx/>
                          <a:latin typeface="+mn-lt"/>
                          <a:cs typeface="Arial" panose="020B0604020202020204" pitchFamily="34" charset="0"/>
                        </a:rPr>
                        <a:t>Receive all PD’s </a:t>
                      </a:r>
                    </a:p>
                    <a:p>
                      <a:pPr marL="0" marR="0" lvl="1" indent="-171450" algn="l" defTabSz="914400" rtl="0" eaLnBrk="1" fontAlgn="auto" latinLnBrk="0" hangingPunct="1">
                        <a:lnSpc>
                          <a:spcPct val="100000"/>
                        </a:lnSpc>
                        <a:spcBef>
                          <a:spcPts val="0"/>
                        </a:spcBef>
                        <a:spcAft>
                          <a:spcPts val="0"/>
                        </a:spcAft>
                        <a:buClr>
                          <a:srgbClr val="12264A"/>
                        </a:buClr>
                        <a:buSzTx/>
                        <a:buFont typeface="Wingdings" panose="05000000000000000000" pitchFamily="2" charset="2"/>
                        <a:buChar char="§"/>
                        <a:tabLst/>
                        <a:defRPr/>
                      </a:pPr>
                      <a:r>
                        <a:rPr kumimoji="0" lang="en-US" sz="1200" b="0" i="0" u="none" strike="noStrike" kern="1200" cap="none" spc="0" normalizeH="0" baseline="0" noProof="0">
                          <a:ln>
                            <a:noFill/>
                          </a:ln>
                          <a:solidFill>
                            <a:schemeClr val="tx1"/>
                          </a:solidFill>
                          <a:effectLst/>
                          <a:uLnTx/>
                          <a:uFillTx/>
                          <a:latin typeface="+mn-lt"/>
                          <a:cs typeface="Arial" panose="020B0604020202020204" pitchFamily="34" charset="0"/>
                        </a:rPr>
                        <a:t>Approved PD’s</a:t>
                      </a:r>
                    </a:p>
                    <a:p>
                      <a:pPr marL="0" marR="0" lvl="1" indent="-171450" algn="l" defTabSz="914400" rtl="0" eaLnBrk="1" fontAlgn="auto" latinLnBrk="0" hangingPunct="1">
                        <a:lnSpc>
                          <a:spcPct val="100000"/>
                        </a:lnSpc>
                        <a:spcBef>
                          <a:spcPts val="0"/>
                        </a:spcBef>
                        <a:spcAft>
                          <a:spcPts val="0"/>
                        </a:spcAft>
                        <a:buClr>
                          <a:srgbClr val="12264A"/>
                        </a:buClr>
                        <a:buSzTx/>
                        <a:buFont typeface="Wingdings" panose="05000000000000000000" pitchFamily="2" charset="2"/>
                        <a:buChar char="§"/>
                        <a:tabLst/>
                        <a:defRPr/>
                      </a:pPr>
                      <a:r>
                        <a:rPr kumimoji="0" lang="en-US" sz="1200" b="0" i="0" u="none" strike="noStrike" kern="1200" cap="none" spc="0" normalizeH="0" baseline="0" noProof="0">
                          <a:ln>
                            <a:noFill/>
                          </a:ln>
                          <a:solidFill>
                            <a:schemeClr val="tx1"/>
                          </a:solidFill>
                          <a:effectLst/>
                          <a:uLnTx/>
                          <a:uFillTx/>
                          <a:latin typeface="+mn-lt"/>
                          <a:cs typeface="Arial" panose="020B0604020202020204" pitchFamily="34" charset="0"/>
                        </a:rPr>
                        <a:t>Begin recruitment</a:t>
                      </a:r>
                    </a:p>
                    <a:p>
                      <a:pPr marL="0" marR="0" lvl="1" indent="-171450" algn="l" defTabSz="914400" rtl="0" eaLnBrk="1" fontAlgn="auto" latinLnBrk="0" hangingPunct="1">
                        <a:lnSpc>
                          <a:spcPct val="100000"/>
                        </a:lnSpc>
                        <a:spcBef>
                          <a:spcPts val="0"/>
                        </a:spcBef>
                        <a:spcAft>
                          <a:spcPts val="0"/>
                        </a:spcAft>
                        <a:buClr>
                          <a:srgbClr val="12264A"/>
                        </a:buClr>
                        <a:buSzTx/>
                        <a:buFont typeface="Wingdings" panose="05000000000000000000" pitchFamily="2" charset="2"/>
                        <a:buChar char="§"/>
                        <a:tabLst/>
                        <a:defRPr/>
                      </a:pPr>
                      <a:r>
                        <a:rPr kumimoji="0" lang="en-US" sz="1200" b="0" i="0" u="none" strike="noStrike" kern="1200" cap="none" spc="0" normalizeH="0" baseline="0" noProof="0">
                          <a:ln>
                            <a:noFill/>
                          </a:ln>
                          <a:solidFill>
                            <a:schemeClr val="tx1"/>
                          </a:solidFill>
                          <a:effectLst/>
                          <a:uLnTx/>
                          <a:uFillTx/>
                          <a:latin typeface="+mn-lt"/>
                          <a:cs typeface="Arial" panose="020B0604020202020204" pitchFamily="34" charset="0"/>
                        </a:rPr>
                        <a:t>Begin hiring </a:t>
                      </a:r>
                    </a:p>
                    <a:p>
                      <a:pPr marL="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0" cap="none" spc="0" normalizeH="0" baseline="0" noProof="0">
                        <a:ln>
                          <a:noFill/>
                        </a:ln>
                        <a:solidFill>
                          <a:prstClr val="black"/>
                        </a:solidFill>
                        <a:effectLst/>
                        <a:uLnTx/>
                        <a:uFillTx/>
                        <a:latin typeface="+mn-lt"/>
                        <a:ea typeface="+mn-ea"/>
                        <a:cs typeface="+mn-cs"/>
                      </a:endParaRPr>
                    </a:p>
                  </a:txBody>
                  <a:tcPr marL="45720" marR="45720" anchor="ctr">
                    <a:lnL w="12700" cap="flat" cmpd="sng" algn="ctr">
                      <a:noFill/>
                      <a:prstDash val="sysDash"/>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lgDash"/>
                      <a:round/>
                      <a:headEnd type="none" w="med" len="med"/>
                      <a:tailEnd type="none" w="med" len="med"/>
                    </a:lnT>
                    <a:lnB w="9525" cap="flat" cmpd="sng" algn="ctr">
                      <a:solidFill>
                        <a:schemeClr val="tx1"/>
                      </a:solidFill>
                      <a:prstDash val="lg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4751108"/>
                  </a:ext>
                </a:extLst>
              </a:tr>
              <a:tr h="1463031">
                <a:tc>
                  <a:txBody>
                    <a:bodyPr/>
                    <a:lstStyle/>
                    <a:p>
                      <a:pPr algn="ctr"/>
                      <a:r>
                        <a:rPr lang="en-US" sz="1200">
                          <a:solidFill>
                            <a:schemeClr val="tx1"/>
                          </a:solidFill>
                          <a:latin typeface="+mn-lt"/>
                        </a:rPr>
                        <a:t>Outputs</a:t>
                      </a:r>
                    </a:p>
                  </a:txBody>
                  <a:tcPr marL="45720" marR="45720" vert="vert270" anchor="ctr">
                    <a:lnL w="12700" cap="flat" cmpd="sng" algn="ctr">
                      <a:noFill/>
                      <a:prstDash val="sysDash"/>
                      <a:round/>
                      <a:headEnd type="none" w="med" len="med"/>
                      <a:tailEnd type="none" w="med" len="med"/>
                    </a:lnL>
                    <a:lnR w="9525" cap="flat" cmpd="sng" algn="ctr">
                      <a:noFill/>
                      <a:prstDash val="lgDash"/>
                      <a:round/>
                      <a:headEnd type="none" w="med" len="med"/>
                      <a:tailEnd type="none" w="med" len="med"/>
                    </a:lnR>
                    <a:lnT w="12700" cap="flat" cmpd="sng" algn="ctr">
                      <a:noFill/>
                      <a:prstDash val="sysDash"/>
                      <a:round/>
                      <a:headEnd type="none" w="med" len="med"/>
                      <a:tailEnd type="none" w="med" len="med"/>
                    </a:lnT>
                    <a:lnB w="9525" cap="flat" cmpd="sng" algn="ctr">
                      <a:noFill/>
                      <a:prstDash val="lg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200" b="0" dirty="0">
                          <a:solidFill>
                            <a:schemeClr val="tx1"/>
                          </a:solidFill>
                          <a:latin typeface="+mn-lt"/>
                        </a:rPr>
                        <a:t>Layer 1 &amp; 2 org chart</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200" b="0" dirty="0">
                          <a:solidFill>
                            <a:schemeClr val="tx1"/>
                          </a:solidFill>
                          <a:latin typeface="+mn-lt"/>
                        </a:rPr>
                        <a:t>Layer 1 &amp; 2 role charter</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200" b="0" dirty="0">
                          <a:solidFill>
                            <a:schemeClr val="tx1"/>
                          </a:solidFill>
                          <a:latin typeface="+mn-lt"/>
                        </a:rPr>
                        <a:t>Layer 1 &amp; 2 decision rights</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200" b="0" dirty="0">
                          <a:solidFill>
                            <a:schemeClr val="tx1"/>
                          </a:solidFill>
                          <a:latin typeface="+mn-lt"/>
                        </a:rPr>
                        <a:t>Layer 2  Functional statement/charter</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200" b="0" dirty="0">
                          <a:solidFill>
                            <a:schemeClr val="tx1"/>
                          </a:solidFill>
                          <a:latin typeface="+mn-lt"/>
                        </a:rPr>
                        <a:t>Layer 1 &amp; 2 analysis report </a:t>
                      </a:r>
                    </a:p>
                  </a:txBody>
                  <a:tcPr marL="45720" marR="45720" anchor="ctr">
                    <a:lnL w="9525" cap="flat" cmpd="sng" algn="ctr">
                      <a:noFill/>
                      <a:prstDash val="lgDash"/>
                      <a:round/>
                      <a:headEnd type="none" w="med" len="med"/>
                      <a:tailEnd type="none" w="med" len="med"/>
                    </a:lnL>
                    <a:lnR w="12700" cap="flat" cmpd="sng" algn="ctr">
                      <a:noFill/>
                      <a:prstDash val="sysDash"/>
                      <a:round/>
                      <a:headEnd type="none" w="med" len="med"/>
                      <a:tailEnd type="none" w="med" len="med"/>
                    </a:lnR>
                    <a:lnT w="9525" cap="flat" cmpd="sng" algn="ctr">
                      <a:solidFill>
                        <a:schemeClr val="tx1"/>
                      </a:solidFill>
                      <a:prstDash val="lgDash"/>
                      <a:round/>
                      <a:headEnd type="none" w="med" len="med"/>
                      <a:tailEnd type="none" w="med" len="med"/>
                    </a:lnT>
                    <a:lnB w="12700" cap="flat" cmpd="sng" algn="ctr">
                      <a:no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chemeClr val="tx1"/>
                          </a:solidFill>
                          <a:latin typeface="+mn-lt"/>
                        </a:rPr>
                        <a:t>Plan for recruiting, staffing, and trainings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chemeClr val="tx1"/>
                          </a:solidFill>
                          <a:latin typeface="+mn-lt"/>
                        </a:rPr>
                        <a:t>Layer 3 to 5 org chart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chemeClr val="tx1"/>
                          </a:solidFill>
                          <a:latin typeface="+mn-lt"/>
                        </a:rPr>
                        <a:t>Layer 3 to 5 Role charter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chemeClr val="tx1"/>
                          </a:solidFill>
                          <a:latin typeface="+mn-lt"/>
                        </a:rPr>
                        <a:t>Layer 3 to 5 decision rights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chemeClr val="tx1"/>
                          </a:solidFill>
                          <a:latin typeface="+mn-lt"/>
                        </a:rPr>
                        <a:t>Layer 3 Functional statement/charter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chemeClr val="tx1"/>
                          </a:solidFill>
                          <a:latin typeface="+mn-lt"/>
                        </a:rPr>
                        <a:t>Layer 3 and 4 analysis report</a:t>
                      </a:r>
                    </a:p>
                    <a:p>
                      <a:pPr marL="171450" indent="-171450" algn="l">
                        <a:buFont typeface="Arial" panose="020B0604020202020204" pitchFamily="34" charset="0"/>
                        <a:buChar char="•"/>
                      </a:pPr>
                      <a:r>
                        <a:rPr lang="en-US" sz="1200" b="0" dirty="0">
                          <a:solidFill>
                            <a:schemeClr val="tx1"/>
                          </a:solidFill>
                          <a:latin typeface="+mn-lt"/>
                        </a:rPr>
                        <a:t>Final org chart</a:t>
                      </a:r>
                    </a:p>
                  </a:txBody>
                  <a:tcPr marL="45720" marR="45720" anchor="ctr">
                    <a:lnL w="12700" cap="flat" cmpd="sng" algn="ctr">
                      <a:noFill/>
                      <a:prstDash val="sysDash"/>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lgDash"/>
                      <a:round/>
                      <a:headEnd type="none" w="med" len="med"/>
                      <a:tailEnd type="none" w="med" len="med"/>
                    </a:lnT>
                    <a:lnB w="12700" cap="flat" cmpd="sng" algn="ctr">
                      <a:no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chemeClr val="tx1"/>
                          </a:solidFill>
                          <a:latin typeface="+mn-lt"/>
                        </a:rPr>
                        <a:t>Signed org chart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chemeClr val="tx1"/>
                          </a:solidFill>
                          <a:latin typeface="+mn-lt"/>
                        </a:rPr>
                        <a:t>All new Position descriptions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chemeClr val="tx1"/>
                          </a:solidFill>
                          <a:latin typeface="+mn-lt"/>
                        </a:rPr>
                        <a:t>Signed position descriptions </a:t>
                      </a:r>
                    </a:p>
                  </a:txBody>
                  <a:tcPr marL="45720" marR="45720" anchor="ctr">
                    <a:lnL w="12700" cap="flat" cmpd="sng" algn="ctr">
                      <a:noFill/>
                      <a:prstDash val="sysDash"/>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lgDash"/>
                      <a:round/>
                      <a:headEnd type="none" w="med" len="med"/>
                      <a:tailEnd type="none" w="med" len="med"/>
                    </a:lnT>
                    <a:lnB w="12700" cap="flat" cmpd="sng" algn="ctr">
                      <a:noFill/>
                      <a:prstDash val="sys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9790864"/>
                  </a:ext>
                </a:extLst>
              </a:tr>
            </a:tbl>
          </a:graphicData>
        </a:graphic>
      </p:graphicFrame>
      <p:sp>
        <p:nvSpPr>
          <p:cNvPr id="27" name="Title 1">
            <a:extLst>
              <a:ext uri="{FF2B5EF4-FFF2-40B4-BE49-F238E27FC236}">
                <a16:creationId xmlns:a16="http://schemas.microsoft.com/office/drawing/2014/main" id="{F819D592-BC1B-41EE-A8DF-5644C44A8DA1}"/>
              </a:ext>
            </a:extLst>
          </p:cNvPr>
          <p:cNvSpPr txBox="1">
            <a:spLocks/>
          </p:cNvSpPr>
          <p:nvPr/>
        </p:nvSpPr>
        <p:spPr>
          <a:xfrm>
            <a:off x="129986" y="38100"/>
            <a:ext cx="6938264" cy="76517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sym typeface="Trebuchet MS" panose="020B0603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ea typeface="+mj-ea"/>
                <a:cs typeface="+mj-cs"/>
                <a:sym typeface="Trebuchet MS" panose="020B0603020202020204" pitchFamily="34" charset="0"/>
              </a:rPr>
              <a:t>Org design team Roadmap  </a:t>
            </a:r>
            <a:r>
              <a:rPr kumimoji="0" lang="en-US" sz="2400" b="1" i="1" u="none" strike="noStrike" kern="1200" cap="none" spc="0" normalizeH="0" baseline="0" noProof="0" dirty="0">
                <a:ln>
                  <a:noFill/>
                </a:ln>
                <a:solidFill>
                  <a:prstClr val="white"/>
                </a:solidFill>
                <a:effectLst/>
                <a:uLnTx/>
                <a:uFillTx/>
                <a:ea typeface="+mj-ea"/>
                <a:cs typeface="+mj-cs"/>
                <a:sym typeface="Trebuchet MS" panose="020B0603020202020204" pitchFamily="34" charset="0"/>
              </a:rPr>
              <a:t>(page 2 of 2)</a:t>
            </a:r>
          </a:p>
        </p:txBody>
      </p:sp>
      <p:sp>
        <p:nvSpPr>
          <p:cNvPr id="8" name="Slide Number Placeholder 2">
            <a:extLst>
              <a:ext uri="{FF2B5EF4-FFF2-40B4-BE49-F238E27FC236}">
                <a16:creationId xmlns:a16="http://schemas.microsoft.com/office/drawing/2014/main" id="{30BA6EF4-789A-41A1-F85C-393C35EE9BB5}"/>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708829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312732-C7CE-47D3-A994-5C9DAF8F6542}"/>
              </a:ext>
            </a:extLst>
          </p:cNvPr>
          <p:cNvSpPr>
            <a:spLocks noGrp="1"/>
          </p:cNvSpPr>
          <p:nvPr>
            <p:ph type="title"/>
          </p:nvPr>
        </p:nvSpPr>
        <p:spPr/>
        <p:txBody>
          <a:bodyPr/>
          <a:lstStyle/>
          <a:p>
            <a:r>
              <a:rPr lang="en-US" dirty="0">
                <a:solidFill>
                  <a:schemeClr val="tx1"/>
                </a:solidFill>
              </a:rPr>
              <a:t>Appendix: Actively Managed Portfolios Roadmap</a:t>
            </a:r>
            <a:br>
              <a:rPr lang="en-US" dirty="0">
                <a:solidFill>
                  <a:schemeClr val="tx1"/>
                </a:solidFill>
              </a:rPr>
            </a:br>
            <a:endParaRPr lang="en-US" dirty="0">
              <a:solidFill>
                <a:schemeClr val="tx1"/>
              </a:solidFill>
            </a:endParaRPr>
          </a:p>
        </p:txBody>
      </p:sp>
      <p:sp>
        <p:nvSpPr>
          <p:cNvPr id="6" name="Slide Number Placeholder 2">
            <a:extLst>
              <a:ext uri="{FF2B5EF4-FFF2-40B4-BE49-F238E27FC236}">
                <a16:creationId xmlns:a16="http://schemas.microsoft.com/office/drawing/2014/main" id="{348A4DB6-213A-EF35-FF18-1097643D6169}"/>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066778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ee4pHeader2">
            <a:extLst>
              <a:ext uri="{FF2B5EF4-FFF2-40B4-BE49-F238E27FC236}">
                <a16:creationId xmlns:a16="http://schemas.microsoft.com/office/drawing/2014/main" id="{42D9B358-42D2-45E9-8DA9-4C97BB24C16F}"/>
              </a:ext>
            </a:extLst>
          </p:cNvPr>
          <p:cNvSpPr/>
          <p:nvPr>
            <p:custDataLst>
              <p:tags r:id="rId1"/>
            </p:custDataLst>
          </p:nvPr>
        </p:nvSpPr>
        <p:spPr bwMode="auto">
          <a:xfrm>
            <a:off x="2183560" y="1209966"/>
            <a:ext cx="1741828" cy="434396"/>
          </a:xfrm>
          <a:prstGeom prst="chevron">
            <a:avLst>
              <a:gd name="adj" fmla="val 19696"/>
            </a:avLst>
          </a:prstGeom>
          <a:solidFill>
            <a:schemeClr val="bg1">
              <a:lumMod val="85000"/>
            </a:schemeClr>
          </a:solidFill>
          <a:ln w="9525" cmpd="sng">
            <a:solidFill>
              <a:srgbClr val="002060"/>
            </a:solidFill>
            <a:prstDash val="solid"/>
            <a:miter lim="800000"/>
            <a:headEnd/>
            <a:tailEnd/>
          </a:ln>
          <a:effectLst/>
        </p:spPr>
        <p:txBody>
          <a:bodyPr anchor="ctr"/>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E7E6E6">
                    <a:lumMod val="50000"/>
                  </a:srgbClr>
                </a:solidFill>
                <a:effectLst/>
                <a:uLnTx/>
                <a:uFillTx/>
                <a:latin typeface="Calibri" panose="020F0502020204030204"/>
                <a:ea typeface="+mn-ea"/>
                <a:cs typeface="+mn-cs"/>
              </a:rPr>
              <a:t>Phase 2: Discovery &amp; Analysis</a:t>
            </a:r>
          </a:p>
        </p:txBody>
      </p:sp>
      <p:sp>
        <p:nvSpPr>
          <p:cNvPr id="2" name="Title 1">
            <a:extLst>
              <a:ext uri="{FF2B5EF4-FFF2-40B4-BE49-F238E27FC236}">
                <a16:creationId xmlns:a16="http://schemas.microsoft.com/office/drawing/2014/main" id="{7D0DFB94-37FB-44CC-A0B2-6E27F4419C53}"/>
              </a:ext>
            </a:extLst>
          </p:cNvPr>
          <p:cNvSpPr>
            <a:spLocks noGrp="1"/>
          </p:cNvSpPr>
          <p:nvPr>
            <p:ph type="title"/>
          </p:nvPr>
        </p:nvSpPr>
        <p:spPr>
          <a:xfrm>
            <a:off x="432011" y="131217"/>
            <a:ext cx="10515600" cy="680223"/>
          </a:xfrm>
        </p:spPr>
        <p:txBody>
          <a:bodyPr/>
          <a:lstStyle/>
          <a:p>
            <a:r>
              <a:rPr lang="en-US" sz="2400"/>
              <a:t>AMP Initiative Roadmap Overview</a:t>
            </a:r>
          </a:p>
        </p:txBody>
      </p:sp>
      <p:sp>
        <p:nvSpPr>
          <p:cNvPr id="38" name="ee4pHeader3">
            <a:extLst>
              <a:ext uri="{FF2B5EF4-FFF2-40B4-BE49-F238E27FC236}">
                <a16:creationId xmlns:a16="http://schemas.microsoft.com/office/drawing/2014/main" id="{47991F24-91F0-49D7-95D0-2B2B9616B9BD}"/>
              </a:ext>
            </a:extLst>
          </p:cNvPr>
          <p:cNvSpPr/>
          <p:nvPr>
            <p:custDataLst>
              <p:tags r:id="rId2"/>
            </p:custDataLst>
          </p:nvPr>
        </p:nvSpPr>
        <p:spPr bwMode="auto">
          <a:xfrm>
            <a:off x="3895984" y="1210526"/>
            <a:ext cx="2695859" cy="434396"/>
          </a:xfrm>
          <a:prstGeom prst="chevron">
            <a:avLst>
              <a:gd name="adj" fmla="val 19696"/>
            </a:avLst>
          </a:prstGeom>
          <a:solidFill>
            <a:schemeClr val="bg2">
              <a:lumMod val="90000"/>
            </a:schemeClr>
          </a:solidFill>
          <a:ln w="9525" cmpd="sng">
            <a:solidFill>
              <a:srgbClr val="002060"/>
            </a:solidFill>
            <a:prstDash val="solid"/>
            <a:miter lim="800000"/>
            <a:headEnd/>
            <a:tailEnd/>
          </a:ln>
          <a:effectLst/>
        </p:spPr>
        <p:txBody>
          <a:bodyPr anchor="ctr"/>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rPr>
              <a:t>Phase 3: Plan Development</a:t>
            </a:r>
          </a:p>
        </p:txBody>
      </p:sp>
      <p:cxnSp>
        <p:nvCxnSpPr>
          <p:cNvPr id="39" name="Straight Arrow Connector 38">
            <a:extLst>
              <a:ext uri="{FF2B5EF4-FFF2-40B4-BE49-F238E27FC236}">
                <a16:creationId xmlns:a16="http://schemas.microsoft.com/office/drawing/2014/main" id="{5CA7A934-D209-4CDE-A469-B64FD133706E}"/>
              </a:ext>
            </a:extLst>
          </p:cNvPr>
          <p:cNvCxnSpPr>
            <a:cxnSpLocks/>
          </p:cNvCxnSpPr>
          <p:nvPr/>
        </p:nvCxnSpPr>
        <p:spPr>
          <a:xfrm>
            <a:off x="471546" y="1045569"/>
            <a:ext cx="1589117" cy="0"/>
          </a:xfrm>
          <a:prstGeom prst="straightConnector1">
            <a:avLst/>
          </a:prstGeom>
          <a:ln>
            <a:solidFill>
              <a:schemeClr val="bg1">
                <a:lumMod val="8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C5FDB0BD-3718-4BBD-BF27-F094937A0D04}"/>
              </a:ext>
            </a:extLst>
          </p:cNvPr>
          <p:cNvSpPr txBox="1"/>
          <p:nvPr/>
        </p:nvSpPr>
        <p:spPr>
          <a:xfrm>
            <a:off x="809361" y="928979"/>
            <a:ext cx="979825" cy="261610"/>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E7E6E6">
                    <a:lumMod val="50000"/>
                  </a:srgbClr>
                </a:solidFill>
                <a:effectLst/>
                <a:uLnTx/>
                <a:uFillTx/>
                <a:latin typeface="Calibri" panose="020F0502020204030204"/>
                <a:ea typeface="+mn-ea"/>
                <a:cs typeface="+mn-cs"/>
              </a:rPr>
              <a:t>12/6 – 3/11</a:t>
            </a:r>
          </a:p>
        </p:txBody>
      </p:sp>
      <p:cxnSp>
        <p:nvCxnSpPr>
          <p:cNvPr id="41" name="Straight Arrow Connector 40">
            <a:extLst>
              <a:ext uri="{FF2B5EF4-FFF2-40B4-BE49-F238E27FC236}">
                <a16:creationId xmlns:a16="http://schemas.microsoft.com/office/drawing/2014/main" id="{55C2A119-A737-46F6-9160-7F28E040B562}"/>
              </a:ext>
            </a:extLst>
          </p:cNvPr>
          <p:cNvCxnSpPr>
            <a:cxnSpLocks/>
          </p:cNvCxnSpPr>
          <p:nvPr/>
        </p:nvCxnSpPr>
        <p:spPr>
          <a:xfrm flipV="1">
            <a:off x="2193614" y="1037286"/>
            <a:ext cx="1597557" cy="11452"/>
          </a:xfrm>
          <a:prstGeom prst="straightConnector1">
            <a:avLst/>
          </a:prstGeom>
          <a:ln>
            <a:solidFill>
              <a:schemeClr val="bg1">
                <a:lumMod val="8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B125FFD2-564D-45F3-B9A7-0C96CBADA602}"/>
              </a:ext>
            </a:extLst>
          </p:cNvPr>
          <p:cNvSpPr txBox="1"/>
          <p:nvPr/>
        </p:nvSpPr>
        <p:spPr>
          <a:xfrm>
            <a:off x="2570350" y="906481"/>
            <a:ext cx="968247" cy="261610"/>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E7E6E6">
                    <a:lumMod val="50000"/>
                  </a:srgbClr>
                </a:solidFill>
                <a:effectLst/>
                <a:uLnTx/>
                <a:uFillTx/>
                <a:latin typeface="Calibri" panose="020F0502020204030204"/>
                <a:ea typeface="+mn-ea"/>
                <a:cs typeface="+mn-cs"/>
              </a:rPr>
              <a:t>3/14 – 5/6</a:t>
            </a:r>
          </a:p>
        </p:txBody>
      </p:sp>
      <p:cxnSp>
        <p:nvCxnSpPr>
          <p:cNvPr id="43" name="Straight Arrow Connector 42">
            <a:extLst>
              <a:ext uri="{FF2B5EF4-FFF2-40B4-BE49-F238E27FC236}">
                <a16:creationId xmlns:a16="http://schemas.microsoft.com/office/drawing/2014/main" id="{568F86BF-934A-474B-ACCE-98918227E088}"/>
              </a:ext>
            </a:extLst>
          </p:cNvPr>
          <p:cNvCxnSpPr>
            <a:cxnSpLocks/>
          </p:cNvCxnSpPr>
          <p:nvPr/>
        </p:nvCxnSpPr>
        <p:spPr>
          <a:xfrm>
            <a:off x="3895984" y="1048037"/>
            <a:ext cx="2576007" cy="0"/>
          </a:xfrm>
          <a:prstGeom prst="straightConnector1">
            <a:avLst/>
          </a:prstGeom>
          <a:ln>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42D8883B-0E4A-4B61-95B0-11C4EC951B5E}"/>
              </a:ext>
            </a:extLst>
          </p:cNvPr>
          <p:cNvSpPr txBox="1"/>
          <p:nvPr/>
        </p:nvSpPr>
        <p:spPr>
          <a:xfrm>
            <a:off x="4699863" y="898268"/>
            <a:ext cx="968247" cy="276999"/>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5/9</a:t>
            </a:r>
            <a:r>
              <a:rPr kumimoji="0" lang="en-US" sz="1200" b="0" i="0" u="none" strike="noStrike" kern="1200" cap="none" spc="0" normalizeH="0" baseline="0" noProof="0">
                <a:ln>
                  <a:noFill/>
                </a:ln>
                <a:solidFill>
                  <a:prstClr val="black">
                    <a:lumMod val="65000"/>
                    <a:lumOff val="35000"/>
                  </a:prstClr>
                </a:solidFill>
                <a:effectLst/>
                <a:uLnTx/>
                <a:uFillTx/>
                <a:latin typeface="Calibri" panose="020F0502020204030204"/>
                <a:ea typeface="+mn-ea"/>
                <a:cs typeface="+mn-cs"/>
              </a:rPr>
              <a:t> </a:t>
            </a: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 8/5</a:t>
            </a:r>
          </a:p>
        </p:txBody>
      </p:sp>
      <p:sp>
        <p:nvSpPr>
          <p:cNvPr id="45" name="ee4pHeader3">
            <a:extLst>
              <a:ext uri="{FF2B5EF4-FFF2-40B4-BE49-F238E27FC236}">
                <a16:creationId xmlns:a16="http://schemas.microsoft.com/office/drawing/2014/main" id="{AD391468-1204-4043-AFD4-49744937DEB1}"/>
              </a:ext>
            </a:extLst>
          </p:cNvPr>
          <p:cNvSpPr/>
          <p:nvPr>
            <p:custDataLst>
              <p:tags r:id="rId3"/>
            </p:custDataLst>
          </p:nvPr>
        </p:nvSpPr>
        <p:spPr bwMode="auto">
          <a:xfrm>
            <a:off x="6577142" y="1209966"/>
            <a:ext cx="2695859" cy="434396"/>
          </a:xfrm>
          <a:prstGeom prst="chevron">
            <a:avLst>
              <a:gd name="adj" fmla="val 19696"/>
            </a:avLst>
          </a:prstGeom>
          <a:solidFill>
            <a:schemeClr val="accent1"/>
          </a:solidFill>
          <a:ln w="9525" cmpd="sng">
            <a:solidFill>
              <a:srgbClr val="002060"/>
            </a:solidFill>
            <a:prstDash val="solid"/>
            <a:miter lim="800000"/>
            <a:headEnd/>
            <a:tailEnd/>
          </a:ln>
          <a:effectLst/>
        </p:spPr>
        <p:txBody>
          <a:bodyPr anchor="ctr"/>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Calibri" panose="020F0502020204030204"/>
                <a:ea typeface="+mn-ea"/>
                <a:cs typeface="+mn-cs"/>
              </a:rPr>
              <a:t>Phase 4: Implementation</a:t>
            </a:r>
          </a:p>
        </p:txBody>
      </p:sp>
      <p:cxnSp>
        <p:nvCxnSpPr>
          <p:cNvPr id="46" name="Straight Arrow Connector 45">
            <a:extLst>
              <a:ext uri="{FF2B5EF4-FFF2-40B4-BE49-F238E27FC236}">
                <a16:creationId xmlns:a16="http://schemas.microsoft.com/office/drawing/2014/main" id="{916A186B-7BD9-48BD-8880-65C91C5AA7F6}"/>
              </a:ext>
            </a:extLst>
          </p:cNvPr>
          <p:cNvCxnSpPr>
            <a:cxnSpLocks/>
          </p:cNvCxnSpPr>
          <p:nvPr/>
        </p:nvCxnSpPr>
        <p:spPr>
          <a:xfrm>
            <a:off x="6576802" y="1047121"/>
            <a:ext cx="2652095" cy="0"/>
          </a:xfrm>
          <a:prstGeom prst="straightConnector1">
            <a:avLst/>
          </a:prstGeom>
          <a:ln>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E30A0002-A89E-4C02-932B-C282D716C747}"/>
              </a:ext>
            </a:extLst>
          </p:cNvPr>
          <p:cNvSpPr txBox="1"/>
          <p:nvPr/>
        </p:nvSpPr>
        <p:spPr>
          <a:xfrm>
            <a:off x="7489718" y="912006"/>
            <a:ext cx="968247" cy="276999"/>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8/8</a:t>
            </a:r>
            <a:r>
              <a:rPr kumimoji="0" lang="en-US" sz="1200" b="0" i="0" u="none" strike="noStrike" kern="1200" cap="none" spc="0" normalizeH="0" baseline="0" noProof="0">
                <a:ln>
                  <a:noFill/>
                </a:ln>
                <a:solidFill>
                  <a:prstClr val="black">
                    <a:lumMod val="65000"/>
                    <a:lumOff val="35000"/>
                  </a:prstClr>
                </a:solidFill>
                <a:effectLst/>
                <a:uLnTx/>
                <a:uFillTx/>
                <a:latin typeface="Calibri" panose="020F0502020204030204"/>
                <a:ea typeface="+mn-ea"/>
                <a:cs typeface="+mn-cs"/>
              </a:rPr>
              <a:t> </a:t>
            </a: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 10/14</a:t>
            </a:r>
          </a:p>
        </p:txBody>
      </p:sp>
      <p:sp>
        <p:nvSpPr>
          <p:cNvPr id="49" name="TextBox 48">
            <a:extLst>
              <a:ext uri="{FF2B5EF4-FFF2-40B4-BE49-F238E27FC236}">
                <a16:creationId xmlns:a16="http://schemas.microsoft.com/office/drawing/2014/main" id="{3546B86E-60F7-4025-8EA7-BA6E1C0CDD2A}"/>
              </a:ext>
            </a:extLst>
          </p:cNvPr>
          <p:cNvSpPr txBox="1"/>
          <p:nvPr/>
        </p:nvSpPr>
        <p:spPr>
          <a:xfrm rot="16200000">
            <a:off x="-418414" y="1904551"/>
            <a:ext cx="1228436"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Goals</a:t>
            </a:r>
          </a:p>
        </p:txBody>
      </p:sp>
      <p:sp>
        <p:nvSpPr>
          <p:cNvPr id="54" name="ee4pHeader3">
            <a:extLst>
              <a:ext uri="{FF2B5EF4-FFF2-40B4-BE49-F238E27FC236}">
                <a16:creationId xmlns:a16="http://schemas.microsoft.com/office/drawing/2014/main" id="{24CC8FF2-7716-482C-BD68-32B68D11179F}"/>
              </a:ext>
            </a:extLst>
          </p:cNvPr>
          <p:cNvSpPr/>
          <p:nvPr>
            <p:custDataLst>
              <p:tags r:id="rId4"/>
            </p:custDataLst>
          </p:nvPr>
        </p:nvSpPr>
        <p:spPr bwMode="auto">
          <a:xfrm>
            <a:off x="9258300" y="1211253"/>
            <a:ext cx="2702167" cy="434396"/>
          </a:xfrm>
          <a:prstGeom prst="chevron">
            <a:avLst>
              <a:gd name="adj" fmla="val 19696"/>
            </a:avLst>
          </a:prstGeom>
          <a:solidFill>
            <a:srgbClr val="002F56"/>
          </a:solidFill>
          <a:ln w="9525" cmpd="sng">
            <a:solidFill>
              <a:srgbClr val="002060"/>
            </a:solidFill>
            <a:prstDash val="solid"/>
            <a:miter lim="800000"/>
            <a:headEnd/>
            <a:tailEnd/>
          </a:ln>
          <a:effectLst/>
        </p:spPr>
        <p:txBody>
          <a:bodyPr anchor="ctr"/>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Calibri" panose="020F0502020204030204"/>
                <a:ea typeface="+mn-ea"/>
                <a:cs typeface="+mn-cs"/>
              </a:rPr>
              <a:t>Phase 5: Tracking and Evaluation</a:t>
            </a:r>
          </a:p>
        </p:txBody>
      </p:sp>
      <p:cxnSp>
        <p:nvCxnSpPr>
          <p:cNvPr id="55" name="Straight Arrow Connector 54">
            <a:extLst>
              <a:ext uri="{FF2B5EF4-FFF2-40B4-BE49-F238E27FC236}">
                <a16:creationId xmlns:a16="http://schemas.microsoft.com/office/drawing/2014/main" id="{4574B918-F31A-46C9-B348-DCCDBC600B29}"/>
              </a:ext>
            </a:extLst>
          </p:cNvPr>
          <p:cNvCxnSpPr>
            <a:cxnSpLocks/>
          </p:cNvCxnSpPr>
          <p:nvPr/>
        </p:nvCxnSpPr>
        <p:spPr>
          <a:xfrm>
            <a:off x="9273001" y="1045569"/>
            <a:ext cx="2595149" cy="4937"/>
          </a:xfrm>
          <a:prstGeom prst="straightConnector1">
            <a:avLst/>
          </a:prstGeom>
          <a:ln>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AF18F017-FB84-4CD7-82D0-23C0F9945685}"/>
              </a:ext>
            </a:extLst>
          </p:cNvPr>
          <p:cNvSpPr txBox="1"/>
          <p:nvPr/>
        </p:nvSpPr>
        <p:spPr>
          <a:xfrm>
            <a:off x="10030754" y="903044"/>
            <a:ext cx="1173297" cy="276999"/>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Ongoing</a:t>
            </a:r>
          </a:p>
        </p:txBody>
      </p:sp>
      <p:sp>
        <p:nvSpPr>
          <p:cNvPr id="79" name="ee4pHeader1">
            <a:extLst>
              <a:ext uri="{FF2B5EF4-FFF2-40B4-BE49-F238E27FC236}">
                <a16:creationId xmlns:a16="http://schemas.microsoft.com/office/drawing/2014/main" id="{F223B13B-0AC0-4E06-9788-04B33DB59921}"/>
              </a:ext>
            </a:extLst>
          </p:cNvPr>
          <p:cNvSpPr/>
          <p:nvPr>
            <p:custDataLst>
              <p:tags r:id="rId5"/>
            </p:custDataLst>
          </p:nvPr>
        </p:nvSpPr>
        <p:spPr bwMode="auto">
          <a:xfrm>
            <a:off x="471546" y="1211253"/>
            <a:ext cx="1741828" cy="434396"/>
          </a:xfrm>
          <a:prstGeom prst="homePlate">
            <a:avLst>
              <a:gd name="adj" fmla="val 19696"/>
            </a:avLst>
          </a:prstGeom>
          <a:solidFill>
            <a:schemeClr val="bg1">
              <a:lumMod val="85000"/>
            </a:schemeClr>
          </a:solidFill>
          <a:ln w="9525" cmpd="sng">
            <a:solidFill>
              <a:srgbClr val="002060"/>
            </a:solidFill>
            <a:prstDash val="solid"/>
            <a:miter lim="800000"/>
            <a:headEnd/>
            <a:tailEnd/>
          </a:ln>
          <a:effectLst/>
        </p:spPr>
        <p:txBody>
          <a:bodyPr lIns="90000" tIns="46800" rIns="90000" bIns="46800" anchor="ctr"/>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E7E6E6">
                    <a:lumMod val="50000"/>
                  </a:srgbClr>
                </a:solidFill>
                <a:effectLst/>
                <a:uLnTx/>
                <a:uFillTx/>
                <a:latin typeface="Calibri" panose="020F0502020204030204"/>
                <a:ea typeface="+mn-ea"/>
                <a:cs typeface="+mn-cs"/>
              </a:rPr>
              <a:t>Phase 1: AMP Definition</a:t>
            </a:r>
          </a:p>
        </p:txBody>
      </p:sp>
      <p:sp>
        <p:nvSpPr>
          <p:cNvPr id="32" name="ee4pContent1">
            <a:extLst>
              <a:ext uri="{FF2B5EF4-FFF2-40B4-BE49-F238E27FC236}">
                <a16:creationId xmlns:a16="http://schemas.microsoft.com/office/drawing/2014/main" id="{F7B0D150-2429-43B2-BDBE-3E503DFCFC8C}"/>
              </a:ext>
            </a:extLst>
          </p:cNvPr>
          <p:cNvSpPr txBox="1">
            <a:spLocks/>
          </p:cNvSpPr>
          <p:nvPr>
            <p:custDataLst>
              <p:tags r:id="rId6"/>
            </p:custDataLst>
          </p:nvPr>
        </p:nvSpPr>
        <p:spPr>
          <a:xfrm>
            <a:off x="434223" y="4183660"/>
            <a:ext cx="1718693" cy="993409"/>
          </a:xfrm>
          <a:prstGeom prst="rect">
            <a:avLst/>
          </a:prstGeom>
        </p:spPr>
        <p:txBody>
          <a:bodyPr vert="horz" lIns="0" tIns="0" rIns="0" bIns="0" rtlCol="0">
            <a:noAutofit/>
          </a:bodyPr>
          <a:lstStyle>
            <a:lvl1pPr marL="0" indent="0" algn="l" defTabSz="914400" rtl="0" eaLnBrk="1" latinLnBrk="0" hangingPunct="1">
              <a:spcBef>
                <a:spcPct val="30000"/>
              </a:spcBef>
              <a:buClr>
                <a:srgbClr val="C02A26"/>
              </a:buClr>
              <a:buFont typeface="Wingdings" panose="05000000000000000000" pitchFamily="2" charset="2"/>
              <a:buNone/>
              <a:defRPr sz="1600" kern="1200">
                <a:solidFill>
                  <a:schemeClr val="tx1"/>
                </a:solidFill>
                <a:latin typeface="Arial" panose="020B0604020202020204" pitchFamily="34" charset="0"/>
                <a:ea typeface="+mn-ea"/>
                <a:cs typeface="Arial" panose="020B0604020202020204" pitchFamily="34" charset="0"/>
              </a:defRPr>
            </a:lvl1pPr>
            <a:lvl2pPr marL="2032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2pPr>
            <a:lvl3pPr marL="4064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3pPr>
            <a:lvl4pPr marL="6096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4pPr>
            <a:lvl5pPr marL="8128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10160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6pPr>
            <a:lvl7pPr marL="12192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7pPr>
            <a:lvl8pPr marL="14224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8pPr>
            <a:lvl9pPr marL="16256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9p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400" b="1" i="0" u="none" strike="noStrike" kern="1200" cap="none" spc="0" normalizeH="0" baseline="0" noProof="0">
                <a:ln>
                  <a:noFill/>
                </a:ln>
                <a:solidFill>
                  <a:srgbClr val="70AD47">
                    <a:lumMod val="75000"/>
                  </a:srgbClr>
                </a:solidFill>
                <a:effectLst/>
                <a:uLnTx/>
                <a:uFillTx/>
                <a:latin typeface="Calibri" panose="020F0502020204030204"/>
                <a:ea typeface="+mn-ea"/>
                <a:cs typeface="Arial" panose="020B0604020202020204" pitchFamily="34" charset="0"/>
              </a:rPr>
              <a:t>AMP charter </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400" b="1" i="0" u="none" strike="noStrike" kern="1200" cap="none" spc="0" normalizeH="0" baseline="0" noProof="0">
                <a:ln>
                  <a:noFill/>
                </a:ln>
                <a:solidFill>
                  <a:srgbClr val="70AD47">
                    <a:lumMod val="75000"/>
                  </a:srgbClr>
                </a:solidFill>
                <a:effectLst/>
                <a:uLnTx/>
                <a:uFillTx/>
                <a:latin typeface="Calibri" panose="020F0502020204030204"/>
                <a:ea typeface="+mn-ea"/>
                <a:cs typeface="Arial" panose="020B0604020202020204" pitchFamily="34" charset="0"/>
              </a:rPr>
              <a:t>AMP Leader Role Charter</a:t>
            </a:r>
          </a:p>
        </p:txBody>
      </p:sp>
      <p:sp>
        <p:nvSpPr>
          <p:cNvPr id="33" name="ee4pContent2">
            <a:extLst>
              <a:ext uri="{FF2B5EF4-FFF2-40B4-BE49-F238E27FC236}">
                <a16:creationId xmlns:a16="http://schemas.microsoft.com/office/drawing/2014/main" id="{A6242895-B4CB-4FAD-B94A-2A8A44E06475}"/>
              </a:ext>
            </a:extLst>
          </p:cNvPr>
          <p:cNvSpPr txBox="1">
            <a:spLocks/>
          </p:cNvSpPr>
          <p:nvPr>
            <p:custDataLst>
              <p:tags r:id="rId7"/>
            </p:custDataLst>
          </p:nvPr>
        </p:nvSpPr>
        <p:spPr>
          <a:xfrm>
            <a:off x="2177293" y="4183659"/>
            <a:ext cx="1718691" cy="993409"/>
          </a:xfrm>
          <a:prstGeom prst="rect">
            <a:avLst/>
          </a:prstGeom>
        </p:spPr>
        <p:txBody>
          <a:bodyPr vert="horz" lIns="0" tIns="0" rIns="0" bIns="0" rtlCol="0">
            <a:noAutofit/>
          </a:bodyPr>
          <a:lstStyle>
            <a:lvl1pPr marL="0" indent="0" algn="l" defTabSz="914400" rtl="0" eaLnBrk="1" latinLnBrk="0" hangingPunct="1">
              <a:spcBef>
                <a:spcPct val="30000"/>
              </a:spcBef>
              <a:buClr>
                <a:srgbClr val="C02A26"/>
              </a:buClr>
              <a:buFont typeface="Wingdings" panose="05000000000000000000" pitchFamily="2" charset="2"/>
              <a:buNone/>
              <a:defRPr sz="1600" kern="1200">
                <a:solidFill>
                  <a:schemeClr val="tx1"/>
                </a:solidFill>
                <a:latin typeface="Arial" panose="020B0604020202020204" pitchFamily="34" charset="0"/>
                <a:ea typeface="+mn-ea"/>
                <a:cs typeface="Arial" panose="020B0604020202020204" pitchFamily="34" charset="0"/>
              </a:defRPr>
            </a:lvl1pPr>
            <a:lvl2pPr marL="2032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2pPr>
            <a:lvl3pPr marL="4064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3pPr>
            <a:lvl4pPr marL="6096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4pPr>
            <a:lvl5pPr marL="8128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10160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6pPr>
            <a:lvl7pPr marL="12192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7pPr>
            <a:lvl8pPr marL="14224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8pPr>
            <a:lvl9pPr marL="16256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9p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400" b="1" i="0" u="none" strike="noStrike" kern="1200" cap="none" spc="0" normalizeH="0" baseline="0" noProof="0">
                <a:ln>
                  <a:noFill/>
                </a:ln>
                <a:solidFill>
                  <a:srgbClr val="70AD47">
                    <a:lumMod val="75000"/>
                  </a:srgbClr>
                </a:solidFill>
                <a:effectLst/>
                <a:uLnTx/>
                <a:uFillTx/>
                <a:latin typeface="Calibri" panose="020F0502020204030204"/>
                <a:ea typeface="+mn-ea"/>
                <a:cs typeface="Arial" panose="020B0604020202020204" pitchFamily="34" charset="0"/>
              </a:rPr>
              <a:t>Gap Analysis of P.O.</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400" b="1" i="0" u="none" strike="noStrike" kern="1200" cap="none" spc="0" normalizeH="0" baseline="0" noProof="0">
                <a:ln>
                  <a:noFill/>
                </a:ln>
                <a:solidFill>
                  <a:srgbClr val="70AD47">
                    <a:lumMod val="75000"/>
                  </a:srgbClr>
                </a:solidFill>
                <a:effectLst/>
                <a:uLnTx/>
                <a:uFillTx/>
                <a:latin typeface="Calibri" panose="020F0502020204030204"/>
                <a:ea typeface="+mn-ea"/>
                <a:cs typeface="Arial" panose="020B0604020202020204" pitchFamily="34" charset="0"/>
              </a:rPr>
              <a:t>Communications Framework</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400" b="1" i="0" u="none" strike="noStrike" kern="1200" cap="none" spc="0" normalizeH="0" baseline="0" noProof="0">
                <a:ln>
                  <a:noFill/>
                </a:ln>
                <a:solidFill>
                  <a:srgbClr val="70AD47">
                    <a:lumMod val="75000"/>
                  </a:srgbClr>
                </a:solidFill>
                <a:effectLst/>
                <a:uLnTx/>
                <a:uFillTx/>
                <a:latin typeface="Calibri" panose="020F0502020204030204"/>
                <a:ea typeface="+mn-ea"/>
                <a:cs typeface="Arial" panose="020B0604020202020204" pitchFamily="34" charset="0"/>
              </a:rPr>
              <a:t>Change Champion materials</a:t>
            </a:r>
          </a:p>
        </p:txBody>
      </p:sp>
      <p:sp>
        <p:nvSpPr>
          <p:cNvPr id="34" name="ee4pContent3">
            <a:extLst>
              <a:ext uri="{FF2B5EF4-FFF2-40B4-BE49-F238E27FC236}">
                <a16:creationId xmlns:a16="http://schemas.microsoft.com/office/drawing/2014/main" id="{E3952BEC-5F06-487A-BE37-80258E404837}"/>
              </a:ext>
            </a:extLst>
          </p:cNvPr>
          <p:cNvSpPr txBox="1">
            <a:spLocks/>
          </p:cNvSpPr>
          <p:nvPr>
            <p:custDataLst>
              <p:tags r:id="rId8"/>
            </p:custDataLst>
          </p:nvPr>
        </p:nvSpPr>
        <p:spPr>
          <a:xfrm>
            <a:off x="3920361" y="4183658"/>
            <a:ext cx="2671481" cy="993409"/>
          </a:xfrm>
          <a:prstGeom prst="rect">
            <a:avLst/>
          </a:prstGeom>
        </p:spPr>
        <p:txBody>
          <a:bodyPr vert="horz" lIns="0" tIns="0" rIns="0" bIns="0" rtlCol="0" anchor="t">
            <a:noAutofit/>
          </a:bodyPr>
          <a:lstStyle>
            <a:lvl1pPr marL="0" indent="0" algn="l" defTabSz="914400" rtl="0" eaLnBrk="1" latinLnBrk="0" hangingPunct="1">
              <a:spcBef>
                <a:spcPct val="30000"/>
              </a:spcBef>
              <a:buClr>
                <a:srgbClr val="C02A26"/>
              </a:buClr>
              <a:buFont typeface="Wingdings" panose="05000000000000000000" pitchFamily="2" charset="2"/>
              <a:buNone/>
              <a:defRPr sz="1600" kern="1200">
                <a:solidFill>
                  <a:schemeClr val="tx1"/>
                </a:solidFill>
                <a:latin typeface="Arial" panose="020B0604020202020204" pitchFamily="34" charset="0"/>
                <a:ea typeface="+mn-ea"/>
                <a:cs typeface="Arial" panose="020B0604020202020204" pitchFamily="34" charset="0"/>
              </a:defRPr>
            </a:lvl1pPr>
            <a:lvl2pPr marL="2032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2pPr>
            <a:lvl3pPr marL="4064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3pPr>
            <a:lvl4pPr marL="6096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4pPr>
            <a:lvl5pPr marL="8128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10160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6pPr>
            <a:lvl7pPr marL="12192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7pPr>
            <a:lvl8pPr marL="14224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8pPr>
            <a:lvl9pPr marL="16256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9p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400" b="1" i="0" u="none" strike="noStrike" kern="1200" cap="none" spc="0" normalizeH="0" baseline="0" noProof="0">
                <a:ln>
                  <a:noFill/>
                </a:ln>
                <a:solidFill>
                  <a:srgbClr val="70AD47">
                    <a:lumMod val="75000"/>
                  </a:srgbClr>
                </a:solidFill>
                <a:effectLst/>
                <a:uLnTx/>
                <a:uFillTx/>
                <a:latin typeface="Calibri" panose="020F0502020204030204"/>
                <a:ea typeface="+mn-ea"/>
                <a:cs typeface="Arial" panose="020B0604020202020204" pitchFamily="34" charset="0"/>
              </a:rPr>
              <a:t>P.O. Prioritized Action Plan</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400" b="1" i="0" u="none" strike="noStrike" kern="1200" cap="none" spc="0" normalizeH="0" baseline="0" noProof="0">
                <a:ln>
                  <a:noFill/>
                </a:ln>
                <a:solidFill>
                  <a:prstClr val="black"/>
                </a:solidFill>
                <a:effectLst/>
                <a:uLnTx/>
                <a:uFillTx/>
                <a:latin typeface="Calibri" panose="020F0502020204030204"/>
                <a:ea typeface="+mn-ea"/>
                <a:cs typeface="Arial"/>
              </a:rPr>
              <a:t>AMP funding decision SOPs</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400" b="1" i="0" u="none" strike="noStrike" kern="1200" cap="none" spc="0" normalizeH="0" baseline="0" noProof="0">
                <a:ln>
                  <a:noFill/>
                </a:ln>
                <a:solidFill>
                  <a:prstClr val="black"/>
                </a:solidFill>
                <a:effectLst/>
                <a:uLnTx/>
                <a:uFillTx/>
                <a:latin typeface="Calibri" panose="020F0502020204030204"/>
                <a:ea typeface="+mn-ea"/>
                <a:cs typeface="Arial"/>
              </a:rPr>
              <a:t>SOPs for rapid and program-directed peer reviews</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400" b="1" i="0" u="none" strike="noStrike" kern="1200" cap="none" spc="0" normalizeH="0" baseline="0" noProof="0">
                <a:ln>
                  <a:noFill/>
                </a:ln>
                <a:solidFill>
                  <a:srgbClr val="70AD47">
                    <a:lumMod val="75000"/>
                  </a:srgbClr>
                </a:solidFill>
                <a:effectLst/>
                <a:uLnTx/>
                <a:uFillTx/>
                <a:latin typeface="Calibri" panose="020F0502020204030204"/>
                <a:ea typeface="+mn-ea"/>
                <a:cs typeface="Arial" panose="020B0604020202020204" pitchFamily="34" charset="0"/>
              </a:rPr>
              <a:t>Inventory of needed dashboard functionality</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endParaRPr kumimoji="0" lang="en-US" sz="1400" b="1" i="0" u="none" strike="noStrike" kern="1200" cap="none" spc="0" normalizeH="0" baseline="0" noProof="0">
              <a:ln>
                <a:noFill/>
              </a:ln>
              <a:solidFill>
                <a:srgbClr val="70AD47">
                  <a:lumMod val="75000"/>
                </a:srgbClr>
              </a:solidFill>
              <a:effectLst/>
              <a:uLnTx/>
              <a:uFillTx/>
              <a:latin typeface="Calibri" panose="020F0502020204030204"/>
              <a:ea typeface="+mn-ea"/>
              <a:cs typeface="Arial" panose="020B0604020202020204" pitchFamily="34" charset="0"/>
            </a:endParaRPr>
          </a:p>
        </p:txBody>
      </p:sp>
      <p:sp>
        <p:nvSpPr>
          <p:cNvPr id="37" name="TextBox 36">
            <a:extLst>
              <a:ext uri="{FF2B5EF4-FFF2-40B4-BE49-F238E27FC236}">
                <a16:creationId xmlns:a16="http://schemas.microsoft.com/office/drawing/2014/main" id="{4B468569-84DA-418A-A196-54F6025E7B07}"/>
              </a:ext>
            </a:extLst>
          </p:cNvPr>
          <p:cNvSpPr txBox="1"/>
          <p:nvPr/>
        </p:nvSpPr>
        <p:spPr>
          <a:xfrm rot="16200000">
            <a:off x="-418412" y="4591086"/>
            <a:ext cx="1228436"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Outputs </a:t>
            </a:r>
          </a:p>
        </p:txBody>
      </p:sp>
      <p:cxnSp>
        <p:nvCxnSpPr>
          <p:cNvPr id="58" name="Straight Connector 57">
            <a:extLst>
              <a:ext uri="{FF2B5EF4-FFF2-40B4-BE49-F238E27FC236}">
                <a16:creationId xmlns:a16="http://schemas.microsoft.com/office/drawing/2014/main" id="{5FA2A522-7806-45EE-A38C-A9640A3830CE}"/>
              </a:ext>
            </a:extLst>
          </p:cNvPr>
          <p:cNvCxnSpPr>
            <a:cxnSpLocks/>
          </p:cNvCxnSpPr>
          <p:nvPr/>
        </p:nvCxnSpPr>
        <p:spPr>
          <a:xfrm>
            <a:off x="228899" y="4066120"/>
            <a:ext cx="11731567" cy="0"/>
          </a:xfrm>
          <a:prstGeom prst="line">
            <a:avLst/>
          </a:prstGeom>
          <a:ln>
            <a:solidFill>
              <a:schemeClr val="tx2"/>
            </a:solidFill>
            <a:prstDash val="lgDash"/>
          </a:ln>
        </p:spPr>
        <p:style>
          <a:lnRef idx="1">
            <a:schemeClr val="accent1"/>
          </a:lnRef>
          <a:fillRef idx="0">
            <a:schemeClr val="accent1"/>
          </a:fillRef>
          <a:effectRef idx="0">
            <a:schemeClr val="accent1"/>
          </a:effectRef>
          <a:fontRef idx="minor">
            <a:schemeClr val="tx1"/>
          </a:fontRef>
        </p:style>
      </p:cxnSp>
      <p:sp>
        <p:nvSpPr>
          <p:cNvPr id="59" name="ee4pContent3">
            <a:extLst>
              <a:ext uri="{FF2B5EF4-FFF2-40B4-BE49-F238E27FC236}">
                <a16:creationId xmlns:a16="http://schemas.microsoft.com/office/drawing/2014/main" id="{80DD1FB5-1B77-4A38-8A81-6D76DAE861C7}"/>
              </a:ext>
            </a:extLst>
          </p:cNvPr>
          <p:cNvSpPr txBox="1">
            <a:spLocks/>
          </p:cNvSpPr>
          <p:nvPr>
            <p:custDataLst>
              <p:tags r:id="rId9"/>
            </p:custDataLst>
          </p:nvPr>
        </p:nvSpPr>
        <p:spPr>
          <a:xfrm>
            <a:off x="6577143" y="4174297"/>
            <a:ext cx="2681158" cy="993409"/>
          </a:xfrm>
          <a:prstGeom prst="rect">
            <a:avLst/>
          </a:prstGeom>
        </p:spPr>
        <p:txBody>
          <a:bodyPr vert="horz" lIns="0" tIns="0" rIns="0" bIns="0" rtlCol="0">
            <a:noAutofit/>
          </a:bodyPr>
          <a:lstStyle>
            <a:lvl1pPr marL="0" indent="0" algn="l" defTabSz="914400" rtl="0" eaLnBrk="1" latinLnBrk="0" hangingPunct="1">
              <a:spcBef>
                <a:spcPct val="30000"/>
              </a:spcBef>
              <a:buClr>
                <a:srgbClr val="C02A26"/>
              </a:buClr>
              <a:buFont typeface="Wingdings" panose="05000000000000000000" pitchFamily="2" charset="2"/>
              <a:buNone/>
              <a:defRPr sz="1600" kern="1200">
                <a:solidFill>
                  <a:schemeClr val="tx1"/>
                </a:solidFill>
                <a:latin typeface="Arial" panose="020B0604020202020204" pitchFamily="34" charset="0"/>
                <a:ea typeface="+mn-ea"/>
                <a:cs typeface="Arial" panose="020B0604020202020204" pitchFamily="34" charset="0"/>
              </a:defRPr>
            </a:lvl1pPr>
            <a:lvl2pPr marL="2032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2pPr>
            <a:lvl3pPr marL="4064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3pPr>
            <a:lvl4pPr marL="6096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4pPr>
            <a:lvl5pPr marL="8128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10160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6pPr>
            <a:lvl7pPr marL="12192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7pPr>
            <a:lvl8pPr marL="14224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8pPr>
            <a:lvl9pPr marL="16256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9p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400" b="1"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P.O. funding autonomy</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400" b="1"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Codified performance metrics to measure an AMP</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400" b="1"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Portfolio Analysis Dashboard</a:t>
            </a:r>
            <a:r>
              <a:rPr kumimoji="0" lang="en-US" sz="1400" b="1" i="0" u="none" strike="noStrike" kern="1200" cap="none" spc="0" normalizeH="0" baseline="0" noProof="0">
                <a:ln>
                  <a:noFill/>
                </a:ln>
                <a:solidFill>
                  <a:srgbClr val="C00000"/>
                </a:solidFill>
                <a:effectLst/>
                <a:uLnTx/>
                <a:uFillTx/>
                <a:latin typeface="Calibri" panose="020F0502020204030204"/>
                <a:ea typeface="+mn-ea"/>
                <a:cs typeface="Arial" panose="020B0604020202020204" pitchFamily="34" charset="0"/>
              </a:rPr>
              <a:t> </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endParaRPr kumimoji="0" lang="en-US" sz="1400" b="1" i="0" u="none" strike="noStrike" kern="1200" cap="none" spc="0" normalizeH="0" baseline="0" noProof="0">
              <a:ln>
                <a:noFill/>
              </a:ln>
              <a:solidFill>
                <a:srgbClr val="C00000"/>
              </a:solidFill>
              <a:effectLst/>
              <a:uLnTx/>
              <a:uFillTx/>
              <a:latin typeface="Calibri" panose="020F0502020204030204"/>
              <a:ea typeface="+mn-ea"/>
              <a:cs typeface="Arial" panose="020B0604020202020204" pitchFamily="34" charset="0"/>
            </a:endParaRPr>
          </a:p>
          <a:p>
            <a:pPr marL="0" marR="0" lvl="1" indent="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None/>
              <a:tabLst/>
              <a:defRPr/>
            </a:pPr>
            <a:endParaRPr kumimoji="0" lang="en-US" sz="1400" b="1"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60" name="ee4pContent3">
            <a:extLst>
              <a:ext uri="{FF2B5EF4-FFF2-40B4-BE49-F238E27FC236}">
                <a16:creationId xmlns:a16="http://schemas.microsoft.com/office/drawing/2014/main" id="{3AF37C74-3DAC-4F19-A67D-3723537B0ADF}"/>
              </a:ext>
            </a:extLst>
          </p:cNvPr>
          <p:cNvSpPr txBox="1">
            <a:spLocks/>
          </p:cNvSpPr>
          <p:nvPr>
            <p:custDataLst>
              <p:tags r:id="rId10"/>
            </p:custDataLst>
          </p:nvPr>
        </p:nvSpPr>
        <p:spPr>
          <a:xfrm>
            <a:off x="9273001" y="4183658"/>
            <a:ext cx="2687465" cy="993409"/>
          </a:xfrm>
          <a:prstGeom prst="rect">
            <a:avLst/>
          </a:prstGeom>
        </p:spPr>
        <p:txBody>
          <a:bodyPr vert="horz" lIns="0" tIns="0" rIns="0" bIns="0" rtlCol="0" anchor="t">
            <a:noAutofit/>
          </a:bodyPr>
          <a:lstStyle>
            <a:lvl1pPr marL="0" indent="0" algn="l" defTabSz="914400" rtl="0" eaLnBrk="1" latinLnBrk="0" hangingPunct="1">
              <a:spcBef>
                <a:spcPct val="30000"/>
              </a:spcBef>
              <a:buClr>
                <a:srgbClr val="C02A26"/>
              </a:buClr>
              <a:buFont typeface="Wingdings" panose="05000000000000000000" pitchFamily="2" charset="2"/>
              <a:buNone/>
              <a:defRPr sz="1600" kern="1200">
                <a:solidFill>
                  <a:schemeClr val="tx1"/>
                </a:solidFill>
                <a:latin typeface="Arial" panose="020B0604020202020204" pitchFamily="34" charset="0"/>
                <a:ea typeface="+mn-ea"/>
                <a:cs typeface="Arial" panose="020B0604020202020204" pitchFamily="34" charset="0"/>
              </a:defRPr>
            </a:lvl1pPr>
            <a:lvl2pPr marL="2032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2pPr>
            <a:lvl3pPr marL="4064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3pPr>
            <a:lvl4pPr marL="6096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4pPr>
            <a:lvl5pPr marL="8128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10160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6pPr>
            <a:lvl7pPr marL="12192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7pPr>
            <a:lvl8pPr marL="14224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8pPr>
            <a:lvl9pPr marL="16256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9p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400" b="1" i="0" u="none" strike="noStrike" kern="1200" cap="none" spc="0" normalizeH="0" baseline="0" noProof="0">
                <a:ln>
                  <a:noFill/>
                </a:ln>
                <a:solidFill>
                  <a:prstClr val="black"/>
                </a:solidFill>
                <a:effectLst/>
                <a:uLnTx/>
                <a:uFillTx/>
                <a:latin typeface="Calibri" panose="020F0502020204030204"/>
                <a:ea typeface="+mn-ea"/>
                <a:cs typeface="Arial"/>
              </a:rPr>
              <a:t>AMP progress reports on objective accomplishments </a:t>
            </a:r>
          </a:p>
        </p:txBody>
      </p:sp>
      <p:sp>
        <p:nvSpPr>
          <p:cNvPr id="70" name="ee4pContent3">
            <a:extLst>
              <a:ext uri="{FF2B5EF4-FFF2-40B4-BE49-F238E27FC236}">
                <a16:creationId xmlns:a16="http://schemas.microsoft.com/office/drawing/2014/main" id="{15F354A0-BE29-4D26-93E4-478B069CABEA}"/>
              </a:ext>
            </a:extLst>
          </p:cNvPr>
          <p:cNvSpPr txBox="1">
            <a:spLocks/>
          </p:cNvSpPr>
          <p:nvPr>
            <p:custDataLst>
              <p:tags r:id="rId11"/>
            </p:custDataLst>
          </p:nvPr>
        </p:nvSpPr>
        <p:spPr>
          <a:xfrm>
            <a:off x="9273001" y="1719072"/>
            <a:ext cx="2687465" cy="477614"/>
          </a:xfrm>
          <a:prstGeom prst="rect">
            <a:avLst/>
          </a:prstGeom>
        </p:spPr>
        <p:txBody>
          <a:bodyPr vert="horz" lIns="0" tIns="0" rIns="0" bIns="0" rtlCol="0" anchor="t">
            <a:noAutofit/>
          </a:bodyPr>
          <a:lstStyle>
            <a:lvl1pPr marL="0" indent="0" algn="l" defTabSz="914400" rtl="0" eaLnBrk="1" latinLnBrk="0" hangingPunct="1">
              <a:spcBef>
                <a:spcPct val="30000"/>
              </a:spcBef>
              <a:buClr>
                <a:srgbClr val="C02A26"/>
              </a:buClr>
              <a:buFont typeface="Wingdings" panose="05000000000000000000" pitchFamily="2" charset="2"/>
              <a:buNone/>
              <a:defRPr sz="1600" kern="1200">
                <a:solidFill>
                  <a:schemeClr val="tx1"/>
                </a:solidFill>
                <a:latin typeface="Arial" panose="020B0604020202020204" pitchFamily="34" charset="0"/>
                <a:ea typeface="+mn-ea"/>
                <a:cs typeface="Arial" panose="020B0604020202020204" pitchFamily="34" charset="0"/>
              </a:defRPr>
            </a:lvl1pPr>
            <a:lvl2pPr marL="2032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2pPr>
            <a:lvl3pPr marL="4064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3pPr>
            <a:lvl4pPr marL="6096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4pPr>
            <a:lvl5pPr marL="8128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10160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6pPr>
            <a:lvl7pPr marL="12192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7pPr>
            <a:lvl8pPr marL="14224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8pPr>
            <a:lvl9pPr marL="16256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9pPr>
          </a:lstStyle>
          <a:p>
            <a:pPr marL="0" marR="0" lvl="1" indent="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-Monitor AMP performance and assess utility of collected data</a:t>
            </a:r>
          </a:p>
          <a:p>
            <a:pPr marL="0" marR="0" lvl="1" indent="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None/>
              <a:tabLst/>
              <a:defRPr/>
            </a:pPr>
            <a:endParaRPr kumimoji="0" lang="en-US" sz="14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a:p>
            <a:pPr marL="0" marR="0" lvl="1" indent="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-Monitor </a:t>
            </a:r>
            <a:r>
              <a:rPr kumimoji="0" lang="en-US" sz="1400" b="0" i="0" u="none" strike="noStrike" kern="1200" cap="none" spc="0" normalizeH="0" baseline="0" noProof="0">
                <a:ln>
                  <a:noFill/>
                </a:ln>
                <a:solidFill>
                  <a:prstClr val="black"/>
                </a:solidFill>
                <a:effectLst/>
                <a:uLnTx/>
                <a:uFillTx/>
                <a:latin typeface="Calibri" panose="020F0502020204030204"/>
                <a:ea typeface="+mn-ea"/>
                <a:cs typeface="Arial"/>
              </a:rPr>
              <a:t>composition balance of the portfolio</a:t>
            </a:r>
          </a:p>
          <a:p>
            <a:pPr marL="0" marR="0" lvl="1" indent="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None/>
              <a:tabLst/>
              <a:defRPr/>
            </a:pPr>
            <a:endParaRPr kumimoji="0" lang="en-US" sz="14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a:p>
            <a:pPr marL="0" marR="0" lvl="1" indent="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-Standard reporting structure for AMP activities</a:t>
            </a:r>
          </a:p>
        </p:txBody>
      </p:sp>
      <p:sp>
        <p:nvSpPr>
          <p:cNvPr id="53" name="ee4pContent3">
            <a:extLst>
              <a:ext uri="{FF2B5EF4-FFF2-40B4-BE49-F238E27FC236}">
                <a16:creationId xmlns:a16="http://schemas.microsoft.com/office/drawing/2014/main" id="{3E591C2E-EFAB-4FC8-B664-2F2992BFA934}"/>
              </a:ext>
            </a:extLst>
          </p:cNvPr>
          <p:cNvSpPr txBox="1">
            <a:spLocks/>
          </p:cNvSpPr>
          <p:nvPr>
            <p:custDataLst>
              <p:tags r:id="rId12"/>
            </p:custDataLst>
          </p:nvPr>
        </p:nvSpPr>
        <p:spPr>
          <a:xfrm>
            <a:off x="3925389" y="1715440"/>
            <a:ext cx="2651754" cy="477614"/>
          </a:xfrm>
          <a:prstGeom prst="rect">
            <a:avLst/>
          </a:prstGeom>
        </p:spPr>
        <p:txBody>
          <a:bodyPr vert="horz" lIns="0" tIns="0" rIns="0" bIns="0" rtlCol="0">
            <a:noAutofit/>
          </a:bodyPr>
          <a:lstStyle>
            <a:lvl1pPr marL="0" indent="0" algn="l" defTabSz="914400" rtl="0" eaLnBrk="1" latinLnBrk="0" hangingPunct="1">
              <a:spcBef>
                <a:spcPct val="30000"/>
              </a:spcBef>
              <a:buClr>
                <a:srgbClr val="C02A26"/>
              </a:buClr>
              <a:buFont typeface="Wingdings" panose="05000000000000000000" pitchFamily="2" charset="2"/>
              <a:buNone/>
              <a:defRPr sz="1600" kern="1200">
                <a:solidFill>
                  <a:schemeClr val="tx1"/>
                </a:solidFill>
                <a:latin typeface="Arial" panose="020B0604020202020204" pitchFamily="34" charset="0"/>
                <a:ea typeface="+mn-ea"/>
                <a:cs typeface="Arial" panose="020B0604020202020204" pitchFamily="34" charset="0"/>
              </a:defRPr>
            </a:lvl1pPr>
            <a:lvl2pPr marL="2032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2pPr>
            <a:lvl3pPr marL="4064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3pPr>
            <a:lvl4pPr marL="6096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4pPr>
            <a:lvl5pPr marL="8128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10160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6pPr>
            <a:lvl7pPr marL="12192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7pPr>
            <a:lvl8pPr marL="14224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8pPr>
            <a:lvl9pPr marL="16256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9pPr>
          </a:lstStyle>
          <a:p>
            <a:pPr marL="0" marR="0" lvl="1" indent="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None/>
              <a:tabLst/>
              <a:defRPr/>
            </a:pPr>
            <a:r>
              <a:rPr kumimoji="0" lang="en-US" sz="1400" b="1"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a:t>
            </a:r>
            <a:r>
              <a:rPr kumimoji="0" lang="en-US" sz="14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Identify AMP Capability priorities for P.O. and improvement steps</a:t>
            </a:r>
          </a:p>
          <a:p>
            <a:pPr marL="0" marR="0" lvl="1" indent="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None/>
              <a:tabLst/>
              <a:defRPr/>
            </a:pPr>
            <a:endParaRPr kumimoji="0" lang="en-US" sz="14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a:p>
            <a:pPr marL="0" marR="0" lvl="1" indent="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-Coordinate and prioritize funding for AMP research</a:t>
            </a:r>
          </a:p>
          <a:p>
            <a:pPr marL="0" marR="0" lvl="1" indent="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None/>
              <a:tabLst/>
              <a:defRPr/>
            </a:pPr>
            <a:endParaRPr kumimoji="0" lang="en-US" sz="14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a:p>
            <a:pPr marL="0" marR="0" lvl="1" indent="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-Expedited review of priority proposals</a:t>
            </a:r>
          </a:p>
          <a:p>
            <a:pPr marL="0" marR="0" lvl="1" indent="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None/>
              <a:tabLst/>
              <a:defRPr/>
            </a:pPr>
            <a:endParaRPr kumimoji="0" lang="en-US" sz="14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a:p>
            <a:pPr marL="0" marR="0" lvl="1" indent="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-Define dashboard capabilities</a:t>
            </a:r>
          </a:p>
        </p:txBody>
      </p:sp>
      <p:sp>
        <p:nvSpPr>
          <p:cNvPr id="3" name="TextBox 2">
            <a:extLst>
              <a:ext uri="{FF2B5EF4-FFF2-40B4-BE49-F238E27FC236}">
                <a16:creationId xmlns:a16="http://schemas.microsoft.com/office/drawing/2014/main" id="{85CC8811-D386-49B7-88E6-ACE960AFED73}"/>
              </a:ext>
            </a:extLst>
          </p:cNvPr>
          <p:cNvSpPr txBox="1"/>
          <p:nvPr/>
        </p:nvSpPr>
        <p:spPr>
          <a:xfrm>
            <a:off x="5344807" y="6210467"/>
            <a:ext cx="2441795" cy="6001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Calibri" panose="020F0502020204030204"/>
                <a:ea typeface="+mn-ea"/>
                <a:cs typeface="+mn-cs"/>
              </a:rPr>
              <a:t>AMP: Actively Managed Portfolio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Calibri" panose="020F0502020204030204"/>
                <a:ea typeface="+mn-ea"/>
                <a:cs typeface="+mn-cs"/>
              </a:rPr>
              <a:t>PO: Precision Oncology portfolio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Calibri" panose="020F0502020204030204"/>
                <a:ea typeface="+mn-ea"/>
                <a:cs typeface="+mn-cs"/>
              </a:rPr>
              <a:t>SOP: Standard Operating Procedures</a:t>
            </a:r>
          </a:p>
        </p:txBody>
      </p:sp>
      <p:sp>
        <p:nvSpPr>
          <p:cNvPr id="36" name="TextBox 35">
            <a:extLst>
              <a:ext uri="{FF2B5EF4-FFF2-40B4-BE49-F238E27FC236}">
                <a16:creationId xmlns:a16="http://schemas.microsoft.com/office/drawing/2014/main" id="{2CE2E0C4-045F-409E-88F1-01BB91AC4F39}"/>
              </a:ext>
            </a:extLst>
          </p:cNvPr>
          <p:cNvSpPr txBox="1"/>
          <p:nvPr/>
        </p:nvSpPr>
        <p:spPr>
          <a:xfrm>
            <a:off x="2809174" y="6210467"/>
            <a:ext cx="1963994" cy="43088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Calibri" panose="020F0502020204030204"/>
                <a:ea typeface="+mn-ea"/>
                <a:cs typeface="+mn-cs"/>
              </a:rPr>
              <a:t>Indicates an Initiative-level objective has been achieved  </a:t>
            </a:r>
          </a:p>
        </p:txBody>
      </p:sp>
      <p:sp>
        <p:nvSpPr>
          <p:cNvPr id="51" name="Rectangle 50">
            <a:extLst>
              <a:ext uri="{FF2B5EF4-FFF2-40B4-BE49-F238E27FC236}">
                <a16:creationId xmlns:a16="http://schemas.microsoft.com/office/drawing/2014/main" id="{5A60C64A-96C6-4129-8DA2-787755AA6BFB}"/>
              </a:ext>
            </a:extLst>
          </p:cNvPr>
          <p:cNvSpPr/>
          <p:nvPr/>
        </p:nvSpPr>
        <p:spPr>
          <a:xfrm>
            <a:off x="2655365" y="6250449"/>
            <a:ext cx="204305" cy="175461"/>
          </a:xfrm>
          <a:prstGeom prst="rect">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8" name="Freeform 8">
            <a:extLst>
              <a:ext uri="{FF2B5EF4-FFF2-40B4-BE49-F238E27FC236}">
                <a16:creationId xmlns:a16="http://schemas.microsoft.com/office/drawing/2014/main" id="{1F4D4C8E-E98A-48A7-92D2-82E8E3148ECF}"/>
              </a:ext>
            </a:extLst>
          </p:cNvPr>
          <p:cNvSpPr>
            <a:spLocks/>
          </p:cNvSpPr>
          <p:nvPr/>
        </p:nvSpPr>
        <p:spPr bwMode="auto">
          <a:xfrm>
            <a:off x="7489718" y="35721"/>
            <a:ext cx="754618" cy="847996"/>
          </a:xfrm>
          <a:custGeom>
            <a:avLst/>
            <a:gdLst>
              <a:gd name="T0" fmla="*/ 420 w 420"/>
              <a:gd name="T1" fmla="*/ 211 h 500"/>
              <a:gd name="T2" fmla="*/ 210 w 420"/>
              <a:gd name="T3" fmla="*/ 0 h 500"/>
              <a:gd name="T4" fmla="*/ 0 w 420"/>
              <a:gd name="T5" fmla="*/ 211 h 500"/>
              <a:gd name="T6" fmla="*/ 68 w 420"/>
              <a:gd name="T7" fmla="*/ 366 h 500"/>
              <a:gd name="T8" fmla="*/ 68 w 420"/>
              <a:gd name="T9" fmla="*/ 366 h 500"/>
              <a:gd name="T10" fmla="*/ 210 w 420"/>
              <a:gd name="T11" fmla="*/ 500 h 500"/>
              <a:gd name="T12" fmla="*/ 352 w 420"/>
              <a:gd name="T13" fmla="*/ 366 h 500"/>
              <a:gd name="T14" fmla="*/ 352 w 420"/>
              <a:gd name="T15" fmla="*/ 366 h 500"/>
              <a:gd name="T16" fmla="*/ 420 w 420"/>
              <a:gd name="T17" fmla="*/ 211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0" h="500">
                <a:moveTo>
                  <a:pt x="420" y="211"/>
                </a:moveTo>
                <a:cubicBezTo>
                  <a:pt x="420" y="94"/>
                  <a:pt x="326" y="0"/>
                  <a:pt x="210" y="0"/>
                </a:cubicBezTo>
                <a:cubicBezTo>
                  <a:pt x="94" y="0"/>
                  <a:pt x="0" y="94"/>
                  <a:pt x="0" y="211"/>
                </a:cubicBezTo>
                <a:cubicBezTo>
                  <a:pt x="0" y="272"/>
                  <a:pt x="26" y="328"/>
                  <a:pt x="68" y="366"/>
                </a:cubicBezTo>
                <a:cubicBezTo>
                  <a:pt x="68" y="366"/>
                  <a:pt x="68" y="366"/>
                  <a:pt x="68" y="366"/>
                </a:cubicBezTo>
                <a:cubicBezTo>
                  <a:pt x="210" y="500"/>
                  <a:pt x="210" y="500"/>
                  <a:pt x="210" y="500"/>
                </a:cubicBezTo>
                <a:cubicBezTo>
                  <a:pt x="352" y="366"/>
                  <a:pt x="352" y="366"/>
                  <a:pt x="352" y="366"/>
                </a:cubicBezTo>
                <a:cubicBezTo>
                  <a:pt x="352" y="366"/>
                  <a:pt x="352" y="366"/>
                  <a:pt x="352" y="366"/>
                </a:cubicBezTo>
                <a:cubicBezTo>
                  <a:pt x="394" y="328"/>
                  <a:pt x="420" y="272"/>
                  <a:pt x="420" y="211"/>
                </a:cubicBezTo>
                <a:close/>
              </a:path>
            </a:pathLst>
          </a:custGeom>
          <a:solidFill>
            <a:schemeClr val="accent1"/>
          </a:solidFill>
          <a:ln>
            <a:noFill/>
          </a:ln>
          <a:effectLst>
            <a:outerShdw blurRad="127000">
              <a:srgbClr val="000000">
                <a:alpha val="30000"/>
              </a:srgbClr>
            </a:outerShdw>
          </a:effectLst>
          <a:extLst>
            <a:ext uri="{53640926-AAD7-44D8-BBD7-CCE9431645EC}">
              <a14:shadowObscured xmlns:a14="http://schemas.microsoft.com/office/drawing/2010/main"/>
            </a:ext>
          </a:extLst>
        </p:spPr>
        <p:txBody>
          <a:bodyPr vert="horz" wrap="square" lIns="68580" tIns="34290" rIns="68580" bIns="3429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a:ln>
                  <a:noFill/>
                </a:ln>
                <a:solidFill>
                  <a:srgbClr val="FFFFFF">
                    <a:lumMod val="100000"/>
                  </a:srgbClr>
                </a:solidFill>
                <a:effectLst/>
                <a:uLnTx/>
                <a:uFillTx/>
                <a:latin typeface="Calibri" panose="020F0502020204030204"/>
                <a:ea typeface="+mn-ea"/>
                <a:cs typeface="+mn-cs"/>
              </a:rPr>
              <a:t>We are here</a:t>
            </a:r>
          </a:p>
        </p:txBody>
      </p:sp>
      <p:sp>
        <p:nvSpPr>
          <p:cNvPr id="63" name="ee4pContent1">
            <a:extLst>
              <a:ext uri="{FF2B5EF4-FFF2-40B4-BE49-F238E27FC236}">
                <a16:creationId xmlns:a16="http://schemas.microsoft.com/office/drawing/2014/main" id="{8F1C696C-8189-4984-BD55-56983A3E6B3B}"/>
              </a:ext>
            </a:extLst>
          </p:cNvPr>
          <p:cNvSpPr txBox="1">
            <a:spLocks/>
          </p:cNvSpPr>
          <p:nvPr>
            <p:custDataLst>
              <p:tags r:id="rId13"/>
            </p:custDataLst>
          </p:nvPr>
        </p:nvSpPr>
        <p:spPr>
          <a:xfrm>
            <a:off x="568429" y="1707681"/>
            <a:ext cx="1584488" cy="477614"/>
          </a:xfrm>
          <a:prstGeom prst="rect">
            <a:avLst/>
          </a:prstGeom>
        </p:spPr>
        <p:txBody>
          <a:bodyPr vert="horz" lIns="0" tIns="0" rIns="0" bIns="0" rtlCol="0">
            <a:noAutofit/>
          </a:bodyPr>
          <a:lstStyle>
            <a:lvl1pPr marL="0" indent="0" algn="l" defTabSz="914400" rtl="0" eaLnBrk="1" latinLnBrk="0" hangingPunct="1">
              <a:spcBef>
                <a:spcPct val="30000"/>
              </a:spcBef>
              <a:buClr>
                <a:srgbClr val="C02A26"/>
              </a:buClr>
              <a:buFont typeface="Wingdings" panose="05000000000000000000" pitchFamily="2" charset="2"/>
              <a:buNone/>
              <a:defRPr sz="1600" kern="1200">
                <a:solidFill>
                  <a:schemeClr val="tx1"/>
                </a:solidFill>
                <a:latin typeface="Arial" panose="020B0604020202020204" pitchFamily="34" charset="0"/>
                <a:ea typeface="+mn-ea"/>
                <a:cs typeface="Arial" panose="020B0604020202020204" pitchFamily="34" charset="0"/>
              </a:defRPr>
            </a:lvl1pPr>
            <a:lvl2pPr marL="2032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2pPr>
            <a:lvl3pPr marL="4064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3pPr>
            <a:lvl4pPr marL="6096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4pPr>
            <a:lvl5pPr marL="8128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10160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6pPr>
            <a:lvl7pPr marL="12192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7pPr>
            <a:lvl8pPr marL="14224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8pPr>
            <a:lvl9pPr marL="16256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9pPr>
          </a:lstStyle>
          <a:p>
            <a:pPr marL="0" marR="0" lvl="1" indent="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-Define purpose, requirements, and capabilities of an AMP</a:t>
            </a:r>
          </a:p>
          <a:p>
            <a:pPr marL="0" marR="0" lvl="1" indent="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None/>
              <a:tabLst/>
              <a:defRPr/>
            </a:pPr>
            <a:endParaRPr kumimoji="0" lang="en-US" sz="14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a:p>
            <a:pPr marL="0" marR="0" lvl="1" indent="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-Determine role/responsibilities of an AMP leader</a:t>
            </a:r>
          </a:p>
          <a:p>
            <a:pPr marL="0" marR="0" lvl="1" indent="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None/>
              <a:tabLst/>
              <a:defRPr/>
            </a:pPr>
            <a:endParaRPr kumimoji="0" lang="en-US" sz="1400" b="1"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64" name="ee4pContent3">
            <a:extLst>
              <a:ext uri="{FF2B5EF4-FFF2-40B4-BE49-F238E27FC236}">
                <a16:creationId xmlns:a16="http://schemas.microsoft.com/office/drawing/2014/main" id="{EDD56418-CCB5-4262-8869-F133B0AAC195}"/>
              </a:ext>
            </a:extLst>
          </p:cNvPr>
          <p:cNvSpPr txBox="1">
            <a:spLocks/>
          </p:cNvSpPr>
          <p:nvPr>
            <p:custDataLst>
              <p:tags r:id="rId14"/>
            </p:custDataLst>
          </p:nvPr>
        </p:nvSpPr>
        <p:spPr>
          <a:xfrm>
            <a:off x="2213374" y="1715440"/>
            <a:ext cx="1584488" cy="477614"/>
          </a:xfrm>
          <a:prstGeom prst="rect">
            <a:avLst/>
          </a:prstGeom>
        </p:spPr>
        <p:txBody>
          <a:bodyPr vert="horz" lIns="0" tIns="0" rIns="0" bIns="0" rtlCol="0">
            <a:noAutofit/>
          </a:bodyPr>
          <a:lstStyle>
            <a:lvl1pPr marL="0" indent="0" algn="l" defTabSz="914400" rtl="0" eaLnBrk="1" latinLnBrk="0" hangingPunct="1">
              <a:spcBef>
                <a:spcPct val="30000"/>
              </a:spcBef>
              <a:buClr>
                <a:srgbClr val="C02A26"/>
              </a:buClr>
              <a:buFont typeface="Wingdings" panose="05000000000000000000" pitchFamily="2" charset="2"/>
              <a:buNone/>
              <a:defRPr sz="1600" kern="1200">
                <a:solidFill>
                  <a:schemeClr val="tx1"/>
                </a:solidFill>
                <a:latin typeface="Arial" panose="020B0604020202020204" pitchFamily="34" charset="0"/>
                <a:ea typeface="+mn-ea"/>
                <a:cs typeface="Arial" panose="020B0604020202020204" pitchFamily="34" charset="0"/>
              </a:defRPr>
            </a:lvl1pPr>
            <a:lvl2pPr marL="2032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2pPr>
            <a:lvl3pPr marL="4064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3pPr>
            <a:lvl4pPr marL="6096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4pPr>
            <a:lvl5pPr marL="8128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10160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6pPr>
            <a:lvl7pPr marL="12192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7pPr>
            <a:lvl8pPr marL="14224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8pPr>
            <a:lvl9pPr marL="16256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9pPr>
          </a:lstStyle>
          <a:p>
            <a:pPr marL="0" marR="0" lvl="1" indent="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-Complete inventory and understanding of current P.O. functions</a:t>
            </a:r>
          </a:p>
          <a:p>
            <a:pPr marL="0" marR="0" lvl="1" indent="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None/>
              <a:tabLst/>
              <a:defRPr/>
            </a:pPr>
            <a:endParaRPr kumimoji="0" lang="en-US" sz="1400" b="1"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52" name="ee4pContent3">
            <a:extLst>
              <a:ext uri="{FF2B5EF4-FFF2-40B4-BE49-F238E27FC236}">
                <a16:creationId xmlns:a16="http://schemas.microsoft.com/office/drawing/2014/main" id="{207FC206-4C34-4EE8-A92C-F22D37140AB3}"/>
              </a:ext>
            </a:extLst>
          </p:cNvPr>
          <p:cNvSpPr txBox="1">
            <a:spLocks/>
          </p:cNvSpPr>
          <p:nvPr>
            <p:custDataLst>
              <p:tags r:id="rId15"/>
            </p:custDataLst>
          </p:nvPr>
        </p:nvSpPr>
        <p:spPr>
          <a:xfrm>
            <a:off x="6577143" y="1719072"/>
            <a:ext cx="2651754" cy="477614"/>
          </a:xfrm>
          <a:prstGeom prst="rect">
            <a:avLst/>
          </a:prstGeom>
        </p:spPr>
        <p:txBody>
          <a:bodyPr vert="horz" lIns="0" tIns="0" rIns="0" bIns="0" rtlCol="0">
            <a:noAutofit/>
          </a:bodyPr>
          <a:lstStyle>
            <a:lvl1pPr marL="0" indent="0" algn="l" defTabSz="914400" rtl="0" eaLnBrk="1" latinLnBrk="0" hangingPunct="1">
              <a:spcBef>
                <a:spcPct val="30000"/>
              </a:spcBef>
              <a:buClr>
                <a:srgbClr val="C02A26"/>
              </a:buClr>
              <a:buFont typeface="Wingdings" panose="05000000000000000000" pitchFamily="2" charset="2"/>
              <a:buNone/>
              <a:defRPr sz="1600" kern="1200">
                <a:solidFill>
                  <a:schemeClr val="tx1"/>
                </a:solidFill>
                <a:latin typeface="Arial" panose="020B0604020202020204" pitchFamily="34" charset="0"/>
                <a:ea typeface="+mn-ea"/>
                <a:cs typeface="Arial" panose="020B0604020202020204" pitchFamily="34" charset="0"/>
              </a:defRPr>
            </a:lvl1pPr>
            <a:lvl2pPr marL="2032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2pPr>
            <a:lvl3pPr marL="4064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3pPr>
            <a:lvl4pPr marL="6096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4pPr>
            <a:lvl5pPr marL="8128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10160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6pPr>
            <a:lvl7pPr marL="12192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7pPr>
            <a:lvl8pPr marL="14224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8pPr>
            <a:lvl9pPr marL="16256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9pPr>
          </a:lstStyle>
          <a:p>
            <a:pPr marL="0" marR="0" lvl="1" indent="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-P.O. has been granted oversight and authority of their own budget</a:t>
            </a:r>
          </a:p>
          <a:p>
            <a:pPr marL="0" marR="0" lvl="1" indent="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None/>
              <a:tabLst/>
              <a:defRPr/>
            </a:pPr>
            <a:endParaRPr kumimoji="0" lang="en-US" sz="14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a:p>
            <a:pPr marL="0" marR="0" lvl="1" indent="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-P.O. implementing Prioritized Action Plan</a:t>
            </a:r>
          </a:p>
          <a:p>
            <a:pPr marL="0" marR="0" lvl="1" indent="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None/>
              <a:tabLst/>
              <a:defRPr/>
            </a:pPr>
            <a:endParaRPr kumimoji="0" lang="en-US" sz="14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a:p>
            <a:pPr marL="0" marR="0" lvl="1" indent="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-Identify performance metrics to measure an AMP</a:t>
            </a:r>
          </a:p>
          <a:p>
            <a:pPr marL="0" marR="0" lvl="1" indent="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None/>
              <a:tabLst/>
              <a:defRPr/>
            </a:pPr>
            <a:endParaRPr kumimoji="0" lang="en-US" sz="14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a:p>
            <a:pPr marL="0" marR="0" lvl="1" indent="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-Launch pilot to track/report AMP data</a:t>
            </a:r>
          </a:p>
        </p:txBody>
      </p:sp>
      <p:sp>
        <p:nvSpPr>
          <p:cNvPr id="50" name="Slide Number Placeholder 2">
            <a:extLst>
              <a:ext uri="{FF2B5EF4-FFF2-40B4-BE49-F238E27FC236}">
                <a16:creationId xmlns:a16="http://schemas.microsoft.com/office/drawing/2014/main" id="{E3DF8D2A-09F0-A20C-ADE3-2AEB697CB0B0}"/>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952857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312732-C7CE-47D3-A994-5C9DAF8F6542}"/>
              </a:ext>
            </a:extLst>
          </p:cNvPr>
          <p:cNvSpPr>
            <a:spLocks noGrp="1"/>
          </p:cNvSpPr>
          <p:nvPr>
            <p:ph type="title"/>
          </p:nvPr>
        </p:nvSpPr>
        <p:spPr/>
        <p:txBody>
          <a:bodyPr/>
          <a:lstStyle/>
          <a:p>
            <a:r>
              <a:rPr lang="en-US" dirty="0">
                <a:solidFill>
                  <a:schemeClr val="tx1"/>
                </a:solidFill>
              </a:rPr>
              <a:t>Appendix: </a:t>
            </a:r>
            <a:br>
              <a:rPr lang="en-US" dirty="0">
                <a:solidFill>
                  <a:schemeClr val="tx1"/>
                </a:solidFill>
              </a:rPr>
            </a:br>
            <a:r>
              <a:rPr lang="en-US" dirty="0">
                <a:solidFill>
                  <a:schemeClr val="tx1"/>
                </a:solidFill>
              </a:rPr>
              <a:t>Finance Process Roadmap</a:t>
            </a:r>
            <a:br>
              <a:rPr lang="en-US" dirty="0">
                <a:solidFill>
                  <a:schemeClr val="tx1"/>
                </a:solidFill>
              </a:rPr>
            </a:br>
            <a:endParaRPr lang="en-US" dirty="0">
              <a:solidFill>
                <a:schemeClr val="tx1"/>
              </a:solidFill>
            </a:endParaRPr>
          </a:p>
        </p:txBody>
      </p:sp>
      <p:sp>
        <p:nvSpPr>
          <p:cNvPr id="6" name="Slide Number Placeholder 2">
            <a:extLst>
              <a:ext uri="{FF2B5EF4-FFF2-40B4-BE49-F238E27FC236}">
                <a16:creationId xmlns:a16="http://schemas.microsoft.com/office/drawing/2014/main" id="{348A4DB6-213A-EF35-FF18-1097643D6169}"/>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3098095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6B1A058B-FE9E-4994-AE15-11512EE899BB}"/>
              </a:ext>
            </a:extLst>
          </p:cNvPr>
          <p:cNvSpPr/>
          <p:nvPr/>
        </p:nvSpPr>
        <p:spPr>
          <a:xfrm>
            <a:off x="6231274" y="904919"/>
            <a:ext cx="1930737" cy="5208632"/>
          </a:xfrm>
          <a:prstGeom prst="rect">
            <a:avLst/>
          </a:prstGeom>
          <a:solidFill>
            <a:srgbClr val="EDF1F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1" u="none" strike="noStrike" kern="1200" cap="none" spc="0" normalizeH="0" baseline="0" noProof="0">
              <a:ln>
                <a:noFill/>
              </a:ln>
              <a:solidFill>
                <a:srgbClr val="5B9BD5">
                  <a:lumMod val="50000"/>
                </a:srgbClr>
              </a:solidFill>
              <a:effectLst/>
              <a:uLnTx/>
              <a:uFillTx/>
              <a:latin typeface="Calibri" panose="020F0502020204030204"/>
              <a:ea typeface="+mn-ea"/>
              <a:cs typeface="+mn-cs"/>
            </a:endParaRPr>
          </a:p>
        </p:txBody>
      </p:sp>
      <p:sp>
        <p:nvSpPr>
          <p:cNvPr id="30" name="Arrow: Pentagon 29">
            <a:extLst>
              <a:ext uri="{FF2B5EF4-FFF2-40B4-BE49-F238E27FC236}">
                <a16:creationId xmlns:a16="http://schemas.microsoft.com/office/drawing/2014/main" id="{97961AB6-85E9-4A0F-8438-00818E9FE587}"/>
              </a:ext>
            </a:extLst>
          </p:cNvPr>
          <p:cNvSpPr/>
          <p:nvPr/>
        </p:nvSpPr>
        <p:spPr>
          <a:xfrm>
            <a:off x="8146534" y="1152459"/>
            <a:ext cx="4045466" cy="273341"/>
          </a:xfrm>
          <a:prstGeom prst="homePlate">
            <a:avLst>
              <a:gd name="adj" fmla="val 50000"/>
            </a:avLst>
          </a:prstGeom>
          <a:solidFill>
            <a:schemeClr val="accent6">
              <a:lumMod val="5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panose="020F0502020204030204"/>
                <a:ea typeface="+mn-ea"/>
                <a:cs typeface="+mn-cs"/>
              </a:rPr>
              <a:t>Phase 3 – Iteration &amp; Implementation</a:t>
            </a:r>
          </a:p>
        </p:txBody>
      </p:sp>
      <p:sp>
        <p:nvSpPr>
          <p:cNvPr id="33" name="Arrow: Pentagon 32">
            <a:extLst>
              <a:ext uri="{FF2B5EF4-FFF2-40B4-BE49-F238E27FC236}">
                <a16:creationId xmlns:a16="http://schemas.microsoft.com/office/drawing/2014/main" id="{982B516B-08E4-C34A-99EF-C212D1F3CFD6}"/>
              </a:ext>
            </a:extLst>
          </p:cNvPr>
          <p:cNvSpPr/>
          <p:nvPr/>
        </p:nvSpPr>
        <p:spPr>
          <a:xfrm>
            <a:off x="4266392" y="1154572"/>
            <a:ext cx="4037909" cy="273341"/>
          </a:xfrm>
          <a:prstGeom prst="homePlate">
            <a:avLst>
              <a:gd name="adj" fmla="val 50000"/>
            </a:avLst>
          </a:prstGeom>
          <a:solidFill>
            <a:srgbClr val="385723"/>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panose="020F0502020204030204"/>
                <a:ea typeface="+mn-ea"/>
                <a:cs typeface="+mn-cs"/>
              </a:rPr>
              <a:t>Phase 2 – Design &amp; Development</a:t>
            </a:r>
          </a:p>
        </p:txBody>
      </p:sp>
      <p:sp>
        <p:nvSpPr>
          <p:cNvPr id="2" name="Title 1">
            <a:extLst>
              <a:ext uri="{FF2B5EF4-FFF2-40B4-BE49-F238E27FC236}">
                <a16:creationId xmlns:a16="http://schemas.microsoft.com/office/drawing/2014/main" id="{E84145F4-E2B6-4110-9D50-CBD308AC024E}"/>
              </a:ext>
            </a:extLst>
          </p:cNvPr>
          <p:cNvSpPr>
            <a:spLocks noGrp="1"/>
          </p:cNvSpPr>
          <p:nvPr>
            <p:ph type="title"/>
          </p:nvPr>
        </p:nvSpPr>
        <p:spPr>
          <a:xfrm>
            <a:off x="306827" y="166264"/>
            <a:ext cx="8146204" cy="618385"/>
          </a:xfrm>
        </p:spPr>
        <p:txBody>
          <a:bodyPr/>
          <a:lstStyle/>
          <a:p>
            <a:r>
              <a:rPr lang="en-US" sz="3200" dirty="0"/>
              <a:t>Project Plan with proposed activities and status</a:t>
            </a:r>
          </a:p>
        </p:txBody>
      </p:sp>
      <p:graphicFrame>
        <p:nvGraphicFramePr>
          <p:cNvPr id="10" name="Table 10">
            <a:extLst>
              <a:ext uri="{FF2B5EF4-FFF2-40B4-BE49-F238E27FC236}">
                <a16:creationId xmlns:a16="http://schemas.microsoft.com/office/drawing/2014/main" id="{F300687A-002D-4054-AAB7-0CBE55A13827}"/>
              </a:ext>
            </a:extLst>
          </p:cNvPr>
          <p:cNvGraphicFramePr>
            <a:graphicFrameLocks noGrp="1"/>
          </p:cNvGraphicFramePr>
          <p:nvPr/>
        </p:nvGraphicFramePr>
        <p:xfrm>
          <a:off x="114300" y="1473138"/>
          <a:ext cx="11963399" cy="4646204"/>
        </p:xfrm>
        <a:graphic>
          <a:graphicData uri="http://schemas.openxmlformats.org/drawingml/2006/table">
            <a:tbl>
              <a:tblPr firstRow="1" bandRow="1">
                <a:tableStyleId>{2D5ABB26-0587-4C30-8999-92F81FD0307C}</a:tableStyleId>
              </a:tblPr>
              <a:tblGrid>
                <a:gridCol w="351735">
                  <a:extLst>
                    <a:ext uri="{9D8B030D-6E8A-4147-A177-3AD203B41FA5}">
                      <a16:colId xmlns:a16="http://schemas.microsoft.com/office/drawing/2014/main" val="776865347"/>
                    </a:ext>
                  </a:extLst>
                </a:gridCol>
                <a:gridCol w="1979660">
                  <a:extLst>
                    <a:ext uri="{9D8B030D-6E8A-4147-A177-3AD203B41FA5}">
                      <a16:colId xmlns:a16="http://schemas.microsoft.com/office/drawing/2014/main" val="967763615"/>
                    </a:ext>
                  </a:extLst>
                </a:gridCol>
                <a:gridCol w="1934481">
                  <a:extLst>
                    <a:ext uri="{9D8B030D-6E8A-4147-A177-3AD203B41FA5}">
                      <a16:colId xmlns:a16="http://schemas.microsoft.com/office/drawing/2014/main" val="1650500214"/>
                    </a:ext>
                  </a:extLst>
                </a:gridCol>
                <a:gridCol w="1858003">
                  <a:extLst>
                    <a:ext uri="{9D8B030D-6E8A-4147-A177-3AD203B41FA5}">
                      <a16:colId xmlns:a16="http://schemas.microsoft.com/office/drawing/2014/main" val="1057871190"/>
                    </a:ext>
                  </a:extLst>
                </a:gridCol>
                <a:gridCol w="2010959">
                  <a:extLst>
                    <a:ext uri="{9D8B030D-6E8A-4147-A177-3AD203B41FA5}">
                      <a16:colId xmlns:a16="http://schemas.microsoft.com/office/drawing/2014/main" val="347255785"/>
                    </a:ext>
                  </a:extLst>
                </a:gridCol>
                <a:gridCol w="2064239">
                  <a:extLst>
                    <a:ext uri="{9D8B030D-6E8A-4147-A177-3AD203B41FA5}">
                      <a16:colId xmlns:a16="http://schemas.microsoft.com/office/drawing/2014/main" val="2368779018"/>
                    </a:ext>
                  </a:extLst>
                </a:gridCol>
                <a:gridCol w="1764322">
                  <a:extLst>
                    <a:ext uri="{9D8B030D-6E8A-4147-A177-3AD203B41FA5}">
                      <a16:colId xmlns:a16="http://schemas.microsoft.com/office/drawing/2014/main" val="3610436156"/>
                    </a:ext>
                  </a:extLst>
                </a:gridCol>
              </a:tblGrid>
              <a:tr h="535944">
                <a:tc>
                  <a:txBody>
                    <a:bodyPr/>
                    <a:lstStyle/>
                    <a:p>
                      <a:pPr algn="ctr"/>
                      <a:r>
                        <a:rPr lang="en-US" sz="1100" b="1"/>
                        <a:t>Goals</a:t>
                      </a:r>
                    </a:p>
                  </a:txBody>
                  <a:tcPr vert="vert270" anchor="ctr">
                    <a:lnR w="19050" cap="flat" cmpd="sng" algn="ctr">
                      <a:solidFill>
                        <a:schemeClr val="bg1">
                          <a:lumMod val="85000"/>
                        </a:schemeClr>
                      </a:solidFill>
                      <a:prstDash val="solid"/>
                      <a:round/>
                      <a:headEnd type="none" w="med" len="med"/>
                      <a:tailEnd type="none" w="med" len="med"/>
                    </a:lnR>
                    <a:lnB w="19050" cap="flat" cmpd="sng" algn="ctr">
                      <a:solidFill>
                        <a:schemeClr val="bg1">
                          <a:lumMod val="85000"/>
                        </a:schemeClr>
                      </a:solidFill>
                      <a:prstDash val="sysDash"/>
                      <a:round/>
                      <a:headEnd type="none" w="med" len="med"/>
                      <a:tailEnd type="none" w="med" len="med"/>
                    </a:lnB>
                  </a:tcPr>
                </a:tc>
                <a:tc>
                  <a:txBody>
                    <a:bodyPr/>
                    <a:lstStyle/>
                    <a:p>
                      <a:r>
                        <a:rPr lang="en-US" sz="1100" b="0">
                          <a:solidFill>
                            <a:schemeClr val="bg1">
                              <a:lumMod val="75000"/>
                            </a:schemeClr>
                          </a:solidFill>
                        </a:rPr>
                        <a:t>Align with the client on project objectives </a:t>
                      </a:r>
                    </a:p>
                  </a:txBody>
                  <a:tcPr>
                    <a:lnL w="19050" cap="flat" cmpd="sng" algn="ctr">
                      <a:solidFill>
                        <a:schemeClr val="bg1">
                          <a:lumMod val="85000"/>
                        </a:schemeClr>
                      </a:solidFill>
                      <a:prstDash val="solid"/>
                      <a:round/>
                      <a:headEnd type="none" w="med" len="med"/>
                      <a:tailEnd type="none" w="med" len="med"/>
                    </a:lnL>
                    <a:lnB w="19050" cap="flat" cmpd="sng" algn="ctr">
                      <a:solidFill>
                        <a:schemeClr val="bg1">
                          <a:lumMod val="85000"/>
                        </a:schemeClr>
                      </a:solidFill>
                      <a:prstDash val="sysDash"/>
                      <a:round/>
                      <a:headEnd type="none" w="med" len="med"/>
                      <a:tailEnd type="none" w="med" len="med"/>
                    </a:lnB>
                  </a:tcPr>
                </a:tc>
                <a:tc>
                  <a:txBody>
                    <a:bodyPr/>
                    <a:lstStyle/>
                    <a:p>
                      <a:r>
                        <a:rPr lang="en-US" sz="1100" b="0">
                          <a:solidFill>
                            <a:schemeClr val="bg1">
                              <a:lumMod val="75000"/>
                            </a:schemeClr>
                          </a:solidFill>
                        </a:rPr>
                        <a:t>Understand existing processes and impact of current state</a:t>
                      </a:r>
                    </a:p>
                  </a:txBody>
                  <a:tcPr>
                    <a:lnB w="19050" cap="flat" cmpd="sng" algn="ctr">
                      <a:solidFill>
                        <a:schemeClr val="bg1">
                          <a:lumMod val="85000"/>
                        </a:schemeClr>
                      </a:solidFill>
                      <a:prstDash val="sysDash"/>
                      <a:round/>
                      <a:headEnd type="none" w="med" len="med"/>
                      <a:tailEnd type="none" w="med" len="med"/>
                    </a:lnB>
                  </a:tcPr>
                </a:tc>
                <a:tc>
                  <a:txBody>
                    <a:bodyPr/>
                    <a:lstStyle/>
                    <a:p>
                      <a:r>
                        <a:rPr lang="en-US" sz="1100" b="0" dirty="0">
                          <a:solidFill>
                            <a:schemeClr val="bg1">
                              <a:lumMod val="75000"/>
                            </a:schemeClr>
                          </a:solidFill>
                        </a:rPr>
                        <a:t>Synthesize Discovery findings to identify Field needs, and develop trainings to address</a:t>
                      </a:r>
                    </a:p>
                  </a:txBody>
                  <a:tcPr>
                    <a:lnB w="19050" cap="flat" cmpd="sng" algn="ctr">
                      <a:solidFill>
                        <a:schemeClr val="bg1">
                          <a:lumMod val="85000"/>
                        </a:schemeClr>
                      </a:solidFill>
                      <a:prstDash val="sysDash"/>
                      <a:round/>
                      <a:headEnd type="none" w="med" len="med"/>
                      <a:tailEnd type="none" w="med" len="med"/>
                    </a:lnB>
                    <a:noFill/>
                  </a:tcPr>
                </a:tc>
                <a:tc>
                  <a:txBody>
                    <a:bodyPr/>
                    <a:lstStyle/>
                    <a:p>
                      <a:pPr marL="0" algn="l" defTabSz="914400" rtl="0" eaLnBrk="1" latinLnBrk="0" hangingPunct="1"/>
                      <a:r>
                        <a:rPr lang="en-US" sz="1100" b="0" kern="1200" dirty="0">
                          <a:solidFill>
                            <a:schemeClr val="bg1">
                              <a:lumMod val="75000"/>
                            </a:schemeClr>
                          </a:solidFill>
                          <a:latin typeface="+mn-lt"/>
                          <a:ea typeface="+mn-ea"/>
                          <a:cs typeface="+mn-cs"/>
                        </a:rPr>
                        <a:t>Determine requirements and develop v1 Reallocation process/tools</a:t>
                      </a:r>
                    </a:p>
                  </a:txBody>
                  <a:tcPr>
                    <a:lnB w="19050" cap="flat" cmpd="sng" algn="ctr">
                      <a:solidFill>
                        <a:schemeClr val="bg1">
                          <a:lumMod val="85000"/>
                        </a:schemeClr>
                      </a:solidFill>
                      <a:prstDash val="sysDash"/>
                      <a:round/>
                      <a:headEnd type="none" w="med" len="med"/>
                      <a:tailEnd type="none" w="med" len="med"/>
                    </a:lnB>
                    <a:solidFill>
                      <a:schemeClr val="bg1"/>
                    </a:solidFill>
                  </a:tcPr>
                </a:tc>
                <a:tc>
                  <a:txBody>
                    <a:bodyPr/>
                    <a:lstStyle/>
                    <a:p>
                      <a:r>
                        <a:rPr lang="en-US" sz="1100" dirty="0">
                          <a:solidFill>
                            <a:schemeClr val="tx1"/>
                          </a:solidFill>
                        </a:rPr>
                        <a:t>Establish formal processes for Q4 Reallocation; test v1 Reallocation tools</a:t>
                      </a:r>
                    </a:p>
                  </a:txBody>
                  <a:tcPr>
                    <a:lnB w="19050" cap="flat" cmpd="sng" algn="ctr">
                      <a:solidFill>
                        <a:schemeClr val="bg1">
                          <a:lumMod val="85000"/>
                        </a:schemeClr>
                      </a:solidFill>
                      <a:prstDash val="sysDash"/>
                      <a:round/>
                      <a:headEnd type="none" w="med" len="med"/>
                      <a:tailEnd type="none" w="med" len="med"/>
                    </a:lnB>
                    <a:solidFill>
                      <a:schemeClr val="accent1">
                        <a:lumMod val="20000"/>
                        <a:lumOff val="80000"/>
                      </a:schemeClr>
                    </a:solidFill>
                  </a:tcPr>
                </a:tc>
                <a:tc>
                  <a:txBody>
                    <a:bodyPr/>
                    <a:lstStyle/>
                    <a:p>
                      <a:r>
                        <a:rPr lang="en-US" sz="1100">
                          <a:solidFill>
                            <a:schemeClr val="tx1"/>
                          </a:solidFill>
                        </a:rPr>
                        <a:t>Pilot tools for Q4 and iterate for FY23; formalize Q1 processes to begin FY23</a:t>
                      </a:r>
                    </a:p>
                  </a:txBody>
                  <a:tcPr>
                    <a:lnB w="19050" cap="flat" cmpd="sng" algn="ctr">
                      <a:solidFill>
                        <a:schemeClr val="bg1">
                          <a:lumMod val="85000"/>
                        </a:schemeClr>
                      </a:solidFill>
                      <a:prstDash val="sysDash"/>
                      <a:round/>
                      <a:headEnd type="none" w="med" len="med"/>
                      <a:tailEnd type="none" w="med" len="med"/>
                    </a:lnB>
                  </a:tcPr>
                </a:tc>
                <a:extLst>
                  <a:ext uri="{0D108BD9-81ED-4DB2-BD59-A6C34878D82A}">
                    <a16:rowId xmlns:a16="http://schemas.microsoft.com/office/drawing/2014/main" val="210187663"/>
                  </a:ext>
                </a:extLst>
              </a:tr>
              <a:tr h="2954564">
                <a:tc>
                  <a:txBody>
                    <a:bodyPr/>
                    <a:lstStyle/>
                    <a:p>
                      <a:pPr algn="ctr"/>
                      <a:r>
                        <a:rPr lang="en-US" sz="1100" b="1"/>
                        <a:t>Activities</a:t>
                      </a:r>
                    </a:p>
                  </a:txBody>
                  <a:tcPr vert="vert270" anchor="ctr">
                    <a:lnR w="19050" cap="flat" cmpd="sng" algn="ctr">
                      <a:solidFill>
                        <a:schemeClr val="bg1">
                          <a:lumMod val="85000"/>
                        </a:schemeClr>
                      </a:solidFill>
                      <a:prstDash val="solid"/>
                      <a:round/>
                      <a:headEnd type="none" w="med" len="med"/>
                      <a:tailEnd type="none" w="med" len="med"/>
                    </a:lnR>
                    <a:lnT w="19050" cap="flat" cmpd="sng" algn="ctr">
                      <a:solidFill>
                        <a:schemeClr val="bg1">
                          <a:lumMod val="85000"/>
                        </a:schemeClr>
                      </a:solidFill>
                      <a:prstDash val="sysDash"/>
                      <a:round/>
                      <a:headEnd type="none" w="med" len="med"/>
                      <a:tailEnd type="none" w="med" len="med"/>
                    </a:lnT>
                    <a:lnB w="19050" cap="flat" cmpd="sng" algn="ctr">
                      <a:solidFill>
                        <a:schemeClr val="bg1">
                          <a:lumMod val="85000"/>
                        </a:schemeClr>
                      </a:solidFill>
                      <a:prstDash val="sysDash"/>
                      <a:round/>
                      <a:headEnd type="none" w="med" len="med"/>
                      <a:tailEnd type="none" w="med" len="med"/>
                    </a:lnB>
                  </a:tcPr>
                </a:tc>
                <a:tc>
                  <a:txBody>
                    <a:bodyPr/>
                    <a:lstStyle/>
                    <a:p>
                      <a:pPr marL="182880" indent="-182880">
                        <a:buFont typeface="Arial" panose="020B0604020202020204" pitchFamily="34" charset="0"/>
                        <a:buChar char="•"/>
                      </a:pPr>
                      <a:r>
                        <a:rPr lang="en-US" sz="1100" b="0" dirty="0">
                          <a:solidFill>
                            <a:schemeClr val="bg1">
                              <a:lumMod val="75000"/>
                            </a:schemeClr>
                          </a:solidFill>
                        </a:rPr>
                        <a:t>Set meeting cadence </a:t>
                      </a:r>
                    </a:p>
                    <a:p>
                      <a:pPr marL="182880" indent="-182880">
                        <a:buFont typeface="Arial" panose="020B0604020202020204" pitchFamily="34" charset="0"/>
                        <a:buChar char="•"/>
                      </a:pPr>
                      <a:r>
                        <a:rPr lang="en-US" sz="1100" b="0" dirty="0">
                          <a:solidFill>
                            <a:schemeClr val="bg1">
                              <a:lumMod val="75000"/>
                            </a:schemeClr>
                          </a:solidFill>
                        </a:rPr>
                        <a:t>Review and synthesize background material</a:t>
                      </a:r>
                    </a:p>
                    <a:p>
                      <a:pPr marL="182880" indent="-182880">
                        <a:buFont typeface="Arial" panose="020B0604020202020204" pitchFamily="34" charset="0"/>
                        <a:buChar char="•"/>
                      </a:pPr>
                      <a:r>
                        <a:rPr lang="en-US" sz="1100" b="0" dirty="0">
                          <a:solidFill>
                            <a:schemeClr val="bg1">
                              <a:lumMod val="75000"/>
                            </a:schemeClr>
                          </a:solidFill>
                        </a:rPr>
                        <a:t>Onboard team members</a:t>
                      </a:r>
                    </a:p>
                    <a:p>
                      <a:pPr marL="182880" indent="-182880">
                        <a:buFont typeface="Arial" panose="020B0604020202020204" pitchFamily="34" charset="0"/>
                        <a:buChar char="•"/>
                      </a:pPr>
                      <a:r>
                        <a:rPr lang="en-US" sz="1100" b="0" dirty="0">
                          <a:solidFill>
                            <a:schemeClr val="bg1">
                              <a:lumMod val="75000"/>
                            </a:schemeClr>
                          </a:solidFill>
                        </a:rPr>
                        <a:t>Develop Roadmap with key milestones</a:t>
                      </a:r>
                    </a:p>
                    <a:p>
                      <a:pPr marL="182880" indent="-182880">
                        <a:buFont typeface="Arial" panose="020B0604020202020204" pitchFamily="34" charset="0"/>
                        <a:buChar char="•"/>
                      </a:pPr>
                      <a:r>
                        <a:rPr lang="en-US" sz="1100" b="0" dirty="0">
                          <a:solidFill>
                            <a:schemeClr val="bg1">
                              <a:lumMod val="75000"/>
                            </a:schemeClr>
                          </a:solidFill>
                        </a:rPr>
                        <a:t>Secure Roadmap approval from Internal Ops subcommittee</a:t>
                      </a:r>
                    </a:p>
                  </a:txBody>
                  <a:tcPr>
                    <a:lnL w="19050" cap="flat" cmpd="sng" algn="ctr">
                      <a:solidFill>
                        <a:schemeClr val="bg1">
                          <a:lumMod val="85000"/>
                        </a:schemeClr>
                      </a:solidFill>
                      <a:prstDash val="solid"/>
                      <a:round/>
                      <a:headEnd type="none" w="med" len="med"/>
                      <a:tailEnd type="none" w="med" len="med"/>
                    </a:lnL>
                    <a:lnT w="19050" cap="flat" cmpd="sng" algn="ctr">
                      <a:solidFill>
                        <a:schemeClr val="bg1">
                          <a:lumMod val="85000"/>
                        </a:schemeClr>
                      </a:solidFill>
                      <a:prstDash val="sysDash"/>
                      <a:round/>
                      <a:headEnd type="none" w="med" len="med"/>
                      <a:tailEnd type="none" w="med" len="med"/>
                    </a:lnT>
                    <a:lnB w="19050" cap="flat" cmpd="sng" algn="ctr">
                      <a:solidFill>
                        <a:schemeClr val="bg1">
                          <a:lumMod val="85000"/>
                        </a:schemeClr>
                      </a:solidFill>
                      <a:prstDash val="sysDash"/>
                      <a:round/>
                      <a:headEnd type="none" w="med" len="med"/>
                      <a:tailEnd type="none" w="med" len="med"/>
                    </a:lnB>
                  </a:tcPr>
                </a:tc>
                <a:tc>
                  <a:txBody>
                    <a:bodyPr/>
                    <a:lstStyle/>
                    <a:p>
                      <a:pPr marL="182880" indent="-182880">
                        <a:buFont typeface="Arial" panose="020B0604020202020204" pitchFamily="34" charset="0"/>
                        <a:buChar char="•"/>
                      </a:pPr>
                      <a:r>
                        <a:rPr lang="en-US" sz="1100" b="0">
                          <a:solidFill>
                            <a:schemeClr val="bg1">
                              <a:lumMod val="75000"/>
                            </a:schemeClr>
                          </a:solidFill>
                        </a:rPr>
                        <a:t>Develop standard interview guide</a:t>
                      </a:r>
                    </a:p>
                    <a:p>
                      <a:pPr marL="182880" indent="-182880">
                        <a:buFont typeface="Arial" panose="020B0604020202020204" pitchFamily="34" charset="0"/>
                        <a:buChar char="•"/>
                      </a:pPr>
                      <a:r>
                        <a:rPr lang="en-US" sz="1100" b="0">
                          <a:solidFill>
                            <a:schemeClr val="bg1">
                              <a:lumMod val="75000"/>
                            </a:schemeClr>
                          </a:solidFill>
                        </a:rPr>
                        <a:t>Setup and conduct 28 stakeholder interviews</a:t>
                      </a:r>
                    </a:p>
                    <a:p>
                      <a:pPr marL="182880" indent="-182880">
                        <a:buFont typeface="Arial" panose="020B0604020202020204" pitchFamily="34" charset="0"/>
                        <a:buChar char="•"/>
                      </a:pPr>
                      <a:r>
                        <a:rPr lang="en-US" sz="1100" b="0">
                          <a:solidFill>
                            <a:schemeClr val="bg1">
                              <a:lumMod val="75000"/>
                            </a:schemeClr>
                          </a:solidFill>
                        </a:rPr>
                        <a:t>Synthesize findings</a:t>
                      </a:r>
                    </a:p>
                    <a:p>
                      <a:pPr marL="182880" indent="-182880">
                        <a:buFont typeface="Arial" panose="020B0604020202020204" pitchFamily="34" charset="0"/>
                        <a:buChar char="•"/>
                      </a:pPr>
                      <a:r>
                        <a:rPr lang="en-US" sz="1100" b="0">
                          <a:solidFill>
                            <a:schemeClr val="bg1">
                              <a:lumMod val="75000"/>
                            </a:schemeClr>
                          </a:solidFill>
                        </a:rPr>
                        <a:t>Develop initial recommendations based on findings</a:t>
                      </a:r>
                    </a:p>
                    <a:p>
                      <a:pPr marL="182880" indent="-182880">
                        <a:buFont typeface="Arial" panose="020B0604020202020204" pitchFamily="34" charset="0"/>
                        <a:buChar char="•"/>
                      </a:pPr>
                      <a:r>
                        <a:rPr lang="en-US" sz="1100" b="0">
                          <a:solidFill>
                            <a:schemeClr val="bg1">
                              <a:lumMod val="75000"/>
                            </a:schemeClr>
                          </a:solidFill>
                        </a:rPr>
                        <a:t>Map current state process</a:t>
                      </a:r>
                    </a:p>
                    <a:p>
                      <a:pPr marL="182880" indent="-182880">
                        <a:buFont typeface="Arial" panose="020B0604020202020204" pitchFamily="34" charset="0"/>
                        <a:buChar char="•"/>
                      </a:pPr>
                      <a:r>
                        <a:rPr lang="en-US" sz="1100" b="0">
                          <a:solidFill>
                            <a:schemeClr val="bg1">
                              <a:lumMod val="75000"/>
                            </a:schemeClr>
                          </a:solidFill>
                        </a:rPr>
                        <a:t>Facilitate weekly working groups on select topics</a:t>
                      </a:r>
                    </a:p>
                  </a:txBody>
                  <a:tcPr>
                    <a:lnT w="19050" cap="flat" cmpd="sng" algn="ctr">
                      <a:solidFill>
                        <a:schemeClr val="bg1">
                          <a:lumMod val="85000"/>
                        </a:schemeClr>
                      </a:solidFill>
                      <a:prstDash val="sysDash"/>
                      <a:round/>
                      <a:headEnd type="none" w="med" len="med"/>
                      <a:tailEnd type="none" w="med" len="med"/>
                    </a:lnT>
                    <a:lnB w="19050" cap="flat" cmpd="sng" algn="ctr">
                      <a:solidFill>
                        <a:schemeClr val="bg1">
                          <a:lumMod val="85000"/>
                        </a:schemeClr>
                      </a:solidFill>
                      <a:prstDash val="sysDash"/>
                      <a:round/>
                      <a:headEnd type="none" w="med" len="med"/>
                      <a:tailEnd type="none" w="med" len="med"/>
                    </a:lnB>
                  </a:tcPr>
                </a:tc>
                <a:tc>
                  <a:txBody>
                    <a:bodyPr/>
                    <a:lstStyle/>
                    <a:p>
                      <a:pPr marL="182880" indent="-182880">
                        <a:buFont typeface="Arial" panose="020B0604020202020204" pitchFamily="34" charset="0"/>
                        <a:buChar char="•"/>
                      </a:pPr>
                      <a:r>
                        <a:rPr lang="en-US" sz="1100" b="0" dirty="0">
                          <a:solidFill>
                            <a:schemeClr val="bg1">
                              <a:lumMod val="75000"/>
                            </a:schemeClr>
                          </a:solidFill>
                        </a:rPr>
                        <a:t>Identify outstanding communications needs in Field</a:t>
                      </a:r>
                    </a:p>
                    <a:p>
                      <a:pPr marL="182880" indent="-182880">
                        <a:buFont typeface="Arial" panose="020B0604020202020204" pitchFamily="34" charset="0"/>
                        <a:buChar char="•"/>
                      </a:pPr>
                      <a:r>
                        <a:rPr lang="en-US" sz="1100" b="0" dirty="0">
                          <a:solidFill>
                            <a:schemeClr val="bg1">
                              <a:lumMod val="75000"/>
                            </a:schemeClr>
                          </a:solidFill>
                        </a:rPr>
                        <a:t>Design communications platforms to address needs, including Finance landing page and calendar</a:t>
                      </a:r>
                    </a:p>
                    <a:p>
                      <a:pPr marL="182880" indent="-182880">
                        <a:buFont typeface="Arial" panose="020B0604020202020204" pitchFamily="34" charset="0"/>
                        <a:buChar char="•"/>
                      </a:pPr>
                      <a:r>
                        <a:rPr lang="en-US" sz="1100" b="0" dirty="0">
                          <a:solidFill>
                            <a:schemeClr val="bg1">
                              <a:lumMod val="75000"/>
                            </a:schemeClr>
                          </a:solidFill>
                        </a:rPr>
                        <a:t>Determine high-level training requirements</a:t>
                      </a:r>
                    </a:p>
                    <a:p>
                      <a:pPr marL="182880" indent="-182880">
                        <a:buFont typeface="Arial" panose="020B0604020202020204" pitchFamily="34" charset="0"/>
                        <a:buChar char="•"/>
                      </a:pPr>
                      <a:r>
                        <a:rPr lang="en-US" sz="1100" b="0" dirty="0">
                          <a:solidFill>
                            <a:schemeClr val="bg1">
                              <a:lumMod val="75000"/>
                            </a:schemeClr>
                          </a:solidFill>
                        </a:rPr>
                        <a:t>Establish monthly training cadence</a:t>
                      </a:r>
                    </a:p>
                    <a:p>
                      <a:pPr marL="182880" indent="-182880">
                        <a:buFont typeface="Arial" panose="020B0604020202020204" pitchFamily="34" charset="0"/>
                        <a:buChar char="•"/>
                      </a:pPr>
                      <a:r>
                        <a:rPr lang="en-US" sz="1100" b="0" dirty="0">
                          <a:solidFill>
                            <a:schemeClr val="bg1">
                              <a:lumMod val="75000"/>
                            </a:schemeClr>
                          </a:solidFill>
                        </a:rPr>
                        <a:t>Determine specific monthly topics for FY22 and outline quarterly topics through FY23</a:t>
                      </a:r>
                    </a:p>
                  </a:txBody>
                  <a:tcPr>
                    <a:lnT w="19050" cap="flat" cmpd="sng" algn="ctr">
                      <a:solidFill>
                        <a:schemeClr val="bg1">
                          <a:lumMod val="85000"/>
                        </a:schemeClr>
                      </a:solidFill>
                      <a:prstDash val="sysDash"/>
                      <a:round/>
                      <a:headEnd type="none" w="med" len="med"/>
                      <a:tailEnd type="none" w="med" len="med"/>
                    </a:lnT>
                    <a:lnB w="19050" cap="flat" cmpd="sng" algn="ctr">
                      <a:solidFill>
                        <a:schemeClr val="bg1">
                          <a:lumMod val="85000"/>
                        </a:schemeClr>
                      </a:solidFill>
                      <a:prstDash val="sysDash"/>
                      <a:round/>
                      <a:headEnd type="none" w="med" len="med"/>
                      <a:tailEnd type="none" w="med" len="med"/>
                    </a:lnB>
                  </a:tcPr>
                </a:tc>
                <a:tc>
                  <a:txBody>
                    <a:bodyPr/>
                    <a:lstStyle/>
                    <a:p>
                      <a:pPr marL="182880" marR="0" lvl="0" indent="-18288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kern="1200" dirty="0">
                          <a:solidFill>
                            <a:schemeClr val="bg1">
                              <a:lumMod val="75000"/>
                            </a:schemeClr>
                          </a:solidFill>
                          <a:latin typeface="+mn-lt"/>
                          <a:ea typeface="+mn-ea"/>
                          <a:cs typeface="+mn-cs"/>
                        </a:rPr>
                        <a:t>Compile initial criteria and draft initial reallocation frameworks (5/31)</a:t>
                      </a:r>
                    </a:p>
                    <a:p>
                      <a:pPr marL="182880" marR="0" lvl="0" indent="-18288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kern="1200" dirty="0">
                          <a:solidFill>
                            <a:schemeClr val="bg1">
                              <a:lumMod val="75000"/>
                            </a:schemeClr>
                          </a:solidFill>
                          <a:latin typeface="+mn-lt"/>
                          <a:ea typeface="+mn-ea"/>
                          <a:cs typeface="+mn-cs"/>
                        </a:rPr>
                        <a:t>Map ideal state Q4 reallocation process (6/2)</a:t>
                      </a:r>
                    </a:p>
                    <a:p>
                      <a:pPr marL="182880" marR="0" lvl="0" indent="-18288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kern="1200" dirty="0">
                          <a:solidFill>
                            <a:schemeClr val="bg1">
                              <a:lumMod val="75000"/>
                            </a:schemeClr>
                          </a:solidFill>
                          <a:latin typeface="+mn-lt"/>
                          <a:ea typeface="+mn-ea"/>
                          <a:cs typeface="+mn-cs"/>
                        </a:rPr>
                        <a:t>Map ideal state Q4 PMO and pullback process (6/14)</a:t>
                      </a:r>
                    </a:p>
                    <a:p>
                      <a:pPr marL="182880" marR="0" lvl="0" indent="-18288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kern="1200" dirty="0">
                          <a:solidFill>
                            <a:schemeClr val="bg1">
                              <a:lumMod val="75000"/>
                            </a:schemeClr>
                          </a:solidFill>
                          <a:latin typeface="+mn-lt"/>
                          <a:ea typeface="+mn-ea"/>
                          <a:cs typeface="+mn-cs"/>
                        </a:rPr>
                        <a:t>Draft SOP of Q4 reallocation (6/30)</a:t>
                      </a:r>
                    </a:p>
                    <a:p>
                      <a:pPr marL="182880" marR="0" lvl="0" indent="-18288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kern="1200" dirty="0">
                          <a:solidFill>
                            <a:schemeClr val="bg1">
                              <a:lumMod val="75000"/>
                            </a:schemeClr>
                          </a:solidFill>
                          <a:latin typeface="+mn-lt"/>
                          <a:ea typeface="+mn-ea"/>
                          <a:cs typeface="+mn-cs"/>
                        </a:rPr>
                        <a:t>Collect stakeholder feedback on reallocation criteria (6/23-30)</a:t>
                      </a:r>
                    </a:p>
                    <a:p>
                      <a:pPr marL="182880" marR="0" lvl="0" indent="-18288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kern="1200" dirty="0">
                          <a:solidFill>
                            <a:schemeClr val="bg1">
                              <a:lumMod val="75000"/>
                            </a:schemeClr>
                          </a:solidFill>
                          <a:latin typeface="+mn-lt"/>
                          <a:ea typeface="+mn-ea"/>
                          <a:cs typeface="+mn-cs"/>
                        </a:rPr>
                        <a:t>Validate SOPs with stakeholders and update per feedback (7/15)</a:t>
                      </a:r>
                    </a:p>
                    <a:p>
                      <a:pPr marL="182880" marR="0" lvl="0" indent="-18288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kern="1200" dirty="0">
                          <a:solidFill>
                            <a:schemeClr val="bg1">
                              <a:lumMod val="75000"/>
                            </a:schemeClr>
                          </a:solidFill>
                          <a:latin typeface="+mn-lt"/>
                          <a:ea typeface="+mn-ea"/>
                          <a:cs typeface="+mn-cs"/>
                        </a:rPr>
                        <a:t>Facilitate development of training materials</a:t>
                      </a:r>
                    </a:p>
                  </a:txBody>
                  <a:tcPr>
                    <a:lnT w="19050" cap="flat" cmpd="sng" algn="ctr">
                      <a:solidFill>
                        <a:schemeClr val="bg1">
                          <a:lumMod val="85000"/>
                        </a:schemeClr>
                      </a:solidFill>
                      <a:prstDash val="sysDash"/>
                      <a:round/>
                      <a:headEnd type="none" w="med" len="med"/>
                      <a:tailEnd type="none" w="med" len="med"/>
                    </a:lnT>
                    <a:lnB w="19050" cap="flat" cmpd="sng" algn="ctr">
                      <a:solidFill>
                        <a:schemeClr val="bg1">
                          <a:lumMod val="85000"/>
                        </a:schemeClr>
                      </a:solidFill>
                      <a:prstDash val="sysDash"/>
                      <a:round/>
                      <a:headEnd type="none" w="med" len="med"/>
                      <a:tailEnd type="none" w="med" len="med"/>
                    </a:lnB>
                    <a:solidFill>
                      <a:schemeClr val="bg1"/>
                    </a:solidFill>
                  </a:tcPr>
                </a:tc>
                <a:tc>
                  <a:txBody>
                    <a:bodyPr/>
                    <a:lstStyle/>
                    <a:p>
                      <a:pPr marL="182880" marR="0" lvl="0" indent="-18288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kern="1200" dirty="0">
                          <a:solidFill>
                            <a:schemeClr val="bg1">
                              <a:lumMod val="75000"/>
                            </a:schemeClr>
                          </a:solidFill>
                          <a:latin typeface="+mn-lt"/>
                          <a:ea typeface="+mn-ea"/>
                          <a:cs typeface="+mn-cs"/>
                        </a:rPr>
                        <a:t>Review Reallocation criteria, framework, process and collect stakeholder inputs</a:t>
                      </a:r>
                    </a:p>
                    <a:p>
                      <a:pPr marL="182880" marR="0" lvl="0" indent="-18288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kern="1200" dirty="0">
                          <a:solidFill>
                            <a:schemeClr val="bg1">
                              <a:lumMod val="75000"/>
                            </a:schemeClr>
                          </a:solidFill>
                          <a:latin typeface="+mn-lt"/>
                          <a:ea typeface="+mn-ea"/>
                          <a:cs typeface="+mn-cs"/>
                        </a:rPr>
                        <a:t>Field Survey Analysis</a:t>
                      </a:r>
                    </a:p>
                    <a:p>
                      <a:pPr marL="182880" marR="0" lvl="0" indent="-18288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kern="1200" dirty="0">
                          <a:solidFill>
                            <a:schemeClr val="bg1">
                              <a:lumMod val="75000"/>
                            </a:schemeClr>
                          </a:solidFill>
                          <a:latin typeface="+mn-lt"/>
                          <a:ea typeface="+mn-ea"/>
                          <a:cs typeface="+mn-cs"/>
                        </a:rPr>
                        <a:t>FY 23 Quarterly &amp; Monthly Thematic Training Plan</a:t>
                      </a:r>
                    </a:p>
                    <a:p>
                      <a:pPr marL="182880" marR="0" lvl="0" indent="-18288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kern="1200" dirty="0">
                          <a:solidFill>
                            <a:schemeClr val="bg1">
                              <a:lumMod val="75000"/>
                            </a:schemeClr>
                          </a:solidFill>
                          <a:latin typeface="+mn-lt"/>
                          <a:ea typeface="+mn-ea"/>
                          <a:cs typeface="+mn-cs"/>
                        </a:rPr>
                        <a:t>Best Practice Document Template </a:t>
                      </a:r>
                    </a:p>
                    <a:p>
                      <a:pPr marL="182880" indent="-182880">
                        <a:buFont typeface="Arial" panose="020B0604020202020204" pitchFamily="34" charset="0"/>
                        <a:buChar char="•"/>
                      </a:pPr>
                      <a:r>
                        <a:rPr lang="en-US" sz="1100" b="1" dirty="0">
                          <a:solidFill>
                            <a:schemeClr val="tx1"/>
                          </a:solidFill>
                        </a:rPr>
                        <a:t>Best Practice Documentation</a:t>
                      </a:r>
                      <a:r>
                        <a:rPr lang="en-US" sz="1100" b="1">
                          <a:solidFill>
                            <a:schemeClr val="tx1"/>
                          </a:solidFill>
                        </a:rPr>
                        <a:t>: Outline and QA - FY22 Topics</a:t>
                      </a:r>
                      <a:endParaRPr lang="en-US" sz="1100" b="1" dirty="0">
                        <a:solidFill>
                          <a:schemeClr val="tx1"/>
                        </a:solidFill>
                      </a:endParaRPr>
                    </a:p>
                    <a:p>
                      <a:pPr marL="182880" indent="-182880">
                        <a:buFont typeface="Arial" panose="020B0604020202020204" pitchFamily="34" charset="0"/>
                        <a:buChar char="•"/>
                      </a:pPr>
                      <a:r>
                        <a:rPr lang="en-US" sz="1100" b="1" dirty="0">
                          <a:solidFill>
                            <a:schemeClr val="tx1"/>
                          </a:solidFill>
                        </a:rPr>
                        <a:t>Share Point Landing Page Design</a:t>
                      </a:r>
                    </a:p>
                    <a:p>
                      <a:pPr marL="182880" indent="-182880">
                        <a:buFont typeface="Arial" panose="020B0604020202020204" pitchFamily="34" charset="0"/>
                        <a:buChar char="•"/>
                      </a:pPr>
                      <a:r>
                        <a:rPr lang="en-US" sz="1100" b="1" dirty="0">
                          <a:solidFill>
                            <a:schemeClr val="tx1"/>
                          </a:solidFill>
                        </a:rPr>
                        <a:t>Finance Communication Plan</a:t>
                      </a:r>
                    </a:p>
                    <a:p>
                      <a:pPr marL="182880" indent="-182880" algn="l" defTabSz="914400" rtl="0" eaLnBrk="1" latinLnBrk="0" hangingPunct="1">
                        <a:buFont typeface="Arial" panose="020B0604020202020204" pitchFamily="34" charset="0"/>
                        <a:buChar char="•"/>
                      </a:pPr>
                      <a:r>
                        <a:rPr lang="en-US" sz="1100" kern="1200" dirty="0">
                          <a:solidFill>
                            <a:schemeClr val="accent6"/>
                          </a:solidFill>
                          <a:latin typeface="+mn-lt"/>
                          <a:ea typeface="+mn-ea"/>
                          <a:cs typeface="+mn-cs"/>
                        </a:rPr>
                        <a:t>Process and incorporate Q3 RAFT data as available</a:t>
                      </a:r>
                    </a:p>
                    <a:p>
                      <a:pPr marL="182880" indent="-182880">
                        <a:buFont typeface="Arial" panose="020B0604020202020204" pitchFamily="34" charset="0"/>
                        <a:buChar char="•"/>
                      </a:pPr>
                      <a:r>
                        <a:rPr lang="en-US" sz="1100" b="1" dirty="0">
                          <a:solidFill>
                            <a:schemeClr val="tx1"/>
                          </a:solidFill>
                        </a:rPr>
                        <a:t>Monthly </a:t>
                      </a:r>
                      <a:r>
                        <a:rPr lang="en-US" sz="1100" b="1" kern="1200" dirty="0">
                          <a:solidFill>
                            <a:schemeClr val="tx1"/>
                          </a:solidFill>
                          <a:latin typeface="+mn-lt"/>
                          <a:ea typeface="+mn-ea"/>
                          <a:cs typeface="+mn-cs"/>
                        </a:rPr>
                        <a:t>training</a:t>
                      </a:r>
                      <a:r>
                        <a:rPr lang="en-US" sz="1100" b="1" dirty="0">
                          <a:solidFill>
                            <a:schemeClr val="tx1"/>
                          </a:solidFill>
                        </a:rPr>
                        <a:t> materials</a:t>
                      </a:r>
                    </a:p>
                  </a:txBody>
                  <a:tcPr>
                    <a:lnT w="19050" cap="flat" cmpd="sng" algn="ctr">
                      <a:solidFill>
                        <a:schemeClr val="bg1">
                          <a:lumMod val="85000"/>
                        </a:schemeClr>
                      </a:solidFill>
                      <a:prstDash val="sysDash"/>
                      <a:round/>
                      <a:headEnd type="none" w="med" len="med"/>
                      <a:tailEnd type="none" w="med" len="med"/>
                    </a:lnT>
                    <a:lnB w="19050" cap="flat" cmpd="sng" algn="ctr">
                      <a:solidFill>
                        <a:schemeClr val="bg1">
                          <a:lumMod val="85000"/>
                        </a:schemeClr>
                      </a:solidFill>
                      <a:prstDash val="sysDash"/>
                      <a:round/>
                      <a:headEnd type="none" w="med" len="med"/>
                      <a:tailEnd type="none" w="med" len="med"/>
                    </a:lnB>
                    <a:solidFill>
                      <a:schemeClr val="accent1">
                        <a:lumMod val="20000"/>
                        <a:lumOff val="80000"/>
                      </a:schemeClr>
                    </a:solidFill>
                  </a:tcPr>
                </a:tc>
                <a:tc>
                  <a:txBody>
                    <a:bodyPr/>
                    <a:lstStyle/>
                    <a:p>
                      <a:pPr marL="182880" indent="-182880">
                        <a:buFont typeface="Arial" panose="020B0604020202020204" pitchFamily="34" charset="0"/>
                        <a:buChar char="•"/>
                      </a:pPr>
                      <a:r>
                        <a:rPr lang="en-US" sz="1100" dirty="0">
                          <a:solidFill>
                            <a:schemeClr val="accent6"/>
                          </a:solidFill>
                        </a:rPr>
                        <a:t>Conduct necessary RAFT analysis to support identification of high-risk projects</a:t>
                      </a:r>
                    </a:p>
                    <a:p>
                      <a:pPr marL="182880" indent="-182880">
                        <a:buFont typeface="Arial" panose="020B0604020202020204" pitchFamily="34" charset="0"/>
                        <a:buChar char="•"/>
                      </a:pPr>
                      <a:r>
                        <a:rPr lang="en-US" sz="1100" dirty="0">
                          <a:solidFill>
                            <a:schemeClr val="accent6"/>
                          </a:solidFill>
                        </a:rPr>
                        <a:t>Transition ownership of tools to Office of Finance</a:t>
                      </a:r>
                    </a:p>
                    <a:p>
                      <a:pPr marL="182880" indent="-182880">
                        <a:buFont typeface="Arial" panose="020B0604020202020204" pitchFamily="34" charset="0"/>
                        <a:buChar char="•"/>
                      </a:pPr>
                      <a:r>
                        <a:rPr lang="en-US" sz="1100" dirty="0">
                          <a:solidFill>
                            <a:schemeClr val="accent6"/>
                          </a:solidFill>
                        </a:rPr>
                        <a:t>Identify long-term owners of monthly trainings and transition ownership</a:t>
                      </a:r>
                    </a:p>
                    <a:p>
                      <a:pPr marL="182880" indent="-182880">
                        <a:buFont typeface="Arial" panose="020B0604020202020204" pitchFamily="34" charset="0"/>
                        <a:buChar char="•"/>
                      </a:pPr>
                      <a:r>
                        <a:rPr lang="en-US" sz="1100" dirty="0">
                          <a:solidFill>
                            <a:schemeClr val="accent6"/>
                          </a:solidFill>
                        </a:rPr>
                        <a:t>Support development of FY23 Initiative Objectives</a:t>
                      </a:r>
                    </a:p>
                  </a:txBody>
                  <a:tcPr>
                    <a:lnT w="19050" cap="flat" cmpd="sng" algn="ctr">
                      <a:solidFill>
                        <a:schemeClr val="bg1">
                          <a:lumMod val="85000"/>
                        </a:schemeClr>
                      </a:solidFill>
                      <a:prstDash val="sysDash"/>
                      <a:round/>
                      <a:headEnd type="none" w="med" len="med"/>
                      <a:tailEnd type="none" w="med" len="med"/>
                    </a:lnT>
                    <a:lnB w="19050" cap="flat" cmpd="sng" algn="ctr">
                      <a:solidFill>
                        <a:schemeClr val="bg1">
                          <a:lumMod val="85000"/>
                        </a:schemeClr>
                      </a:solidFill>
                      <a:prstDash val="sysDash"/>
                      <a:round/>
                      <a:headEnd type="none" w="med" len="med"/>
                      <a:tailEnd type="none" w="med" len="med"/>
                    </a:lnB>
                  </a:tcPr>
                </a:tc>
                <a:extLst>
                  <a:ext uri="{0D108BD9-81ED-4DB2-BD59-A6C34878D82A}">
                    <a16:rowId xmlns:a16="http://schemas.microsoft.com/office/drawing/2014/main" val="3711191392"/>
                  </a:ext>
                </a:extLst>
              </a:tr>
              <a:tr h="989435">
                <a:tc>
                  <a:txBody>
                    <a:bodyPr/>
                    <a:lstStyle/>
                    <a:p>
                      <a:pPr algn="ctr"/>
                      <a:r>
                        <a:rPr lang="en-US" sz="1100" b="1"/>
                        <a:t>Outputs</a:t>
                      </a:r>
                    </a:p>
                  </a:txBody>
                  <a:tcPr vert="vert270" anchor="ctr">
                    <a:lnR w="19050" cap="flat" cmpd="sng" algn="ctr">
                      <a:solidFill>
                        <a:schemeClr val="bg1">
                          <a:lumMod val="85000"/>
                        </a:schemeClr>
                      </a:solidFill>
                      <a:prstDash val="solid"/>
                      <a:round/>
                      <a:headEnd type="none" w="med" len="med"/>
                      <a:tailEnd type="none" w="med" len="med"/>
                    </a:lnR>
                    <a:lnT w="19050" cap="flat" cmpd="sng" algn="ctr">
                      <a:solidFill>
                        <a:schemeClr val="bg1">
                          <a:lumMod val="85000"/>
                        </a:schemeClr>
                      </a:solidFill>
                      <a:prstDash val="sysDash"/>
                      <a:round/>
                      <a:headEnd type="none" w="med" len="med"/>
                      <a:tailEnd type="none" w="med" len="med"/>
                    </a:lnT>
                    <a:lnB w="19050" cap="flat" cmpd="sng" algn="ctr">
                      <a:noFill/>
                      <a:prstDash val="solid"/>
                      <a:round/>
                      <a:headEnd type="none" w="med" len="med"/>
                      <a:tailEnd type="none" w="med" len="med"/>
                    </a:lnB>
                  </a:tcPr>
                </a:tc>
                <a:tc>
                  <a:txBody>
                    <a:bodyPr/>
                    <a:lstStyle/>
                    <a:p>
                      <a:pPr marL="182880" indent="-182880">
                        <a:buFont typeface="Arial" panose="020B0604020202020204" pitchFamily="34" charset="0"/>
                        <a:buChar char="•"/>
                      </a:pPr>
                      <a:r>
                        <a:rPr lang="en-US" sz="1100" b="0">
                          <a:solidFill>
                            <a:schemeClr val="bg1">
                              <a:lumMod val="75000"/>
                            </a:schemeClr>
                          </a:solidFill>
                        </a:rPr>
                        <a:t>List of consistent interview questions </a:t>
                      </a:r>
                    </a:p>
                    <a:p>
                      <a:pPr marL="182880" indent="-182880">
                        <a:buFont typeface="Arial" panose="020B0604020202020204" pitchFamily="34" charset="0"/>
                        <a:buChar char="•"/>
                      </a:pPr>
                      <a:r>
                        <a:rPr lang="en-US" sz="1100" b="0">
                          <a:solidFill>
                            <a:schemeClr val="bg1">
                              <a:lumMod val="75000"/>
                            </a:schemeClr>
                          </a:solidFill>
                        </a:rPr>
                        <a:t>Roadmap, OKRs</a:t>
                      </a:r>
                    </a:p>
                  </a:txBody>
                  <a:tcPr>
                    <a:lnL w="19050" cap="flat" cmpd="sng" algn="ctr">
                      <a:solidFill>
                        <a:schemeClr val="bg1">
                          <a:lumMod val="85000"/>
                        </a:schemeClr>
                      </a:solidFill>
                      <a:prstDash val="solid"/>
                      <a:round/>
                      <a:headEnd type="none" w="med" len="med"/>
                      <a:tailEnd type="none" w="med" len="med"/>
                    </a:lnL>
                    <a:lnT w="19050" cap="flat" cmpd="sng" algn="ctr">
                      <a:solidFill>
                        <a:schemeClr val="bg1">
                          <a:lumMod val="85000"/>
                        </a:schemeClr>
                      </a:solidFill>
                      <a:prstDash val="sysDash"/>
                      <a:round/>
                      <a:headEnd type="none" w="med" len="med"/>
                      <a:tailEnd type="none" w="med" len="med"/>
                    </a:lnT>
                    <a:lnB w="19050" cap="flat" cmpd="sng" algn="ctr">
                      <a:noFill/>
                      <a:prstDash val="solid"/>
                      <a:round/>
                      <a:headEnd type="none" w="med" len="med"/>
                      <a:tailEnd type="none" w="med" len="med"/>
                    </a:lnB>
                  </a:tcPr>
                </a:tc>
                <a:tc>
                  <a:txBody>
                    <a:bodyPr/>
                    <a:lstStyle/>
                    <a:p>
                      <a:pPr marL="182880" indent="-182880">
                        <a:buFont typeface="Arial" panose="020B0604020202020204" pitchFamily="34" charset="0"/>
                        <a:buChar char="•"/>
                      </a:pPr>
                      <a:r>
                        <a:rPr lang="en-US" sz="1100" b="0">
                          <a:solidFill>
                            <a:schemeClr val="bg1">
                              <a:lumMod val="75000"/>
                            </a:schemeClr>
                          </a:solidFill>
                        </a:rPr>
                        <a:t>Interview synthesis</a:t>
                      </a:r>
                    </a:p>
                    <a:p>
                      <a:pPr marL="182880" indent="-182880">
                        <a:buFont typeface="Arial" panose="020B0604020202020204" pitchFamily="34" charset="0"/>
                        <a:buChar char="•"/>
                      </a:pPr>
                      <a:r>
                        <a:rPr lang="en-US" sz="1100" b="0">
                          <a:solidFill>
                            <a:schemeClr val="bg1">
                              <a:lumMod val="75000"/>
                            </a:schemeClr>
                          </a:solidFill>
                        </a:rPr>
                        <a:t>Current process maps of station- and ORD-level fund management</a:t>
                      </a:r>
                      <a:r>
                        <a:rPr lang="en-US" sz="1100" b="0" baseline="30000">
                          <a:solidFill>
                            <a:schemeClr val="bg1">
                              <a:lumMod val="75000"/>
                            </a:schemeClr>
                          </a:solidFill>
                        </a:rPr>
                        <a:t>1,2,3</a:t>
                      </a:r>
                      <a:endParaRPr lang="en-US" sz="1100" b="0">
                        <a:solidFill>
                          <a:schemeClr val="bg1">
                            <a:lumMod val="75000"/>
                          </a:schemeClr>
                        </a:solidFill>
                      </a:endParaRPr>
                    </a:p>
                  </a:txBody>
                  <a:tcPr>
                    <a:lnT w="19050" cap="flat" cmpd="sng" algn="ctr">
                      <a:solidFill>
                        <a:schemeClr val="bg1">
                          <a:lumMod val="85000"/>
                        </a:schemeClr>
                      </a:solidFill>
                      <a:prstDash val="sysDash"/>
                      <a:round/>
                      <a:headEnd type="none" w="med" len="med"/>
                      <a:tailEnd type="none" w="med" len="med"/>
                    </a:lnT>
                    <a:lnB w="19050" cap="flat" cmpd="sng" algn="ctr">
                      <a:noFill/>
                      <a:prstDash val="solid"/>
                      <a:round/>
                      <a:headEnd type="none" w="med" len="med"/>
                      <a:tailEnd type="none" w="med" len="med"/>
                    </a:lnB>
                  </a:tcPr>
                </a:tc>
                <a:tc>
                  <a:txBody>
                    <a:bodyPr/>
                    <a:lstStyle/>
                    <a:p>
                      <a:pPr marL="182880" indent="-182880" algn="l" defTabSz="914400" rtl="0" eaLnBrk="1" latinLnBrk="0" hangingPunct="1">
                        <a:buFont typeface="Arial" panose="020B0604020202020204" pitchFamily="34" charset="0"/>
                        <a:buChar char="•"/>
                      </a:pPr>
                      <a:r>
                        <a:rPr lang="en-US" sz="1100" b="0" kern="1200" dirty="0">
                          <a:solidFill>
                            <a:schemeClr val="bg1">
                              <a:lumMod val="75000"/>
                            </a:schemeClr>
                          </a:solidFill>
                          <a:latin typeface="+mn-lt"/>
                          <a:ea typeface="+mn-ea"/>
                          <a:cs typeface="+mn-cs"/>
                        </a:rPr>
                        <a:t>Monthly training plan for FY221,2</a:t>
                      </a:r>
                    </a:p>
                    <a:p>
                      <a:pPr marL="182880" indent="-182880" algn="l" defTabSz="914400" rtl="0" eaLnBrk="1" latinLnBrk="0" hangingPunct="1">
                        <a:buFont typeface="Arial" panose="020B0604020202020204" pitchFamily="34" charset="0"/>
                        <a:buChar char="•"/>
                      </a:pPr>
                      <a:r>
                        <a:rPr lang="en-US" sz="1100" b="0" kern="1200" dirty="0">
                          <a:solidFill>
                            <a:schemeClr val="bg1">
                              <a:lumMod val="75000"/>
                            </a:schemeClr>
                          </a:solidFill>
                          <a:latin typeface="+mn-lt"/>
                          <a:ea typeface="+mn-ea"/>
                          <a:cs typeface="+mn-cs"/>
                        </a:rPr>
                        <a:t>Landing page requirements and wireframe mockup5</a:t>
                      </a:r>
                    </a:p>
                  </a:txBody>
                  <a:tcPr>
                    <a:lnT w="19050" cap="flat" cmpd="sng" algn="ctr">
                      <a:solidFill>
                        <a:schemeClr val="bg1">
                          <a:lumMod val="85000"/>
                        </a:schemeClr>
                      </a:solidFill>
                      <a:prstDash val="sysDash"/>
                      <a:round/>
                      <a:headEnd type="none" w="med" len="med"/>
                      <a:tailEnd type="none" w="med" len="med"/>
                    </a:lnT>
                    <a:lnB w="19050" cap="flat" cmpd="sng" algn="ctr">
                      <a:noFill/>
                      <a:prstDash val="solid"/>
                      <a:round/>
                      <a:headEnd type="none" w="med" len="med"/>
                      <a:tailEnd type="none" w="med" len="med"/>
                    </a:lnB>
                  </a:tcPr>
                </a:tc>
                <a:tc>
                  <a:txBody>
                    <a:bodyPr/>
                    <a:lstStyle/>
                    <a:p>
                      <a:pPr marL="182880" indent="-182880" algn="l" defTabSz="914400" rtl="0" eaLnBrk="1" latinLnBrk="0" hangingPunct="1">
                        <a:buFont typeface="Arial" panose="020B0604020202020204" pitchFamily="34" charset="0"/>
                        <a:buChar char="•"/>
                      </a:pPr>
                      <a:r>
                        <a:rPr lang="en-US" sz="1100" b="0" kern="1200" dirty="0">
                          <a:solidFill>
                            <a:schemeClr val="bg1">
                              <a:lumMod val="75000"/>
                            </a:schemeClr>
                          </a:solidFill>
                          <a:latin typeface="+mn-lt"/>
                          <a:ea typeface="+mn-ea"/>
                          <a:cs typeface="+mn-cs"/>
                        </a:rPr>
                        <a:t>v1 process SOP, proposal collection form, and evaluation criteria3,4</a:t>
                      </a:r>
                    </a:p>
                    <a:p>
                      <a:pPr marL="182880" lvl="0" indent="-182880" algn="l" defTabSz="914400" rtl="0" eaLnBrk="1" latinLnBrk="0" hangingPunct="1">
                        <a:buFont typeface="Arial" panose="020B0604020202020204" pitchFamily="34" charset="0"/>
                        <a:buChar char="•"/>
                      </a:pPr>
                      <a:r>
                        <a:rPr lang="en-US" sz="1100" b="0" kern="1200" dirty="0">
                          <a:solidFill>
                            <a:schemeClr val="bg1">
                              <a:lumMod val="75000"/>
                            </a:schemeClr>
                          </a:solidFill>
                          <a:latin typeface="+mn-lt"/>
                          <a:ea typeface="+mn-ea"/>
                          <a:cs typeface="+mn-cs"/>
                        </a:rPr>
                        <a:t>Monthly training materials1,2,5</a:t>
                      </a:r>
                    </a:p>
                  </a:txBody>
                  <a:tcPr>
                    <a:lnT w="19050" cap="flat" cmpd="sng" algn="ctr">
                      <a:solidFill>
                        <a:schemeClr val="bg1">
                          <a:lumMod val="85000"/>
                        </a:schemeClr>
                      </a:solidFill>
                      <a:prstDash val="sysDash"/>
                      <a:round/>
                      <a:headEnd type="none" w="med" len="med"/>
                      <a:tailEnd type="none" w="med" len="med"/>
                    </a:lnT>
                    <a:lnB w="19050" cap="flat" cmpd="sng" algn="ctr">
                      <a:noFill/>
                      <a:prstDash val="solid"/>
                      <a:round/>
                      <a:headEnd type="none" w="med" len="med"/>
                      <a:tailEnd type="none" w="med" len="med"/>
                    </a:lnB>
                    <a:solidFill>
                      <a:schemeClr val="bg1"/>
                    </a:solidFill>
                  </a:tcPr>
                </a:tc>
                <a:tc>
                  <a:txBody>
                    <a:bodyPr/>
                    <a:lstStyle/>
                    <a:p>
                      <a:pPr marL="182880" indent="-182880">
                        <a:buFont typeface="Arial" panose="020B0604020202020204" pitchFamily="34" charset="0"/>
                        <a:buChar char="•"/>
                      </a:pPr>
                      <a:r>
                        <a:rPr lang="en-US" sz="1100" b="0" dirty="0">
                          <a:solidFill>
                            <a:schemeClr val="tx1"/>
                          </a:solidFill>
                        </a:rPr>
                        <a:t>v1 Reallocation process and tools to support Q4 reallocation</a:t>
                      </a:r>
                      <a:r>
                        <a:rPr lang="en-US" sz="1100" b="0" baseline="30000" dirty="0">
                          <a:solidFill>
                            <a:schemeClr val="tx1"/>
                          </a:solidFill>
                        </a:rPr>
                        <a:t>3,4</a:t>
                      </a:r>
                      <a:endParaRPr lang="en-US" sz="1100" b="0" dirty="0">
                        <a:solidFill>
                          <a:schemeClr val="tx1"/>
                        </a:solidFill>
                      </a:endParaRPr>
                    </a:p>
                    <a:p>
                      <a:pPr marL="182880" indent="-182880">
                        <a:buFont typeface="Arial" panose="020B0604020202020204" pitchFamily="34" charset="0"/>
                        <a:buChar char="•"/>
                      </a:pPr>
                      <a:r>
                        <a:rPr lang="en-US" sz="1100" b="0" dirty="0">
                          <a:solidFill>
                            <a:schemeClr val="tx1"/>
                          </a:solidFill>
                        </a:rPr>
                        <a:t>Monthly training materials</a:t>
                      </a:r>
                      <a:r>
                        <a:rPr lang="en-US" sz="1100" b="0" baseline="30000" dirty="0">
                          <a:solidFill>
                            <a:schemeClr val="tx1"/>
                          </a:solidFill>
                        </a:rPr>
                        <a:t>1,2,5</a:t>
                      </a:r>
                      <a:endParaRPr lang="en-US" sz="1100" b="0" dirty="0">
                        <a:solidFill>
                          <a:schemeClr val="tx1"/>
                        </a:solidFill>
                      </a:endParaRPr>
                    </a:p>
                  </a:txBody>
                  <a:tcPr>
                    <a:lnT w="19050" cap="flat" cmpd="sng" algn="ctr">
                      <a:solidFill>
                        <a:schemeClr val="bg1">
                          <a:lumMod val="85000"/>
                        </a:schemeClr>
                      </a:solidFill>
                      <a:prstDash val="sysDash"/>
                      <a:round/>
                      <a:headEnd type="none" w="med" len="med"/>
                      <a:tailEnd type="none" w="med" len="med"/>
                    </a:lnT>
                    <a:lnB w="19050" cap="flat" cmpd="sng" algn="ctr">
                      <a:noFill/>
                      <a:prstDash val="solid"/>
                      <a:round/>
                      <a:headEnd type="none" w="med" len="med"/>
                      <a:tailEnd type="none" w="med" len="med"/>
                    </a:lnB>
                    <a:solidFill>
                      <a:schemeClr val="accent1">
                        <a:lumMod val="20000"/>
                        <a:lumOff val="80000"/>
                      </a:schemeClr>
                    </a:solidFill>
                  </a:tcPr>
                </a:tc>
                <a:tc>
                  <a:txBody>
                    <a:bodyPr/>
                    <a:lstStyle/>
                    <a:p>
                      <a:pPr marL="182880" indent="-182880">
                        <a:buFont typeface="Arial" panose="020B0604020202020204" pitchFamily="34" charset="0"/>
                        <a:buChar char="•"/>
                      </a:pPr>
                      <a:r>
                        <a:rPr lang="en-US" sz="1100" dirty="0">
                          <a:solidFill>
                            <a:schemeClr val="accent6"/>
                          </a:solidFill>
                        </a:rPr>
                        <a:t>v2 processes and tools for FY23</a:t>
                      </a:r>
                      <a:r>
                        <a:rPr lang="en-US" sz="1100" baseline="30000" dirty="0">
                          <a:solidFill>
                            <a:schemeClr val="accent6"/>
                          </a:solidFill>
                        </a:rPr>
                        <a:t>3,4</a:t>
                      </a:r>
                      <a:endParaRPr lang="en-US" sz="1100" dirty="0">
                        <a:solidFill>
                          <a:schemeClr val="accent6"/>
                        </a:solidFill>
                      </a:endParaRPr>
                    </a:p>
                    <a:p>
                      <a:pPr marL="182880" indent="-182880">
                        <a:buFont typeface="Arial" panose="020B0604020202020204" pitchFamily="34" charset="0"/>
                        <a:buChar char="•"/>
                      </a:pPr>
                      <a:r>
                        <a:rPr lang="en-US" sz="1100" dirty="0">
                          <a:solidFill>
                            <a:schemeClr val="accent6"/>
                          </a:solidFill>
                        </a:rPr>
                        <a:t>AAR of Q4 Reallocation</a:t>
                      </a:r>
                      <a:r>
                        <a:rPr lang="en-US" sz="1100" baseline="30000" dirty="0">
                          <a:solidFill>
                            <a:schemeClr val="accent6"/>
                          </a:solidFill>
                        </a:rPr>
                        <a:t>3,4</a:t>
                      </a:r>
                    </a:p>
                    <a:p>
                      <a:pPr marL="182880" indent="-182880">
                        <a:buFont typeface="Arial" panose="020B0604020202020204" pitchFamily="34" charset="0"/>
                        <a:buChar char="•"/>
                      </a:pPr>
                      <a:r>
                        <a:rPr lang="en-US" sz="1100" dirty="0">
                          <a:solidFill>
                            <a:schemeClr val="accent6"/>
                          </a:solidFill>
                        </a:rPr>
                        <a:t>FY23 Training roadmap</a:t>
                      </a:r>
                      <a:r>
                        <a:rPr lang="en-US" sz="1100" baseline="30000" dirty="0">
                          <a:solidFill>
                            <a:schemeClr val="accent6"/>
                          </a:solidFill>
                        </a:rPr>
                        <a:t>1,2,5</a:t>
                      </a:r>
                      <a:endParaRPr lang="en-US" sz="1100" dirty="0">
                        <a:solidFill>
                          <a:schemeClr val="accent6"/>
                        </a:solidFill>
                      </a:endParaRPr>
                    </a:p>
                  </a:txBody>
                  <a:tcPr>
                    <a:lnT w="19050" cap="flat" cmpd="sng" algn="ctr">
                      <a:solidFill>
                        <a:schemeClr val="bg1">
                          <a:lumMod val="85000"/>
                        </a:schemeClr>
                      </a:solidFill>
                      <a:prstDash val="sysDash"/>
                      <a:round/>
                      <a:headEnd type="none" w="med" len="med"/>
                      <a:tailEnd type="none" w="med" len="med"/>
                    </a:lnT>
                    <a:lnB w="19050" cap="flat" cmpd="sng" algn="ctr">
                      <a:noFill/>
                      <a:prstDash val="solid"/>
                      <a:round/>
                      <a:headEnd type="none" w="med" len="med"/>
                      <a:tailEnd type="none" w="med" len="med"/>
                    </a:lnB>
                  </a:tcPr>
                </a:tc>
                <a:extLst>
                  <a:ext uri="{0D108BD9-81ED-4DB2-BD59-A6C34878D82A}">
                    <a16:rowId xmlns:a16="http://schemas.microsoft.com/office/drawing/2014/main" val="3433535584"/>
                  </a:ext>
                </a:extLst>
              </a:tr>
            </a:tbl>
          </a:graphicData>
        </a:graphic>
      </p:graphicFrame>
      <p:sp>
        <p:nvSpPr>
          <p:cNvPr id="11" name="Rectangle 10">
            <a:extLst>
              <a:ext uri="{FF2B5EF4-FFF2-40B4-BE49-F238E27FC236}">
                <a16:creationId xmlns:a16="http://schemas.microsoft.com/office/drawing/2014/main" id="{20A84B11-17B3-4D75-8FBB-5AE50E6B81FD}"/>
              </a:ext>
            </a:extLst>
          </p:cNvPr>
          <p:cNvSpPr/>
          <p:nvPr/>
        </p:nvSpPr>
        <p:spPr>
          <a:xfrm>
            <a:off x="478691" y="879685"/>
            <a:ext cx="2022583" cy="307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prstClr val="black"/>
                </a:solidFill>
                <a:effectLst/>
                <a:uLnTx/>
                <a:uFillTx/>
                <a:latin typeface="Calibri" panose="020F0502020204030204"/>
                <a:ea typeface="+mn-ea"/>
                <a:cs typeface="+mn-cs"/>
              </a:rPr>
              <a:t>Oct – Dec 2021</a:t>
            </a:r>
          </a:p>
        </p:txBody>
      </p:sp>
      <p:sp>
        <p:nvSpPr>
          <p:cNvPr id="13" name="Rectangle 12">
            <a:extLst>
              <a:ext uri="{FF2B5EF4-FFF2-40B4-BE49-F238E27FC236}">
                <a16:creationId xmlns:a16="http://schemas.microsoft.com/office/drawing/2014/main" id="{05FF70D1-5BC3-48BF-9F9C-0D82A0F82CB8}"/>
              </a:ext>
            </a:extLst>
          </p:cNvPr>
          <p:cNvSpPr/>
          <p:nvPr/>
        </p:nvSpPr>
        <p:spPr>
          <a:xfrm>
            <a:off x="4297392" y="879685"/>
            <a:ext cx="1997323" cy="28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prstClr val="black"/>
                </a:solidFill>
                <a:effectLst/>
                <a:uLnTx/>
                <a:uFillTx/>
                <a:latin typeface="Calibri" panose="020F0502020204030204"/>
                <a:ea typeface="+mn-ea"/>
                <a:cs typeface="+mn-cs"/>
              </a:rPr>
              <a:t>Feb – Apr</a:t>
            </a:r>
          </a:p>
        </p:txBody>
      </p:sp>
      <p:sp>
        <p:nvSpPr>
          <p:cNvPr id="15" name="Rectangle 14">
            <a:extLst>
              <a:ext uri="{FF2B5EF4-FFF2-40B4-BE49-F238E27FC236}">
                <a16:creationId xmlns:a16="http://schemas.microsoft.com/office/drawing/2014/main" id="{A81D51B5-C493-4A18-9008-ECAE20B7F01E}"/>
              </a:ext>
            </a:extLst>
          </p:cNvPr>
          <p:cNvSpPr/>
          <p:nvPr/>
        </p:nvSpPr>
        <p:spPr>
          <a:xfrm>
            <a:off x="2493187" y="879685"/>
            <a:ext cx="1805890" cy="307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prstClr val="black"/>
                </a:solidFill>
                <a:effectLst/>
                <a:uLnTx/>
                <a:uFillTx/>
                <a:latin typeface="Calibri" panose="020F0502020204030204"/>
                <a:ea typeface="+mn-ea"/>
                <a:cs typeface="+mn-cs"/>
              </a:rPr>
              <a:t>Jan – Feb</a:t>
            </a:r>
          </a:p>
        </p:txBody>
      </p:sp>
      <p:sp>
        <p:nvSpPr>
          <p:cNvPr id="21" name="Arrow: Pentagon 20">
            <a:extLst>
              <a:ext uri="{FF2B5EF4-FFF2-40B4-BE49-F238E27FC236}">
                <a16:creationId xmlns:a16="http://schemas.microsoft.com/office/drawing/2014/main" id="{F214377D-381B-4C16-94DB-774B1514401D}"/>
              </a:ext>
            </a:extLst>
          </p:cNvPr>
          <p:cNvSpPr/>
          <p:nvPr/>
        </p:nvSpPr>
        <p:spPr>
          <a:xfrm>
            <a:off x="10080414" y="1401496"/>
            <a:ext cx="2111585" cy="273341"/>
          </a:xfrm>
          <a:prstGeom prst="homePlate">
            <a:avLst>
              <a:gd name="adj" fmla="val 50000"/>
            </a:avLst>
          </a:prstGeom>
          <a:solidFill>
            <a:srgbClr val="00206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panose="020F0502020204030204"/>
                <a:ea typeface="+mn-ea"/>
                <a:cs typeface="+mn-cs"/>
              </a:rPr>
              <a:t>Handoff for FY23</a:t>
            </a:r>
          </a:p>
        </p:txBody>
      </p:sp>
      <p:sp>
        <p:nvSpPr>
          <p:cNvPr id="23" name="Arrow: Pentagon 22">
            <a:extLst>
              <a:ext uri="{FF2B5EF4-FFF2-40B4-BE49-F238E27FC236}">
                <a16:creationId xmlns:a16="http://schemas.microsoft.com/office/drawing/2014/main" id="{4094C0ED-188D-4EFE-98D5-71EE04C477B6}"/>
              </a:ext>
            </a:extLst>
          </p:cNvPr>
          <p:cNvSpPr/>
          <p:nvPr/>
        </p:nvSpPr>
        <p:spPr>
          <a:xfrm>
            <a:off x="8158287" y="1398965"/>
            <a:ext cx="2111585" cy="273341"/>
          </a:xfrm>
          <a:prstGeom prst="homePlate">
            <a:avLst>
              <a:gd name="adj" fmla="val 50000"/>
            </a:avLst>
          </a:prstGeom>
          <a:solidFill>
            <a:srgbClr val="00206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rPr>
              <a:t>Design III – Communications</a:t>
            </a:r>
          </a:p>
        </p:txBody>
      </p:sp>
      <p:sp>
        <p:nvSpPr>
          <p:cNvPr id="22" name="Arrow: Pentagon 21">
            <a:extLst>
              <a:ext uri="{FF2B5EF4-FFF2-40B4-BE49-F238E27FC236}">
                <a16:creationId xmlns:a16="http://schemas.microsoft.com/office/drawing/2014/main" id="{C63B7A57-C446-4D24-8A2C-873A705E0CDA}"/>
              </a:ext>
            </a:extLst>
          </p:cNvPr>
          <p:cNvSpPr/>
          <p:nvPr/>
        </p:nvSpPr>
        <p:spPr>
          <a:xfrm>
            <a:off x="6174135" y="1407301"/>
            <a:ext cx="2111585" cy="273341"/>
          </a:xfrm>
          <a:prstGeom prst="homePlate">
            <a:avLst>
              <a:gd name="adj" fmla="val 50000"/>
            </a:avLst>
          </a:prstGeom>
          <a:solidFill>
            <a:srgbClr val="00206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rPr>
              <a:t>    Design II – Reallocation</a:t>
            </a:r>
          </a:p>
        </p:txBody>
      </p:sp>
      <p:sp>
        <p:nvSpPr>
          <p:cNvPr id="16" name="Arrow: Pentagon 15">
            <a:extLst>
              <a:ext uri="{FF2B5EF4-FFF2-40B4-BE49-F238E27FC236}">
                <a16:creationId xmlns:a16="http://schemas.microsoft.com/office/drawing/2014/main" id="{1D2D77B0-A2B6-456C-AE51-9CA09A6BBCA1}"/>
              </a:ext>
            </a:extLst>
          </p:cNvPr>
          <p:cNvSpPr/>
          <p:nvPr/>
        </p:nvSpPr>
        <p:spPr>
          <a:xfrm>
            <a:off x="4240260" y="1407302"/>
            <a:ext cx="2111585" cy="273341"/>
          </a:xfrm>
          <a:prstGeom prst="homePlate">
            <a:avLst>
              <a:gd name="adj" fmla="val 50000"/>
            </a:avLst>
          </a:prstGeom>
          <a:solidFill>
            <a:schemeClr val="bg1">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panose="020F0502020204030204"/>
                <a:ea typeface="+mn-ea"/>
                <a:cs typeface="+mn-cs"/>
              </a:rPr>
              <a:t>Design I – Trainings</a:t>
            </a:r>
          </a:p>
        </p:txBody>
      </p:sp>
      <p:sp>
        <p:nvSpPr>
          <p:cNvPr id="17" name="Arrow: Pentagon 16">
            <a:extLst>
              <a:ext uri="{FF2B5EF4-FFF2-40B4-BE49-F238E27FC236}">
                <a16:creationId xmlns:a16="http://schemas.microsoft.com/office/drawing/2014/main" id="{1C256CAC-20AD-4500-886F-9305785D91F1}"/>
              </a:ext>
            </a:extLst>
          </p:cNvPr>
          <p:cNvSpPr/>
          <p:nvPr/>
        </p:nvSpPr>
        <p:spPr>
          <a:xfrm>
            <a:off x="2340339" y="1407303"/>
            <a:ext cx="2111585" cy="273341"/>
          </a:xfrm>
          <a:prstGeom prst="homePlate">
            <a:avLst>
              <a:gd name="adj" fmla="val 50000"/>
            </a:avLst>
          </a:prstGeom>
          <a:solidFill>
            <a:schemeClr val="bg1">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panose="020F0502020204030204"/>
                <a:ea typeface="+mn-ea"/>
                <a:cs typeface="+mn-cs"/>
              </a:rPr>
              <a:t>Discovery</a:t>
            </a:r>
          </a:p>
        </p:txBody>
      </p:sp>
      <p:sp>
        <p:nvSpPr>
          <p:cNvPr id="18" name="Arrow: Pentagon 17">
            <a:extLst>
              <a:ext uri="{FF2B5EF4-FFF2-40B4-BE49-F238E27FC236}">
                <a16:creationId xmlns:a16="http://schemas.microsoft.com/office/drawing/2014/main" id="{F0FF4717-315D-4719-9697-BA06745709D0}"/>
              </a:ext>
            </a:extLst>
          </p:cNvPr>
          <p:cNvSpPr/>
          <p:nvPr/>
        </p:nvSpPr>
        <p:spPr>
          <a:xfrm>
            <a:off x="455054" y="1407303"/>
            <a:ext cx="2069857" cy="273341"/>
          </a:xfrm>
          <a:prstGeom prst="homePlate">
            <a:avLst>
              <a:gd name="adj" fmla="val 50000"/>
            </a:avLst>
          </a:prstGeom>
          <a:solidFill>
            <a:schemeClr val="bg1">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panose="020F0502020204030204"/>
                <a:ea typeface="+mn-ea"/>
                <a:cs typeface="+mn-cs"/>
              </a:rPr>
              <a:t>Roadmap</a:t>
            </a:r>
          </a:p>
        </p:txBody>
      </p:sp>
      <p:sp>
        <p:nvSpPr>
          <p:cNvPr id="26" name="Rectangle 25">
            <a:extLst>
              <a:ext uri="{FF2B5EF4-FFF2-40B4-BE49-F238E27FC236}">
                <a16:creationId xmlns:a16="http://schemas.microsoft.com/office/drawing/2014/main" id="{B9696CE0-5F93-4E28-AF8B-A7F13F98DCFB}"/>
              </a:ext>
            </a:extLst>
          </p:cNvPr>
          <p:cNvSpPr/>
          <p:nvPr/>
        </p:nvSpPr>
        <p:spPr>
          <a:xfrm>
            <a:off x="10190354" y="879685"/>
            <a:ext cx="1891704"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prstClr val="black"/>
                </a:solidFill>
                <a:effectLst/>
                <a:uLnTx/>
                <a:uFillTx/>
                <a:latin typeface="Calibri" panose="020F0502020204030204"/>
                <a:ea typeface="+mn-ea"/>
                <a:cs typeface="+mn-cs"/>
              </a:rPr>
              <a:t>Aug - Sep</a:t>
            </a:r>
          </a:p>
        </p:txBody>
      </p:sp>
      <p:sp>
        <p:nvSpPr>
          <p:cNvPr id="27" name="Rectangle 26">
            <a:extLst>
              <a:ext uri="{FF2B5EF4-FFF2-40B4-BE49-F238E27FC236}">
                <a16:creationId xmlns:a16="http://schemas.microsoft.com/office/drawing/2014/main" id="{24BE5D9C-1BF8-4F54-AAAD-21FBFAE50E14}"/>
              </a:ext>
            </a:extLst>
          </p:cNvPr>
          <p:cNvSpPr/>
          <p:nvPr/>
        </p:nvSpPr>
        <p:spPr>
          <a:xfrm>
            <a:off x="6328308" y="879685"/>
            <a:ext cx="1736669"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prstClr val="black"/>
                </a:solidFill>
                <a:effectLst/>
                <a:uLnTx/>
                <a:uFillTx/>
                <a:latin typeface="Calibri" panose="020F0502020204030204"/>
                <a:ea typeface="+mn-ea"/>
                <a:cs typeface="+mn-cs"/>
              </a:rPr>
              <a:t>Apr – July 15</a:t>
            </a:r>
          </a:p>
        </p:txBody>
      </p:sp>
      <p:sp>
        <p:nvSpPr>
          <p:cNvPr id="28" name="Rectangle 27">
            <a:extLst>
              <a:ext uri="{FF2B5EF4-FFF2-40B4-BE49-F238E27FC236}">
                <a16:creationId xmlns:a16="http://schemas.microsoft.com/office/drawing/2014/main" id="{D1839419-9154-423C-A822-4E4F642D5550}"/>
              </a:ext>
            </a:extLst>
          </p:cNvPr>
          <p:cNvSpPr/>
          <p:nvPr/>
        </p:nvSpPr>
        <p:spPr>
          <a:xfrm>
            <a:off x="8215468" y="880602"/>
            <a:ext cx="1891704"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prstClr val="black"/>
                </a:solidFill>
                <a:effectLst/>
                <a:uLnTx/>
                <a:uFillTx/>
                <a:latin typeface="Calibri" panose="020F0502020204030204"/>
                <a:ea typeface="+mn-ea"/>
                <a:cs typeface="+mn-cs"/>
              </a:rPr>
              <a:t>July 16 – Aug 26</a:t>
            </a:r>
          </a:p>
        </p:txBody>
      </p:sp>
      <p:sp>
        <p:nvSpPr>
          <p:cNvPr id="29" name="Arrow: Pentagon 28">
            <a:extLst>
              <a:ext uri="{FF2B5EF4-FFF2-40B4-BE49-F238E27FC236}">
                <a16:creationId xmlns:a16="http://schemas.microsoft.com/office/drawing/2014/main" id="{6108102D-2612-4E30-9043-1B44FB6EFAF3}"/>
              </a:ext>
            </a:extLst>
          </p:cNvPr>
          <p:cNvSpPr/>
          <p:nvPr/>
        </p:nvSpPr>
        <p:spPr>
          <a:xfrm>
            <a:off x="455054" y="1152459"/>
            <a:ext cx="3990163" cy="273341"/>
          </a:xfrm>
          <a:prstGeom prst="homePlate">
            <a:avLst>
              <a:gd name="adj" fmla="val 50000"/>
            </a:avLst>
          </a:prstGeom>
          <a:solidFill>
            <a:schemeClr val="bg1">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panose="020F0502020204030204"/>
                <a:ea typeface="+mn-ea"/>
                <a:cs typeface="+mn-cs"/>
              </a:rPr>
              <a:t>Phase 1 – Discovery &amp; Standup</a:t>
            </a:r>
          </a:p>
        </p:txBody>
      </p:sp>
      <p:sp>
        <p:nvSpPr>
          <p:cNvPr id="7" name="TextBox 6">
            <a:extLst>
              <a:ext uri="{FF2B5EF4-FFF2-40B4-BE49-F238E27FC236}">
                <a16:creationId xmlns:a16="http://schemas.microsoft.com/office/drawing/2014/main" id="{ABF49D05-A0C7-40B0-B448-605ACA66E82E}"/>
              </a:ext>
            </a:extLst>
          </p:cNvPr>
          <p:cNvSpPr txBox="1"/>
          <p:nvPr/>
        </p:nvSpPr>
        <p:spPr>
          <a:xfrm>
            <a:off x="9722781" y="136525"/>
            <a:ext cx="2363056" cy="577081"/>
          </a:xfrm>
          <a:prstGeom prst="rect">
            <a:avLst/>
          </a:prstGeom>
          <a:solidFill>
            <a:schemeClr val="bg1"/>
          </a:solidFill>
          <a:ln>
            <a:noFill/>
          </a:ln>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E7E6E6">
                    <a:lumMod val="75000"/>
                  </a:srgbClr>
                </a:solidFill>
                <a:effectLst/>
                <a:uLnTx/>
                <a:uFillTx/>
                <a:latin typeface="Calibri" panose="020F0502020204030204"/>
                <a:ea typeface="+mn-ea"/>
                <a:cs typeface="+mn-cs"/>
              </a:rPr>
              <a:t>Already complete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1" i="0" u="none" strike="noStrike" kern="1200" cap="none" spc="0" normalizeH="0" baseline="0" noProof="0">
                <a:ln>
                  <a:noFill/>
                </a:ln>
                <a:solidFill>
                  <a:prstClr val="black"/>
                </a:solidFill>
                <a:effectLst/>
                <a:uLnTx/>
                <a:uFillTx/>
                <a:latin typeface="Calibri" panose="020F0502020204030204"/>
                <a:ea typeface="+mn-ea"/>
                <a:cs typeface="+mn-cs"/>
              </a:rPr>
              <a:t>In progress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70AD47"/>
                </a:solidFill>
                <a:effectLst/>
                <a:uLnTx/>
                <a:uFillTx/>
                <a:latin typeface="Calibri" panose="020F0502020204030204"/>
                <a:ea typeface="+mn-ea"/>
                <a:cs typeface="+mn-cs"/>
              </a:rPr>
              <a:t>Not yet started</a:t>
            </a:r>
          </a:p>
        </p:txBody>
      </p:sp>
      <p:sp>
        <p:nvSpPr>
          <p:cNvPr id="24" name="Rectangle 23">
            <a:extLst>
              <a:ext uri="{FF2B5EF4-FFF2-40B4-BE49-F238E27FC236}">
                <a16:creationId xmlns:a16="http://schemas.microsoft.com/office/drawing/2014/main" id="{C83476CA-C3A2-A34F-A1AD-0D9C3C20B42F}"/>
              </a:ext>
            </a:extLst>
          </p:cNvPr>
          <p:cNvSpPr/>
          <p:nvPr/>
        </p:nvSpPr>
        <p:spPr>
          <a:xfrm>
            <a:off x="4125924" y="6389868"/>
            <a:ext cx="3975316" cy="42561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 Superscripts reflect relevant Initiative Objectives</a:t>
            </a:r>
          </a:p>
        </p:txBody>
      </p:sp>
      <p:sp>
        <p:nvSpPr>
          <p:cNvPr id="25" name="Slide Number Placeholder 2">
            <a:extLst>
              <a:ext uri="{FF2B5EF4-FFF2-40B4-BE49-F238E27FC236}">
                <a16:creationId xmlns:a16="http://schemas.microsoft.com/office/drawing/2014/main" id="{6BD4D39F-B7FE-722C-AD6A-6D0A7B0F2C16}"/>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448365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E41EF-2466-4387-8922-72CB98C23371}"/>
              </a:ext>
            </a:extLst>
          </p:cNvPr>
          <p:cNvSpPr>
            <a:spLocks noGrp="1"/>
          </p:cNvSpPr>
          <p:nvPr>
            <p:ph type="title"/>
          </p:nvPr>
        </p:nvSpPr>
        <p:spPr>
          <a:xfrm>
            <a:off x="285750" y="166264"/>
            <a:ext cx="11753850" cy="618385"/>
          </a:xfrm>
        </p:spPr>
        <p:txBody>
          <a:bodyPr/>
          <a:lstStyle/>
          <a:p>
            <a:r>
              <a:rPr lang="en-US" sz="2800" dirty="0"/>
              <a:t>Finance Initiative Objectives: Status as of August 2022</a:t>
            </a:r>
          </a:p>
        </p:txBody>
      </p:sp>
      <p:graphicFrame>
        <p:nvGraphicFramePr>
          <p:cNvPr id="5" name="Table 4">
            <a:extLst>
              <a:ext uri="{FF2B5EF4-FFF2-40B4-BE49-F238E27FC236}">
                <a16:creationId xmlns:a16="http://schemas.microsoft.com/office/drawing/2014/main" id="{D80F7DB3-06FF-453C-9A9B-975574E7E490}"/>
              </a:ext>
            </a:extLst>
          </p:cNvPr>
          <p:cNvGraphicFramePr>
            <a:graphicFrameLocks noGrp="1"/>
          </p:cNvGraphicFramePr>
          <p:nvPr/>
        </p:nvGraphicFramePr>
        <p:xfrm>
          <a:off x="91790" y="1714363"/>
          <a:ext cx="11991513" cy="4401724"/>
        </p:xfrm>
        <a:graphic>
          <a:graphicData uri="http://schemas.openxmlformats.org/drawingml/2006/table">
            <a:tbl>
              <a:tblPr firstRow="1">
                <a:tableStyleId>{5C22544A-7EE6-4342-B048-85BDC9FD1C3A}</a:tableStyleId>
              </a:tblPr>
              <a:tblGrid>
                <a:gridCol w="5029044">
                  <a:extLst>
                    <a:ext uri="{9D8B030D-6E8A-4147-A177-3AD203B41FA5}">
                      <a16:colId xmlns:a16="http://schemas.microsoft.com/office/drawing/2014/main" val="1315374041"/>
                    </a:ext>
                  </a:extLst>
                </a:gridCol>
                <a:gridCol w="6962469">
                  <a:extLst>
                    <a:ext uri="{9D8B030D-6E8A-4147-A177-3AD203B41FA5}">
                      <a16:colId xmlns:a16="http://schemas.microsoft.com/office/drawing/2014/main" val="1716846749"/>
                    </a:ext>
                  </a:extLst>
                </a:gridCol>
              </a:tblGrid>
              <a:tr h="331048">
                <a:tc>
                  <a:txBody>
                    <a:bodyPr/>
                    <a:lstStyle/>
                    <a:p>
                      <a:pPr algn="ctr"/>
                      <a:r>
                        <a:rPr lang="en-US" sz="1600"/>
                        <a:t>Objective </a:t>
                      </a:r>
                    </a:p>
                  </a:txBody>
                  <a:tcPr/>
                </a:tc>
                <a:tc>
                  <a:txBody>
                    <a:bodyPr/>
                    <a:lstStyle/>
                    <a:p>
                      <a:pPr algn="ctr"/>
                      <a:r>
                        <a:rPr lang="en-US" sz="1600" dirty="0"/>
                        <a:t>Status</a:t>
                      </a:r>
                    </a:p>
                  </a:txBody>
                  <a:tcPr/>
                </a:tc>
                <a:extLst>
                  <a:ext uri="{0D108BD9-81ED-4DB2-BD59-A6C34878D82A}">
                    <a16:rowId xmlns:a16="http://schemas.microsoft.com/office/drawing/2014/main" val="3391206244"/>
                  </a:ext>
                </a:extLst>
              </a:tr>
              <a:tr h="9931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mn-lt"/>
                          <a:ea typeface="+mn-ea"/>
                          <a:cs typeface="+mn-cs"/>
                        </a:rPr>
                        <a:t>1. Improve station-level monitoring and tracking of project obligations, expenditures, and unobligated balances</a:t>
                      </a:r>
                      <a:endParaRPr lang="en-US" sz="1200" b="1"/>
                    </a:p>
                  </a:txBody>
                  <a:tcPr anchor="ctr"/>
                </a:tc>
                <a:tc>
                  <a:txBody>
                    <a:bodyPr/>
                    <a:lstStyle/>
                    <a:p>
                      <a:pPr marL="285750" indent="-285750">
                        <a:buFont typeface="Arial" panose="020B0604020202020204" pitchFamily="34" charset="0"/>
                        <a:buChar char="•"/>
                      </a:pPr>
                      <a:r>
                        <a:rPr lang="en-US" sz="1200" dirty="0"/>
                        <a:t>Addressed directly through ongoing trainings, kicked off April 26 to continue through FY23</a:t>
                      </a:r>
                    </a:p>
                    <a:p>
                      <a:pPr marL="285750" indent="-285750">
                        <a:buFont typeface="Arial" panose="020B0604020202020204" pitchFamily="34" charset="0"/>
                        <a:buChar char="•"/>
                      </a:pPr>
                      <a:r>
                        <a:rPr lang="en-US" sz="1200" dirty="0"/>
                        <a:t>Completed 4 trainings with 77% audience satisfaction and good feedback as of July 25th</a:t>
                      </a:r>
                    </a:p>
                    <a:p>
                      <a:pPr marL="285750" indent="-285750">
                        <a:buFont typeface="Arial" panose="020B0604020202020204" pitchFamily="34" charset="0"/>
                        <a:buChar char="•"/>
                      </a:pPr>
                      <a:r>
                        <a:rPr lang="en-US" sz="1200" dirty="0"/>
                        <a:t>Developed a thematic quarterly and monthly training plan based on field survey results for FY 23</a:t>
                      </a:r>
                    </a:p>
                    <a:p>
                      <a:pPr marL="285750" indent="-285750">
                        <a:buFont typeface="Arial" panose="020B0604020202020204" pitchFamily="34" charset="0"/>
                        <a:buChar char="•"/>
                      </a:pPr>
                      <a:r>
                        <a:rPr lang="en-US" sz="1200" dirty="0"/>
                        <a:t>Developing Best Practice resources for delivery by end of FY 22 (quick-wins) and provide more best practices throughout FY 23</a:t>
                      </a:r>
                    </a:p>
                  </a:txBody>
                  <a:tcPr anchor="ctr"/>
                </a:tc>
                <a:extLst>
                  <a:ext uri="{0D108BD9-81ED-4DB2-BD59-A6C34878D82A}">
                    <a16:rowId xmlns:a16="http://schemas.microsoft.com/office/drawing/2014/main" val="4068531038"/>
                  </a:ext>
                </a:extLst>
              </a:tr>
              <a:tr h="957484">
                <a:tc>
                  <a:txBody>
                    <a:bodyPr/>
                    <a:lstStyle/>
                    <a:p>
                      <a:r>
                        <a:rPr lang="en-US" sz="1200" b="1" dirty="0"/>
                        <a:t>2. Develop policies and procedures to obligate Prior Year funding by January each Fiscal Year</a:t>
                      </a:r>
                    </a:p>
                  </a:txBody>
                  <a:tcPr anchor="ctr"/>
                </a:tc>
                <a:tc>
                  <a:txBody>
                    <a:bodyPr/>
                    <a:lstStyle/>
                    <a:p>
                      <a:pPr marL="285750" indent="-285750">
                        <a:buFont typeface="Arial" panose="020B0604020202020204" pitchFamily="34" charset="0"/>
                        <a:buChar char="•"/>
                      </a:pPr>
                      <a:r>
                        <a:rPr lang="en-US" sz="1200" dirty="0"/>
                        <a:t>Draft policies for field implementation in FY 2023</a:t>
                      </a:r>
                    </a:p>
                    <a:p>
                      <a:pPr marL="285750" indent="-285750">
                        <a:buFont typeface="Arial" panose="020B0604020202020204" pitchFamily="34" charset="0"/>
                        <a:buChar char="•"/>
                      </a:pPr>
                      <a:r>
                        <a:rPr lang="en-US" sz="1200" dirty="0"/>
                        <a:t>Develop policy on 4% Carryover</a:t>
                      </a:r>
                    </a:p>
                    <a:p>
                      <a:pPr marL="285750" indent="-285750">
                        <a:buFont typeface="Arial" panose="020B0604020202020204" pitchFamily="34" charset="0"/>
                        <a:buChar char="•"/>
                      </a:pPr>
                      <a:r>
                        <a:rPr lang="en-US" sz="1200" dirty="0"/>
                        <a:t>Monthly training and best practices will also support this objective</a:t>
                      </a:r>
                    </a:p>
                  </a:txBody>
                  <a:tcPr anchor="ctr"/>
                </a:tc>
                <a:extLst>
                  <a:ext uri="{0D108BD9-81ED-4DB2-BD59-A6C34878D82A}">
                    <a16:rowId xmlns:a16="http://schemas.microsoft.com/office/drawing/2014/main" val="4246125979"/>
                  </a:ext>
                </a:extLst>
              </a:tr>
              <a:tr h="635373">
                <a:tc>
                  <a:txBody>
                    <a:bodyPr/>
                    <a:lstStyle/>
                    <a:p>
                      <a:r>
                        <a:rPr lang="en-US" sz="1200" b="1" dirty="0"/>
                        <a:t>3. Develop processes, mechanisms, and policies to identify and reallocate funding</a:t>
                      </a:r>
                    </a:p>
                  </a:txBody>
                  <a:tcPr anchor="ctr">
                    <a:solidFill>
                      <a:schemeClr val="accent5">
                        <a:lumMod val="40000"/>
                        <a:lumOff val="60000"/>
                      </a:schemeClr>
                    </a:solidFill>
                  </a:tcPr>
                </a:tc>
                <a:tc>
                  <a:txBody>
                    <a:bodyPr/>
                    <a:lstStyle/>
                    <a:p>
                      <a:pPr marL="285750" indent="-285750">
                        <a:buFont typeface="Arial" panose="020B0604020202020204" pitchFamily="34" charset="0"/>
                        <a:buChar char="•"/>
                      </a:pPr>
                      <a:r>
                        <a:rPr lang="en-US" sz="1200" dirty="0"/>
                        <a:t>Being addressed through quarterly RAFT reports, standardizing the procedures for PMO, RAFT and Pull Backs in Q3 and Q4.</a:t>
                      </a:r>
                    </a:p>
                    <a:p>
                      <a:pPr marL="285750" indent="-285750">
                        <a:buFont typeface="Arial" panose="020B0604020202020204" pitchFamily="34" charset="0"/>
                        <a:buChar char="•"/>
                      </a:pPr>
                      <a:r>
                        <a:rPr lang="en-US" sz="1200" dirty="0"/>
                        <a:t>More Development needed in FY 23</a:t>
                      </a:r>
                    </a:p>
                  </a:txBody>
                  <a:tcPr anchor="ctr">
                    <a:solidFill>
                      <a:schemeClr val="accent5">
                        <a:lumMod val="40000"/>
                        <a:lumOff val="60000"/>
                      </a:schemeClr>
                    </a:solidFill>
                  </a:tcPr>
                </a:tc>
                <a:extLst>
                  <a:ext uri="{0D108BD9-81ED-4DB2-BD59-A6C34878D82A}">
                    <a16:rowId xmlns:a16="http://schemas.microsoft.com/office/drawing/2014/main" val="1658406102"/>
                  </a:ext>
                </a:extLst>
              </a:tr>
              <a:tr h="820690">
                <a:tc>
                  <a:txBody>
                    <a:bodyPr/>
                    <a:lstStyle/>
                    <a:p>
                      <a:r>
                        <a:rPr lang="en-US" sz="1200" b="1" dirty="0"/>
                        <a:t>4. Establish reallocation criteria to inform recommendations to Service Directors and CORE</a:t>
                      </a:r>
                    </a:p>
                  </a:txBody>
                  <a:tcPr anchor="ctr">
                    <a:solidFill>
                      <a:schemeClr val="accent5">
                        <a:lumMod val="40000"/>
                        <a:lumOff val="60000"/>
                      </a:schemeClr>
                    </a:solidFill>
                  </a:tcPr>
                </a:tc>
                <a:tc>
                  <a:txBody>
                    <a:bodyPr/>
                    <a:lstStyle/>
                    <a:p>
                      <a:pPr marL="285750" indent="-285750">
                        <a:buFont typeface="Arial" panose="020B0604020202020204" pitchFamily="34" charset="0"/>
                        <a:buChar char="•"/>
                      </a:pPr>
                      <a:r>
                        <a:rPr lang="en-US" sz="1200" dirty="0"/>
                        <a:t>Being addressed through quarterly RAFT reports</a:t>
                      </a:r>
                    </a:p>
                    <a:p>
                      <a:pPr marL="285750" indent="-285750">
                        <a:buFont typeface="Arial" panose="020B0604020202020204" pitchFamily="34" charset="0"/>
                        <a:buChar char="•"/>
                      </a:pPr>
                      <a:r>
                        <a:rPr lang="en-US" sz="1200" dirty="0"/>
                        <a:t>New UFR/SFR process pilots some practices for  reallocation of funding at enterprise level</a:t>
                      </a:r>
                    </a:p>
                    <a:p>
                      <a:pPr marL="285750" indent="-285750">
                        <a:buFont typeface="Arial" panose="020B0604020202020204" pitchFamily="34" charset="0"/>
                        <a:buChar char="•"/>
                      </a:pPr>
                      <a:r>
                        <a:rPr lang="en-US" sz="1200" dirty="0"/>
                        <a:t>Established criteria for reallocation of funds and drafted Score Card for proposal review</a:t>
                      </a:r>
                    </a:p>
                    <a:p>
                      <a:pPr marL="285750" indent="-285750">
                        <a:buFont typeface="Arial" panose="020B0604020202020204" pitchFamily="34" charset="0"/>
                        <a:buChar char="•"/>
                      </a:pPr>
                      <a:r>
                        <a:rPr lang="en-US" sz="1200" dirty="0"/>
                        <a:t>More Development needed in FY 23</a:t>
                      </a:r>
                    </a:p>
                  </a:txBody>
                  <a:tcPr anchor="ctr">
                    <a:solidFill>
                      <a:schemeClr val="accent5">
                        <a:lumMod val="40000"/>
                        <a:lumOff val="60000"/>
                      </a:schemeClr>
                    </a:solidFill>
                  </a:tcPr>
                </a:tc>
                <a:extLst>
                  <a:ext uri="{0D108BD9-81ED-4DB2-BD59-A6C34878D82A}">
                    <a16:rowId xmlns:a16="http://schemas.microsoft.com/office/drawing/2014/main" val="4151847386"/>
                  </a:ext>
                </a:extLst>
              </a:tr>
              <a:tr h="635373">
                <a:tc>
                  <a:txBody>
                    <a:bodyPr/>
                    <a:lstStyle/>
                    <a:p>
                      <a:r>
                        <a:rPr lang="en-US" sz="1200" b="1"/>
                        <a:t>5. Establish clear lines of communication with key field stakeholders to ensure buy-in, understanding, and compliance</a:t>
                      </a:r>
                    </a:p>
                  </a:txBody>
                  <a:tcPr anchor="ctr"/>
                </a:tc>
                <a:tc>
                  <a:txBody>
                    <a:bodyPr/>
                    <a:lstStyle/>
                    <a:p>
                      <a:pPr marL="285750" indent="-285750">
                        <a:buFont typeface="Arial" panose="020B0604020202020204" pitchFamily="34" charset="0"/>
                        <a:buChar char="•"/>
                      </a:pPr>
                      <a:r>
                        <a:rPr lang="en-US" sz="1200" dirty="0"/>
                        <a:t>Addressed directly through ongoing trainings</a:t>
                      </a:r>
                    </a:p>
                    <a:p>
                      <a:pPr marL="285750" indent="-285750">
                        <a:buFont typeface="Arial" panose="020B0604020202020204" pitchFamily="34" charset="0"/>
                        <a:buChar char="•"/>
                      </a:pPr>
                      <a:r>
                        <a:rPr lang="en-US" sz="1200" dirty="0"/>
                        <a:t>Further addressed through Initiative communications plan, centralized landing page</a:t>
                      </a:r>
                    </a:p>
                    <a:p>
                      <a:pPr marL="285750" indent="-285750">
                        <a:buFont typeface="Arial" panose="020B0604020202020204" pitchFamily="34" charset="0"/>
                        <a:buChar char="•"/>
                      </a:pPr>
                      <a:r>
                        <a:rPr lang="en-US" sz="1200" dirty="0"/>
                        <a:t>Establishing a single end point-mail box for field questions and feedback </a:t>
                      </a:r>
                    </a:p>
                  </a:txBody>
                  <a:tcPr anchor="ctr"/>
                </a:tc>
                <a:extLst>
                  <a:ext uri="{0D108BD9-81ED-4DB2-BD59-A6C34878D82A}">
                    <a16:rowId xmlns:a16="http://schemas.microsoft.com/office/drawing/2014/main" val="223173508"/>
                  </a:ext>
                </a:extLst>
              </a:tr>
            </a:tbl>
          </a:graphicData>
        </a:graphic>
      </p:graphicFrame>
      <p:sp>
        <p:nvSpPr>
          <p:cNvPr id="8" name="TextBox 7">
            <a:extLst>
              <a:ext uri="{FF2B5EF4-FFF2-40B4-BE49-F238E27FC236}">
                <a16:creationId xmlns:a16="http://schemas.microsoft.com/office/drawing/2014/main" id="{CFEA82FC-74B8-482C-86D2-898F7D0898FA}"/>
              </a:ext>
            </a:extLst>
          </p:cNvPr>
          <p:cNvSpPr txBox="1"/>
          <p:nvPr/>
        </p:nvSpPr>
        <p:spPr>
          <a:xfrm>
            <a:off x="285750" y="855643"/>
            <a:ext cx="11603595"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Objectives 1, 2, and 5 will be addressed in the short term through monthly trainings, which will continue into FY23</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Objectives 3 and 4 (in blue) require a foundation of  field training (monthly trainings and best practices) to be fully successful. </a:t>
            </a:r>
          </a:p>
        </p:txBody>
      </p:sp>
      <p:sp>
        <p:nvSpPr>
          <p:cNvPr id="6" name="Slide Number Placeholder 2">
            <a:extLst>
              <a:ext uri="{FF2B5EF4-FFF2-40B4-BE49-F238E27FC236}">
                <a16:creationId xmlns:a16="http://schemas.microsoft.com/office/drawing/2014/main" id="{6B3E4310-EB6F-7BB3-F9D2-FC3C66C57B0A}"/>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559025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312732-C7CE-47D3-A994-5C9DAF8F6542}"/>
              </a:ext>
            </a:extLst>
          </p:cNvPr>
          <p:cNvSpPr>
            <a:spLocks noGrp="1"/>
          </p:cNvSpPr>
          <p:nvPr>
            <p:ph type="title"/>
          </p:nvPr>
        </p:nvSpPr>
        <p:spPr/>
        <p:txBody>
          <a:bodyPr/>
          <a:lstStyle/>
          <a:p>
            <a:r>
              <a:rPr lang="en-US" dirty="0">
                <a:solidFill>
                  <a:schemeClr val="tx1"/>
                </a:solidFill>
              </a:rPr>
              <a:t>Appendix: </a:t>
            </a:r>
            <a:br>
              <a:rPr lang="en-US" dirty="0">
                <a:solidFill>
                  <a:schemeClr val="tx1"/>
                </a:solidFill>
              </a:rPr>
            </a:br>
            <a:r>
              <a:rPr lang="en-US" dirty="0">
                <a:solidFill>
                  <a:schemeClr val="tx1"/>
                </a:solidFill>
              </a:rPr>
              <a:t>STEAM Roadmap</a:t>
            </a:r>
            <a:br>
              <a:rPr lang="en-US" dirty="0">
                <a:solidFill>
                  <a:schemeClr val="tx1"/>
                </a:solidFill>
              </a:rPr>
            </a:br>
            <a:endParaRPr lang="en-US" dirty="0">
              <a:solidFill>
                <a:schemeClr val="tx1"/>
              </a:solidFill>
            </a:endParaRPr>
          </a:p>
        </p:txBody>
      </p:sp>
      <p:sp>
        <p:nvSpPr>
          <p:cNvPr id="6" name="Slide Number Placeholder 2">
            <a:extLst>
              <a:ext uri="{FF2B5EF4-FFF2-40B4-BE49-F238E27FC236}">
                <a16:creationId xmlns:a16="http://schemas.microsoft.com/office/drawing/2014/main" id="{348A4DB6-213A-EF35-FF18-1097643D6169}"/>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3396572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084AACB4-9DD1-4831-BBB1-1E89585DA2F0}"/>
              </a:ext>
            </a:extLst>
          </p:cNvPr>
          <p:cNvGraphicFramePr>
            <a:graphicFrameLocks noGrp="1"/>
          </p:cNvGraphicFramePr>
          <p:nvPr/>
        </p:nvGraphicFramePr>
        <p:xfrm>
          <a:off x="224924" y="923655"/>
          <a:ext cx="11742151" cy="4227461"/>
        </p:xfrm>
        <a:graphic>
          <a:graphicData uri="http://schemas.openxmlformats.org/drawingml/2006/table">
            <a:tbl>
              <a:tblPr firstRow="1" bandRow="1">
                <a:tableStyleId>{5C22544A-7EE6-4342-B048-85BDC9FD1C3A}</a:tableStyleId>
              </a:tblPr>
              <a:tblGrid>
                <a:gridCol w="416243">
                  <a:extLst>
                    <a:ext uri="{9D8B030D-6E8A-4147-A177-3AD203B41FA5}">
                      <a16:colId xmlns:a16="http://schemas.microsoft.com/office/drawing/2014/main" val="165306633"/>
                    </a:ext>
                  </a:extLst>
                </a:gridCol>
                <a:gridCol w="2831477">
                  <a:extLst>
                    <a:ext uri="{9D8B030D-6E8A-4147-A177-3AD203B41FA5}">
                      <a16:colId xmlns:a16="http://schemas.microsoft.com/office/drawing/2014/main" val="2435354250"/>
                    </a:ext>
                  </a:extLst>
                </a:gridCol>
                <a:gridCol w="2831477">
                  <a:extLst>
                    <a:ext uri="{9D8B030D-6E8A-4147-A177-3AD203B41FA5}">
                      <a16:colId xmlns:a16="http://schemas.microsoft.com/office/drawing/2014/main" val="345243578"/>
                    </a:ext>
                  </a:extLst>
                </a:gridCol>
                <a:gridCol w="2831477">
                  <a:extLst>
                    <a:ext uri="{9D8B030D-6E8A-4147-A177-3AD203B41FA5}">
                      <a16:colId xmlns:a16="http://schemas.microsoft.com/office/drawing/2014/main" val="208525038"/>
                    </a:ext>
                  </a:extLst>
                </a:gridCol>
                <a:gridCol w="2831477">
                  <a:extLst>
                    <a:ext uri="{9D8B030D-6E8A-4147-A177-3AD203B41FA5}">
                      <a16:colId xmlns:a16="http://schemas.microsoft.com/office/drawing/2014/main" val="2755749036"/>
                    </a:ext>
                  </a:extLst>
                </a:gridCol>
              </a:tblGrid>
              <a:tr h="912761">
                <a:tc>
                  <a:txBody>
                    <a:bodyPr/>
                    <a:lstStyle/>
                    <a:p>
                      <a:pPr marL="0" marR="0" lvl="1" indent="0" algn="ctr" defTabSz="914400" rtl="0" eaLnBrk="1" fontAlgn="auto" latinLnBrk="0" hangingPunct="1">
                        <a:lnSpc>
                          <a:spcPct val="100000"/>
                        </a:lnSpc>
                        <a:spcBef>
                          <a:spcPts val="0"/>
                        </a:spcBef>
                        <a:spcAft>
                          <a:spcPts val="0"/>
                        </a:spcAft>
                        <a:buClr>
                          <a:srgbClr val="4472C4"/>
                        </a:buClr>
                        <a:buSzTx/>
                        <a:buFont typeface="Wingdings" panose="05000000000000000000" pitchFamily="2" charset="2"/>
                        <a:buNone/>
                        <a:tabLst/>
                        <a:defRPr/>
                      </a:pPr>
                      <a:endParaRPr kumimoji="0" lang="en-US" sz="1200" b="1" i="0" u="none" strike="noStrike" kern="1200" cap="none" spc="0" normalizeH="0" baseline="0" noProof="0">
                        <a:ln>
                          <a:noFill/>
                        </a:ln>
                        <a:solidFill>
                          <a:prstClr val="black"/>
                        </a:solidFill>
                        <a:effectLst/>
                        <a:uLnTx/>
                        <a:uFillTx/>
                        <a:latin typeface="+mn-lt"/>
                        <a:ea typeface="+mn-ea"/>
                        <a:cs typeface="Arial" panose="020B0604020202020204" pitchFamily="34" charset="0"/>
                      </a:endParaRPr>
                    </a:p>
                  </a:txBody>
                  <a:tcPr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endParaRPr kumimoji="0" lang="en-US" sz="1050" b="0" i="0" u="none" strike="noStrike" kern="1200" cap="none" spc="0" normalizeH="0" baseline="0" noProof="0">
                        <a:ln>
                          <a:noFill/>
                        </a:ln>
                        <a:solidFill>
                          <a:prstClr val="black"/>
                        </a:solidFill>
                        <a:effectLst/>
                        <a:uLnTx/>
                        <a:uFillTx/>
                        <a:latin typeface="+mn-lt"/>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endParaRPr kumimoji="0" lang="en-US" sz="1050" b="0" i="0" u="none" strike="noStrike" kern="1200" cap="none" spc="0" normalizeH="0" baseline="0" noProof="0">
                        <a:ln>
                          <a:noFill/>
                        </a:ln>
                        <a:solidFill>
                          <a:prstClr val="black"/>
                        </a:solidFill>
                        <a:effectLst/>
                        <a:uLnTx/>
                        <a:uFillTx/>
                        <a:latin typeface="+mn-lt"/>
                        <a:ea typeface="+mn-ea"/>
                        <a:cs typeface="Arial" panose="020B0604020202020204" pitchFamily="34" charset="0"/>
                      </a:endParaRPr>
                    </a:p>
                  </a:txBody>
                  <a:tcPr>
                    <a:lnL w="12700" cap="flat" cmpd="sng" algn="ctr">
                      <a:noFill/>
                      <a:prstDash val="solid"/>
                      <a:round/>
                      <a:headEnd type="none" w="med" len="med"/>
                      <a:tailEnd type="none" w="med" len="med"/>
                    </a:lnL>
                    <a:lnR w="28575" cap="flat" cmpd="sng" algn="ctr">
                      <a:solidFill>
                        <a:srgbClr val="002F56"/>
                      </a:solidFill>
                      <a:prstDash val="sys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endParaRPr kumimoji="0" lang="en-US" sz="1050" b="0" i="0" u="none" strike="noStrike" kern="1200" cap="none" spc="0" normalizeH="0" baseline="0" noProof="0">
                        <a:ln>
                          <a:noFill/>
                        </a:ln>
                        <a:solidFill>
                          <a:prstClr val="black"/>
                        </a:solidFill>
                        <a:effectLst/>
                        <a:uLnTx/>
                        <a:uFillTx/>
                        <a:latin typeface="+mn-lt"/>
                        <a:ea typeface="+mn-ea"/>
                        <a:cs typeface="Arial" panose="020B0604020202020204" pitchFamily="34" charset="0"/>
                      </a:endParaRPr>
                    </a:p>
                  </a:txBody>
                  <a:tcPr>
                    <a:lnL w="28575" cap="flat" cmpd="sng" algn="ctr">
                      <a:solidFill>
                        <a:srgbClr val="002F56"/>
                      </a:solidFill>
                      <a:prstDash val="sysDash"/>
                      <a:round/>
                      <a:headEnd type="none" w="med" len="med"/>
                      <a:tailEnd type="none" w="med" len="med"/>
                    </a:lnL>
                    <a:lnR w="28575" cap="flat" cmpd="sng" algn="ctr">
                      <a:solidFill>
                        <a:srgbClr val="002F56"/>
                      </a:solidFill>
                      <a:prstDash val="sysDash"/>
                      <a:round/>
                      <a:headEnd type="none" w="med" len="med"/>
                      <a:tailEnd type="none" w="med" len="med"/>
                    </a:lnR>
                    <a:lnT w="28575" cap="flat" cmpd="sng" algn="ctr">
                      <a:solidFill>
                        <a:srgbClr val="002F56"/>
                      </a:solidFill>
                      <a:prstDash val="sys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endParaRPr kumimoji="0" lang="en-US" sz="1050" b="0" i="0" u="none" strike="noStrike" kern="1200" cap="none" spc="0" normalizeH="0" baseline="0" noProof="0">
                        <a:ln>
                          <a:noFill/>
                        </a:ln>
                        <a:solidFill>
                          <a:prstClr val="black"/>
                        </a:solidFill>
                        <a:effectLst/>
                        <a:uLnTx/>
                        <a:uFillTx/>
                        <a:latin typeface="+mn-lt"/>
                        <a:ea typeface="+mn-ea"/>
                        <a:cs typeface="Arial" panose="020B0604020202020204" pitchFamily="34" charset="0"/>
                      </a:endParaRPr>
                    </a:p>
                  </a:txBody>
                  <a:tcPr>
                    <a:lnL w="28575" cap="flat" cmpd="sng" algn="ctr">
                      <a:solidFill>
                        <a:srgbClr val="002F56"/>
                      </a:solidFill>
                      <a:prstDash val="sys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42039299"/>
                  </a:ext>
                </a:extLst>
              </a:tr>
              <a:tr h="759674">
                <a:tc>
                  <a:txBody>
                    <a:bodyPr/>
                    <a:lstStyle/>
                    <a:p>
                      <a:pPr marL="0" marR="0" lvl="1" indent="0" algn="ctr" defTabSz="914400" rtl="0" eaLnBrk="1" fontAlgn="auto" latinLnBrk="0" hangingPunct="1">
                        <a:lnSpc>
                          <a:spcPct val="100000"/>
                        </a:lnSpc>
                        <a:spcBef>
                          <a:spcPts val="0"/>
                        </a:spcBef>
                        <a:spcAft>
                          <a:spcPts val="0"/>
                        </a:spcAft>
                        <a:buClr>
                          <a:srgbClr val="4472C4"/>
                        </a:buClr>
                        <a:buSzTx/>
                        <a:buFont typeface="Wingdings" panose="05000000000000000000" pitchFamily="2" charset="2"/>
                        <a:buNone/>
                        <a:tabLst/>
                        <a:defRPr/>
                      </a:pPr>
                      <a:r>
                        <a:rPr kumimoji="0" lang="en-US" sz="1200" b="1" i="0" u="none" strike="noStrike" kern="1200" cap="none" spc="0" normalizeH="0" baseline="0" noProof="0">
                          <a:ln>
                            <a:noFill/>
                          </a:ln>
                          <a:solidFill>
                            <a:prstClr val="black"/>
                          </a:solidFill>
                          <a:effectLst/>
                          <a:uLnTx/>
                          <a:uFillTx/>
                          <a:latin typeface="+mn-lt"/>
                          <a:ea typeface="+mn-ea"/>
                          <a:cs typeface="Arial" panose="020B0604020202020204" pitchFamily="34" charset="0"/>
                        </a:rPr>
                        <a:t>Goals</a:t>
                      </a:r>
                    </a:p>
                  </a:txBody>
                  <a:tcPr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a:ln>
                            <a:noFill/>
                          </a:ln>
                          <a:solidFill>
                            <a:schemeClr val="tx1"/>
                          </a:solidFill>
                          <a:effectLst/>
                          <a:uLnTx/>
                          <a:uFillTx/>
                          <a:latin typeface="+mn-lt"/>
                          <a:ea typeface="+mn-ea"/>
                          <a:cs typeface="Arial" panose="020B0604020202020204" pitchFamily="34" charset="0"/>
                        </a:rPr>
                        <a:t>Establishing Vision and Mission statements</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a:ln>
                            <a:noFill/>
                          </a:ln>
                          <a:solidFill>
                            <a:schemeClr val="tx1"/>
                          </a:solidFill>
                          <a:effectLst/>
                          <a:uLnTx/>
                          <a:uFillTx/>
                          <a:latin typeface="+mn-lt"/>
                          <a:ea typeface="+mn-ea"/>
                          <a:cs typeface="Arial" panose="020B0604020202020204" pitchFamily="34" charset="0"/>
                        </a:rPr>
                        <a:t>Scoping Initiative and diagnosing the problem (problem statement)</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a:ln>
                            <a:noFill/>
                          </a:ln>
                          <a:solidFill>
                            <a:schemeClr val="tx1"/>
                          </a:solidFill>
                          <a:effectLst/>
                          <a:uLnTx/>
                          <a:uFillTx/>
                          <a:latin typeface="+mn-lt"/>
                          <a:ea typeface="+mn-ea"/>
                          <a:cs typeface="Arial" panose="020B0604020202020204" pitchFamily="34" charset="0"/>
                        </a:rPr>
                        <a:t>1:1 Interviews and Focus Groups (with Past Participants)</a:t>
                      </a:r>
                    </a:p>
                    <a:p>
                      <a:pPr marL="0" marR="0" lvl="1" indent="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None/>
                        <a:tabLst/>
                        <a:defRPr/>
                      </a:pPr>
                      <a:endParaRPr kumimoji="0" lang="en-US" sz="1050" b="0" i="0" u="none" strike="noStrike" kern="1200" cap="none" spc="0" normalizeH="0" baseline="0" noProof="0">
                        <a:ln>
                          <a:noFill/>
                        </a:ln>
                        <a:solidFill>
                          <a:prstClr val="black"/>
                        </a:solidFill>
                        <a:effectLst/>
                        <a:uLnTx/>
                        <a:uFillTx/>
                        <a:latin typeface="+mn-lt"/>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a:ln>
                            <a:noFill/>
                          </a:ln>
                          <a:solidFill>
                            <a:prstClr val="black"/>
                          </a:solidFill>
                          <a:effectLst/>
                          <a:uLnTx/>
                          <a:uFillTx/>
                          <a:latin typeface="+mn-lt"/>
                          <a:ea typeface="+mn-ea"/>
                          <a:cs typeface="Arial" panose="020B0604020202020204" pitchFamily="34" charset="0"/>
                        </a:rPr>
                        <a:t>Initiative Scoped</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a:ln>
                            <a:noFill/>
                          </a:ln>
                          <a:solidFill>
                            <a:prstClr val="black"/>
                          </a:solidFill>
                          <a:effectLst/>
                          <a:uLnTx/>
                          <a:uFillTx/>
                          <a:latin typeface="+mn-lt"/>
                          <a:ea typeface="+mn-ea"/>
                          <a:cs typeface="Arial" panose="020B0604020202020204" pitchFamily="34" charset="0"/>
                        </a:rPr>
                        <a:t>Internal VA Resources and Gaps identified</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a:ln>
                            <a:noFill/>
                          </a:ln>
                          <a:solidFill>
                            <a:prstClr val="black"/>
                          </a:solidFill>
                          <a:effectLst/>
                          <a:uLnTx/>
                          <a:uFillTx/>
                          <a:latin typeface="+mn-lt"/>
                          <a:ea typeface="+mn-ea"/>
                          <a:cs typeface="Arial" panose="020B0604020202020204" pitchFamily="34" charset="0"/>
                        </a:rPr>
                        <a:t>Data call for Interested Participants and VHA Mentors</a:t>
                      </a:r>
                    </a:p>
                  </a:txBody>
                  <a:tcPr>
                    <a:lnL w="12700" cap="flat" cmpd="sng" algn="ctr">
                      <a:noFill/>
                      <a:prstDash val="solid"/>
                      <a:round/>
                      <a:headEnd type="none" w="med" len="med"/>
                      <a:tailEnd type="none" w="med" len="med"/>
                    </a:lnL>
                    <a:lnR w="28575" cap="flat" cmpd="sng" algn="ctr">
                      <a:solidFill>
                        <a:srgbClr val="002F56"/>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a:ln>
                            <a:noFill/>
                          </a:ln>
                          <a:solidFill>
                            <a:prstClr val="black"/>
                          </a:solidFill>
                          <a:effectLst/>
                          <a:uLnTx/>
                          <a:uFillTx/>
                          <a:latin typeface="+mn-lt"/>
                          <a:ea typeface="+mn-ea"/>
                          <a:cs typeface="Arial" panose="020B0604020202020204" pitchFamily="34" charset="0"/>
                        </a:rPr>
                        <a:t>Formalization of plan, timelines, and committed resources</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a:ln>
                            <a:noFill/>
                          </a:ln>
                          <a:solidFill>
                            <a:prstClr val="black"/>
                          </a:solidFill>
                          <a:effectLst/>
                          <a:uLnTx/>
                          <a:uFillTx/>
                          <a:latin typeface="+mn-lt"/>
                          <a:ea typeface="+mn-ea"/>
                          <a:cs typeface="Arial" panose="020B0604020202020204" pitchFamily="34" charset="0"/>
                        </a:rPr>
                        <a:t>Contract awarded (if applicable)</a:t>
                      </a:r>
                    </a:p>
                    <a:p>
                      <a:pPr marL="0" marR="0" lvl="1" indent="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None/>
                        <a:tabLst/>
                        <a:defRPr/>
                      </a:pPr>
                      <a:endParaRPr kumimoji="0" lang="en-US" sz="1050" b="0" i="0" u="none" strike="noStrike" kern="1200" cap="none" spc="0" normalizeH="0" baseline="0" noProof="0">
                        <a:ln>
                          <a:noFill/>
                        </a:ln>
                        <a:solidFill>
                          <a:prstClr val="black"/>
                        </a:solidFill>
                        <a:effectLst/>
                        <a:uLnTx/>
                        <a:uFillTx/>
                        <a:latin typeface="+mn-lt"/>
                        <a:ea typeface="+mn-ea"/>
                        <a:cs typeface="Arial" panose="020B0604020202020204" pitchFamily="34" charset="0"/>
                      </a:endParaRPr>
                    </a:p>
                  </a:txBody>
                  <a:tcPr>
                    <a:lnL w="28575" cap="flat" cmpd="sng" algn="ctr">
                      <a:solidFill>
                        <a:srgbClr val="002F56"/>
                      </a:solidFill>
                      <a:prstDash val="sysDash"/>
                      <a:round/>
                      <a:headEnd type="none" w="med" len="med"/>
                      <a:tailEnd type="none" w="med" len="med"/>
                    </a:lnL>
                    <a:lnR w="28575" cap="flat" cmpd="sng" algn="ctr">
                      <a:solidFill>
                        <a:srgbClr val="002F56"/>
                      </a:solidFill>
                      <a:prstDash val="sysDash"/>
                      <a:round/>
                      <a:headEnd type="none" w="med" len="med"/>
                      <a:tailEnd type="none" w="med" len="med"/>
                    </a:lnR>
                    <a:lnT w="12700" cap="flat" cmpd="sng" algn="ctr">
                      <a:noFill/>
                      <a:prstDash val="solid"/>
                      <a:round/>
                      <a:headEnd type="none" w="med" len="med"/>
                      <a:tailEnd type="none" w="med" len="med"/>
                    </a:lnT>
                    <a:lnB w="28575" cap="flat" cmpd="sng" algn="ctr">
                      <a:solidFill>
                        <a:srgbClr val="002F56"/>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a:ln>
                            <a:noFill/>
                          </a:ln>
                          <a:solidFill>
                            <a:prstClr val="black"/>
                          </a:solidFill>
                          <a:effectLst/>
                          <a:uLnTx/>
                          <a:uFillTx/>
                          <a:latin typeface="+mn-lt"/>
                          <a:ea typeface="+mn-ea"/>
                          <a:cs typeface="Arial" panose="020B0604020202020204" pitchFamily="34" charset="0"/>
                        </a:rPr>
                        <a:t>Organized operations in place</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a:ln>
                            <a:noFill/>
                          </a:ln>
                          <a:solidFill>
                            <a:prstClr val="black"/>
                          </a:solidFill>
                          <a:effectLst/>
                          <a:uLnTx/>
                          <a:uFillTx/>
                          <a:latin typeface="+mn-lt"/>
                          <a:ea typeface="+mn-ea"/>
                          <a:cs typeface="Arial" panose="020B0604020202020204" pitchFamily="34" charset="0"/>
                        </a:rPr>
                        <a:t>First pilot training group starting the training</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a:ln>
                            <a:noFill/>
                          </a:ln>
                          <a:solidFill>
                            <a:prstClr val="black"/>
                          </a:solidFill>
                          <a:effectLst/>
                          <a:uLnTx/>
                          <a:uFillTx/>
                          <a:latin typeface="+mn-lt"/>
                          <a:ea typeface="+mn-ea"/>
                          <a:cs typeface="Arial" panose="020B0604020202020204" pitchFamily="34" charset="0"/>
                        </a:rPr>
                        <a:t>End State: SDM (Staff Development and Mentoring) training for participants underway</a:t>
                      </a:r>
                    </a:p>
                    <a:p>
                      <a:pPr marL="0" marR="0" lvl="1" indent="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None/>
                        <a:tabLst/>
                        <a:defRPr/>
                      </a:pPr>
                      <a:endParaRPr kumimoji="0" lang="en-US" sz="1050" b="0" i="0" u="none" strike="noStrike" kern="1200" cap="none" spc="0" normalizeH="0" baseline="0" noProof="0">
                        <a:ln>
                          <a:noFill/>
                        </a:ln>
                        <a:solidFill>
                          <a:prstClr val="black"/>
                        </a:solidFill>
                        <a:effectLst/>
                        <a:uLnTx/>
                        <a:uFillTx/>
                        <a:latin typeface="+mn-lt"/>
                        <a:ea typeface="+mn-ea"/>
                        <a:cs typeface="Arial" panose="020B0604020202020204" pitchFamily="34" charset="0"/>
                      </a:endParaRPr>
                    </a:p>
                  </a:txBody>
                  <a:tcPr>
                    <a:lnL w="28575" cap="flat" cmpd="sng" algn="ctr">
                      <a:solidFill>
                        <a:srgbClr val="002F56"/>
                      </a:solidFill>
                      <a:prstDash val="sys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6438976"/>
                  </a:ext>
                </a:extLst>
              </a:tr>
              <a:tr h="370840">
                <a:tc>
                  <a:txBody>
                    <a:bodyPr/>
                    <a:lstStyle/>
                    <a:p>
                      <a:pPr marL="0" marR="0" lvl="1" indent="0" algn="ctr" defTabSz="914400" rtl="0" eaLnBrk="1" fontAlgn="auto" latinLnBrk="0" hangingPunct="1">
                        <a:lnSpc>
                          <a:spcPct val="100000"/>
                        </a:lnSpc>
                        <a:spcBef>
                          <a:spcPts val="0"/>
                        </a:spcBef>
                        <a:spcAft>
                          <a:spcPts val="0"/>
                        </a:spcAft>
                        <a:buClr>
                          <a:srgbClr val="4472C4"/>
                        </a:buClr>
                        <a:buSzTx/>
                        <a:buFont typeface="Wingdings" panose="05000000000000000000" pitchFamily="2" charset="2"/>
                        <a:buNone/>
                        <a:tabLst/>
                        <a:defRPr/>
                      </a:pPr>
                      <a:r>
                        <a:rPr kumimoji="0" lang="en-US" sz="1200" b="1" i="0" u="none" strike="noStrike" kern="1200" cap="none" spc="0" normalizeH="0" baseline="0" noProof="0">
                          <a:ln>
                            <a:noFill/>
                          </a:ln>
                          <a:solidFill>
                            <a:prstClr val="black"/>
                          </a:solidFill>
                          <a:effectLst/>
                          <a:uLnTx/>
                          <a:uFillTx/>
                          <a:latin typeface="+mn-lt"/>
                          <a:ea typeface="+mn-ea"/>
                          <a:cs typeface="Arial" panose="020B0604020202020204" pitchFamily="34" charset="0"/>
                        </a:rPr>
                        <a:t>Goals</a:t>
                      </a:r>
                    </a:p>
                  </a:txBody>
                  <a:tcPr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no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a:ln>
                            <a:noFill/>
                          </a:ln>
                          <a:solidFill>
                            <a:prstClr val="black"/>
                          </a:solidFill>
                          <a:effectLst/>
                          <a:uLnTx/>
                          <a:uFillTx/>
                          <a:latin typeface="+mn-lt"/>
                          <a:ea typeface="+mn-ea"/>
                          <a:cs typeface="Arial" panose="020B0604020202020204" pitchFamily="34" charset="0"/>
                        </a:rPr>
                        <a:t>Develop roadmap</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a:ln>
                            <a:noFill/>
                          </a:ln>
                          <a:solidFill>
                            <a:prstClr val="black"/>
                          </a:solidFill>
                          <a:effectLst/>
                          <a:uLnTx/>
                          <a:uFillTx/>
                          <a:latin typeface="+mn-lt"/>
                          <a:ea typeface="+mn-ea"/>
                          <a:cs typeface="Arial" panose="020B0604020202020204" pitchFamily="34" charset="0"/>
                        </a:rPr>
                        <a:t>Identify initiative team members</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a:ln>
                            <a:noFill/>
                          </a:ln>
                          <a:solidFill>
                            <a:prstClr val="black"/>
                          </a:solidFill>
                          <a:effectLst/>
                          <a:uLnTx/>
                          <a:uFillTx/>
                          <a:latin typeface="+mn-lt"/>
                          <a:ea typeface="+mn-ea"/>
                          <a:cs typeface="Arial" panose="020B0604020202020204" pitchFamily="34" charset="0"/>
                        </a:rPr>
                        <a:t>Continue engaging with stakeholders to complete SLA negotiations</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a:ln>
                            <a:noFill/>
                          </a:ln>
                          <a:solidFill>
                            <a:prstClr val="black"/>
                          </a:solidFill>
                          <a:effectLst/>
                          <a:uLnTx/>
                          <a:uFillTx/>
                          <a:latin typeface="+mn-lt"/>
                          <a:ea typeface="+mn-ea"/>
                          <a:cs typeface="Arial" panose="020B0604020202020204" pitchFamily="34" charset="0"/>
                        </a:rPr>
                        <a:t>Identify funding requirements and secure funding to fulfill SLAs</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a:ln>
                            <a:noFill/>
                          </a:ln>
                          <a:solidFill>
                            <a:prstClr val="black"/>
                          </a:solidFill>
                          <a:effectLst/>
                          <a:uLnTx/>
                          <a:uFillTx/>
                          <a:latin typeface="+mn-lt"/>
                          <a:ea typeface="+mn-ea"/>
                          <a:cs typeface="Arial" panose="020B0604020202020204" pitchFamily="34" charset="0"/>
                        </a:rPr>
                        <a:t>Solidify annual SLA reevaluation timeline</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a:ln>
                            <a:noFill/>
                          </a:ln>
                          <a:solidFill>
                            <a:prstClr val="black"/>
                          </a:solidFill>
                          <a:effectLst/>
                          <a:uLnTx/>
                          <a:uFillTx/>
                          <a:latin typeface="+mn-lt"/>
                          <a:ea typeface="+mn-ea"/>
                          <a:cs typeface="Arial" panose="020B0604020202020204" pitchFamily="34" charset="0"/>
                        </a:rPr>
                        <a:t>Define the roll-out waves</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a:ln>
                            <a:noFill/>
                          </a:ln>
                          <a:solidFill>
                            <a:prstClr val="black"/>
                          </a:solidFill>
                          <a:effectLst/>
                          <a:uLnTx/>
                          <a:uFillTx/>
                          <a:latin typeface="+mn-lt"/>
                          <a:ea typeface="+mn-ea"/>
                          <a:cs typeface="Arial" panose="020B0604020202020204" pitchFamily="34" charset="0"/>
                        </a:rPr>
                        <a:t>Develop communications plan for pre-Wave 1 (RO’s and local payroll)</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a:ln>
                            <a:noFill/>
                          </a:ln>
                          <a:solidFill>
                            <a:prstClr val="black"/>
                          </a:solidFill>
                          <a:effectLst/>
                          <a:uLnTx/>
                          <a:uFillTx/>
                          <a:latin typeface="+mn-lt"/>
                          <a:ea typeface="+mn-ea"/>
                          <a:cs typeface="Arial" panose="020B0604020202020204" pitchFamily="34" charset="0"/>
                        </a:rPr>
                        <a:t>Engage operations leadership to get buy in and support for the roll out</a:t>
                      </a:r>
                      <a:endParaRPr lang="en-US" sz="1050" b="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no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None/>
                        <a:tabLst/>
                        <a:defRPr/>
                      </a:pPr>
                      <a:endParaRPr kumimoji="0" lang="en-US" sz="1050" b="0" i="0" u="none" strike="noStrike" kern="1200" cap="none" spc="0" normalizeH="0" baseline="0" noProof="0">
                        <a:ln>
                          <a:noFill/>
                        </a:ln>
                        <a:solidFill>
                          <a:prstClr val="black"/>
                        </a:solidFill>
                        <a:effectLst/>
                        <a:uLnTx/>
                        <a:uFillTx/>
                        <a:latin typeface="+mn-lt"/>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no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endParaRPr lang="en-US" sz="1050" b="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rgbClr val="002F56"/>
                      </a:solidFill>
                      <a:prstDash val="sysDash"/>
                      <a:round/>
                      <a:headEnd type="none" w="med" len="med"/>
                      <a:tailEnd type="none" w="med" len="med"/>
                    </a:lnT>
                    <a:lnB w="12700" cap="flat" cmpd="sng" algn="ctr">
                      <a:no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None/>
                        <a:tabLst/>
                        <a:defRPr/>
                      </a:pPr>
                      <a:endParaRPr lang="en-US" sz="1050" b="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no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52025275"/>
                  </a:ext>
                </a:extLst>
              </a:tr>
              <a:tr h="214943">
                <a:tc>
                  <a:txBody>
                    <a:bodyPr/>
                    <a:lstStyle/>
                    <a:p>
                      <a:pPr marL="203200" marR="0" lvl="2" indent="0" algn="ctr" defTabSz="914400" rtl="0" eaLnBrk="1" fontAlgn="auto" latinLnBrk="0" hangingPunct="1">
                        <a:lnSpc>
                          <a:spcPct val="100000"/>
                        </a:lnSpc>
                        <a:spcBef>
                          <a:spcPts val="0"/>
                        </a:spcBef>
                        <a:spcAft>
                          <a:spcPts val="0"/>
                        </a:spcAft>
                        <a:buClr>
                          <a:srgbClr val="4472C4"/>
                        </a:buClr>
                        <a:buSzTx/>
                        <a:buFont typeface="Wingdings" panose="05000000000000000000" pitchFamily="2" charset="2"/>
                        <a:buNone/>
                        <a:tabLst/>
                        <a:defRPr/>
                      </a:pPr>
                      <a:endParaRPr kumimoji="0" lang="en-US" sz="1200" b="1" i="0" u="none" strike="noStrike" kern="1200" cap="none" spc="0" normalizeH="0" baseline="0" noProof="0">
                        <a:ln>
                          <a:noFill/>
                        </a:ln>
                        <a:solidFill>
                          <a:prstClr val="black"/>
                        </a:solidFill>
                        <a:effectLst/>
                        <a:uLnTx/>
                        <a:uFillTx/>
                        <a:latin typeface="+mn-lt"/>
                        <a:ea typeface="+mn-ea"/>
                        <a:cs typeface="Arial" panose="020B0604020202020204" pitchFamily="34" charset="0"/>
                      </a:endParaRPr>
                    </a:p>
                  </a:txBody>
                  <a:tcPr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ys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a:ln>
                            <a:noFill/>
                          </a:ln>
                          <a:solidFill>
                            <a:prstClr val="black"/>
                          </a:solidFill>
                          <a:effectLst/>
                          <a:uLnTx/>
                          <a:uFillTx/>
                          <a:latin typeface="+mn-lt"/>
                          <a:ea typeface="+mn-ea"/>
                          <a:cs typeface="Arial" panose="020B0604020202020204" pitchFamily="34" charset="0"/>
                        </a:rPr>
                        <a:t>Develop Vision Statement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ys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endParaRPr kumimoji="0" lang="en-US" sz="1050" b="0" i="0" u="none" strike="noStrike" kern="1200" cap="none" spc="0" normalizeH="0" baseline="0" noProof="0">
                        <a:ln>
                          <a:noFill/>
                        </a:ln>
                        <a:solidFill>
                          <a:prstClr val="black"/>
                        </a:solidFill>
                        <a:effectLst/>
                        <a:uLnTx/>
                        <a:uFillTx/>
                        <a:latin typeface="+mn-lt"/>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ys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None/>
                        <a:tabLst/>
                        <a:defRPr/>
                      </a:pPr>
                      <a:endParaRPr kumimoji="0" lang="en-US" sz="1050" b="0" i="0" u="none" strike="noStrike" kern="1200" cap="none" spc="0" normalizeH="0" baseline="0" noProof="0">
                        <a:ln>
                          <a:noFill/>
                        </a:ln>
                        <a:solidFill>
                          <a:prstClr val="black"/>
                        </a:solidFill>
                        <a:effectLst/>
                        <a:uLnTx/>
                        <a:uFillTx/>
                        <a:latin typeface="+mn-lt"/>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ys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None/>
                        <a:tabLst/>
                        <a:defRPr/>
                      </a:pPr>
                      <a:endParaRPr kumimoji="0" lang="en-US" sz="1050" b="0" i="0" u="none" strike="noStrike" kern="1200" cap="none" spc="0" normalizeH="0" baseline="0" noProof="0">
                        <a:ln>
                          <a:noFill/>
                        </a:ln>
                        <a:solidFill>
                          <a:prstClr val="black"/>
                        </a:solidFill>
                        <a:effectLst/>
                        <a:uLnTx/>
                        <a:uFillTx/>
                        <a:latin typeface="+mn-lt"/>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ys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9027718"/>
                  </a:ext>
                </a:extLst>
              </a:tr>
            </a:tbl>
          </a:graphicData>
        </a:graphic>
      </p:graphicFrame>
      <p:sp>
        <p:nvSpPr>
          <p:cNvPr id="6" name="ee4pHeader1">
            <a:extLst>
              <a:ext uri="{FF2B5EF4-FFF2-40B4-BE49-F238E27FC236}">
                <a16:creationId xmlns:a16="http://schemas.microsoft.com/office/drawing/2014/main" id="{4292F442-917F-4AF4-8211-C039C09FC789}"/>
              </a:ext>
            </a:extLst>
          </p:cNvPr>
          <p:cNvSpPr/>
          <p:nvPr>
            <p:custDataLst>
              <p:tags r:id="rId1"/>
            </p:custDataLst>
          </p:nvPr>
        </p:nvSpPr>
        <p:spPr bwMode="auto">
          <a:xfrm>
            <a:off x="780314" y="1332162"/>
            <a:ext cx="2535769" cy="434396"/>
          </a:xfrm>
          <a:prstGeom prst="homePlate">
            <a:avLst>
              <a:gd name="adj" fmla="val 19696"/>
            </a:avLst>
          </a:prstGeom>
          <a:solidFill>
            <a:srgbClr val="002F56"/>
          </a:solidFill>
          <a:ln w="9525" cmpd="sng">
            <a:solidFill>
              <a:srgbClr val="002060"/>
            </a:solidFill>
            <a:prstDash val="solid"/>
            <a:miter lim="800000"/>
            <a:headEnd/>
            <a:tailEnd/>
          </a:ln>
          <a:effectLst/>
        </p:spPr>
        <p:txBody>
          <a:bodyPr lIns="90000" tIns="46800" rIns="90000" bIns="46800" anchor="ctr"/>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panose="020F0502020204030204"/>
                <a:ea typeface="+mn-ea"/>
                <a:cs typeface="+mn-cs"/>
              </a:rPr>
              <a:t>Phase 1: Data Collection and Scope</a:t>
            </a:r>
          </a:p>
        </p:txBody>
      </p:sp>
      <p:cxnSp>
        <p:nvCxnSpPr>
          <p:cNvPr id="7" name="Straight Arrow Connector 6">
            <a:extLst>
              <a:ext uri="{FF2B5EF4-FFF2-40B4-BE49-F238E27FC236}">
                <a16:creationId xmlns:a16="http://schemas.microsoft.com/office/drawing/2014/main" id="{06246A21-979F-4D6E-80F3-CF79460A39C9}"/>
              </a:ext>
            </a:extLst>
          </p:cNvPr>
          <p:cNvCxnSpPr>
            <a:cxnSpLocks/>
          </p:cNvCxnSpPr>
          <p:nvPr/>
        </p:nvCxnSpPr>
        <p:spPr>
          <a:xfrm>
            <a:off x="797728" y="1148150"/>
            <a:ext cx="2535769" cy="0"/>
          </a:xfrm>
          <a:prstGeom prst="straightConnector1">
            <a:avLst/>
          </a:prstGeom>
          <a:ln>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6168800-E5D3-4468-B445-73CA015AE4AC}"/>
              </a:ext>
            </a:extLst>
          </p:cNvPr>
          <p:cNvSpPr txBox="1"/>
          <p:nvPr/>
        </p:nvSpPr>
        <p:spPr>
          <a:xfrm>
            <a:off x="1284267" y="1009650"/>
            <a:ext cx="1562692" cy="276999"/>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Nov 21 – Mar 22</a:t>
            </a:r>
          </a:p>
        </p:txBody>
      </p:sp>
      <p:sp>
        <p:nvSpPr>
          <p:cNvPr id="10" name="ee4pHeader2">
            <a:extLst>
              <a:ext uri="{FF2B5EF4-FFF2-40B4-BE49-F238E27FC236}">
                <a16:creationId xmlns:a16="http://schemas.microsoft.com/office/drawing/2014/main" id="{CAB45015-649F-4784-A0F0-04EFC1E8ECAA}"/>
              </a:ext>
            </a:extLst>
          </p:cNvPr>
          <p:cNvSpPr/>
          <p:nvPr>
            <p:custDataLst>
              <p:tags r:id="rId2"/>
            </p:custDataLst>
          </p:nvPr>
        </p:nvSpPr>
        <p:spPr bwMode="auto">
          <a:xfrm>
            <a:off x="3620498" y="1332162"/>
            <a:ext cx="2535769" cy="434396"/>
          </a:xfrm>
          <a:prstGeom prst="chevron">
            <a:avLst>
              <a:gd name="adj" fmla="val 19696"/>
            </a:avLst>
          </a:prstGeom>
          <a:solidFill>
            <a:srgbClr val="002F56"/>
          </a:solidFill>
          <a:ln w="9525" cmpd="sng">
            <a:solidFill>
              <a:srgbClr val="002060"/>
            </a:solidFill>
            <a:prstDash val="solid"/>
            <a:miter lim="800000"/>
            <a:headEnd/>
            <a:tailEnd/>
          </a:ln>
          <a:effectLst/>
        </p:spPr>
        <p:txBody>
          <a:bodyPr anchor="ctr"/>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panose="020F0502020204030204"/>
                <a:ea typeface="+mn-ea"/>
                <a:cs typeface="+mn-cs"/>
              </a:rPr>
              <a:t>Phase 2: Resource Development</a:t>
            </a:r>
          </a:p>
        </p:txBody>
      </p:sp>
      <p:cxnSp>
        <p:nvCxnSpPr>
          <p:cNvPr id="11" name="Straight Arrow Connector 10">
            <a:extLst>
              <a:ext uri="{FF2B5EF4-FFF2-40B4-BE49-F238E27FC236}">
                <a16:creationId xmlns:a16="http://schemas.microsoft.com/office/drawing/2014/main" id="{93BF0A07-7845-4449-879D-7F466002470B}"/>
              </a:ext>
            </a:extLst>
          </p:cNvPr>
          <p:cNvCxnSpPr>
            <a:cxnSpLocks/>
          </p:cNvCxnSpPr>
          <p:nvPr/>
        </p:nvCxnSpPr>
        <p:spPr>
          <a:xfrm>
            <a:off x="3620498" y="1148150"/>
            <a:ext cx="2535769" cy="0"/>
          </a:xfrm>
          <a:prstGeom prst="straightConnector1">
            <a:avLst/>
          </a:prstGeom>
          <a:ln>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E89E94AC-AEF5-484E-ADB2-B69B144175DC}"/>
              </a:ext>
            </a:extLst>
          </p:cNvPr>
          <p:cNvSpPr txBox="1"/>
          <p:nvPr/>
        </p:nvSpPr>
        <p:spPr>
          <a:xfrm>
            <a:off x="4293488" y="1009650"/>
            <a:ext cx="1189790" cy="276999"/>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Apr 22 – Jun 22</a:t>
            </a:r>
          </a:p>
        </p:txBody>
      </p:sp>
      <p:sp>
        <p:nvSpPr>
          <p:cNvPr id="14" name="ee4pHeader3">
            <a:extLst>
              <a:ext uri="{FF2B5EF4-FFF2-40B4-BE49-F238E27FC236}">
                <a16:creationId xmlns:a16="http://schemas.microsoft.com/office/drawing/2014/main" id="{19D91B81-9C3B-483B-AF96-A4E17599F80B}"/>
              </a:ext>
            </a:extLst>
          </p:cNvPr>
          <p:cNvSpPr/>
          <p:nvPr>
            <p:custDataLst>
              <p:tags r:id="rId3"/>
            </p:custDataLst>
          </p:nvPr>
        </p:nvSpPr>
        <p:spPr bwMode="auto">
          <a:xfrm>
            <a:off x="6451976" y="1332162"/>
            <a:ext cx="2535769" cy="434396"/>
          </a:xfrm>
          <a:prstGeom prst="chevron">
            <a:avLst>
              <a:gd name="adj" fmla="val 19696"/>
            </a:avLst>
          </a:prstGeom>
          <a:solidFill>
            <a:srgbClr val="002F56"/>
          </a:solidFill>
          <a:ln w="9525" cmpd="sng">
            <a:solidFill>
              <a:srgbClr val="002060"/>
            </a:solidFill>
            <a:prstDash val="solid"/>
            <a:miter lim="800000"/>
            <a:headEnd/>
            <a:tailEnd/>
          </a:ln>
          <a:effectLst/>
        </p:spPr>
        <p:txBody>
          <a:bodyPr anchor="ctr"/>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panose="020F0502020204030204"/>
                <a:ea typeface="+mn-ea"/>
                <a:cs typeface="+mn-cs"/>
              </a:rPr>
              <a:t>Phase 3: Formalization</a:t>
            </a:r>
          </a:p>
        </p:txBody>
      </p:sp>
      <p:cxnSp>
        <p:nvCxnSpPr>
          <p:cNvPr id="15" name="Straight Arrow Connector 14">
            <a:extLst>
              <a:ext uri="{FF2B5EF4-FFF2-40B4-BE49-F238E27FC236}">
                <a16:creationId xmlns:a16="http://schemas.microsoft.com/office/drawing/2014/main" id="{904961B1-5902-46D7-9D43-92A5BC856394}"/>
              </a:ext>
            </a:extLst>
          </p:cNvPr>
          <p:cNvCxnSpPr>
            <a:cxnSpLocks/>
          </p:cNvCxnSpPr>
          <p:nvPr/>
        </p:nvCxnSpPr>
        <p:spPr>
          <a:xfrm>
            <a:off x="6451976" y="1148150"/>
            <a:ext cx="2535769" cy="0"/>
          </a:xfrm>
          <a:prstGeom prst="straightConnector1">
            <a:avLst/>
          </a:prstGeom>
          <a:ln>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86F29C8F-F538-42E2-8F44-C06D71A3DA2D}"/>
              </a:ext>
            </a:extLst>
          </p:cNvPr>
          <p:cNvSpPr txBox="1"/>
          <p:nvPr/>
        </p:nvSpPr>
        <p:spPr>
          <a:xfrm>
            <a:off x="7124966" y="1009650"/>
            <a:ext cx="1189790" cy="276999"/>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Jul 22 – Sep 22</a:t>
            </a:r>
          </a:p>
        </p:txBody>
      </p:sp>
      <p:sp>
        <p:nvSpPr>
          <p:cNvPr id="18" name="ee4pHeader3">
            <a:extLst>
              <a:ext uri="{FF2B5EF4-FFF2-40B4-BE49-F238E27FC236}">
                <a16:creationId xmlns:a16="http://schemas.microsoft.com/office/drawing/2014/main" id="{E9D38E66-F0AC-4BAB-A578-B5EB1BE98D11}"/>
              </a:ext>
            </a:extLst>
          </p:cNvPr>
          <p:cNvSpPr/>
          <p:nvPr>
            <p:custDataLst>
              <p:tags r:id="rId4"/>
            </p:custDataLst>
          </p:nvPr>
        </p:nvSpPr>
        <p:spPr bwMode="auto">
          <a:xfrm>
            <a:off x="9283453" y="1332162"/>
            <a:ext cx="2535769" cy="434396"/>
          </a:xfrm>
          <a:prstGeom prst="chevron">
            <a:avLst>
              <a:gd name="adj" fmla="val 19696"/>
            </a:avLst>
          </a:prstGeom>
          <a:solidFill>
            <a:srgbClr val="002F56"/>
          </a:solidFill>
          <a:ln w="9525" cmpd="sng">
            <a:solidFill>
              <a:srgbClr val="002060"/>
            </a:solidFill>
            <a:prstDash val="solid"/>
            <a:miter lim="800000"/>
            <a:headEnd/>
            <a:tailEnd/>
          </a:ln>
          <a:effectLst/>
        </p:spPr>
        <p:txBody>
          <a:bodyPr anchor="ctr"/>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panose="020F0502020204030204"/>
                <a:ea typeface="+mn-ea"/>
                <a:cs typeface="+mn-cs"/>
              </a:rPr>
              <a:t>Phase 4: Initiation of Training</a:t>
            </a:r>
          </a:p>
        </p:txBody>
      </p:sp>
      <p:cxnSp>
        <p:nvCxnSpPr>
          <p:cNvPr id="19" name="Straight Arrow Connector 18">
            <a:extLst>
              <a:ext uri="{FF2B5EF4-FFF2-40B4-BE49-F238E27FC236}">
                <a16:creationId xmlns:a16="http://schemas.microsoft.com/office/drawing/2014/main" id="{85CABD8C-1E2C-42C4-BC09-0D42905018BC}"/>
              </a:ext>
            </a:extLst>
          </p:cNvPr>
          <p:cNvCxnSpPr>
            <a:cxnSpLocks/>
          </p:cNvCxnSpPr>
          <p:nvPr/>
        </p:nvCxnSpPr>
        <p:spPr>
          <a:xfrm>
            <a:off x="9283453" y="1148150"/>
            <a:ext cx="2535769" cy="0"/>
          </a:xfrm>
          <a:prstGeom prst="straightConnector1">
            <a:avLst/>
          </a:prstGeom>
          <a:ln>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1E52FCD7-ADED-4B9E-8E9B-81BDEEFFE8CE}"/>
              </a:ext>
            </a:extLst>
          </p:cNvPr>
          <p:cNvSpPr txBox="1"/>
          <p:nvPr/>
        </p:nvSpPr>
        <p:spPr>
          <a:xfrm>
            <a:off x="9956441" y="1009650"/>
            <a:ext cx="1189791" cy="276999"/>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Oct 22 – Dec 22</a:t>
            </a:r>
          </a:p>
        </p:txBody>
      </p:sp>
      <p:sp>
        <p:nvSpPr>
          <p:cNvPr id="23" name="Rectangle 22">
            <a:extLst>
              <a:ext uri="{FF2B5EF4-FFF2-40B4-BE49-F238E27FC236}">
                <a16:creationId xmlns:a16="http://schemas.microsoft.com/office/drawing/2014/main" id="{8282675F-F92C-46C0-BCE3-E3B260759863}"/>
              </a:ext>
            </a:extLst>
          </p:cNvPr>
          <p:cNvSpPr/>
          <p:nvPr/>
        </p:nvSpPr>
        <p:spPr>
          <a:xfrm>
            <a:off x="677250" y="2948783"/>
            <a:ext cx="2656247" cy="229740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Completion of first pilot program</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Plan for second iteration</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Follow-on training in 2023 Calendar Year and long-term planning for field positions</a:t>
            </a:r>
          </a:p>
        </p:txBody>
      </p:sp>
      <p:sp>
        <p:nvSpPr>
          <p:cNvPr id="30" name="Title 1">
            <a:extLst>
              <a:ext uri="{FF2B5EF4-FFF2-40B4-BE49-F238E27FC236}">
                <a16:creationId xmlns:a16="http://schemas.microsoft.com/office/drawing/2014/main" id="{3623DD7B-228C-49F3-898E-4E7C81B018FC}"/>
              </a:ext>
            </a:extLst>
          </p:cNvPr>
          <p:cNvSpPr>
            <a:spLocks noGrp="1"/>
          </p:cNvSpPr>
          <p:nvPr>
            <p:ph type="title"/>
          </p:nvPr>
        </p:nvSpPr>
        <p:spPr>
          <a:xfrm>
            <a:off x="390525" y="97245"/>
            <a:ext cx="10515600" cy="680223"/>
          </a:xfrm>
        </p:spPr>
        <p:txBody>
          <a:bodyPr/>
          <a:lstStyle/>
          <a:p>
            <a:r>
              <a:rPr lang="en-US" sz="2400"/>
              <a:t>Staff Development and Mentoring Initiative High-Level Roadmap and Goals</a:t>
            </a:r>
          </a:p>
        </p:txBody>
      </p:sp>
      <p:sp>
        <p:nvSpPr>
          <p:cNvPr id="26" name="ee4pHeader3">
            <a:extLst>
              <a:ext uri="{FF2B5EF4-FFF2-40B4-BE49-F238E27FC236}">
                <a16:creationId xmlns:a16="http://schemas.microsoft.com/office/drawing/2014/main" id="{AF1C0892-12F5-476A-8821-4DEF0FEEA7A9}"/>
              </a:ext>
            </a:extLst>
          </p:cNvPr>
          <p:cNvSpPr/>
          <p:nvPr>
            <p:custDataLst>
              <p:tags r:id="rId5"/>
            </p:custDataLst>
          </p:nvPr>
        </p:nvSpPr>
        <p:spPr bwMode="auto">
          <a:xfrm>
            <a:off x="780315" y="3287144"/>
            <a:ext cx="2553182" cy="434396"/>
          </a:xfrm>
          <a:prstGeom prst="chevron">
            <a:avLst>
              <a:gd name="adj" fmla="val 19696"/>
            </a:avLst>
          </a:prstGeom>
          <a:solidFill>
            <a:srgbClr val="002F56"/>
          </a:solidFill>
          <a:ln w="9525" cmpd="sng">
            <a:solidFill>
              <a:srgbClr val="002060"/>
            </a:solidFill>
            <a:prstDash val="solid"/>
            <a:miter lim="800000"/>
            <a:headEnd/>
            <a:tailEnd/>
          </a:ln>
          <a:effectLst/>
        </p:spPr>
        <p:txBody>
          <a:bodyPr anchor="ctr"/>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panose="020F0502020204030204"/>
                <a:ea typeface="+mn-ea"/>
                <a:cs typeface="+mn-cs"/>
              </a:rPr>
              <a:t>Phase 5: Sustainment and Evolution</a:t>
            </a:r>
          </a:p>
        </p:txBody>
      </p:sp>
      <p:cxnSp>
        <p:nvCxnSpPr>
          <p:cNvPr id="27" name="Straight Arrow Connector 26">
            <a:extLst>
              <a:ext uri="{FF2B5EF4-FFF2-40B4-BE49-F238E27FC236}">
                <a16:creationId xmlns:a16="http://schemas.microsoft.com/office/drawing/2014/main" id="{C465E29D-A659-4148-9AD4-6C58A30586BD}"/>
              </a:ext>
            </a:extLst>
          </p:cNvPr>
          <p:cNvCxnSpPr>
            <a:cxnSpLocks/>
          </p:cNvCxnSpPr>
          <p:nvPr/>
        </p:nvCxnSpPr>
        <p:spPr>
          <a:xfrm>
            <a:off x="780314" y="3086995"/>
            <a:ext cx="2535769" cy="0"/>
          </a:xfrm>
          <a:prstGeom prst="straightConnector1">
            <a:avLst/>
          </a:prstGeom>
          <a:ln>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F22A8BCD-A09B-4722-A68E-65DDBAB3A762}"/>
              </a:ext>
            </a:extLst>
          </p:cNvPr>
          <p:cNvSpPr txBox="1"/>
          <p:nvPr/>
        </p:nvSpPr>
        <p:spPr>
          <a:xfrm>
            <a:off x="1553134" y="2948495"/>
            <a:ext cx="1024958" cy="276999"/>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Jan 23</a:t>
            </a:r>
          </a:p>
        </p:txBody>
      </p:sp>
      <p:sp>
        <p:nvSpPr>
          <p:cNvPr id="21" name="Slide Number Placeholder 2">
            <a:extLst>
              <a:ext uri="{FF2B5EF4-FFF2-40B4-BE49-F238E27FC236}">
                <a16:creationId xmlns:a16="http://schemas.microsoft.com/office/drawing/2014/main" id="{45444FCC-33C0-78F7-38DC-D62BDEDAD2F9}"/>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486804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312732-C7CE-47D3-A994-5C9DAF8F6542}"/>
              </a:ext>
            </a:extLst>
          </p:cNvPr>
          <p:cNvSpPr>
            <a:spLocks noGrp="1"/>
          </p:cNvSpPr>
          <p:nvPr>
            <p:ph type="title"/>
          </p:nvPr>
        </p:nvSpPr>
        <p:spPr/>
        <p:txBody>
          <a:bodyPr/>
          <a:lstStyle/>
          <a:p>
            <a:r>
              <a:rPr lang="en-US" dirty="0">
                <a:solidFill>
                  <a:schemeClr val="tx1"/>
                </a:solidFill>
              </a:rPr>
              <a:t>Appendix: IT &amp; Data Governance Roadmap</a:t>
            </a:r>
            <a:br>
              <a:rPr lang="en-US" dirty="0">
                <a:solidFill>
                  <a:schemeClr val="tx1"/>
                </a:solidFill>
              </a:rPr>
            </a:br>
            <a:endParaRPr lang="en-US" dirty="0">
              <a:solidFill>
                <a:schemeClr val="tx1"/>
              </a:solidFill>
            </a:endParaRPr>
          </a:p>
        </p:txBody>
      </p:sp>
      <p:sp>
        <p:nvSpPr>
          <p:cNvPr id="6" name="Slide Number Placeholder 2">
            <a:extLst>
              <a:ext uri="{FF2B5EF4-FFF2-40B4-BE49-F238E27FC236}">
                <a16:creationId xmlns:a16="http://schemas.microsoft.com/office/drawing/2014/main" id="{348A4DB6-213A-EF35-FF18-1097643D6169}"/>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243177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8D4A1D5-678A-C16D-9263-A9E9A3C1FF1A}"/>
              </a:ext>
            </a:extLst>
          </p:cNvPr>
          <p:cNvSpPr/>
          <p:nvPr/>
        </p:nvSpPr>
        <p:spPr>
          <a:xfrm>
            <a:off x="0" y="6124736"/>
            <a:ext cx="12163714" cy="690093"/>
          </a:xfrm>
          <a:prstGeom prst="rect">
            <a:avLst/>
          </a:prstGeom>
          <a:solidFill>
            <a:srgbClr val="002F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114">
            <a:extLst>
              <a:ext uri="{FF2B5EF4-FFF2-40B4-BE49-F238E27FC236}">
                <a16:creationId xmlns:a16="http://schemas.microsoft.com/office/drawing/2014/main" id="{81561EDB-0BAD-44E2-B9C9-B02AD9ECC3A2}"/>
              </a:ext>
            </a:extLst>
          </p:cNvPr>
          <p:cNvSpPr/>
          <p:nvPr/>
        </p:nvSpPr>
        <p:spPr>
          <a:xfrm>
            <a:off x="10546137" y="1415143"/>
            <a:ext cx="1591404" cy="1507218"/>
          </a:xfrm>
          <a:prstGeom prst="rect">
            <a:avLst/>
          </a:prstGeom>
          <a:solidFill>
            <a:srgbClr val="BDD7F0"/>
          </a:solidFill>
          <a:ln w="63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nchorCtr="0"/>
          <a:lstStyle/>
          <a:p>
            <a:pPr marL="4763" marR="0" lvl="0" indent="-4763" algn="ctr" defTabSz="457200" rtl="0" eaLnBrk="1" fontAlgn="auto" latinLnBrk="0" hangingPunct="1">
              <a:lnSpc>
                <a:spcPct val="100000"/>
              </a:lnSpc>
              <a:spcBef>
                <a:spcPts val="600"/>
              </a:spcBef>
              <a:spcAft>
                <a:spcPts val="0"/>
              </a:spcAft>
              <a:buClrTx/>
              <a:buSzTx/>
              <a:buFontTx/>
              <a:buNone/>
              <a:tabLst/>
              <a:defRPr/>
            </a:pPr>
            <a:r>
              <a:rPr kumimoji="0" lang="en-US" sz="950" b="1" i="0" u="none" strike="noStrike" kern="1200" cap="none" spc="0" normalizeH="0" baseline="0" noProof="0" dirty="0">
                <a:ln>
                  <a:noFill/>
                </a:ln>
                <a:solidFill>
                  <a:prstClr val="black"/>
                </a:solidFill>
                <a:effectLst/>
                <a:uLnTx/>
                <a:uFillTx/>
                <a:latin typeface="Source Sans Pro Light" panose="020F0302020204030204" pitchFamily="34" charset="0"/>
                <a:ea typeface="Source Sans Pro" panose="020B0503030403020204" pitchFamily="34" charset="0"/>
                <a:cs typeface="Source Sans Pro Light" panose="020F0302020204030204" pitchFamily="34" charset="0"/>
              </a:rPr>
              <a:t>Objective #1:</a:t>
            </a:r>
            <a:endParaRPr kumimoji="0" lang="en-US" sz="950" b="0" i="0" u="none" strike="noStrike" kern="1200" cap="none" spc="0" normalizeH="0" baseline="0" noProof="0" dirty="0">
              <a:ln>
                <a:noFill/>
              </a:ln>
              <a:solidFill>
                <a:prstClr val="black"/>
              </a:solidFill>
              <a:effectLst/>
              <a:uLnTx/>
              <a:uFillTx/>
              <a:latin typeface="Source Sans Pro Light" panose="020F0302020204030204" pitchFamily="34" charset="0"/>
              <a:ea typeface="Source Sans Pro" panose="020B0503030403020204" pitchFamily="34" charset="0"/>
              <a:cs typeface="Source Sans Pro Light" panose="020F0302020204030204" pitchFamily="34" charset="0"/>
            </a:endParaRPr>
          </a:p>
          <a:p>
            <a:pPr lvl="0" algn="r">
              <a:defRPr/>
            </a:pPr>
            <a:r>
              <a:rPr lang="en-US" sz="950" dirty="0">
                <a:solidFill>
                  <a:srgbClr val="E7E6E6">
                    <a:lumMod val="10000"/>
                  </a:srgbClr>
                </a:solidFill>
                <a:latin typeface="Source Sans Pro Light" panose="020F0302020204030204" pitchFamily="34" charset="0"/>
                <a:ea typeface="Source Sans Pro" panose="020B0503030403020204" pitchFamily="34" charset="0"/>
                <a:cs typeface="Source Sans Pro Light" panose="020F0302020204030204" pitchFamily="34" charset="0"/>
              </a:rPr>
              <a:t>ORD has developed and implemented a strategic plan to organize the systems and their components across the research enterprise, which aligns with current and forecasted resources, policies, and ORD’s strategic priorities.</a:t>
            </a:r>
          </a:p>
        </p:txBody>
      </p:sp>
      <p:sp>
        <p:nvSpPr>
          <p:cNvPr id="123" name="Rectangle 122">
            <a:extLst>
              <a:ext uri="{FF2B5EF4-FFF2-40B4-BE49-F238E27FC236}">
                <a16:creationId xmlns:a16="http://schemas.microsoft.com/office/drawing/2014/main" id="{68E368FE-0DED-43AD-AC17-729D12EA59EC}"/>
              </a:ext>
            </a:extLst>
          </p:cNvPr>
          <p:cNvSpPr/>
          <p:nvPr/>
        </p:nvSpPr>
        <p:spPr>
          <a:xfrm>
            <a:off x="10547204" y="2985776"/>
            <a:ext cx="1591404" cy="1523483"/>
          </a:xfrm>
          <a:prstGeom prst="rect">
            <a:avLst/>
          </a:prstGeom>
          <a:solidFill>
            <a:srgbClr val="BDD7F0"/>
          </a:solidFill>
          <a:ln w="63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nchorCtr="0"/>
          <a:lstStyle/>
          <a:p>
            <a:pPr marL="4763" marR="0" lvl="0" indent="-4763" algn="ctr" defTabSz="457200" rtl="0" eaLnBrk="1" fontAlgn="auto" latinLnBrk="0" hangingPunct="1">
              <a:lnSpc>
                <a:spcPct val="100000"/>
              </a:lnSpc>
              <a:spcBef>
                <a:spcPts val="0"/>
              </a:spcBef>
              <a:spcAft>
                <a:spcPts val="225"/>
              </a:spcAft>
              <a:buClrTx/>
              <a:buSzTx/>
              <a:buFontTx/>
              <a:buNone/>
              <a:tabLst/>
              <a:defRPr/>
            </a:pPr>
            <a:r>
              <a:rPr kumimoji="0" lang="en-US" sz="950" b="1" i="0" u="none" strike="noStrike" kern="1200" cap="none" spc="0" normalizeH="0" baseline="0" noProof="0" dirty="0">
                <a:ln>
                  <a:noFill/>
                </a:ln>
                <a:solidFill>
                  <a:prstClr val="black"/>
                </a:solidFill>
                <a:effectLst/>
                <a:uLnTx/>
                <a:uFillTx/>
                <a:latin typeface="Source Sans Pro Light" panose="020F0302020204030204" pitchFamily="34" charset="0"/>
                <a:ea typeface="Source Sans Pro" panose="020B0503030403020204" pitchFamily="34" charset="0"/>
                <a:cs typeface="Source Sans Pro Light" panose="020F0302020204030204" pitchFamily="34" charset="0"/>
              </a:rPr>
              <a:t>Objective #2:</a:t>
            </a:r>
          </a:p>
          <a:p>
            <a:pPr marL="4763" lvl="0" indent="-4763" algn="r" defTabSz="457200">
              <a:defRPr/>
            </a:pPr>
            <a:r>
              <a:rPr lang="en-US" sz="950" dirty="0">
                <a:solidFill>
                  <a:prstClr val="black"/>
                </a:solidFill>
                <a:latin typeface="Source Sans Pro Light" panose="020F0302020204030204" pitchFamily="34" charset="0"/>
                <a:cs typeface="Source Sans Pro Light" panose="020F0302020204030204" pitchFamily="34" charset="0"/>
              </a:rPr>
              <a:t>ORD has established Standard Operating Procedures to support current policies and systems for both IT and Data, that ensure services and products are delivered consistently every time across the research enterprise.</a:t>
            </a:r>
            <a:endParaRPr lang="en-US" sz="950" dirty="0">
              <a:solidFill>
                <a:srgbClr val="E7E6E6">
                  <a:lumMod val="10000"/>
                </a:srgbClr>
              </a:solidFill>
              <a:cs typeface="Calibri"/>
            </a:endParaRPr>
          </a:p>
        </p:txBody>
      </p:sp>
      <p:sp>
        <p:nvSpPr>
          <p:cNvPr id="121" name="Rectangle 120">
            <a:extLst>
              <a:ext uri="{FF2B5EF4-FFF2-40B4-BE49-F238E27FC236}">
                <a16:creationId xmlns:a16="http://schemas.microsoft.com/office/drawing/2014/main" id="{E4E80EA9-48D4-4571-BAC8-408F103625E5}"/>
              </a:ext>
            </a:extLst>
          </p:cNvPr>
          <p:cNvSpPr/>
          <p:nvPr/>
        </p:nvSpPr>
        <p:spPr>
          <a:xfrm>
            <a:off x="10546027" y="4560401"/>
            <a:ext cx="1592582" cy="1523483"/>
          </a:xfrm>
          <a:prstGeom prst="rect">
            <a:avLst/>
          </a:prstGeom>
          <a:solidFill>
            <a:srgbClr val="BDD7F0"/>
          </a:solidFill>
          <a:ln w="63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nchorCtr="0"/>
          <a:lstStyle/>
          <a:p>
            <a:pPr marL="4763" marR="0" lvl="0" indent="-4763" algn="r" defTabSz="457200" rtl="0" eaLnBrk="1" fontAlgn="auto" latinLnBrk="0" hangingPunct="1">
              <a:lnSpc>
                <a:spcPct val="100000"/>
              </a:lnSpc>
              <a:spcBef>
                <a:spcPts val="600"/>
              </a:spcBef>
              <a:spcAft>
                <a:spcPts val="0"/>
              </a:spcAft>
              <a:buClrTx/>
              <a:buSzTx/>
              <a:buFontTx/>
              <a:buNone/>
              <a:tabLst/>
              <a:defRPr/>
            </a:pPr>
            <a:r>
              <a:rPr kumimoji="0" lang="en-US" sz="950" b="1" i="0" u="none" strike="noStrike" kern="1200" cap="none" spc="0" normalizeH="0" baseline="0" noProof="0" dirty="0">
                <a:ln>
                  <a:noFill/>
                </a:ln>
                <a:solidFill>
                  <a:prstClr val="black"/>
                </a:solidFill>
                <a:effectLst/>
                <a:uLnTx/>
                <a:uFillTx/>
                <a:latin typeface="Source Sans Pro Light" panose="020F0302020204030204" pitchFamily="34" charset="0"/>
                <a:ea typeface="+mn-ea"/>
                <a:cs typeface="+mn-cs"/>
              </a:rPr>
              <a:t>Objective #3:</a:t>
            </a:r>
          </a:p>
          <a:p>
            <a:pPr marL="4763" lvl="0" indent="-4763" algn="r" defTabSz="457200">
              <a:defRPr/>
            </a:pPr>
            <a:r>
              <a:rPr lang="en-US" sz="950" dirty="0">
                <a:solidFill>
                  <a:srgbClr val="E7E6E6">
                    <a:lumMod val="10000"/>
                  </a:srgbClr>
                </a:solidFill>
                <a:latin typeface="Source Sans Pro Light" panose="020F0302020204030204" pitchFamily="34" charset="0"/>
                <a:ea typeface="Source Sans Pro" panose="020B0503030403020204" pitchFamily="34" charset="0"/>
                <a:cs typeface="Source Sans Pro Light" panose="020F0302020204030204" pitchFamily="34" charset="0"/>
              </a:rPr>
              <a:t>ORD has established IT and Data Governance to provide policy, strategy, best practices, coordination, </a:t>
            </a:r>
            <a:br>
              <a:rPr lang="en-US" sz="950" dirty="0">
                <a:solidFill>
                  <a:srgbClr val="E7E6E6">
                    <a:lumMod val="10000"/>
                  </a:srgbClr>
                </a:solidFill>
                <a:latin typeface="Source Sans Pro Light" panose="020F0302020204030204" pitchFamily="34" charset="0"/>
                <a:ea typeface="Source Sans Pro" panose="020B0503030403020204" pitchFamily="34" charset="0"/>
                <a:cs typeface="Source Sans Pro Light" panose="020F0302020204030204" pitchFamily="34" charset="0"/>
              </a:rPr>
            </a:br>
            <a:r>
              <a:rPr lang="en-US" sz="950" dirty="0">
                <a:solidFill>
                  <a:srgbClr val="E7E6E6">
                    <a:lumMod val="10000"/>
                  </a:srgbClr>
                </a:solidFill>
                <a:latin typeface="Source Sans Pro Light" panose="020F0302020204030204" pitchFamily="34" charset="0"/>
                <a:ea typeface="Source Sans Pro" panose="020B0503030403020204" pitchFamily="34" charset="0"/>
                <a:cs typeface="Source Sans Pro Light" panose="020F0302020204030204" pitchFamily="34" charset="0"/>
              </a:rPr>
              <a:t>and standards aligned with the VA and VHA Data Management Strategy.</a:t>
            </a:r>
          </a:p>
        </p:txBody>
      </p:sp>
      <p:sp>
        <p:nvSpPr>
          <p:cNvPr id="82" name="Title 1">
            <a:extLst>
              <a:ext uri="{FF2B5EF4-FFF2-40B4-BE49-F238E27FC236}">
                <a16:creationId xmlns:a16="http://schemas.microsoft.com/office/drawing/2014/main" id="{9F574E2C-03DA-6649-947C-EED14E62D425}"/>
              </a:ext>
            </a:extLst>
          </p:cNvPr>
          <p:cNvSpPr txBox="1">
            <a:spLocks/>
          </p:cNvSpPr>
          <p:nvPr/>
        </p:nvSpPr>
        <p:spPr>
          <a:xfrm>
            <a:off x="348518" y="280698"/>
            <a:ext cx="11212513" cy="33178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b="1" kern="1200">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Source Sans Pro Light" panose="020F0302020204030204" pitchFamily="34" charset="0"/>
                <a:ea typeface="+mj-ea"/>
                <a:cs typeface="Source Sans Pro Light" panose="020F0302020204030204" pitchFamily="34" charset="0"/>
              </a:rPr>
              <a:t>IT and Data Governance Initiative: Timeline </a:t>
            </a:r>
            <a:r>
              <a:rPr kumimoji="0" lang="en-US" sz="2400" b="0" i="1" u="none" strike="noStrike" kern="1200" cap="none" spc="0" normalizeH="0" baseline="0" noProof="0" dirty="0">
                <a:ln>
                  <a:noFill/>
                </a:ln>
                <a:solidFill>
                  <a:prstClr val="white"/>
                </a:solidFill>
                <a:effectLst/>
                <a:uLnTx/>
                <a:uFillTx/>
                <a:latin typeface="Source Sans Pro Light" panose="020F0302020204030204" pitchFamily="34" charset="0"/>
                <a:ea typeface="+mj-ea"/>
                <a:cs typeface="Source Sans Pro Light" panose="020F0302020204030204" pitchFamily="34" charset="0"/>
              </a:rPr>
              <a:t>(Draft Roadmap Plan)</a:t>
            </a:r>
            <a:endParaRPr kumimoji="0" lang="en-US" sz="2400" b="1" i="0" u="none" strike="noStrike" kern="1200" cap="none" spc="0" normalizeH="0" baseline="0" noProof="0" dirty="0">
              <a:ln>
                <a:noFill/>
              </a:ln>
              <a:solidFill>
                <a:prstClr val="white"/>
              </a:solidFill>
              <a:effectLst/>
              <a:uLnTx/>
              <a:uFillTx/>
              <a:latin typeface="Source Sans Pro Light" panose="020F0302020204030204" pitchFamily="34" charset="0"/>
              <a:ea typeface="+mj-ea"/>
              <a:cs typeface="Source Sans Pro Light" panose="020F0302020204030204" pitchFamily="34" charset="0"/>
            </a:endParaRPr>
          </a:p>
        </p:txBody>
      </p:sp>
      <p:sp>
        <p:nvSpPr>
          <p:cNvPr id="250" name="Star: 5 Points 6">
            <a:extLst>
              <a:ext uri="{FF2B5EF4-FFF2-40B4-BE49-F238E27FC236}">
                <a16:creationId xmlns:a16="http://schemas.microsoft.com/office/drawing/2014/main" id="{B94CE3B4-57DD-154F-A0D8-098D2D5F3626}"/>
              </a:ext>
            </a:extLst>
          </p:cNvPr>
          <p:cNvSpPr/>
          <p:nvPr/>
        </p:nvSpPr>
        <p:spPr>
          <a:xfrm>
            <a:off x="10989091" y="93442"/>
            <a:ext cx="192024" cy="192024"/>
          </a:xfrm>
          <a:prstGeom prst="star5">
            <a:avLst/>
          </a:prstGeom>
          <a:solidFill>
            <a:srgbClr val="FFFF00"/>
          </a:solidFill>
          <a:ln w="31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Source Sans Pro Light" panose="020B0403030403020204" pitchFamily="34" charset="0"/>
              <a:ea typeface="Source Sans Pro Light" panose="020B0403030403020204" pitchFamily="34" charset="0"/>
              <a:cs typeface="+mn-cs"/>
            </a:endParaRPr>
          </a:p>
        </p:txBody>
      </p:sp>
      <p:sp>
        <p:nvSpPr>
          <p:cNvPr id="251" name="Rectangle 250">
            <a:extLst>
              <a:ext uri="{FF2B5EF4-FFF2-40B4-BE49-F238E27FC236}">
                <a16:creationId xmlns:a16="http://schemas.microsoft.com/office/drawing/2014/main" id="{396E6647-BBDD-B849-B7C7-D1CBA162DEB6}"/>
              </a:ext>
            </a:extLst>
          </p:cNvPr>
          <p:cNvSpPr/>
          <p:nvPr/>
        </p:nvSpPr>
        <p:spPr>
          <a:xfrm>
            <a:off x="11111882" y="66344"/>
            <a:ext cx="930391" cy="246221"/>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Source Sans Pro Light" panose="020B0403030403020204" pitchFamily="34" charset="0"/>
                <a:ea typeface="Source Sans Pro Light" panose="020B0403030403020204" pitchFamily="34" charset="0"/>
                <a:cs typeface="+mn-cs"/>
              </a:rPr>
              <a:t>Objective </a:t>
            </a:r>
          </a:p>
        </p:txBody>
      </p:sp>
      <p:sp>
        <p:nvSpPr>
          <p:cNvPr id="259" name="Diamond 258">
            <a:extLst>
              <a:ext uri="{FF2B5EF4-FFF2-40B4-BE49-F238E27FC236}">
                <a16:creationId xmlns:a16="http://schemas.microsoft.com/office/drawing/2014/main" id="{1886D4A0-D641-2A46-B1CA-52A98FBA0F08}"/>
              </a:ext>
            </a:extLst>
          </p:cNvPr>
          <p:cNvSpPr/>
          <p:nvPr/>
        </p:nvSpPr>
        <p:spPr>
          <a:xfrm>
            <a:off x="9509073" y="352882"/>
            <a:ext cx="137160" cy="192024"/>
          </a:xfrm>
          <a:prstGeom prst="diamond">
            <a:avLst/>
          </a:prstGeom>
          <a:solidFill>
            <a:schemeClr val="accent5">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Source Sans Pro Light" panose="020B0403030403020204" pitchFamily="34" charset="0"/>
              <a:ea typeface="Source Sans Pro Light" panose="020B0403030403020204" pitchFamily="34" charset="0"/>
              <a:cs typeface="+mn-cs"/>
            </a:endParaRPr>
          </a:p>
        </p:txBody>
      </p:sp>
      <p:sp>
        <p:nvSpPr>
          <p:cNvPr id="261" name="Diamond 260">
            <a:extLst>
              <a:ext uri="{FF2B5EF4-FFF2-40B4-BE49-F238E27FC236}">
                <a16:creationId xmlns:a16="http://schemas.microsoft.com/office/drawing/2014/main" id="{1346BA50-90B1-114C-90D8-2BBCD0157E30}"/>
              </a:ext>
            </a:extLst>
          </p:cNvPr>
          <p:cNvSpPr/>
          <p:nvPr/>
        </p:nvSpPr>
        <p:spPr>
          <a:xfrm>
            <a:off x="9509213" y="93442"/>
            <a:ext cx="137160" cy="192024"/>
          </a:xfrm>
          <a:prstGeom prst="diamond">
            <a:avLst/>
          </a:prstGeom>
          <a:solidFill>
            <a:srgbClr val="002E5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Source Sans Pro Light" panose="020B0403030403020204" pitchFamily="34" charset="0"/>
              <a:ea typeface="Source Sans Pro Light" panose="020B0403030403020204" pitchFamily="34" charset="0"/>
              <a:cs typeface="+mn-cs"/>
            </a:endParaRPr>
          </a:p>
        </p:txBody>
      </p:sp>
      <p:sp>
        <p:nvSpPr>
          <p:cNvPr id="262" name="Rectangle 261">
            <a:extLst>
              <a:ext uri="{FF2B5EF4-FFF2-40B4-BE49-F238E27FC236}">
                <a16:creationId xmlns:a16="http://schemas.microsoft.com/office/drawing/2014/main" id="{D05E4418-B343-4546-AE7A-E8E5C701527D}"/>
              </a:ext>
            </a:extLst>
          </p:cNvPr>
          <p:cNvSpPr/>
          <p:nvPr/>
        </p:nvSpPr>
        <p:spPr>
          <a:xfrm>
            <a:off x="9599087" y="66344"/>
            <a:ext cx="1213997" cy="246221"/>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Source Sans Pro Light" panose="020B0403030403020204" pitchFamily="34" charset="0"/>
                <a:ea typeface="Source Sans Pro Light" panose="020B0403030403020204" pitchFamily="34" charset="0"/>
                <a:cs typeface="+mn-cs"/>
              </a:rPr>
              <a:t>Specified Milestone</a:t>
            </a:r>
          </a:p>
        </p:txBody>
      </p:sp>
      <p:sp>
        <p:nvSpPr>
          <p:cNvPr id="263" name="Rectangle 262">
            <a:extLst>
              <a:ext uri="{FF2B5EF4-FFF2-40B4-BE49-F238E27FC236}">
                <a16:creationId xmlns:a16="http://schemas.microsoft.com/office/drawing/2014/main" id="{3BFA55DD-4834-D346-974F-69267D2C5516}"/>
              </a:ext>
            </a:extLst>
          </p:cNvPr>
          <p:cNvSpPr/>
          <p:nvPr/>
        </p:nvSpPr>
        <p:spPr>
          <a:xfrm>
            <a:off x="9599087" y="325784"/>
            <a:ext cx="1141297" cy="246221"/>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Source Sans Pro Light" panose="020B0403030403020204" pitchFamily="34" charset="0"/>
                <a:ea typeface="Source Sans Pro Light" panose="020B0403030403020204" pitchFamily="34" charset="0"/>
                <a:cs typeface="+mn-cs"/>
              </a:rPr>
              <a:t>Implied Milestone</a:t>
            </a:r>
          </a:p>
        </p:txBody>
      </p:sp>
      <p:sp>
        <p:nvSpPr>
          <p:cNvPr id="189" name="Rectangle 188">
            <a:extLst>
              <a:ext uri="{FF2B5EF4-FFF2-40B4-BE49-F238E27FC236}">
                <a16:creationId xmlns:a16="http://schemas.microsoft.com/office/drawing/2014/main" id="{AD58A262-0199-5440-A649-6EC2B0558EFD}"/>
              </a:ext>
            </a:extLst>
          </p:cNvPr>
          <p:cNvSpPr/>
          <p:nvPr/>
        </p:nvSpPr>
        <p:spPr>
          <a:xfrm>
            <a:off x="28286" y="6421894"/>
            <a:ext cx="3145841" cy="353943"/>
          </a:xfrm>
          <a:prstGeom prst="rect">
            <a:avLst/>
          </a:prstGeom>
          <a:noFill/>
        </p:spPr>
        <p:txBody>
          <a:bodyPr wrap="square" lIns="0" tIns="0" rIns="0">
            <a:spAutoFit/>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white"/>
                </a:solidFill>
                <a:effectLst/>
                <a:uLnTx/>
                <a:uFillTx/>
                <a:latin typeface="Source Sans Pro" panose="020B0503030403020204" pitchFamily="34" charset="0"/>
                <a:ea typeface="Source Sans Pro" panose="020B0503030403020204" pitchFamily="34" charset="0"/>
                <a:cs typeface="+mn-cs"/>
              </a:rPr>
              <a:t>Phase 1:</a:t>
            </a:r>
          </a:p>
          <a:p>
            <a:pPr marL="0" marR="0" lvl="0" indent="0" algn="ctr" defTabSz="457200" rtl="0" eaLnBrk="1" fontAlgn="ctr"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white"/>
                </a:solidFill>
                <a:effectLst/>
                <a:uLnTx/>
                <a:uFillTx/>
                <a:latin typeface="Source Sans Pro" panose="020B0503030403020204" pitchFamily="34" charset="0"/>
                <a:ea typeface="Source Sans Pro" panose="020B0503030403020204" pitchFamily="34" charset="0"/>
                <a:cs typeface="+mn-cs"/>
              </a:rPr>
              <a:t>Understanding and Assessment</a:t>
            </a:r>
          </a:p>
        </p:txBody>
      </p:sp>
      <p:sp>
        <p:nvSpPr>
          <p:cNvPr id="194" name="Rectangle 193">
            <a:extLst>
              <a:ext uri="{FF2B5EF4-FFF2-40B4-BE49-F238E27FC236}">
                <a16:creationId xmlns:a16="http://schemas.microsoft.com/office/drawing/2014/main" id="{9865CF65-E483-974A-8952-C2806DC2BD23}"/>
              </a:ext>
            </a:extLst>
          </p:cNvPr>
          <p:cNvSpPr/>
          <p:nvPr/>
        </p:nvSpPr>
        <p:spPr>
          <a:xfrm>
            <a:off x="8515627" y="6421894"/>
            <a:ext cx="2172230" cy="353943"/>
          </a:xfrm>
          <a:prstGeom prst="rect">
            <a:avLst/>
          </a:prstGeom>
          <a:noFill/>
        </p:spPr>
        <p:txBody>
          <a:bodyPr wrap="square" lIns="0" tIns="0" rIns="0">
            <a:spAutoFit/>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white"/>
                </a:solidFill>
                <a:effectLst/>
                <a:uLnTx/>
                <a:uFillTx/>
                <a:latin typeface="Source Sans Pro" panose="020B0503030403020204" pitchFamily="34" charset="0"/>
                <a:ea typeface="Source Sans Pro" panose="020B0503030403020204" pitchFamily="34" charset="0"/>
                <a:cs typeface="+mn-cs"/>
              </a:rPr>
              <a:t>Phase 5: </a:t>
            </a:r>
          </a:p>
          <a:p>
            <a:pPr marL="0" marR="0" lvl="0" indent="0" algn="ctr" defTabSz="457200" rtl="0" eaLnBrk="1" fontAlgn="ctr"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white"/>
                </a:solidFill>
                <a:effectLst/>
                <a:uLnTx/>
                <a:uFillTx/>
                <a:latin typeface="Source Sans Pro" panose="020B0503030403020204" pitchFamily="34" charset="0"/>
                <a:ea typeface="Source Sans Pro" panose="020B0503030403020204" pitchFamily="34" charset="0"/>
                <a:cs typeface="+mn-cs"/>
              </a:rPr>
              <a:t>Implementation and Support</a:t>
            </a:r>
          </a:p>
        </p:txBody>
      </p:sp>
      <p:sp>
        <p:nvSpPr>
          <p:cNvPr id="190" name="Rectangle 189">
            <a:extLst>
              <a:ext uri="{FF2B5EF4-FFF2-40B4-BE49-F238E27FC236}">
                <a16:creationId xmlns:a16="http://schemas.microsoft.com/office/drawing/2014/main" id="{7728842F-E1D4-5C44-85C5-74087A417ABB}"/>
              </a:ext>
            </a:extLst>
          </p:cNvPr>
          <p:cNvSpPr/>
          <p:nvPr/>
        </p:nvSpPr>
        <p:spPr>
          <a:xfrm>
            <a:off x="3174129" y="6421894"/>
            <a:ext cx="2638982" cy="353943"/>
          </a:xfrm>
          <a:prstGeom prst="rect">
            <a:avLst/>
          </a:prstGeom>
          <a:noFill/>
        </p:spPr>
        <p:txBody>
          <a:bodyPr wrap="square" lIns="0" tIns="0" rIns="0">
            <a:spAutoFit/>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white"/>
                </a:solidFill>
                <a:effectLst/>
                <a:uLnTx/>
                <a:uFillTx/>
                <a:latin typeface="Source Sans Pro" panose="020B0503030403020204" pitchFamily="34" charset="0"/>
                <a:ea typeface="Source Sans Pro" panose="020B0503030403020204" pitchFamily="34" charset="0"/>
                <a:cs typeface="+mn-cs"/>
              </a:rPr>
              <a:t>Phase 2: </a:t>
            </a:r>
          </a:p>
          <a:p>
            <a:pPr marL="0" marR="0" lvl="0" indent="0" algn="ctr" defTabSz="457200" rtl="0" eaLnBrk="1" fontAlgn="ctr"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white"/>
                </a:solidFill>
                <a:effectLst/>
                <a:uLnTx/>
                <a:uFillTx/>
                <a:latin typeface="Source Sans Pro" panose="020B0503030403020204" pitchFamily="34" charset="0"/>
                <a:ea typeface="Source Sans Pro" panose="020B0503030403020204" pitchFamily="34" charset="0"/>
                <a:cs typeface="+mn-cs"/>
              </a:rPr>
              <a:t>Inventory and Analysis</a:t>
            </a:r>
          </a:p>
        </p:txBody>
      </p:sp>
      <p:sp>
        <p:nvSpPr>
          <p:cNvPr id="191" name="Rectangle 190">
            <a:extLst>
              <a:ext uri="{FF2B5EF4-FFF2-40B4-BE49-F238E27FC236}">
                <a16:creationId xmlns:a16="http://schemas.microsoft.com/office/drawing/2014/main" id="{38CA23F6-3BAB-2041-8FC9-AAA2559CB6B5}"/>
              </a:ext>
            </a:extLst>
          </p:cNvPr>
          <p:cNvSpPr/>
          <p:nvPr/>
        </p:nvSpPr>
        <p:spPr>
          <a:xfrm>
            <a:off x="5819766" y="6421894"/>
            <a:ext cx="2673458" cy="353943"/>
          </a:xfrm>
          <a:prstGeom prst="rect">
            <a:avLst/>
          </a:prstGeom>
          <a:noFill/>
        </p:spPr>
        <p:txBody>
          <a:bodyPr wrap="square" lIns="0" tIns="0" rIns="0">
            <a:spAutoFit/>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white"/>
                </a:solidFill>
                <a:effectLst/>
                <a:uLnTx/>
                <a:uFillTx/>
                <a:latin typeface="Source Sans Pro" panose="020B0503030403020204" pitchFamily="34" charset="0"/>
                <a:ea typeface="Source Sans Pro" panose="020B0503030403020204" pitchFamily="34" charset="0"/>
                <a:cs typeface="+mn-cs"/>
              </a:rPr>
              <a:t>Phase 4: </a:t>
            </a:r>
          </a:p>
          <a:p>
            <a:pPr marL="0" marR="0" lvl="0" indent="0" algn="ctr" defTabSz="457200" rtl="0" eaLnBrk="1" fontAlgn="ctr"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white"/>
                </a:solidFill>
                <a:effectLst/>
                <a:uLnTx/>
                <a:uFillTx/>
                <a:latin typeface="Source Sans Pro" panose="020B0503030403020204" pitchFamily="34" charset="0"/>
                <a:ea typeface="Source Sans Pro" panose="020B0503030403020204" pitchFamily="34" charset="0"/>
                <a:cs typeface="+mn-cs"/>
              </a:rPr>
              <a:t>Plan Development</a:t>
            </a:r>
          </a:p>
        </p:txBody>
      </p:sp>
      <p:cxnSp>
        <p:nvCxnSpPr>
          <p:cNvPr id="36" name="Straight Connector 35">
            <a:extLst>
              <a:ext uri="{FF2B5EF4-FFF2-40B4-BE49-F238E27FC236}">
                <a16:creationId xmlns:a16="http://schemas.microsoft.com/office/drawing/2014/main" id="{8D7E0A97-A356-8842-9326-8A7C3225CBD4}"/>
              </a:ext>
            </a:extLst>
          </p:cNvPr>
          <p:cNvCxnSpPr>
            <a:cxnSpLocks/>
          </p:cNvCxnSpPr>
          <p:nvPr/>
        </p:nvCxnSpPr>
        <p:spPr>
          <a:xfrm>
            <a:off x="3164941" y="882123"/>
            <a:ext cx="0" cy="5851186"/>
          </a:xfrm>
          <a:prstGeom prst="line">
            <a:avLst/>
          </a:prstGeom>
          <a:ln w="38100">
            <a:prstDash val="sysDot"/>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2FCCCB02-A281-9643-9855-7B6EF60CB712}"/>
              </a:ext>
            </a:extLst>
          </p:cNvPr>
          <p:cNvCxnSpPr>
            <a:cxnSpLocks/>
          </p:cNvCxnSpPr>
          <p:nvPr/>
        </p:nvCxnSpPr>
        <p:spPr>
          <a:xfrm>
            <a:off x="6479469" y="882123"/>
            <a:ext cx="0" cy="5893714"/>
          </a:xfrm>
          <a:prstGeom prst="line">
            <a:avLst/>
          </a:prstGeom>
          <a:ln w="38100">
            <a:prstDash val="sysDot"/>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15ACDF62-E1A7-8B4A-A79C-B20502B033D6}"/>
              </a:ext>
            </a:extLst>
          </p:cNvPr>
          <p:cNvCxnSpPr>
            <a:cxnSpLocks/>
          </p:cNvCxnSpPr>
          <p:nvPr/>
        </p:nvCxnSpPr>
        <p:spPr>
          <a:xfrm>
            <a:off x="8497022" y="882123"/>
            <a:ext cx="0" cy="5893714"/>
          </a:xfrm>
          <a:prstGeom prst="line">
            <a:avLst/>
          </a:prstGeom>
          <a:ln w="38100">
            <a:prstDash val="sysDot"/>
          </a:ln>
        </p:spPr>
        <p:style>
          <a:lnRef idx="1">
            <a:schemeClr val="accent1"/>
          </a:lnRef>
          <a:fillRef idx="0">
            <a:schemeClr val="accent1"/>
          </a:fillRef>
          <a:effectRef idx="0">
            <a:schemeClr val="accent1"/>
          </a:effectRef>
          <a:fontRef idx="minor">
            <a:schemeClr val="tx1"/>
          </a:fontRef>
        </p:style>
      </p:cxnSp>
      <p:sp>
        <p:nvSpPr>
          <p:cNvPr id="147" name="Right Arrow 101">
            <a:extLst>
              <a:ext uri="{FF2B5EF4-FFF2-40B4-BE49-F238E27FC236}">
                <a16:creationId xmlns:a16="http://schemas.microsoft.com/office/drawing/2014/main" id="{69BFD2C3-92D3-4AD4-BCE7-1F4461F4FE24}"/>
              </a:ext>
            </a:extLst>
          </p:cNvPr>
          <p:cNvSpPr/>
          <p:nvPr/>
        </p:nvSpPr>
        <p:spPr>
          <a:xfrm>
            <a:off x="63011" y="4557730"/>
            <a:ext cx="10633217" cy="1513793"/>
          </a:xfrm>
          <a:prstGeom prst="rightArrow">
            <a:avLst>
              <a:gd name="adj1" fmla="val 82258"/>
              <a:gd name="adj2" fmla="val 52419"/>
            </a:avLst>
          </a:prstGeom>
          <a:solidFill>
            <a:srgbClr val="BDD7F0"/>
          </a:solidFill>
          <a:ln w="63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Source Sans Pro Light" panose="020F0302020204030204" pitchFamily="34" charset="0"/>
              <a:ea typeface="+mn-ea"/>
              <a:cs typeface="Source Sans Pro Light" panose="020F0302020204030204" pitchFamily="34" charset="0"/>
            </a:endParaRPr>
          </a:p>
        </p:txBody>
      </p:sp>
      <p:sp>
        <p:nvSpPr>
          <p:cNvPr id="148" name="Right Arrow 101">
            <a:extLst>
              <a:ext uri="{FF2B5EF4-FFF2-40B4-BE49-F238E27FC236}">
                <a16:creationId xmlns:a16="http://schemas.microsoft.com/office/drawing/2014/main" id="{98F1FE10-E50A-447A-AB69-AE4A7E4B2AFF}"/>
              </a:ext>
            </a:extLst>
          </p:cNvPr>
          <p:cNvSpPr/>
          <p:nvPr/>
        </p:nvSpPr>
        <p:spPr>
          <a:xfrm>
            <a:off x="74749" y="2980930"/>
            <a:ext cx="10633217" cy="1530392"/>
          </a:xfrm>
          <a:prstGeom prst="rightArrow">
            <a:avLst>
              <a:gd name="adj1" fmla="val 82258"/>
              <a:gd name="adj2" fmla="val 52419"/>
            </a:avLst>
          </a:prstGeom>
          <a:solidFill>
            <a:srgbClr val="BDD7F0"/>
          </a:solidFill>
          <a:ln w="63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Source Sans Pro Light" panose="020F0302020204030204" pitchFamily="34" charset="0"/>
              <a:ea typeface="+mn-ea"/>
              <a:cs typeface="Source Sans Pro Light" panose="020F0302020204030204" pitchFamily="34" charset="0"/>
            </a:endParaRPr>
          </a:p>
        </p:txBody>
      </p:sp>
      <p:sp>
        <p:nvSpPr>
          <p:cNvPr id="149" name="Right Arrow 101">
            <a:extLst>
              <a:ext uri="{FF2B5EF4-FFF2-40B4-BE49-F238E27FC236}">
                <a16:creationId xmlns:a16="http://schemas.microsoft.com/office/drawing/2014/main" id="{18D7F1CB-EB80-4BAF-AF94-B1C8AA54C0BE}"/>
              </a:ext>
            </a:extLst>
          </p:cNvPr>
          <p:cNvSpPr/>
          <p:nvPr/>
        </p:nvSpPr>
        <p:spPr>
          <a:xfrm>
            <a:off x="74749" y="1403853"/>
            <a:ext cx="10633217" cy="1526763"/>
          </a:xfrm>
          <a:prstGeom prst="rightArrow">
            <a:avLst>
              <a:gd name="adj1" fmla="val 82258"/>
              <a:gd name="adj2" fmla="val 52419"/>
            </a:avLst>
          </a:prstGeom>
          <a:solidFill>
            <a:srgbClr val="BDD7F0"/>
          </a:solidFill>
          <a:ln w="63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Source Sans Pro Light" panose="020F0302020204030204" pitchFamily="34" charset="0"/>
              <a:ea typeface="+mn-ea"/>
              <a:cs typeface="Source Sans Pro Light" panose="020F0302020204030204" pitchFamily="34" charset="0"/>
            </a:endParaRPr>
          </a:p>
        </p:txBody>
      </p:sp>
      <p:cxnSp>
        <p:nvCxnSpPr>
          <p:cNvPr id="91" name="Straight Arrow Connector 90">
            <a:extLst>
              <a:ext uri="{FF2B5EF4-FFF2-40B4-BE49-F238E27FC236}">
                <a16:creationId xmlns:a16="http://schemas.microsoft.com/office/drawing/2014/main" id="{608E7690-9B96-D24F-A168-F348D7360EB9}"/>
              </a:ext>
            </a:extLst>
          </p:cNvPr>
          <p:cNvCxnSpPr>
            <a:cxnSpLocks/>
          </p:cNvCxnSpPr>
          <p:nvPr/>
        </p:nvCxnSpPr>
        <p:spPr>
          <a:xfrm flipV="1">
            <a:off x="63011" y="5303245"/>
            <a:ext cx="5641175" cy="1"/>
          </a:xfrm>
          <a:prstGeom prst="straightConnector1">
            <a:avLst/>
          </a:prstGeom>
          <a:ln w="19050">
            <a:solidFill>
              <a:schemeClr val="tx1"/>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6" name="Straight Arrow Connector 84">
            <a:extLst>
              <a:ext uri="{FF2B5EF4-FFF2-40B4-BE49-F238E27FC236}">
                <a16:creationId xmlns:a16="http://schemas.microsoft.com/office/drawing/2014/main" id="{03352A8F-B6BD-0B4E-AC59-BEEAEE63B806}"/>
              </a:ext>
            </a:extLst>
          </p:cNvPr>
          <p:cNvCxnSpPr>
            <a:cxnSpLocks/>
          </p:cNvCxnSpPr>
          <p:nvPr/>
        </p:nvCxnSpPr>
        <p:spPr>
          <a:xfrm>
            <a:off x="74749" y="3745157"/>
            <a:ext cx="5629437" cy="1939"/>
          </a:xfrm>
          <a:prstGeom prst="straightConnector1">
            <a:avLst/>
          </a:prstGeom>
          <a:ln w="19050">
            <a:solidFill>
              <a:schemeClr val="tx1"/>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5" name="Diamond 134">
            <a:extLst>
              <a:ext uri="{FF2B5EF4-FFF2-40B4-BE49-F238E27FC236}">
                <a16:creationId xmlns:a16="http://schemas.microsoft.com/office/drawing/2014/main" id="{D4C8AD17-6B03-3944-9F02-C5793CCBAC36}"/>
              </a:ext>
            </a:extLst>
          </p:cNvPr>
          <p:cNvSpPr>
            <a:spLocks noChangeAspect="1"/>
          </p:cNvSpPr>
          <p:nvPr/>
        </p:nvSpPr>
        <p:spPr>
          <a:xfrm>
            <a:off x="5704186" y="5131746"/>
            <a:ext cx="261257" cy="365760"/>
          </a:xfrm>
          <a:prstGeom prst="diamond">
            <a:avLst/>
          </a:prstGeom>
          <a:solidFill>
            <a:srgbClr val="002E56"/>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Source Sans Pro Light" panose="020B0403030403020204" pitchFamily="34" charset="0"/>
              <a:ea typeface="Source Sans Pro Light" panose="020B0403030403020204" pitchFamily="34" charset="0"/>
              <a:cs typeface="+mn-cs"/>
            </a:endParaRPr>
          </a:p>
        </p:txBody>
      </p:sp>
      <p:sp>
        <p:nvSpPr>
          <p:cNvPr id="53" name="Diamond 52">
            <a:extLst>
              <a:ext uri="{FF2B5EF4-FFF2-40B4-BE49-F238E27FC236}">
                <a16:creationId xmlns:a16="http://schemas.microsoft.com/office/drawing/2014/main" id="{01AEBD52-7717-C44F-A65A-7F24D135B150}"/>
              </a:ext>
            </a:extLst>
          </p:cNvPr>
          <p:cNvSpPr>
            <a:spLocks noChangeAspect="1"/>
          </p:cNvSpPr>
          <p:nvPr/>
        </p:nvSpPr>
        <p:spPr>
          <a:xfrm>
            <a:off x="5709416" y="2353737"/>
            <a:ext cx="261257" cy="365760"/>
          </a:xfrm>
          <a:prstGeom prst="diamond">
            <a:avLst/>
          </a:prstGeom>
          <a:solidFill>
            <a:srgbClr val="002E56"/>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Source Sans Pro Light" panose="020B0403030403020204" pitchFamily="34" charset="0"/>
              <a:ea typeface="Source Sans Pro Light" panose="020B0403030403020204" pitchFamily="34" charset="0"/>
              <a:cs typeface="+mn-cs"/>
            </a:endParaRPr>
          </a:p>
        </p:txBody>
      </p:sp>
      <p:sp>
        <p:nvSpPr>
          <p:cNvPr id="54" name="Rectangle 53">
            <a:extLst>
              <a:ext uri="{FF2B5EF4-FFF2-40B4-BE49-F238E27FC236}">
                <a16:creationId xmlns:a16="http://schemas.microsoft.com/office/drawing/2014/main" id="{6811E287-ECD8-2542-96E4-F1C681446A42}"/>
              </a:ext>
            </a:extLst>
          </p:cNvPr>
          <p:cNvSpPr/>
          <p:nvPr/>
        </p:nvSpPr>
        <p:spPr>
          <a:xfrm>
            <a:off x="4227600" y="1814597"/>
            <a:ext cx="1610408" cy="369332"/>
          </a:xfrm>
          <a:prstGeom prst="rect">
            <a:avLst/>
          </a:prstGeom>
          <a:noFill/>
          <a:ln>
            <a:noFill/>
            <a:prstDash val="sysDash"/>
          </a:ln>
        </p:spPr>
        <p:txBody>
          <a:bodyPr wrap="square" lIns="0" r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Source Sans Pro Light" panose="020B0403030403020204" pitchFamily="34" charset="0"/>
                <a:ea typeface="Source Sans Pro Light" panose="020B0403030403020204" pitchFamily="34" charset="0"/>
                <a:cs typeface="Calibri" panose="020F0502020204030204" pitchFamily="34" charset="0"/>
              </a:rPr>
              <a:t>MS 1.2:  Component inventory </a:t>
            </a:r>
            <a:br>
              <a:rPr kumimoji="0" lang="en-US" sz="900" b="0" i="0" u="none" strike="noStrike" kern="1200" cap="none" spc="0" normalizeH="0" baseline="0" noProof="0" dirty="0">
                <a:ln>
                  <a:noFill/>
                </a:ln>
                <a:solidFill>
                  <a:prstClr val="black"/>
                </a:solidFill>
                <a:effectLst/>
                <a:uLnTx/>
                <a:uFillTx/>
                <a:latin typeface="Source Sans Pro Light" panose="020B0403030403020204" pitchFamily="34" charset="0"/>
                <a:ea typeface="Source Sans Pro Light" panose="020B0403030403020204" pitchFamily="34" charset="0"/>
                <a:cs typeface="Calibri" panose="020F0502020204030204" pitchFamily="34" charset="0"/>
              </a:rPr>
            </a:br>
            <a:r>
              <a:rPr kumimoji="0" lang="en-US" sz="900" b="0" i="0" u="none" strike="noStrike" kern="1200" cap="none" spc="0" normalizeH="0" baseline="0" noProof="0" dirty="0">
                <a:ln>
                  <a:noFill/>
                </a:ln>
                <a:solidFill>
                  <a:prstClr val="black"/>
                </a:solidFill>
                <a:effectLst/>
                <a:uLnTx/>
                <a:uFillTx/>
                <a:latin typeface="Source Sans Pro Light" panose="020B0403030403020204" pitchFamily="34" charset="0"/>
                <a:ea typeface="Source Sans Pro Light" panose="020B0403030403020204" pitchFamily="34" charset="0"/>
                <a:cs typeface="Calibri" panose="020F0502020204030204" pitchFamily="34" charset="0"/>
              </a:rPr>
              <a:t>conducted &amp; catalogued</a:t>
            </a:r>
            <a:endParaRPr kumimoji="0" lang="en-US" sz="900" b="0" i="0" u="none" strike="noStrike" kern="1200" cap="none" spc="0" normalizeH="0" baseline="0" noProof="0" dirty="0">
              <a:ln>
                <a:noFill/>
              </a:ln>
              <a:solidFill>
                <a:prstClr val="black"/>
              </a:solidFill>
              <a:effectLst/>
              <a:uLnTx/>
              <a:uFillTx/>
              <a:latin typeface="Source Sans Pro Light" panose="020B0403030403020204" pitchFamily="34" charset="0"/>
              <a:ea typeface="Source Sans Pro Light" panose="020B0403030403020204" pitchFamily="34" charset="0"/>
              <a:cs typeface="Source Sans Pro Light" panose="020F0302020204030204" pitchFamily="34" charset="0"/>
            </a:endParaRPr>
          </a:p>
        </p:txBody>
      </p:sp>
      <p:cxnSp>
        <p:nvCxnSpPr>
          <p:cNvPr id="58" name="Straight Arrow Connector 107">
            <a:extLst>
              <a:ext uri="{FF2B5EF4-FFF2-40B4-BE49-F238E27FC236}">
                <a16:creationId xmlns:a16="http://schemas.microsoft.com/office/drawing/2014/main" id="{026E2B46-407D-D54A-9E96-24685CEF6232}"/>
              </a:ext>
            </a:extLst>
          </p:cNvPr>
          <p:cNvCxnSpPr>
            <a:cxnSpLocks/>
            <a:stCxn id="109" idx="3"/>
            <a:endCxn id="296" idx="2"/>
          </p:cNvCxnSpPr>
          <p:nvPr/>
        </p:nvCxnSpPr>
        <p:spPr>
          <a:xfrm flipV="1">
            <a:off x="5965443" y="2347156"/>
            <a:ext cx="513495" cy="1398970"/>
          </a:xfrm>
          <a:prstGeom prst="bentConnector2">
            <a:avLst/>
          </a:prstGeom>
          <a:ln w="19050">
            <a:solidFill>
              <a:schemeClr val="bg2">
                <a:lumMod val="25000"/>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8" name="Rectangle 97">
            <a:extLst>
              <a:ext uri="{FF2B5EF4-FFF2-40B4-BE49-F238E27FC236}">
                <a16:creationId xmlns:a16="http://schemas.microsoft.com/office/drawing/2014/main" id="{4F795A9C-518B-2F4A-A1C1-0BB991BA12CC}"/>
              </a:ext>
            </a:extLst>
          </p:cNvPr>
          <p:cNvSpPr/>
          <p:nvPr/>
        </p:nvSpPr>
        <p:spPr>
          <a:xfrm>
            <a:off x="5093092" y="4764346"/>
            <a:ext cx="1289293" cy="507831"/>
          </a:xfrm>
          <a:prstGeom prst="rect">
            <a:avLst/>
          </a:prstGeom>
          <a:noFill/>
          <a:ln>
            <a:noFill/>
            <a:prstDash val="sysDash"/>
          </a:ln>
        </p:spPr>
        <p:txBody>
          <a:bodyPr wrap="square" lIns="0" rIns="0">
            <a:spAutoFit/>
          </a:bodyPr>
          <a:lstStyle/>
          <a:p>
            <a:pPr marL="0" marR="0" lvl="2"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Source Sans Pro Light" panose="020B0403030403020204" pitchFamily="34" charset="0"/>
                <a:ea typeface="Source Sans Pro Light" panose="020B0403030403020204" pitchFamily="34" charset="0"/>
                <a:cs typeface="Source Sans Pro Light" panose="020F0302020204030204" pitchFamily="34" charset="0"/>
              </a:rPr>
              <a:t>MS 3.1: </a:t>
            </a:r>
            <a:r>
              <a:rPr kumimoji="0" lang="en-US" sz="900" b="0" i="0" u="none" strike="noStrike" kern="1200" cap="none" spc="0" normalizeH="0" baseline="0" noProof="0" dirty="0">
                <a:ln>
                  <a:noFill/>
                </a:ln>
                <a:solidFill>
                  <a:prstClr val="black"/>
                </a:solidFill>
                <a:effectLst/>
                <a:uLnTx/>
                <a:uFillTx/>
                <a:latin typeface="Source Sans Pro Light" panose="020B0403030403020204" pitchFamily="34" charset="0"/>
                <a:ea typeface="Source Sans Pro Light" panose="020B0403030403020204" pitchFamily="34" charset="0"/>
                <a:cs typeface="Calibri" panose="020F0502020204030204" pitchFamily="34" charset="0"/>
              </a:rPr>
              <a:t>Current governance &amp; policies inventoried </a:t>
            </a:r>
            <a:br>
              <a:rPr kumimoji="0" lang="en-US" sz="900" b="0" i="0" u="none" strike="noStrike" kern="1200" cap="none" spc="0" normalizeH="0" baseline="0" noProof="0" dirty="0">
                <a:ln>
                  <a:noFill/>
                </a:ln>
                <a:solidFill>
                  <a:prstClr val="black"/>
                </a:solidFill>
                <a:effectLst/>
                <a:uLnTx/>
                <a:uFillTx/>
                <a:latin typeface="Source Sans Pro Light" panose="020B0403030403020204" pitchFamily="34" charset="0"/>
                <a:ea typeface="Source Sans Pro Light" panose="020B0403030403020204" pitchFamily="34" charset="0"/>
                <a:cs typeface="Calibri" panose="020F0502020204030204" pitchFamily="34" charset="0"/>
              </a:rPr>
            </a:br>
            <a:r>
              <a:rPr kumimoji="0" lang="en-US" sz="900" b="0" i="0" u="none" strike="noStrike" kern="1200" cap="none" spc="0" normalizeH="0" baseline="0" noProof="0" dirty="0">
                <a:ln>
                  <a:noFill/>
                </a:ln>
                <a:solidFill>
                  <a:prstClr val="black"/>
                </a:solidFill>
                <a:effectLst/>
                <a:uLnTx/>
                <a:uFillTx/>
                <a:latin typeface="Source Sans Pro Light" panose="020B0403030403020204" pitchFamily="34" charset="0"/>
                <a:ea typeface="Source Sans Pro Light" panose="020B0403030403020204" pitchFamily="34" charset="0"/>
                <a:cs typeface="Calibri" panose="020F0502020204030204" pitchFamily="34" charset="0"/>
              </a:rPr>
              <a:t>and reviewed</a:t>
            </a:r>
            <a:endParaRPr kumimoji="0" lang="en-US" sz="900" b="0" i="0" u="none" strike="noStrike" kern="1200" cap="none" spc="0" normalizeH="0" baseline="0" noProof="0" dirty="0">
              <a:ln>
                <a:noFill/>
              </a:ln>
              <a:solidFill>
                <a:prstClr val="black"/>
              </a:solidFill>
              <a:effectLst/>
              <a:uLnTx/>
              <a:uFillTx/>
              <a:latin typeface="Source Sans Pro Light" panose="020B0403030403020204" pitchFamily="34" charset="0"/>
              <a:ea typeface="Source Sans Pro Light" panose="020B0403030403020204" pitchFamily="34" charset="0"/>
              <a:cs typeface="Source Sans Pro Light" panose="020F0302020204030204" pitchFamily="34" charset="0"/>
            </a:endParaRPr>
          </a:p>
        </p:txBody>
      </p:sp>
      <p:sp>
        <p:nvSpPr>
          <p:cNvPr id="108" name="Rectangle 107">
            <a:extLst>
              <a:ext uri="{FF2B5EF4-FFF2-40B4-BE49-F238E27FC236}">
                <a16:creationId xmlns:a16="http://schemas.microsoft.com/office/drawing/2014/main" id="{9A177597-056D-CA4E-ACC0-175940B776D1}"/>
              </a:ext>
            </a:extLst>
          </p:cNvPr>
          <p:cNvSpPr/>
          <p:nvPr/>
        </p:nvSpPr>
        <p:spPr>
          <a:xfrm>
            <a:off x="9539290" y="4764346"/>
            <a:ext cx="1098177" cy="507831"/>
          </a:xfrm>
          <a:prstGeom prst="rect">
            <a:avLst/>
          </a:prstGeom>
          <a:noFill/>
          <a:ln>
            <a:noFill/>
            <a:prstDash val="sysDash"/>
          </a:ln>
        </p:spPr>
        <p:txBody>
          <a:bodyPr wrap="square" lIns="0" rIns="91440">
            <a:spAutoFit/>
          </a:bodyPr>
          <a:lstStyle/>
          <a:p>
            <a:pPr marL="0" marR="0" lvl="2"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Source Sans Pro Light" panose="020B0403030403020204" pitchFamily="34" charset="0"/>
                <a:ea typeface="Source Sans Pro Light" panose="020B0403030403020204" pitchFamily="34" charset="0"/>
                <a:cs typeface="Source Sans Pro Light" panose="020F0302020204030204" pitchFamily="34" charset="0"/>
              </a:rPr>
              <a:t>MS 3.3: First set of  </a:t>
            </a:r>
            <a:r>
              <a:rPr kumimoji="0" lang="en-US" sz="900" b="0" i="0" u="none" strike="noStrike" kern="1200" cap="none" spc="0" normalizeH="0" baseline="0" noProof="0" dirty="0">
                <a:ln>
                  <a:noFill/>
                </a:ln>
                <a:solidFill>
                  <a:prstClr val="black"/>
                </a:solidFill>
                <a:effectLst/>
                <a:uLnTx/>
                <a:uFillTx/>
                <a:latin typeface="Source Sans Pro Light" panose="020B0403030403020204" pitchFamily="34" charset="0"/>
                <a:ea typeface="Source Sans Pro Light" panose="020B0403030403020204" pitchFamily="34" charset="0"/>
                <a:cs typeface="Calibri" panose="020F0502020204030204" pitchFamily="34" charset="0"/>
              </a:rPr>
              <a:t>new and updated policies published</a:t>
            </a:r>
            <a:endParaRPr kumimoji="0" lang="en-US" sz="900" b="0" i="0" u="none" strike="noStrike" kern="1200" cap="none" spc="0" normalizeH="0" baseline="0" noProof="0" dirty="0">
              <a:ln>
                <a:noFill/>
              </a:ln>
              <a:solidFill>
                <a:prstClr val="black"/>
              </a:solidFill>
              <a:effectLst/>
              <a:uLnTx/>
              <a:uFillTx/>
              <a:latin typeface="Source Sans Pro Light" panose="020B0403030403020204" pitchFamily="34" charset="0"/>
              <a:ea typeface="Source Sans Pro Light" panose="020B0403030403020204" pitchFamily="34" charset="0"/>
              <a:cs typeface="Source Sans Pro Light" panose="020F0302020204030204" pitchFamily="34" charset="0"/>
            </a:endParaRPr>
          </a:p>
        </p:txBody>
      </p:sp>
      <p:sp>
        <p:nvSpPr>
          <p:cNvPr id="109" name="Diamond 108">
            <a:extLst>
              <a:ext uri="{FF2B5EF4-FFF2-40B4-BE49-F238E27FC236}">
                <a16:creationId xmlns:a16="http://schemas.microsoft.com/office/drawing/2014/main" id="{67D6DA26-DB6C-F642-B86A-ECF0CA95F7A7}"/>
              </a:ext>
            </a:extLst>
          </p:cNvPr>
          <p:cNvSpPr>
            <a:spLocks noChangeAspect="1"/>
          </p:cNvSpPr>
          <p:nvPr/>
        </p:nvSpPr>
        <p:spPr>
          <a:xfrm>
            <a:off x="5704186" y="3563246"/>
            <a:ext cx="261257" cy="365760"/>
          </a:xfrm>
          <a:prstGeom prst="diamond">
            <a:avLst/>
          </a:prstGeom>
          <a:solidFill>
            <a:schemeClr val="accent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Source Sans Pro Light" panose="020B0403030403020204" pitchFamily="34" charset="0"/>
              <a:ea typeface="Source Sans Pro Light" panose="020B0403030403020204" pitchFamily="34" charset="0"/>
              <a:cs typeface="+mn-cs"/>
            </a:endParaRPr>
          </a:p>
        </p:txBody>
      </p:sp>
      <p:sp>
        <p:nvSpPr>
          <p:cNvPr id="112" name="Rectangle 111">
            <a:extLst>
              <a:ext uri="{FF2B5EF4-FFF2-40B4-BE49-F238E27FC236}">
                <a16:creationId xmlns:a16="http://schemas.microsoft.com/office/drawing/2014/main" id="{34B8C5CF-DD19-9F4E-8CE1-B6075719768E}"/>
              </a:ext>
            </a:extLst>
          </p:cNvPr>
          <p:cNvSpPr/>
          <p:nvPr/>
        </p:nvSpPr>
        <p:spPr>
          <a:xfrm>
            <a:off x="5093092" y="3229038"/>
            <a:ext cx="1290425" cy="507831"/>
          </a:xfrm>
          <a:prstGeom prst="rect">
            <a:avLst/>
          </a:prstGeom>
        </p:spPr>
        <p:txBody>
          <a:bodyPr wrap="square" l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Source Sans Pro Light" panose="020B0403030403020204" pitchFamily="34" charset="0"/>
                <a:ea typeface="Source Sans Pro Light" panose="020B0403030403020204" pitchFamily="34" charset="0"/>
                <a:cs typeface="+mn-cs"/>
              </a:rPr>
              <a:t>MS 2.1: SOPs </a:t>
            </a:r>
            <a:br>
              <a:rPr kumimoji="0" lang="en-US" sz="900" b="0" i="0" u="none" strike="noStrike" kern="1200" cap="none" spc="0" normalizeH="0" baseline="0" noProof="0" dirty="0">
                <a:ln>
                  <a:noFill/>
                </a:ln>
                <a:solidFill>
                  <a:prstClr val="black"/>
                </a:solidFill>
                <a:effectLst/>
                <a:uLnTx/>
                <a:uFillTx/>
                <a:latin typeface="Source Sans Pro Light" panose="020B0403030403020204" pitchFamily="34" charset="0"/>
                <a:ea typeface="Source Sans Pro Light" panose="020B0403030403020204" pitchFamily="34" charset="0"/>
                <a:cs typeface="+mn-cs"/>
              </a:rPr>
            </a:br>
            <a:r>
              <a:rPr kumimoji="0" lang="en-US" sz="900" b="0" i="0" u="none" strike="noStrike" kern="1200" cap="none" spc="0" normalizeH="0" baseline="0" noProof="0" dirty="0">
                <a:ln>
                  <a:noFill/>
                </a:ln>
                <a:solidFill>
                  <a:prstClr val="black"/>
                </a:solidFill>
                <a:effectLst/>
                <a:uLnTx/>
                <a:uFillTx/>
                <a:latin typeface="Source Sans Pro Light" panose="020B0403030403020204" pitchFamily="34" charset="0"/>
                <a:ea typeface="Source Sans Pro Light" panose="020B0403030403020204" pitchFamily="34" charset="0"/>
                <a:cs typeface="+mn-cs"/>
              </a:rPr>
              <a:t>inventoried </a:t>
            </a:r>
            <a:br>
              <a:rPr kumimoji="0" lang="en-US" sz="900" b="0" i="0" u="none" strike="noStrike" kern="1200" cap="none" spc="0" normalizeH="0" baseline="0" noProof="0" dirty="0">
                <a:ln>
                  <a:noFill/>
                </a:ln>
                <a:solidFill>
                  <a:prstClr val="black"/>
                </a:solidFill>
                <a:effectLst/>
                <a:uLnTx/>
                <a:uFillTx/>
                <a:latin typeface="Source Sans Pro Light" panose="020B0403030403020204" pitchFamily="34" charset="0"/>
                <a:ea typeface="Source Sans Pro Light" panose="020B0403030403020204" pitchFamily="34" charset="0"/>
                <a:cs typeface="+mn-cs"/>
              </a:rPr>
            </a:br>
            <a:r>
              <a:rPr kumimoji="0" lang="en-US" sz="900" b="0" i="0" u="none" strike="noStrike" kern="1200" cap="none" spc="0" normalizeH="0" baseline="0" noProof="0" dirty="0">
                <a:ln>
                  <a:noFill/>
                </a:ln>
                <a:solidFill>
                  <a:prstClr val="black"/>
                </a:solidFill>
                <a:effectLst/>
                <a:uLnTx/>
                <a:uFillTx/>
                <a:latin typeface="Source Sans Pro Light" panose="020B0403030403020204" pitchFamily="34" charset="0"/>
                <a:ea typeface="Source Sans Pro Light" panose="020B0403030403020204" pitchFamily="34" charset="0"/>
                <a:cs typeface="+mn-cs"/>
              </a:rPr>
              <a:t>and reviewed</a:t>
            </a:r>
          </a:p>
        </p:txBody>
      </p:sp>
      <p:sp>
        <p:nvSpPr>
          <p:cNvPr id="129" name="Rectangle 128">
            <a:extLst>
              <a:ext uri="{FF2B5EF4-FFF2-40B4-BE49-F238E27FC236}">
                <a16:creationId xmlns:a16="http://schemas.microsoft.com/office/drawing/2014/main" id="{BE876A5B-BC98-E44D-B985-F138DCEDE032}"/>
              </a:ext>
            </a:extLst>
          </p:cNvPr>
          <p:cNvSpPr/>
          <p:nvPr/>
        </p:nvSpPr>
        <p:spPr>
          <a:xfrm>
            <a:off x="9539290" y="3237651"/>
            <a:ext cx="1079751" cy="507831"/>
          </a:xfrm>
          <a:prstGeom prst="rect">
            <a:avLst/>
          </a:prstGeom>
        </p:spPr>
        <p:txBody>
          <a:bodyPr wrap="square" lIns="0" rIns="9144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Source Sans Pro Light" panose="020B0403030403020204" pitchFamily="34" charset="0"/>
                <a:ea typeface="Source Sans Pro Light" panose="020B0403030403020204" pitchFamily="34" charset="0"/>
                <a:cs typeface="+mn-cs"/>
              </a:rPr>
              <a:t>MS 2.2: First set of new and updated SOPs published.</a:t>
            </a:r>
          </a:p>
        </p:txBody>
      </p:sp>
      <p:sp>
        <p:nvSpPr>
          <p:cNvPr id="7" name="Star: 5 Points 6">
            <a:extLst>
              <a:ext uri="{FF2B5EF4-FFF2-40B4-BE49-F238E27FC236}">
                <a16:creationId xmlns:a16="http://schemas.microsoft.com/office/drawing/2014/main" id="{CB83107E-C59F-4ACA-9133-CCFA9E80E981}"/>
              </a:ext>
            </a:extLst>
          </p:cNvPr>
          <p:cNvSpPr>
            <a:spLocks noChangeAspect="1"/>
          </p:cNvSpPr>
          <p:nvPr/>
        </p:nvSpPr>
        <p:spPr>
          <a:xfrm>
            <a:off x="8310344" y="1981396"/>
            <a:ext cx="365760" cy="365760"/>
          </a:xfrm>
          <a:prstGeom prst="star5">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Source Sans Pro Light" panose="020B0403030403020204" pitchFamily="34" charset="0"/>
              <a:ea typeface="Source Sans Pro Light" panose="020B0403030403020204" pitchFamily="34" charset="0"/>
              <a:cs typeface="+mn-cs"/>
            </a:endParaRPr>
          </a:p>
        </p:txBody>
      </p:sp>
      <p:sp>
        <p:nvSpPr>
          <p:cNvPr id="247" name="Star: 5 Points 55">
            <a:extLst>
              <a:ext uri="{FF2B5EF4-FFF2-40B4-BE49-F238E27FC236}">
                <a16:creationId xmlns:a16="http://schemas.microsoft.com/office/drawing/2014/main" id="{2C87D25C-87AC-8C47-9D03-07D2D5EA605A}"/>
              </a:ext>
            </a:extLst>
          </p:cNvPr>
          <p:cNvSpPr>
            <a:spLocks noChangeAspect="1"/>
          </p:cNvSpPr>
          <p:nvPr/>
        </p:nvSpPr>
        <p:spPr>
          <a:xfrm>
            <a:off x="10328868" y="5131746"/>
            <a:ext cx="365760" cy="365760"/>
          </a:xfrm>
          <a:prstGeom prst="star5">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Source Sans Pro Light" panose="020B0403030403020204" pitchFamily="34" charset="0"/>
              <a:ea typeface="Source Sans Pro Light" panose="020B0403030403020204" pitchFamily="34" charset="0"/>
              <a:cs typeface="+mn-cs"/>
            </a:endParaRPr>
          </a:p>
        </p:txBody>
      </p:sp>
      <p:cxnSp>
        <p:nvCxnSpPr>
          <p:cNvPr id="294" name="Straight Arrow Connector 293">
            <a:extLst>
              <a:ext uri="{FF2B5EF4-FFF2-40B4-BE49-F238E27FC236}">
                <a16:creationId xmlns:a16="http://schemas.microsoft.com/office/drawing/2014/main" id="{1D44FBD6-085E-D945-BF67-D36AB9F099CF}"/>
              </a:ext>
            </a:extLst>
          </p:cNvPr>
          <p:cNvCxnSpPr>
            <a:cxnSpLocks/>
            <a:stCxn id="260" idx="2"/>
            <a:endCxn id="53" idx="1"/>
          </p:cNvCxnSpPr>
          <p:nvPr/>
        </p:nvCxnSpPr>
        <p:spPr>
          <a:xfrm rot="16200000" flipH="1">
            <a:off x="3009274" y="-163526"/>
            <a:ext cx="189461" cy="5210823"/>
          </a:xfrm>
          <a:prstGeom prst="bentConnector2">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96" name="Diamond 295">
            <a:extLst>
              <a:ext uri="{FF2B5EF4-FFF2-40B4-BE49-F238E27FC236}">
                <a16:creationId xmlns:a16="http://schemas.microsoft.com/office/drawing/2014/main" id="{3667D752-27C9-E848-B891-5C6949199BBB}"/>
              </a:ext>
            </a:extLst>
          </p:cNvPr>
          <p:cNvSpPr>
            <a:spLocks noChangeAspect="1"/>
          </p:cNvSpPr>
          <p:nvPr/>
        </p:nvSpPr>
        <p:spPr>
          <a:xfrm>
            <a:off x="6348309" y="1981396"/>
            <a:ext cx="261257" cy="365760"/>
          </a:xfrm>
          <a:prstGeom prst="diamond">
            <a:avLst/>
          </a:prstGeom>
          <a:solidFill>
            <a:schemeClr val="accent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Source Sans Pro Light" panose="020B0403030403020204" pitchFamily="34" charset="0"/>
              <a:ea typeface="Source Sans Pro Light" panose="020B0403030403020204" pitchFamily="34" charset="0"/>
              <a:cs typeface="+mn-cs"/>
            </a:endParaRPr>
          </a:p>
        </p:txBody>
      </p:sp>
      <p:sp>
        <p:nvSpPr>
          <p:cNvPr id="298" name="Rectangle 297">
            <a:extLst>
              <a:ext uri="{FF2B5EF4-FFF2-40B4-BE49-F238E27FC236}">
                <a16:creationId xmlns:a16="http://schemas.microsoft.com/office/drawing/2014/main" id="{DF14E4CD-0484-B34C-82F2-80276D7FDBFF}"/>
              </a:ext>
            </a:extLst>
          </p:cNvPr>
          <p:cNvSpPr/>
          <p:nvPr/>
        </p:nvSpPr>
        <p:spPr>
          <a:xfrm>
            <a:off x="6428610" y="2189642"/>
            <a:ext cx="654284" cy="507831"/>
          </a:xfrm>
          <a:prstGeom prst="rect">
            <a:avLst/>
          </a:prstGeom>
          <a:noFill/>
          <a:ln w="38100">
            <a:noFill/>
            <a:prstDash val="sysDash"/>
          </a:ln>
        </p:spPr>
        <p:txBody>
          <a:bodyPr wrap="square" lIns="0" r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Source Sans Pro Light" panose="020B0403030403020204" pitchFamily="34" charset="0"/>
                <a:ea typeface="Source Sans Pro Light" panose="020B0403030403020204" pitchFamily="34" charset="0"/>
                <a:cs typeface="Calibri" panose="020F0502020204030204" pitchFamily="34" charset="0"/>
              </a:rPr>
              <a:t>MS 1.4: </a:t>
            </a:r>
          </a:p>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Source Sans Pro Light" panose="020B0403030403020204" pitchFamily="34" charset="0"/>
                <a:ea typeface="Source Sans Pro Light" panose="020B0403030403020204" pitchFamily="34" charset="0"/>
                <a:cs typeface="Calibri" panose="020F0502020204030204" pitchFamily="34" charset="0"/>
              </a:rPr>
              <a:t>Gap analysis completed</a:t>
            </a:r>
          </a:p>
        </p:txBody>
      </p:sp>
      <p:sp>
        <p:nvSpPr>
          <p:cNvPr id="150" name="Diamond 149">
            <a:extLst>
              <a:ext uri="{FF2B5EF4-FFF2-40B4-BE49-F238E27FC236}">
                <a16:creationId xmlns:a16="http://schemas.microsoft.com/office/drawing/2014/main" id="{FEDF0D8D-A12E-4357-9E6B-AF89F7312605}"/>
              </a:ext>
            </a:extLst>
          </p:cNvPr>
          <p:cNvSpPr>
            <a:spLocks noChangeAspect="1"/>
          </p:cNvSpPr>
          <p:nvPr/>
        </p:nvSpPr>
        <p:spPr>
          <a:xfrm>
            <a:off x="5706850" y="1630359"/>
            <a:ext cx="261257" cy="365760"/>
          </a:xfrm>
          <a:prstGeom prst="diamond">
            <a:avLst/>
          </a:prstGeom>
          <a:solidFill>
            <a:srgbClr val="002E56"/>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Source Sans Pro Light" panose="020B0403030403020204" pitchFamily="34" charset="0"/>
              <a:ea typeface="Source Sans Pro Light" panose="020B0403030403020204" pitchFamily="34" charset="0"/>
              <a:cs typeface="+mn-cs"/>
            </a:endParaRPr>
          </a:p>
        </p:txBody>
      </p:sp>
      <p:cxnSp>
        <p:nvCxnSpPr>
          <p:cNvPr id="153" name="Straight Arrow Connector 152">
            <a:extLst>
              <a:ext uri="{FF2B5EF4-FFF2-40B4-BE49-F238E27FC236}">
                <a16:creationId xmlns:a16="http://schemas.microsoft.com/office/drawing/2014/main" id="{72DE248B-9F68-41BB-BD68-54E50E235C9A}"/>
              </a:ext>
            </a:extLst>
          </p:cNvPr>
          <p:cNvCxnSpPr>
            <a:cxnSpLocks/>
            <a:stCxn id="260" idx="0"/>
            <a:endCxn id="150" idx="1"/>
          </p:cNvCxnSpPr>
          <p:nvPr/>
        </p:nvCxnSpPr>
        <p:spPr>
          <a:xfrm rot="5400000" flipH="1" flipV="1">
            <a:off x="3018643" y="-706810"/>
            <a:ext cx="168157" cy="5208257"/>
          </a:xfrm>
          <a:prstGeom prst="bentConnector2">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5" name="Rectangle 154">
            <a:extLst>
              <a:ext uri="{FF2B5EF4-FFF2-40B4-BE49-F238E27FC236}">
                <a16:creationId xmlns:a16="http://schemas.microsoft.com/office/drawing/2014/main" id="{A3BBF1C3-FD7F-4A89-A2EE-3CA303222A6C}"/>
              </a:ext>
            </a:extLst>
          </p:cNvPr>
          <p:cNvSpPr/>
          <p:nvPr/>
        </p:nvSpPr>
        <p:spPr>
          <a:xfrm>
            <a:off x="7904222" y="1646933"/>
            <a:ext cx="867008" cy="507831"/>
          </a:xfrm>
          <a:prstGeom prst="rect">
            <a:avLst/>
          </a:prstGeom>
          <a:noFill/>
          <a:ln>
            <a:noFill/>
            <a:prstDash val="sysDash"/>
          </a:ln>
        </p:spPr>
        <p:txBody>
          <a:bodyPr wrap="square" lIns="0" r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Source Sans Pro Light" panose="020B0403030403020204" pitchFamily="34" charset="0"/>
                <a:ea typeface="Source Sans Pro Light" panose="020B0403030403020204" pitchFamily="34" charset="0"/>
                <a:cs typeface="Calibri" panose="020F0502020204030204" pitchFamily="34" charset="0"/>
              </a:rPr>
              <a:t>MS 1.6: ESC approved strategic plan</a:t>
            </a:r>
          </a:p>
        </p:txBody>
      </p:sp>
      <p:sp>
        <p:nvSpPr>
          <p:cNvPr id="161" name="Rectangle 160">
            <a:extLst>
              <a:ext uri="{FF2B5EF4-FFF2-40B4-BE49-F238E27FC236}">
                <a16:creationId xmlns:a16="http://schemas.microsoft.com/office/drawing/2014/main" id="{81416366-8B93-4539-82DA-C6F7A37936A9}"/>
              </a:ext>
            </a:extLst>
          </p:cNvPr>
          <p:cNvSpPr/>
          <p:nvPr/>
        </p:nvSpPr>
        <p:spPr>
          <a:xfrm>
            <a:off x="4227599" y="2164001"/>
            <a:ext cx="1595195" cy="369332"/>
          </a:xfrm>
          <a:prstGeom prst="rect">
            <a:avLst/>
          </a:prstGeom>
        </p:spPr>
        <p:txBody>
          <a:bodyPr wrap="square" l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Source Sans Pro Light" panose="020B0403030403020204" pitchFamily="34" charset="0"/>
                <a:ea typeface="Source Sans Pro Light" panose="020B0403030403020204" pitchFamily="34" charset="0"/>
                <a:cs typeface="+mn-cs"/>
              </a:rPr>
              <a:t>MS 1.3: Needs assessment </a:t>
            </a:r>
            <a:br>
              <a:rPr kumimoji="0" lang="en-US" sz="900" b="0" i="0" u="none" strike="noStrike" kern="1200" cap="none" spc="0" normalizeH="0" baseline="0" noProof="0" dirty="0">
                <a:ln>
                  <a:noFill/>
                </a:ln>
                <a:solidFill>
                  <a:prstClr val="black"/>
                </a:solidFill>
                <a:effectLst/>
                <a:uLnTx/>
                <a:uFillTx/>
                <a:latin typeface="Source Sans Pro Light" panose="020B0403030403020204" pitchFamily="34" charset="0"/>
                <a:ea typeface="Source Sans Pro Light" panose="020B0403030403020204" pitchFamily="34" charset="0"/>
                <a:cs typeface="+mn-cs"/>
              </a:rPr>
            </a:br>
            <a:r>
              <a:rPr kumimoji="0" lang="en-US" sz="900" b="0" i="0" u="none" strike="noStrike" kern="1200" cap="none" spc="0" normalizeH="0" baseline="0" noProof="0" dirty="0">
                <a:ln>
                  <a:noFill/>
                </a:ln>
                <a:solidFill>
                  <a:prstClr val="black"/>
                </a:solidFill>
                <a:effectLst/>
                <a:uLnTx/>
                <a:uFillTx/>
                <a:latin typeface="Source Sans Pro Light" panose="020B0403030403020204" pitchFamily="34" charset="0"/>
                <a:ea typeface="Source Sans Pro Light" panose="020B0403030403020204" pitchFamily="34" charset="0"/>
                <a:cs typeface="+mn-cs"/>
              </a:rPr>
              <a:t>(business requirements) done</a:t>
            </a:r>
          </a:p>
        </p:txBody>
      </p:sp>
      <p:cxnSp>
        <p:nvCxnSpPr>
          <p:cNvPr id="162" name="Straight Arrow Connector 161">
            <a:extLst>
              <a:ext uri="{FF2B5EF4-FFF2-40B4-BE49-F238E27FC236}">
                <a16:creationId xmlns:a16="http://schemas.microsoft.com/office/drawing/2014/main" id="{D59F9E76-230B-4949-83C1-6C75AE4EA31A}"/>
              </a:ext>
            </a:extLst>
          </p:cNvPr>
          <p:cNvCxnSpPr>
            <a:cxnSpLocks/>
            <a:stCxn id="150" idx="3"/>
            <a:endCxn id="296" idx="1"/>
          </p:cNvCxnSpPr>
          <p:nvPr/>
        </p:nvCxnSpPr>
        <p:spPr>
          <a:xfrm>
            <a:off x="5968107" y="1813239"/>
            <a:ext cx="380202" cy="351037"/>
          </a:xfrm>
          <a:prstGeom prst="bentConnector3">
            <a:avLst>
              <a:gd name="adj1" fmla="val 50000"/>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4" name="Straight Arrow Connector 173">
            <a:extLst>
              <a:ext uri="{FF2B5EF4-FFF2-40B4-BE49-F238E27FC236}">
                <a16:creationId xmlns:a16="http://schemas.microsoft.com/office/drawing/2014/main" id="{06C49696-A804-4011-88F8-B3932630943C}"/>
              </a:ext>
            </a:extLst>
          </p:cNvPr>
          <p:cNvCxnSpPr>
            <a:cxnSpLocks/>
            <a:stCxn id="296" idx="3"/>
            <a:endCxn id="300" idx="1"/>
          </p:cNvCxnSpPr>
          <p:nvPr/>
        </p:nvCxnSpPr>
        <p:spPr>
          <a:xfrm>
            <a:off x="6609566" y="2164276"/>
            <a:ext cx="850389" cy="0"/>
          </a:xfrm>
          <a:prstGeom prst="straightConnector1">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5" name="Straight Arrow Connector 194">
            <a:extLst>
              <a:ext uri="{FF2B5EF4-FFF2-40B4-BE49-F238E27FC236}">
                <a16:creationId xmlns:a16="http://schemas.microsoft.com/office/drawing/2014/main" id="{7BF59A30-3C93-49F8-8E43-89DBBD85029F}"/>
              </a:ext>
            </a:extLst>
          </p:cNvPr>
          <p:cNvCxnSpPr>
            <a:cxnSpLocks/>
            <a:stCxn id="53" idx="3"/>
            <a:endCxn id="296" idx="1"/>
          </p:cNvCxnSpPr>
          <p:nvPr/>
        </p:nvCxnSpPr>
        <p:spPr>
          <a:xfrm flipV="1">
            <a:off x="5970673" y="2164276"/>
            <a:ext cx="377636" cy="372341"/>
          </a:xfrm>
          <a:prstGeom prst="bentConnector3">
            <a:avLst>
              <a:gd name="adj1" fmla="val 50000"/>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1" name="Straight Arrow Connector 290">
            <a:extLst>
              <a:ext uri="{FF2B5EF4-FFF2-40B4-BE49-F238E27FC236}">
                <a16:creationId xmlns:a16="http://schemas.microsoft.com/office/drawing/2014/main" id="{4892C808-30C9-4195-BEDA-56F5B1869AEB}"/>
              </a:ext>
            </a:extLst>
          </p:cNvPr>
          <p:cNvCxnSpPr>
            <a:cxnSpLocks/>
          </p:cNvCxnSpPr>
          <p:nvPr/>
        </p:nvCxnSpPr>
        <p:spPr>
          <a:xfrm>
            <a:off x="8676104" y="2164276"/>
            <a:ext cx="1600513" cy="0"/>
          </a:xfrm>
          <a:prstGeom prst="straightConnector1">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00" name="Diamond 299">
            <a:extLst>
              <a:ext uri="{FF2B5EF4-FFF2-40B4-BE49-F238E27FC236}">
                <a16:creationId xmlns:a16="http://schemas.microsoft.com/office/drawing/2014/main" id="{11E91C73-574E-441E-BCFB-9065C4275D81}"/>
              </a:ext>
            </a:extLst>
          </p:cNvPr>
          <p:cNvSpPr>
            <a:spLocks noChangeAspect="1"/>
          </p:cNvSpPr>
          <p:nvPr/>
        </p:nvSpPr>
        <p:spPr>
          <a:xfrm>
            <a:off x="7459955" y="1981396"/>
            <a:ext cx="261257" cy="365760"/>
          </a:xfrm>
          <a:prstGeom prst="diamond">
            <a:avLst/>
          </a:prstGeom>
          <a:solidFill>
            <a:srgbClr val="002F56"/>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Source Sans Pro Light" panose="020B0403030403020204" pitchFamily="34" charset="0"/>
              <a:ea typeface="Source Sans Pro Light" panose="020B0403030403020204" pitchFamily="34" charset="0"/>
              <a:cs typeface="+mn-cs"/>
            </a:endParaRPr>
          </a:p>
        </p:txBody>
      </p:sp>
      <p:cxnSp>
        <p:nvCxnSpPr>
          <p:cNvPr id="301" name="Straight Arrow Connector 300">
            <a:extLst>
              <a:ext uri="{FF2B5EF4-FFF2-40B4-BE49-F238E27FC236}">
                <a16:creationId xmlns:a16="http://schemas.microsoft.com/office/drawing/2014/main" id="{E8986636-14C2-4BA4-BC78-287B4D30A760}"/>
              </a:ext>
            </a:extLst>
          </p:cNvPr>
          <p:cNvCxnSpPr>
            <a:cxnSpLocks/>
            <a:stCxn id="300" idx="3"/>
          </p:cNvCxnSpPr>
          <p:nvPr/>
        </p:nvCxnSpPr>
        <p:spPr>
          <a:xfrm>
            <a:off x="7721212" y="2164276"/>
            <a:ext cx="615218" cy="0"/>
          </a:xfrm>
          <a:prstGeom prst="straightConnector1">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09" name="Rectangle 308">
            <a:extLst>
              <a:ext uri="{FF2B5EF4-FFF2-40B4-BE49-F238E27FC236}">
                <a16:creationId xmlns:a16="http://schemas.microsoft.com/office/drawing/2014/main" id="{02DC9A78-D6DD-40A1-A731-ACEF6784FB56}"/>
              </a:ext>
            </a:extLst>
          </p:cNvPr>
          <p:cNvSpPr/>
          <p:nvPr/>
        </p:nvSpPr>
        <p:spPr>
          <a:xfrm>
            <a:off x="6926347" y="1646933"/>
            <a:ext cx="761144" cy="507831"/>
          </a:xfrm>
          <a:prstGeom prst="rect">
            <a:avLst/>
          </a:prstGeom>
          <a:noFill/>
          <a:ln>
            <a:noFill/>
            <a:prstDash val="sysDash"/>
          </a:ln>
        </p:spPr>
        <p:txBody>
          <a:bodyPr wrap="square" lIns="0" r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Source Sans Pro Light" panose="020B0403030403020204" pitchFamily="34" charset="0"/>
                <a:ea typeface="Source Sans Pro Light" panose="020B0403030403020204" pitchFamily="34" charset="0"/>
                <a:cs typeface="Calibri" panose="020F0502020204030204" pitchFamily="34" charset="0"/>
              </a:rPr>
              <a:t>MS 1.5: Draft strategic plan completed</a:t>
            </a:r>
          </a:p>
        </p:txBody>
      </p:sp>
      <p:cxnSp>
        <p:nvCxnSpPr>
          <p:cNvPr id="81" name="Straight Arrow Connector 107">
            <a:extLst>
              <a:ext uri="{FF2B5EF4-FFF2-40B4-BE49-F238E27FC236}">
                <a16:creationId xmlns:a16="http://schemas.microsoft.com/office/drawing/2014/main" id="{E3CA98F1-4F96-4B3B-9A84-1611A3F680F5}"/>
              </a:ext>
            </a:extLst>
          </p:cNvPr>
          <p:cNvCxnSpPr>
            <a:cxnSpLocks/>
            <a:endCxn id="89" idx="1"/>
          </p:cNvCxnSpPr>
          <p:nvPr/>
        </p:nvCxnSpPr>
        <p:spPr>
          <a:xfrm rot="16200000" flipH="1">
            <a:off x="7375706" y="3464671"/>
            <a:ext cx="2967472" cy="732438"/>
          </a:xfrm>
          <a:prstGeom prst="bentConnector2">
            <a:avLst/>
          </a:prstGeom>
          <a:ln w="19050">
            <a:solidFill>
              <a:schemeClr val="bg2">
                <a:lumMod val="25000"/>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7" name="Rectangle 86">
            <a:extLst>
              <a:ext uri="{FF2B5EF4-FFF2-40B4-BE49-F238E27FC236}">
                <a16:creationId xmlns:a16="http://schemas.microsoft.com/office/drawing/2014/main" id="{CC9FA072-DB46-6F47-9EE0-0DC257F851C7}"/>
              </a:ext>
            </a:extLst>
          </p:cNvPr>
          <p:cNvSpPr/>
          <p:nvPr/>
        </p:nvSpPr>
        <p:spPr>
          <a:xfrm>
            <a:off x="8537116" y="4764346"/>
            <a:ext cx="801857" cy="507831"/>
          </a:xfrm>
          <a:prstGeom prst="rect">
            <a:avLst/>
          </a:prstGeom>
          <a:noFill/>
          <a:ln>
            <a:noFill/>
            <a:prstDash val="sysDash"/>
          </a:ln>
        </p:spPr>
        <p:txBody>
          <a:bodyPr wrap="square" lIns="0" rIns="0">
            <a:spAutoFit/>
          </a:bodyPr>
          <a:lstStyle/>
          <a:p>
            <a:pPr marL="0" marR="0" lvl="2"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Source Sans Pro Light" panose="020B0403030403020204" pitchFamily="34" charset="0"/>
                <a:ea typeface="Source Sans Pro Light" panose="020B0403030403020204" pitchFamily="34" charset="0"/>
                <a:cs typeface="Source Sans Pro Light" panose="020F0302020204030204" pitchFamily="34" charset="0"/>
              </a:rPr>
              <a:t>MS 3.2: </a:t>
            </a:r>
            <a:r>
              <a:rPr kumimoji="0" lang="en-US" sz="900" b="0" i="0" u="none" strike="noStrike" kern="1200" cap="none" spc="0" normalizeH="0" baseline="0" noProof="0" dirty="0">
                <a:ln>
                  <a:noFill/>
                </a:ln>
                <a:solidFill>
                  <a:prstClr val="black"/>
                </a:solidFill>
                <a:effectLst/>
                <a:uLnTx/>
                <a:uFillTx/>
                <a:latin typeface="Source Sans Pro Light" panose="020B0403030403020204" pitchFamily="34" charset="0"/>
                <a:ea typeface="Source Sans Pro Light" panose="020B0403030403020204" pitchFamily="34" charset="0"/>
                <a:cs typeface="Calibri" panose="020F0502020204030204" pitchFamily="34" charset="0"/>
              </a:rPr>
              <a:t>Establish ORD Governance council</a:t>
            </a:r>
            <a:endParaRPr kumimoji="0" lang="en-US" sz="900" b="0" i="0" u="none" strike="noStrike" kern="1200" cap="none" spc="0" normalizeH="0" baseline="0" noProof="0" dirty="0">
              <a:ln>
                <a:noFill/>
              </a:ln>
              <a:solidFill>
                <a:prstClr val="black"/>
              </a:solidFill>
              <a:effectLst/>
              <a:uLnTx/>
              <a:uFillTx/>
              <a:latin typeface="Source Sans Pro Light" panose="020B0403030403020204" pitchFamily="34" charset="0"/>
              <a:ea typeface="Source Sans Pro Light" panose="020B0403030403020204" pitchFamily="34" charset="0"/>
              <a:cs typeface="Source Sans Pro Light" panose="020F0302020204030204" pitchFamily="34" charset="0"/>
            </a:endParaRPr>
          </a:p>
        </p:txBody>
      </p:sp>
      <p:sp>
        <p:nvSpPr>
          <p:cNvPr id="94" name="Diamond 93">
            <a:extLst>
              <a:ext uri="{FF2B5EF4-FFF2-40B4-BE49-F238E27FC236}">
                <a16:creationId xmlns:a16="http://schemas.microsoft.com/office/drawing/2014/main" id="{51A1830F-4111-B14F-B0AD-52759C19FF7E}"/>
              </a:ext>
            </a:extLst>
          </p:cNvPr>
          <p:cNvSpPr/>
          <p:nvPr/>
        </p:nvSpPr>
        <p:spPr>
          <a:xfrm>
            <a:off x="9509213" y="612321"/>
            <a:ext cx="137160" cy="192024"/>
          </a:xfrm>
          <a:prstGeom prst="diamond">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Source Sans Pro Light" panose="020B0403030403020204" pitchFamily="34" charset="0"/>
              <a:ea typeface="Source Sans Pro Light" panose="020B0403030403020204" pitchFamily="34" charset="0"/>
              <a:cs typeface="+mn-cs"/>
            </a:endParaRPr>
          </a:p>
        </p:txBody>
      </p:sp>
      <p:sp>
        <p:nvSpPr>
          <p:cNvPr id="96" name="Rectangle 95">
            <a:extLst>
              <a:ext uri="{FF2B5EF4-FFF2-40B4-BE49-F238E27FC236}">
                <a16:creationId xmlns:a16="http://schemas.microsoft.com/office/drawing/2014/main" id="{57074239-886B-B748-85FB-5A9FF2353596}"/>
              </a:ext>
            </a:extLst>
          </p:cNvPr>
          <p:cNvSpPr/>
          <p:nvPr/>
        </p:nvSpPr>
        <p:spPr>
          <a:xfrm>
            <a:off x="9599087" y="585223"/>
            <a:ext cx="1213997" cy="246221"/>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Source Sans Pro Light" panose="020B0403030403020204" pitchFamily="34" charset="0"/>
                <a:ea typeface="Source Sans Pro Light" panose="020B0403030403020204" pitchFamily="34" charset="0"/>
                <a:cs typeface="+mn-cs"/>
              </a:rPr>
              <a:t>New Milestone</a:t>
            </a:r>
          </a:p>
        </p:txBody>
      </p:sp>
      <p:sp>
        <p:nvSpPr>
          <p:cNvPr id="89" name="Diamond 88">
            <a:extLst>
              <a:ext uri="{FF2B5EF4-FFF2-40B4-BE49-F238E27FC236}">
                <a16:creationId xmlns:a16="http://schemas.microsoft.com/office/drawing/2014/main" id="{E0D68F97-82C6-4C44-B47D-6F836EF7984F}"/>
              </a:ext>
            </a:extLst>
          </p:cNvPr>
          <p:cNvSpPr>
            <a:spLocks noChangeAspect="1"/>
          </p:cNvSpPr>
          <p:nvPr/>
        </p:nvSpPr>
        <p:spPr>
          <a:xfrm>
            <a:off x="9225661" y="5131746"/>
            <a:ext cx="261257" cy="365760"/>
          </a:xfrm>
          <a:prstGeom prst="diamond">
            <a:avLst/>
          </a:prstGeom>
          <a:solidFill>
            <a:schemeClr val="bg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Source Sans Pro Light" panose="020B0403030403020204" pitchFamily="34" charset="0"/>
              <a:ea typeface="Source Sans Pro Light" panose="020B0403030403020204" pitchFamily="34" charset="0"/>
              <a:cs typeface="+mn-cs"/>
            </a:endParaRPr>
          </a:p>
        </p:txBody>
      </p:sp>
      <p:cxnSp>
        <p:nvCxnSpPr>
          <p:cNvPr id="92" name="Straight Arrow Connector 91">
            <a:extLst>
              <a:ext uri="{FF2B5EF4-FFF2-40B4-BE49-F238E27FC236}">
                <a16:creationId xmlns:a16="http://schemas.microsoft.com/office/drawing/2014/main" id="{2326A527-2700-4891-9C5E-D0AB0284F4DE}"/>
              </a:ext>
            </a:extLst>
          </p:cNvPr>
          <p:cNvCxnSpPr>
            <a:cxnSpLocks/>
            <a:stCxn id="89" idx="3"/>
          </p:cNvCxnSpPr>
          <p:nvPr/>
        </p:nvCxnSpPr>
        <p:spPr>
          <a:xfrm>
            <a:off x="9486918" y="5314626"/>
            <a:ext cx="835178" cy="0"/>
          </a:xfrm>
          <a:prstGeom prst="straightConnector1">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7" name="Straight Arrow Connector 107">
            <a:extLst>
              <a:ext uri="{FF2B5EF4-FFF2-40B4-BE49-F238E27FC236}">
                <a16:creationId xmlns:a16="http://schemas.microsoft.com/office/drawing/2014/main" id="{F0A2C4B4-86AB-48F0-B766-7F65D523919C}"/>
              </a:ext>
            </a:extLst>
          </p:cNvPr>
          <p:cNvCxnSpPr>
            <a:cxnSpLocks/>
            <a:stCxn id="135" idx="3"/>
            <a:endCxn id="296" idx="2"/>
          </p:cNvCxnSpPr>
          <p:nvPr/>
        </p:nvCxnSpPr>
        <p:spPr>
          <a:xfrm flipV="1">
            <a:off x="5965443" y="2347156"/>
            <a:ext cx="513495" cy="2967470"/>
          </a:xfrm>
          <a:prstGeom prst="bentConnector2">
            <a:avLst/>
          </a:prstGeom>
          <a:ln w="19050">
            <a:solidFill>
              <a:schemeClr val="bg2">
                <a:lumMod val="25000"/>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0" name="Rectangle 99">
            <a:extLst>
              <a:ext uri="{FF2B5EF4-FFF2-40B4-BE49-F238E27FC236}">
                <a16:creationId xmlns:a16="http://schemas.microsoft.com/office/drawing/2014/main" id="{D780F8CD-1347-EB11-D9B8-D8D589BE771B}"/>
              </a:ext>
            </a:extLst>
          </p:cNvPr>
          <p:cNvSpPr/>
          <p:nvPr/>
        </p:nvSpPr>
        <p:spPr>
          <a:xfrm rot="16200000">
            <a:off x="5877345" y="-4888999"/>
            <a:ext cx="445862" cy="12074530"/>
          </a:xfrm>
          <a:prstGeom prst="rect">
            <a:avLst/>
          </a:prstGeom>
          <a:solidFill>
            <a:srgbClr val="002E56"/>
          </a:solidFill>
          <a:ln w="6350">
            <a:solidFill>
              <a:schemeClr val="tx1"/>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vert="vert" wrap="square" lIns="68580" tIns="68580" rIns="68580" bIns="68580" rtlCol="0" anchor="ctr">
            <a:noAutofit/>
          </a:bodyPr>
          <a:lstStyle/>
          <a:p>
            <a:pPr marL="461963" marR="0" lvl="0" indent="-461963" algn="l" defTabSz="457200" rtl="0" eaLnBrk="1" fontAlgn="auto" latinLnBrk="0" hangingPunct="1">
              <a:lnSpc>
                <a:spcPct val="100000"/>
              </a:lnSpc>
              <a:spcBef>
                <a:spcPts val="0"/>
              </a:spcBef>
              <a:spcAft>
                <a:spcPts val="600"/>
              </a:spcAft>
              <a:buClrTx/>
              <a:buSzTx/>
              <a:buFontTx/>
              <a:buNone/>
              <a:tabLst>
                <a:tab pos="450850" algn="l"/>
              </a:tabLst>
              <a:defRPr/>
            </a:pPr>
            <a:r>
              <a:rPr kumimoji="0" lang="en-US" sz="1200" b="1" i="0" u="none" strike="noStrike" kern="1200" cap="none" spc="0" normalizeH="0" baseline="0" noProof="0" dirty="0">
                <a:ln>
                  <a:noFill/>
                </a:ln>
                <a:solidFill>
                  <a:prstClr val="white"/>
                </a:solidFill>
                <a:effectLst/>
                <a:uLnTx/>
                <a:uFillTx/>
                <a:latin typeface="Source Sans Pro" panose="020B0503030403020204" pitchFamily="34" charset="0"/>
                <a:ea typeface="Source Sans Pro" panose="020B0503030403020204" pitchFamily="34" charset="0"/>
                <a:cs typeface="Source Sans Pro Light" panose="020F0302020204030204" pitchFamily="34" charset="0"/>
              </a:rPr>
              <a:t>Goal:   </a:t>
            </a:r>
            <a:r>
              <a:rPr kumimoji="0" lang="en-US" sz="1200" b="0" i="0" u="none" strike="noStrike" kern="1200" cap="none" spc="0" normalizeH="0" baseline="0" noProof="0" dirty="0">
                <a:ln>
                  <a:noFill/>
                </a:ln>
                <a:solidFill>
                  <a:prstClr val="white"/>
                </a:solidFill>
                <a:effectLst/>
                <a:uLnTx/>
                <a:uFillTx/>
                <a:latin typeface="Source Sans Pro Light" panose="020F0302020204030204" pitchFamily="34" charset="0"/>
                <a:ea typeface="+mn-ea"/>
                <a:cs typeface="Source Sans Pro Light" panose="020F0302020204030204" pitchFamily="34" charset="0"/>
              </a:rPr>
              <a:t>ORD has governance over a modernized, secure, collaborative system-of-systems with associated processes that increase capability and access for ORD staff and researchers to efficiently conduct and support research.</a:t>
            </a:r>
          </a:p>
        </p:txBody>
      </p:sp>
      <p:sp>
        <p:nvSpPr>
          <p:cNvPr id="182" name="Star: 5 Points 55">
            <a:extLst>
              <a:ext uri="{FF2B5EF4-FFF2-40B4-BE49-F238E27FC236}">
                <a16:creationId xmlns:a16="http://schemas.microsoft.com/office/drawing/2014/main" id="{BBD00B48-372F-13EC-19DD-84A5665DCFF1}"/>
              </a:ext>
            </a:extLst>
          </p:cNvPr>
          <p:cNvSpPr>
            <a:spLocks noChangeAspect="1"/>
          </p:cNvSpPr>
          <p:nvPr/>
        </p:nvSpPr>
        <p:spPr>
          <a:xfrm>
            <a:off x="10336781" y="3563246"/>
            <a:ext cx="365760" cy="365760"/>
          </a:xfrm>
          <a:prstGeom prst="star5">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Source Sans Pro Light" panose="020B0403030403020204" pitchFamily="34" charset="0"/>
              <a:ea typeface="Source Sans Pro Light" panose="020B0403030403020204" pitchFamily="34" charset="0"/>
              <a:cs typeface="+mn-cs"/>
            </a:endParaRPr>
          </a:p>
        </p:txBody>
      </p:sp>
      <p:cxnSp>
        <p:nvCxnSpPr>
          <p:cNvPr id="210" name="Straight Connector 209">
            <a:extLst>
              <a:ext uri="{FF2B5EF4-FFF2-40B4-BE49-F238E27FC236}">
                <a16:creationId xmlns:a16="http://schemas.microsoft.com/office/drawing/2014/main" id="{97573DE9-1E90-5983-69E3-59EB1FE28448}"/>
              </a:ext>
            </a:extLst>
          </p:cNvPr>
          <p:cNvCxnSpPr>
            <a:cxnSpLocks/>
          </p:cNvCxnSpPr>
          <p:nvPr/>
        </p:nvCxnSpPr>
        <p:spPr>
          <a:xfrm>
            <a:off x="4372566" y="1371198"/>
            <a:ext cx="0" cy="5438790"/>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sp>
        <p:nvSpPr>
          <p:cNvPr id="212" name="Rectangle 211">
            <a:extLst>
              <a:ext uri="{FF2B5EF4-FFF2-40B4-BE49-F238E27FC236}">
                <a16:creationId xmlns:a16="http://schemas.microsoft.com/office/drawing/2014/main" id="{120650F6-B8E9-6DFC-219F-C262C4C88BD4}"/>
              </a:ext>
            </a:extLst>
          </p:cNvPr>
          <p:cNvSpPr/>
          <p:nvPr/>
        </p:nvSpPr>
        <p:spPr>
          <a:xfrm rot="16200000">
            <a:off x="3865902" y="5643946"/>
            <a:ext cx="730748" cy="230832"/>
          </a:xfrm>
          <a:prstGeom prst="rect">
            <a:avLst/>
          </a:prstGeom>
        </p:spPr>
        <p:txBody>
          <a:bodyPr wrap="square" lIns="0" rIns="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FF0000"/>
                </a:solidFill>
                <a:effectLst/>
                <a:uLnTx/>
                <a:uFillTx/>
                <a:latin typeface="Source Sans Pro Light" panose="020B0403030403020204" pitchFamily="34" charset="0"/>
                <a:ea typeface="Source Sans Pro Light" panose="020B0403030403020204" pitchFamily="34" charset="0"/>
                <a:cs typeface="+mn-cs"/>
              </a:rPr>
              <a:t>we are here</a:t>
            </a:r>
          </a:p>
        </p:txBody>
      </p:sp>
      <p:cxnSp>
        <p:nvCxnSpPr>
          <p:cNvPr id="218" name="Straight Arrow Connector 194">
            <a:extLst>
              <a:ext uri="{FF2B5EF4-FFF2-40B4-BE49-F238E27FC236}">
                <a16:creationId xmlns:a16="http://schemas.microsoft.com/office/drawing/2014/main" id="{53C08F0F-7DE8-7D96-13D3-65FA032844A9}"/>
              </a:ext>
            </a:extLst>
          </p:cNvPr>
          <p:cNvCxnSpPr>
            <a:cxnSpLocks/>
          </p:cNvCxnSpPr>
          <p:nvPr/>
        </p:nvCxnSpPr>
        <p:spPr>
          <a:xfrm>
            <a:off x="8493224" y="2353737"/>
            <a:ext cx="1835646" cy="1401378"/>
          </a:xfrm>
          <a:prstGeom prst="bentConnector3">
            <a:avLst>
              <a:gd name="adj1" fmla="val 186"/>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215" name="Group 214">
            <a:extLst>
              <a:ext uri="{FF2B5EF4-FFF2-40B4-BE49-F238E27FC236}">
                <a16:creationId xmlns:a16="http://schemas.microsoft.com/office/drawing/2014/main" id="{A09D7F95-965B-2D0B-C866-9FE29B05A93B}"/>
              </a:ext>
            </a:extLst>
          </p:cNvPr>
          <p:cNvGrpSpPr/>
          <p:nvPr/>
        </p:nvGrpSpPr>
        <p:grpSpPr>
          <a:xfrm>
            <a:off x="10231138" y="1882966"/>
            <a:ext cx="456718" cy="562620"/>
            <a:chOff x="9532038" y="3267437"/>
            <a:chExt cx="456718" cy="562620"/>
          </a:xfrm>
        </p:grpSpPr>
        <p:sp>
          <p:nvSpPr>
            <p:cNvPr id="243" name="Star: 5 Points 6">
              <a:extLst>
                <a:ext uri="{FF2B5EF4-FFF2-40B4-BE49-F238E27FC236}">
                  <a16:creationId xmlns:a16="http://schemas.microsoft.com/office/drawing/2014/main" id="{59FE4A23-2E68-B4EE-205A-0C6A84F89006}"/>
                </a:ext>
              </a:extLst>
            </p:cNvPr>
            <p:cNvSpPr>
              <a:spLocks noChangeAspect="1"/>
            </p:cNvSpPr>
            <p:nvPr/>
          </p:nvSpPr>
          <p:spPr>
            <a:xfrm>
              <a:off x="9532038" y="3267437"/>
              <a:ext cx="365760" cy="365760"/>
            </a:xfrm>
            <a:prstGeom prst="star5">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Source Sans Pro Light" panose="020B0403030403020204" pitchFamily="34" charset="0"/>
                <a:ea typeface="Source Sans Pro Light" panose="020B0403030403020204" pitchFamily="34" charset="0"/>
                <a:cs typeface="+mn-cs"/>
              </a:endParaRPr>
            </a:p>
          </p:txBody>
        </p:sp>
        <p:sp>
          <p:nvSpPr>
            <p:cNvPr id="244" name="Star: 5 Points 6">
              <a:extLst>
                <a:ext uri="{FF2B5EF4-FFF2-40B4-BE49-F238E27FC236}">
                  <a16:creationId xmlns:a16="http://schemas.microsoft.com/office/drawing/2014/main" id="{FB5F71CD-536C-6D56-271C-6C708495C336}"/>
                </a:ext>
              </a:extLst>
            </p:cNvPr>
            <p:cNvSpPr>
              <a:spLocks noChangeAspect="1"/>
            </p:cNvSpPr>
            <p:nvPr/>
          </p:nvSpPr>
          <p:spPr>
            <a:xfrm>
              <a:off x="9577517" y="3365867"/>
              <a:ext cx="365760" cy="365760"/>
            </a:xfrm>
            <a:prstGeom prst="star5">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Source Sans Pro Light" panose="020B0403030403020204" pitchFamily="34" charset="0"/>
                <a:ea typeface="Source Sans Pro Light" panose="020B0403030403020204" pitchFamily="34" charset="0"/>
                <a:cs typeface="+mn-cs"/>
              </a:endParaRPr>
            </a:p>
          </p:txBody>
        </p:sp>
        <p:sp>
          <p:nvSpPr>
            <p:cNvPr id="245" name="Star: 5 Points 6">
              <a:extLst>
                <a:ext uri="{FF2B5EF4-FFF2-40B4-BE49-F238E27FC236}">
                  <a16:creationId xmlns:a16="http://schemas.microsoft.com/office/drawing/2014/main" id="{3C43BBDF-04FC-AAE3-1D89-08EC91567E07}"/>
                </a:ext>
              </a:extLst>
            </p:cNvPr>
            <p:cNvSpPr>
              <a:spLocks noChangeAspect="1"/>
            </p:cNvSpPr>
            <p:nvPr/>
          </p:nvSpPr>
          <p:spPr>
            <a:xfrm>
              <a:off x="9622996" y="3464297"/>
              <a:ext cx="365760" cy="365760"/>
            </a:xfrm>
            <a:prstGeom prst="star5">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Source Sans Pro Light" panose="020B0403030403020204" pitchFamily="34" charset="0"/>
                <a:ea typeface="Source Sans Pro Light" panose="020B0403030403020204" pitchFamily="34" charset="0"/>
                <a:cs typeface="+mn-cs"/>
              </a:endParaRPr>
            </a:p>
          </p:txBody>
        </p:sp>
      </p:grpSp>
      <p:grpSp>
        <p:nvGrpSpPr>
          <p:cNvPr id="248" name="Group 247">
            <a:extLst>
              <a:ext uri="{FF2B5EF4-FFF2-40B4-BE49-F238E27FC236}">
                <a16:creationId xmlns:a16="http://schemas.microsoft.com/office/drawing/2014/main" id="{E684DA94-D2C7-9996-8AC8-EFE35FD7D8F0}"/>
              </a:ext>
            </a:extLst>
          </p:cNvPr>
          <p:cNvGrpSpPr/>
          <p:nvPr/>
        </p:nvGrpSpPr>
        <p:grpSpPr>
          <a:xfrm>
            <a:off x="10971907" y="373149"/>
            <a:ext cx="312546" cy="385018"/>
            <a:chOff x="9532038" y="3267437"/>
            <a:chExt cx="456718" cy="562620"/>
          </a:xfrm>
        </p:grpSpPr>
        <p:sp>
          <p:nvSpPr>
            <p:cNvPr id="252" name="Star: 5 Points 6">
              <a:extLst>
                <a:ext uri="{FF2B5EF4-FFF2-40B4-BE49-F238E27FC236}">
                  <a16:creationId xmlns:a16="http://schemas.microsoft.com/office/drawing/2014/main" id="{CF33312C-829A-34E6-334C-024401F5545E}"/>
                </a:ext>
              </a:extLst>
            </p:cNvPr>
            <p:cNvSpPr>
              <a:spLocks noChangeAspect="1"/>
            </p:cNvSpPr>
            <p:nvPr/>
          </p:nvSpPr>
          <p:spPr>
            <a:xfrm>
              <a:off x="9532038" y="3267437"/>
              <a:ext cx="365760" cy="365760"/>
            </a:xfrm>
            <a:prstGeom prst="star5">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Source Sans Pro Light" panose="020B0403030403020204" pitchFamily="34" charset="0"/>
                <a:ea typeface="Source Sans Pro Light" panose="020B0403030403020204" pitchFamily="34" charset="0"/>
                <a:cs typeface="+mn-cs"/>
              </a:endParaRPr>
            </a:p>
          </p:txBody>
        </p:sp>
        <p:sp>
          <p:nvSpPr>
            <p:cNvPr id="253" name="Star: 5 Points 6">
              <a:extLst>
                <a:ext uri="{FF2B5EF4-FFF2-40B4-BE49-F238E27FC236}">
                  <a16:creationId xmlns:a16="http://schemas.microsoft.com/office/drawing/2014/main" id="{4F1BA844-1C30-7663-7E26-034367BABF91}"/>
                </a:ext>
              </a:extLst>
            </p:cNvPr>
            <p:cNvSpPr>
              <a:spLocks noChangeAspect="1"/>
            </p:cNvSpPr>
            <p:nvPr/>
          </p:nvSpPr>
          <p:spPr>
            <a:xfrm>
              <a:off x="9577517" y="3365867"/>
              <a:ext cx="365760" cy="365760"/>
            </a:xfrm>
            <a:prstGeom prst="star5">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Source Sans Pro Light" panose="020B0403030403020204" pitchFamily="34" charset="0"/>
                <a:ea typeface="Source Sans Pro Light" panose="020B0403030403020204" pitchFamily="34" charset="0"/>
                <a:cs typeface="+mn-cs"/>
              </a:endParaRPr>
            </a:p>
          </p:txBody>
        </p:sp>
        <p:sp>
          <p:nvSpPr>
            <p:cNvPr id="254" name="Star: 5 Points 6">
              <a:extLst>
                <a:ext uri="{FF2B5EF4-FFF2-40B4-BE49-F238E27FC236}">
                  <a16:creationId xmlns:a16="http://schemas.microsoft.com/office/drawing/2014/main" id="{1800E16A-0079-AC24-F3F0-33E0AB4FCFB0}"/>
                </a:ext>
              </a:extLst>
            </p:cNvPr>
            <p:cNvSpPr>
              <a:spLocks noChangeAspect="1"/>
            </p:cNvSpPr>
            <p:nvPr/>
          </p:nvSpPr>
          <p:spPr>
            <a:xfrm>
              <a:off x="9622996" y="3464297"/>
              <a:ext cx="365760" cy="365760"/>
            </a:xfrm>
            <a:prstGeom prst="star5">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Source Sans Pro Light" panose="020B0403030403020204" pitchFamily="34" charset="0"/>
                <a:ea typeface="Source Sans Pro Light" panose="020B0403030403020204" pitchFamily="34" charset="0"/>
                <a:cs typeface="+mn-cs"/>
              </a:endParaRPr>
            </a:p>
          </p:txBody>
        </p:sp>
      </p:grpSp>
      <p:sp>
        <p:nvSpPr>
          <p:cNvPr id="256" name="Rectangle 255">
            <a:extLst>
              <a:ext uri="{FF2B5EF4-FFF2-40B4-BE49-F238E27FC236}">
                <a16:creationId xmlns:a16="http://schemas.microsoft.com/office/drawing/2014/main" id="{660EE654-3102-9C0A-75C6-6678E1AB8D21}"/>
              </a:ext>
            </a:extLst>
          </p:cNvPr>
          <p:cNvSpPr/>
          <p:nvPr/>
        </p:nvSpPr>
        <p:spPr>
          <a:xfrm>
            <a:off x="11207150" y="343681"/>
            <a:ext cx="930391" cy="400110"/>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Source Sans Pro Light" panose="020B0403030403020204" pitchFamily="34" charset="0"/>
                <a:ea typeface="Source Sans Pro Light" panose="020B0403030403020204" pitchFamily="34" charset="0"/>
                <a:cs typeface="+mn-cs"/>
              </a:rPr>
              <a:t>Future Objectives</a:t>
            </a:r>
          </a:p>
        </p:txBody>
      </p:sp>
      <p:sp>
        <p:nvSpPr>
          <p:cNvPr id="258" name="Rectangle 257">
            <a:extLst>
              <a:ext uri="{FF2B5EF4-FFF2-40B4-BE49-F238E27FC236}">
                <a16:creationId xmlns:a16="http://schemas.microsoft.com/office/drawing/2014/main" id="{7D3ABC1C-026C-C025-BCAC-54012A400E14}"/>
              </a:ext>
            </a:extLst>
          </p:cNvPr>
          <p:cNvSpPr/>
          <p:nvPr/>
        </p:nvSpPr>
        <p:spPr>
          <a:xfrm>
            <a:off x="9539290" y="1646933"/>
            <a:ext cx="813938" cy="507831"/>
          </a:xfrm>
          <a:prstGeom prst="rect">
            <a:avLst/>
          </a:prstGeom>
          <a:noFill/>
          <a:ln>
            <a:noFill/>
            <a:prstDash val="sysDash"/>
          </a:ln>
        </p:spPr>
        <p:txBody>
          <a:bodyPr wrap="square" lIns="0" r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Source Sans Pro Light" panose="020B0403030403020204" pitchFamily="34" charset="0"/>
                <a:ea typeface="Source Sans Pro Light" panose="020B0403030403020204" pitchFamily="34" charset="0"/>
                <a:cs typeface="Calibri" panose="020F0502020204030204" pitchFamily="34" charset="0"/>
              </a:rPr>
              <a:t>Future objectives identified in strategic plan</a:t>
            </a:r>
          </a:p>
        </p:txBody>
      </p:sp>
      <p:sp>
        <p:nvSpPr>
          <p:cNvPr id="260" name="Diamond 259">
            <a:extLst>
              <a:ext uri="{FF2B5EF4-FFF2-40B4-BE49-F238E27FC236}">
                <a16:creationId xmlns:a16="http://schemas.microsoft.com/office/drawing/2014/main" id="{06AC97F0-98BA-12D6-4F9F-F20D4522A351}"/>
              </a:ext>
            </a:extLst>
          </p:cNvPr>
          <p:cNvSpPr>
            <a:spLocks noChangeAspect="1"/>
          </p:cNvSpPr>
          <p:nvPr/>
        </p:nvSpPr>
        <p:spPr>
          <a:xfrm>
            <a:off x="367964" y="1981396"/>
            <a:ext cx="261257" cy="365760"/>
          </a:xfrm>
          <a:prstGeom prst="diamond">
            <a:avLst/>
          </a:prstGeom>
          <a:solidFill>
            <a:srgbClr val="002F56"/>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Source Sans Pro Light" panose="020B0403030403020204" pitchFamily="34" charset="0"/>
              <a:ea typeface="Source Sans Pro Light" panose="020B0403030403020204" pitchFamily="34" charset="0"/>
              <a:cs typeface="+mn-cs"/>
            </a:endParaRPr>
          </a:p>
        </p:txBody>
      </p:sp>
      <p:cxnSp>
        <p:nvCxnSpPr>
          <p:cNvPr id="264" name="Straight Arrow Connector 263">
            <a:extLst>
              <a:ext uri="{FF2B5EF4-FFF2-40B4-BE49-F238E27FC236}">
                <a16:creationId xmlns:a16="http://schemas.microsoft.com/office/drawing/2014/main" id="{0C811C7B-0340-6C15-AD65-586C7448A5AA}"/>
              </a:ext>
            </a:extLst>
          </p:cNvPr>
          <p:cNvCxnSpPr>
            <a:cxnSpLocks/>
            <a:endCxn id="260" idx="1"/>
          </p:cNvCxnSpPr>
          <p:nvPr/>
        </p:nvCxnSpPr>
        <p:spPr>
          <a:xfrm>
            <a:off x="73581" y="2163919"/>
            <a:ext cx="294383" cy="357"/>
          </a:xfrm>
          <a:prstGeom prst="straightConnector1">
            <a:avLst/>
          </a:prstGeom>
          <a:ln w="19050">
            <a:solidFill>
              <a:schemeClr val="tx1"/>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71" name="Rectangle 270">
            <a:extLst>
              <a:ext uri="{FF2B5EF4-FFF2-40B4-BE49-F238E27FC236}">
                <a16:creationId xmlns:a16="http://schemas.microsoft.com/office/drawing/2014/main" id="{57FD0D2F-BEB1-F03E-4EA8-733B707EC5A5}"/>
              </a:ext>
            </a:extLst>
          </p:cNvPr>
          <p:cNvSpPr/>
          <p:nvPr/>
        </p:nvSpPr>
        <p:spPr>
          <a:xfrm>
            <a:off x="669575" y="1953154"/>
            <a:ext cx="1022303" cy="369332"/>
          </a:xfrm>
          <a:prstGeom prst="rect">
            <a:avLst/>
          </a:prstGeom>
          <a:noFill/>
          <a:ln>
            <a:noFill/>
            <a:prstDash val="sysDash"/>
          </a:ln>
        </p:spPr>
        <p:txBody>
          <a:bodyPr wrap="square" lIns="0" r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Source Sans Pro Light" panose="020B0403030403020204" pitchFamily="34" charset="0"/>
                <a:ea typeface="Source Sans Pro Light" panose="020B0403030403020204" pitchFamily="34" charset="0"/>
                <a:cs typeface="Calibri" panose="020F0502020204030204" pitchFamily="34" charset="0"/>
              </a:rPr>
              <a:t>MS </a:t>
            </a:r>
            <a:r>
              <a:rPr lang="en-US" sz="900" dirty="0">
                <a:solidFill>
                  <a:prstClr val="black"/>
                </a:solidFill>
                <a:latin typeface="Source Sans Pro Light" panose="020B0403030403020204" pitchFamily="34" charset="0"/>
                <a:ea typeface="Source Sans Pro Light" panose="020B0403030403020204" pitchFamily="34" charset="0"/>
                <a:cs typeface="Calibri" panose="020F0502020204030204" pitchFamily="34" charset="0"/>
              </a:rPr>
              <a:t>1.</a:t>
            </a:r>
            <a:r>
              <a:rPr kumimoji="0" lang="en-US" sz="900" b="0" i="0" u="none" strike="noStrike" kern="1200" cap="none" spc="0" normalizeH="0" baseline="0" noProof="0" dirty="0">
                <a:ln>
                  <a:noFill/>
                </a:ln>
                <a:solidFill>
                  <a:prstClr val="black"/>
                </a:solidFill>
                <a:effectLst/>
                <a:uLnTx/>
                <a:uFillTx/>
                <a:latin typeface="Source Sans Pro Light" panose="020B0403030403020204" pitchFamily="34" charset="0"/>
                <a:ea typeface="Source Sans Pro Light" panose="020B0403030403020204" pitchFamily="34" charset="0"/>
                <a:cs typeface="Calibri" panose="020F0502020204030204" pitchFamily="34" charset="0"/>
              </a:rPr>
              <a:t>1: Initiative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Source Sans Pro Light" panose="020B0403030403020204" pitchFamily="34" charset="0"/>
                <a:ea typeface="Source Sans Pro Light" panose="020B0403030403020204" pitchFamily="34" charset="0"/>
                <a:cs typeface="Calibri" panose="020F0502020204030204" pitchFamily="34" charset="0"/>
              </a:rPr>
              <a:t>(Mission) Analysis</a:t>
            </a:r>
            <a:endParaRPr kumimoji="0" lang="en-US" sz="900" b="0" i="0" u="none" strike="noStrike" kern="1200" cap="none" spc="0" normalizeH="0" baseline="0" noProof="0" dirty="0">
              <a:ln>
                <a:noFill/>
              </a:ln>
              <a:solidFill>
                <a:prstClr val="black"/>
              </a:solidFill>
              <a:effectLst/>
              <a:uLnTx/>
              <a:uFillTx/>
              <a:latin typeface="Source Sans Pro Light" panose="020B0403030403020204" pitchFamily="34" charset="0"/>
              <a:ea typeface="Source Sans Pro Light" panose="020B0403030403020204" pitchFamily="34" charset="0"/>
              <a:cs typeface="Source Sans Pro Light" panose="020F0302020204030204" pitchFamily="34" charset="0"/>
            </a:endParaRPr>
          </a:p>
        </p:txBody>
      </p:sp>
      <p:graphicFrame>
        <p:nvGraphicFramePr>
          <p:cNvPr id="307" name="Table 11">
            <a:extLst>
              <a:ext uri="{FF2B5EF4-FFF2-40B4-BE49-F238E27FC236}">
                <a16:creationId xmlns:a16="http://schemas.microsoft.com/office/drawing/2014/main" id="{6B91BCBB-AB89-F9FC-EC7C-47C5A5587F32}"/>
              </a:ext>
            </a:extLst>
          </p:cNvPr>
          <p:cNvGraphicFramePr>
            <a:graphicFrameLocks noGrp="1"/>
          </p:cNvGraphicFramePr>
          <p:nvPr/>
        </p:nvGraphicFramePr>
        <p:xfrm>
          <a:off x="69779" y="6158887"/>
          <a:ext cx="10628016" cy="190500"/>
        </p:xfrm>
        <a:graphic>
          <a:graphicData uri="http://schemas.openxmlformats.org/drawingml/2006/table">
            <a:tbl>
              <a:tblPr firstRow="1" bandRow="1">
                <a:tableStyleId>{5C22544A-7EE6-4342-B048-85BDC9FD1C3A}</a:tableStyleId>
              </a:tblPr>
              <a:tblGrid>
                <a:gridCol w="442834">
                  <a:extLst>
                    <a:ext uri="{9D8B030D-6E8A-4147-A177-3AD203B41FA5}">
                      <a16:colId xmlns:a16="http://schemas.microsoft.com/office/drawing/2014/main" val="4185148451"/>
                    </a:ext>
                  </a:extLst>
                </a:gridCol>
                <a:gridCol w="442834">
                  <a:extLst>
                    <a:ext uri="{9D8B030D-6E8A-4147-A177-3AD203B41FA5}">
                      <a16:colId xmlns:a16="http://schemas.microsoft.com/office/drawing/2014/main" val="371327717"/>
                    </a:ext>
                  </a:extLst>
                </a:gridCol>
                <a:gridCol w="442834">
                  <a:extLst>
                    <a:ext uri="{9D8B030D-6E8A-4147-A177-3AD203B41FA5}">
                      <a16:colId xmlns:a16="http://schemas.microsoft.com/office/drawing/2014/main" val="2349213728"/>
                    </a:ext>
                  </a:extLst>
                </a:gridCol>
                <a:gridCol w="442834">
                  <a:extLst>
                    <a:ext uri="{9D8B030D-6E8A-4147-A177-3AD203B41FA5}">
                      <a16:colId xmlns:a16="http://schemas.microsoft.com/office/drawing/2014/main" val="1695192357"/>
                    </a:ext>
                  </a:extLst>
                </a:gridCol>
                <a:gridCol w="442834">
                  <a:extLst>
                    <a:ext uri="{9D8B030D-6E8A-4147-A177-3AD203B41FA5}">
                      <a16:colId xmlns:a16="http://schemas.microsoft.com/office/drawing/2014/main" val="2044383621"/>
                    </a:ext>
                  </a:extLst>
                </a:gridCol>
                <a:gridCol w="442834">
                  <a:extLst>
                    <a:ext uri="{9D8B030D-6E8A-4147-A177-3AD203B41FA5}">
                      <a16:colId xmlns:a16="http://schemas.microsoft.com/office/drawing/2014/main" val="3261597698"/>
                    </a:ext>
                  </a:extLst>
                </a:gridCol>
                <a:gridCol w="442834">
                  <a:extLst>
                    <a:ext uri="{9D8B030D-6E8A-4147-A177-3AD203B41FA5}">
                      <a16:colId xmlns:a16="http://schemas.microsoft.com/office/drawing/2014/main" val="1269920505"/>
                    </a:ext>
                  </a:extLst>
                </a:gridCol>
                <a:gridCol w="442834">
                  <a:extLst>
                    <a:ext uri="{9D8B030D-6E8A-4147-A177-3AD203B41FA5}">
                      <a16:colId xmlns:a16="http://schemas.microsoft.com/office/drawing/2014/main" val="241815219"/>
                    </a:ext>
                  </a:extLst>
                </a:gridCol>
                <a:gridCol w="442834">
                  <a:extLst>
                    <a:ext uri="{9D8B030D-6E8A-4147-A177-3AD203B41FA5}">
                      <a16:colId xmlns:a16="http://schemas.microsoft.com/office/drawing/2014/main" val="3183949338"/>
                    </a:ext>
                  </a:extLst>
                </a:gridCol>
                <a:gridCol w="442834">
                  <a:extLst>
                    <a:ext uri="{9D8B030D-6E8A-4147-A177-3AD203B41FA5}">
                      <a16:colId xmlns:a16="http://schemas.microsoft.com/office/drawing/2014/main" val="1656928308"/>
                    </a:ext>
                  </a:extLst>
                </a:gridCol>
                <a:gridCol w="442834">
                  <a:extLst>
                    <a:ext uri="{9D8B030D-6E8A-4147-A177-3AD203B41FA5}">
                      <a16:colId xmlns:a16="http://schemas.microsoft.com/office/drawing/2014/main" val="4027423549"/>
                    </a:ext>
                  </a:extLst>
                </a:gridCol>
                <a:gridCol w="442834">
                  <a:extLst>
                    <a:ext uri="{9D8B030D-6E8A-4147-A177-3AD203B41FA5}">
                      <a16:colId xmlns:a16="http://schemas.microsoft.com/office/drawing/2014/main" val="2471589305"/>
                    </a:ext>
                  </a:extLst>
                </a:gridCol>
                <a:gridCol w="442834">
                  <a:extLst>
                    <a:ext uri="{9D8B030D-6E8A-4147-A177-3AD203B41FA5}">
                      <a16:colId xmlns:a16="http://schemas.microsoft.com/office/drawing/2014/main" val="597995632"/>
                    </a:ext>
                  </a:extLst>
                </a:gridCol>
                <a:gridCol w="442834">
                  <a:extLst>
                    <a:ext uri="{9D8B030D-6E8A-4147-A177-3AD203B41FA5}">
                      <a16:colId xmlns:a16="http://schemas.microsoft.com/office/drawing/2014/main" val="1311612735"/>
                    </a:ext>
                  </a:extLst>
                </a:gridCol>
                <a:gridCol w="442834">
                  <a:extLst>
                    <a:ext uri="{9D8B030D-6E8A-4147-A177-3AD203B41FA5}">
                      <a16:colId xmlns:a16="http://schemas.microsoft.com/office/drawing/2014/main" val="2695045854"/>
                    </a:ext>
                  </a:extLst>
                </a:gridCol>
                <a:gridCol w="442834">
                  <a:extLst>
                    <a:ext uri="{9D8B030D-6E8A-4147-A177-3AD203B41FA5}">
                      <a16:colId xmlns:a16="http://schemas.microsoft.com/office/drawing/2014/main" val="37266644"/>
                    </a:ext>
                  </a:extLst>
                </a:gridCol>
                <a:gridCol w="442834">
                  <a:extLst>
                    <a:ext uri="{9D8B030D-6E8A-4147-A177-3AD203B41FA5}">
                      <a16:colId xmlns:a16="http://schemas.microsoft.com/office/drawing/2014/main" val="1142705014"/>
                    </a:ext>
                  </a:extLst>
                </a:gridCol>
                <a:gridCol w="442834">
                  <a:extLst>
                    <a:ext uri="{9D8B030D-6E8A-4147-A177-3AD203B41FA5}">
                      <a16:colId xmlns:a16="http://schemas.microsoft.com/office/drawing/2014/main" val="1480718331"/>
                    </a:ext>
                  </a:extLst>
                </a:gridCol>
                <a:gridCol w="442834">
                  <a:extLst>
                    <a:ext uri="{9D8B030D-6E8A-4147-A177-3AD203B41FA5}">
                      <a16:colId xmlns:a16="http://schemas.microsoft.com/office/drawing/2014/main" val="1590007050"/>
                    </a:ext>
                  </a:extLst>
                </a:gridCol>
                <a:gridCol w="442834">
                  <a:extLst>
                    <a:ext uri="{9D8B030D-6E8A-4147-A177-3AD203B41FA5}">
                      <a16:colId xmlns:a16="http://schemas.microsoft.com/office/drawing/2014/main" val="594670539"/>
                    </a:ext>
                  </a:extLst>
                </a:gridCol>
                <a:gridCol w="442834">
                  <a:extLst>
                    <a:ext uri="{9D8B030D-6E8A-4147-A177-3AD203B41FA5}">
                      <a16:colId xmlns:a16="http://schemas.microsoft.com/office/drawing/2014/main" val="4059348016"/>
                    </a:ext>
                  </a:extLst>
                </a:gridCol>
                <a:gridCol w="442834">
                  <a:extLst>
                    <a:ext uri="{9D8B030D-6E8A-4147-A177-3AD203B41FA5}">
                      <a16:colId xmlns:a16="http://schemas.microsoft.com/office/drawing/2014/main" val="2592356680"/>
                    </a:ext>
                  </a:extLst>
                </a:gridCol>
                <a:gridCol w="442834">
                  <a:extLst>
                    <a:ext uri="{9D8B030D-6E8A-4147-A177-3AD203B41FA5}">
                      <a16:colId xmlns:a16="http://schemas.microsoft.com/office/drawing/2014/main" val="1066391479"/>
                    </a:ext>
                  </a:extLst>
                </a:gridCol>
                <a:gridCol w="442834">
                  <a:extLst>
                    <a:ext uri="{9D8B030D-6E8A-4147-A177-3AD203B41FA5}">
                      <a16:colId xmlns:a16="http://schemas.microsoft.com/office/drawing/2014/main" val="1182925092"/>
                    </a:ext>
                  </a:extLst>
                </a:gridCol>
              </a:tblGrid>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50" b="0" i="0" dirty="0">
                          <a:solidFill>
                            <a:schemeClr val="bg1"/>
                          </a:solidFill>
                          <a:latin typeface="Source Sans Pro Light" panose="020B0403030403020204" pitchFamily="34" charset="0"/>
                          <a:ea typeface="Source Sans Pro Light" panose="020B0403030403020204" pitchFamily="34" charset="0"/>
                        </a:rPr>
                        <a:t>&lt;1-Oct-2021</a:t>
                      </a:r>
                    </a:p>
                  </a:txBody>
                  <a:tcPr marL="0" marR="0">
                    <a:lnL w="12700" cmpd="sng">
                      <a:noFill/>
                    </a:lnL>
                    <a:lnR w="6350" cap="flat" cmpd="sng" algn="ctr">
                      <a:solidFill>
                        <a:schemeClr val="bg1">
                          <a:lumMod val="50000"/>
                        </a:schemeClr>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sz="650" b="0" i="0" dirty="0">
                          <a:solidFill>
                            <a:schemeClr val="bg1"/>
                          </a:solidFill>
                          <a:latin typeface="Source Sans Pro Light" panose="020B0403030403020204" pitchFamily="34" charset="0"/>
                          <a:ea typeface="Source Sans Pro Light" panose="020B0403030403020204" pitchFamily="34" charset="0"/>
                        </a:rPr>
                        <a:t>&lt;1-Nov-2021 </a:t>
                      </a:r>
                    </a:p>
                  </a:txBody>
                  <a:tcPr marL="0" marR="0">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sz="650" b="0" i="0" dirty="0">
                          <a:solidFill>
                            <a:schemeClr val="bg1"/>
                          </a:solidFill>
                          <a:latin typeface="Source Sans Pro Light" panose="020B0403030403020204" pitchFamily="34" charset="0"/>
                          <a:ea typeface="Source Sans Pro Light" panose="020B0403030403020204" pitchFamily="34" charset="0"/>
                        </a:rPr>
                        <a:t>&lt;1-Dec-2021 </a:t>
                      </a:r>
                    </a:p>
                  </a:txBody>
                  <a:tcPr marL="0" marR="0">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sz="650" b="0" i="0" dirty="0">
                          <a:solidFill>
                            <a:schemeClr val="bg1"/>
                          </a:solidFill>
                          <a:latin typeface="Source Sans Pro Light" panose="020B0403030403020204" pitchFamily="34" charset="0"/>
                          <a:ea typeface="Source Sans Pro Light" panose="020B0403030403020204" pitchFamily="34" charset="0"/>
                        </a:rPr>
                        <a:t>&lt;1-Jan-2022 </a:t>
                      </a:r>
                    </a:p>
                  </a:txBody>
                  <a:tcPr marL="0" marR="0">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50" b="0" i="0" dirty="0">
                          <a:solidFill>
                            <a:schemeClr val="bg1"/>
                          </a:solidFill>
                          <a:latin typeface="Source Sans Pro Light" panose="020B0403030403020204" pitchFamily="34" charset="0"/>
                          <a:ea typeface="Source Sans Pro Light" panose="020B0403030403020204" pitchFamily="34" charset="0"/>
                        </a:rPr>
                        <a:t>&lt;1-Feb-2022 </a:t>
                      </a:r>
                    </a:p>
                  </a:txBody>
                  <a:tcPr marL="0" marR="0">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sz="650" b="0" i="0" dirty="0">
                          <a:solidFill>
                            <a:schemeClr val="bg1"/>
                          </a:solidFill>
                          <a:latin typeface="Source Sans Pro Light" panose="020B0403030403020204" pitchFamily="34" charset="0"/>
                          <a:ea typeface="Source Sans Pro Light" panose="020B0403030403020204" pitchFamily="34" charset="0"/>
                        </a:rPr>
                        <a:t>&lt;1-Mar-2022 </a:t>
                      </a:r>
                    </a:p>
                  </a:txBody>
                  <a:tcPr marL="0" marR="0">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sz="650" b="0" i="0" dirty="0">
                          <a:solidFill>
                            <a:schemeClr val="bg1"/>
                          </a:solidFill>
                          <a:latin typeface="Source Sans Pro Light" panose="020B0403030403020204" pitchFamily="34" charset="0"/>
                          <a:ea typeface="Source Sans Pro Light" panose="020B0403030403020204" pitchFamily="34" charset="0"/>
                        </a:rPr>
                        <a:t>&lt;1-Apr-2022 </a:t>
                      </a:r>
                    </a:p>
                  </a:txBody>
                  <a:tcPr marL="0" marR="0">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sz="650" b="0" i="0" dirty="0">
                          <a:solidFill>
                            <a:schemeClr val="bg1"/>
                          </a:solidFill>
                          <a:latin typeface="Source Sans Pro Light" panose="020B0403030403020204" pitchFamily="34" charset="0"/>
                          <a:ea typeface="Source Sans Pro Light" panose="020B0403030403020204" pitchFamily="34" charset="0"/>
                        </a:rPr>
                        <a:t>&lt;1-May-2022 </a:t>
                      </a:r>
                    </a:p>
                  </a:txBody>
                  <a:tcPr marL="0" marR="0">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sz="650" b="0" i="0" dirty="0">
                          <a:solidFill>
                            <a:schemeClr val="bg1"/>
                          </a:solidFill>
                          <a:latin typeface="Source Sans Pro Light" panose="020B0403030403020204" pitchFamily="34" charset="0"/>
                          <a:ea typeface="Source Sans Pro Light" panose="020B0403030403020204" pitchFamily="34" charset="0"/>
                        </a:rPr>
                        <a:t>&lt;1-Jun-2022 </a:t>
                      </a:r>
                    </a:p>
                  </a:txBody>
                  <a:tcPr marL="0" marR="0">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sz="650" b="0" i="0" dirty="0">
                          <a:solidFill>
                            <a:schemeClr val="bg1"/>
                          </a:solidFill>
                          <a:latin typeface="Source Sans Pro Light" panose="020B0403030403020204" pitchFamily="34" charset="0"/>
                          <a:ea typeface="Source Sans Pro Light" panose="020B0403030403020204" pitchFamily="34" charset="0"/>
                        </a:rPr>
                        <a:t>&lt;1-Jul-2022 </a:t>
                      </a:r>
                    </a:p>
                  </a:txBody>
                  <a:tcPr marL="0" marR="0">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sz="650" b="0" i="0" dirty="0">
                          <a:solidFill>
                            <a:schemeClr val="bg1"/>
                          </a:solidFill>
                          <a:latin typeface="Source Sans Pro Light" panose="020B0403030403020204" pitchFamily="34" charset="0"/>
                          <a:ea typeface="Source Sans Pro Light" panose="020B0403030403020204" pitchFamily="34" charset="0"/>
                        </a:rPr>
                        <a:t>&lt;1-Aug-2022 </a:t>
                      </a:r>
                    </a:p>
                  </a:txBody>
                  <a:tcPr marL="0" marR="0">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sz="650" b="0" i="0" dirty="0">
                          <a:solidFill>
                            <a:schemeClr val="bg1"/>
                          </a:solidFill>
                          <a:latin typeface="Source Sans Pro Light" panose="020B0403030403020204" pitchFamily="34" charset="0"/>
                          <a:ea typeface="Source Sans Pro Light" panose="020B0403030403020204" pitchFamily="34" charset="0"/>
                        </a:rPr>
                        <a:t>&lt;1-Sep-2022 </a:t>
                      </a:r>
                    </a:p>
                  </a:txBody>
                  <a:tcPr marL="0" marR="0">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sz="650" b="0" i="0" dirty="0">
                          <a:solidFill>
                            <a:schemeClr val="bg1"/>
                          </a:solidFill>
                          <a:latin typeface="Source Sans Pro Light" panose="020B0403030403020204" pitchFamily="34" charset="0"/>
                          <a:ea typeface="Source Sans Pro Light" panose="020B0403030403020204" pitchFamily="34" charset="0"/>
                        </a:rPr>
                        <a:t>&lt;1-Oct-2022 </a:t>
                      </a:r>
                    </a:p>
                  </a:txBody>
                  <a:tcPr marL="0" marR="0">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sz="650" b="0" i="0" dirty="0">
                          <a:solidFill>
                            <a:schemeClr val="bg1"/>
                          </a:solidFill>
                          <a:latin typeface="Source Sans Pro Light" panose="020B0403030403020204" pitchFamily="34" charset="0"/>
                          <a:ea typeface="Source Sans Pro Light" panose="020B0403030403020204" pitchFamily="34" charset="0"/>
                        </a:rPr>
                        <a:t>&lt;1-Nov-2022 </a:t>
                      </a:r>
                    </a:p>
                  </a:txBody>
                  <a:tcPr marL="0" marR="0">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sz="650" b="0" i="0" dirty="0">
                          <a:solidFill>
                            <a:schemeClr val="bg1"/>
                          </a:solidFill>
                          <a:latin typeface="Source Sans Pro Light" panose="020B0403030403020204" pitchFamily="34" charset="0"/>
                          <a:ea typeface="Source Sans Pro Light" panose="020B0403030403020204" pitchFamily="34" charset="0"/>
                        </a:rPr>
                        <a:t>&lt;1-Dec-2022 </a:t>
                      </a:r>
                    </a:p>
                  </a:txBody>
                  <a:tcPr marL="0" marR="0">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sz="650" b="0" i="0" dirty="0">
                          <a:solidFill>
                            <a:schemeClr val="bg1"/>
                          </a:solidFill>
                          <a:latin typeface="Source Sans Pro Light" panose="020B0403030403020204" pitchFamily="34" charset="0"/>
                          <a:ea typeface="Source Sans Pro Light" panose="020B0403030403020204" pitchFamily="34" charset="0"/>
                        </a:rPr>
                        <a:t>&lt;1-Jan-2023 </a:t>
                      </a:r>
                    </a:p>
                  </a:txBody>
                  <a:tcPr marL="0" marR="0">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50" b="0" i="0" dirty="0">
                          <a:solidFill>
                            <a:schemeClr val="bg1"/>
                          </a:solidFill>
                          <a:latin typeface="Source Sans Pro Light" panose="020B0403030403020204" pitchFamily="34" charset="0"/>
                          <a:ea typeface="Source Sans Pro Light" panose="020B0403030403020204" pitchFamily="34" charset="0"/>
                        </a:rPr>
                        <a:t>&lt;1-Feb-2023 </a:t>
                      </a:r>
                    </a:p>
                  </a:txBody>
                  <a:tcPr marL="0" marR="0">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50" b="0" i="0" dirty="0">
                          <a:solidFill>
                            <a:schemeClr val="bg1"/>
                          </a:solidFill>
                          <a:latin typeface="Source Sans Pro Light" panose="020B0403030403020204" pitchFamily="34" charset="0"/>
                          <a:ea typeface="Source Sans Pro Light" panose="020B0403030403020204" pitchFamily="34" charset="0"/>
                        </a:rPr>
                        <a:t>&lt;1-Mar-2023 </a:t>
                      </a:r>
                    </a:p>
                  </a:txBody>
                  <a:tcPr marL="0" marR="0">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50" b="0" i="0" dirty="0">
                          <a:solidFill>
                            <a:schemeClr val="bg1"/>
                          </a:solidFill>
                          <a:latin typeface="Source Sans Pro Light" panose="020B0403030403020204" pitchFamily="34" charset="0"/>
                          <a:ea typeface="Source Sans Pro Light" panose="020B0403030403020204" pitchFamily="34" charset="0"/>
                        </a:rPr>
                        <a:t>&lt;1-Apr-2023 </a:t>
                      </a:r>
                    </a:p>
                  </a:txBody>
                  <a:tcPr marL="0" marR="0">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50" b="0" i="0" dirty="0">
                          <a:solidFill>
                            <a:schemeClr val="bg1"/>
                          </a:solidFill>
                          <a:latin typeface="Source Sans Pro Light" panose="020B0403030403020204" pitchFamily="34" charset="0"/>
                          <a:ea typeface="Source Sans Pro Light" panose="020B0403030403020204" pitchFamily="34" charset="0"/>
                        </a:rPr>
                        <a:t>&lt;1-May-2023 </a:t>
                      </a:r>
                    </a:p>
                  </a:txBody>
                  <a:tcPr marL="0" marR="0">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50" b="0" i="0" dirty="0">
                          <a:solidFill>
                            <a:schemeClr val="bg1"/>
                          </a:solidFill>
                          <a:latin typeface="Source Sans Pro Light" panose="020B0403030403020204" pitchFamily="34" charset="0"/>
                          <a:ea typeface="Source Sans Pro Light" panose="020B0403030403020204" pitchFamily="34" charset="0"/>
                        </a:rPr>
                        <a:t>&lt;1-Jun-2023 </a:t>
                      </a:r>
                    </a:p>
                  </a:txBody>
                  <a:tcPr marL="0" marR="0">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50" b="0" i="0" dirty="0">
                          <a:solidFill>
                            <a:schemeClr val="bg1"/>
                          </a:solidFill>
                          <a:latin typeface="Source Sans Pro Light" panose="020B0403030403020204" pitchFamily="34" charset="0"/>
                          <a:ea typeface="Source Sans Pro Light" panose="020B0403030403020204" pitchFamily="34" charset="0"/>
                        </a:rPr>
                        <a:t>&lt;1-Jul-2023 </a:t>
                      </a:r>
                    </a:p>
                  </a:txBody>
                  <a:tcPr marL="0" marR="0">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50" b="0" i="0" dirty="0">
                          <a:solidFill>
                            <a:schemeClr val="bg1"/>
                          </a:solidFill>
                          <a:latin typeface="Source Sans Pro Light" panose="020B0403030403020204" pitchFamily="34" charset="0"/>
                          <a:ea typeface="Source Sans Pro Light" panose="020B0403030403020204" pitchFamily="34" charset="0"/>
                        </a:rPr>
                        <a:t>&lt;1-Aug-2023 </a:t>
                      </a:r>
                    </a:p>
                  </a:txBody>
                  <a:tcPr marL="0" marR="0">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50" b="0" i="0" dirty="0">
                          <a:solidFill>
                            <a:schemeClr val="bg1"/>
                          </a:solidFill>
                          <a:latin typeface="Source Sans Pro Light" panose="020B0403030403020204" pitchFamily="34" charset="0"/>
                          <a:ea typeface="Source Sans Pro Light" panose="020B0403030403020204" pitchFamily="34" charset="0"/>
                        </a:rPr>
                        <a:t>&lt;1-Sep-2023 </a:t>
                      </a:r>
                    </a:p>
                  </a:txBody>
                  <a:tcPr marL="0" marR="0">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15209903"/>
                  </a:ext>
                </a:extLst>
              </a:tr>
            </a:tbl>
          </a:graphicData>
        </a:graphic>
      </p:graphicFrame>
      <p:sp>
        <p:nvSpPr>
          <p:cNvPr id="312" name="Rectangle 311">
            <a:extLst>
              <a:ext uri="{FF2B5EF4-FFF2-40B4-BE49-F238E27FC236}">
                <a16:creationId xmlns:a16="http://schemas.microsoft.com/office/drawing/2014/main" id="{F8D9EBF4-ED20-2C2A-A047-9F37B1C01EA7}"/>
              </a:ext>
            </a:extLst>
          </p:cNvPr>
          <p:cNvSpPr/>
          <p:nvPr/>
        </p:nvSpPr>
        <p:spPr>
          <a:xfrm>
            <a:off x="-176957" y="1356564"/>
            <a:ext cx="2469991" cy="230832"/>
          </a:xfrm>
          <a:prstGeom prst="rect">
            <a:avLst/>
          </a:prstGeom>
        </p:spPr>
        <p:txBody>
          <a:bodyPr wrap="square" lIns="0" rIns="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FF0000"/>
                </a:solidFill>
                <a:effectLst/>
                <a:uLnTx/>
                <a:uFillTx/>
                <a:latin typeface="Source Sans Pro Light" panose="020B0403030403020204" pitchFamily="34" charset="0"/>
                <a:ea typeface="Source Sans Pro Light" panose="020B0403030403020204" pitchFamily="34" charset="0"/>
                <a:cs typeface="+mn-cs"/>
              </a:rPr>
              <a:t>Main Effort: Strategy Development Process </a:t>
            </a:r>
          </a:p>
        </p:txBody>
      </p:sp>
      <p:cxnSp>
        <p:nvCxnSpPr>
          <p:cNvPr id="31" name="Straight Arrow Connector 194">
            <a:extLst>
              <a:ext uri="{FF2B5EF4-FFF2-40B4-BE49-F238E27FC236}">
                <a16:creationId xmlns:a16="http://schemas.microsoft.com/office/drawing/2014/main" id="{71F53BC2-45CF-D9E0-27CF-D0B5DE9A82C4}"/>
              </a:ext>
            </a:extLst>
          </p:cNvPr>
          <p:cNvCxnSpPr>
            <a:cxnSpLocks/>
          </p:cNvCxnSpPr>
          <p:nvPr/>
        </p:nvCxnSpPr>
        <p:spPr>
          <a:xfrm flipV="1">
            <a:off x="9354605" y="2171329"/>
            <a:ext cx="0" cy="1434954"/>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3" name="Arc 42">
            <a:extLst>
              <a:ext uri="{FF2B5EF4-FFF2-40B4-BE49-F238E27FC236}">
                <a16:creationId xmlns:a16="http://schemas.microsoft.com/office/drawing/2014/main" id="{343DA526-1D4E-08E9-AE4F-1AADA5A7B764}"/>
              </a:ext>
            </a:extLst>
          </p:cNvPr>
          <p:cNvSpPr/>
          <p:nvPr/>
        </p:nvSpPr>
        <p:spPr>
          <a:xfrm flipH="1">
            <a:off x="9222899" y="3606283"/>
            <a:ext cx="267995" cy="267995"/>
          </a:xfrm>
          <a:prstGeom prst="arc">
            <a:avLst>
              <a:gd name="adj1" fmla="val 16088082"/>
              <a:gd name="adj2" fmla="val 5444763"/>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6" name="Straight Arrow Connector 194">
            <a:extLst>
              <a:ext uri="{FF2B5EF4-FFF2-40B4-BE49-F238E27FC236}">
                <a16:creationId xmlns:a16="http://schemas.microsoft.com/office/drawing/2014/main" id="{A32B4939-8183-D542-36AA-B8EA2588811B}"/>
              </a:ext>
            </a:extLst>
          </p:cNvPr>
          <p:cNvCxnSpPr>
            <a:cxnSpLocks/>
            <a:stCxn id="89" idx="0"/>
          </p:cNvCxnSpPr>
          <p:nvPr/>
        </p:nvCxnSpPr>
        <p:spPr>
          <a:xfrm flipH="1" flipV="1">
            <a:off x="9352920" y="3873662"/>
            <a:ext cx="3370" cy="1258084"/>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0" name="Slide Number Placeholder 2">
            <a:extLst>
              <a:ext uri="{FF2B5EF4-FFF2-40B4-BE49-F238E27FC236}">
                <a16:creationId xmlns:a16="http://schemas.microsoft.com/office/drawing/2014/main" id="{81E64D1A-01F8-967E-620E-1CE0AAE16246}"/>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483822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2101AFF-C60D-6A8D-C186-C671BF5C6B73}"/>
              </a:ext>
            </a:extLst>
          </p:cNvPr>
          <p:cNvSpPr/>
          <p:nvPr/>
        </p:nvSpPr>
        <p:spPr>
          <a:xfrm>
            <a:off x="0" y="6146425"/>
            <a:ext cx="12192000" cy="699113"/>
          </a:xfrm>
          <a:prstGeom prst="rect">
            <a:avLst/>
          </a:prstGeom>
          <a:solidFill>
            <a:srgbClr val="002E5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 name="Star: 5 Points 6">
            <a:extLst>
              <a:ext uri="{FF2B5EF4-FFF2-40B4-BE49-F238E27FC236}">
                <a16:creationId xmlns:a16="http://schemas.microsoft.com/office/drawing/2014/main" id="{B94CE3B4-57DD-154F-A0D8-098D2D5F3626}"/>
              </a:ext>
            </a:extLst>
          </p:cNvPr>
          <p:cNvSpPr/>
          <p:nvPr/>
        </p:nvSpPr>
        <p:spPr>
          <a:xfrm>
            <a:off x="9984438" y="625471"/>
            <a:ext cx="192024" cy="192024"/>
          </a:xfrm>
          <a:prstGeom prst="star5">
            <a:avLst/>
          </a:prstGeom>
          <a:solidFill>
            <a:srgbClr val="FFFF00"/>
          </a:solidFill>
          <a:ln w="3175">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Source Sans Pro Light" panose="020B0403030403020204" pitchFamily="34" charset="0"/>
              <a:ea typeface="Source Sans Pro Light" panose="020B0403030403020204" pitchFamily="34" charset="0"/>
              <a:cs typeface="+mn-cs"/>
            </a:endParaRPr>
          </a:p>
        </p:txBody>
      </p:sp>
      <p:sp>
        <p:nvSpPr>
          <p:cNvPr id="251" name="Rectangle 250">
            <a:extLst>
              <a:ext uri="{FF2B5EF4-FFF2-40B4-BE49-F238E27FC236}">
                <a16:creationId xmlns:a16="http://schemas.microsoft.com/office/drawing/2014/main" id="{396E6647-BBDD-B849-B7C7-D1CBA162DEB6}"/>
              </a:ext>
            </a:extLst>
          </p:cNvPr>
          <p:cNvSpPr/>
          <p:nvPr/>
        </p:nvSpPr>
        <p:spPr>
          <a:xfrm>
            <a:off x="10107229" y="598373"/>
            <a:ext cx="930391" cy="246221"/>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Source Sans Pro Light" panose="020B0403030403020204" pitchFamily="34" charset="0"/>
                <a:ea typeface="Source Sans Pro Light" panose="020B0403030403020204" pitchFamily="34" charset="0"/>
                <a:cs typeface="+mn-cs"/>
              </a:rPr>
              <a:t>Objective </a:t>
            </a:r>
          </a:p>
        </p:txBody>
      </p:sp>
      <p:sp>
        <p:nvSpPr>
          <p:cNvPr id="261" name="Diamond 260">
            <a:extLst>
              <a:ext uri="{FF2B5EF4-FFF2-40B4-BE49-F238E27FC236}">
                <a16:creationId xmlns:a16="http://schemas.microsoft.com/office/drawing/2014/main" id="{1346BA50-90B1-114C-90D8-2BBCD0157E30}"/>
              </a:ext>
            </a:extLst>
          </p:cNvPr>
          <p:cNvSpPr/>
          <p:nvPr/>
        </p:nvSpPr>
        <p:spPr>
          <a:xfrm>
            <a:off x="9167179" y="625471"/>
            <a:ext cx="137160" cy="192024"/>
          </a:xfrm>
          <a:prstGeom prst="diamond">
            <a:avLst/>
          </a:prstGeom>
          <a:solidFill>
            <a:srgbClr val="002E5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Source Sans Pro Light" panose="020B0403030403020204" pitchFamily="34" charset="0"/>
              <a:ea typeface="Source Sans Pro Light" panose="020B0403030403020204" pitchFamily="34" charset="0"/>
              <a:cs typeface="+mn-cs"/>
            </a:endParaRPr>
          </a:p>
        </p:txBody>
      </p:sp>
      <p:sp>
        <p:nvSpPr>
          <p:cNvPr id="262" name="Rectangle 261">
            <a:extLst>
              <a:ext uri="{FF2B5EF4-FFF2-40B4-BE49-F238E27FC236}">
                <a16:creationId xmlns:a16="http://schemas.microsoft.com/office/drawing/2014/main" id="{D05E4418-B343-4546-AE7A-E8E5C701527D}"/>
              </a:ext>
            </a:extLst>
          </p:cNvPr>
          <p:cNvSpPr/>
          <p:nvPr/>
        </p:nvSpPr>
        <p:spPr>
          <a:xfrm>
            <a:off x="9257053" y="598373"/>
            <a:ext cx="1213997" cy="246221"/>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Source Sans Pro Light" panose="020B0403030403020204" pitchFamily="34" charset="0"/>
                <a:ea typeface="Source Sans Pro Light" panose="020B0403030403020204" pitchFamily="34" charset="0"/>
                <a:cs typeface="+mn-cs"/>
              </a:rPr>
              <a:t>Milestone</a:t>
            </a:r>
          </a:p>
        </p:txBody>
      </p:sp>
      <p:sp>
        <p:nvSpPr>
          <p:cNvPr id="189" name="Rectangle 188">
            <a:extLst>
              <a:ext uri="{FF2B5EF4-FFF2-40B4-BE49-F238E27FC236}">
                <a16:creationId xmlns:a16="http://schemas.microsoft.com/office/drawing/2014/main" id="{AD58A262-0199-5440-A649-6EC2B0558EFD}"/>
              </a:ext>
            </a:extLst>
          </p:cNvPr>
          <p:cNvSpPr/>
          <p:nvPr/>
        </p:nvSpPr>
        <p:spPr>
          <a:xfrm>
            <a:off x="28286" y="6421894"/>
            <a:ext cx="3145841" cy="353943"/>
          </a:xfrm>
          <a:prstGeom prst="rect">
            <a:avLst/>
          </a:prstGeom>
          <a:noFill/>
        </p:spPr>
        <p:txBody>
          <a:bodyPr wrap="square" lIns="0" tIns="0" rIns="0">
            <a:spAutoFit/>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white"/>
                </a:solidFill>
                <a:effectLst/>
                <a:uLnTx/>
                <a:uFillTx/>
                <a:latin typeface="Source Sans Pro" panose="020B0503030403020204" pitchFamily="34" charset="0"/>
                <a:ea typeface="Source Sans Pro" panose="020B0503030403020204" pitchFamily="34" charset="0"/>
                <a:cs typeface="+mn-cs"/>
              </a:rPr>
              <a:t>Phase 1:</a:t>
            </a:r>
          </a:p>
          <a:p>
            <a:pPr marL="0" marR="0" lvl="0" indent="0" algn="ctr" defTabSz="457200" rtl="0" eaLnBrk="1" fontAlgn="ctr"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white"/>
                </a:solidFill>
                <a:effectLst/>
                <a:uLnTx/>
                <a:uFillTx/>
                <a:latin typeface="Source Sans Pro" panose="020B0503030403020204" pitchFamily="34" charset="0"/>
                <a:ea typeface="Source Sans Pro" panose="020B0503030403020204" pitchFamily="34" charset="0"/>
                <a:cs typeface="+mn-cs"/>
              </a:rPr>
              <a:t>Understanding and Assessment</a:t>
            </a:r>
          </a:p>
        </p:txBody>
      </p:sp>
      <p:sp>
        <p:nvSpPr>
          <p:cNvPr id="194" name="Rectangle 193">
            <a:extLst>
              <a:ext uri="{FF2B5EF4-FFF2-40B4-BE49-F238E27FC236}">
                <a16:creationId xmlns:a16="http://schemas.microsoft.com/office/drawing/2014/main" id="{9865CF65-E483-974A-8952-C2806DC2BD23}"/>
              </a:ext>
            </a:extLst>
          </p:cNvPr>
          <p:cNvSpPr/>
          <p:nvPr/>
        </p:nvSpPr>
        <p:spPr>
          <a:xfrm>
            <a:off x="8515627" y="6421894"/>
            <a:ext cx="2172230" cy="353943"/>
          </a:xfrm>
          <a:prstGeom prst="rect">
            <a:avLst/>
          </a:prstGeom>
          <a:noFill/>
        </p:spPr>
        <p:txBody>
          <a:bodyPr wrap="square" lIns="0" tIns="0" rIns="0">
            <a:spAutoFit/>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white"/>
                </a:solidFill>
                <a:effectLst/>
                <a:uLnTx/>
                <a:uFillTx/>
                <a:latin typeface="Source Sans Pro" panose="020B0503030403020204" pitchFamily="34" charset="0"/>
                <a:ea typeface="Source Sans Pro" panose="020B0503030403020204" pitchFamily="34" charset="0"/>
                <a:cs typeface="+mn-cs"/>
              </a:rPr>
              <a:t>Phase 5: </a:t>
            </a:r>
          </a:p>
          <a:p>
            <a:pPr marL="0" marR="0" lvl="0" indent="0" algn="ctr" defTabSz="457200" rtl="0" eaLnBrk="1" fontAlgn="ctr"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white"/>
                </a:solidFill>
                <a:effectLst/>
                <a:uLnTx/>
                <a:uFillTx/>
                <a:latin typeface="Source Sans Pro" panose="020B0503030403020204" pitchFamily="34" charset="0"/>
                <a:ea typeface="Source Sans Pro" panose="020B0503030403020204" pitchFamily="34" charset="0"/>
                <a:cs typeface="+mn-cs"/>
              </a:rPr>
              <a:t>Implementation and Support</a:t>
            </a:r>
          </a:p>
        </p:txBody>
      </p:sp>
      <p:sp>
        <p:nvSpPr>
          <p:cNvPr id="190" name="Rectangle 189">
            <a:extLst>
              <a:ext uri="{FF2B5EF4-FFF2-40B4-BE49-F238E27FC236}">
                <a16:creationId xmlns:a16="http://schemas.microsoft.com/office/drawing/2014/main" id="{7728842F-E1D4-5C44-85C5-74087A417ABB}"/>
              </a:ext>
            </a:extLst>
          </p:cNvPr>
          <p:cNvSpPr/>
          <p:nvPr/>
        </p:nvSpPr>
        <p:spPr>
          <a:xfrm>
            <a:off x="3174129" y="6421894"/>
            <a:ext cx="3261642" cy="353943"/>
          </a:xfrm>
          <a:prstGeom prst="rect">
            <a:avLst/>
          </a:prstGeom>
          <a:noFill/>
        </p:spPr>
        <p:txBody>
          <a:bodyPr wrap="square" lIns="0" tIns="0" rIns="0">
            <a:spAutoFit/>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white"/>
                </a:solidFill>
                <a:effectLst/>
                <a:uLnTx/>
                <a:uFillTx/>
                <a:latin typeface="Source Sans Pro" panose="020B0503030403020204" pitchFamily="34" charset="0"/>
                <a:ea typeface="Source Sans Pro" panose="020B0503030403020204" pitchFamily="34" charset="0"/>
                <a:cs typeface="+mn-cs"/>
              </a:rPr>
              <a:t>Phase 2: </a:t>
            </a:r>
          </a:p>
          <a:p>
            <a:pPr marL="0" marR="0" lvl="0" indent="0" algn="ctr" defTabSz="457200" rtl="0" eaLnBrk="1" fontAlgn="ctr"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white"/>
                </a:solidFill>
                <a:effectLst/>
                <a:uLnTx/>
                <a:uFillTx/>
                <a:latin typeface="Source Sans Pro" panose="020B0503030403020204" pitchFamily="34" charset="0"/>
                <a:ea typeface="Source Sans Pro" panose="020B0503030403020204" pitchFamily="34" charset="0"/>
                <a:cs typeface="+mn-cs"/>
              </a:rPr>
              <a:t>Inventory and Analysis</a:t>
            </a:r>
          </a:p>
        </p:txBody>
      </p:sp>
      <p:sp>
        <p:nvSpPr>
          <p:cNvPr id="191" name="Rectangle 190">
            <a:extLst>
              <a:ext uri="{FF2B5EF4-FFF2-40B4-BE49-F238E27FC236}">
                <a16:creationId xmlns:a16="http://schemas.microsoft.com/office/drawing/2014/main" id="{38CA23F6-3BAB-2041-8FC9-AAA2559CB6B5}"/>
              </a:ext>
            </a:extLst>
          </p:cNvPr>
          <p:cNvSpPr/>
          <p:nvPr/>
        </p:nvSpPr>
        <p:spPr>
          <a:xfrm>
            <a:off x="6435770" y="6421894"/>
            <a:ext cx="2057453" cy="353943"/>
          </a:xfrm>
          <a:prstGeom prst="rect">
            <a:avLst/>
          </a:prstGeom>
          <a:noFill/>
        </p:spPr>
        <p:txBody>
          <a:bodyPr wrap="square" lIns="0" tIns="0" rIns="0">
            <a:spAutoFit/>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white"/>
                </a:solidFill>
                <a:effectLst/>
                <a:uLnTx/>
                <a:uFillTx/>
                <a:latin typeface="Source Sans Pro" panose="020B0503030403020204" pitchFamily="34" charset="0"/>
                <a:ea typeface="Source Sans Pro" panose="020B0503030403020204" pitchFamily="34" charset="0"/>
                <a:cs typeface="+mn-cs"/>
              </a:rPr>
              <a:t>Phase 4: </a:t>
            </a:r>
          </a:p>
          <a:p>
            <a:pPr marL="0" marR="0" lvl="0" indent="0" algn="ctr" defTabSz="457200" rtl="0" eaLnBrk="1" fontAlgn="ctr"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white"/>
                </a:solidFill>
                <a:effectLst/>
                <a:uLnTx/>
                <a:uFillTx/>
                <a:latin typeface="Source Sans Pro" panose="020B0503030403020204" pitchFamily="34" charset="0"/>
                <a:ea typeface="Source Sans Pro" panose="020B0503030403020204" pitchFamily="34" charset="0"/>
                <a:cs typeface="+mn-cs"/>
              </a:rPr>
              <a:t>Plan Development</a:t>
            </a:r>
          </a:p>
        </p:txBody>
      </p:sp>
      <p:cxnSp>
        <p:nvCxnSpPr>
          <p:cNvPr id="36" name="Straight Connector 35">
            <a:extLst>
              <a:ext uri="{FF2B5EF4-FFF2-40B4-BE49-F238E27FC236}">
                <a16:creationId xmlns:a16="http://schemas.microsoft.com/office/drawing/2014/main" id="{8D7E0A97-A356-8842-9326-8A7C3225CBD4}"/>
              </a:ext>
            </a:extLst>
          </p:cNvPr>
          <p:cNvCxnSpPr>
            <a:cxnSpLocks/>
          </p:cNvCxnSpPr>
          <p:nvPr/>
        </p:nvCxnSpPr>
        <p:spPr>
          <a:xfrm>
            <a:off x="3164941" y="882123"/>
            <a:ext cx="0" cy="5851186"/>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2FCCCB02-A281-9643-9855-7B6EF60CB712}"/>
              </a:ext>
            </a:extLst>
          </p:cNvPr>
          <p:cNvCxnSpPr>
            <a:cxnSpLocks/>
          </p:cNvCxnSpPr>
          <p:nvPr/>
        </p:nvCxnSpPr>
        <p:spPr>
          <a:xfrm>
            <a:off x="6479469" y="882123"/>
            <a:ext cx="0" cy="5893714"/>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15ACDF62-E1A7-8B4A-A79C-B20502B033D6}"/>
              </a:ext>
            </a:extLst>
          </p:cNvPr>
          <p:cNvCxnSpPr>
            <a:cxnSpLocks/>
          </p:cNvCxnSpPr>
          <p:nvPr/>
        </p:nvCxnSpPr>
        <p:spPr>
          <a:xfrm>
            <a:off x="8497022" y="882123"/>
            <a:ext cx="0" cy="5893714"/>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97573DE9-1E90-5983-69E3-59EB1FE28448}"/>
              </a:ext>
            </a:extLst>
          </p:cNvPr>
          <p:cNvCxnSpPr>
            <a:cxnSpLocks/>
          </p:cNvCxnSpPr>
          <p:nvPr/>
        </p:nvCxnSpPr>
        <p:spPr>
          <a:xfrm>
            <a:off x="4739702" y="1371198"/>
            <a:ext cx="0" cy="5438790"/>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grpSp>
        <p:nvGrpSpPr>
          <p:cNvPr id="248" name="Group 247">
            <a:extLst>
              <a:ext uri="{FF2B5EF4-FFF2-40B4-BE49-F238E27FC236}">
                <a16:creationId xmlns:a16="http://schemas.microsoft.com/office/drawing/2014/main" id="{E684DA94-D2C7-9996-8AC8-EFE35FD7D8F0}"/>
              </a:ext>
            </a:extLst>
          </p:cNvPr>
          <p:cNvGrpSpPr/>
          <p:nvPr/>
        </p:nvGrpSpPr>
        <p:grpSpPr>
          <a:xfrm>
            <a:off x="10814092" y="605693"/>
            <a:ext cx="312546" cy="385018"/>
            <a:chOff x="9532038" y="3267437"/>
            <a:chExt cx="456718" cy="562620"/>
          </a:xfrm>
        </p:grpSpPr>
        <p:sp>
          <p:nvSpPr>
            <p:cNvPr id="252" name="Star: 5 Points 6">
              <a:extLst>
                <a:ext uri="{FF2B5EF4-FFF2-40B4-BE49-F238E27FC236}">
                  <a16:creationId xmlns:a16="http://schemas.microsoft.com/office/drawing/2014/main" id="{CF33312C-829A-34E6-334C-024401F5545E}"/>
                </a:ext>
              </a:extLst>
            </p:cNvPr>
            <p:cNvSpPr>
              <a:spLocks noChangeAspect="1"/>
            </p:cNvSpPr>
            <p:nvPr/>
          </p:nvSpPr>
          <p:spPr>
            <a:xfrm>
              <a:off x="9532038" y="3267437"/>
              <a:ext cx="365760" cy="365760"/>
            </a:xfrm>
            <a:prstGeom prst="star5">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Source Sans Pro Light" panose="020B0403030403020204" pitchFamily="34" charset="0"/>
                <a:ea typeface="Source Sans Pro Light" panose="020B0403030403020204" pitchFamily="34" charset="0"/>
                <a:cs typeface="+mn-cs"/>
              </a:endParaRPr>
            </a:p>
          </p:txBody>
        </p:sp>
        <p:sp>
          <p:nvSpPr>
            <p:cNvPr id="253" name="Star: 5 Points 6">
              <a:extLst>
                <a:ext uri="{FF2B5EF4-FFF2-40B4-BE49-F238E27FC236}">
                  <a16:creationId xmlns:a16="http://schemas.microsoft.com/office/drawing/2014/main" id="{4F1BA844-1C30-7663-7E26-034367BABF91}"/>
                </a:ext>
              </a:extLst>
            </p:cNvPr>
            <p:cNvSpPr>
              <a:spLocks noChangeAspect="1"/>
            </p:cNvSpPr>
            <p:nvPr/>
          </p:nvSpPr>
          <p:spPr>
            <a:xfrm>
              <a:off x="9577517" y="3365867"/>
              <a:ext cx="365760" cy="365760"/>
            </a:xfrm>
            <a:prstGeom prst="star5">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Source Sans Pro Light" panose="020B0403030403020204" pitchFamily="34" charset="0"/>
                <a:ea typeface="Source Sans Pro Light" panose="020B0403030403020204" pitchFamily="34" charset="0"/>
                <a:cs typeface="+mn-cs"/>
              </a:endParaRPr>
            </a:p>
          </p:txBody>
        </p:sp>
        <p:sp>
          <p:nvSpPr>
            <p:cNvPr id="254" name="Star: 5 Points 6">
              <a:extLst>
                <a:ext uri="{FF2B5EF4-FFF2-40B4-BE49-F238E27FC236}">
                  <a16:creationId xmlns:a16="http://schemas.microsoft.com/office/drawing/2014/main" id="{1800E16A-0079-AC24-F3F0-33E0AB4FCFB0}"/>
                </a:ext>
              </a:extLst>
            </p:cNvPr>
            <p:cNvSpPr>
              <a:spLocks noChangeAspect="1"/>
            </p:cNvSpPr>
            <p:nvPr/>
          </p:nvSpPr>
          <p:spPr>
            <a:xfrm>
              <a:off x="9622996" y="3464297"/>
              <a:ext cx="365760" cy="365760"/>
            </a:xfrm>
            <a:prstGeom prst="star5">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Source Sans Pro Light" panose="020B0403030403020204" pitchFamily="34" charset="0"/>
                <a:ea typeface="Source Sans Pro Light" panose="020B0403030403020204" pitchFamily="34" charset="0"/>
                <a:cs typeface="+mn-cs"/>
              </a:endParaRPr>
            </a:p>
          </p:txBody>
        </p:sp>
      </p:grpSp>
      <p:sp>
        <p:nvSpPr>
          <p:cNvPr id="256" name="Rectangle 255">
            <a:extLst>
              <a:ext uri="{FF2B5EF4-FFF2-40B4-BE49-F238E27FC236}">
                <a16:creationId xmlns:a16="http://schemas.microsoft.com/office/drawing/2014/main" id="{660EE654-3102-9C0A-75C6-6678E1AB8D21}"/>
              </a:ext>
            </a:extLst>
          </p:cNvPr>
          <p:cNvSpPr/>
          <p:nvPr/>
        </p:nvSpPr>
        <p:spPr>
          <a:xfrm>
            <a:off x="11037620" y="598373"/>
            <a:ext cx="1154376" cy="246221"/>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Source Sans Pro Light" panose="020B0403030403020204" pitchFamily="34" charset="0"/>
                <a:ea typeface="Source Sans Pro Light" panose="020B0403030403020204" pitchFamily="34" charset="0"/>
                <a:cs typeface="+mn-cs"/>
              </a:rPr>
              <a:t>Future Objectives</a:t>
            </a:r>
          </a:p>
        </p:txBody>
      </p:sp>
      <p:graphicFrame>
        <p:nvGraphicFramePr>
          <p:cNvPr id="307" name="Table 11">
            <a:extLst>
              <a:ext uri="{FF2B5EF4-FFF2-40B4-BE49-F238E27FC236}">
                <a16:creationId xmlns:a16="http://schemas.microsoft.com/office/drawing/2014/main" id="{6B91BCBB-AB89-F9FC-EC7C-47C5A5587F32}"/>
              </a:ext>
            </a:extLst>
          </p:cNvPr>
          <p:cNvGraphicFramePr>
            <a:graphicFrameLocks noGrp="1"/>
          </p:cNvGraphicFramePr>
          <p:nvPr/>
        </p:nvGraphicFramePr>
        <p:xfrm>
          <a:off x="69779" y="6252734"/>
          <a:ext cx="10628016" cy="190500"/>
        </p:xfrm>
        <a:graphic>
          <a:graphicData uri="http://schemas.openxmlformats.org/drawingml/2006/table">
            <a:tbl>
              <a:tblPr firstRow="1" bandRow="1">
                <a:tableStyleId>{5C22544A-7EE6-4342-B048-85BDC9FD1C3A}</a:tableStyleId>
              </a:tblPr>
              <a:tblGrid>
                <a:gridCol w="442834">
                  <a:extLst>
                    <a:ext uri="{9D8B030D-6E8A-4147-A177-3AD203B41FA5}">
                      <a16:colId xmlns:a16="http://schemas.microsoft.com/office/drawing/2014/main" val="4185148451"/>
                    </a:ext>
                  </a:extLst>
                </a:gridCol>
                <a:gridCol w="442834">
                  <a:extLst>
                    <a:ext uri="{9D8B030D-6E8A-4147-A177-3AD203B41FA5}">
                      <a16:colId xmlns:a16="http://schemas.microsoft.com/office/drawing/2014/main" val="371327717"/>
                    </a:ext>
                  </a:extLst>
                </a:gridCol>
                <a:gridCol w="442834">
                  <a:extLst>
                    <a:ext uri="{9D8B030D-6E8A-4147-A177-3AD203B41FA5}">
                      <a16:colId xmlns:a16="http://schemas.microsoft.com/office/drawing/2014/main" val="2349213728"/>
                    </a:ext>
                  </a:extLst>
                </a:gridCol>
                <a:gridCol w="442834">
                  <a:extLst>
                    <a:ext uri="{9D8B030D-6E8A-4147-A177-3AD203B41FA5}">
                      <a16:colId xmlns:a16="http://schemas.microsoft.com/office/drawing/2014/main" val="1695192357"/>
                    </a:ext>
                  </a:extLst>
                </a:gridCol>
                <a:gridCol w="442834">
                  <a:extLst>
                    <a:ext uri="{9D8B030D-6E8A-4147-A177-3AD203B41FA5}">
                      <a16:colId xmlns:a16="http://schemas.microsoft.com/office/drawing/2014/main" val="2044383621"/>
                    </a:ext>
                  </a:extLst>
                </a:gridCol>
                <a:gridCol w="442834">
                  <a:extLst>
                    <a:ext uri="{9D8B030D-6E8A-4147-A177-3AD203B41FA5}">
                      <a16:colId xmlns:a16="http://schemas.microsoft.com/office/drawing/2014/main" val="3261597698"/>
                    </a:ext>
                  </a:extLst>
                </a:gridCol>
                <a:gridCol w="442834">
                  <a:extLst>
                    <a:ext uri="{9D8B030D-6E8A-4147-A177-3AD203B41FA5}">
                      <a16:colId xmlns:a16="http://schemas.microsoft.com/office/drawing/2014/main" val="1269920505"/>
                    </a:ext>
                  </a:extLst>
                </a:gridCol>
                <a:gridCol w="442834">
                  <a:extLst>
                    <a:ext uri="{9D8B030D-6E8A-4147-A177-3AD203B41FA5}">
                      <a16:colId xmlns:a16="http://schemas.microsoft.com/office/drawing/2014/main" val="241815219"/>
                    </a:ext>
                  </a:extLst>
                </a:gridCol>
                <a:gridCol w="442834">
                  <a:extLst>
                    <a:ext uri="{9D8B030D-6E8A-4147-A177-3AD203B41FA5}">
                      <a16:colId xmlns:a16="http://schemas.microsoft.com/office/drawing/2014/main" val="3183949338"/>
                    </a:ext>
                  </a:extLst>
                </a:gridCol>
                <a:gridCol w="442834">
                  <a:extLst>
                    <a:ext uri="{9D8B030D-6E8A-4147-A177-3AD203B41FA5}">
                      <a16:colId xmlns:a16="http://schemas.microsoft.com/office/drawing/2014/main" val="1656928308"/>
                    </a:ext>
                  </a:extLst>
                </a:gridCol>
                <a:gridCol w="442834">
                  <a:extLst>
                    <a:ext uri="{9D8B030D-6E8A-4147-A177-3AD203B41FA5}">
                      <a16:colId xmlns:a16="http://schemas.microsoft.com/office/drawing/2014/main" val="4027423549"/>
                    </a:ext>
                  </a:extLst>
                </a:gridCol>
                <a:gridCol w="442834">
                  <a:extLst>
                    <a:ext uri="{9D8B030D-6E8A-4147-A177-3AD203B41FA5}">
                      <a16:colId xmlns:a16="http://schemas.microsoft.com/office/drawing/2014/main" val="2471589305"/>
                    </a:ext>
                  </a:extLst>
                </a:gridCol>
                <a:gridCol w="442834">
                  <a:extLst>
                    <a:ext uri="{9D8B030D-6E8A-4147-A177-3AD203B41FA5}">
                      <a16:colId xmlns:a16="http://schemas.microsoft.com/office/drawing/2014/main" val="597995632"/>
                    </a:ext>
                  </a:extLst>
                </a:gridCol>
                <a:gridCol w="442834">
                  <a:extLst>
                    <a:ext uri="{9D8B030D-6E8A-4147-A177-3AD203B41FA5}">
                      <a16:colId xmlns:a16="http://schemas.microsoft.com/office/drawing/2014/main" val="1311612735"/>
                    </a:ext>
                  </a:extLst>
                </a:gridCol>
                <a:gridCol w="442834">
                  <a:extLst>
                    <a:ext uri="{9D8B030D-6E8A-4147-A177-3AD203B41FA5}">
                      <a16:colId xmlns:a16="http://schemas.microsoft.com/office/drawing/2014/main" val="2695045854"/>
                    </a:ext>
                  </a:extLst>
                </a:gridCol>
                <a:gridCol w="442834">
                  <a:extLst>
                    <a:ext uri="{9D8B030D-6E8A-4147-A177-3AD203B41FA5}">
                      <a16:colId xmlns:a16="http://schemas.microsoft.com/office/drawing/2014/main" val="37266644"/>
                    </a:ext>
                  </a:extLst>
                </a:gridCol>
                <a:gridCol w="442834">
                  <a:extLst>
                    <a:ext uri="{9D8B030D-6E8A-4147-A177-3AD203B41FA5}">
                      <a16:colId xmlns:a16="http://schemas.microsoft.com/office/drawing/2014/main" val="1142705014"/>
                    </a:ext>
                  </a:extLst>
                </a:gridCol>
                <a:gridCol w="442834">
                  <a:extLst>
                    <a:ext uri="{9D8B030D-6E8A-4147-A177-3AD203B41FA5}">
                      <a16:colId xmlns:a16="http://schemas.microsoft.com/office/drawing/2014/main" val="1480718331"/>
                    </a:ext>
                  </a:extLst>
                </a:gridCol>
                <a:gridCol w="442834">
                  <a:extLst>
                    <a:ext uri="{9D8B030D-6E8A-4147-A177-3AD203B41FA5}">
                      <a16:colId xmlns:a16="http://schemas.microsoft.com/office/drawing/2014/main" val="1590007050"/>
                    </a:ext>
                  </a:extLst>
                </a:gridCol>
                <a:gridCol w="442834">
                  <a:extLst>
                    <a:ext uri="{9D8B030D-6E8A-4147-A177-3AD203B41FA5}">
                      <a16:colId xmlns:a16="http://schemas.microsoft.com/office/drawing/2014/main" val="594670539"/>
                    </a:ext>
                  </a:extLst>
                </a:gridCol>
                <a:gridCol w="442834">
                  <a:extLst>
                    <a:ext uri="{9D8B030D-6E8A-4147-A177-3AD203B41FA5}">
                      <a16:colId xmlns:a16="http://schemas.microsoft.com/office/drawing/2014/main" val="4059348016"/>
                    </a:ext>
                  </a:extLst>
                </a:gridCol>
                <a:gridCol w="442834">
                  <a:extLst>
                    <a:ext uri="{9D8B030D-6E8A-4147-A177-3AD203B41FA5}">
                      <a16:colId xmlns:a16="http://schemas.microsoft.com/office/drawing/2014/main" val="2592356680"/>
                    </a:ext>
                  </a:extLst>
                </a:gridCol>
                <a:gridCol w="442834">
                  <a:extLst>
                    <a:ext uri="{9D8B030D-6E8A-4147-A177-3AD203B41FA5}">
                      <a16:colId xmlns:a16="http://schemas.microsoft.com/office/drawing/2014/main" val="1066391479"/>
                    </a:ext>
                  </a:extLst>
                </a:gridCol>
                <a:gridCol w="442834">
                  <a:extLst>
                    <a:ext uri="{9D8B030D-6E8A-4147-A177-3AD203B41FA5}">
                      <a16:colId xmlns:a16="http://schemas.microsoft.com/office/drawing/2014/main" val="1182925092"/>
                    </a:ext>
                  </a:extLst>
                </a:gridCol>
              </a:tblGrid>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50" b="0" i="0" dirty="0">
                          <a:solidFill>
                            <a:schemeClr val="bg1"/>
                          </a:solidFill>
                          <a:latin typeface="Source Sans Pro Light" panose="020B0403030403020204" pitchFamily="34" charset="0"/>
                          <a:ea typeface="Source Sans Pro Light" panose="020B0403030403020204" pitchFamily="34" charset="0"/>
                        </a:rPr>
                        <a:t>&lt;1-Oct-2021</a:t>
                      </a:r>
                    </a:p>
                  </a:txBody>
                  <a:tcPr marL="0" marR="0">
                    <a:lnL w="12700" cmpd="sng">
                      <a:noFill/>
                    </a:lnL>
                    <a:lnR w="6350" cap="flat" cmpd="sng" algn="ctr">
                      <a:solidFill>
                        <a:schemeClr val="bg1">
                          <a:lumMod val="50000"/>
                        </a:schemeClr>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sz="650" b="0" i="0" dirty="0">
                          <a:solidFill>
                            <a:schemeClr val="bg1"/>
                          </a:solidFill>
                          <a:latin typeface="Source Sans Pro Light" panose="020B0403030403020204" pitchFamily="34" charset="0"/>
                          <a:ea typeface="Source Sans Pro Light" panose="020B0403030403020204" pitchFamily="34" charset="0"/>
                        </a:rPr>
                        <a:t>&lt;1-Nov-2021 </a:t>
                      </a:r>
                    </a:p>
                  </a:txBody>
                  <a:tcPr marL="0" marR="0">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sz="650" b="0" i="0" dirty="0">
                          <a:solidFill>
                            <a:schemeClr val="bg1"/>
                          </a:solidFill>
                          <a:latin typeface="Source Sans Pro Light" panose="020B0403030403020204" pitchFamily="34" charset="0"/>
                          <a:ea typeface="Source Sans Pro Light" panose="020B0403030403020204" pitchFamily="34" charset="0"/>
                        </a:rPr>
                        <a:t>&lt;1-Dec-2021 </a:t>
                      </a:r>
                    </a:p>
                  </a:txBody>
                  <a:tcPr marL="0" marR="0">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sz="650" b="0" i="0" dirty="0">
                          <a:solidFill>
                            <a:schemeClr val="bg1"/>
                          </a:solidFill>
                          <a:latin typeface="Source Sans Pro Light" panose="020B0403030403020204" pitchFamily="34" charset="0"/>
                          <a:ea typeface="Source Sans Pro Light" panose="020B0403030403020204" pitchFamily="34" charset="0"/>
                        </a:rPr>
                        <a:t>&lt;1-Jan-2022 </a:t>
                      </a:r>
                    </a:p>
                  </a:txBody>
                  <a:tcPr marL="0" marR="0">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50" b="0" i="0" dirty="0">
                          <a:solidFill>
                            <a:schemeClr val="bg1"/>
                          </a:solidFill>
                          <a:latin typeface="Source Sans Pro Light" panose="020B0403030403020204" pitchFamily="34" charset="0"/>
                          <a:ea typeface="Source Sans Pro Light" panose="020B0403030403020204" pitchFamily="34" charset="0"/>
                        </a:rPr>
                        <a:t>&lt;1-Feb-2022 </a:t>
                      </a:r>
                    </a:p>
                  </a:txBody>
                  <a:tcPr marL="0" marR="0">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sz="650" b="0" i="0" dirty="0">
                          <a:solidFill>
                            <a:schemeClr val="bg1"/>
                          </a:solidFill>
                          <a:latin typeface="Source Sans Pro Light" panose="020B0403030403020204" pitchFamily="34" charset="0"/>
                          <a:ea typeface="Source Sans Pro Light" panose="020B0403030403020204" pitchFamily="34" charset="0"/>
                        </a:rPr>
                        <a:t>&lt;1-Mar-2022 </a:t>
                      </a:r>
                    </a:p>
                  </a:txBody>
                  <a:tcPr marL="0" marR="0">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sz="650" b="0" i="0" dirty="0">
                          <a:solidFill>
                            <a:schemeClr val="bg1"/>
                          </a:solidFill>
                          <a:latin typeface="Source Sans Pro Light" panose="020B0403030403020204" pitchFamily="34" charset="0"/>
                          <a:ea typeface="Source Sans Pro Light" panose="020B0403030403020204" pitchFamily="34" charset="0"/>
                        </a:rPr>
                        <a:t>&lt;1-Apr-2022 </a:t>
                      </a:r>
                    </a:p>
                  </a:txBody>
                  <a:tcPr marL="0" marR="0">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sz="650" b="0" i="0" dirty="0">
                          <a:solidFill>
                            <a:schemeClr val="bg1"/>
                          </a:solidFill>
                          <a:latin typeface="Source Sans Pro Light" panose="020B0403030403020204" pitchFamily="34" charset="0"/>
                          <a:ea typeface="Source Sans Pro Light" panose="020B0403030403020204" pitchFamily="34" charset="0"/>
                        </a:rPr>
                        <a:t>&lt;1-May-2022 </a:t>
                      </a:r>
                    </a:p>
                  </a:txBody>
                  <a:tcPr marL="0" marR="0">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sz="650" b="0" i="0" dirty="0">
                          <a:solidFill>
                            <a:schemeClr val="bg1"/>
                          </a:solidFill>
                          <a:latin typeface="Source Sans Pro Light" panose="020B0403030403020204" pitchFamily="34" charset="0"/>
                          <a:ea typeface="Source Sans Pro Light" panose="020B0403030403020204" pitchFamily="34" charset="0"/>
                        </a:rPr>
                        <a:t>&lt;1-Jun-2022 </a:t>
                      </a:r>
                    </a:p>
                  </a:txBody>
                  <a:tcPr marL="0" marR="0">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sz="650" b="0" i="0" dirty="0">
                          <a:solidFill>
                            <a:schemeClr val="bg1"/>
                          </a:solidFill>
                          <a:latin typeface="Source Sans Pro Light" panose="020B0403030403020204" pitchFamily="34" charset="0"/>
                          <a:ea typeface="Source Sans Pro Light" panose="020B0403030403020204" pitchFamily="34" charset="0"/>
                        </a:rPr>
                        <a:t>&lt;1-Jul-2022 </a:t>
                      </a:r>
                    </a:p>
                  </a:txBody>
                  <a:tcPr marL="0" marR="0">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sz="650" b="0" i="0" dirty="0">
                          <a:solidFill>
                            <a:schemeClr val="bg1"/>
                          </a:solidFill>
                          <a:latin typeface="Source Sans Pro Light" panose="020B0403030403020204" pitchFamily="34" charset="0"/>
                          <a:ea typeface="Source Sans Pro Light" panose="020B0403030403020204" pitchFamily="34" charset="0"/>
                        </a:rPr>
                        <a:t>&lt;1-Aug-2022 </a:t>
                      </a:r>
                    </a:p>
                  </a:txBody>
                  <a:tcPr marL="0" marR="0">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sz="650" b="0" i="0" dirty="0">
                          <a:solidFill>
                            <a:schemeClr val="bg1"/>
                          </a:solidFill>
                          <a:latin typeface="Source Sans Pro Light" panose="020B0403030403020204" pitchFamily="34" charset="0"/>
                          <a:ea typeface="Source Sans Pro Light" panose="020B0403030403020204" pitchFamily="34" charset="0"/>
                        </a:rPr>
                        <a:t>&lt;1-Sep-2022 </a:t>
                      </a:r>
                    </a:p>
                  </a:txBody>
                  <a:tcPr marL="0" marR="0">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sz="650" b="0" i="0" dirty="0">
                          <a:solidFill>
                            <a:schemeClr val="bg1"/>
                          </a:solidFill>
                          <a:latin typeface="Source Sans Pro Light" panose="020B0403030403020204" pitchFamily="34" charset="0"/>
                          <a:ea typeface="Source Sans Pro Light" panose="020B0403030403020204" pitchFamily="34" charset="0"/>
                        </a:rPr>
                        <a:t>&lt;1-Oct-2022 </a:t>
                      </a:r>
                    </a:p>
                  </a:txBody>
                  <a:tcPr marL="0" marR="0">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sz="650" b="0" i="0" dirty="0">
                          <a:solidFill>
                            <a:schemeClr val="bg1"/>
                          </a:solidFill>
                          <a:latin typeface="Source Sans Pro Light" panose="020B0403030403020204" pitchFamily="34" charset="0"/>
                          <a:ea typeface="Source Sans Pro Light" panose="020B0403030403020204" pitchFamily="34" charset="0"/>
                        </a:rPr>
                        <a:t>&lt;1-Nov-2022 </a:t>
                      </a:r>
                    </a:p>
                  </a:txBody>
                  <a:tcPr marL="0" marR="0">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sz="650" b="0" i="0" dirty="0">
                          <a:solidFill>
                            <a:schemeClr val="bg1"/>
                          </a:solidFill>
                          <a:latin typeface="Source Sans Pro Light" panose="020B0403030403020204" pitchFamily="34" charset="0"/>
                          <a:ea typeface="Source Sans Pro Light" panose="020B0403030403020204" pitchFamily="34" charset="0"/>
                        </a:rPr>
                        <a:t>&lt;1-Dec-2022 </a:t>
                      </a:r>
                    </a:p>
                  </a:txBody>
                  <a:tcPr marL="0" marR="0">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sz="650" b="0" i="0" dirty="0">
                          <a:solidFill>
                            <a:schemeClr val="bg1"/>
                          </a:solidFill>
                          <a:latin typeface="Source Sans Pro Light" panose="020B0403030403020204" pitchFamily="34" charset="0"/>
                          <a:ea typeface="Source Sans Pro Light" panose="020B0403030403020204" pitchFamily="34" charset="0"/>
                        </a:rPr>
                        <a:t>&lt;1-Jan-2023 </a:t>
                      </a:r>
                    </a:p>
                  </a:txBody>
                  <a:tcPr marL="0" marR="0">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50" b="0" i="0" dirty="0">
                          <a:solidFill>
                            <a:schemeClr val="bg1"/>
                          </a:solidFill>
                          <a:latin typeface="Source Sans Pro Light" panose="020B0403030403020204" pitchFamily="34" charset="0"/>
                          <a:ea typeface="Source Sans Pro Light" panose="020B0403030403020204" pitchFamily="34" charset="0"/>
                        </a:rPr>
                        <a:t>&lt;1-Feb-2023 </a:t>
                      </a:r>
                    </a:p>
                  </a:txBody>
                  <a:tcPr marL="0" marR="0">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50" b="0" i="0" dirty="0">
                          <a:solidFill>
                            <a:schemeClr val="bg1"/>
                          </a:solidFill>
                          <a:latin typeface="Source Sans Pro Light" panose="020B0403030403020204" pitchFamily="34" charset="0"/>
                          <a:ea typeface="Source Sans Pro Light" panose="020B0403030403020204" pitchFamily="34" charset="0"/>
                        </a:rPr>
                        <a:t>&lt;1-Mar-2023 </a:t>
                      </a:r>
                    </a:p>
                  </a:txBody>
                  <a:tcPr marL="0" marR="0">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50" b="0" i="0" dirty="0">
                          <a:solidFill>
                            <a:schemeClr val="bg1"/>
                          </a:solidFill>
                          <a:latin typeface="Source Sans Pro Light" panose="020B0403030403020204" pitchFamily="34" charset="0"/>
                          <a:ea typeface="Source Sans Pro Light" panose="020B0403030403020204" pitchFamily="34" charset="0"/>
                        </a:rPr>
                        <a:t>&lt;1-Apr-2023 </a:t>
                      </a:r>
                    </a:p>
                  </a:txBody>
                  <a:tcPr marL="0" marR="0">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50" b="0" i="0" dirty="0">
                          <a:solidFill>
                            <a:schemeClr val="bg1"/>
                          </a:solidFill>
                          <a:latin typeface="Source Sans Pro Light" panose="020B0403030403020204" pitchFamily="34" charset="0"/>
                          <a:ea typeface="Source Sans Pro Light" panose="020B0403030403020204" pitchFamily="34" charset="0"/>
                        </a:rPr>
                        <a:t>&lt;1-May-2023 </a:t>
                      </a:r>
                    </a:p>
                  </a:txBody>
                  <a:tcPr marL="0" marR="0">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50" b="0" i="0" dirty="0">
                          <a:solidFill>
                            <a:schemeClr val="bg1"/>
                          </a:solidFill>
                          <a:latin typeface="Source Sans Pro Light" panose="020B0403030403020204" pitchFamily="34" charset="0"/>
                          <a:ea typeface="Source Sans Pro Light" panose="020B0403030403020204" pitchFamily="34" charset="0"/>
                        </a:rPr>
                        <a:t>&lt;1-Jun-2023 </a:t>
                      </a:r>
                    </a:p>
                  </a:txBody>
                  <a:tcPr marL="0" marR="0">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50" b="0" i="0" dirty="0">
                          <a:solidFill>
                            <a:schemeClr val="bg1"/>
                          </a:solidFill>
                          <a:latin typeface="Source Sans Pro Light" panose="020B0403030403020204" pitchFamily="34" charset="0"/>
                          <a:ea typeface="Source Sans Pro Light" panose="020B0403030403020204" pitchFamily="34" charset="0"/>
                        </a:rPr>
                        <a:t>&lt;1-Jul-2023 </a:t>
                      </a:r>
                    </a:p>
                  </a:txBody>
                  <a:tcPr marL="0" marR="0">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50" b="0" i="0" dirty="0">
                          <a:solidFill>
                            <a:schemeClr val="bg1"/>
                          </a:solidFill>
                          <a:latin typeface="Source Sans Pro Light" panose="020B0403030403020204" pitchFamily="34" charset="0"/>
                          <a:ea typeface="Source Sans Pro Light" panose="020B0403030403020204" pitchFamily="34" charset="0"/>
                        </a:rPr>
                        <a:t>&lt;1-Aug-2023 </a:t>
                      </a:r>
                    </a:p>
                  </a:txBody>
                  <a:tcPr marL="0" marR="0">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50" b="0" i="0" dirty="0">
                          <a:solidFill>
                            <a:schemeClr val="bg1"/>
                          </a:solidFill>
                          <a:latin typeface="Source Sans Pro Light" panose="020B0403030403020204" pitchFamily="34" charset="0"/>
                          <a:ea typeface="Source Sans Pro Light" panose="020B0403030403020204" pitchFamily="34" charset="0"/>
                        </a:rPr>
                        <a:t>&lt;1-Sep-2023 </a:t>
                      </a:r>
                    </a:p>
                  </a:txBody>
                  <a:tcPr marL="0" marR="0">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15209903"/>
                  </a:ext>
                </a:extLst>
              </a:tr>
            </a:tbl>
          </a:graphicData>
        </a:graphic>
      </p:graphicFrame>
      <p:sp>
        <p:nvSpPr>
          <p:cNvPr id="17" name="Rectangle 16">
            <a:extLst>
              <a:ext uri="{FF2B5EF4-FFF2-40B4-BE49-F238E27FC236}">
                <a16:creationId xmlns:a16="http://schemas.microsoft.com/office/drawing/2014/main" id="{756F700C-831C-C493-ACD1-3B3ED1660266}"/>
              </a:ext>
            </a:extLst>
          </p:cNvPr>
          <p:cNvSpPr/>
          <p:nvPr/>
        </p:nvSpPr>
        <p:spPr>
          <a:xfrm>
            <a:off x="8390698" y="4034672"/>
            <a:ext cx="2133790" cy="1915873"/>
          </a:xfrm>
          <a:custGeom>
            <a:avLst/>
            <a:gdLst>
              <a:gd name="connsiteX0" fmla="*/ 0 w 1838492"/>
              <a:gd name="connsiteY0" fmla="*/ 0 h 1257619"/>
              <a:gd name="connsiteX1" fmla="*/ 1838492 w 1838492"/>
              <a:gd name="connsiteY1" fmla="*/ 0 h 1257619"/>
              <a:gd name="connsiteX2" fmla="*/ 1838492 w 1838492"/>
              <a:gd name="connsiteY2" fmla="*/ 1257619 h 1257619"/>
              <a:gd name="connsiteX3" fmla="*/ 0 w 1838492"/>
              <a:gd name="connsiteY3" fmla="*/ 1257619 h 1257619"/>
              <a:gd name="connsiteX4" fmla="*/ 0 w 1838492"/>
              <a:gd name="connsiteY4" fmla="*/ 0 h 1257619"/>
              <a:gd name="connsiteX0" fmla="*/ 0 w 1838492"/>
              <a:gd name="connsiteY0" fmla="*/ 3286 h 1260905"/>
              <a:gd name="connsiteX1" fmla="*/ 439988 w 1838492"/>
              <a:gd name="connsiteY1" fmla="*/ 0 h 1260905"/>
              <a:gd name="connsiteX2" fmla="*/ 1838492 w 1838492"/>
              <a:gd name="connsiteY2" fmla="*/ 3286 h 1260905"/>
              <a:gd name="connsiteX3" fmla="*/ 1838492 w 1838492"/>
              <a:gd name="connsiteY3" fmla="*/ 1260905 h 1260905"/>
              <a:gd name="connsiteX4" fmla="*/ 0 w 1838492"/>
              <a:gd name="connsiteY4" fmla="*/ 1260905 h 1260905"/>
              <a:gd name="connsiteX5" fmla="*/ 0 w 1838492"/>
              <a:gd name="connsiteY5" fmla="*/ 3286 h 1260905"/>
              <a:gd name="connsiteX0" fmla="*/ 0 w 1838492"/>
              <a:gd name="connsiteY0" fmla="*/ 3286 h 1260905"/>
              <a:gd name="connsiteX1" fmla="*/ 439988 w 1838492"/>
              <a:gd name="connsiteY1" fmla="*/ 0 h 1260905"/>
              <a:gd name="connsiteX2" fmla="*/ 1838492 w 1838492"/>
              <a:gd name="connsiteY2" fmla="*/ 3286 h 1260905"/>
              <a:gd name="connsiteX3" fmla="*/ 1838492 w 1838492"/>
              <a:gd name="connsiteY3" fmla="*/ 1260905 h 1260905"/>
              <a:gd name="connsiteX4" fmla="*/ 331500 w 1838492"/>
              <a:gd name="connsiteY4" fmla="*/ 1260529 h 1260905"/>
              <a:gd name="connsiteX5" fmla="*/ 0 w 1838492"/>
              <a:gd name="connsiteY5" fmla="*/ 1260905 h 1260905"/>
              <a:gd name="connsiteX6" fmla="*/ 0 w 1838492"/>
              <a:gd name="connsiteY6" fmla="*/ 3286 h 1260905"/>
              <a:gd name="connsiteX0" fmla="*/ 0 w 1838492"/>
              <a:gd name="connsiteY0" fmla="*/ 273804 h 1531423"/>
              <a:gd name="connsiteX1" fmla="*/ 439988 w 1838492"/>
              <a:gd name="connsiteY1" fmla="*/ 270518 h 1531423"/>
              <a:gd name="connsiteX2" fmla="*/ 779441 w 1838492"/>
              <a:gd name="connsiteY2" fmla="*/ 0 h 1531423"/>
              <a:gd name="connsiteX3" fmla="*/ 1838492 w 1838492"/>
              <a:gd name="connsiteY3" fmla="*/ 1531423 h 1531423"/>
              <a:gd name="connsiteX4" fmla="*/ 331500 w 1838492"/>
              <a:gd name="connsiteY4" fmla="*/ 1531047 h 1531423"/>
              <a:gd name="connsiteX5" fmla="*/ 0 w 1838492"/>
              <a:gd name="connsiteY5" fmla="*/ 1531423 h 1531423"/>
              <a:gd name="connsiteX6" fmla="*/ 0 w 1838492"/>
              <a:gd name="connsiteY6" fmla="*/ 273804 h 1531423"/>
              <a:gd name="connsiteX0" fmla="*/ 0 w 2070967"/>
              <a:gd name="connsiteY0" fmla="*/ 273804 h 1531423"/>
              <a:gd name="connsiteX1" fmla="*/ 439988 w 2070967"/>
              <a:gd name="connsiteY1" fmla="*/ 270518 h 1531423"/>
              <a:gd name="connsiteX2" fmla="*/ 779441 w 2070967"/>
              <a:gd name="connsiteY2" fmla="*/ 0 h 1531423"/>
              <a:gd name="connsiteX3" fmla="*/ 2070967 w 2070967"/>
              <a:gd name="connsiteY3" fmla="*/ 575695 h 1531423"/>
              <a:gd name="connsiteX4" fmla="*/ 331500 w 2070967"/>
              <a:gd name="connsiteY4" fmla="*/ 1531047 h 1531423"/>
              <a:gd name="connsiteX5" fmla="*/ 0 w 2070967"/>
              <a:gd name="connsiteY5" fmla="*/ 1531423 h 1531423"/>
              <a:gd name="connsiteX6" fmla="*/ 0 w 2070967"/>
              <a:gd name="connsiteY6" fmla="*/ 273804 h 1531423"/>
              <a:gd name="connsiteX0" fmla="*/ 0 w 2124862"/>
              <a:gd name="connsiteY0" fmla="*/ 286362 h 1543981"/>
              <a:gd name="connsiteX1" fmla="*/ 439988 w 2124862"/>
              <a:gd name="connsiteY1" fmla="*/ 283076 h 1543981"/>
              <a:gd name="connsiteX2" fmla="*/ 779441 w 2124862"/>
              <a:gd name="connsiteY2" fmla="*/ 12558 h 1543981"/>
              <a:gd name="connsiteX3" fmla="*/ 2070967 w 2124862"/>
              <a:gd name="connsiteY3" fmla="*/ 588253 h 1543981"/>
              <a:gd name="connsiteX4" fmla="*/ 331500 w 2124862"/>
              <a:gd name="connsiteY4" fmla="*/ 1543605 h 1543981"/>
              <a:gd name="connsiteX5" fmla="*/ 0 w 2124862"/>
              <a:gd name="connsiteY5" fmla="*/ 1543981 h 1543981"/>
              <a:gd name="connsiteX6" fmla="*/ 0 w 2124862"/>
              <a:gd name="connsiteY6" fmla="*/ 286362 h 1543981"/>
              <a:gd name="connsiteX0" fmla="*/ 0 w 2124862"/>
              <a:gd name="connsiteY0" fmla="*/ 286362 h 1543981"/>
              <a:gd name="connsiteX1" fmla="*/ 439988 w 2124862"/>
              <a:gd name="connsiteY1" fmla="*/ 283076 h 1543981"/>
              <a:gd name="connsiteX2" fmla="*/ 779441 w 2124862"/>
              <a:gd name="connsiteY2" fmla="*/ 12558 h 1543981"/>
              <a:gd name="connsiteX3" fmla="*/ 2070967 w 2124862"/>
              <a:gd name="connsiteY3" fmla="*/ 588253 h 1543981"/>
              <a:gd name="connsiteX4" fmla="*/ 331500 w 2124862"/>
              <a:gd name="connsiteY4" fmla="*/ 1543605 h 1543981"/>
              <a:gd name="connsiteX5" fmla="*/ 0 w 2124862"/>
              <a:gd name="connsiteY5" fmla="*/ 1543981 h 1543981"/>
              <a:gd name="connsiteX6" fmla="*/ 0 w 2124862"/>
              <a:gd name="connsiteY6" fmla="*/ 286362 h 1543981"/>
              <a:gd name="connsiteX0" fmla="*/ 0 w 2124862"/>
              <a:gd name="connsiteY0" fmla="*/ 286362 h 1543981"/>
              <a:gd name="connsiteX1" fmla="*/ 439988 w 2124862"/>
              <a:gd name="connsiteY1" fmla="*/ 283076 h 1543981"/>
              <a:gd name="connsiteX2" fmla="*/ 779441 w 2124862"/>
              <a:gd name="connsiteY2" fmla="*/ 12558 h 1543981"/>
              <a:gd name="connsiteX3" fmla="*/ 2070967 w 2124862"/>
              <a:gd name="connsiteY3" fmla="*/ 588253 h 1543981"/>
              <a:gd name="connsiteX4" fmla="*/ 331500 w 2124862"/>
              <a:gd name="connsiteY4" fmla="*/ 1543605 h 1543981"/>
              <a:gd name="connsiteX5" fmla="*/ 0 w 2124862"/>
              <a:gd name="connsiteY5" fmla="*/ 1543981 h 1543981"/>
              <a:gd name="connsiteX6" fmla="*/ 0 w 2124862"/>
              <a:gd name="connsiteY6" fmla="*/ 286362 h 1543981"/>
              <a:gd name="connsiteX0" fmla="*/ 31106 w 2155968"/>
              <a:gd name="connsiteY0" fmla="*/ 286362 h 1743824"/>
              <a:gd name="connsiteX1" fmla="*/ 471094 w 2155968"/>
              <a:gd name="connsiteY1" fmla="*/ 283076 h 1743824"/>
              <a:gd name="connsiteX2" fmla="*/ 810547 w 2155968"/>
              <a:gd name="connsiteY2" fmla="*/ 12558 h 1743824"/>
              <a:gd name="connsiteX3" fmla="*/ 2102073 w 2155968"/>
              <a:gd name="connsiteY3" fmla="*/ 588253 h 1743824"/>
              <a:gd name="connsiteX4" fmla="*/ 362606 w 2155968"/>
              <a:gd name="connsiteY4" fmla="*/ 1543605 h 1743824"/>
              <a:gd name="connsiteX5" fmla="*/ 31106 w 2155968"/>
              <a:gd name="connsiteY5" fmla="*/ 1543981 h 1743824"/>
              <a:gd name="connsiteX6" fmla="*/ 31106 w 2155968"/>
              <a:gd name="connsiteY6" fmla="*/ 286362 h 1743824"/>
              <a:gd name="connsiteX0" fmla="*/ 0 w 2124862"/>
              <a:gd name="connsiteY0" fmla="*/ 286362 h 1651844"/>
              <a:gd name="connsiteX1" fmla="*/ 439988 w 2124862"/>
              <a:gd name="connsiteY1" fmla="*/ 283076 h 1651844"/>
              <a:gd name="connsiteX2" fmla="*/ 779441 w 2124862"/>
              <a:gd name="connsiteY2" fmla="*/ 12558 h 1651844"/>
              <a:gd name="connsiteX3" fmla="*/ 2070967 w 2124862"/>
              <a:gd name="connsiteY3" fmla="*/ 588253 h 1651844"/>
              <a:gd name="connsiteX4" fmla="*/ 331500 w 2124862"/>
              <a:gd name="connsiteY4" fmla="*/ 1543605 h 1651844"/>
              <a:gd name="connsiteX5" fmla="*/ 0 w 2124862"/>
              <a:gd name="connsiteY5" fmla="*/ 1543981 h 1651844"/>
              <a:gd name="connsiteX6" fmla="*/ 0 w 2124862"/>
              <a:gd name="connsiteY6" fmla="*/ 286362 h 1651844"/>
              <a:gd name="connsiteX0" fmla="*/ 0 w 2124862"/>
              <a:gd name="connsiteY0" fmla="*/ 286362 h 1567829"/>
              <a:gd name="connsiteX1" fmla="*/ 439988 w 2124862"/>
              <a:gd name="connsiteY1" fmla="*/ 283076 h 1567829"/>
              <a:gd name="connsiteX2" fmla="*/ 779441 w 2124862"/>
              <a:gd name="connsiteY2" fmla="*/ 12558 h 1567829"/>
              <a:gd name="connsiteX3" fmla="*/ 2070967 w 2124862"/>
              <a:gd name="connsiteY3" fmla="*/ 588253 h 1567829"/>
              <a:gd name="connsiteX4" fmla="*/ 331500 w 2124862"/>
              <a:gd name="connsiteY4" fmla="*/ 1543605 h 1567829"/>
              <a:gd name="connsiteX5" fmla="*/ 0 w 2124862"/>
              <a:gd name="connsiteY5" fmla="*/ 1543981 h 1567829"/>
              <a:gd name="connsiteX6" fmla="*/ 0 w 2124862"/>
              <a:gd name="connsiteY6" fmla="*/ 286362 h 1567829"/>
              <a:gd name="connsiteX0" fmla="*/ 0 w 2124862"/>
              <a:gd name="connsiteY0" fmla="*/ 286362 h 1567829"/>
              <a:gd name="connsiteX1" fmla="*/ 262467 w 2124862"/>
              <a:gd name="connsiteY1" fmla="*/ 283076 h 1567829"/>
              <a:gd name="connsiteX2" fmla="*/ 779441 w 2124862"/>
              <a:gd name="connsiteY2" fmla="*/ 12558 h 1567829"/>
              <a:gd name="connsiteX3" fmla="*/ 2070967 w 2124862"/>
              <a:gd name="connsiteY3" fmla="*/ 588253 h 1567829"/>
              <a:gd name="connsiteX4" fmla="*/ 331500 w 2124862"/>
              <a:gd name="connsiteY4" fmla="*/ 1543605 h 1567829"/>
              <a:gd name="connsiteX5" fmla="*/ 0 w 2124862"/>
              <a:gd name="connsiteY5" fmla="*/ 1543981 h 1567829"/>
              <a:gd name="connsiteX6" fmla="*/ 0 w 2124862"/>
              <a:gd name="connsiteY6" fmla="*/ 286362 h 1567829"/>
              <a:gd name="connsiteX0" fmla="*/ 0 w 2124862"/>
              <a:gd name="connsiteY0" fmla="*/ 286362 h 1567829"/>
              <a:gd name="connsiteX1" fmla="*/ 262467 w 2124862"/>
              <a:gd name="connsiteY1" fmla="*/ 283076 h 1567829"/>
              <a:gd name="connsiteX2" fmla="*/ 779441 w 2124862"/>
              <a:gd name="connsiteY2" fmla="*/ 12558 h 1567829"/>
              <a:gd name="connsiteX3" fmla="*/ 2070967 w 2124862"/>
              <a:gd name="connsiteY3" fmla="*/ 588253 h 1567829"/>
              <a:gd name="connsiteX4" fmla="*/ 331500 w 2124862"/>
              <a:gd name="connsiteY4" fmla="*/ 1543605 h 1567829"/>
              <a:gd name="connsiteX5" fmla="*/ 0 w 2124862"/>
              <a:gd name="connsiteY5" fmla="*/ 1543981 h 1567829"/>
              <a:gd name="connsiteX6" fmla="*/ 0 w 2124862"/>
              <a:gd name="connsiteY6" fmla="*/ 286362 h 1567829"/>
              <a:gd name="connsiteX0" fmla="*/ 0 w 2124862"/>
              <a:gd name="connsiteY0" fmla="*/ 286362 h 1567829"/>
              <a:gd name="connsiteX1" fmla="*/ 262467 w 2124862"/>
              <a:gd name="connsiteY1" fmla="*/ 283076 h 1567829"/>
              <a:gd name="connsiteX2" fmla="*/ 779441 w 2124862"/>
              <a:gd name="connsiteY2" fmla="*/ 12558 h 1567829"/>
              <a:gd name="connsiteX3" fmla="*/ 2070967 w 2124862"/>
              <a:gd name="connsiteY3" fmla="*/ 588253 h 1567829"/>
              <a:gd name="connsiteX4" fmla="*/ 331500 w 2124862"/>
              <a:gd name="connsiteY4" fmla="*/ 1543605 h 1567829"/>
              <a:gd name="connsiteX5" fmla="*/ 0 w 2124862"/>
              <a:gd name="connsiteY5" fmla="*/ 1543981 h 1567829"/>
              <a:gd name="connsiteX6" fmla="*/ 0 w 2124862"/>
              <a:gd name="connsiteY6" fmla="*/ 286362 h 1567829"/>
              <a:gd name="connsiteX0" fmla="*/ 0 w 2124862"/>
              <a:gd name="connsiteY0" fmla="*/ 286362 h 1544054"/>
              <a:gd name="connsiteX1" fmla="*/ 262467 w 2124862"/>
              <a:gd name="connsiteY1" fmla="*/ 283076 h 1544054"/>
              <a:gd name="connsiteX2" fmla="*/ 779441 w 2124862"/>
              <a:gd name="connsiteY2" fmla="*/ 12558 h 1544054"/>
              <a:gd name="connsiteX3" fmla="*/ 2070967 w 2124862"/>
              <a:gd name="connsiteY3" fmla="*/ 588253 h 1544054"/>
              <a:gd name="connsiteX4" fmla="*/ 331500 w 2124862"/>
              <a:gd name="connsiteY4" fmla="*/ 1543605 h 1544054"/>
              <a:gd name="connsiteX5" fmla="*/ 0 w 2124862"/>
              <a:gd name="connsiteY5" fmla="*/ 1543981 h 1544054"/>
              <a:gd name="connsiteX6" fmla="*/ 0 w 2124862"/>
              <a:gd name="connsiteY6" fmla="*/ 286362 h 1544054"/>
              <a:gd name="connsiteX0" fmla="*/ 3350 w 2128212"/>
              <a:gd name="connsiteY0" fmla="*/ 286362 h 1611772"/>
              <a:gd name="connsiteX1" fmla="*/ 265817 w 2128212"/>
              <a:gd name="connsiteY1" fmla="*/ 283076 h 1611772"/>
              <a:gd name="connsiteX2" fmla="*/ 782791 w 2128212"/>
              <a:gd name="connsiteY2" fmla="*/ 12558 h 1611772"/>
              <a:gd name="connsiteX3" fmla="*/ 2074317 w 2128212"/>
              <a:gd name="connsiteY3" fmla="*/ 588253 h 1611772"/>
              <a:gd name="connsiteX4" fmla="*/ 334850 w 2128212"/>
              <a:gd name="connsiteY4" fmla="*/ 1543605 h 1611772"/>
              <a:gd name="connsiteX5" fmla="*/ 0 w 2128212"/>
              <a:gd name="connsiteY5" fmla="*/ 1543981 h 1611772"/>
              <a:gd name="connsiteX6" fmla="*/ 3350 w 2128212"/>
              <a:gd name="connsiteY6" fmla="*/ 286362 h 1611772"/>
              <a:gd name="connsiteX0" fmla="*/ 3350 w 2128212"/>
              <a:gd name="connsiteY0" fmla="*/ 286362 h 1543981"/>
              <a:gd name="connsiteX1" fmla="*/ 265817 w 2128212"/>
              <a:gd name="connsiteY1" fmla="*/ 283076 h 1543981"/>
              <a:gd name="connsiteX2" fmla="*/ 782791 w 2128212"/>
              <a:gd name="connsiteY2" fmla="*/ 12558 h 1543981"/>
              <a:gd name="connsiteX3" fmla="*/ 2074317 w 2128212"/>
              <a:gd name="connsiteY3" fmla="*/ 588253 h 1543981"/>
              <a:gd name="connsiteX4" fmla="*/ 334850 w 2128212"/>
              <a:gd name="connsiteY4" fmla="*/ 1543605 h 1543981"/>
              <a:gd name="connsiteX5" fmla="*/ 0 w 2128212"/>
              <a:gd name="connsiteY5" fmla="*/ 1543981 h 1543981"/>
              <a:gd name="connsiteX6" fmla="*/ 3350 w 2128212"/>
              <a:gd name="connsiteY6" fmla="*/ 286362 h 1543981"/>
              <a:gd name="connsiteX0" fmla="*/ 3350 w 2128212"/>
              <a:gd name="connsiteY0" fmla="*/ 286362 h 1544607"/>
              <a:gd name="connsiteX1" fmla="*/ 265817 w 2128212"/>
              <a:gd name="connsiteY1" fmla="*/ 283076 h 1544607"/>
              <a:gd name="connsiteX2" fmla="*/ 782791 w 2128212"/>
              <a:gd name="connsiteY2" fmla="*/ 12558 h 1544607"/>
              <a:gd name="connsiteX3" fmla="*/ 2074317 w 2128212"/>
              <a:gd name="connsiteY3" fmla="*/ 588253 h 1544607"/>
              <a:gd name="connsiteX4" fmla="*/ 334850 w 2128212"/>
              <a:gd name="connsiteY4" fmla="*/ 1543605 h 1544607"/>
              <a:gd name="connsiteX5" fmla="*/ 0 w 2128212"/>
              <a:gd name="connsiteY5" fmla="*/ 1543981 h 1544607"/>
              <a:gd name="connsiteX6" fmla="*/ 3350 w 2128212"/>
              <a:gd name="connsiteY6" fmla="*/ 286362 h 1544607"/>
              <a:gd name="connsiteX0" fmla="*/ 3350 w 2128212"/>
              <a:gd name="connsiteY0" fmla="*/ 286362 h 1544607"/>
              <a:gd name="connsiteX1" fmla="*/ 265817 w 2128212"/>
              <a:gd name="connsiteY1" fmla="*/ 283076 h 1544607"/>
              <a:gd name="connsiteX2" fmla="*/ 782791 w 2128212"/>
              <a:gd name="connsiteY2" fmla="*/ 12558 h 1544607"/>
              <a:gd name="connsiteX3" fmla="*/ 2074317 w 2128212"/>
              <a:gd name="connsiteY3" fmla="*/ 588253 h 1544607"/>
              <a:gd name="connsiteX4" fmla="*/ 334850 w 2128212"/>
              <a:gd name="connsiteY4" fmla="*/ 1543605 h 1544607"/>
              <a:gd name="connsiteX5" fmla="*/ 0 w 2128212"/>
              <a:gd name="connsiteY5" fmla="*/ 1543981 h 1544607"/>
              <a:gd name="connsiteX6" fmla="*/ 3350 w 2128212"/>
              <a:gd name="connsiteY6" fmla="*/ 286362 h 1544607"/>
              <a:gd name="connsiteX0" fmla="*/ 3350 w 2128212"/>
              <a:gd name="connsiteY0" fmla="*/ 286362 h 1544607"/>
              <a:gd name="connsiteX1" fmla="*/ 265817 w 2128212"/>
              <a:gd name="connsiteY1" fmla="*/ 283076 h 1544607"/>
              <a:gd name="connsiteX2" fmla="*/ 782791 w 2128212"/>
              <a:gd name="connsiteY2" fmla="*/ 12558 h 1544607"/>
              <a:gd name="connsiteX3" fmla="*/ 2074317 w 2128212"/>
              <a:gd name="connsiteY3" fmla="*/ 588253 h 1544607"/>
              <a:gd name="connsiteX4" fmla="*/ 334850 w 2128212"/>
              <a:gd name="connsiteY4" fmla="*/ 1543605 h 1544607"/>
              <a:gd name="connsiteX5" fmla="*/ 0 w 2128212"/>
              <a:gd name="connsiteY5" fmla="*/ 1543981 h 1544607"/>
              <a:gd name="connsiteX6" fmla="*/ 3350 w 2128212"/>
              <a:gd name="connsiteY6" fmla="*/ 286362 h 1544607"/>
              <a:gd name="connsiteX0" fmla="*/ 3350 w 2132263"/>
              <a:gd name="connsiteY0" fmla="*/ 275229 h 1533474"/>
              <a:gd name="connsiteX1" fmla="*/ 265817 w 2132263"/>
              <a:gd name="connsiteY1" fmla="*/ 271943 h 1533474"/>
              <a:gd name="connsiteX2" fmla="*/ 883274 w 2132263"/>
              <a:gd name="connsiteY2" fmla="*/ 24871 h 1533474"/>
              <a:gd name="connsiteX3" fmla="*/ 2074317 w 2132263"/>
              <a:gd name="connsiteY3" fmla="*/ 577120 h 1533474"/>
              <a:gd name="connsiteX4" fmla="*/ 334850 w 2132263"/>
              <a:gd name="connsiteY4" fmla="*/ 1532472 h 1533474"/>
              <a:gd name="connsiteX5" fmla="*/ 0 w 2132263"/>
              <a:gd name="connsiteY5" fmla="*/ 1532848 h 1533474"/>
              <a:gd name="connsiteX6" fmla="*/ 3350 w 2132263"/>
              <a:gd name="connsiteY6" fmla="*/ 275229 h 1533474"/>
              <a:gd name="connsiteX0" fmla="*/ 3350 w 2126505"/>
              <a:gd name="connsiteY0" fmla="*/ 292939 h 1551184"/>
              <a:gd name="connsiteX1" fmla="*/ 265817 w 2126505"/>
              <a:gd name="connsiteY1" fmla="*/ 289653 h 1551184"/>
              <a:gd name="connsiteX2" fmla="*/ 735898 w 2126505"/>
              <a:gd name="connsiteY2" fmla="*/ 5737 h 1551184"/>
              <a:gd name="connsiteX3" fmla="*/ 2074317 w 2126505"/>
              <a:gd name="connsiteY3" fmla="*/ 594830 h 1551184"/>
              <a:gd name="connsiteX4" fmla="*/ 334850 w 2126505"/>
              <a:gd name="connsiteY4" fmla="*/ 1550182 h 1551184"/>
              <a:gd name="connsiteX5" fmla="*/ 0 w 2126505"/>
              <a:gd name="connsiteY5" fmla="*/ 1550558 h 1551184"/>
              <a:gd name="connsiteX6" fmla="*/ 3350 w 2126505"/>
              <a:gd name="connsiteY6" fmla="*/ 292939 h 1551184"/>
              <a:gd name="connsiteX0" fmla="*/ 3350 w 2126505"/>
              <a:gd name="connsiteY0" fmla="*/ 292939 h 1551184"/>
              <a:gd name="connsiteX1" fmla="*/ 265817 w 2126505"/>
              <a:gd name="connsiteY1" fmla="*/ 289653 h 1551184"/>
              <a:gd name="connsiteX2" fmla="*/ 735898 w 2126505"/>
              <a:gd name="connsiteY2" fmla="*/ 5737 h 1551184"/>
              <a:gd name="connsiteX3" fmla="*/ 2074317 w 2126505"/>
              <a:gd name="connsiteY3" fmla="*/ 594830 h 1551184"/>
              <a:gd name="connsiteX4" fmla="*/ 334850 w 2126505"/>
              <a:gd name="connsiteY4" fmla="*/ 1550182 h 1551184"/>
              <a:gd name="connsiteX5" fmla="*/ 0 w 2126505"/>
              <a:gd name="connsiteY5" fmla="*/ 1550558 h 1551184"/>
              <a:gd name="connsiteX6" fmla="*/ 3350 w 2126505"/>
              <a:gd name="connsiteY6" fmla="*/ 292939 h 1551184"/>
              <a:gd name="connsiteX0" fmla="*/ 3350 w 2126505"/>
              <a:gd name="connsiteY0" fmla="*/ 292939 h 1551184"/>
              <a:gd name="connsiteX1" fmla="*/ 265817 w 2126505"/>
              <a:gd name="connsiteY1" fmla="*/ 289653 h 1551184"/>
              <a:gd name="connsiteX2" fmla="*/ 735898 w 2126505"/>
              <a:gd name="connsiteY2" fmla="*/ 5737 h 1551184"/>
              <a:gd name="connsiteX3" fmla="*/ 2074317 w 2126505"/>
              <a:gd name="connsiteY3" fmla="*/ 594830 h 1551184"/>
              <a:gd name="connsiteX4" fmla="*/ 334850 w 2126505"/>
              <a:gd name="connsiteY4" fmla="*/ 1550182 h 1551184"/>
              <a:gd name="connsiteX5" fmla="*/ 0 w 2126505"/>
              <a:gd name="connsiteY5" fmla="*/ 1550558 h 1551184"/>
              <a:gd name="connsiteX6" fmla="*/ 3350 w 2126505"/>
              <a:gd name="connsiteY6" fmla="*/ 292939 h 1551184"/>
              <a:gd name="connsiteX0" fmla="*/ 3350 w 2126505"/>
              <a:gd name="connsiteY0" fmla="*/ 292939 h 1550558"/>
              <a:gd name="connsiteX1" fmla="*/ 265817 w 2126505"/>
              <a:gd name="connsiteY1" fmla="*/ 289653 h 1550558"/>
              <a:gd name="connsiteX2" fmla="*/ 735898 w 2126505"/>
              <a:gd name="connsiteY2" fmla="*/ 5737 h 1550558"/>
              <a:gd name="connsiteX3" fmla="*/ 2074317 w 2126505"/>
              <a:gd name="connsiteY3" fmla="*/ 594830 h 1550558"/>
              <a:gd name="connsiteX4" fmla="*/ 334850 w 2126505"/>
              <a:gd name="connsiteY4" fmla="*/ 1550182 h 1550558"/>
              <a:gd name="connsiteX5" fmla="*/ 0 w 2126505"/>
              <a:gd name="connsiteY5" fmla="*/ 1550558 h 1550558"/>
              <a:gd name="connsiteX6" fmla="*/ 3350 w 2126505"/>
              <a:gd name="connsiteY6" fmla="*/ 292939 h 1550558"/>
              <a:gd name="connsiteX0" fmla="*/ 3350 w 2126505"/>
              <a:gd name="connsiteY0" fmla="*/ 292939 h 1550558"/>
              <a:gd name="connsiteX1" fmla="*/ 265817 w 2126505"/>
              <a:gd name="connsiteY1" fmla="*/ 289653 h 1550558"/>
              <a:gd name="connsiteX2" fmla="*/ 735898 w 2126505"/>
              <a:gd name="connsiteY2" fmla="*/ 5737 h 1550558"/>
              <a:gd name="connsiteX3" fmla="*/ 2074317 w 2126505"/>
              <a:gd name="connsiteY3" fmla="*/ 594830 h 1550558"/>
              <a:gd name="connsiteX4" fmla="*/ 334850 w 2126505"/>
              <a:gd name="connsiteY4" fmla="*/ 1550182 h 1550558"/>
              <a:gd name="connsiteX5" fmla="*/ 0 w 2126505"/>
              <a:gd name="connsiteY5" fmla="*/ 1550558 h 1550558"/>
              <a:gd name="connsiteX6" fmla="*/ 3350 w 2126505"/>
              <a:gd name="connsiteY6" fmla="*/ 292939 h 1550558"/>
              <a:gd name="connsiteX0" fmla="*/ 3350 w 2131308"/>
              <a:gd name="connsiteY0" fmla="*/ 400792 h 1658411"/>
              <a:gd name="connsiteX1" fmla="*/ 265817 w 2131308"/>
              <a:gd name="connsiteY1" fmla="*/ 397506 h 1658411"/>
              <a:gd name="connsiteX2" fmla="*/ 860847 w 2131308"/>
              <a:gd name="connsiteY2" fmla="*/ 0 h 1658411"/>
              <a:gd name="connsiteX3" fmla="*/ 2074317 w 2131308"/>
              <a:gd name="connsiteY3" fmla="*/ 702683 h 1658411"/>
              <a:gd name="connsiteX4" fmla="*/ 334850 w 2131308"/>
              <a:gd name="connsiteY4" fmla="*/ 1658035 h 1658411"/>
              <a:gd name="connsiteX5" fmla="*/ 0 w 2131308"/>
              <a:gd name="connsiteY5" fmla="*/ 1658411 h 1658411"/>
              <a:gd name="connsiteX6" fmla="*/ 3350 w 2131308"/>
              <a:gd name="connsiteY6" fmla="*/ 400792 h 1658411"/>
              <a:gd name="connsiteX0" fmla="*/ 3350 w 2131308"/>
              <a:gd name="connsiteY0" fmla="*/ 400792 h 1658411"/>
              <a:gd name="connsiteX1" fmla="*/ 265817 w 2131308"/>
              <a:gd name="connsiteY1" fmla="*/ 397506 h 1658411"/>
              <a:gd name="connsiteX2" fmla="*/ 860847 w 2131308"/>
              <a:gd name="connsiteY2" fmla="*/ 0 h 1658411"/>
              <a:gd name="connsiteX3" fmla="*/ 2074317 w 2131308"/>
              <a:gd name="connsiteY3" fmla="*/ 702683 h 1658411"/>
              <a:gd name="connsiteX4" fmla="*/ 340529 w 2131308"/>
              <a:gd name="connsiteY4" fmla="*/ 1640996 h 1658411"/>
              <a:gd name="connsiteX5" fmla="*/ 0 w 2131308"/>
              <a:gd name="connsiteY5" fmla="*/ 1658411 h 1658411"/>
              <a:gd name="connsiteX6" fmla="*/ 3350 w 2131308"/>
              <a:gd name="connsiteY6" fmla="*/ 400792 h 1658411"/>
              <a:gd name="connsiteX0" fmla="*/ 3350 w 2133790"/>
              <a:gd name="connsiteY0" fmla="*/ 343997 h 1601616"/>
              <a:gd name="connsiteX1" fmla="*/ 265817 w 2133790"/>
              <a:gd name="connsiteY1" fmla="*/ 340711 h 1601616"/>
              <a:gd name="connsiteX2" fmla="*/ 917642 w 2133790"/>
              <a:gd name="connsiteY2" fmla="*/ 0 h 1601616"/>
              <a:gd name="connsiteX3" fmla="*/ 2074317 w 2133790"/>
              <a:gd name="connsiteY3" fmla="*/ 645888 h 1601616"/>
              <a:gd name="connsiteX4" fmla="*/ 340529 w 2133790"/>
              <a:gd name="connsiteY4" fmla="*/ 1584201 h 1601616"/>
              <a:gd name="connsiteX5" fmla="*/ 0 w 2133790"/>
              <a:gd name="connsiteY5" fmla="*/ 1601616 h 1601616"/>
              <a:gd name="connsiteX6" fmla="*/ 3350 w 2133790"/>
              <a:gd name="connsiteY6" fmla="*/ 343997 h 1601616"/>
              <a:gd name="connsiteX0" fmla="*/ 3350 w 2133790"/>
              <a:gd name="connsiteY0" fmla="*/ 343997 h 1601616"/>
              <a:gd name="connsiteX1" fmla="*/ 288535 w 2133790"/>
              <a:gd name="connsiteY1" fmla="*/ 335031 h 1601616"/>
              <a:gd name="connsiteX2" fmla="*/ 917642 w 2133790"/>
              <a:gd name="connsiteY2" fmla="*/ 0 h 1601616"/>
              <a:gd name="connsiteX3" fmla="*/ 2074317 w 2133790"/>
              <a:gd name="connsiteY3" fmla="*/ 645888 h 1601616"/>
              <a:gd name="connsiteX4" fmla="*/ 340529 w 2133790"/>
              <a:gd name="connsiteY4" fmla="*/ 1584201 h 1601616"/>
              <a:gd name="connsiteX5" fmla="*/ 0 w 2133790"/>
              <a:gd name="connsiteY5" fmla="*/ 1601616 h 1601616"/>
              <a:gd name="connsiteX6" fmla="*/ 3350 w 2133790"/>
              <a:gd name="connsiteY6" fmla="*/ 343997 h 1601616"/>
              <a:gd name="connsiteX0" fmla="*/ 3350 w 2133790"/>
              <a:gd name="connsiteY0" fmla="*/ 343997 h 1601616"/>
              <a:gd name="connsiteX1" fmla="*/ 288535 w 2133790"/>
              <a:gd name="connsiteY1" fmla="*/ 335031 h 1601616"/>
              <a:gd name="connsiteX2" fmla="*/ 917642 w 2133790"/>
              <a:gd name="connsiteY2" fmla="*/ 0 h 1601616"/>
              <a:gd name="connsiteX3" fmla="*/ 2074317 w 2133790"/>
              <a:gd name="connsiteY3" fmla="*/ 645888 h 1601616"/>
              <a:gd name="connsiteX4" fmla="*/ 340529 w 2133790"/>
              <a:gd name="connsiteY4" fmla="*/ 1584201 h 1601616"/>
              <a:gd name="connsiteX5" fmla="*/ 0 w 2133790"/>
              <a:gd name="connsiteY5" fmla="*/ 1601616 h 1601616"/>
              <a:gd name="connsiteX6" fmla="*/ 3350 w 2133790"/>
              <a:gd name="connsiteY6" fmla="*/ 343997 h 1601616"/>
              <a:gd name="connsiteX0" fmla="*/ 3350 w 2133790"/>
              <a:gd name="connsiteY0" fmla="*/ 343997 h 1601616"/>
              <a:gd name="connsiteX1" fmla="*/ 288535 w 2133790"/>
              <a:gd name="connsiteY1" fmla="*/ 335031 h 1601616"/>
              <a:gd name="connsiteX2" fmla="*/ 917642 w 2133790"/>
              <a:gd name="connsiteY2" fmla="*/ 0 h 1601616"/>
              <a:gd name="connsiteX3" fmla="*/ 2074317 w 2133790"/>
              <a:gd name="connsiteY3" fmla="*/ 645888 h 1601616"/>
              <a:gd name="connsiteX4" fmla="*/ 340529 w 2133790"/>
              <a:gd name="connsiteY4" fmla="*/ 1584201 h 1601616"/>
              <a:gd name="connsiteX5" fmla="*/ 0 w 2133790"/>
              <a:gd name="connsiteY5" fmla="*/ 1601616 h 1601616"/>
              <a:gd name="connsiteX6" fmla="*/ 3350 w 2133790"/>
              <a:gd name="connsiteY6" fmla="*/ 343997 h 1601616"/>
              <a:gd name="connsiteX0" fmla="*/ 3350 w 2133790"/>
              <a:gd name="connsiteY0" fmla="*/ 343997 h 1601616"/>
              <a:gd name="connsiteX1" fmla="*/ 288535 w 2133790"/>
              <a:gd name="connsiteY1" fmla="*/ 335031 h 1601616"/>
              <a:gd name="connsiteX2" fmla="*/ 917642 w 2133790"/>
              <a:gd name="connsiteY2" fmla="*/ 0 h 1601616"/>
              <a:gd name="connsiteX3" fmla="*/ 2074317 w 2133790"/>
              <a:gd name="connsiteY3" fmla="*/ 645888 h 1601616"/>
              <a:gd name="connsiteX4" fmla="*/ 340529 w 2133790"/>
              <a:gd name="connsiteY4" fmla="*/ 1584201 h 1601616"/>
              <a:gd name="connsiteX5" fmla="*/ 0 w 2133790"/>
              <a:gd name="connsiteY5" fmla="*/ 1601616 h 1601616"/>
              <a:gd name="connsiteX6" fmla="*/ 3350 w 2133790"/>
              <a:gd name="connsiteY6" fmla="*/ 343997 h 1601616"/>
              <a:gd name="connsiteX0" fmla="*/ 3350 w 2133790"/>
              <a:gd name="connsiteY0" fmla="*/ 343997 h 1601616"/>
              <a:gd name="connsiteX1" fmla="*/ 288535 w 2133790"/>
              <a:gd name="connsiteY1" fmla="*/ 335031 h 1601616"/>
              <a:gd name="connsiteX2" fmla="*/ 917642 w 2133790"/>
              <a:gd name="connsiteY2" fmla="*/ 0 h 1601616"/>
              <a:gd name="connsiteX3" fmla="*/ 2074317 w 2133790"/>
              <a:gd name="connsiteY3" fmla="*/ 645888 h 1601616"/>
              <a:gd name="connsiteX4" fmla="*/ 340529 w 2133790"/>
              <a:gd name="connsiteY4" fmla="*/ 1584201 h 1601616"/>
              <a:gd name="connsiteX5" fmla="*/ 0 w 2133790"/>
              <a:gd name="connsiteY5" fmla="*/ 1601616 h 1601616"/>
              <a:gd name="connsiteX6" fmla="*/ 3350 w 2133790"/>
              <a:gd name="connsiteY6" fmla="*/ 343997 h 1601616"/>
              <a:gd name="connsiteX0" fmla="*/ 3350 w 2133790"/>
              <a:gd name="connsiteY0" fmla="*/ 343997 h 1604428"/>
              <a:gd name="connsiteX1" fmla="*/ 288535 w 2133790"/>
              <a:gd name="connsiteY1" fmla="*/ 335031 h 1604428"/>
              <a:gd name="connsiteX2" fmla="*/ 917642 w 2133790"/>
              <a:gd name="connsiteY2" fmla="*/ 0 h 1604428"/>
              <a:gd name="connsiteX3" fmla="*/ 2074317 w 2133790"/>
              <a:gd name="connsiteY3" fmla="*/ 645888 h 1604428"/>
              <a:gd name="connsiteX4" fmla="*/ 340529 w 2133790"/>
              <a:gd name="connsiteY4" fmla="*/ 1584201 h 1604428"/>
              <a:gd name="connsiteX5" fmla="*/ 0 w 2133790"/>
              <a:gd name="connsiteY5" fmla="*/ 1601616 h 1604428"/>
              <a:gd name="connsiteX6" fmla="*/ 3350 w 2133790"/>
              <a:gd name="connsiteY6" fmla="*/ 343997 h 1604428"/>
              <a:gd name="connsiteX0" fmla="*/ 3350 w 2133790"/>
              <a:gd name="connsiteY0" fmla="*/ 343997 h 1605518"/>
              <a:gd name="connsiteX1" fmla="*/ 288535 w 2133790"/>
              <a:gd name="connsiteY1" fmla="*/ 335031 h 1605518"/>
              <a:gd name="connsiteX2" fmla="*/ 917642 w 2133790"/>
              <a:gd name="connsiteY2" fmla="*/ 0 h 1605518"/>
              <a:gd name="connsiteX3" fmla="*/ 2074317 w 2133790"/>
              <a:gd name="connsiteY3" fmla="*/ 645888 h 1605518"/>
              <a:gd name="connsiteX4" fmla="*/ 340529 w 2133790"/>
              <a:gd name="connsiteY4" fmla="*/ 1584201 h 1605518"/>
              <a:gd name="connsiteX5" fmla="*/ 0 w 2133790"/>
              <a:gd name="connsiteY5" fmla="*/ 1601616 h 1605518"/>
              <a:gd name="connsiteX6" fmla="*/ 3350 w 2133790"/>
              <a:gd name="connsiteY6" fmla="*/ 343997 h 1605518"/>
              <a:gd name="connsiteX0" fmla="*/ 3350 w 2133790"/>
              <a:gd name="connsiteY0" fmla="*/ 343997 h 1607479"/>
              <a:gd name="connsiteX1" fmla="*/ 288535 w 2133790"/>
              <a:gd name="connsiteY1" fmla="*/ 335031 h 1607479"/>
              <a:gd name="connsiteX2" fmla="*/ 917642 w 2133790"/>
              <a:gd name="connsiteY2" fmla="*/ 0 h 1607479"/>
              <a:gd name="connsiteX3" fmla="*/ 2074317 w 2133790"/>
              <a:gd name="connsiteY3" fmla="*/ 645888 h 1607479"/>
              <a:gd name="connsiteX4" fmla="*/ 340529 w 2133790"/>
              <a:gd name="connsiteY4" fmla="*/ 1584201 h 1607479"/>
              <a:gd name="connsiteX5" fmla="*/ 0 w 2133790"/>
              <a:gd name="connsiteY5" fmla="*/ 1601616 h 1607479"/>
              <a:gd name="connsiteX6" fmla="*/ 3350 w 2133790"/>
              <a:gd name="connsiteY6" fmla="*/ 343997 h 1607479"/>
              <a:gd name="connsiteX0" fmla="*/ 3350 w 2133790"/>
              <a:gd name="connsiteY0" fmla="*/ 343997 h 1608039"/>
              <a:gd name="connsiteX1" fmla="*/ 288535 w 2133790"/>
              <a:gd name="connsiteY1" fmla="*/ 335031 h 1608039"/>
              <a:gd name="connsiteX2" fmla="*/ 917642 w 2133790"/>
              <a:gd name="connsiteY2" fmla="*/ 0 h 1608039"/>
              <a:gd name="connsiteX3" fmla="*/ 2074317 w 2133790"/>
              <a:gd name="connsiteY3" fmla="*/ 645888 h 1608039"/>
              <a:gd name="connsiteX4" fmla="*/ 359821 w 2133790"/>
              <a:gd name="connsiteY4" fmla="*/ 1587444 h 1608039"/>
              <a:gd name="connsiteX5" fmla="*/ 0 w 2133790"/>
              <a:gd name="connsiteY5" fmla="*/ 1601616 h 1608039"/>
              <a:gd name="connsiteX6" fmla="*/ 3350 w 2133790"/>
              <a:gd name="connsiteY6" fmla="*/ 343997 h 1608039"/>
              <a:gd name="connsiteX0" fmla="*/ 3350 w 2133790"/>
              <a:gd name="connsiteY0" fmla="*/ 343997 h 1607532"/>
              <a:gd name="connsiteX1" fmla="*/ 288535 w 2133790"/>
              <a:gd name="connsiteY1" fmla="*/ 335031 h 1607532"/>
              <a:gd name="connsiteX2" fmla="*/ 917642 w 2133790"/>
              <a:gd name="connsiteY2" fmla="*/ 0 h 1607532"/>
              <a:gd name="connsiteX3" fmla="*/ 2074317 w 2133790"/>
              <a:gd name="connsiteY3" fmla="*/ 645888 h 1607532"/>
              <a:gd name="connsiteX4" fmla="*/ 359821 w 2133790"/>
              <a:gd name="connsiteY4" fmla="*/ 1587444 h 1607532"/>
              <a:gd name="connsiteX5" fmla="*/ 0 w 2133790"/>
              <a:gd name="connsiteY5" fmla="*/ 1601616 h 1607532"/>
              <a:gd name="connsiteX6" fmla="*/ 3350 w 2133790"/>
              <a:gd name="connsiteY6" fmla="*/ 343997 h 1607532"/>
              <a:gd name="connsiteX0" fmla="*/ 3350 w 2133790"/>
              <a:gd name="connsiteY0" fmla="*/ 343997 h 1610674"/>
              <a:gd name="connsiteX1" fmla="*/ 288535 w 2133790"/>
              <a:gd name="connsiteY1" fmla="*/ 335031 h 1610674"/>
              <a:gd name="connsiteX2" fmla="*/ 917642 w 2133790"/>
              <a:gd name="connsiteY2" fmla="*/ 0 h 1610674"/>
              <a:gd name="connsiteX3" fmla="*/ 2074317 w 2133790"/>
              <a:gd name="connsiteY3" fmla="*/ 645888 h 1610674"/>
              <a:gd name="connsiteX4" fmla="*/ 371396 w 2133790"/>
              <a:gd name="connsiteY4" fmla="*/ 1600418 h 1610674"/>
              <a:gd name="connsiteX5" fmla="*/ 0 w 2133790"/>
              <a:gd name="connsiteY5" fmla="*/ 1601616 h 1610674"/>
              <a:gd name="connsiteX6" fmla="*/ 3350 w 2133790"/>
              <a:gd name="connsiteY6" fmla="*/ 343997 h 1610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33790" h="1610674">
                <a:moveTo>
                  <a:pt x="3350" y="343997"/>
                </a:moveTo>
                <a:cubicBezTo>
                  <a:pt x="25321" y="343710"/>
                  <a:pt x="50961" y="335568"/>
                  <a:pt x="288535" y="335031"/>
                </a:cubicBezTo>
                <a:cubicBezTo>
                  <a:pt x="526109" y="334494"/>
                  <a:pt x="739596" y="170201"/>
                  <a:pt x="917642" y="0"/>
                </a:cubicBezTo>
                <a:cubicBezTo>
                  <a:pt x="1348151" y="191898"/>
                  <a:pt x="2392893" y="-346756"/>
                  <a:pt x="2074317" y="645888"/>
                </a:cubicBezTo>
                <a:cubicBezTo>
                  <a:pt x="1450952" y="1175354"/>
                  <a:pt x="622355" y="1592385"/>
                  <a:pt x="371396" y="1600418"/>
                </a:cubicBezTo>
                <a:cubicBezTo>
                  <a:pt x="120437" y="1608451"/>
                  <a:pt x="32623" y="1618206"/>
                  <a:pt x="0" y="1601616"/>
                </a:cubicBezTo>
                <a:cubicBezTo>
                  <a:pt x="1117" y="1182410"/>
                  <a:pt x="2233" y="763203"/>
                  <a:pt x="3350" y="343997"/>
                </a:cubicBezTo>
                <a:close/>
              </a:path>
            </a:pathLst>
          </a:custGeom>
          <a:solidFill>
            <a:srgbClr val="FFE79A"/>
          </a:solidFill>
          <a:ln w="63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 name="Right Arrow 101">
            <a:extLst>
              <a:ext uri="{FF2B5EF4-FFF2-40B4-BE49-F238E27FC236}">
                <a16:creationId xmlns:a16="http://schemas.microsoft.com/office/drawing/2014/main" id="{299E092E-D70F-D47C-8B13-0F64431C7A6B}"/>
              </a:ext>
            </a:extLst>
          </p:cNvPr>
          <p:cNvSpPr/>
          <p:nvPr/>
        </p:nvSpPr>
        <p:spPr>
          <a:xfrm>
            <a:off x="61412" y="4276026"/>
            <a:ext cx="9281540" cy="1816061"/>
          </a:xfrm>
          <a:prstGeom prst="rightArrow">
            <a:avLst>
              <a:gd name="adj1" fmla="val 82258"/>
              <a:gd name="adj2" fmla="val 52419"/>
            </a:avLst>
          </a:prstGeom>
          <a:solidFill>
            <a:srgbClr val="FFE79A"/>
          </a:solidFill>
          <a:ln w="6350">
            <a:solidFill>
              <a:schemeClr val="tx1"/>
            </a:solidFill>
            <a:prstDash val="sysDash"/>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Ins="4572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300" b="1" dirty="0">
                <a:solidFill>
                  <a:prstClr val="black"/>
                </a:solidFill>
                <a:latin typeface="Source Sans Pro Light" panose="020F0302020204030204" pitchFamily="34" charset="0"/>
                <a:cs typeface="Source Sans Pro Light" panose="020F0302020204030204" pitchFamily="34" charset="0"/>
              </a:rPr>
              <a:t>Operational Line of Effort (LOE)</a:t>
            </a:r>
            <a:br>
              <a:rPr lang="en-US" sz="1300" dirty="0">
                <a:solidFill>
                  <a:prstClr val="black"/>
                </a:solidFill>
                <a:latin typeface="Source Sans Pro Light" panose="020F0302020204030204" pitchFamily="34" charset="0"/>
                <a:cs typeface="Source Sans Pro Light" panose="020F0302020204030204" pitchFamily="34" charset="0"/>
              </a:rPr>
            </a:br>
            <a:br>
              <a:rPr lang="en-US" sz="1300" dirty="0">
                <a:solidFill>
                  <a:prstClr val="black"/>
                </a:solidFill>
                <a:latin typeface="Source Sans Pro Light" panose="020F0302020204030204" pitchFamily="34" charset="0"/>
                <a:cs typeface="Source Sans Pro Light" panose="020F0302020204030204" pitchFamily="34" charset="0"/>
              </a:rPr>
            </a:br>
            <a:r>
              <a:rPr kumimoji="0" lang="en-US" sz="1300" b="0" i="0" u="none" strike="noStrike" kern="1200" cap="none" spc="0" normalizeH="0" baseline="0" noProof="0" dirty="0">
                <a:ln>
                  <a:noFill/>
                </a:ln>
                <a:solidFill>
                  <a:prstClr val="black"/>
                </a:solidFill>
                <a:effectLst/>
                <a:uLnTx/>
                <a:uFillTx/>
                <a:latin typeface="Source Sans Pro Light" panose="020F0302020204030204" pitchFamily="34" charset="0"/>
                <a:ea typeface="+mn-ea"/>
                <a:cs typeface="Source Sans Pro Light" panose="020F0302020204030204" pitchFamily="34" charset="0"/>
              </a:rPr>
              <a:t>Continuing to support existing IT &amp; data programs/projects.  Ready to support new IT &amp; data activities that are aligned with the anticipated ORD IT &amp; data strategic plan and governance as that becomes clearer through the process of developing the ORD IT &amp; data strategic plan.</a:t>
            </a:r>
          </a:p>
        </p:txBody>
      </p:sp>
      <p:sp>
        <p:nvSpPr>
          <p:cNvPr id="13" name="Triangle 12">
            <a:extLst>
              <a:ext uri="{FF2B5EF4-FFF2-40B4-BE49-F238E27FC236}">
                <a16:creationId xmlns:a16="http://schemas.microsoft.com/office/drawing/2014/main" id="{A5C4A7D0-D881-5BAA-3FF2-2D15A848F94A}"/>
              </a:ext>
            </a:extLst>
          </p:cNvPr>
          <p:cNvSpPr/>
          <p:nvPr/>
        </p:nvSpPr>
        <p:spPr>
          <a:xfrm rot="5400000">
            <a:off x="8526037" y="1592060"/>
            <a:ext cx="3531851" cy="3502482"/>
          </a:xfrm>
          <a:custGeom>
            <a:avLst/>
            <a:gdLst>
              <a:gd name="connsiteX0" fmla="*/ 0 w 2969228"/>
              <a:gd name="connsiteY0" fmla="*/ 1589757 h 1589757"/>
              <a:gd name="connsiteX1" fmla="*/ 1484614 w 2969228"/>
              <a:gd name="connsiteY1" fmla="*/ 0 h 1589757"/>
              <a:gd name="connsiteX2" fmla="*/ 2969228 w 2969228"/>
              <a:gd name="connsiteY2" fmla="*/ 1589757 h 1589757"/>
              <a:gd name="connsiteX3" fmla="*/ 0 w 2969228"/>
              <a:gd name="connsiteY3" fmla="*/ 1589757 h 1589757"/>
              <a:gd name="connsiteX0" fmla="*/ 0 w 2969228"/>
              <a:gd name="connsiteY0" fmla="*/ 1589757 h 1589757"/>
              <a:gd name="connsiteX1" fmla="*/ 1484614 w 2969228"/>
              <a:gd name="connsiteY1" fmla="*/ 0 h 1589757"/>
              <a:gd name="connsiteX2" fmla="*/ 2969228 w 2969228"/>
              <a:gd name="connsiteY2" fmla="*/ 1589757 h 1589757"/>
              <a:gd name="connsiteX3" fmla="*/ 2141181 w 2969228"/>
              <a:gd name="connsiteY3" fmla="*/ 1587239 h 1589757"/>
              <a:gd name="connsiteX4" fmla="*/ 0 w 2969228"/>
              <a:gd name="connsiteY4" fmla="*/ 1589757 h 1589757"/>
              <a:gd name="connsiteX0" fmla="*/ 0 w 2969228"/>
              <a:gd name="connsiteY0" fmla="*/ 1589757 h 1597178"/>
              <a:gd name="connsiteX1" fmla="*/ 1484614 w 2969228"/>
              <a:gd name="connsiteY1" fmla="*/ 0 h 1597178"/>
              <a:gd name="connsiteX2" fmla="*/ 2969228 w 2969228"/>
              <a:gd name="connsiteY2" fmla="*/ 1589757 h 1597178"/>
              <a:gd name="connsiteX3" fmla="*/ 2141181 w 2969228"/>
              <a:gd name="connsiteY3" fmla="*/ 1587239 h 1597178"/>
              <a:gd name="connsiteX4" fmla="*/ 342199 w 2969228"/>
              <a:gd name="connsiteY4" fmla="*/ 1597178 h 1597178"/>
              <a:gd name="connsiteX5" fmla="*/ 0 w 2969228"/>
              <a:gd name="connsiteY5" fmla="*/ 1589757 h 1597178"/>
              <a:gd name="connsiteX0" fmla="*/ 0 w 2969228"/>
              <a:gd name="connsiteY0" fmla="*/ 1589757 h 1926802"/>
              <a:gd name="connsiteX1" fmla="*/ 1484614 w 2969228"/>
              <a:gd name="connsiteY1" fmla="*/ 0 h 1926802"/>
              <a:gd name="connsiteX2" fmla="*/ 2969228 w 2969228"/>
              <a:gd name="connsiteY2" fmla="*/ 1589757 h 1926802"/>
              <a:gd name="connsiteX3" fmla="*/ 2141181 w 2969228"/>
              <a:gd name="connsiteY3" fmla="*/ 1587239 h 1926802"/>
              <a:gd name="connsiteX4" fmla="*/ 342199 w 2969228"/>
              <a:gd name="connsiteY4" fmla="*/ 1597178 h 1926802"/>
              <a:gd name="connsiteX5" fmla="*/ 0 w 2969228"/>
              <a:gd name="connsiteY5" fmla="*/ 1589757 h 1926802"/>
              <a:gd name="connsiteX0" fmla="*/ 0 w 2969228"/>
              <a:gd name="connsiteY0" fmla="*/ 1589757 h 1896987"/>
              <a:gd name="connsiteX1" fmla="*/ 1484614 w 2969228"/>
              <a:gd name="connsiteY1" fmla="*/ 0 h 1896987"/>
              <a:gd name="connsiteX2" fmla="*/ 2969228 w 2969228"/>
              <a:gd name="connsiteY2" fmla="*/ 1589757 h 1896987"/>
              <a:gd name="connsiteX3" fmla="*/ 2141181 w 2969228"/>
              <a:gd name="connsiteY3" fmla="*/ 1587239 h 1896987"/>
              <a:gd name="connsiteX4" fmla="*/ 1187361 w 2969228"/>
              <a:gd name="connsiteY4" fmla="*/ 1896979 h 1896987"/>
              <a:gd name="connsiteX5" fmla="*/ 342199 w 2969228"/>
              <a:gd name="connsiteY5" fmla="*/ 1597178 h 1896987"/>
              <a:gd name="connsiteX6" fmla="*/ 0 w 2969228"/>
              <a:gd name="connsiteY6" fmla="*/ 1589757 h 1896987"/>
              <a:gd name="connsiteX0" fmla="*/ 0 w 2969228"/>
              <a:gd name="connsiteY0" fmla="*/ 1589757 h 3488139"/>
              <a:gd name="connsiteX1" fmla="*/ 1484614 w 2969228"/>
              <a:gd name="connsiteY1" fmla="*/ 0 h 3488139"/>
              <a:gd name="connsiteX2" fmla="*/ 2969228 w 2969228"/>
              <a:gd name="connsiteY2" fmla="*/ 1589757 h 3488139"/>
              <a:gd name="connsiteX3" fmla="*/ 2141181 w 2969228"/>
              <a:gd name="connsiteY3" fmla="*/ 1587239 h 3488139"/>
              <a:gd name="connsiteX4" fmla="*/ 133478 w 2969228"/>
              <a:gd name="connsiteY4" fmla="*/ 3488138 h 3488139"/>
              <a:gd name="connsiteX5" fmla="*/ 342199 w 2969228"/>
              <a:gd name="connsiteY5" fmla="*/ 1597178 h 3488139"/>
              <a:gd name="connsiteX6" fmla="*/ 0 w 2969228"/>
              <a:gd name="connsiteY6" fmla="*/ 1589757 h 3488139"/>
              <a:gd name="connsiteX0" fmla="*/ 0 w 2969228"/>
              <a:gd name="connsiteY0" fmla="*/ 1589757 h 3488139"/>
              <a:gd name="connsiteX1" fmla="*/ 1484614 w 2969228"/>
              <a:gd name="connsiteY1" fmla="*/ 0 h 3488139"/>
              <a:gd name="connsiteX2" fmla="*/ 2969228 w 2969228"/>
              <a:gd name="connsiteY2" fmla="*/ 1589757 h 3488139"/>
              <a:gd name="connsiteX3" fmla="*/ 2141181 w 2969228"/>
              <a:gd name="connsiteY3" fmla="*/ 1587239 h 3488139"/>
              <a:gd name="connsiteX4" fmla="*/ 133478 w 2969228"/>
              <a:gd name="connsiteY4" fmla="*/ 3488138 h 3488139"/>
              <a:gd name="connsiteX5" fmla="*/ 342199 w 2969228"/>
              <a:gd name="connsiteY5" fmla="*/ 1597178 h 3488139"/>
              <a:gd name="connsiteX6" fmla="*/ 0 w 2969228"/>
              <a:gd name="connsiteY6" fmla="*/ 1589757 h 3488139"/>
              <a:gd name="connsiteX0" fmla="*/ 0 w 2969228"/>
              <a:gd name="connsiteY0" fmla="*/ 1589757 h 3488139"/>
              <a:gd name="connsiteX1" fmla="*/ 1484614 w 2969228"/>
              <a:gd name="connsiteY1" fmla="*/ 0 h 3488139"/>
              <a:gd name="connsiteX2" fmla="*/ 2969228 w 2969228"/>
              <a:gd name="connsiteY2" fmla="*/ 1589757 h 3488139"/>
              <a:gd name="connsiteX3" fmla="*/ 2141181 w 2969228"/>
              <a:gd name="connsiteY3" fmla="*/ 1587239 h 3488139"/>
              <a:gd name="connsiteX4" fmla="*/ 133478 w 2969228"/>
              <a:gd name="connsiteY4" fmla="*/ 3488138 h 3488139"/>
              <a:gd name="connsiteX5" fmla="*/ 342199 w 2969228"/>
              <a:gd name="connsiteY5" fmla="*/ 1597178 h 3488139"/>
              <a:gd name="connsiteX6" fmla="*/ 0 w 2969228"/>
              <a:gd name="connsiteY6" fmla="*/ 1589757 h 3488139"/>
              <a:gd name="connsiteX0" fmla="*/ 0 w 2969228"/>
              <a:gd name="connsiteY0" fmla="*/ 1589757 h 3488139"/>
              <a:gd name="connsiteX1" fmla="*/ 1484614 w 2969228"/>
              <a:gd name="connsiteY1" fmla="*/ 0 h 3488139"/>
              <a:gd name="connsiteX2" fmla="*/ 2969228 w 2969228"/>
              <a:gd name="connsiteY2" fmla="*/ 1589757 h 3488139"/>
              <a:gd name="connsiteX3" fmla="*/ 2141181 w 2969228"/>
              <a:gd name="connsiteY3" fmla="*/ 1587239 h 3488139"/>
              <a:gd name="connsiteX4" fmla="*/ 133478 w 2969228"/>
              <a:gd name="connsiteY4" fmla="*/ 3488138 h 3488139"/>
              <a:gd name="connsiteX5" fmla="*/ 342199 w 2969228"/>
              <a:gd name="connsiteY5" fmla="*/ 1597178 h 3488139"/>
              <a:gd name="connsiteX6" fmla="*/ 0 w 2969228"/>
              <a:gd name="connsiteY6" fmla="*/ 1589757 h 3488139"/>
              <a:gd name="connsiteX0" fmla="*/ 0 w 2969228"/>
              <a:gd name="connsiteY0" fmla="*/ 1589757 h 3488139"/>
              <a:gd name="connsiteX1" fmla="*/ 1484614 w 2969228"/>
              <a:gd name="connsiteY1" fmla="*/ 0 h 3488139"/>
              <a:gd name="connsiteX2" fmla="*/ 2969228 w 2969228"/>
              <a:gd name="connsiteY2" fmla="*/ 1589757 h 3488139"/>
              <a:gd name="connsiteX3" fmla="*/ 2141181 w 2969228"/>
              <a:gd name="connsiteY3" fmla="*/ 1587239 h 3488139"/>
              <a:gd name="connsiteX4" fmla="*/ 133478 w 2969228"/>
              <a:gd name="connsiteY4" fmla="*/ 3488138 h 3488139"/>
              <a:gd name="connsiteX5" fmla="*/ 342199 w 2969228"/>
              <a:gd name="connsiteY5" fmla="*/ 1597178 h 3488139"/>
              <a:gd name="connsiteX6" fmla="*/ 0 w 2969228"/>
              <a:gd name="connsiteY6" fmla="*/ 1589757 h 3488139"/>
              <a:gd name="connsiteX0" fmla="*/ 0 w 2969228"/>
              <a:gd name="connsiteY0" fmla="*/ 1589757 h 3488865"/>
              <a:gd name="connsiteX1" fmla="*/ 1484614 w 2969228"/>
              <a:gd name="connsiteY1" fmla="*/ 0 h 3488865"/>
              <a:gd name="connsiteX2" fmla="*/ 2969228 w 2969228"/>
              <a:gd name="connsiteY2" fmla="*/ 1589757 h 3488865"/>
              <a:gd name="connsiteX3" fmla="*/ 2141181 w 2969228"/>
              <a:gd name="connsiteY3" fmla="*/ 1587239 h 3488865"/>
              <a:gd name="connsiteX4" fmla="*/ 1843456 w 2969228"/>
              <a:gd name="connsiteY4" fmla="*/ 1819489 h 3488865"/>
              <a:gd name="connsiteX5" fmla="*/ 133478 w 2969228"/>
              <a:gd name="connsiteY5" fmla="*/ 3488138 h 3488865"/>
              <a:gd name="connsiteX6" fmla="*/ 342199 w 2969228"/>
              <a:gd name="connsiteY6" fmla="*/ 1597178 h 3488865"/>
              <a:gd name="connsiteX7" fmla="*/ 0 w 2969228"/>
              <a:gd name="connsiteY7" fmla="*/ 1589757 h 3488865"/>
              <a:gd name="connsiteX0" fmla="*/ 0 w 2969228"/>
              <a:gd name="connsiteY0" fmla="*/ 1589757 h 3598853"/>
              <a:gd name="connsiteX1" fmla="*/ 1484614 w 2969228"/>
              <a:gd name="connsiteY1" fmla="*/ 0 h 3598853"/>
              <a:gd name="connsiteX2" fmla="*/ 2969228 w 2969228"/>
              <a:gd name="connsiteY2" fmla="*/ 1589757 h 3598853"/>
              <a:gd name="connsiteX3" fmla="*/ 2141181 w 2969228"/>
              <a:gd name="connsiteY3" fmla="*/ 1587239 h 3598853"/>
              <a:gd name="connsiteX4" fmla="*/ 1445668 w 2969228"/>
              <a:gd name="connsiteY4" fmla="*/ 3431312 h 3598853"/>
              <a:gd name="connsiteX5" fmla="*/ 133478 w 2969228"/>
              <a:gd name="connsiteY5" fmla="*/ 3488138 h 3598853"/>
              <a:gd name="connsiteX6" fmla="*/ 342199 w 2969228"/>
              <a:gd name="connsiteY6" fmla="*/ 1597178 h 3598853"/>
              <a:gd name="connsiteX7" fmla="*/ 0 w 2969228"/>
              <a:gd name="connsiteY7" fmla="*/ 1589757 h 3598853"/>
              <a:gd name="connsiteX0" fmla="*/ 0 w 2969228"/>
              <a:gd name="connsiteY0" fmla="*/ 1589757 h 3656315"/>
              <a:gd name="connsiteX1" fmla="*/ 1484614 w 2969228"/>
              <a:gd name="connsiteY1" fmla="*/ 0 h 3656315"/>
              <a:gd name="connsiteX2" fmla="*/ 2969228 w 2969228"/>
              <a:gd name="connsiteY2" fmla="*/ 1589757 h 3656315"/>
              <a:gd name="connsiteX3" fmla="*/ 2141181 w 2969228"/>
              <a:gd name="connsiteY3" fmla="*/ 1587239 h 3656315"/>
              <a:gd name="connsiteX4" fmla="*/ 1388843 w 2969228"/>
              <a:gd name="connsiteY4" fmla="*/ 3513970 h 3656315"/>
              <a:gd name="connsiteX5" fmla="*/ 133478 w 2969228"/>
              <a:gd name="connsiteY5" fmla="*/ 3488138 h 3656315"/>
              <a:gd name="connsiteX6" fmla="*/ 342199 w 2969228"/>
              <a:gd name="connsiteY6" fmla="*/ 1597178 h 3656315"/>
              <a:gd name="connsiteX7" fmla="*/ 0 w 2969228"/>
              <a:gd name="connsiteY7" fmla="*/ 1589757 h 3656315"/>
              <a:gd name="connsiteX0" fmla="*/ 0 w 2969228"/>
              <a:gd name="connsiteY0" fmla="*/ 1589757 h 3656315"/>
              <a:gd name="connsiteX1" fmla="*/ 1484614 w 2969228"/>
              <a:gd name="connsiteY1" fmla="*/ 0 h 3656315"/>
              <a:gd name="connsiteX2" fmla="*/ 2969228 w 2969228"/>
              <a:gd name="connsiteY2" fmla="*/ 1589757 h 3656315"/>
              <a:gd name="connsiteX3" fmla="*/ 2141181 w 2969228"/>
              <a:gd name="connsiteY3" fmla="*/ 1587239 h 3656315"/>
              <a:gd name="connsiteX4" fmla="*/ 1388843 w 2969228"/>
              <a:gd name="connsiteY4" fmla="*/ 3513970 h 3656315"/>
              <a:gd name="connsiteX5" fmla="*/ 133478 w 2969228"/>
              <a:gd name="connsiteY5" fmla="*/ 3488138 h 3656315"/>
              <a:gd name="connsiteX6" fmla="*/ 342199 w 2969228"/>
              <a:gd name="connsiteY6" fmla="*/ 1597178 h 3656315"/>
              <a:gd name="connsiteX7" fmla="*/ 0 w 2969228"/>
              <a:gd name="connsiteY7" fmla="*/ 1589757 h 3656315"/>
              <a:gd name="connsiteX0" fmla="*/ 0 w 2969228"/>
              <a:gd name="connsiteY0" fmla="*/ 1589757 h 3656315"/>
              <a:gd name="connsiteX1" fmla="*/ 1484614 w 2969228"/>
              <a:gd name="connsiteY1" fmla="*/ 0 h 3656315"/>
              <a:gd name="connsiteX2" fmla="*/ 2969228 w 2969228"/>
              <a:gd name="connsiteY2" fmla="*/ 1589757 h 3656315"/>
              <a:gd name="connsiteX3" fmla="*/ 2141181 w 2969228"/>
              <a:gd name="connsiteY3" fmla="*/ 1587239 h 3656315"/>
              <a:gd name="connsiteX4" fmla="*/ 1388843 w 2969228"/>
              <a:gd name="connsiteY4" fmla="*/ 3513970 h 3656315"/>
              <a:gd name="connsiteX5" fmla="*/ 133478 w 2969228"/>
              <a:gd name="connsiteY5" fmla="*/ 3488138 h 3656315"/>
              <a:gd name="connsiteX6" fmla="*/ 342199 w 2969228"/>
              <a:gd name="connsiteY6" fmla="*/ 1597178 h 3656315"/>
              <a:gd name="connsiteX7" fmla="*/ 0 w 2969228"/>
              <a:gd name="connsiteY7" fmla="*/ 1589757 h 3656315"/>
              <a:gd name="connsiteX0" fmla="*/ 0 w 2981133"/>
              <a:gd name="connsiteY0" fmla="*/ 1589757 h 3656315"/>
              <a:gd name="connsiteX1" fmla="*/ 1484614 w 2981133"/>
              <a:gd name="connsiteY1" fmla="*/ 0 h 3656315"/>
              <a:gd name="connsiteX2" fmla="*/ 2969228 w 2981133"/>
              <a:gd name="connsiteY2" fmla="*/ 1589757 h 3656315"/>
              <a:gd name="connsiteX3" fmla="*/ 2141181 w 2981133"/>
              <a:gd name="connsiteY3" fmla="*/ 1587239 h 3656315"/>
              <a:gd name="connsiteX4" fmla="*/ 1388843 w 2981133"/>
              <a:gd name="connsiteY4" fmla="*/ 3513970 h 3656315"/>
              <a:gd name="connsiteX5" fmla="*/ 133478 w 2981133"/>
              <a:gd name="connsiteY5" fmla="*/ 3488138 h 3656315"/>
              <a:gd name="connsiteX6" fmla="*/ 342199 w 2981133"/>
              <a:gd name="connsiteY6" fmla="*/ 1597178 h 3656315"/>
              <a:gd name="connsiteX7" fmla="*/ 0 w 2981133"/>
              <a:gd name="connsiteY7" fmla="*/ 1589757 h 3656315"/>
              <a:gd name="connsiteX0" fmla="*/ 0 w 2983938"/>
              <a:gd name="connsiteY0" fmla="*/ 1589757 h 3656315"/>
              <a:gd name="connsiteX1" fmla="*/ 1484614 w 2983938"/>
              <a:gd name="connsiteY1" fmla="*/ 0 h 3656315"/>
              <a:gd name="connsiteX2" fmla="*/ 2969228 w 2983938"/>
              <a:gd name="connsiteY2" fmla="*/ 1589757 h 3656315"/>
              <a:gd name="connsiteX3" fmla="*/ 2141181 w 2983938"/>
              <a:gd name="connsiteY3" fmla="*/ 1587239 h 3656315"/>
              <a:gd name="connsiteX4" fmla="*/ 1388843 w 2983938"/>
              <a:gd name="connsiteY4" fmla="*/ 3513970 h 3656315"/>
              <a:gd name="connsiteX5" fmla="*/ 133478 w 2983938"/>
              <a:gd name="connsiteY5" fmla="*/ 3488138 h 3656315"/>
              <a:gd name="connsiteX6" fmla="*/ 342199 w 2983938"/>
              <a:gd name="connsiteY6" fmla="*/ 1597178 h 3656315"/>
              <a:gd name="connsiteX7" fmla="*/ 0 w 2983938"/>
              <a:gd name="connsiteY7" fmla="*/ 1589757 h 3656315"/>
              <a:gd name="connsiteX0" fmla="*/ 0 w 2983938"/>
              <a:gd name="connsiteY0" fmla="*/ 1589757 h 3656315"/>
              <a:gd name="connsiteX1" fmla="*/ 1484614 w 2983938"/>
              <a:gd name="connsiteY1" fmla="*/ 0 h 3656315"/>
              <a:gd name="connsiteX2" fmla="*/ 2969228 w 2983938"/>
              <a:gd name="connsiteY2" fmla="*/ 1589757 h 3656315"/>
              <a:gd name="connsiteX3" fmla="*/ 2141181 w 2983938"/>
              <a:gd name="connsiteY3" fmla="*/ 1587239 h 3656315"/>
              <a:gd name="connsiteX4" fmla="*/ 1388843 w 2983938"/>
              <a:gd name="connsiteY4" fmla="*/ 3513970 h 3656315"/>
              <a:gd name="connsiteX5" fmla="*/ 133478 w 2983938"/>
              <a:gd name="connsiteY5" fmla="*/ 3488138 h 3656315"/>
              <a:gd name="connsiteX6" fmla="*/ 342199 w 2983938"/>
              <a:gd name="connsiteY6" fmla="*/ 1597178 h 3656315"/>
              <a:gd name="connsiteX7" fmla="*/ 0 w 2983938"/>
              <a:gd name="connsiteY7" fmla="*/ 1589757 h 3656315"/>
              <a:gd name="connsiteX0" fmla="*/ 0 w 2983938"/>
              <a:gd name="connsiteY0" fmla="*/ 1589757 h 3656315"/>
              <a:gd name="connsiteX1" fmla="*/ 1484614 w 2983938"/>
              <a:gd name="connsiteY1" fmla="*/ 0 h 3656315"/>
              <a:gd name="connsiteX2" fmla="*/ 2969228 w 2983938"/>
              <a:gd name="connsiteY2" fmla="*/ 1589757 h 3656315"/>
              <a:gd name="connsiteX3" fmla="*/ 2141181 w 2983938"/>
              <a:gd name="connsiteY3" fmla="*/ 1587239 h 3656315"/>
              <a:gd name="connsiteX4" fmla="*/ 1388843 w 2983938"/>
              <a:gd name="connsiteY4" fmla="*/ 3513970 h 3656315"/>
              <a:gd name="connsiteX5" fmla="*/ 133478 w 2983938"/>
              <a:gd name="connsiteY5" fmla="*/ 3488138 h 3656315"/>
              <a:gd name="connsiteX6" fmla="*/ 342199 w 2983938"/>
              <a:gd name="connsiteY6" fmla="*/ 1597178 h 3656315"/>
              <a:gd name="connsiteX7" fmla="*/ 0 w 2983938"/>
              <a:gd name="connsiteY7" fmla="*/ 1589757 h 3656315"/>
              <a:gd name="connsiteX0" fmla="*/ 0 w 2983938"/>
              <a:gd name="connsiteY0" fmla="*/ 1589757 h 3656315"/>
              <a:gd name="connsiteX1" fmla="*/ 1484614 w 2983938"/>
              <a:gd name="connsiteY1" fmla="*/ 0 h 3656315"/>
              <a:gd name="connsiteX2" fmla="*/ 2969228 w 2983938"/>
              <a:gd name="connsiteY2" fmla="*/ 1589757 h 3656315"/>
              <a:gd name="connsiteX3" fmla="*/ 2141181 w 2983938"/>
              <a:gd name="connsiteY3" fmla="*/ 1587239 h 3656315"/>
              <a:gd name="connsiteX4" fmla="*/ 1388843 w 2983938"/>
              <a:gd name="connsiteY4" fmla="*/ 3513970 h 3656315"/>
              <a:gd name="connsiteX5" fmla="*/ 133478 w 2983938"/>
              <a:gd name="connsiteY5" fmla="*/ 3488138 h 3656315"/>
              <a:gd name="connsiteX6" fmla="*/ 342199 w 2983938"/>
              <a:gd name="connsiteY6" fmla="*/ 1597178 h 3656315"/>
              <a:gd name="connsiteX7" fmla="*/ 0 w 2983938"/>
              <a:gd name="connsiteY7" fmla="*/ 1589757 h 3656315"/>
              <a:gd name="connsiteX0" fmla="*/ 0 w 2983938"/>
              <a:gd name="connsiteY0" fmla="*/ 1589757 h 3513970"/>
              <a:gd name="connsiteX1" fmla="*/ 1484614 w 2983938"/>
              <a:gd name="connsiteY1" fmla="*/ 0 h 3513970"/>
              <a:gd name="connsiteX2" fmla="*/ 2969228 w 2983938"/>
              <a:gd name="connsiteY2" fmla="*/ 1589757 h 3513970"/>
              <a:gd name="connsiteX3" fmla="*/ 2141181 w 2983938"/>
              <a:gd name="connsiteY3" fmla="*/ 1587239 h 3513970"/>
              <a:gd name="connsiteX4" fmla="*/ 1388843 w 2983938"/>
              <a:gd name="connsiteY4" fmla="*/ 3513970 h 3513970"/>
              <a:gd name="connsiteX5" fmla="*/ 133478 w 2983938"/>
              <a:gd name="connsiteY5" fmla="*/ 3488138 h 3513970"/>
              <a:gd name="connsiteX6" fmla="*/ 342199 w 2983938"/>
              <a:gd name="connsiteY6" fmla="*/ 1597178 h 3513970"/>
              <a:gd name="connsiteX7" fmla="*/ 0 w 2983938"/>
              <a:gd name="connsiteY7" fmla="*/ 1589757 h 3513970"/>
              <a:gd name="connsiteX0" fmla="*/ 0 w 2983938"/>
              <a:gd name="connsiteY0" fmla="*/ 1589757 h 3513970"/>
              <a:gd name="connsiteX1" fmla="*/ 1484614 w 2983938"/>
              <a:gd name="connsiteY1" fmla="*/ 0 h 3513970"/>
              <a:gd name="connsiteX2" fmla="*/ 2969228 w 2983938"/>
              <a:gd name="connsiteY2" fmla="*/ 1589757 h 3513970"/>
              <a:gd name="connsiteX3" fmla="*/ 2141181 w 2983938"/>
              <a:gd name="connsiteY3" fmla="*/ 1587239 h 3513970"/>
              <a:gd name="connsiteX4" fmla="*/ 1388843 w 2983938"/>
              <a:gd name="connsiteY4" fmla="*/ 3513970 h 3513970"/>
              <a:gd name="connsiteX5" fmla="*/ 133478 w 2983938"/>
              <a:gd name="connsiteY5" fmla="*/ 3488138 h 3513970"/>
              <a:gd name="connsiteX6" fmla="*/ 342199 w 2983938"/>
              <a:gd name="connsiteY6" fmla="*/ 1597178 h 3513970"/>
              <a:gd name="connsiteX7" fmla="*/ 0 w 2983938"/>
              <a:gd name="connsiteY7" fmla="*/ 1589757 h 3513970"/>
              <a:gd name="connsiteX0" fmla="*/ 0 w 2983938"/>
              <a:gd name="connsiteY0" fmla="*/ 1589757 h 3513970"/>
              <a:gd name="connsiteX1" fmla="*/ 1484614 w 2983938"/>
              <a:gd name="connsiteY1" fmla="*/ 0 h 3513970"/>
              <a:gd name="connsiteX2" fmla="*/ 2969228 w 2983938"/>
              <a:gd name="connsiteY2" fmla="*/ 1589757 h 3513970"/>
              <a:gd name="connsiteX3" fmla="*/ 2141181 w 2983938"/>
              <a:gd name="connsiteY3" fmla="*/ 1587239 h 3513970"/>
              <a:gd name="connsiteX4" fmla="*/ 1388843 w 2983938"/>
              <a:gd name="connsiteY4" fmla="*/ 3513970 h 3513970"/>
              <a:gd name="connsiteX5" fmla="*/ 133478 w 2983938"/>
              <a:gd name="connsiteY5" fmla="*/ 3488138 h 3513970"/>
              <a:gd name="connsiteX6" fmla="*/ 342199 w 2983938"/>
              <a:gd name="connsiteY6" fmla="*/ 1597178 h 3513970"/>
              <a:gd name="connsiteX7" fmla="*/ 0 w 2983938"/>
              <a:gd name="connsiteY7" fmla="*/ 1589757 h 3513970"/>
              <a:gd name="connsiteX0" fmla="*/ 0 w 2983938"/>
              <a:gd name="connsiteY0" fmla="*/ 1589757 h 3513970"/>
              <a:gd name="connsiteX1" fmla="*/ 1484614 w 2983938"/>
              <a:gd name="connsiteY1" fmla="*/ 0 h 3513970"/>
              <a:gd name="connsiteX2" fmla="*/ 2969228 w 2983938"/>
              <a:gd name="connsiteY2" fmla="*/ 1589757 h 3513970"/>
              <a:gd name="connsiteX3" fmla="*/ 2141181 w 2983938"/>
              <a:gd name="connsiteY3" fmla="*/ 1587239 h 3513970"/>
              <a:gd name="connsiteX4" fmla="*/ 1388843 w 2983938"/>
              <a:gd name="connsiteY4" fmla="*/ 3513970 h 3513970"/>
              <a:gd name="connsiteX5" fmla="*/ 133478 w 2983938"/>
              <a:gd name="connsiteY5" fmla="*/ 3488138 h 3513970"/>
              <a:gd name="connsiteX6" fmla="*/ 342199 w 2983938"/>
              <a:gd name="connsiteY6" fmla="*/ 1597178 h 3513970"/>
              <a:gd name="connsiteX7" fmla="*/ 0 w 2983938"/>
              <a:gd name="connsiteY7" fmla="*/ 1589757 h 3513970"/>
              <a:gd name="connsiteX0" fmla="*/ 0 w 2969228"/>
              <a:gd name="connsiteY0" fmla="*/ 1589757 h 3513970"/>
              <a:gd name="connsiteX1" fmla="*/ 1484614 w 2969228"/>
              <a:gd name="connsiteY1" fmla="*/ 0 h 3513970"/>
              <a:gd name="connsiteX2" fmla="*/ 2969228 w 2969228"/>
              <a:gd name="connsiteY2" fmla="*/ 1589757 h 3513970"/>
              <a:gd name="connsiteX3" fmla="*/ 2141181 w 2969228"/>
              <a:gd name="connsiteY3" fmla="*/ 1587239 h 3513970"/>
              <a:gd name="connsiteX4" fmla="*/ 1388843 w 2969228"/>
              <a:gd name="connsiteY4" fmla="*/ 3513970 h 3513970"/>
              <a:gd name="connsiteX5" fmla="*/ 133478 w 2969228"/>
              <a:gd name="connsiteY5" fmla="*/ 3488138 h 3513970"/>
              <a:gd name="connsiteX6" fmla="*/ 342199 w 2969228"/>
              <a:gd name="connsiteY6" fmla="*/ 1597178 h 3513970"/>
              <a:gd name="connsiteX7" fmla="*/ 0 w 2969228"/>
              <a:gd name="connsiteY7" fmla="*/ 1589757 h 3513970"/>
              <a:gd name="connsiteX0" fmla="*/ 0 w 2969228"/>
              <a:gd name="connsiteY0" fmla="*/ 1589757 h 3513970"/>
              <a:gd name="connsiteX1" fmla="*/ 1484614 w 2969228"/>
              <a:gd name="connsiteY1" fmla="*/ 0 h 3513970"/>
              <a:gd name="connsiteX2" fmla="*/ 2969228 w 2969228"/>
              <a:gd name="connsiteY2" fmla="*/ 1589757 h 3513970"/>
              <a:gd name="connsiteX3" fmla="*/ 2141181 w 2969228"/>
              <a:gd name="connsiteY3" fmla="*/ 1587239 h 3513970"/>
              <a:gd name="connsiteX4" fmla="*/ 1388843 w 2969228"/>
              <a:gd name="connsiteY4" fmla="*/ 3513970 h 3513970"/>
              <a:gd name="connsiteX5" fmla="*/ 133478 w 2969228"/>
              <a:gd name="connsiteY5" fmla="*/ 3488138 h 3513970"/>
              <a:gd name="connsiteX6" fmla="*/ 657331 w 2969228"/>
              <a:gd name="connsiteY6" fmla="*/ 1592012 h 3513970"/>
              <a:gd name="connsiteX7" fmla="*/ 0 w 2969228"/>
              <a:gd name="connsiteY7" fmla="*/ 1589757 h 3513970"/>
              <a:gd name="connsiteX0" fmla="*/ 0 w 2969228"/>
              <a:gd name="connsiteY0" fmla="*/ 1589757 h 3513970"/>
              <a:gd name="connsiteX1" fmla="*/ 1484614 w 2969228"/>
              <a:gd name="connsiteY1" fmla="*/ 0 h 3513970"/>
              <a:gd name="connsiteX2" fmla="*/ 2969228 w 2969228"/>
              <a:gd name="connsiteY2" fmla="*/ 1589757 h 3513970"/>
              <a:gd name="connsiteX3" fmla="*/ 2141181 w 2969228"/>
              <a:gd name="connsiteY3" fmla="*/ 1587239 h 3513970"/>
              <a:gd name="connsiteX4" fmla="*/ 1388843 w 2969228"/>
              <a:gd name="connsiteY4" fmla="*/ 3513970 h 3513970"/>
              <a:gd name="connsiteX5" fmla="*/ 133478 w 2969228"/>
              <a:gd name="connsiteY5" fmla="*/ 3488138 h 3513970"/>
              <a:gd name="connsiteX6" fmla="*/ 657331 w 2969228"/>
              <a:gd name="connsiteY6" fmla="*/ 1592012 h 3513970"/>
              <a:gd name="connsiteX7" fmla="*/ 0 w 2969228"/>
              <a:gd name="connsiteY7" fmla="*/ 1589757 h 3513970"/>
              <a:gd name="connsiteX0" fmla="*/ 0 w 2969228"/>
              <a:gd name="connsiteY0" fmla="*/ 1589757 h 3513970"/>
              <a:gd name="connsiteX1" fmla="*/ 1484614 w 2969228"/>
              <a:gd name="connsiteY1" fmla="*/ 0 h 3513970"/>
              <a:gd name="connsiteX2" fmla="*/ 2969228 w 2969228"/>
              <a:gd name="connsiteY2" fmla="*/ 1589757 h 3513970"/>
              <a:gd name="connsiteX3" fmla="*/ 2141181 w 2969228"/>
              <a:gd name="connsiteY3" fmla="*/ 1587239 h 3513970"/>
              <a:gd name="connsiteX4" fmla="*/ 1388843 w 2969228"/>
              <a:gd name="connsiteY4" fmla="*/ 3513970 h 3513970"/>
              <a:gd name="connsiteX5" fmla="*/ 133478 w 2969228"/>
              <a:gd name="connsiteY5" fmla="*/ 3488138 h 3513970"/>
              <a:gd name="connsiteX6" fmla="*/ 657331 w 2969228"/>
              <a:gd name="connsiteY6" fmla="*/ 1592012 h 3513970"/>
              <a:gd name="connsiteX7" fmla="*/ 0 w 2969228"/>
              <a:gd name="connsiteY7" fmla="*/ 1589757 h 3513970"/>
              <a:gd name="connsiteX0" fmla="*/ 0 w 2969228"/>
              <a:gd name="connsiteY0" fmla="*/ 1589757 h 3513970"/>
              <a:gd name="connsiteX1" fmla="*/ 1484614 w 2969228"/>
              <a:gd name="connsiteY1" fmla="*/ 0 h 3513970"/>
              <a:gd name="connsiteX2" fmla="*/ 2969228 w 2969228"/>
              <a:gd name="connsiteY2" fmla="*/ 1589757 h 3513970"/>
              <a:gd name="connsiteX3" fmla="*/ 2342659 w 2969228"/>
              <a:gd name="connsiteY3" fmla="*/ 1587239 h 3513970"/>
              <a:gd name="connsiteX4" fmla="*/ 1388843 w 2969228"/>
              <a:gd name="connsiteY4" fmla="*/ 3513970 h 3513970"/>
              <a:gd name="connsiteX5" fmla="*/ 133478 w 2969228"/>
              <a:gd name="connsiteY5" fmla="*/ 3488138 h 3513970"/>
              <a:gd name="connsiteX6" fmla="*/ 657331 w 2969228"/>
              <a:gd name="connsiteY6" fmla="*/ 1592012 h 3513970"/>
              <a:gd name="connsiteX7" fmla="*/ 0 w 2969228"/>
              <a:gd name="connsiteY7" fmla="*/ 1589757 h 3513970"/>
              <a:gd name="connsiteX0" fmla="*/ 0 w 2969228"/>
              <a:gd name="connsiteY0" fmla="*/ 1589757 h 3513970"/>
              <a:gd name="connsiteX1" fmla="*/ 1484614 w 2969228"/>
              <a:gd name="connsiteY1" fmla="*/ 0 h 3513970"/>
              <a:gd name="connsiteX2" fmla="*/ 2969228 w 2969228"/>
              <a:gd name="connsiteY2" fmla="*/ 1589757 h 3513970"/>
              <a:gd name="connsiteX3" fmla="*/ 2342659 w 2969228"/>
              <a:gd name="connsiteY3" fmla="*/ 1587239 h 3513970"/>
              <a:gd name="connsiteX4" fmla="*/ 1388843 w 2969228"/>
              <a:gd name="connsiteY4" fmla="*/ 3513970 h 3513970"/>
              <a:gd name="connsiteX5" fmla="*/ 133478 w 2969228"/>
              <a:gd name="connsiteY5" fmla="*/ 3488138 h 3513970"/>
              <a:gd name="connsiteX6" fmla="*/ 657331 w 2969228"/>
              <a:gd name="connsiteY6" fmla="*/ 1592012 h 3513970"/>
              <a:gd name="connsiteX7" fmla="*/ 0 w 2969228"/>
              <a:gd name="connsiteY7" fmla="*/ 1589757 h 3513970"/>
              <a:gd name="connsiteX0" fmla="*/ 0 w 2969228"/>
              <a:gd name="connsiteY0" fmla="*/ 1589757 h 3498290"/>
              <a:gd name="connsiteX1" fmla="*/ 1484614 w 2969228"/>
              <a:gd name="connsiteY1" fmla="*/ 0 h 3498290"/>
              <a:gd name="connsiteX2" fmla="*/ 2969228 w 2969228"/>
              <a:gd name="connsiteY2" fmla="*/ 1589757 h 3498290"/>
              <a:gd name="connsiteX3" fmla="*/ 2342659 w 2969228"/>
              <a:gd name="connsiteY3" fmla="*/ 1587239 h 3498290"/>
              <a:gd name="connsiteX4" fmla="*/ 1409507 w 2969228"/>
              <a:gd name="connsiteY4" fmla="*/ 3493305 h 3498290"/>
              <a:gd name="connsiteX5" fmla="*/ 133478 w 2969228"/>
              <a:gd name="connsiteY5" fmla="*/ 3488138 h 3498290"/>
              <a:gd name="connsiteX6" fmla="*/ 657331 w 2969228"/>
              <a:gd name="connsiteY6" fmla="*/ 1592012 h 3498290"/>
              <a:gd name="connsiteX7" fmla="*/ 0 w 2969228"/>
              <a:gd name="connsiteY7" fmla="*/ 1589757 h 3498290"/>
              <a:gd name="connsiteX0" fmla="*/ 0 w 2969228"/>
              <a:gd name="connsiteY0" fmla="*/ 1589757 h 3502482"/>
              <a:gd name="connsiteX1" fmla="*/ 1484614 w 2969228"/>
              <a:gd name="connsiteY1" fmla="*/ 0 h 3502482"/>
              <a:gd name="connsiteX2" fmla="*/ 2969228 w 2969228"/>
              <a:gd name="connsiteY2" fmla="*/ 1589757 h 3502482"/>
              <a:gd name="connsiteX3" fmla="*/ 2342659 w 2969228"/>
              <a:gd name="connsiteY3" fmla="*/ 1587239 h 3502482"/>
              <a:gd name="connsiteX4" fmla="*/ 1409507 w 2969228"/>
              <a:gd name="connsiteY4" fmla="*/ 3493305 h 3502482"/>
              <a:gd name="connsiteX5" fmla="*/ 133478 w 2969228"/>
              <a:gd name="connsiteY5" fmla="*/ 3488138 h 3502482"/>
              <a:gd name="connsiteX6" fmla="*/ 657331 w 2969228"/>
              <a:gd name="connsiteY6" fmla="*/ 1592012 h 3502482"/>
              <a:gd name="connsiteX7" fmla="*/ 0 w 2969228"/>
              <a:gd name="connsiteY7" fmla="*/ 1589757 h 3502482"/>
              <a:gd name="connsiteX0" fmla="*/ 0 w 2969228"/>
              <a:gd name="connsiteY0" fmla="*/ 1589757 h 3502482"/>
              <a:gd name="connsiteX1" fmla="*/ 1484614 w 2969228"/>
              <a:gd name="connsiteY1" fmla="*/ 0 h 3502482"/>
              <a:gd name="connsiteX2" fmla="*/ 2969228 w 2969228"/>
              <a:gd name="connsiteY2" fmla="*/ 1589757 h 3502482"/>
              <a:gd name="connsiteX3" fmla="*/ 2342659 w 2969228"/>
              <a:gd name="connsiteY3" fmla="*/ 1587239 h 3502482"/>
              <a:gd name="connsiteX4" fmla="*/ 1409507 w 2969228"/>
              <a:gd name="connsiteY4" fmla="*/ 3493305 h 3502482"/>
              <a:gd name="connsiteX5" fmla="*/ 133478 w 2969228"/>
              <a:gd name="connsiteY5" fmla="*/ 3488138 h 3502482"/>
              <a:gd name="connsiteX6" fmla="*/ 657331 w 2969228"/>
              <a:gd name="connsiteY6" fmla="*/ 1592012 h 3502482"/>
              <a:gd name="connsiteX7" fmla="*/ 0 w 2969228"/>
              <a:gd name="connsiteY7" fmla="*/ 1589757 h 3502482"/>
              <a:gd name="connsiteX0" fmla="*/ 0 w 2969228"/>
              <a:gd name="connsiteY0" fmla="*/ 1589757 h 3502482"/>
              <a:gd name="connsiteX1" fmla="*/ 1484614 w 2969228"/>
              <a:gd name="connsiteY1" fmla="*/ 0 h 3502482"/>
              <a:gd name="connsiteX2" fmla="*/ 2969228 w 2969228"/>
              <a:gd name="connsiteY2" fmla="*/ 1589757 h 3502482"/>
              <a:gd name="connsiteX3" fmla="*/ 2342659 w 2969228"/>
              <a:gd name="connsiteY3" fmla="*/ 1587239 h 3502482"/>
              <a:gd name="connsiteX4" fmla="*/ 1409507 w 2969228"/>
              <a:gd name="connsiteY4" fmla="*/ 3493305 h 3502482"/>
              <a:gd name="connsiteX5" fmla="*/ 133478 w 2969228"/>
              <a:gd name="connsiteY5" fmla="*/ 3488138 h 3502482"/>
              <a:gd name="connsiteX6" fmla="*/ 657331 w 2969228"/>
              <a:gd name="connsiteY6" fmla="*/ 1592012 h 3502482"/>
              <a:gd name="connsiteX7" fmla="*/ 0 w 2969228"/>
              <a:gd name="connsiteY7" fmla="*/ 1589757 h 3502482"/>
              <a:gd name="connsiteX0" fmla="*/ 0 w 2969228"/>
              <a:gd name="connsiteY0" fmla="*/ 1589757 h 3502482"/>
              <a:gd name="connsiteX1" fmla="*/ 1484614 w 2969228"/>
              <a:gd name="connsiteY1" fmla="*/ 0 h 3502482"/>
              <a:gd name="connsiteX2" fmla="*/ 2969228 w 2969228"/>
              <a:gd name="connsiteY2" fmla="*/ 1589757 h 3502482"/>
              <a:gd name="connsiteX3" fmla="*/ 2342659 w 2969228"/>
              <a:gd name="connsiteY3" fmla="*/ 1587239 h 3502482"/>
              <a:gd name="connsiteX4" fmla="*/ 1409507 w 2969228"/>
              <a:gd name="connsiteY4" fmla="*/ 3493305 h 3502482"/>
              <a:gd name="connsiteX5" fmla="*/ 133478 w 2969228"/>
              <a:gd name="connsiteY5" fmla="*/ 3488138 h 3502482"/>
              <a:gd name="connsiteX6" fmla="*/ 657331 w 2969228"/>
              <a:gd name="connsiteY6" fmla="*/ 1592012 h 3502482"/>
              <a:gd name="connsiteX7" fmla="*/ 0 w 2969228"/>
              <a:gd name="connsiteY7" fmla="*/ 1589757 h 3502482"/>
              <a:gd name="connsiteX0" fmla="*/ 0 w 2969228"/>
              <a:gd name="connsiteY0" fmla="*/ 1589757 h 3502482"/>
              <a:gd name="connsiteX1" fmla="*/ 1484614 w 2969228"/>
              <a:gd name="connsiteY1" fmla="*/ 0 h 3502482"/>
              <a:gd name="connsiteX2" fmla="*/ 2969228 w 2969228"/>
              <a:gd name="connsiteY2" fmla="*/ 1589757 h 3502482"/>
              <a:gd name="connsiteX3" fmla="*/ 2342659 w 2969228"/>
              <a:gd name="connsiteY3" fmla="*/ 1587239 h 3502482"/>
              <a:gd name="connsiteX4" fmla="*/ 1409507 w 2969228"/>
              <a:gd name="connsiteY4" fmla="*/ 3493305 h 3502482"/>
              <a:gd name="connsiteX5" fmla="*/ 133478 w 2969228"/>
              <a:gd name="connsiteY5" fmla="*/ 3488138 h 3502482"/>
              <a:gd name="connsiteX6" fmla="*/ 657331 w 2969228"/>
              <a:gd name="connsiteY6" fmla="*/ 1592012 h 3502482"/>
              <a:gd name="connsiteX7" fmla="*/ 0 w 2969228"/>
              <a:gd name="connsiteY7" fmla="*/ 1589757 h 3502482"/>
              <a:gd name="connsiteX0" fmla="*/ 0 w 2969228"/>
              <a:gd name="connsiteY0" fmla="*/ 1589757 h 3502482"/>
              <a:gd name="connsiteX1" fmla="*/ 1484614 w 2969228"/>
              <a:gd name="connsiteY1" fmla="*/ 0 h 3502482"/>
              <a:gd name="connsiteX2" fmla="*/ 2969228 w 2969228"/>
              <a:gd name="connsiteY2" fmla="*/ 1589757 h 3502482"/>
              <a:gd name="connsiteX3" fmla="*/ 2342659 w 2969228"/>
              <a:gd name="connsiteY3" fmla="*/ 1587239 h 3502482"/>
              <a:gd name="connsiteX4" fmla="*/ 1409507 w 2969228"/>
              <a:gd name="connsiteY4" fmla="*/ 3493305 h 3502482"/>
              <a:gd name="connsiteX5" fmla="*/ 133478 w 2969228"/>
              <a:gd name="connsiteY5" fmla="*/ 3488138 h 3502482"/>
              <a:gd name="connsiteX6" fmla="*/ 303956 w 2969228"/>
              <a:gd name="connsiteY6" fmla="*/ 2377428 h 3502482"/>
              <a:gd name="connsiteX7" fmla="*/ 657331 w 2969228"/>
              <a:gd name="connsiteY7" fmla="*/ 1592012 h 3502482"/>
              <a:gd name="connsiteX8" fmla="*/ 0 w 2969228"/>
              <a:gd name="connsiteY8" fmla="*/ 1589757 h 3502482"/>
              <a:gd name="connsiteX0" fmla="*/ 0 w 2969228"/>
              <a:gd name="connsiteY0" fmla="*/ 1589757 h 3502482"/>
              <a:gd name="connsiteX1" fmla="*/ 1484614 w 2969228"/>
              <a:gd name="connsiteY1" fmla="*/ 0 h 3502482"/>
              <a:gd name="connsiteX2" fmla="*/ 2969228 w 2969228"/>
              <a:gd name="connsiteY2" fmla="*/ 1589757 h 3502482"/>
              <a:gd name="connsiteX3" fmla="*/ 2342659 w 2969228"/>
              <a:gd name="connsiteY3" fmla="*/ 1587239 h 3502482"/>
              <a:gd name="connsiteX4" fmla="*/ 1409507 w 2969228"/>
              <a:gd name="connsiteY4" fmla="*/ 3493305 h 3502482"/>
              <a:gd name="connsiteX5" fmla="*/ 133478 w 2969228"/>
              <a:gd name="connsiteY5" fmla="*/ 3488138 h 3502482"/>
              <a:gd name="connsiteX6" fmla="*/ 303956 w 2969228"/>
              <a:gd name="connsiteY6" fmla="*/ 2377428 h 3502482"/>
              <a:gd name="connsiteX7" fmla="*/ 657331 w 2969228"/>
              <a:gd name="connsiteY7" fmla="*/ 1592012 h 3502482"/>
              <a:gd name="connsiteX8" fmla="*/ 0 w 2969228"/>
              <a:gd name="connsiteY8" fmla="*/ 1589757 h 3502482"/>
              <a:gd name="connsiteX0" fmla="*/ 0 w 2969228"/>
              <a:gd name="connsiteY0" fmla="*/ 1589757 h 3502482"/>
              <a:gd name="connsiteX1" fmla="*/ 1484614 w 2969228"/>
              <a:gd name="connsiteY1" fmla="*/ 0 h 3502482"/>
              <a:gd name="connsiteX2" fmla="*/ 2969228 w 2969228"/>
              <a:gd name="connsiteY2" fmla="*/ 1589757 h 3502482"/>
              <a:gd name="connsiteX3" fmla="*/ 2342659 w 2969228"/>
              <a:gd name="connsiteY3" fmla="*/ 1587239 h 3502482"/>
              <a:gd name="connsiteX4" fmla="*/ 1409507 w 2969228"/>
              <a:gd name="connsiteY4" fmla="*/ 3493305 h 3502482"/>
              <a:gd name="connsiteX5" fmla="*/ 133478 w 2969228"/>
              <a:gd name="connsiteY5" fmla="*/ 3488138 h 3502482"/>
              <a:gd name="connsiteX6" fmla="*/ 319455 w 2969228"/>
              <a:gd name="connsiteY6" fmla="*/ 2289604 h 3502482"/>
              <a:gd name="connsiteX7" fmla="*/ 657331 w 2969228"/>
              <a:gd name="connsiteY7" fmla="*/ 1592012 h 3502482"/>
              <a:gd name="connsiteX8" fmla="*/ 0 w 2969228"/>
              <a:gd name="connsiteY8" fmla="*/ 1589757 h 3502482"/>
              <a:gd name="connsiteX0" fmla="*/ 0 w 2969228"/>
              <a:gd name="connsiteY0" fmla="*/ 1589757 h 3502482"/>
              <a:gd name="connsiteX1" fmla="*/ 1484614 w 2969228"/>
              <a:gd name="connsiteY1" fmla="*/ 0 h 3502482"/>
              <a:gd name="connsiteX2" fmla="*/ 2969228 w 2969228"/>
              <a:gd name="connsiteY2" fmla="*/ 1589757 h 3502482"/>
              <a:gd name="connsiteX3" fmla="*/ 2342659 w 2969228"/>
              <a:gd name="connsiteY3" fmla="*/ 1587239 h 3502482"/>
              <a:gd name="connsiteX4" fmla="*/ 1409507 w 2969228"/>
              <a:gd name="connsiteY4" fmla="*/ 3493305 h 3502482"/>
              <a:gd name="connsiteX5" fmla="*/ 133478 w 2969228"/>
              <a:gd name="connsiteY5" fmla="*/ 3488138 h 3502482"/>
              <a:gd name="connsiteX6" fmla="*/ 319455 w 2969228"/>
              <a:gd name="connsiteY6" fmla="*/ 2289604 h 3502482"/>
              <a:gd name="connsiteX7" fmla="*/ 657331 w 2969228"/>
              <a:gd name="connsiteY7" fmla="*/ 1592012 h 3502482"/>
              <a:gd name="connsiteX8" fmla="*/ 0 w 2969228"/>
              <a:gd name="connsiteY8" fmla="*/ 1589757 h 3502482"/>
              <a:gd name="connsiteX0" fmla="*/ 0 w 2969228"/>
              <a:gd name="connsiteY0" fmla="*/ 1589757 h 3502482"/>
              <a:gd name="connsiteX1" fmla="*/ 1484614 w 2969228"/>
              <a:gd name="connsiteY1" fmla="*/ 0 h 3502482"/>
              <a:gd name="connsiteX2" fmla="*/ 2969228 w 2969228"/>
              <a:gd name="connsiteY2" fmla="*/ 1589757 h 3502482"/>
              <a:gd name="connsiteX3" fmla="*/ 2342659 w 2969228"/>
              <a:gd name="connsiteY3" fmla="*/ 1587239 h 3502482"/>
              <a:gd name="connsiteX4" fmla="*/ 1409507 w 2969228"/>
              <a:gd name="connsiteY4" fmla="*/ 3493305 h 3502482"/>
              <a:gd name="connsiteX5" fmla="*/ 133478 w 2969228"/>
              <a:gd name="connsiteY5" fmla="*/ 3488138 h 3502482"/>
              <a:gd name="connsiteX6" fmla="*/ 319455 w 2969228"/>
              <a:gd name="connsiteY6" fmla="*/ 2289604 h 3502482"/>
              <a:gd name="connsiteX7" fmla="*/ 657331 w 2969228"/>
              <a:gd name="connsiteY7" fmla="*/ 1592012 h 3502482"/>
              <a:gd name="connsiteX8" fmla="*/ 0 w 2969228"/>
              <a:gd name="connsiteY8" fmla="*/ 1589757 h 3502482"/>
              <a:gd name="connsiteX0" fmla="*/ 0 w 2969228"/>
              <a:gd name="connsiteY0" fmla="*/ 1589757 h 3502482"/>
              <a:gd name="connsiteX1" fmla="*/ 1484614 w 2969228"/>
              <a:gd name="connsiteY1" fmla="*/ 0 h 3502482"/>
              <a:gd name="connsiteX2" fmla="*/ 2969228 w 2969228"/>
              <a:gd name="connsiteY2" fmla="*/ 1589757 h 3502482"/>
              <a:gd name="connsiteX3" fmla="*/ 2342659 w 2969228"/>
              <a:gd name="connsiteY3" fmla="*/ 1587239 h 3502482"/>
              <a:gd name="connsiteX4" fmla="*/ 1409507 w 2969228"/>
              <a:gd name="connsiteY4" fmla="*/ 3493305 h 3502482"/>
              <a:gd name="connsiteX5" fmla="*/ 133478 w 2969228"/>
              <a:gd name="connsiteY5" fmla="*/ 3488138 h 3502482"/>
              <a:gd name="connsiteX6" fmla="*/ 319455 w 2969228"/>
              <a:gd name="connsiteY6" fmla="*/ 2289604 h 3502482"/>
              <a:gd name="connsiteX7" fmla="*/ 657331 w 2969228"/>
              <a:gd name="connsiteY7" fmla="*/ 1592012 h 3502482"/>
              <a:gd name="connsiteX8" fmla="*/ 0 w 2969228"/>
              <a:gd name="connsiteY8" fmla="*/ 1589757 h 3502482"/>
              <a:gd name="connsiteX0" fmla="*/ 0 w 2969228"/>
              <a:gd name="connsiteY0" fmla="*/ 1589757 h 3502482"/>
              <a:gd name="connsiteX1" fmla="*/ 1484614 w 2969228"/>
              <a:gd name="connsiteY1" fmla="*/ 0 h 3502482"/>
              <a:gd name="connsiteX2" fmla="*/ 2969228 w 2969228"/>
              <a:gd name="connsiteY2" fmla="*/ 1589757 h 3502482"/>
              <a:gd name="connsiteX3" fmla="*/ 2342659 w 2969228"/>
              <a:gd name="connsiteY3" fmla="*/ 1587239 h 3502482"/>
              <a:gd name="connsiteX4" fmla="*/ 1409507 w 2969228"/>
              <a:gd name="connsiteY4" fmla="*/ 3493305 h 3502482"/>
              <a:gd name="connsiteX5" fmla="*/ 133478 w 2969228"/>
              <a:gd name="connsiteY5" fmla="*/ 3488138 h 3502482"/>
              <a:gd name="connsiteX6" fmla="*/ 319455 w 2969228"/>
              <a:gd name="connsiteY6" fmla="*/ 2289604 h 3502482"/>
              <a:gd name="connsiteX7" fmla="*/ 657331 w 2969228"/>
              <a:gd name="connsiteY7" fmla="*/ 1592012 h 3502482"/>
              <a:gd name="connsiteX8" fmla="*/ 0 w 2969228"/>
              <a:gd name="connsiteY8" fmla="*/ 1589757 h 3502482"/>
              <a:gd name="connsiteX0" fmla="*/ 0 w 2969228"/>
              <a:gd name="connsiteY0" fmla="*/ 1589757 h 3502482"/>
              <a:gd name="connsiteX1" fmla="*/ 1484614 w 2969228"/>
              <a:gd name="connsiteY1" fmla="*/ 0 h 3502482"/>
              <a:gd name="connsiteX2" fmla="*/ 2969228 w 2969228"/>
              <a:gd name="connsiteY2" fmla="*/ 1589757 h 3502482"/>
              <a:gd name="connsiteX3" fmla="*/ 2342659 w 2969228"/>
              <a:gd name="connsiteY3" fmla="*/ 1587239 h 3502482"/>
              <a:gd name="connsiteX4" fmla="*/ 1409507 w 2969228"/>
              <a:gd name="connsiteY4" fmla="*/ 3493305 h 3502482"/>
              <a:gd name="connsiteX5" fmla="*/ 133478 w 2969228"/>
              <a:gd name="connsiteY5" fmla="*/ 3488138 h 3502482"/>
              <a:gd name="connsiteX6" fmla="*/ 319455 w 2969228"/>
              <a:gd name="connsiteY6" fmla="*/ 2289604 h 3502482"/>
              <a:gd name="connsiteX7" fmla="*/ 657331 w 2969228"/>
              <a:gd name="connsiteY7" fmla="*/ 1592012 h 3502482"/>
              <a:gd name="connsiteX8" fmla="*/ 0 w 2969228"/>
              <a:gd name="connsiteY8" fmla="*/ 1589757 h 3502482"/>
              <a:gd name="connsiteX0" fmla="*/ 0 w 2969228"/>
              <a:gd name="connsiteY0" fmla="*/ 1589757 h 3502482"/>
              <a:gd name="connsiteX1" fmla="*/ 1484614 w 2969228"/>
              <a:gd name="connsiteY1" fmla="*/ 0 h 3502482"/>
              <a:gd name="connsiteX2" fmla="*/ 2969228 w 2969228"/>
              <a:gd name="connsiteY2" fmla="*/ 1589757 h 3502482"/>
              <a:gd name="connsiteX3" fmla="*/ 2342659 w 2969228"/>
              <a:gd name="connsiteY3" fmla="*/ 1587239 h 3502482"/>
              <a:gd name="connsiteX4" fmla="*/ 1409507 w 2969228"/>
              <a:gd name="connsiteY4" fmla="*/ 3493305 h 3502482"/>
              <a:gd name="connsiteX5" fmla="*/ 133478 w 2969228"/>
              <a:gd name="connsiteY5" fmla="*/ 3488138 h 3502482"/>
              <a:gd name="connsiteX6" fmla="*/ 314289 w 2969228"/>
              <a:gd name="connsiteY6" fmla="*/ 2150119 h 3502482"/>
              <a:gd name="connsiteX7" fmla="*/ 657331 w 2969228"/>
              <a:gd name="connsiteY7" fmla="*/ 1592012 h 3502482"/>
              <a:gd name="connsiteX8" fmla="*/ 0 w 2969228"/>
              <a:gd name="connsiteY8" fmla="*/ 1589757 h 3502482"/>
              <a:gd name="connsiteX0" fmla="*/ 0 w 2969228"/>
              <a:gd name="connsiteY0" fmla="*/ 1589757 h 3502482"/>
              <a:gd name="connsiteX1" fmla="*/ 1484614 w 2969228"/>
              <a:gd name="connsiteY1" fmla="*/ 0 h 3502482"/>
              <a:gd name="connsiteX2" fmla="*/ 2969228 w 2969228"/>
              <a:gd name="connsiteY2" fmla="*/ 1589757 h 3502482"/>
              <a:gd name="connsiteX3" fmla="*/ 2342659 w 2969228"/>
              <a:gd name="connsiteY3" fmla="*/ 1587239 h 3502482"/>
              <a:gd name="connsiteX4" fmla="*/ 1409507 w 2969228"/>
              <a:gd name="connsiteY4" fmla="*/ 3493305 h 3502482"/>
              <a:gd name="connsiteX5" fmla="*/ 133478 w 2969228"/>
              <a:gd name="connsiteY5" fmla="*/ 3488138 h 3502482"/>
              <a:gd name="connsiteX6" fmla="*/ 314289 w 2969228"/>
              <a:gd name="connsiteY6" fmla="*/ 2150119 h 3502482"/>
              <a:gd name="connsiteX7" fmla="*/ 657331 w 2969228"/>
              <a:gd name="connsiteY7" fmla="*/ 1592012 h 3502482"/>
              <a:gd name="connsiteX8" fmla="*/ 0 w 2969228"/>
              <a:gd name="connsiteY8" fmla="*/ 1589757 h 3502482"/>
              <a:gd name="connsiteX0" fmla="*/ 0 w 2969228"/>
              <a:gd name="connsiteY0" fmla="*/ 1589757 h 3502482"/>
              <a:gd name="connsiteX1" fmla="*/ 1484614 w 2969228"/>
              <a:gd name="connsiteY1" fmla="*/ 0 h 3502482"/>
              <a:gd name="connsiteX2" fmla="*/ 2969228 w 2969228"/>
              <a:gd name="connsiteY2" fmla="*/ 1589757 h 3502482"/>
              <a:gd name="connsiteX3" fmla="*/ 2342659 w 2969228"/>
              <a:gd name="connsiteY3" fmla="*/ 1587239 h 3502482"/>
              <a:gd name="connsiteX4" fmla="*/ 1409507 w 2969228"/>
              <a:gd name="connsiteY4" fmla="*/ 3493305 h 3502482"/>
              <a:gd name="connsiteX5" fmla="*/ 133478 w 2969228"/>
              <a:gd name="connsiteY5" fmla="*/ 3488138 h 3502482"/>
              <a:gd name="connsiteX6" fmla="*/ 314289 w 2969228"/>
              <a:gd name="connsiteY6" fmla="*/ 2150119 h 3502482"/>
              <a:gd name="connsiteX7" fmla="*/ 657331 w 2969228"/>
              <a:gd name="connsiteY7" fmla="*/ 1592012 h 3502482"/>
              <a:gd name="connsiteX8" fmla="*/ 0 w 2969228"/>
              <a:gd name="connsiteY8" fmla="*/ 1589757 h 3502482"/>
              <a:gd name="connsiteX0" fmla="*/ 0 w 2969228"/>
              <a:gd name="connsiteY0" fmla="*/ 1589757 h 3502482"/>
              <a:gd name="connsiteX1" fmla="*/ 1484614 w 2969228"/>
              <a:gd name="connsiteY1" fmla="*/ 0 h 3502482"/>
              <a:gd name="connsiteX2" fmla="*/ 2969228 w 2969228"/>
              <a:gd name="connsiteY2" fmla="*/ 1589757 h 3502482"/>
              <a:gd name="connsiteX3" fmla="*/ 2342659 w 2969228"/>
              <a:gd name="connsiteY3" fmla="*/ 1587239 h 3502482"/>
              <a:gd name="connsiteX4" fmla="*/ 1409507 w 2969228"/>
              <a:gd name="connsiteY4" fmla="*/ 3493305 h 3502482"/>
              <a:gd name="connsiteX5" fmla="*/ 133478 w 2969228"/>
              <a:gd name="connsiteY5" fmla="*/ 3488138 h 3502482"/>
              <a:gd name="connsiteX6" fmla="*/ 396947 w 2969228"/>
              <a:gd name="connsiteY6" fmla="*/ 2124289 h 3502482"/>
              <a:gd name="connsiteX7" fmla="*/ 657331 w 2969228"/>
              <a:gd name="connsiteY7" fmla="*/ 1592012 h 3502482"/>
              <a:gd name="connsiteX8" fmla="*/ 0 w 2969228"/>
              <a:gd name="connsiteY8" fmla="*/ 1589757 h 3502482"/>
              <a:gd name="connsiteX0" fmla="*/ 0 w 2969228"/>
              <a:gd name="connsiteY0" fmla="*/ 1589757 h 3502482"/>
              <a:gd name="connsiteX1" fmla="*/ 1484614 w 2969228"/>
              <a:gd name="connsiteY1" fmla="*/ 0 h 3502482"/>
              <a:gd name="connsiteX2" fmla="*/ 2969228 w 2969228"/>
              <a:gd name="connsiteY2" fmla="*/ 1589757 h 3502482"/>
              <a:gd name="connsiteX3" fmla="*/ 2342659 w 2969228"/>
              <a:gd name="connsiteY3" fmla="*/ 1587239 h 3502482"/>
              <a:gd name="connsiteX4" fmla="*/ 1409507 w 2969228"/>
              <a:gd name="connsiteY4" fmla="*/ 3493305 h 3502482"/>
              <a:gd name="connsiteX5" fmla="*/ 133478 w 2969228"/>
              <a:gd name="connsiteY5" fmla="*/ 3488138 h 3502482"/>
              <a:gd name="connsiteX6" fmla="*/ 396947 w 2969228"/>
              <a:gd name="connsiteY6" fmla="*/ 2124289 h 3502482"/>
              <a:gd name="connsiteX7" fmla="*/ 657331 w 2969228"/>
              <a:gd name="connsiteY7" fmla="*/ 1592012 h 3502482"/>
              <a:gd name="connsiteX8" fmla="*/ 0 w 2969228"/>
              <a:gd name="connsiteY8" fmla="*/ 1589757 h 3502482"/>
              <a:gd name="connsiteX0" fmla="*/ 0 w 2969228"/>
              <a:gd name="connsiteY0" fmla="*/ 1589757 h 3502482"/>
              <a:gd name="connsiteX1" fmla="*/ 1484614 w 2969228"/>
              <a:gd name="connsiteY1" fmla="*/ 0 h 3502482"/>
              <a:gd name="connsiteX2" fmla="*/ 2969228 w 2969228"/>
              <a:gd name="connsiteY2" fmla="*/ 1589757 h 3502482"/>
              <a:gd name="connsiteX3" fmla="*/ 2342659 w 2969228"/>
              <a:gd name="connsiteY3" fmla="*/ 1587239 h 3502482"/>
              <a:gd name="connsiteX4" fmla="*/ 1409507 w 2969228"/>
              <a:gd name="connsiteY4" fmla="*/ 3493305 h 3502482"/>
              <a:gd name="connsiteX5" fmla="*/ 133478 w 2969228"/>
              <a:gd name="connsiteY5" fmla="*/ 3488138 h 3502482"/>
              <a:gd name="connsiteX6" fmla="*/ 309123 w 2969228"/>
              <a:gd name="connsiteY6" fmla="*/ 2191449 h 3502482"/>
              <a:gd name="connsiteX7" fmla="*/ 657331 w 2969228"/>
              <a:gd name="connsiteY7" fmla="*/ 1592012 h 3502482"/>
              <a:gd name="connsiteX8" fmla="*/ 0 w 2969228"/>
              <a:gd name="connsiteY8" fmla="*/ 1589757 h 3502482"/>
              <a:gd name="connsiteX0" fmla="*/ 0 w 2969228"/>
              <a:gd name="connsiteY0" fmla="*/ 1589757 h 3502482"/>
              <a:gd name="connsiteX1" fmla="*/ 1484614 w 2969228"/>
              <a:gd name="connsiteY1" fmla="*/ 0 h 3502482"/>
              <a:gd name="connsiteX2" fmla="*/ 2969228 w 2969228"/>
              <a:gd name="connsiteY2" fmla="*/ 1589757 h 3502482"/>
              <a:gd name="connsiteX3" fmla="*/ 2342659 w 2969228"/>
              <a:gd name="connsiteY3" fmla="*/ 1587239 h 3502482"/>
              <a:gd name="connsiteX4" fmla="*/ 1409507 w 2969228"/>
              <a:gd name="connsiteY4" fmla="*/ 3493305 h 3502482"/>
              <a:gd name="connsiteX5" fmla="*/ 133478 w 2969228"/>
              <a:gd name="connsiteY5" fmla="*/ 3488138 h 3502482"/>
              <a:gd name="connsiteX6" fmla="*/ 412445 w 2969228"/>
              <a:gd name="connsiteY6" fmla="*/ 2041632 h 3502482"/>
              <a:gd name="connsiteX7" fmla="*/ 657331 w 2969228"/>
              <a:gd name="connsiteY7" fmla="*/ 1592012 h 3502482"/>
              <a:gd name="connsiteX8" fmla="*/ 0 w 2969228"/>
              <a:gd name="connsiteY8" fmla="*/ 1589757 h 3502482"/>
              <a:gd name="connsiteX0" fmla="*/ 0 w 2969228"/>
              <a:gd name="connsiteY0" fmla="*/ 1589757 h 3502482"/>
              <a:gd name="connsiteX1" fmla="*/ 1484614 w 2969228"/>
              <a:gd name="connsiteY1" fmla="*/ 0 h 3502482"/>
              <a:gd name="connsiteX2" fmla="*/ 2969228 w 2969228"/>
              <a:gd name="connsiteY2" fmla="*/ 1589757 h 3502482"/>
              <a:gd name="connsiteX3" fmla="*/ 2342659 w 2969228"/>
              <a:gd name="connsiteY3" fmla="*/ 1587239 h 3502482"/>
              <a:gd name="connsiteX4" fmla="*/ 1409507 w 2969228"/>
              <a:gd name="connsiteY4" fmla="*/ 3493305 h 3502482"/>
              <a:gd name="connsiteX5" fmla="*/ 133478 w 2969228"/>
              <a:gd name="connsiteY5" fmla="*/ 3488138 h 3502482"/>
              <a:gd name="connsiteX6" fmla="*/ 412445 w 2969228"/>
              <a:gd name="connsiteY6" fmla="*/ 2041632 h 3502482"/>
              <a:gd name="connsiteX7" fmla="*/ 657331 w 2969228"/>
              <a:gd name="connsiteY7" fmla="*/ 1592012 h 3502482"/>
              <a:gd name="connsiteX8" fmla="*/ 0 w 2969228"/>
              <a:gd name="connsiteY8" fmla="*/ 1589757 h 3502482"/>
              <a:gd name="connsiteX0" fmla="*/ 0 w 2969228"/>
              <a:gd name="connsiteY0" fmla="*/ 1589757 h 3502482"/>
              <a:gd name="connsiteX1" fmla="*/ 1484614 w 2969228"/>
              <a:gd name="connsiteY1" fmla="*/ 0 h 3502482"/>
              <a:gd name="connsiteX2" fmla="*/ 2969228 w 2969228"/>
              <a:gd name="connsiteY2" fmla="*/ 1589757 h 3502482"/>
              <a:gd name="connsiteX3" fmla="*/ 2342659 w 2969228"/>
              <a:gd name="connsiteY3" fmla="*/ 1587239 h 3502482"/>
              <a:gd name="connsiteX4" fmla="*/ 1409507 w 2969228"/>
              <a:gd name="connsiteY4" fmla="*/ 3493305 h 3502482"/>
              <a:gd name="connsiteX5" fmla="*/ 133478 w 2969228"/>
              <a:gd name="connsiteY5" fmla="*/ 3488138 h 3502482"/>
              <a:gd name="connsiteX6" fmla="*/ 381449 w 2969228"/>
              <a:gd name="connsiteY6" fmla="*/ 2041632 h 3502482"/>
              <a:gd name="connsiteX7" fmla="*/ 657331 w 2969228"/>
              <a:gd name="connsiteY7" fmla="*/ 1592012 h 3502482"/>
              <a:gd name="connsiteX8" fmla="*/ 0 w 2969228"/>
              <a:gd name="connsiteY8" fmla="*/ 1589757 h 3502482"/>
              <a:gd name="connsiteX0" fmla="*/ 0 w 2969228"/>
              <a:gd name="connsiteY0" fmla="*/ 1589757 h 3502482"/>
              <a:gd name="connsiteX1" fmla="*/ 1484614 w 2969228"/>
              <a:gd name="connsiteY1" fmla="*/ 0 h 3502482"/>
              <a:gd name="connsiteX2" fmla="*/ 2969228 w 2969228"/>
              <a:gd name="connsiteY2" fmla="*/ 1589757 h 3502482"/>
              <a:gd name="connsiteX3" fmla="*/ 2342659 w 2969228"/>
              <a:gd name="connsiteY3" fmla="*/ 1587239 h 3502482"/>
              <a:gd name="connsiteX4" fmla="*/ 1409507 w 2969228"/>
              <a:gd name="connsiteY4" fmla="*/ 3493305 h 3502482"/>
              <a:gd name="connsiteX5" fmla="*/ 133478 w 2969228"/>
              <a:gd name="connsiteY5" fmla="*/ 3488138 h 3502482"/>
              <a:gd name="connsiteX6" fmla="*/ 381449 w 2969228"/>
              <a:gd name="connsiteY6" fmla="*/ 2041632 h 3502482"/>
              <a:gd name="connsiteX7" fmla="*/ 657331 w 2969228"/>
              <a:gd name="connsiteY7" fmla="*/ 1592012 h 3502482"/>
              <a:gd name="connsiteX8" fmla="*/ 0 w 2969228"/>
              <a:gd name="connsiteY8" fmla="*/ 1589757 h 3502482"/>
              <a:gd name="connsiteX0" fmla="*/ 0 w 2969228"/>
              <a:gd name="connsiteY0" fmla="*/ 1589757 h 3502482"/>
              <a:gd name="connsiteX1" fmla="*/ 1484614 w 2969228"/>
              <a:gd name="connsiteY1" fmla="*/ 0 h 3502482"/>
              <a:gd name="connsiteX2" fmla="*/ 2969228 w 2969228"/>
              <a:gd name="connsiteY2" fmla="*/ 1589757 h 3502482"/>
              <a:gd name="connsiteX3" fmla="*/ 2342659 w 2969228"/>
              <a:gd name="connsiteY3" fmla="*/ 1587239 h 3502482"/>
              <a:gd name="connsiteX4" fmla="*/ 1409507 w 2969228"/>
              <a:gd name="connsiteY4" fmla="*/ 3493305 h 3502482"/>
              <a:gd name="connsiteX5" fmla="*/ 133478 w 2969228"/>
              <a:gd name="connsiteY5" fmla="*/ 3488138 h 3502482"/>
              <a:gd name="connsiteX6" fmla="*/ 365951 w 2969228"/>
              <a:gd name="connsiteY6" fmla="*/ 2191449 h 3502482"/>
              <a:gd name="connsiteX7" fmla="*/ 657331 w 2969228"/>
              <a:gd name="connsiteY7" fmla="*/ 1592012 h 3502482"/>
              <a:gd name="connsiteX8" fmla="*/ 0 w 2969228"/>
              <a:gd name="connsiteY8" fmla="*/ 1589757 h 3502482"/>
              <a:gd name="connsiteX0" fmla="*/ 0 w 2969228"/>
              <a:gd name="connsiteY0" fmla="*/ 1589757 h 3502482"/>
              <a:gd name="connsiteX1" fmla="*/ 1484614 w 2969228"/>
              <a:gd name="connsiteY1" fmla="*/ 0 h 3502482"/>
              <a:gd name="connsiteX2" fmla="*/ 2969228 w 2969228"/>
              <a:gd name="connsiteY2" fmla="*/ 1589757 h 3502482"/>
              <a:gd name="connsiteX3" fmla="*/ 2342659 w 2969228"/>
              <a:gd name="connsiteY3" fmla="*/ 1587239 h 3502482"/>
              <a:gd name="connsiteX4" fmla="*/ 2024268 w 2969228"/>
              <a:gd name="connsiteY4" fmla="*/ 2237943 h 3502482"/>
              <a:gd name="connsiteX5" fmla="*/ 1409507 w 2969228"/>
              <a:gd name="connsiteY5" fmla="*/ 3493305 h 3502482"/>
              <a:gd name="connsiteX6" fmla="*/ 133478 w 2969228"/>
              <a:gd name="connsiteY6" fmla="*/ 3488138 h 3502482"/>
              <a:gd name="connsiteX7" fmla="*/ 365951 w 2969228"/>
              <a:gd name="connsiteY7" fmla="*/ 2191449 h 3502482"/>
              <a:gd name="connsiteX8" fmla="*/ 657331 w 2969228"/>
              <a:gd name="connsiteY8" fmla="*/ 1592012 h 3502482"/>
              <a:gd name="connsiteX9" fmla="*/ 0 w 2969228"/>
              <a:gd name="connsiteY9" fmla="*/ 1589757 h 3502482"/>
              <a:gd name="connsiteX0" fmla="*/ 0 w 2969228"/>
              <a:gd name="connsiteY0" fmla="*/ 1589757 h 3502482"/>
              <a:gd name="connsiteX1" fmla="*/ 1484614 w 2969228"/>
              <a:gd name="connsiteY1" fmla="*/ 0 h 3502482"/>
              <a:gd name="connsiteX2" fmla="*/ 2969228 w 2969228"/>
              <a:gd name="connsiteY2" fmla="*/ 1589757 h 3502482"/>
              <a:gd name="connsiteX3" fmla="*/ 2342659 w 2969228"/>
              <a:gd name="connsiteY3" fmla="*/ 1587239 h 3502482"/>
              <a:gd name="connsiteX4" fmla="*/ 2143088 w 2969228"/>
              <a:gd name="connsiteY4" fmla="*/ 2284438 h 3502482"/>
              <a:gd name="connsiteX5" fmla="*/ 1409507 w 2969228"/>
              <a:gd name="connsiteY5" fmla="*/ 3493305 h 3502482"/>
              <a:gd name="connsiteX6" fmla="*/ 133478 w 2969228"/>
              <a:gd name="connsiteY6" fmla="*/ 3488138 h 3502482"/>
              <a:gd name="connsiteX7" fmla="*/ 365951 w 2969228"/>
              <a:gd name="connsiteY7" fmla="*/ 2191449 h 3502482"/>
              <a:gd name="connsiteX8" fmla="*/ 657331 w 2969228"/>
              <a:gd name="connsiteY8" fmla="*/ 1592012 h 3502482"/>
              <a:gd name="connsiteX9" fmla="*/ 0 w 2969228"/>
              <a:gd name="connsiteY9" fmla="*/ 1589757 h 3502482"/>
              <a:gd name="connsiteX0" fmla="*/ 0 w 2969228"/>
              <a:gd name="connsiteY0" fmla="*/ 1589757 h 3502482"/>
              <a:gd name="connsiteX1" fmla="*/ 1484614 w 2969228"/>
              <a:gd name="connsiteY1" fmla="*/ 0 h 3502482"/>
              <a:gd name="connsiteX2" fmla="*/ 2969228 w 2969228"/>
              <a:gd name="connsiteY2" fmla="*/ 1589757 h 3502482"/>
              <a:gd name="connsiteX3" fmla="*/ 2342659 w 2969228"/>
              <a:gd name="connsiteY3" fmla="*/ 1587239 h 3502482"/>
              <a:gd name="connsiteX4" fmla="*/ 2215414 w 2969228"/>
              <a:gd name="connsiteY4" fmla="*/ 2305102 h 3502482"/>
              <a:gd name="connsiteX5" fmla="*/ 1409507 w 2969228"/>
              <a:gd name="connsiteY5" fmla="*/ 3493305 h 3502482"/>
              <a:gd name="connsiteX6" fmla="*/ 133478 w 2969228"/>
              <a:gd name="connsiteY6" fmla="*/ 3488138 h 3502482"/>
              <a:gd name="connsiteX7" fmla="*/ 365951 w 2969228"/>
              <a:gd name="connsiteY7" fmla="*/ 2191449 h 3502482"/>
              <a:gd name="connsiteX8" fmla="*/ 657331 w 2969228"/>
              <a:gd name="connsiteY8" fmla="*/ 1592012 h 3502482"/>
              <a:gd name="connsiteX9" fmla="*/ 0 w 2969228"/>
              <a:gd name="connsiteY9" fmla="*/ 1589757 h 3502482"/>
              <a:gd name="connsiteX0" fmla="*/ 0 w 2969228"/>
              <a:gd name="connsiteY0" fmla="*/ 1589757 h 3502482"/>
              <a:gd name="connsiteX1" fmla="*/ 1484614 w 2969228"/>
              <a:gd name="connsiteY1" fmla="*/ 0 h 3502482"/>
              <a:gd name="connsiteX2" fmla="*/ 2969228 w 2969228"/>
              <a:gd name="connsiteY2" fmla="*/ 1589757 h 3502482"/>
              <a:gd name="connsiteX3" fmla="*/ 2342659 w 2969228"/>
              <a:gd name="connsiteY3" fmla="*/ 1587239 h 3502482"/>
              <a:gd name="connsiteX4" fmla="*/ 2215414 w 2969228"/>
              <a:gd name="connsiteY4" fmla="*/ 2305102 h 3502482"/>
              <a:gd name="connsiteX5" fmla="*/ 1409507 w 2969228"/>
              <a:gd name="connsiteY5" fmla="*/ 3493305 h 3502482"/>
              <a:gd name="connsiteX6" fmla="*/ 133478 w 2969228"/>
              <a:gd name="connsiteY6" fmla="*/ 3488138 h 3502482"/>
              <a:gd name="connsiteX7" fmla="*/ 365951 w 2969228"/>
              <a:gd name="connsiteY7" fmla="*/ 2191449 h 3502482"/>
              <a:gd name="connsiteX8" fmla="*/ 657331 w 2969228"/>
              <a:gd name="connsiteY8" fmla="*/ 1592012 h 3502482"/>
              <a:gd name="connsiteX9" fmla="*/ 0 w 2969228"/>
              <a:gd name="connsiteY9" fmla="*/ 1589757 h 3502482"/>
              <a:gd name="connsiteX0" fmla="*/ 0 w 2969228"/>
              <a:gd name="connsiteY0" fmla="*/ 1589757 h 3502482"/>
              <a:gd name="connsiteX1" fmla="*/ 1484614 w 2969228"/>
              <a:gd name="connsiteY1" fmla="*/ 0 h 3502482"/>
              <a:gd name="connsiteX2" fmla="*/ 2969228 w 2969228"/>
              <a:gd name="connsiteY2" fmla="*/ 1589757 h 3502482"/>
              <a:gd name="connsiteX3" fmla="*/ 2342659 w 2969228"/>
              <a:gd name="connsiteY3" fmla="*/ 1587239 h 3502482"/>
              <a:gd name="connsiteX4" fmla="*/ 2215414 w 2969228"/>
              <a:gd name="connsiteY4" fmla="*/ 2305102 h 3502482"/>
              <a:gd name="connsiteX5" fmla="*/ 1409507 w 2969228"/>
              <a:gd name="connsiteY5" fmla="*/ 3493305 h 3502482"/>
              <a:gd name="connsiteX6" fmla="*/ 133478 w 2969228"/>
              <a:gd name="connsiteY6" fmla="*/ 3488138 h 3502482"/>
              <a:gd name="connsiteX7" fmla="*/ 365951 w 2969228"/>
              <a:gd name="connsiteY7" fmla="*/ 2191449 h 3502482"/>
              <a:gd name="connsiteX8" fmla="*/ 657331 w 2969228"/>
              <a:gd name="connsiteY8" fmla="*/ 1592012 h 3502482"/>
              <a:gd name="connsiteX9" fmla="*/ 0 w 2969228"/>
              <a:gd name="connsiteY9" fmla="*/ 1589757 h 3502482"/>
              <a:gd name="connsiteX0" fmla="*/ 0 w 2969228"/>
              <a:gd name="connsiteY0" fmla="*/ 1589757 h 3502482"/>
              <a:gd name="connsiteX1" fmla="*/ 1484614 w 2969228"/>
              <a:gd name="connsiteY1" fmla="*/ 0 h 3502482"/>
              <a:gd name="connsiteX2" fmla="*/ 2969228 w 2969228"/>
              <a:gd name="connsiteY2" fmla="*/ 1589757 h 3502482"/>
              <a:gd name="connsiteX3" fmla="*/ 2342659 w 2969228"/>
              <a:gd name="connsiteY3" fmla="*/ 1587239 h 3502482"/>
              <a:gd name="connsiteX4" fmla="*/ 2215414 w 2969228"/>
              <a:gd name="connsiteY4" fmla="*/ 2305102 h 3502482"/>
              <a:gd name="connsiteX5" fmla="*/ 1409507 w 2969228"/>
              <a:gd name="connsiteY5" fmla="*/ 3493305 h 3502482"/>
              <a:gd name="connsiteX6" fmla="*/ 133478 w 2969228"/>
              <a:gd name="connsiteY6" fmla="*/ 3488138 h 3502482"/>
              <a:gd name="connsiteX7" fmla="*/ 365951 w 2969228"/>
              <a:gd name="connsiteY7" fmla="*/ 2191449 h 3502482"/>
              <a:gd name="connsiteX8" fmla="*/ 657331 w 2969228"/>
              <a:gd name="connsiteY8" fmla="*/ 1592012 h 3502482"/>
              <a:gd name="connsiteX9" fmla="*/ 0 w 2969228"/>
              <a:gd name="connsiteY9" fmla="*/ 1589757 h 3502482"/>
              <a:gd name="connsiteX0" fmla="*/ 0 w 2969228"/>
              <a:gd name="connsiteY0" fmla="*/ 1589757 h 3502482"/>
              <a:gd name="connsiteX1" fmla="*/ 1484614 w 2969228"/>
              <a:gd name="connsiteY1" fmla="*/ 0 h 3502482"/>
              <a:gd name="connsiteX2" fmla="*/ 2969228 w 2969228"/>
              <a:gd name="connsiteY2" fmla="*/ 1589757 h 3502482"/>
              <a:gd name="connsiteX3" fmla="*/ 2342659 w 2969228"/>
              <a:gd name="connsiteY3" fmla="*/ 1587239 h 3502482"/>
              <a:gd name="connsiteX4" fmla="*/ 2215414 w 2969228"/>
              <a:gd name="connsiteY4" fmla="*/ 2305102 h 3502482"/>
              <a:gd name="connsiteX5" fmla="*/ 1409507 w 2969228"/>
              <a:gd name="connsiteY5" fmla="*/ 3493305 h 3502482"/>
              <a:gd name="connsiteX6" fmla="*/ 133478 w 2969228"/>
              <a:gd name="connsiteY6" fmla="*/ 3488138 h 3502482"/>
              <a:gd name="connsiteX7" fmla="*/ 179971 w 2969228"/>
              <a:gd name="connsiteY7" fmla="*/ 2336100 h 3502482"/>
              <a:gd name="connsiteX8" fmla="*/ 657331 w 2969228"/>
              <a:gd name="connsiteY8" fmla="*/ 1592012 h 3502482"/>
              <a:gd name="connsiteX9" fmla="*/ 0 w 2969228"/>
              <a:gd name="connsiteY9" fmla="*/ 1589757 h 3502482"/>
              <a:gd name="connsiteX0" fmla="*/ 0 w 2969228"/>
              <a:gd name="connsiteY0" fmla="*/ 1589757 h 3502482"/>
              <a:gd name="connsiteX1" fmla="*/ 1484614 w 2969228"/>
              <a:gd name="connsiteY1" fmla="*/ 0 h 3502482"/>
              <a:gd name="connsiteX2" fmla="*/ 2969228 w 2969228"/>
              <a:gd name="connsiteY2" fmla="*/ 1589757 h 3502482"/>
              <a:gd name="connsiteX3" fmla="*/ 2342659 w 2969228"/>
              <a:gd name="connsiteY3" fmla="*/ 1587239 h 3502482"/>
              <a:gd name="connsiteX4" fmla="*/ 2215414 w 2969228"/>
              <a:gd name="connsiteY4" fmla="*/ 2305102 h 3502482"/>
              <a:gd name="connsiteX5" fmla="*/ 1409507 w 2969228"/>
              <a:gd name="connsiteY5" fmla="*/ 3493305 h 3502482"/>
              <a:gd name="connsiteX6" fmla="*/ 133478 w 2969228"/>
              <a:gd name="connsiteY6" fmla="*/ 3488138 h 3502482"/>
              <a:gd name="connsiteX7" fmla="*/ 179971 w 2969228"/>
              <a:gd name="connsiteY7" fmla="*/ 2336100 h 3502482"/>
              <a:gd name="connsiteX8" fmla="*/ 657331 w 2969228"/>
              <a:gd name="connsiteY8" fmla="*/ 1592012 h 3502482"/>
              <a:gd name="connsiteX9" fmla="*/ 0 w 2969228"/>
              <a:gd name="connsiteY9" fmla="*/ 1589757 h 3502482"/>
              <a:gd name="connsiteX0" fmla="*/ 0 w 2969228"/>
              <a:gd name="connsiteY0" fmla="*/ 1589757 h 3502482"/>
              <a:gd name="connsiteX1" fmla="*/ 1484614 w 2969228"/>
              <a:gd name="connsiteY1" fmla="*/ 0 h 3502482"/>
              <a:gd name="connsiteX2" fmla="*/ 2969228 w 2969228"/>
              <a:gd name="connsiteY2" fmla="*/ 1589757 h 3502482"/>
              <a:gd name="connsiteX3" fmla="*/ 2342659 w 2969228"/>
              <a:gd name="connsiteY3" fmla="*/ 1587239 h 3502482"/>
              <a:gd name="connsiteX4" fmla="*/ 2215414 w 2969228"/>
              <a:gd name="connsiteY4" fmla="*/ 2305102 h 3502482"/>
              <a:gd name="connsiteX5" fmla="*/ 1409507 w 2969228"/>
              <a:gd name="connsiteY5" fmla="*/ 3493305 h 3502482"/>
              <a:gd name="connsiteX6" fmla="*/ 133478 w 2969228"/>
              <a:gd name="connsiteY6" fmla="*/ 3488138 h 3502482"/>
              <a:gd name="connsiteX7" fmla="*/ 138642 w 2969228"/>
              <a:gd name="connsiteY7" fmla="*/ 2387761 h 3502482"/>
              <a:gd name="connsiteX8" fmla="*/ 657331 w 2969228"/>
              <a:gd name="connsiteY8" fmla="*/ 1592012 h 3502482"/>
              <a:gd name="connsiteX9" fmla="*/ 0 w 2969228"/>
              <a:gd name="connsiteY9" fmla="*/ 1589757 h 3502482"/>
              <a:gd name="connsiteX0" fmla="*/ 0 w 2969228"/>
              <a:gd name="connsiteY0" fmla="*/ 1589757 h 3502482"/>
              <a:gd name="connsiteX1" fmla="*/ 1484614 w 2969228"/>
              <a:gd name="connsiteY1" fmla="*/ 0 h 3502482"/>
              <a:gd name="connsiteX2" fmla="*/ 2969228 w 2969228"/>
              <a:gd name="connsiteY2" fmla="*/ 1589757 h 3502482"/>
              <a:gd name="connsiteX3" fmla="*/ 2342659 w 2969228"/>
              <a:gd name="connsiteY3" fmla="*/ 1587239 h 3502482"/>
              <a:gd name="connsiteX4" fmla="*/ 2215414 w 2969228"/>
              <a:gd name="connsiteY4" fmla="*/ 2305102 h 3502482"/>
              <a:gd name="connsiteX5" fmla="*/ 1409507 w 2969228"/>
              <a:gd name="connsiteY5" fmla="*/ 3493305 h 3502482"/>
              <a:gd name="connsiteX6" fmla="*/ 133478 w 2969228"/>
              <a:gd name="connsiteY6" fmla="*/ 3488138 h 3502482"/>
              <a:gd name="connsiteX7" fmla="*/ 138642 w 2969228"/>
              <a:gd name="connsiteY7" fmla="*/ 2387761 h 3502482"/>
              <a:gd name="connsiteX8" fmla="*/ 657331 w 2969228"/>
              <a:gd name="connsiteY8" fmla="*/ 1592012 h 3502482"/>
              <a:gd name="connsiteX9" fmla="*/ 0 w 2969228"/>
              <a:gd name="connsiteY9" fmla="*/ 1589757 h 3502482"/>
              <a:gd name="connsiteX0" fmla="*/ 0 w 2969228"/>
              <a:gd name="connsiteY0" fmla="*/ 1589757 h 3502482"/>
              <a:gd name="connsiteX1" fmla="*/ 1484614 w 2969228"/>
              <a:gd name="connsiteY1" fmla="*/ 0 h 3502482"/>
              <a:gd name="connsiteX2" fmla="*/ 2969228 w 2969228"/>
              <a:gd name="connsiteY2" fmla="*/ 1589757 h 3502482"/>
              <a:gd name="connsiteX3" fmla="*/ 2342659 w 2969228"/>
              <a:gd name="connsiteY3" fmla="*/ 1587239 h 3502482"/>
              <a:gd name="connsiteX4" fmla="*/ 2215414 w 2969228"/>
              <a:gd name="connsiteY4" fmla="*/ 2305102 h 3502482"/>
              <a:gd name="connsiteX5" fmla="*/ 1409507 w 2969228"/>
              <a:gd name="connsiteY5" fmla="*/ 3493305 h 3502482"/>
              <a:gd name="connsiteX6" fmla="*/ 133478 w 2969228"/>
              <a:gd name="connsiteY6" fmla="*/ 3488138 h 3502482"/>
              <a:gd name="connsiteX7" fmla="*/ 138642 w 2969228"/>
              <a:gd name="connsiteY7" fmla="*/ 2718392 h 3502482"/>
              <a:gd name="connsiteX8" fmla="*/ 657331 w 2969228"/>
              <a:gd name="connsiteY8" fmla="*/ 1592012 h 3502482"/>
              <a:gd name="connsiteX9" fmla="*/ 0 w 2969228"/>
              <a:gd name="connsiteY9" fmla="*/ 1589757 h 3502482"/>
              <a:gd name="connsiteX0" fmla="*/ 0 w 2969228"/>
              <a:gd name="connsiteY0" fmla="*/ 1589757 h 3502482"/>
              <a:gd name="connsiteX1" fmla="*/ 1484614 w 2969228"/>
              <a:gd name="connsiteY1" fmla="*/ 0 h 3502482"/>
              <a:gd name="connsiteX2" fmla="*/ 2969228 w 2969228"/>
              <a:gd name="connsiteY2" fmla="*/ 1589757 h 3502482"/>
              <a:gd name="connsiteX3" fmla="*/ 2342659 w 2969228"/>
              <a:gd name="connsiteY3" fmla="*/ 1587239 h 3502482"/>
              <a:gd name="connsiteX4" fmla="*/ 2215414 w 2969228"/>
              <a:gd name="connsiteY4" fmla="*/ 2305102 h 3502482"/>
              <a:gd name="connsiteX5" fmla="*/ 1409507 w 2969228"/>
              <a:gd name="connsiteY5" fmla="*/ 3493305 h 3502482"/>
              <a:gd name="connsiteX6" fmla="*/ 133478 w 2969228"/>
              <a:gd name="connsiteY6" fmla="*/ 3488138 h 3502482"/>
              <a:gd name="connsiteX7" fmla="*/ 138642 w 2969228"/>
              <a:gd name="connsiteY7" fmla="*/ 2718392 h 3502482"/>
              <a:gd name="connsiteX8" fmla="*/ 657331 w 2969228"/>
              <a:gd name="connsiteY8" fmla="*/ 1592012 h 3502482"/>
              <a:gd name="connsiteX9" fmla="*/ 0 w 2969228"/>
              <a:gd name="connsiteY9" fmla="*/ 1589757 h 3502482"/>
              <a:gd name="connsiteX0" fmla="*/ 0 w 2969228"/>
              <a:gd name="connsiteY0" fmla="*/ 1589757 h 3502482"/>
              <a:gd name="connsiteX1" fmla="*/ 1484614 w 2969228"/>
              <a:gd name="connsiteY1" fmla="*/ 0 h 3502482"/>
              <a:gd name="connsiteX2" fmla="*/ 2969228 w 2969228"/>
              <a:gd name="connsiteY2" fmla="*/ 1589757 h 3502482"/>
              <a:gd name="connsiteX3" fmla="*/ 2342659 w 2969228"/>
              <a:gd name="connsiteY3" fmla="*/ 1587239 h 3502482"/>
              <a:gd name="connsiteX4" fmla="*/ 2215414 w 2969228"/>
              <a:gd name="connsiteY4" fmla="*/ 2305102 h 3502482"/>
              <a:gd name="connsiteX5" fmla="*/ 1409507 w 2969228"/>
              <a:gd name="connsiteY5" fmla="*/ 3493305 h 3502482"/>
              <a:gd name="connsiteX6" fmla="*/ 133478 w 2969228"/>
              <a:gd name="connsiteY6" fmla="*/ 3488138 h 3502482"/>
              <a:gd name="connsiteX7" fmla="*/ 138642 w 2969228"/>
              <a:gd name="connsiteY7" fmla="*/ 2718392 h 3502482"/>
              <a:gd name="connsiteX8" fmla="*/ 657331 w 2969228"/>
              <a:gd name="connsiteY8" fmla="*/ 1592012 h 3502482"/>
              <a:gd name="connsiteX9" fmla="*/ 0 w 2969228"/>
              <a:gd name="connsiteY9" fmla="*/ 1589757 h 3502482"/>
              <a:gd name="connsiteX0" fmla="*/ 0 w 2969228"/>
              <a:gd name="connsiteY0" fmla="*/ 1589757 h 3502482"/>
              <a:gd name="connsiteX1" fmla="*/ 1484614 w 2969228"/>
              <a:gd name="connsiteY1" fmla="*/ 0 h 3502482"/>
              <a:gd name="connsiteX2" fmla="*/ 2969228 w 2969228"/>
              <a:gd name="connsiteY2" fmla="*/ 1589757 h 3502482"/>
              <a:gd name="connsiteX3" fmla="*/ 2342659 w 2969228"/>
              <a:gd name="connsiteY3" fmla="*/ 1587239 h 3502482"/>
              <a:gd name="connsiteX4" fmla="*/ 2215414 w 2969228"/>
              <a:gd name="connsiteY4" fmla="*/ 2305102 h 3502482"/>
              <a:gd name="connsiteX5" fmla="*/ 1409507 w 2969228"/>
              <a:gd name="connsiteY5" fmla="*/ 3493305 h 3502482"/>
              <a:gd name="connsiteX6" fmla="*/ 133478 w 2969228"/>
              <a:gd name="connsiteY6" fmla="*/ 3488138 h 3502482"/>
              <a:gd name="connsiteX7" fmla="*/ 138642 w 2969228"/>
              <a:gd name="connsiteY7" fmla="*/ 2718392 h 3502482"/>
              <a:gd name="connsiteX8" fmla="*/ 657331 w 2969228"/>
              <a:gd name="connsiteY8" fmla="*/ 1592012 h 3502482"/>
              <a:gd name="connsiteX9" fmla="*/ 0 w 2969228"/>
              <a:gd name="connsiteY9" fmla="*/ 1589757 h 3502482"/>
              <a:gd name="connsiteX0" fmla="*/ 0 w 2969228"/>
              <a:gd name="connsiteY0" fmla="*/ 1589757 h 3502482"/>
              <a:gd name="connsiteX1" fmla="*/ 1484614 w 2969228"/>
              <a:gd name="connsiteY1" fmla="*/ 0 h 3502482"/>
              <a:gd name="connsiteX2" fmla="*/ 2969228 w 2969228"/>
              <a:gd name="connsiteY2" fmla="*/ 1589757 h 3502482"/>
              <a:gd name="connsiteX3" fmla="*/ 2342659 w 2969228"/>
              <a:gd name="connsiteY3" fmla="*/ 1587239 h 3502482"/>
              <a:gd name="connsiteX4" fmla="*/ 2221094 w 2969228"/>
              <a:gd name="connsiteY4" fmla="*/ 2157435 h 3502482"/>
              <a:gd name="connsiteX5" fmla="*/ 1409507 w 2969228"/>
              <a:gd name="connsiteY5" fmla="*/ 3493305 h 3502482"/>
              <a:gd name="connsiteX6" fmla="*/ 133478 w 2969228"/>
              <a:gd name="connsiteY6" fmla="*/ 3488138 h 3502482"/>
              <a:gd name="connsiteX7" fmla="*/ 138642 w 2969228"/>
              <a:gd name="connsiteY7" fmla="*/ 2718392 h 3502482"/>
              <a:gd name="connsiteX8" fmla="*/ 657331 w 2969228"/>
              <a:gd name="connsiteY8" fmla="*/ 1592012 h 3502482"/>
              <a:gd name="connsiteX9" fmla="*/ 0 w 2969228"/>
              <a:gd name="connsiteY9" fmla="*/ 1589757 h 3502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69228" h="3502482">
                <a:moveTo>
                  <a:pt x="0" y="1589757"/>
                </a:moveTo>
                <a:lnTo>
                  <a:pt x="1484614" y="0"/>
                </a:lnTo>
                <a:lnTo>
                  <a:pt x="2969228" y="1589757"/>
                </a:lnTo>
                <a:lnTo>
                  <a:pt x="2342659" y="1587239"/>
                </a:lnTo>
                <a:cubicBezTo>
                  <a:pt x="2185166" y="1695270"/>
                  <a:pt x="2226802" y="1974076"/>
                  <a:pt x="2221094" y="2157435"/>
                </a:cubicBezTo>
                <a:cubicBezTo>
                  <a:pt x="2256714" y="3074381"/>
                  <a:pt x="1400907" y="2853296"/>
                  <a:pt x="1409507" y="3493305"/>
                </a:cubicBezTo>
                <a:cubicBezTo>
                  <a:pt x="996218" y="3500193"/>
                  <a:pt x="1394008" y="3512247"/>
                  <a:pt x="133478" y="3488138"/>
                </a:cubicBezTo>
                <a:cubicBezTo>
                  <a:pt x="135200" y="2212110"/>
                  <a:pt x="128824" y="3235890"/>
                  <a:pt x="138642" y="2718392"/>
                </a:cubicBezTo>
                <a:cubicBezTo>
                  <a:pt x="148460" y="2200894"/>
                  <a:pt x="666661" y="1955764"/>
                  <a:pt x="657331" y="1592012"/>
                </a:cubicBezTo>
                <a:lnTo>
                  <a:pt x="0" y="1589757"/>
                </a:lnTo>
                <a:close/>
              </a:path>
            </a:pathLst>
          </a:custGeom>
          <a:gradFill>
            <a:gsLst>
              <a:gs pos="47000">
                <a:srgbClr val="BDD7F0"/>
              </a:gs>
              <a:gs pos="34000">
                <a:srgbClr val="FFE79A"/>
              </a:gs>
              <a:gs pos="11000">
                <a:srgbClr val="FFE79A"/>
              </a:gs>
              <a:gs pos="0">
                <a:srgbClr val="FFE79A"/>
              </a:gs>
              <a:gs pos="98000">
                <a:srgbClr val="BDD7F0"/>
              </a:gs>
            </a:gsLst>
            <a:lin ang="9600000" scaled="0"/>
          </a:gradFill>
          <a:ln w="6350">
            <a:solidFill>
              <a:schemeClr val="tx1"/>
            </a:solidFill>
            <a:prstDash val="sysDash"/>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9" name="Right Arrow 101">
            <a:extLst>
              <a:ext uri="{FF2B5EF4-FFF2-40B4-BE49-F238E27FC236}">
                <a16:creationId xmlns:a16="http://schemas.microsoft.com/office/drawing/2014/main" id="{18D7F1CB-EB80-4BAF-AF94-B1C8AA54C0BE}"/>
              </a:ext>
            </a:extLst>
          </p:cNvPr>
          <p:cNvSpPr/>
          <p:nvPr/>
        </p:nvSpPr>
        <p:spPr>
          <a:xfrm>
            <a:off x="74750" y="1574698"/>
            <a:ext cx="9281540" cy="1816061"/>
          </a:xfrm>
          <a:prstGeom prst="rightArrow">
            <a:avLst>
              <a:gd name="adj1" fmla="val 82258"/>
              <a:gd name="adj2" fmla="val 52419"/>
            </a:avLst>
          </a:prstGeom>
          <a:solidFill>
            <a:srgbClr val="BDD7F0"/>
          </a:solidFill>
          <a:ln w="6350">
            <a:solidFill>
              <a:schemeClr val="tx1"/>
            </a:solidFill>
            <a:prstDash val="sysDash"/>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Ins="457200" rtlCol="0" anchor="ctr"/>
          <a:lstStyle/>
          <a:p>
            <a:pPr lvl="0" defTabSz="457200">
              <a:defRPr/>
            </a:pPr>
            <a:r>
              <a:rPr lang="en-US" sz="1300" b="1" dirty="0">
                <a:solidFill>
                  <a:prstClr val="black"/>
                </a:solidFill>
                <a:latin typeface="Source Sans Pro Light" panose="020F0302020204030204" pitchFamily="34" charset="0"/>
                <a:cs typeface="Source Sans Pro Light" panose="020F0302020204030204" pitchFamily="34" charset="0"/>
              </a:rPr>
              <a:t>Strategic Line of Effort (LOE)</a:t>
            </a:r>
          </a:p>
          <a:p>
            <a:pPr lvl="0" defTabSz="457200">
              <a:defRPr/>
            </a:pPr>
            <a:endParaRPr kumimoji="0" lang="en-US" sz="1300" b="0" i="0" u="none" strike="noStrike" kern="1200" cap="none" spc="0" normalizeH="0" baseline="0" noProof="0" dirty="0">
              <a:ln>
                <a:noFill/>
              </a:ln>
              <a:solidFill>
                <a:prstClr val="black"/>
              </a:solidFill>
              <a:effectLst/>
              <a:uLnTx/>
              <a:uFillTx/>
              <a:latin typeface="Source Sans Pro Light" panose="020F0302020204030204" pitchFamily="34" charset="0"/>
              <a:ea typeface="+mn-ea"/>
              <a:cs typeface="Source Sans Pro Light" panose="020F0302020204030204" pitchFamily="34" charset="0"/>
            </a:endParaRPr>
          </a:p>
          <a:p>
            <a:pPr lvl="0" defTabSz="457200">
              <a:defRPr/>
            </a:pPr>
            <a:r>
              <a:rPr kumimoji="0" lang="en-US" sz="1300" b="0" i="0" u="none" strike="noStrike" kern="1200" cap="none" spc="0" normalizeH="0" baseline="0" noProof="0" dirty="0">
                <a:ln>
                  <a:noFill/>
                </a:ln>
                <a:solidFill>
                  <a:prstClr val="black"/>
                </a:solidFill>
                <a:effectLst/>
                <a:uLnTx/>
                <a:uFillTx/>
                <a:latin typeface="Source Sans Pro Light" panose="020F0302020204030204" pitchFamily="34" charset="0"/>
                <a:ea typeface="+mn-ea"/>
                <a:cs typeface="Source Sans Pro Light" panose="020F0302020204030204" pitchFamily="34" charset="0"/>
              </a:rPr>
              <a:t>Working on achievement of 3 objectives with the main effort being the development of an ORD IT &amp; data Strategic Plan (Obj #1) that will take an enterprise approach for IT and data governance supported with </a:t>
            </a:r>
            <a:r>
              <a:rPr lang="en-US" sz="1300" dirty="0">
                <a:solidFill>
                  <a:prstClr val="black"/>
                </a:solidFill>
                <a:latin typeface="Source Sans Pro Light" panose="020F0302020204030204" pitchFamily="34" charset="0"/>
                <a:cs typeface="Source Sans Pro Light" panose="020F0302020204030204" pitchFamily="34" charset="0"/>
              </a:rPr>
              <a:t>processes provided by procedures (Obj #2) and policies (Obj #3).</a:t>
            </a:r>
            <a:endParaRPr kumimoji="0" lang="en-US" sz="1300" b="0" i="0" u="none" strike="noStrike" kern="1200" cap="none" spc="0" normalizeH="0" baseline="0" noProof="0" dirty="0">
              <a:ln>
                <a:noFill/>
              </a:ln>
              <a:solidFill>
                <a:prstClr val="black"/>
              </a:solidFill>
              <a:effectLst/>
              <a:uLnTx/>
              <a:uFillTx/>
              <a:latin typeface="Source Sans Pro Light" panose="020F0302020204030204" pitchFamily="34" charset="0"/>
              <a:ea typeface="+mn-ea"/>
              <a:cs typeface="Source Sans Pro Light" panose="020F0302020204030204" pitchFamily="34" charset="0"/>
            </a:endParaRPr>
          </a:p>
        </p:txBody>
      </p:sp>
      <p:sp>
        <p:nvSpPr>
          <p:cNvPr id="23" name="Folded Corner 22">
            <a:extLst>
              <a:ext uri="{FF2B5EF4-FFF2-40B4-BE49-F238E27FC236}">
                <a16:creationId xmlns:a16="http://schemas.microsoft.com/office/drawing/2014/main" id="{0E47C4AB-998E-4D25-73FB-70ADB92728E2}"/>
              </a:ext>
            </a:extLst>
          </p:cNvPr>
          <p:cNvSpPr/>
          <p:nvPr/>
        </p:nvSpPr>
        <p:spPr>
          <a:xfrm>
            <a:off x="8175839" y="1800449"/>
            <a:ext cx="915317" cy="1338606"/>
          </a:xfrm>
          <a:prstGeom prst="foldedCorner">
            <a:avLst/>
          </a:prstGeom>
          <a:solidFill>
            <a:schemeClr val="bg1">
              <a:lumMod val="85000"/>
            </a:schemeClr>
          </a:solidFill>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prstClr val="black"/>
                </a:solidFill>
                <a:effectLst/>
                <a:uLnTx/>
                <a:uFillTx/>
                <a:latin typeface="Calibri" panose="020F0502020204030204"/>
                <a:ea typeface="+mn-ea"/>
                <a:cs typeface="+mn-cs"/>
              </a:rPr>
              <a:t>ORD</a:t>
            </a:r>
            <a:br>
              <a:rPr kumimoji="0" lang="en-US" sz="1400" b="0" i="1"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1400" b="0" i="1" u="none" strike="noStrike" kern="1200" cap="none" spc="0" normalizeH="0" baseline="0" noProof="0" dirty="0">
                <a:ln>
                  <a:noFill/>
                </a:ln>
                <a:solidFill>
                  <a:prstClr val="black"/>
                </a:solidFill>
                <a:effectLst/>
                <a:uLnTx/>
                <a:uFillTx/>
                <a:latin typeface="Calibri" panose="020F0502020204030204"/>
                <a:ea typeface="+mn-ea"/>
                <a:cs typeface="+mn-cs"/>
              </a:rPr>
              <a:t>IT &amp; Data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prstClr val="black"/>
                </a:solidFill>
                <a:effectLst/>
                <a:uLnTx/>
                <a:uFillTx/>
                <a:latin typeface="Calibri" panose="020F0502020204030204"/>
                <a:ea typeface="+mn-ea"/>
                <a:cs typeface="+mn-cs"/>
              </a:rPr>
              <a:t>Strategic Plan</a:t>
            </a:r>
          </a:p>
        </p:txBody>
      </p:sp>
      <p:sp>
        <p:nvSpPr>
          <p:cNvPr id="27" name="TextBox 26">
            <a:extLst>
              <a:ext uri="{FF2B5EF4-FFF2-40B4-BE49-F238E27FC236}">
                <a16:creationId xmlns:a16="http://schemas.microsoft.com/office/drawing/2014/main" id="{8BCAC09F-7699-E8FE-A2EA-91DFBDDB6FEF}"/>
              </a:ext>
            </a:extLst>
          </p:cNvPr>
          <p:cNvSpPr txBox="1"/>
          <p:nvPr/>
        </p:nvSpPr>
        <p:spPr>
          <a:xfrm>
            <a:off x="604268" y="3410504"/>
            <a:ext cx="3632100"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ource Sans Pro Light" panose="020F0302020204030204" pitchFamily="34" charset="0"/>
                <a:ea typeface="+mn-ea"/>
                <a:cs typeface="Source Sans Pro Light" panose="020F0302020204030204" pitchFamily="34" charset="0"/>
              </a:rPr>
              <a:t>Key milestones for development of strategic plan: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Diamond 32">
            <a:extLst>
              <a:ext uri="{FF2B5EF4-FFF2-40B4-BE49-F238E27FC236}">
                <a16:creationId xmlns:a16="http://schemas.microsoft.com/office/drawing/2014/main" id="{7CCA4A3A-0DDD-CD0C-01C9-35B615E4F740}"/>
              </a:ext>
            </a:extLst>
          </p:cNvPr>
          <p:cNvSpPr>
            <a:spLocks noChangeAspect="1"/>
          </p:cNvSpPr>
          <p:nvPr/>
        </p:nvSpPr>
        <p:spPr>
          <a:xfrm>
            <a:off x="6345190" y="3493752"/>
            <a:ext cx="261257" cy="365760"/>
          </a:xfrm>
          <a:prstGeom prst="diamond">
            <a:avLst/>
          </a:prstGeom>
          <a:solidFill>
            <a:srgbClr val="002D56"/>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Source Sans Pro Light" panose="020B0403030403020204" pitchFamily="34" charset="0"/>
              <a:ea typeface="Source Sans Pro Light" panose="020B0403030403020204" pitchFamily="34" charset="0"/>
              <a:cs typeface="+mn-cs"/>
            </a:endParaRPr>
          </a:p>
        </p:txBody>
      </p:sp>
      <p:sp>
        <p:nvSpPr>
          <p:cNvPr id="34" name="Diamond 33">
            <a:extLst>
              <a:ext uri="{FF2B5EF4-FFF2-40B4-BE49-F238E27FC236}">
                <a16:creationId xmlns:a16="http://schemas.microsoft.com/office/drawing/2014/main" id="{92D04E3E-14D8-1FD5-F615-6B51D93C4AB0}"/>
              </a:ext>
            </a:extLst>
          </p:cNvPr>
          <p:cNvSpPr>
            <a:spLocks noChangeAspect="1"/>
          </p:cNvSpPr>
          <p:nvPr/>
        </p:nvSpPr>
        <p:spPr>
          <a:xfrm>
            <a:off x="5692827" y="3493752"/>
            <a:ext cx="261257" cy="365760"/>
          </a:xfrm>
          <a:prstGeom prst="diamond">
            <a:avLst/>
          </a:prstGeom>
          <a:solidFill>
            <a:srgbClr val="002E56"/>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Source Sans Pro Light" panose="020B0403030403020204" pitchFamily="34" charset="0"/>
              <a:ea typeface="Source Sans Pro Light" panose="020B0403030403020204" pitchFamily="34" charset="0"/>
              <a:cs typeface="+mn-cs"/>
            </a:endParaRPr>
          </a:p>
        </p:txBody>
      </p:sp>
      <p:cxnSp>
        <p:nvCxnSpPr>
          <p:cNvPr id="35" name="Straight Arrow Connector 152">
            <a:extLst>
              <a:ext uri="{FF2B5EF4-FFF2-40B4-BE49-F238E27FC236}">
                <a16:creationId xmlns:a16="http://schemas.microsoft.com/office/drawing/2014/main" id="{360E2763-B243-13ED-D362-4B61494F08CF}"/>
              </a:ext>
            </a:extLst>
          </p:cNvPr>
          <p:cNvCxnSpPr>
            <a:cxnSpLocks/>
          </p:cNvCxnSpPr>
          <p:nvPr/>
        </p:nvCxnSpPr>
        <p:spPr>
          <a:xfrm>
            <a:off x="621731" y="3676632"/>
            <a:ext cx="5071096" cy="0"/>
          </a:xfrm>
          <a:prstGeom prst="straightConnector1">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Straight Arrow Connector 161">
            <a:extLst>
              <a:ext uri="{FF2B5EF4-FFF2-40B4-BE49-F238E27FC236}">
                <a16:creationId xmlns:a16="http://schemas.microsoft.com/office/drawing/2014/main" id="{C2A3D52C-71C5-CBBB-C5A5-B7B26F7E3514}"/>
              </a:ext>
            </a:extLst>
          </p:cNvPr>
          <p:cNvCxnSpPr>
            <a:cxnSpLocks/>
          </p:cNvCxnSpPr>
          <p:nvPr/>
        </p:nvCxnSpPr>
        <p:spPr>
          <a:xfrm>
            <a:off x="5954084" y="3676632"/>
            <a:ext cx="391106" cy="0"/>
          </a:xfrm>
          <a:prstGeom prst="straightConnector1">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1B0D4121-D5B5-45AE-9E24-522A4E6116F4}"/>
              </a:ext>
            </a:extLst>
          </p:cNvPr>
          <p:cNvCxnSpPr>
            <a:cxnSpLocks/>
          </p:cNvCxnSpPr>
          <p:nvPr/>
        </p:nvCxnSpPr>
        <p:spPr>
          <a:xfrm>
            <a:off x="6606447" y="3676632"/>
            <a:ext cx="837475" cy="0"/>
          </a:xfrm>
          <a:prstGeom prst="straightConnector1">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9" name="Diamond 38">
            <a:extLst>
              <a:ext uri="{FF2B5EF4-FFF2-40B4-BE49-F238E27FC236}">
                <a16:creationId xmlns:a16="http://schemas.microsoft.com/office/drawing/2014/main" id="{D055C8FE-3D31-F41A-4AF2-CC4A35851F3F}"/>
              </a:ext>
            </a:extLst>
          </p:cNvPr>
          <p:cNvSpPr>
            <a:spLocks noChangeAspect="1"/>
          </p:cNvSpPr>
          <p:nvPr/>
        </p:nvSpPr>
        <p:spPr>
          <a:xfrm>
            <a:off x="7443922" y="3493752"/>
            <a:ext cx="261257" cy="365760"/>
          </a:xfrm>
          <a:prstGeom prst="diamond">
            <a:avLst/>
          </a:prstGeom>
          <a:solidFill>
            <a:srgbClr val="002F56"/>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Source Sans Pro Light" panose="020B0403030403020204" pitchFamily="34" charset="0"/>
              <a:ea typeface="Source Sans Pro Light" panose="020B0403030403020204" pitchFamily="34" charset="0"/>
              <a:cs typeface="+mn-cs"/>
            </a:endParaRPr>
          </a:p>
        </p:txBody>
      </p:sp>
      <p:sp>
        <p:nvSpPr>
          <p:cNvPr id="41" name="Rectangle 40">
            <a:extLst>
              <a:ext uri="{FF2B5EF4-FFF2-40B4-BE49-F238E27FC236}">
                <a16:creationId xmlns:a16="http://schemas.microsoft.com/office/drawing/2014/main" id="{0839E00E-E67A-E939-5FF9-F8A100279060}"/>
              </a:ext>
            </a:extLst>
          </p:cNvPr>
          <p:cNvSpPr/>
          <p:nvPr/>
        </p:nvSpPr>
        <p:spPr>
          <a:xfrm>
            <a:off x="5918430" y="3662712"/>
            <a:ext cx="654284" cy="553998"/>
          </a:xfrm>
          <a:prstGeom prst="rect">
            <a:avLst/>
          </a:prstGeom>
          <a:noFill/>
          <a:ln w="38100">
            <a:noFill/>
            <a:prstDash val="sysDash"/>
          </a:ln>
        </p:spPr>
        <p:txBody>
          <a:bodyPr wrap="square" lIns="0" r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ource Sans Pro Light" panose="020B0403030403020204" pitchFamily="34" charset="0"/>
                <a:ea typeface="Source Sans Pro Light" panose="020B0403030403020204" pitchFamily="34" charset="0"/>
                <a:cs typeface="Calibri" panose="020F0502020204030204" pitchFamily="34" charset="0"/>
              </a:rPr>
              <a:t>MS 1.4: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ource Sans Pro Light" panose="020B0403030403020204" pitchFamily="34" charset="0"/>
                <a:ea typeface="Source Sans Pro Light" panose="020B0403030403020204" pitchFamily="34" charset="0"/>
                <a:cs typeface="Calibri" panose="020F0502020204030204" pitchFamily="34" charset="0"/>
              </a:rPr>
              <a:t>Gap analysis completed</a:t>
            </a:r>
          </a:p>
        </p:txBody>
      </p:sp>
      <p:sp>
        <p:nvSpPr>
          <p:cNvPr id="42" name="Rectangle 41">
            <a:extLst>
              <a:ext uri="{FF2B5EF4-FFF2-40B4-BE49-F238E27FC236}">
                <a16:creationId xmlns:a16="http://schemas.microsoft.com/office/drawing/2014/main" id="{DC5B3180-209F-3BF1-4C97-6E9ED9E62CA0}"/>
              </a:ext>
            </a:extLst>
          </p:cNvPr>
          <p:cNvSpPr/>
          <p:nvPr/>
        </p:nvSpPr>
        <p:spPr>
          <a:xfrm>
            <a:off x="4246780" y="3662712"/>
            <a:ext cx="1606414" cy="553998"/>
          </a:xfrm>
          <a:prstGeom prst="rect">
            <a:avLst/>
          </a:prstGeom>
          <a:noFill/>
          <a:ln>
            <a:noFill/>
            <a:prstDash val="sysDash"/>
          </a:ln>
        </p:spPr>
        <p:txBody>
          <a:bodyPr wrap="square" lIns="0" r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ource Sans Pro Light" panose="020B0403030403020204" pitchFamily="34" charset="0"/>
                <a:ea typeface="Source Sans Pro Light" panose="020B0403030403020204" pitchFamily="34" charset="0"/>
                <a:cs typeface="Calibri" panose="020F0502020204030204" pitchFamily="34" charset="0"/>
              </a:rPr>
              <a:t>MS 1.2, 1.3, 2.1, 3.1: Systems, Policy, &amp; SOP inventory and needs assessment completed.</a:t>
            </a:r>
            <a:endParaRPr kumimoji="0" lang="en-US" sz="1000" b="0" i="0" u="none" strike="noStrike" kern="1200" cap="none" spc="0" normalizeH="0" baseline="0" noProof="0" dirty="0">
              <a:ln>
                <a:noFill/>
              </a:ln>
              <a:solidFill>
                <a:prstClr val="black"/>
              </a:solidFill>
              <a:effectLst/>
              <a:uLnTx/>
              <a:uFillTx/>
              <a:latin typeface="Source Sans Pro Light" panose="020B0403030403020204" pitchFamily="34" charset="0"/>
              <a:ea typeface="Source Sans Pro Light" panose="020B0403030403020204" pitchFamily="34" charset="0"/>
              <a:cs typeface="Source Sans Pro Light" panose="020F0302020204030204" pitchFamily="34" charset="0"/>
            </a:endParaRPr>
          </a:p>
        </p:txBody>
      </p:sp>
      <p:sp>
        <p:nvSpPr>
          <p:cNvPr id="44" name="Star: 5 Points 6">
            <a:extLst>
              <a:ext uri="{FF2B5EF4-FFF2-40B4-BE49-F238E27FC236}">
                <a16:creationId xmlns:a16="http://schemas.microsoft.com/office/drawing/2014/main" id="{7B2DACA9-659F-612B-87A0-DF2E7B1F019C}"/>
              </a:ext>
            </a:extLst>
          </p:cNvPr>
          <p:cNvSpPr>
            <a:spLocks noChangeAspect="1"/>
          </p:cNvSpPr>
          <p:nvPr/>
        </p:nvSpPr>
        <p:spPr>
          <a:xfrm>
            <a:off x="8284258" y="3493752"/>
            <a:ext cx="365760" cy="365760"/>
          </a:xfrm>
          <a:prstGeom prst="star5">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Source Sans Pro Light" panose="020B0403030403020204" pitchFamily="34" charset="0"/>
              <a:ea typeface="Source Sans Pro Light" panose="020B0403030403020204" pitchFamily="34" charset="0"/>
              <a:cs typeface="+mn-cs"/>
            </a:endParaRPr>
          </a:p>
        </p:txBody>
      </p:sp>
      <p:sp>
        <p:nvSpPr>
          <p:cNvPr id="45" name="Rectangle 44">
            <a:extLst>
              <a:ext uri="{FF2B5EF4-FFF2-40B4-BE49-F238E27FC236}">
                <a16:creationId xmlns:a16="http://schemas.microsoft.com/office/drawing/2014/main" id="{7E466BB4-844A-51E9-6436-2338EA79261C}"/>
              </a:ext>
            </a:extLst>
          </p:cNvPr>
          <p:cNvSpPr/>
          <p:nvPr/>
        </p:nvSpPr>
        <p:spPr>
          <a:xfrm>
            <a:off x="7762672" y="3662712"/>
            <a:ext cx="936910" cy="707886"/>
          </a:xfrm>
          <a:prstGeom prst="rect">
            <a:avLst/>
          </a:prstGeom>
          <a:noFill/>
          <a:ln>
            <a:noFill/>
            <a:prstDash val="sysDash"/>
          </a:ln>
        </p:spPr>
        <p:txBody>
          <a:bodyPr wrap="square" lIns="0" r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ource Sans Pro Light" panose="020B0403030403020204" pitchFamily="34" charset="0"/>
                <a:ea typeface="Source Sans Pro Light" panose="020B0403030403020204" pitchFamily="34" charset="0"/>
                <a:cs typeface="Calibri" panose="020F0502020204030204" pitchFamily="34" charset="0"/>
              </a:rPr>
              <a:t>MS 1.6: Committee approved strategic plan</a:t>
            </a:r>
          </a:p>
        </p:txBody>
      </p:sp>
      <p:cxnSp>
        <p:nvCxnSpPr>
          <p:cNvPr id="47" name="Straight Arrow Connector 46">
            <a:extLst>
              <a:ext uri="{FF2B5EF4-FFF2-40B4-BE49-F238E27FC236}">
                <a16:creationId xmlns:a16="http://schemas.microsoft.com/office/drawing/2014/main" id="{4D1E557F-15D9-787A-91D0-CE31DD2E507E}"/>
              </a:ext>
            </a:extLst>
          </p:cNvPr>
          <p:cNvCxnSpPr>
            <a:cxnSpLocks/>
          </p:cNvCxnSpPr>
          <p:nvPr/>
        </p:nvCxnSpPr>
        <p:spPr>
          <a:xfrm>
            <a:off x="7705179" y="3676632"/>
            <a:ext cx="579079" cy="0"/>
          </a:xfrm>
          <a:prstGeom prst="straightConnector1">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EDE23F94-7564-9E75-E888-4E6813CEDEB0}"/>
              </a:ext>
            </a:extLst>
          </p:cNvPr>
          <p:cNvSpPr/>
          <p:nvPr/>
        </p:nvSpPr>
        <p:spPr>
          <a:xfrm>
            <a:off x="6789102" y="3662712"/>
            <a:ext cx="761144" cy="553998"/>
          </a:xfrm>
          <a:prstGeom prst="rect">
            <a:avLst/>
          </a:prstGeom>
          <a:noFill/>
          <a:ln>
            <a:noFill/>
            <a:prstDash val="sysDash"/>
          </a:ln>
        </p:spPr>
        <p:txBody>
          <a:bodyPr wrap="square" lIns="0" r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ource Sans Pro Light" panose="020B0403030403020204" pitchFamily="34" charset="0"/>
                <a:ea typeface="Source Sans Pro Light" panose="020B0403030403020204" pitchFamily="34" charset="0"/>
                <a:cs typeface="Calibri" panose="020F0502020204030204" pitchFamily="34" charset="0"/>
              </a:rPr>
              <a:t>MS 1.5: Draft Strategic plan completed</a:t>
            </a:r>
          </a:p>
        </p:txBody>
      </p:sp>
      <p:sp>
        <p:nvSpPr>
          <p:cNvPr id="63" name="Diamond 62">
            <a:extLst>
              <a:ext uri="{FF2B5EF4-FFF2-40B4-BE49-F238E27FC236}">
                <a16:creationId xmlns:a16="http://schemas.microsoft.com/office/drawing/2014/main" id="{EEACF574-058A-AE9F-F48B-F2024EBB72A1}"/>
              </a:ext>
            </a:extLst>
          </p:cNvPr>
          <p:cNvSpPr>
            <a:spLocks noChangeAspect="1"/>
          </p:cNvSpPr>
          <p:nvPr/>
        </p:nvSpPr>
        <p:spPr>
          <a:xfrm>
            <a:off x="360474" y="3493752"/>
            <a:ext cx="261257" cy="365760"/>
          </a:xfrm>
          <a:prstGeom prst="diamond">
            <a:avLst/>
          </a:prstGeom>
          <a:solidFill>
            <a:srgbClr val="002F56"/>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Source Sans Pro Light" panose="020B0403030403020204" pitchFamily="34" charset="0"/>
              <a:ea typeface="Source Sans Pro Light" panose="020B0403030403020204" pitchFamily="34" charset="0"/>
              <a:cs typeface="+mn-cs"/>
            </a:endParaRPr>
          </a:p>
        </p:txBody>
      </p:sp>
      <p:sp>
        <p:nvSpPr>
          <p:cNvPr id="64" name="Rectangle 63">
            <a:extLst>
              <a:ext uri="{FF2B5EF4-FFF2-40B4-BE49-F238E27FC236}">
                <a16:creationId xmlns:a16="http://schemas.microsoft.com/office/drawing/2014/main" id="{D7A5B289-0105-9EA5-F8B4-443E04372FE4}"/>
              </a:ext>
            </a:extLst>
          </p:cNvPr>
          <p:cNvSpPr/>
          <p:nvPr/>
        </p:nvSpPr>
        <p:spPr>
          <a:xfrm>
            <a:off x="520590" y="3662712"/>
            <a:ext cx="984494" cy="553998"/>
          </a:xfrm>
          <a:prstGeom prst="rect">
            <a:avLst/>
          </a:prstGeom>
          <a:noFill/>
          <a:ln>
            <a:noFill/>
            <a:prstDash val="sysDash"/>
          </a:ln>
        </p:spPr>
        <p:txBody>
          <a:bodyPr wrap="square" lIns="0" r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ource Sans Pro Light" panose="020B0403030403020204" pitchFamily="34" charset="0"/>
                <a:ea typeface="Source Sans Pro Light" panose="020B0403030403020204" pitchFamily="34" charset="0"/>
                <a:cs typeface="Calibri" panose="020F0502020204030204" pitchFamily="34" charset="0"/>
              </a:rPr>
              <a:t>MS 1.1: Initiative (Mission) Analysis completed</a:t>
            </a:r>
            <a:endParaRPr kumimoji="0" lang="en-US" sz="1000" b="0" i="0" u="none" strike="noStrike" kern="1200" cap="none" spc="0" normalizeH="0" baseline="0" noProof="0" dirty="0">
              <a:ln>
                <a:noFill/>
              </a:ln>
              <a:solidFill>
                <a:prstClr val="black"/>
              </a:solidFill>
              <a:effectLst/>
              <a:uLnTx/>
              <a:uFillTx/>
              <a:latin typeface="Source Sans Pro Light" panose="020B0403030403020204" pitchFamily="34" charset="0"/>
              <a:ea typeface="Source Sans Pro Light" panose="020B0403030403020204" pitchFamily="34" charset="0"/>
              <a:cs typeface="Source Sans Pro Light" panose="020F0302020204030204" pitchFamily="34" charset="0"/>
            </a:endParaRPr>
          </a:p>
        </p:txBody>
      </p:sp>
      <p:grpSp>
        <p:nvGrpSpPr>
          <p:cNvPr id="67" name="Group 66">
            <a:extLst>
              <a:ext uri="{FF2B5EF4-FFF2-40B4-BE49-F238E27FC236}">
                <a16:creationId xmlns:a16="http://schemas.microsoft.com/office/drawing/2014/main" id="{4842FB89-2AAF-5923-1C48-9B92354402C1}"/>
              </a:ext>
            </a:extLst>
          </p:cNvPr>
          <p:cNvGrpSpPr/>
          <p:nvPr/>
        </p:nvGrpSpPr>
        <p:grpSpPr>
          <a:xfrm>
            <a:off x="11651098" y="2974723"/>
            <a:ext cx="464030" cy="571628"/>
            <a:chOff x="9532038" y="3267437"/>
            <a:chExt cx="456718" cy="562620"/>
          </a:xfrm>
        </p:grpSpPr>
        <p:sp>
          <p:nvSpPr>
            <p:cNvPr id="68" name="Star: 5 Points 6">
              <a:extLst>
                <a:ext uri="{FF2B5EF4-FFF2-40B4-BE49-F238E27FC236}">
                  <a16:creationId xmlns:a16="http://schemas.microsoft.com/office/drawing/2014/main" id="{2A867667-B568-0597-B885-CC76EE876609}"/>
                </a:ext>
              </a:extLst>
            </p:cNvPr>
            <p:cNvSpPr>
              <a:spLocks noChangeAspect="1"/>
            </p:cNvSpPr>
            <p:nvPr/>
          </p:nvSpPr>
          <p:spPr>
            <a:xfrm>
              <a:off x="9532038" y="3267437"/>
              <a:ext cx="365760" cy="365760"/>
            </a:xfrm>
            <a:prstGeom prst="star5">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Source Sans Pro Light" panose="020B0403030403020204" pitchFamily="34" charset="0"/>
                <a:ea typeface="Source Sans Pro Light" panose="020B0403030403020204" pitchFamily="34" charset="0"/>
                <a:cs typeface="+mn-cs"/>
              </a:endParaRPr>
            </a:p>
          </p:txBody>
        </p:sp>
        <p:sp>
          <p:nvSpPr>
            <p:cNvPr id="69" name="Star: 5 Points 6">
              <a:extLst>
                <a:ext uri="{FF2B5EF4-FFF2-40B4-BE49-F238E27FC236}">
                  <a16:creationId xmlns:a16="http://schemas.microsoft.com/office/drawing/2014/main" id="{6684B515-F010-7CE3-3BEE-89FAA4361040}"/>
                </a:ext>
              </a:extLst>
            </p:cNvPr>
            <p:cNvSpPr>
              <a:spLocks noChangeAspect="1"/>
            </p:cNvSpPr>
            <p:nvPr/>
          </p:nvSpPr>
          <p:spPr>
            <a:xfrm>
              <a:off x="9577517" y="3365867"/>
              <a:ext cx="365760" cy="365760"/>
            </a:xfrm>
            <a:prstGeom prst="star5">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Source Sans Pro Light" panose="020B0403030403020204" pitchFamily="34" charset="0"/>
                <a:ea typeface="Source Sans Pro Light" panose="020B0403030403020204" pitchFamily="34" charset="0"/>
                <a:cs typeface="+mn-cs"/>
              </a:endParaRPr>
            </a:p>
          </p:txBody>
        </p:sp>
        <p:sp>
          <p:nvSpPr>
            <p:cNvPr id="70" name="Star: 5 Points 6">
              <a:extLst>
                <a:ext uri="{FF2B5EF4-FFF2-40B4-BE49-F238E27FC236}">
                  <a16:creationId xmlns:a16="http://schemas.microsoft.com/office/drawing/2014/main" id="{C6EC7EDF-7534-BCC0-289B-0C2B5ED9918D}"/>
                </a:ext>
              </a:extLst>
            </p:cNvPr>
            <p:cNvSpPr>
              <a:spLocks noChangeAspect="1"/>
            </p:cNvSpPr>
            <p:nvPr/>
          </p:nvSpPr>
          <p:spPr>
            <a:xfrm>
              <a:off x="9622996" y="3464297"/>
              <a:ext cx="365760" cy="365760"/>
            </a:xfrm>
            <a:prstGeom prst="star5">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Source Sans Pro Light" panose="020B0403030403020204" pitchFamily="34" charset="0"/>
                <a:ea typeface="Source Sans Pro Light" panose="020B0403030403020204" pitchFamily="34" charset="0"/>
                <a:cs typeface="+mn-cs"/>
              </a:endParaRPr>
            </a:p>
          </p:txBody>
        </p:sp>
      </p:grpSp>
      <p:sp>
        <p:nvSpPr>
          <p:cNvPr id="71" name="Rectangle 70">
            <a:extLst>
              <a:ext uri="{FF2B5EF4-FFF2-40B4-BE49-F238E27FC236}">
                <a16:creationId xmlns:a16="http://schemas.microsoft.com/office/drawing/2014/main" id="{A6B54DC6-1155-F662-B395-ECA90FCA6CC3}"/>
              </a:ext>
            </a:extLst>
          </p:cNvPr>
          <p:cNvSpPr/>
          <p:nvPr/>
        </p:nvSpPr>
        <p:spPr>
          <a:xfrm>
            <a:off x="1239723" y="944922"/>
            <a:ext cx="8989208" cy="235253"/>
          </a:xfrm>
          <a:prstGeom prst="rect">
            <a:avLst/>
          </a:prstGeom>
          <a:solidFill>
            <a:srgbClr val="BDD7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2" name="Rectangle 71">
            <a:extLst>
              <a:ext uri="{FF2B5EF4-FFF2-40B4-BE49-F238E27FC236}">
                <a16:creationId xmlns:a16="http://schemas.microsoft.com/office/drawing/2014/main" id="{B209EF29-F9BF-3094-779E-0C14A8B3D3DC}"/>
              </a:ext>
            </a:extLst>
          </p:cNvPr>
          <p:cNvSpPr/>
          <p:nvPr/>
        </p:nvSpPr>
        <p:spPr>
          <a:xfrm>
            <a:off x="1239723" y="1214977"/>
            <a:ext cx="8989209" cy="237744"/>
          </a:xfrm>
          <a:prstGeom prst="rect">
            <a:avLst/>
          </a:prstGeom>
          <a:solidFill>
            <a:srgbClr val="FFE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0" name="Rectangle 99">
            <a:extLst>
              <a:ext uri="{FF2B5EF4-FFF2-40B4-BE49-F238E27FC236}">
                <a16:creationId xmlns:a16="http://schemas.microsoft.com/office/drawing/2014/main" id="{D780F8CD-1347-EB11-D9B8-D8D589BE771B}"/>
              </a:ext>
            </a:extLst>
          </p:cNvPr>
          <p:cNvSpPr/>
          <p:nvPr/>
        </p:nvSpPr>
        <p:spPr>
          <a:xfrm rot="16200000">
            <a:off x="5581130" y="-3459284"/>
            <a:ext cx="598728" cy="9281541"/>
          </a:xfrm>
          <a:prstGeom prst="rect">
            <a:avLst/>
          </a:prstGeom>
          <a:noFill/>
          <a:ln w="6350">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vert="vert" wrap="square" lIns="68580" tIns="68580" rIns="68580" bIns="68580" rtlCol="0" anchor="ctr">
            <a:noAutofit/>
          </a:bodyPr>
          <a:lstStyle/>
          <a:p>
            <a:pPr marL="9525" marR="0" lvl="0" indent="-9525" algn="l" defTabSz="457200" rtl="0" eaLnBrk="1" fontAlgn="auto" latinLnBrk="0" hangingPunct="1">
              <a:lnSpc>
                <a:spcPts val="2200"/>
              </a:lnSpc>
              <a:spcBef>
                <a:spcPts val="0"/>
              </a:spcBef>
              <a:spcAft>
                <a:spcPts val="80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Source Sans Pro" panose="020B0503030403020204" pitchFamily="34" charset="0"/>
                <a:ea typeface="Source Sans Pro" panose="020B0503030403020204" pitchFamily="34" charset="0"/>
                <a:cs typeface="Source Sans Pro Light" panose="020F0302020204030204" pitchFamily="34" charset="0"/>
              </a:rPr>
              <a:t>	</a:t>
            </a:r>
            <a:r>
              <a:rPr kumimoji="0" lang="en-US" sz="1600" b="0" i="0" u="none" strike="noStrike" kern="1200" cap="none" spc="0" normalizeH="0" baseline="0" noProof="0" dirty="0">
                <a:ln>
                  <a:noFill/>
                </a:ln>
                <a:solidFill>
                  <a:prstClr val="black"/>
                </a:solidFill>
                <a:effectLst/>
                <a:uLnTx/>
                <a:uFillTx/>
                <a:latin typeface="Source Sans Pro Light" panose="020F0302020204030204" pitchFamily="34" charset="0"/>
                <a:ea typeface="+mn-ea"/>
                <a:cs typeface="Source Sans Pro Light" panose="020F0302020204030204" pitchFamily="34" charset="0"/>
              </a:rPr>
              <a:t>ORD has governance over a modernized, secure, collaborative system-of-systems with associated processes </a:t>
            </a:r>
            <a:br>
              <a:rPr kumimoji="0" lang="en-US" sz="1600" b="0" i="0" u="none" strike="noStrike" kern="1200" cap="none" spc="0" normalizeH="0" baseline="0" noProof="0" dirty="0">
                <a:ln>
                  <a:noFill/>
                </a:ln>
                <a:solidFill>
                  <a:prstClr val="black"/>
                </a:solidFill>
                <a:effectLst/>
                <a:uLnTx/>
                <a:uFillTx/>
                <a:latin typeface="Source Sans Pro Light" panose="020F0302020204030204" pitchFamily="34" charset="0"/>
                <a:ea typeface="+mn-ea"/>
                <a:cs typeface="Source Sans Pro Light" panose="020F0302020204030204" pitchFamily="34" charset="0"/>
              </a:rPr>
            </a:br>
            <a:r>
              <a:rPr kumimoji="0" lang="en-US" sz="1600" b="0" i="0" u="none" strike="noStrike" kern="1200" cap="none" spc="0" normalizeH="0" baseline="0" noProof="0" dirty="0">
                <a:ln>
                  <a:noFill/>
                </a:ln>
                <a:solidFill>
                  <a:prstClr val="black"/>
                </a:solidFill>
                <a:effectLst/>
                <a:uLnTx/>
                <a:uFillTx/>
                <a:latin typeface="Source Sans Pro Light" panose="020F0302020204030204" pitchFamily="34" charset="0"/>
                <a:ea typeface="+mn-ea"/>
                <a:cs typeface="Source Sans Pro Light" panose="020F0302020204030204" pitchFamily="34" charset="0"/>
              </a:rPr>
              <a:t>that increase capability and access for ORD staff and researchers to efficiently conduct and support research.</a:t>
            </a:r>
          </a:p>
        </p:txBody>
      </p:sp>
      <p:sp>
        <p:nvSpPr>
          <p:cNvPr id="73" name="Star: 5 Points 55">
            <a:extLst>
              <a:ext uri="{FF2B5EF4-FFF2-40B4-BE49-F238E27FC236}">
                <a16:creationId xmlns:a16="http://schemas.microsoft.com/office/drawing/2014/main" id="{44CB4C4E-7145-2C48-3DF3-12269FEC0417}"/>
              </a:ext>
            </a:extLst>
          </p:cNvPr>
          <p:cNvSpPr>
            <a:spLocks noChangeAspect="1"/>
          </p:cNvSpPr>
          <p:nvPr/>
        </p:nvSpPr>
        <p:spPr>
          <a:xfrm>
            <a:off x="10555505" y="3493752"/>
            <a:ext cx="365760" cy="365760"/>
          </a:xfrm>
          <a:prstGeom prst="star5">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Source Sans Pro Light" panose="020B0403030403020204" pitchFamily="34" charset="0"/>
              <a:ea typeface="Source Sans Pro Light" panose="020B0403030403020204" pitchFamily="34" charset="0"/>
              <a:cs typeface="+mn-cs"/>
            </a:endParaRPr>
          </a:p>
        </p:txBody>
      </p:sp>
      <p:cxnSp>
        <p:nvCxnSpPr>
          <p:cNvPr id="74" name="Straight Arrow Connector 73">
            <a:extLst>
              <a:ext uri="{FF2B5EF4-FFF2-40B4-BE49-F238E27FC236}">
                <a16:creationId xmlns:a16="http://schemas.microsoft.com/office/drawing/2014/main" id="{A2B62C33-729D-AD67-9261-F8FF0BF2022D}"/>
              </a:ext>
            </a:extLst>
          </p:cNvPr>
          <p:cNvCxnSpPr>
            <a:cxnSpLocks/>
            <a:endCxn id="76" idx="1"/>
          </p:cNvCxnSpPr>
          <p:nvPr/>
        </p:nvCxnSpPr>
        <p:spPr>
          <a:xfrm>
            <a:off x="8650018" y="3676632"/>
            <a:ext cx="575643" cy="0"/>
          </a:xfrm>
          <a:prstGeom prst="straightConnector1">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5" name="Rectangle 74">
            <a:extLst>
              <a:ext uri="{FF2B5EF4-FFF2-40B4-BE49-F238E27FC236}">
                <a16:creationId xmlns:a16="http://schemas.microsoft.com/office/drawing/2014/main" id="{703CA3FA-6BA5-964E-B3D9-39565D6F6CA7}"/>
              </a:ext>
            </a:extLst>
          </p:cNvPr>
          <p:cNvSpPr/>
          <p:nvPr/>
        </p:nvSpPr>
        <p:spPr>
          <a:xfrm>
            <a:off x="9776891" y="3662712"/>
            <a:ext cx="1068780" cy="553998"/>
          </a:xfrm>
          <a:prstGeom prst="rect">
            <a:avLst/>
          </a:prstGeom>
          <a:noFill/>
          <a:ln>
            <a:noFill/>
            <a:prstDash val="sysDash"/>
          </a:ln>
        </p:spPr>
        <p:txBody>
          <a:bodyPr wrap="square" lIns="0" r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ource Sans Pro Light" panose="020B0403030403020204" pitchFamily="34" charset="0"/>
                <a:ea typeface="Source Sans Pro Light" panose="020B0403030403020204" pitchFamily="34" charset="0"/>
                <a:cs typeface="Calibri" panose="020F0502020204030204" pitchFamily="34" charset="0"/>
              </a:rPr>
              <a:t>MS 2.3,3.3: Start drafting &amp; publishing SOPs &amp; polices</a:t>
            </a:r>
          </a:p>
        </p:txBody>
      </p:sp>
      <p:sp>
        <p:nvSpPr>
          <p:cNvPr id="76" name="Diamond 75">
            <a:extLst>
              <a:ext uri="{FF2B5EF4-FFF2-40B4-BE49-F238E27FC236}">
                <a16:creationId xmlns:a16="http://schemas.microsoft.com/office/drawing/2014/main" id="{0BFA43CD-6CA6-F657-6EDE-0BE5805E6554}"/>
              </a:ext>
            </a:extLst>
          </p:cNvPr>
          <p:cNvSpPr>
            <a:spLocks noChangeAspect="1"/>
          </p:cNvSpPr>
          <p:nvPr/>
        </p:nvSpPr>
        <p:spPr>
          <a:xfrm>
            <a:off x="9225661" y="3493752"/>
            <a:ext cx="261257" cy="365760"/>
          </a:xfrm>
          <a:prstGeom prst="diamond">
            <a:avLst/>
          </a:prstGeom>
          <a:solidFill>
            <a:srgbClr val="002F56"/>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Source Sans Pro Light" panose="020B0403030403020204" pitchFamily="34" charset="0"/>
              <a:ea typeface="Source Sans Pro Light" panose="020B0403030403020204" pitchFamily="34" charset="0"/>
              <a:cs typeface="+mn-cs"/>
            </a:endParaRPr>
          </a:p>
        </p:txBody>
      </p:sp>
      <p:sp>
        <p:nvSpPr>
          <p:cNvPr id="79" name="Rectangle 78">
            <a:extLst>
              <a:ext uri="{FF2B5EF4-FFF2-40B4-BE49-F238E27FC236}">
                <a16:creationId xmlns:a16="http://schemas.microsoft.com/office/drawing/2014/main" id="{902BACD8-135F-1014-2689-6A536CC575B0}"/>
              </a:ext>
            </a:extLst>
          </p:cNvPr>
          <p:cNvSpPr/>
          <p:nvPr/>
        </p:nvSpPr>
        <p:spPr>
          <a:xfrm>
            <a:off x="8864869" y="3662712"/>
            <a:ext cx="687796" cy="707886"/>
          </a:xfrm>
          <a:prstGeom prst="rect">
            <a:avLst/>
          </a:prstGeom>
          <a:noFill/>
          <a:ln>
            <a:noFill/>
            <a:prstDash val="sysDash"/>
          </a:ln>
        </p:spPr>
        <p:txBody>
          <a:bodyPr wrap="square" lIns="0" r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ource Sans Pro Light" panose="020B0403030403020204" pitchFamily="34" charset="0"/>
                <a:ea typeface="Source Sans Pro Light" panose="020B0403030403020204" pitchFamily="34" charset="0"/>
                <a:cs typeface="Calibri" panose="020F0502020204030204" pitchFamily="34" charset="0"/>
              </a:rPr>
              <a:t>MS 3.2: Establish governance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ource Sans Pro Light" panose="020B0403030403020204" pitchFamily="34" charset="0"/>
                <a:ea typeface="Source Sans Pro Light" panose="020B0403030403020204" pitchFamily="34" charset="0"/>
                <a:cs typeface="Calibri" panose="020F0502020204030204" pitchFamily="34" charset="0"/>
              </a:rPr>
              <a:t>oversight</a:t>
            </a:r>
          </a:p>
        </p:txBody>
      </p:sp>
      <p:cxnSp>
        <p:nvCxnSpPr>
          <p:cNvPr id="80" name="Straight Arrow Connector 79">
            <a:extLst>
              <a:ext uri="{FF2B5EF4-FFF2-40B4-BE49-F238E27FC236}">
                <a16:creationId xmlns:a16="http://schemas.microsoft.com/office/drawing/2014/main" id="{2326977B-4E81-ED09-9860-B30A9BB88762}"/>
              </a:ext>
            </a:extLst>
          </p:cNvPr>
          <p:cNvCxnSpPr>
            <a:cxnSpLocks/>
            <a:stCxn id="76" idx="3"/>
          </p:cNvCxnSpPr>
          <p:nvPr/>
        </p:nvCxnSpPr>
        <p:spPr>
          <a:xfrm>
            <a:off x="9486918" y="3676632"/>
            <a:ext cx="1068587" cy="0"/>
          </a:xfrm>
          <a:prstGeom prst="straightConnector1">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D16C585E-4192-5F82-F457-A9D7EDC52E5F}"/>
              </a:ext>
            </a:extLst>
          </p:cNvPr>
          <p:cNvCxnSpPr>
            <a:cxnSpLocks/>
            <a:stCxn id="76" idx="3"/>
          </p:cNvCxnSpPr>
          <p:nvPr/>
        </p:nvCxnSpPr>
        <p:spPr>
          <a:xfrm flipV="1">
            <a:off x="9486918" y="3315504"/>
            <a:ext cx="2230068" cy="361128"/>
          </a:xfrm>
          <a:prstGeom prst="bentConnector3">
            <a:avLst>
              <a:gd name="adj1" fmla="val 36496"/>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1" name="Rectangle 110">
            <a:extLst>
              <a:ext uri="{FF2B5EF4-FFF2-40B4-BE49-F238E27FC236}">
                <a16:creationId xmlns:a16="http://schemas.microsoft.com/office/drawing/2014/main" id="{16FC2BC9-A384-B62A-C0A3-F53BEC57ADDA}"/>
              </a:ext>
            </a:extLst>
          </p:cNvPr>
          <p:cNvSpPr/>
          <p:nvPr/>
        </p:nvSpPr>
        <p:spPr>
          <a:xfrm>
            <a:off x="11323280" y="3312795"/>
            <a:ext cx="813938" cy="646331"/>
          </a:xfrm>
          <a:prstGeom prst="rect">
            <a:avLst/>
          </a:prstGeom>
          <a:noFill/>
          <a:ln>
            <a:noFill/>
            <a:prstDash val="sysDash"/>
          </a:ln>
        </p:spPr>
        <p:txBody>
          <a:bodyPr wrap="square" lIns="0" r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Source Sans Pro Light" panose="020B0403030403020204" pitchFamily="34" charset="0"/>
                <a:ea typeface="Source Sans Pro Light" panose="020B0403030403020204" pitchFamily="34" charset="0"/>
                <a:cs typeface="Calibri" panose="020F0502020204030204" pitchFamily="34" charset="0"/>
              </a:rPr>
              <a:t>Future </a:t>
            </a:r>
            <a:br>
              <a:rPr kumimoji="0" lang="en-US" sz="900" b="0" i="0" u="none" strike="noStrike" kern="1200" cap="none" spc="0" normalizeH="0" baseline="0" noProof="0" dirty="0">
                <a:ln>
                  <a:noFill/>
                </a:ln>
                <a:solidFill>
                  <a:prstClr val="black"/>
                </a:solidFill>
                <a:effectLst/>
                <a:uLnTx/>
                <a:uFillTx/>
                <a:latin typeface="Source Sans Pro Light" panose="020B0403030403020204" pitchFamily="34" charset="0"/>
                <a:ea typeface="Source Sans Pro Light" panose="020B0403030403020204" pitchFamily="34" charset="0"/>
                <a:cs typeface="Calibri" panose="020F0502020204030204" pitchFamily="34" charset="0"/>
              </a:rPr>
            </a:br>
            <a:r>
              <a:rPr kumimoji="0" lang="en-US" sz="900" b="0" i="0" u="none" strike="noStrike" kern="1200" cap="none" spc="0" normalizeH="0" baseline="0" noProof="0" dirty="0">
                <a:ln>
                  <a:noFill/>
                </a:ln>
                <a:solidFill>
                  <a:prstClr val="black"/>
                </a:solidFill>
                <a:effectLst/>
                <a:uLnTx/>
                <a:uFillTx/>
                <a:latin typeface="Source Sans Pro Light" panose="020B0403030403020204" pitchFamily="34" charset="0"/>
                <a:ea typeface="Source Sans Pro Light" panose="020B0403030403020204" pitchFamily="34" charset="0"/>
                <a:cs typeface="Calibri" panose="020F0502020204030204" pitchFamily="34" charset="0"/>
              </a:rPr>
              <a:t>objectives identified in strategic plan</a:t>
            </a:r>
          </a:p>
        </p:txBody>
      </p:sp>
      <p:sp>
        <p:nvSpPr>
          <p:cNvPr id="2" name="Title 1">
            <a:extLst>
              <a:ext uri="{FF2B5EF4-FFF2-40B4-BE49-F238E27FC236}">
                <a16:creationId xmlns:a16="http://schemas.microsoft.com/office/drawing/2014/main" id="{7862D563-FC22-A9BA-6253-CFFC1FA5CB98}"/>
              </a:ext>
            </a:extLst>
          </p:cNvPr>
          <p:cNvSpPr txBox="1">
            <a:spLocks/>
          </p:cNvSpPr>
          <p:nvPr/>
        </p:nvSpPr>
        <p:spPr>
          <a:xfrm>
            <a:off x="390525" y="97245"/>
            <a:ext cx="10515600" cy="680223"/>
          </a:xfrm>
          <a:prstGeom prst="rect">
            <a:avLst/>
          </a:prstGeom>
        </p:spPr>
        <p:txBody>
          <a:bodyPr/>
          <a:lstStyle>
            <a:lvl1pPr algn="l" defTabSz="914400" rtl="0" eaLnBrk="1" latinLnBrk="0" hangingPunct="1">
              <a:lnSpc>
                <a:spcPct val="90000"/>
              </a:lnSpc>
              <a:spcBef>
                <a:spcPct val="0"/>
              </a:spcBef>
              <a:buNone/>
              <a:defRPr sz="3600" b="1" kern="1200">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Source Sans Pro Light" panose="020F0302020204030204" pitchFamily="34" charset="0"/>
                <a:ea typeface="+mj-ea"/>
                <a:cs typeface="Source Sans Pro Light" panose="020F0302020204030204" pitchFamily="34" charset="0"/>
              </a:rPr>
              <a:t>IT and Data Governance Initiative:  Concept and Timeline</a:t>
            </a:r>
          </a:p>
        </p:txBody>
      </p:sp>
      <p:sp>
        <p:nvSpPr>
          <p:cNvPr id="5" name="TextBox 4">
            <a:extLst>
              <a:ext uri="{FF2B5EF4-FFF2-40B4-BE49-F238E27FC236}">
                <a16:creationId xmlns:a16="http://schemas.microsoft.com/office/drawing/2014/main" id="{8B8C617A-5889-B058-1BC9-6FDCADD4C81E}"/>
              </a:ext>
            </a:extLst>
          </p:cNvPr>
          <p:cNvSpPr txBox="1"/>
          <p:nvPr/>
        </p:nvSpPr>
        <p:spPr>
          <a:xfrm>
            <a:off x="28286" y="881297"/>
            <a:ext cx="1225424"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Source Sans Pro" panose="020B0503030403020204" pitchFamily="34" charset="0"/>
                <a:ea typeface="Source Sans Pro" panose="020B0503030403020204" pitchFamily="34" charset="0"/>
                <a:cs typeface="Source Sans Pro Light" panose="020F0302020204030204" pitchFamily="34" charset="0"/>
              </a:rPr>
              <a:t>Initiative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Source Sans Pro" panose="020B0503030403020204" pitchFamily="34" charset="0"/>
                <a:ea typeface="Source Sans Pro" panose="020B0503030403020204" pitchFamily="34" charset="0"/>
                <a:cs typeface="Source Sans Pro Light" panose="020F0302020204030204" pitchFamily="34" charset="0"/>
              </a:rPr>
              <a:t>Goal:</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9D01474C-6B37-C6DA-4A13-D0FFBE758246}"/>
              </a:ext>
            </a:extLst>
          </p:cNvPr>
          <p:cNvSpPr txBox="1"/>
          <p:nvPr/>
        </p:nvSpPr>
        <p:spPr>
          <a:xfrm>
            <a:off x="9297195" y="4384396"/>
            <a:ext cx="2654824" cy="1092607"/>
          </a:xfrm>
          <a:prstGeom prst="rect">
            <a:avLst/>
          </a:prstGeom>
          <a:solidFill>
            <a:schemeClr val="bg1">
              <a:alpha val="45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prstClr val="black"/>
                </a:solidFill>
                <a:effectLst/>
                <a:uLnTx/>
                <a:uFillTx/>
                <a:latin typeface="Source Sans Pro Light" panose="020F0302020204030204" pitchFamily="34" charset="0"/>
                <a:ea typeface="+mn-ea"/>
                <a:cs typeface="Source Sans Pro Light" panose="020F0302020204030204" pitchFamily="34" charset="0"/>
              </a:rPr>
              <a:t>Merge existing IT &amp; data programs/projects into alignment with new governance where possible &amp; require new activities to in order to come into existence.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48AB3CBF-2E16-3CB1-D081-9389EF257E2F}"/>
              </a:ext>
            </a:extLst>
          </p:cNvPr>
          <p:cNvSpPr txBox="1"/>
          <p:nvPr/>
        </p:nvSpPr>
        <p:spPr>
          <a:xfrm>
            <a:off x="9297584" y="1721670"/>
            <a:ext cx="2894415" cy="1492716"/>
          </a:xfrm>
          <a:prstGeom prst="rect">
            <a:avLst/>
          </a:prstGeom>
          <a:solidFill>
            <a:schemeClr val="bg1">
              <a:alpha val="45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prstClr val="black"/>
                </a:solidFill>
                <a:effectLst/>
                <a:uLnTx/>
                <a:uFillTx/>
                <a:latin typeface="Source Sans Pro Light" panose="020F0302020204030204" pitchFamily="34" charset="0"/>
                <a:ea typeface="+mn-ea"/>
                <a:cs typeface="Source Sans Pro Light" panose="020F0302020204030204" pitchFamily="34" charset="0"/>
              </a:rPr>
              <a:t>Assign responsibility to implement ORD IT &amp; data strategic plan and to: oversee IT &amp; data governance; provide functions that support an enterprise approach for IT and data; and merge existing and new programs/projects within new framework.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06524B54-3EC4-23DC-B0C1-47A209A8D331}"/>
              </a:ext>
            </a:extLst>
          </p:cNvPr>
          <p:cNvSpPr/>
          <p:nvPr/>
        </p:nvSpPr>
        <p:spPr>
          <a:xfrm>
            <a:off x="69779" y="66344"/>
            <a:ext cx="1060158" cy="306805"/>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Updated</a:t>
            </a:r>
          </a:p>
        </p:txBody>
      </p:sp>
      <p:sp>
        <p:nvSpPr>
          <p:cNvPr id="61" name="Slide Number Placeholder 2">
            <a:extLst>
              <a:ext uri="{FF2B5EF4-FFF2-40B4-BE49-F238E27FC236}">
                <a16:creationId xmlns:a16="http://schemas.microsoft.com/office/drawing/2014/main" id="{485A3BC3-CAAF-A50E-CF1F-4927A3ABD7FF}"/>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5148543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8" name="Straight Arrow Connector 45">
            <a:extLst>
              <a:ext uri="{FF2B5EF4-FFF2-40B4-BE49-F238E27FC236}">
                <a16:creationId xmlns:a16="http://schemas.microsoft.com/office/drawing/2014/main" id="{3A08CC4D-3975-C050-7510-6FB54B1536F4}"/>
              </a:ext>
            </a:extLst>
          </p:cNvPr>
          <p:cNvCxnSpPr>
            <a:cxnSpLocks/>
          </p:cNvCxnSpPr>
          <p:nvPr/>
        </p:nvCxnSpPr>
        <p:spPr>
          <a:xfrm flipH="1">
            <a:off x="138498" y="648452"/>
            <a:ext cx="2" cy="614518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64BC5D89-CAD6-1BB8-1878-86E6A1BE7921}"/>
              </a:ext>
            </a:extLst>
          </p:cNvPr>
          <p:cNvSpPr>
            <a:spLocks noGrp="1"/>
          </p:cNvSpPr>
          <p:nvPr>
            <p:ph type="title"/>
          </p:nvPr>
        </p:nvSpPr>
        <p:spPr>
          <a:xfrm>
            <a:off x="0" y="-4555"/>
            <a:ext cx="6546218" cy="605332"/>
          </a:xfrm>
        </p:spPr>
        <p:txBody>
          <a:bodyPr/>
          <a:lstStyle/>
          <a:p>
            <a:r>
              <a:rPr lang="en-US" sz="3200" dirty="0"/>
              <a:t>Process &amp; Anatomy of Strategic Plan</a:t>
            </a:r>
          </a:p>
        </p:txBody>
      </p:sp>
      <p:sp>
        <p:nvSpPr>
          <p:cNvPr id="13" name="TextBox 12">
            <a:extLst>
              <a:ext uri="{FF2B5EF4-FFF2-40B4-BE49-F238E27FC236}">
                <a16:creationId xmlns:a16="http://schemas.microsoft.com/office/drawing/2014/main" id="{7FECA137-0487-109B-6BC9-B8BF0C2E5B37}"/>
              </a:ext>
            </a:extLst>
          </p:cNvPr>
          <p:cNvSpPr txBox="1"/>
          <p:nvPr/>
        </p:nvSpPr>
        <p:spPr>
          <a:xfrm>
            <a:off x="6546218" y="44195"/>
            <a:ext cx="5527735"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Calibri" panose="020F0502020204030204" pitchFamily="34" charset="0"/>
                <a:ea typeface="Arial Unicode MS" panose="020B0604020202020204" pitchFamily="34" charset="-128"/>
                <a:cs typeface="Arial Unicode MS" panose="020B0604020202020204" pitchFamily="34" charset="-128"/>
              </a:rPr>
              <a:t>Strategy </a:t>
            </a:r>
            <a:r>
              <a:rPr kumimoji="0" lang="en-US" sz="1200" b="0" i="0" u="none" strike="noStrike" kern="1200" cap="none" spc="0" normalizeH="0" baseline="0" noProof="0" dirty="0">
                <a:ln>
                  <a:noFill/>
                </a:ln>
                <a:solidFill>
                  <a:prstClr val="white"/>
                </a:solidFill>
                <a:effectLst/>
                <a:uLnTx/>
                <a:uFillTx/>
                <a:latin typeface="Calibri" panose="020F0502020204030204" pitchFamily="34" charset="0"/>
                <a:ea typeface="Arial Unicode MS" panose="020B0604020202020204" pitchFamily="34" charset="-128"/>
                <a:cs typeface="Arial Unicode MS" panose="020B0604020202020204" pitchFamily="34" charset="-128"/>
              </a:rPr>
              <a:t>-</a:t>
            </a:r>
            <a:r>
              <a:rPr kumimoji="0" lang="en-US" sz="1200" b="1" i="0" u="none" strike="noStrike" kern="1200" cap="none" spc="0" normalizeH="0" baseline="0" noProof="0" dirty="0">
                <a:ln>
                  <a:noFill/>
                </a:ln>
                <a:solidFill>
                  <a:prstClr val="white"/>
                </a:solidFill>
                <a:effectLst/>
                <a:uLnTx/>
                <a:uFillTx/>
                <a:latin typeface="Calibri" panose="020F0502020204030204" pitchFamily="34" charset="0"/>
                <a:ea typeface="Arial Unicode MS" panose="020B0604020202020204" pitchFamily="34" charset="-128"/>
                <a:cs typeface="Arial Unicode MS" panose="020B0604020202020204" pitchFamily="34" charset="-128"/>
              </a:rPr>
              <a:t> </a:t>
            </a:r>
            <a:r>
              <a:rPr kumimoji="0" lang="en-US" sz="1200" b="0" i="0" u="none" strike="noStrike" kern="1200" cap="none" spc="0" normalizeH="0" baseline="0" noProof="0" dirty="0">
                <a:ln>
                  <a:noFill/>
                </a:ln>
                <a:solidFill>
                  <a:prstClr val="white"/>
                </a:solidFill>
                <a:effectLst/>
                <a:uLnTx/>
                <a:uFillTx/>
                <a:latin typeface="Calibri" panose="020F0502020204030204" pitchFamily="34" charset="0"/>
                <a:ea typeface="Arial Unicode MS" panose="020B0604020202020204" pitchFamily="34" charset="-128"/>
                <a:cs typeface="Arial Unicode MS" panose="020B0604020202020204" pitchFamily="34" charset="-128"/>
              </a:rPr>
              <a:t>a leader</a:t>
            </a:r>
            <a:r>
              <a:rPr kumimoji="0" lang="ar-SA" sz="1200" b="0" i="0" u="none" strike="noStrike" kern="1200" cap="none" spc="0" normalizeH="0" baseline="0" noProof="0" dirty="0">
                <a:ln>
                  <a:noFill/>
                </a:ln>
                <a:solidFill>
                  <a:prstClr val="white"/>
                </a:solidFill>
                <a:effectLst/>
                <a:uLnTx/>
                <a:uFillTx/>
                <a:latin typeface="Calibri" panose="020F0502020204030204" pitchFamily="34" charset="0"/>
                <a:ea typeface="Arial Unicode MS" panose="020B0604020202020204" pitchFamily="34" charset="-128"/>
                <a:cs typeface="Arial Unicode MS" panose="020B0604020202020204" pitchFamily="34" charset="-128"/>
              </a:rPr>
              <a:t>’</a:t>
            </a:r>
            <a:r>
              <a:rPr kumimoji="0" lang="en-US" sz="1200" b="0" i="0" u="none" strike="noStrike" kern="1200" cap="none" spc="0" normalizeH="0" baseline="0" noProof="0" dirty="0">
                <a:ln>
                  <a:noFill/>
                </a:ln>
                <a:solidFill>
                  <a:prstClr val="white"/>
                </a:solidFill>
                <a:effectLst/>
                <a:uLnTx/>
                <a:uFillTx/>
                <a:latin typeface="Calibri" panose="020F0502020204030204" pitchFamily="34" charset="0"/>
                <a:ea typeface="Arial Unicode MS" panose="020B0604020202020204" pitchFamily="34" charset="-128"/>
                <a:cs typeface="Arial Unicode MS" panose="020B0604020202020204" pitchFamily="34" charset="-128"/>
              </a:rPr>
              <a:t>s plan to use resources in a distinct way to achieve its preferred endstate with an understanding of the associated situation and risks.</a:t>
            </a:r>
            <a:endPar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Arial Unicode MS" panose="020B0604020202020204" pitchFamily="34" charset="-128"/>
              <a:cs typeface="Arial Unicode MS" panose="020B0604020202020204" pitchFamily="34" charset="-128"/>
            </a:endParaRPr>
          </a:p>
        </p:txBody>
      </p:sp>
      <p:sp>
        <p:nvSpPr>
          <p:cNvPr id="38" name="TextBox 37">
            <a:extLst>
              <a:ext uri="{FF2B5EF4-FFF2-40B4-BE49-F238E27FC236}">
                <a16:creationId xmlns:a16="http://schemas.microsoft.com/office/drawing/2014/main" id="{24CF0848-F94F-5EA5-C3B7-960FA6E70265}"/>
              </a:ext>
            </a:extLst>
          </p:cNvPr>
          <p:cNvSpPr txBox="1"/>
          <p:nvPr/>
        </p:nvSpPr>
        <p:spPr>
          <a:xfrm rot="16200000">
            <a:off x="-1253437" y="3614726"/>
            <a:ext cx="2783876" cy="276999"/>
          </a:xfrm>
          <a:prstGeom prst="rect">
            <a:avLst/>
          </a:prstGeom>
          <a:solidFill>
            <a:schemeClr val="bg1"/>
          </a:solidFill>
        </p:spPr>
        <p:txBody>
          <a:bodyPr wrap="square">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Arial Unicode MS" panose="020B0604020202020204" pitchFamily="34" charset="-128"/>
                <a:cs typeface="Arial Unicode MS" panose="020B0604020202020204" pitchFamily="34" charset="-128"/>
              </a:rPr>
              <a:t>Summarizing of steps, but not all inclusive</a:t>
            </a:r>
            <a:endParaRPr kumimoji="0" lang="en-US" sz="1800" b="0" i="0" u="none" strike="noStrike" kern="1200" cap="none" spc="0" normalizeH="0" baseline="0" noProof="0" dirty="0">
              <a:ln>
                <a:noFill/>
              </a:ln>
              <a:solidFill>
                <a:prstClr val="black"/>
              </a:solidFill>
              <a:effectLst/>
              <a:uLnTx/>
              <a:uFillTx/>
              <a:latin typeface="Helvetica Neue" panose="02000503000000020004" pitchFamily="2" charset="0"/>
              <a:ea typeface="Arial Unicode MS" panose="020B0604020202020204" pitchFamily="34" charset="-128"/>
              <a:cs typeface="Arial Unicode MS" panose="020B0604020202020204" pitchFamily="34" charset="-128"/>
            </a:endParaRPr>
          </a:p>
        </p:txBody>
      </p:sp>
      <p:sp>
        <p:nvSpPr>
          <p:cNvPr id="39" name="Folded Corner 38">
            <a:extLst>
              <a:ext uri="{FF2B5EF4-FFF2-40B4-BE49-F238E27FC236}">
                <a16:creationId xmlns:a16="http://schemas.microsoft.com/office/drawing/2014/main" id="{B3C402DB-418F-9FAA-6FE3-1AC1A0B1FE89}"/>
              </a:ext>
            </a:extLst>
          </p:cNvPr>
          <p:cNvSpPr/>
          <p:nvPr/>
        </p:nvSpPr>
        <p:spPr>
          <a:xfrm>
            <a:off x="6346677" y="648452"/>
            <a:ext cx="5568321" cy="6136909"/>
          </a:xfrm>
          <a:prstGeom prst="foldedCorner">
            <a:avLst>
              <a:gd name="adj" fmla="val 10499"/>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9525"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Light" panose="020F0302020204030204"/>
                <a:ea typeface="+mn-ea"/>
                <a:cs typeface="+mn-cs"/>
              </a:rPr>
              <a:t>FORMAT OF STRATEGIC PLAN FOR</a:t>
            </a:r>
          </a:p>
          <a:p>
            <a:pPr marL="9525"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Light" panose="020F0302020204030204"/>
                <a:ea typeface="+mn-ea"/>
                <a:cs typeface="+mn-cs"/>
              </a:rPr>
              <a:t>IT AND DATA GOVERNANCE</a:t>
            </a:r>
          </a:p>
          <a:p>
            <a:pPr marL="9525"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cxnSp>
        <p:nvCxnSpPr>
          <p:cNvPr id="40" name="Straight Connector 39">
            <a:extLst>
              <a:ext uri="{FF2B5EF4-FFF2-40B4-BE49-F238E27FC236}">
                <a16:creationId xmlns:a16="http://schemas.microsoft.com/office/drawing/2014/main" id="{10B9D8E2-5DA0-FD67-8F6D-ADAB9433C858}"/>
              </a:ext>
            </a:extLst>
          </p:cNvPr>
          <p:cNvCxnSpPr>
            <a:cxnSpLocks/>
          </p:cNvCxnSpPr>
          <p:nvPr/>
        </p:nvCxnSpPr>
        <p:spPr>
          <a:xfrm>
            <a:off x="6240670" y="2170940"/>
            <a:ext cx="5812832"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AA8A17D1-DED3-922C-F38D-23A886526CF9}"/>
              </a:ext>
            </a:extLst>
          </p:cNvPr>
          <p:cNvCxnSpPr>
            <a:cxnSpLocks/>
          </p:cNvCxnSpPr>
          <p:nvPr/>
        </p:nvCxnSpPr>
        <p:spPr>
          <a:xfrm>
            <a:off x="6240670" y="4012038"/>
            <a:ext cx="5812832"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4D54B105-90A9-42FC-08DC-2E534667D20B}"/>
              </a:ext>
            </a:extLst>
          </p:cNvPr>
          <p:cNvCxnSpPr>
            <a:cxnSpLocks/>
          </p:cNvCxnSpPr>
          <p:nvPr/>
        </p:nvCxnSpPr>
        <p:spPr>
          <a:xfrm>
            <a:off x="6240670" y="4932587"/>
            <a:ext cx="5812832"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F123AF1-F834-E3FB-7F5F-89B660E3C142}"/>
              </a:ext>
            </a:extLst>
          </p:cNvPr>
          <p:cNvCxnSpPr>
            <a:cxnSpLocks/>
          </p:cNvCxnSpPr>
          <p:nvPr/>
        </p:nvCxnSpPr>
        <p:spPr>
          <a:xfrm>
            <a:off x="6240670" y="5802336"/>
            <a:ext cx="5812832"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6D089054-2ED7-3802-9F10-AD875B220893}"/>
              </a:ext>
            </a:extLst>
          </p:cNvPr>
          <p:cNvCxnSpPr>
            <a:cxnSpLocks/>
          </p:cNvCxnSpPr>
          <p:nvPr/>
        </p:nvCxnSpPr>
        <p:spPr>
          <a:xfrm>
            <a:off x="6240670" y="3091489"/>
            <a:ext cx="5812832"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97A29853-6B5A-21FA-4E23-DE17624F68E0}"/>
              </a:ext>
            </a:extLst>
          </p:cNvPr>
          <p:cNvCxnSpPr>
            <a:cxnSpLocks/>
          </p:cNvCxnSpPr>
          <p:nvPr/>
        </p:nvCxnSpPr>
        <p:spPr>
          <a:xfrm>
            <a:off x="6240670" y="1250391"/>
            <a:ext cx="5833283"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7" name="Straight Arrow Connector 45">
            <a:extLst>
              <a:ext uri="{FF2B5EF4-FFF2-40B4-BE49-F238E27FC236}">
                <a16:creationId xmlns:a16="http://schemas.microsoft.com/office/drawing/2014/main" id="{5F5C76B0-E6F6-AE54-E655-12242B208584}"/>
              </a:ext>
            </a:extLst>
          </p:cNvPr>
          <p:cNvCxnSpPr>
            <a:cxnSpLocks/>
            <a:stCxn id="30" idx="0"/>
            <a:endCxn id="100" idx="1"/>
          </p:cNvCxnSpPr>
          <p:nvPr/>
        </p:nvCxnSpPr>
        <p:spPr>
          <a:xfrm>
            <a:off x="5845322" y="961573"/>
            <a:ext cx="501351" cy="806111"/>
          </a:xfrm>
          <a:prstGeom prst="bentConnector3">
            <a:avLst>
              <a:gd name="adj1" fmla="val 50000"/>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5">
            <a:extLst>
              <a:ext uri="{FF2B5EF4-FFF2-40B4-BE49-F238E27FC236}">
                <a16:creationId xmlns:a16="http://schemas.microsoft.com/office/drawing/2014/main" id="{2B4747E6-F88B-FC27-8473-0915C9EFA859}"/>
              </a:ext>
            </a:extLst>
          </p:cNvPr>
          <p:cNvCxnSpPr>
            <a:cxnSpLocks/>
            <a:stCxn id="31" idx="0"/>
            <a:endCxn id="98" idx="1"/>
          </p:cNvCxnSpPr>
          <p:nvPr/>
        </p:nvCxnSpPr>
        <p:spPr>
          <a:xfrm>
            <a:off x="5845322" y="2142614"/>
            <a:ext cx="501352" cy="522258"/>
          </a:xfrm>
          <a:prstGeom prst="bentConnector3">
            <a:avLst>
              <a:gd name="adj1" fmla="val 50000"/>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5">
            <a:extLst>
              <a:ext uri="{FF2B5EF4-FFF2-40B4-BE49-F238E27FC236}">
                <a16:creationId xmlns:a16="http://schemas.microsoft.com/office/drawing/2014/main" id="{85117C82-2840-153A-E925-3EECF5FAFC23}"/>
              </a:ext>
            </a:extLst>
          </p:cNvPr>
          <p:cNvCxnSpPr>
            <a:cxnSpLocks/>
            <a:stCxn id="32" idx="0"/>
            <a:endCxn id="94" idx="1"/>
          </p:cNvCxnSpPr>
          <p:nvPr/>
        </p:nvCxnSpPr>
        <p:spPr>
          <a:xfrm>
            <a:off x="5845322" y="3513580"/>
            <a:ext cx="501347" cy="16328"/>
          </a:xfrm>
          <a:prstGeom prst="bentConnector3">
            <a:avLst>
              <a:gd name="adj1" fmla="val 50000"/>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45">
            <a:extLst>
              <a:ext uri="{FF2B5EF4-FFF2-40B4-BE49-F238E27FC236}">
                <a16:creationId xmlns:a16="http://schemas.microsoft.com/office/drawing/2014/main" id="{51F90919-F877-030C-C32D-C6B4F6B554F5}"/>
              </a:ext>
            </a:extLst>
          </p:cNvPr>
          <p:cNvCxnSpPr>
            <a:cxnSpLocks/>
            <a:stCxn id="34" idx="0"/>
            <a:endCxn id="102" idx="1"/>
          </p:cNvCxnSpPr>
          <p:nvPr/>
        </p:nvCxnSpPr>
        <p:spPr>
          <a:xfrm>
            <a:off x="5845322" y="4437543"/>
            <a:ext cx="501351" cy="33624"/>
          </a:xfrm>
          <a:prstGeom prst="bentConnector3">
            <a:avLst>
              <a:gd name="adj1" fmla="val 50000"/>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45">
            <a:extLst>
              <a:ext uri="{FF2B5EF4-FFF2-40B4-BE49-F238E27FC236}">
                <a16:creationId xmlns:a16="http://schemas.microsoft.com/office/drawing/2014/main" id="{A477F6B7-CB4E-7C55-9606-62C2828CC67A}"/>
              </a:ext>
            </a:extLst>
          </p:cNvPr>
          <p:cNvCxnSpPr>
            <a:cxnSpLocks/>
            <a:stCxn id="36" idx="0"/>
            <a:endCxn id="104" idx="1"/>
          </p:cNvCxnSpPr>
          <p:nvPr/>
        </p:nvCxnSpPr>
        <p:spPr>
          <a:xfrm>
            <a:off x="5845322" y="5214763"/>
            <a:ext cx="501351" cy="165610"/>
          </a:xfrm>
          <a:prstGeom prst="bentConnector3">
            <a:avLst>
              <a:gd name="adj1" fmla="val 50000"/>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45">
            <a:extLst>
              <a:ext uri="{FF2B5EF4-FFF2-40B4-BE49-F238E27FC236}">
                <a16:creationId xmlns:a16="http://schemas.microsoft.com/office/drawing/2014/main" id="{E26A12DA-F222-A22F-DFB0-52D529EB9D4A}"/>
              </a:ext>
            </a:extLst>
          </p:cNvPr>
          <p:cNvCxnSpPr>
            <a:cxnSpLocks/>
            <a:stCxn id="42" idx="0"/>
            <a:endCxn id="106" idx="1"/>
          </p:cNvCxnSpPr>
          <p:nvPr/>
        </p:nvCxnSpPr>
        <p:spPr>
          <a:xfrm>
            <a:off x="5845322" y="5976322"/>
            <a:ext cx="501347" cy="372038"/>
          </a:xfrm>
          <a:prstGeom prst="bentConnector3">
            <a:avLst>
              <a:gd name="adj1" fmla="val 50000"/>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30" name="Pentagon 29">
            <a:extLst>
              <a:ext uri="{FF2B5EF4-FFF2-40B4-BE49-F238E27FC236}">
                <a16:creationId xmlns:a16="http://schemas.microsoft.com/office/drawing/2014/main" id="{BE12B1AF-A228-43DC-3F7C-DA1DC9CF4635}"/>
              </a:ext>
            </a:extLst>
          </p:cNvPr>
          <p:cNvSpPr/>
          <p:nvPr/>
        </p:nvSpPr>
        <p:spPr>
          <a:xfrm rot="5400000">
            <a:off x="2692491" y="-1767041"/>
            <a:ext cx="737337" cy="5568324"/>
          </a:xfrm>
          <a:prstGeom prst="homePlate">
            <a:avLst>
              <a:gd name="adj" fmla="val 15067"/>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vert="vert270" l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Light" panose="020F0302020204030204"/>
                <a:ea typeface="+mn-ea"/>
                <a:cs typeface="+mn-cs"/>
              </a:rPr>
              <a:t>Step I: Mission Analysis </a:t>
            </a: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(Sus: 26-Oct-2021)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Create a shared understanding of the leadership’s overall purpose, tasks, requirements, and time horizon for the strategic plan.</a:t>
            </a:r>
          </a:p>
        </p:txBody>
      </p:sp>
      <p:sp>
        <p:nvSpPr>
          <p:cNvPr id="31" name="Pentagon 30">
            <a:extLst>
              <a:ext uri="{FF2B5EF4-FFF2-40B4-BE49-F238E27FC236}">
                <a16:creationId xmlns:a16="http://schemas.microsoft.com/office/drawing/2014/main" id="{9FCFE34E-C5EF-7ED1-703E-B9F962267E74}"/>
              </a:ext>
            </a:extLst>
          </p:cNvPr>
          <p:cNvSpPr/>
          <p:nvPr/>
        </p:nvSpPr>
        <p:spPr>
          <a:xfrm rot="5400000">
            <a:off x="2208010" y="-590274"/>
            <a:ext cx="1706300" cy="5568324"/>
          </a:xfrm>
          <a:prstGeom prst="homePlate">
            <a:avLst>
              <a:gd name="adj" fmla="val 6010"/>
            </a:avLst>
          </a:prstGeom>
          <a:solidFill>
            <a:schemeClr val="accent4">
              <a:lumMod val="40000"/>
              <a:lumOff val="60000"/>
            </a:schemeClr>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vert270" l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Light" panose="020F0302020204030204"/>
                <a:ea typeface="+mn-ea"/>
                <a:cs typeface="+mn-cs"/>
              </a:rPr>
              <a:t>Step 2: Situational Awareness and Understanding</a:t>
            </a:r>
            <a:r>
              <a:rPr kumimoji="0" lang="en-US" sz="1400" b="1" i="0" u="none" strike="noStrike" kern="1200" cap="none" spc="0" normalizeH="0" baseline="0" noProof="0" dirty="0">
                <a:ln>
                  <a:noFill/>
                </a:ln>
                <a:solidFill>
                  <a:prstClr val="black"/>
                </a:solidFill>
                <a:effectLst/>
                <a:uLnTx/>
                <a:uFillTx/>
                <a:latin typeface="Calibri Light" panose="020F0302020204030204"/>
                <a:ea typeface="+mn-ea"/>
                <a:cs typeface="+mn-cs"/>
              </a:rPr>
              <a:t> </a:t>
            </a: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(Sus: 17-Dec-2022)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Gather and examine information about key factors and conditions in the environment to assess, understand, and define the current state through conducting a capability gap analysis.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Inventory Governance (Policy) and SOPs. (Sus: 03-Oct-2022)</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Inventory Systems and their components (Sus: 28-Oct-2022)</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Understand community business requirements. (Sus: 28-Oct-2022)</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Conduct capability gap analysis. (Sus: 16-Dec-2022)</a:t>
            </a:r>
            <a:endParaRPr kumimoji="0" lang="en-US" sz="11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
        <p:nvSpPr>
          <p:cNvPr id="32" name="Pentagon 31">
            <a:extLst>
              <a:ext uri="{FF2B5EF4-FFF2-40B4-BE49-F238E27FC236}">
                <a16:creationId xmlns:a16="http://schemas.microsoft.com/office/drawing/2014/main" id="{D5F30E27-4EFE-CD75-4964-1958C68D630E}"/>
              </a:ext>
            </a:extLst>
          </p:cNvPr>
          <p:cNvSpPr/>
          <p:nvPr/>
        </p:nvSpPr>
        <p:spPr>
          <a:xfrm rot="5400000">
            <a:off x="2502567" y="776418"/>
            <a:ext cx="1117186" cy="5568323"/>
          </a:xfrm>
          <a:prstGeom prst="homePlate">
            <a:avLst>
              <a:gd name="adj" fmla="val 8414"/>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vert="vert270" l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Light" panose="020F0302020204030204"/>
                <a:ea typeface="+mn-ea"/>
                <a:cs typeface="+mn-cs"/>
              </a:rPr>
              <a:t>Step 3: Framing the Desired Future </a:t>
            </a: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(Sus: 31-Dec-2022)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Reflect on the state of the current situation and the requirements to develop a desired, but realistic endstate and supported by stated conditions (goals) that must be created to achieve it that overcome anticipated challenges.</a:t>
            </a:r>
          </a:p>
        </p:txBody>
      </p:sp>
      <p:sp>
        <p:nvSpPr>
          <p:cNvPr id="34" name="Pentagon 33">
            <a:extLst>
              <a:ext uri="{FF2B5EF4-FFF2-40B4-BE49-F238E27FC236}">
                <a16:creationId xmlns:a16="http://schemas.microsoft.com/office/drawing/2014/main" id="{34B100A4-F241-CD65-0C4C-FC6406E9DA0F}"/>
              </a:ext>
            </a:extLst>
          </p:cNvPr>
          <p:cNvSpPr/>
          <p:nvPr/>
        </p:nvSpPr>
        <p:spPr>
          <a:xfrm rot="5400000">
            <a:off x="2646466" y="1704654"/>
            <a:ext cx="829388" cy="5568323"/>
          </a:xfrm>
          <a:prstGeom prst="homePlate">
            <a:avLst>
              <a:gd name="adj" fmla="val 12364"/>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vert="vert270" l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Light" panose="020F0302020204030204"/>
                <a:ea typeface="+mn-ea"/>
                <a:cs typeface="+mn-cs"/>
              </a:rPr>
              <a:t>Step 4: Strategic Approach </a:t>
            </a: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(Sus: 20-Jan-2023)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Develop and describe a unified set of broad sequenced actions, namely objectives, that the organization must take to create the desired conditions (goals) thus the endstate.</a:t>
            </a:r>
          </a:p>
        </p:txBody>
      </p:sp>
      <p:sp>
        <p:nvSpPr>
          <p:cNvPr id="36" name="Pentagon 35">
            <a:extLst>
              <a:ext uri="{FF2B5EF4-FFF2-40B4-BE49-F238E27FC236}">
                <a16:creationId xmlns:a16="http://schemas.microsoft.com/office/drawing/2014/main" id="{696558D8-20B4-559D-C118-A55A67EC8CE2}"/>
              </a:ext>
            </a:extLst>
          </p:cNvPr>
          <p:cNvSpPr/>
          <p:nvPr/>
        </p:nvSpPr>
        <p:spPr>
          <a:xfrm rot="5400000">
            <a:off x="2657855" y="2477602"/>
            <a:ext cx="806610" cy="5568323"/>
          </a:xfrm>
          <a:prstGeom prst="homePlate">
            <a:avLst>
              <a:gd name="adj" fmla="val 11654"/>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vert="vert270" l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Light" panose="020F0302020204030204"/>
                <a:ea typeface="+mn-ea"/>
                <a:cs typeface="+mn-cs"/>
              </a:rPr>
              <a:t>Step 5: Resource &amp; Risk Management </a:t>
            </a: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(Sus: 03-Feb-2023)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Identify, assess, control and balance between resources and risks to prioritize objectives.</a:t>
            </a:r>
          </a:p>
        </p:txBody>
      </p:sp>
      <p:sp>
        <p:nvSpPr>
          <p:cNvPr id="42" name="Pentagon 41">
            <a:extLst>
              <a:ext uri="{FF2B5EF4-FFF2-40B4-BE49-F238E27FC236}">
                <a16:creationId xmlns:a16="http://schemas.microsoft.com/office/drawing/2014/main" id="{502EF556-1E30-BEE3-B347-31FABDCEBEFE}"/>
              </a:ext>
            </a:extLst>
          </p:cNvPr>
          <p:cNvSpPr/>
          <p:nvPr/>
        </p:nvSpPr>
        <p:spPr>
          <a:xfrm rot="5400000">
            <a:off x="2657855" y="3239161"/>
            <a:ext cx="806610" cy="5568323"/>
          </a:xfrm>
          <a:prstGeom prst="homePlate">
            <a:avLst>
              <a:gd name="adj" fmla="val 11654"/>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vert="vert270" l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Light" panose="020F0302020204030204"/>
                <a:ea typeface="+mn-ea"/>
                <a:cs typeface="+mn-cs"/>
              </a:rPr>
              <a:t>Step 6: Assessment </a:t>
            </a: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(Sus: 17-Feb-2023)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Develop continuous plan to measure performance and effectiveness of activities to determine progress towards creating a condition and achieving an objective.</a:t>
            </a:r>
          </a:p>
        </p:txBody>
      </p:sp>
      <p:sp>
        <p:nvSpPr>
          <p:cNvPr id="35" name="Pentagon 34">
            <a:extLst>
              <a:ext uri="{FF2B5EF4-FFF2-40B4-BE49-F238E27FC236}">
                <a16:creationId xmlns:a16="http://schemas.microsoft.com/office/drawing/2014/main" id="{42E9DD13-0D54-CEBB-4324-8FDE4C520B92}"/>
              </a:ext>
            </a:extLst>
          </p:cNvPr>
          <p:cNvSpPr/>
          <p:nvPr/>
        </p:nvSpPr>
        <p:spPr>
          <a:xfrm rot="5400000">
            <a:off x="2855130" y="3803445"/>
            <a:ext cx="412059" cy="5568322"/>
          </a:xfrm>
          <a:prstGeom prst="homePlate">
            <a:avLst>
              <a:gd name="adj" fmla="val 0"/>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vert="vert270" l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Light" panose="020F0302020204030204"/>
                <a:ea typeface="+mn-ea"/>
                <a:cs typeface="+mn-cs"/>
              </a:rPr>
              <a:t>Step 7: Refine Draft </a:t>
            </a: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(Sus: 1-Mar-2023)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Review and refine draft strategic plan for submission.</a:t>
            </a:r>
            <a:endParaRPr kumimoji="0" lang="en-US" sz="11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
        <p:nvSpPr>
          <p:cNvPr id="94" name="TextBox 93">
            <a:extLst>
              <a:ext uri="{FF2B5EF4-FFF2-40B4-BE49-F238E27FC236}">
                <a16:creationId xmlns:a16="http://schemas.microsoft.com/office/drawing/2014/main" id="{EE29A321-3068-C7DD-5ACF-8DE287E26131}"/>
              </a:ext>
            </a:extLst>
          </p:cNvPr>
          <p:cNvSpPr txBox="1"/>
          <p:nvPr/>
        </p:nvSpPr>
        <p:spPr>
          <a:xfrm>
            <a:off x="6346669" y="3122104"/>
            <a:ext cx="5568325" cy="815608"/>
          </a:xfrm>
          <a:prstGeom prst="rect">
            <a:avLst/>
          </a:prstGeom>
          <a:noFill/>
        </p:spPr>
        <p:txBody>
          <a:bodyPr wrap="square">
            <a:spAutoFit/>
          </a:bodyPr>
          <a:lstStyle/>
          <a:p>
            <a:pPr marL="9525" marR="0" lvl="1"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Light" panose="020F0302020204030204"/>
                <a:ea typeface="+mn-ea"/>
                <a:cs typeface="+mn-cs"/>
              </a:rPr>
              <a:t>Future State</a:t>
            </a:r>
            <a:endParaRPr kumimoji="0" lang="en-US" sz="1400" b="0" i="0" u="none" strike="noStrike" kern="1200" cap="none" spc="0" normalizeH="0" baseline="0" noProof="0" dirty="0">
              <a:ln>
                <a:noFill/>
              </a:ln>
              <a:solidFill>
                <a:prstClr val="black"/>
              </a:solidFill>
              <a:effectLst/>
              <a:uLnTx/>
              <a:uFillTx/>
              <a:latin typeface="Calibri Light" panose="020F0302020204030204"/>
              <a:ea typeface="+mn-ea"/>
              <a:cs typeface="+mn-cs"/>
            </a:endParaRPr>
          </a:p>
          <a:p>
            <a:pPr marL="9525" marR="0" lvl="2"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Light" panose="020F0302020204030204"/>
                <a:ea typeface="+mn-ea"/>
                <a:cs typeface="+mn-cs"/>
              </a:rPr>
              <a:t>Describes the anticipated future and the desired future (Endstate) and conditions (goals) that define achievement of the strategy. Details how to leverage strengths to take advantage of opportunities and overcome challenges.  Lists guiding principles.</a:t>
            </a:r>
          </a:p>
        </p:txBody>
      </p:sp>
      <p:sp>
        <p:nvSpPr>
          <p:cNvPr id="98" name="TextBox 97">
            <a:extLst>
              <a:ext uri="{FF2B5EF4-FFF2-40B4-BE49-F238E27FC236}">
                <a16:creationId xmlns:a16="http://schemas.microsoft.com/office/drawing/2014/main" id="{36E8BD6F-B782-E739-4B4C-93A312808C8C}"/>
              </a:ext>
            </a:extLst>
          </p:cNvPr>
          <p:cNvSpPr txBox="1"/>
          <p:nvPr/>
        </p:nvSpPr>
        <p:spPr>
          <a:xfrm>
            <a:off x="6346674" y="2183971"/>
            <a:ext cx="5568324" cy="961802"/>
          </a:xfrm>
          <a:prstGeom prst="rect">
            <a:avLst/>
          </a:prstGeom>
          <a:noFill/>
        </p:spPr>
        <p:txBody>
          <a:bodyPr wrap="square">
            <a:spAutoFit/>
          </a:bodyPr>
          <a:lstStyle/>
          <a:p>
            <a:pPr marL="9525" marR="0" lvl="1"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Light" panose="020F0302020204030204"/>
                <a:ea typeface="+mn-ea"/>
                <a:cs typeface="+mn-cs"/>
              </a:rPr>
              <a:t>Current State</a:t>
            </a:r>
            <a:endParaRPr kumimoji="0" lang="en-US" sz="1400" b="0" i="0" u="none" strike="noStrike" kern="1200" cap="none" spc="0" normalizeH="0" baseline="0" noProof="0" dirty="0">
              <a:ln>
                <a:noFill/>
              </a:ln>
              <a:solidFill>
                <a:prstClr val="black"/>
              </a:solidFill>
              <a:effectLst/>
              <a:uLnTx/>
              <a:uFillTx/>
              <a:latin typeface="Calibri Light" panose="020F0302020204030204"/>
              <a:ea typeface="+mn-ea"/>
              <a:cs typeface="+mn-cs"/>
            </a:endParaRPr>
          </a:p>
          <a:p>
            <a:pPr marL="9525" marR="0" lvl="1"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Light" panose="020F0302020204030204"/>
                <a:ea typeface="+mn-ea"/>
                <a:cs typeface="+mn-cs"/>
              </a:rPr>
              <a:t>Describes the current state of the ORD IT and Data environment, to include offered products and services (via systems); gaps in business requirements, policies, </a:t>
            </a:r>
            <a:r>
              <a:rPr kumimoji="0" lang="en-US" sz="1050" b="0" i="0" u="none" strike="noStrike" kern="1200" cap="none" spc="0" normalizeH="0" baseline="0" noProof="0">
                <a:ln>
                  <a:noFill/>
                </a:ln>
                <a:solidFill>
                  <a:prstClr val="black"/>
                </a:solidFill>
                <a:effectLst/>
                <a:uLnTx/>
                <a:uFillTx/>
                <a:latin typeface="Calibri Light" panose="020F0302020204030204"/>
                <a:ea typeface="+mn-ea"/>
                <a:cs typeface="+mn-cs"/>
              </a:rPr>
              <a:t>and SOPs; </a:t>
            </a:r>
            <a:r>
              <a:rPr kumimoji="0" lang="en-US" sz="1050" b="0" i="0" u="none" strike="noStrike" kern="1200" cap="none" spc="0" normalizeH="0" baseline="0" noProof="0" dirty="0">
                <a:ln>
                  <a:noFill/>
                </a:ln>
                <a:solidFill>
                  <a:prstClr val="black"/>
                </a:solidFill>
                <a:effectLst/>
                <a:uLnTx/>
                <a:uFillTx/>
                <a:latin typeface="Calibri Light" panose="020F0302020204030204"/>
                <a:ea typeface="+mn-ea"/>
                <a:cs typeface="+mn-cs"/>
              </a:rPr>
              <a:t>limitations to providing them; and strengths and weakness.</a:t>
            </a:r>
          </a:p>
          <a:p>
            <a:pPr marL="9525" marR="0" lvl="1"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
        <p:nvSpPr>
          <p:cNvPr id="100" name="TextBox 99">
            <a:extLst>
              <a:ext uri="{FF2B5EF4-FFF2-40B4-BE49-F238E27FC236}">
                <a16:creationId xmlns:a16="http://schemas.microsoft.com/office/drawing/2014/main" id="{5B945195-51A9-970B-3A9E-4A4D4F29DF88}"/>
              </a:ext>
            </a:extLst>
          </p:cNvPr>
          <p:cNvSpPr txBox="1"/>
          <p:nvPr/>
        </p:nvSpPr>
        <p:spPr>
          <a:xfrm>
            <a:off x="6346673" y="1286783"/>
            <a:ext cx="5568325" cy="961802"/>
          </a:xfrm>
          <a:prstGeom prst="rect">
            <a:avLst/>
          </a:prstGeom>
          <a:noFill/>
        </p:spPr>
        <p:txBody>
          <a:bodyPr wrap="square">
            <a:spAutoFit/>
          </a:bodyPr>
          <a:lstStyle/>
          <a:p>
            <a:pPr marL="9525"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Light" panose="020F0302020204030204"/>
                <a:ea typeface="+mn-ea"/>
                <a:cs typeface="+mn-cs"/>
              </a:rPr>
              <a:t>Introduction</a:t>
            </a:r>
            <a:endParaRPr kumimoji="0" lang="en-US" sz="1400" b="0" i="0" u="none" strike="noStrike" kern="1200" cap="none" spc="0" normalizeH="0" baseline="0" noProof="0" dirty="0">
              <a:ln>
                <a:noFill/>
              </a:ln>
              <a:solidFill>
                <a:prstClr val="black"/>
              </a:solidFill>
              <a:effectLst/>
              <a:uLnTx/>
              <a:uFillTx/>
              <a:latin typeface="Calibri Light" panose="020F0302020204030204"/>
              <a:ea typeface="+mn-ea"/>
              <a:cs typeface="+mn-cs"/>
            </a:endParaRPr>
          </a:p>
          <a:p>
            <a:pPr marL="9525" marR="0" lvl="2"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Light" panose="020F0302020204030204"/>
                <a:ea typeface="+mn-ea"/>
                <a:cs typeface="+mn-cs"/>
              </a:rPr>
              <a:t>Describes ORD’s mission, vision, and priorities, and task to develop a strategic plan, its purpose, to include specified and implied requirements that need to be considered within the plan.</a:t>
            </a:r>
          </a:p>
          <a:p>
            <a:pPr marL="9525" marR="0" lvl="2"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Calibri Light" panose="020F0302020204030204"/>
              <a:ea typeface="+mn-ea"/>
              <a:cs typeface="+mn-cs"/>
            </a:endParaRPr>
          </a:p>
          <a:p>
            <a:pPr marL="9525" marR="0" lvl="2"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
        <p:nvSpPr>
          <p:cNvPr id="102" name="TextBox 101">
            <a:extLst>
              <a:ext uri="{FF2B5EF4-FFF2-40B4-BE49-F238E27FC236}">
                <a16:creationId xmlns:a16="http://schemas.microsoft.com/office/drawing/2014/main" id="{69901290-17CB-557D-9F9C-FC6964422311}"/>
              </a:ext>
            </a:extLst>
          </p:cNvPr>
          <p:cNvSpPr txBox="1"/>
          <p:nvPr/>
        </p:nvSpPr>
        <p:spPr>
          <a:xfrm>
            <a:off x="6346673" y="4063363"/>
            <a:ext cx="5568321" cy="815608"/>
          </a:xfrm>
          <a:prstGeom prst="rect">
            <a:avLst/>
          </a:prstGeom>
          <a:noFill/>
        </p:spPr>
        <p:txBody>
          <a:bodyPr wrap="square">
            <a:spAutoFit/>
          </a:bodyPr>
          <a:lstStyle/>
          <a:p>
            <a:pPr marL="9525" marR="0" lvl="1"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Light" panose="020F0302020204030204"/>
                <a:ea typeface="+mn-ea"/>
                <a:cs typeface="+mn-cs"/>
              </a:rPr>
              <a:t>Objectives and Solutions</a:t>
            </a:r>
          </a:p>
          <a:p>
            <a:pPr marL="9525" marR="0" lvl="1"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Light" panose="020F0302020204030204"/>
                <a:ea typeface="+mn-ea"/>
                <a:cs typeface="+mn-cs"/>
              </a:rPr>
              <a:t>Provides and describes a set of clearly defined, decisive, and attainable goals (objectives) that are measurable and time-bound to move towards a stated condition(s); and can provides actionable solutions to meet achieve those </a:t>
            </a:r>
            <a:r>
              <a:rPr kumimoji="0" lang="en-US" sz="1100" b="0" i="0" u="none" strike="noStrike" kern="1200" cap="none" spc="0" normalizeH="0" baseline="0" noProof="0">
                <a:ln>
                  <a:noFill/>
                </a:ln>
                <a:solidFill>
                  <a:prstClr val="black"/>
                </a:solidFill>
                <a:effectLst/>
                <a:uLnTx/>
                <a:uFillTx/>
                <a:latin typeface="Calibri Light" panose="020F0302020204030204"/>
                <a:ea typeface="+mn-ea"/>
                <a:cs typeface="+mn-cs"/>
              </a:rPr>
              <a:t>objectives.</a:t>
            </a:r>
            <a:endParaRPr kumimoji="0" lang="en-US" sz="11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
        <p:nvSpPr>
          <p:cNvPr id="104" name="TextBox 103">
            <a:extLst>
              <a:ext uri="{FF2B5EF4-FFF2-40B4-BE49-F238E27FC236}">
                <a16:creationId xmlns:a16="http://schemas.microsoft.com/office/drawing/2014/main" id="{52687CCC-6700-074F-D43A-318EFEAA135D}"/>
              </a:ext>
            </a:extLst>
          </p:cNvPr>
          <p:cNvSpPr txBox="1"/>
          <p:nvPr/>
        </p:nvSpPr>
        <p:spPr>
          <a:xfrm>
            <a:off x="6346673" y="4980263"/>
            <a:ext cx="5568321" cy="800219"/>
          </a:xfrm>
          <a:prstGeom prst="rect">
            <a:avLst/>
          </a:prstGeom>
          <a:noFill/>
        </p:spPr>
        <p:txBody>
          <a:bodyPr wrap="square">
            <a:spAutoFit/>
          </a:bodyPr>
          <a:lstStyle/>
          <a:p>
            <a:pPr marL="9525" marR="0" lvl="1"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Light" panose="020F0302020204030204"/>
                <a:ea typeface="+mn-ea"/>
                <a:cs typeface="+mn-cs"/>
              </a:rPr>
              <a:t>Resources and Risks</a:t>
            </a:r>
          </a:p>
          <a:p>
            <a:pPr marL="9525" marR="0" lvl="2"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Light" panose="020F0302020204030204"/>
                <a:ea typeface="+mn-ea"/>
                <a:cs typeface="+mn-cs"/>
              </a:rPr>
              <a:t>Describes the resources required needed to support the objectives; and describes the risk of failure or unacceptable consequences in taking, or not taking, a specific objective.</a:t>
            </a:r>
            <a:endParaRPr kumimoji="0" lang="en-US" sz="1100" b="0" i="0" u="none" strike="noStrike" kern="1200" cap="none" spc="0" normalizeH="0" baseline="0" noProof="0" dirty="0">
              <a:ln>
                <a:noFill/>
              </a:ln>
              <a:solidFill>
                <a:prstClr val="black"/>
              </a:solidFill>
              <a:effectLst/>
              <a:uLnTx/>
              <a:uFillTx/>
              <a:latin typeface="Calibri Light" panose="020F0302020204030204"/>
              <a:ea typeface="+mn-ea"/>
              <a:cs typeface="+mn-cs"/>
            </a:endParaRPr>
          </a:p>
          <a:p>
            <a:pPr marL="9525" marR="0" lvl="2"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
        <p:nvSpPr>
          <p:cNvPr id="106" name="TextBox 105">
            <a:extLst>
              <a:ext uri="{FF2B5EF4-FFF2-40B4-BE49-F238E27FC236}">
                <a16:creationId xmlns:a16="http://schemas.microsoft.com/office/drawing/2014/main" id="{4F97648E-97FD-A23E-001C-572EEF32300A}"/>
              </a:ext>
            </a:extLst>
          </p:cNvPr>
          <p:cNvSpPr txBox="1"/>
          <p:nvPr/>
        </p:nvSpPr>
        <p:spPr>
          <a:xfrm>
            <a:off x="6346669" y="5871306"/>
            <a:ext cx="5568321" cy="954107"/>
          </a:xfrm>
          <a:prstGeom prst="rect">
            <a:avLst/>
          </a:prstGeom>
          <a:noFill/>
        </p:spPr>
        <p:txBody>
          <a:bodyPr wrap="square">
            <a:spAutoFit/>
          </a:bodyPr>
          <a:lstStyle/>
          <a:p>
            <a:pPr marL="9525" marR="0" lvl="1"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Light" panose="020F0302020204030204"/>
                <a:ea typeface="+mn-ea"/>
                <a:cs typeface="+mn-cs"/>
              </a:rPr>
              <a:t>Assessment</a:t>
            </a:r>
          </a:p>
          <a:p>
            <a:pPr marL="9525" marR="0" lvl="2"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Light" panose="020F0302020204030204"/>
                <a:ea typeface="+mn-ea"/>
                <a:cs typeface="+mn-cs"/>
              </a:rPr>
              <a:t>Describes the Measures of Effectiveness (MOE) that indicate a change of the state of the environment over time (conditions) to assess if we doing the right things; and describes the Measures of Performance (MOP) that indicate progress towards achieving an objective over </a:t>
            </a:r>
            <a:br>
              <a:rPr kumimoji="0" lang="en-US" sz="1050" b="0" i="0" u="none" strike="noStrike" kern="1200" cap="none" spc="0" normalizeH="0" baseline="0" noProof="0" dirty="0">
                <a:ln>
                  <a:noFill/>
                </a:ln>
                <a:solidFill>
                  <a:prstClr val="black"/>
                </a:solidFill>
                <a:effectLst/>
                <a:uLnTx/>
                <a:uFillTx/>
                <a:latin typeface="Calibri Light" panose="020F0302020204030204"/>
                <a:ea typeface="+mn-ea"/>
                <a:cs typeface="+mn-cs"/>
              </a:rPr>
            </a:br>
            <a:r>
              <a:rPr kumimoji="0" lang="en-US" sz="1050" b="0" i="0" u="none" strike="noStrike" kern="1200" cap="none" spc="0" normalizeH="0" baseline="0" noProof="0" dirty="0">
                <a:ln>
                  <a:noFill/>
                </a:ln>
                <a:solidFill>
                  <a:prstClr val="black"/>
                </a:solidFill>
                <a:effectLst/>
                <a:uLnTx/>
                <a:uFillTx/>
                <a:latin typeface="Calibri Light" panose="020F0302020204030204"/>
                <a:ea typeface="+mn-ea"/>
                <a:cs typeface="+mn-cs"/>
              </a:rPr>
              <a:t>time to assess if we are doing things right.</a:t>
            </a:r>
          </a:p>
        </p:txBody>
      </p:sp>
      <p:sp>
        <p:nvSpPr>
          <p:cNvPr id="4" name="Right Arrow 3">
            <a:extLst>
              <a:ext uri="{FF2B5EF4-FFF2-40B4-BE49-F238E27FC236}">
                <a16:creationId xmlns:a16="http://schemas.microsoft.com/office/drawing/2014/main" id="{E43C42A6-A3AC-E758-99E7-295A911A0440}"/>
              </a:ext>
            </a:extLst>
          </p:cNvPr>
          <p:cNvSpPr/>
          <p:nvPr/>
        </p:nvSpPr>
        <p:spPr>
          <a:xfrm rot="2037630" flipH="1">
            <a:off x="4727415" y="1927729"/>
            <a:ext cx="1647367" cy="738933"/>
          </a:xfrm>
          <a:prstGeom prst="rightArrow">
            <a:avLst>
              <a:gd name="adj1" fmla="val 71047"/>
              <a:gd name="adj2" fmla="val 50000"/>
            </a:avLst>
          </a:prstGeom>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We are Here</a:t>
            </a:r>
          </a:p>
        </p:txBody>
      </p:sp>
      <p:cxnSp>
        <p:nvCxnSpPr>
          <p:cNvPr id="6" name="Straight Arrow Connector 45">
            <a:extLst>
              <a:ext uri="{FF2B5EF4-FFF2-40B4-BE49-F238E27FC236}">
                <a16:creationId xmlns:a16="http://schemas.microsoft.com/office/drawing/2014/main" id="{C833A576-D3E8-0241-720B-A1D301618FFA}"/>
              </a:ext>
            </a:extLst>
          </p:cNvPr>
          <p:cNvCxnSpPr>
            <a:cxnSpLocks/>
            <a:stCxn id="32" idx="0"/>
            <a:endCxn id="102" idx="1"/>
          </p:cNvCxnSpPr>
          <p:nvPr/>
        </p:nvCxnSpPr>
        <p:spPr>
          <a:xfrm>
            <a:off x="5845322" y="3513580"/>
            <a:ext cx="501351" cy="957587"/>
          </a:xfrm>
          <a:prstGeom prst="bentConnector3">
            <a:avLst>
              <a:gd name="adj1" fmla="val 50000"/>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37" name="Slide Number Placeholder 2">
            <a:extLst>
              <a:ext uri="{FF2B5EF4-FFF2-40B4-BE49-F238E27FC236}">
                <a16:creationId xmlns:a16="http://schemas.microsoft.com/office/drawing/2014/main" id="{95BDAD40-4093-E5F1-8647-8B9BDCA6611D}"/>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115744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Title 1">
            <a:extLst>
              <a:ext uri="{FF2B5EF4-FFF2-40B4-BE49-F238E27FC236}">
                <a16:creationId xmlns:a16="http://schemas.microsoft.com/office/drawing/2014/main" id="{C11379C3-25C9-A7A7-EA21-03DFDA7C25A5}"/>
              </a:ext>
            </a:extLst>
          </p:cNvPr>
          <p:cNvSpPr>
            <a:spLocks noGrp="1"/>
          </p:cNvSpPr>
          <p:nvPr>
            <p:ph type="title"/>
          </p:nvPr>
        </p:nvSpPr>
        <p:spPr>
          <a:xfrm>
            <a:off x="390524" y="97245"/>
            <a:ext cx="11633309" cy="680223"/>
          </a:xfrm>
        </p:spPr>
        <p:txBody>
          <a:bodyPr/>
          <a:lstStyle/>
          <a:p>
            <a:r>
              <a:rPr lang="en-US" dirty="0"/>
              <a:t>System-of-Systems: </a:t>
            </a:r>
            <a:r>
              <a:rPr lang="en-US" sz="3200" dirty="0"/>
              <a:t>Framework for understanding environment</a:t>
            </a:r>
            <a:endParaRPr lang="en-US" dirty="0"/>
          </a:p>
        </p:txBody>
      </p:sp>
      <p:sp>
        <p:nvSpPr>
          <p:cNvPr id="166" name="Rectangle 165">
            <a:extLst>
              <a:ext uri="{FF2B5EF4-FFF2-40B4-BE49-F238E27FC236}">
                <a16:creationId xmlns:a16="http://schemas.microsoft.com/office/drawing/2014/main" id="{49B4C43E-3872-CAEA-6085-E2C3F17E1956}"/>
              </a:ext>
            </a:extLst>
          </p:cNvPr>
          <p:cNvSpPr/>
          <p:nvPr/>
        </p:nvSpPr>
        <p:spPr>
          <a:xfrm>
            <a:off x="10201230" y="5681875"/>
            <a:ext cx="1409243" cy="332883"/>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Calibri Light" panose="020F0302020204030204"/>
                <a:ea typeface="Source Sans Pro Light" panose="020B0403030403020204" pitchFamily="34" charset="0"/>
                <a:cs typeface="Times New Roman" panose="02020603050405020304" pitchFamily="18" charset="0"/>
              </a:rPr>
              <a:t>Area of Operations</a:t>
            </a:r>
            <a:endParaRPr kumimoji="0" lang="en-US" sz="1200" b="0" i="0" u="none" strike="noStrike" kern="1200" cap="none" spc="0" normalizeH="0" baseline="0" noProof="0">
              <a:ln>
                <a:noFill/>
              </a:ln>
              <a:solidFill>
                <a:prstClr val="white"/>
              </a:solidFill>
              <a:effectLst/>
              <a:uLnTx/>
              <a:uFillTx/>
              <a:latin typeface="Calibri Light" panose="020F0302020204030204"/>
              <a:ea typeface="Times New Roman" panose="02020603050405020304" pitchFamily="18" charset="0"/>
              <a:cs typeface="+mn-cs"/>
            </a:endParaRPr>
          </a:p>
        </p:txBody>
      </p:sp>
      <p:grpSp>
        <p:nvGrpSpPr>
          <p:cNvPr id="167" name="Group 166">
            <a:extLst>
              <a:ext uri="{FF2B5EF4-FFF2-40B4-BE49-F238E27FC236}">
                <a16:creationId xmlns:a16="http://schemas.microsoft.com/office/drawing/2014/main" id="{DE180BF5-6872-D2D1-8B71-6DDB70553CB9}"/>
              </a:ext>
            </a:extLst>
          </p:cNvPr>
          <p:cNvGrpSpPr/>
          <p:nvPr/>
        </p:nvGrpSpPr>
        <p:grpSpPr>
          <a:xfrm>
            <a:off x="628650" y="1861301"/>
            <a:ext cx="10877614" cy="3717069"/>
            <a:chOff x="0" y="1004523"/>
            <a:chExt cx="8465116" cy="2949521"/>
          </a:xfrm>
        </p:grpSpPr>
        <p:sp>
          <p:nvSpPr>
            <p:cNvPr id="207" name="Rectangle 206">
              <a:extLst>
                <a:ext uri="{FF2B5EF4-FFF2-40B4-BE49-F238E27FC236}">
                  <a16:creationId xmlns:a16="http://schemas.microsoft.com/office/drawing/2014/main" id="{A9631303-61C5-FA94-B5FF-7171E3350F1C}"/>
                </a:ext>
              </a:extLst>
            </p:cNvPr>
            <p:cNvSpPr/>
            <p:nvPr/>
          </p:nvSpPr>
          <p:spPr>
            <a:xfrm>
              <a:off x="0" y="1004523"/>
              <a:ext cx="709656" cy="326482"/>
            </a:xfrm>
            <a:prstGeom prst="rect">
              <a:avLst/>
            </a:prstGeom>
            <a:solidFill>
              <a:srgbClr val="FBE6D6"/>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08" name="Rectangle 207">
              <a:extLst>
                <a:ext uri="{FF2B5EF4-FFF2-40B4-BE49-F238E27FC236}">
                  <a16:creationId xmlns:a16="http://schemas.microsoft.com/office/drawing/2014/main" id="{8EB0411A-2D02-1BBE-CB7A-CD9556D2504D}"/>
                </a:ext>
              </a:extLst>
            </p:cNvPr>
            <p:cNvSpPr/>
            <p:nvPr/>
          </p:nvSpPr>
          <p:spPr>
            <a:xfrm>
              <a:off x="0" y="1331289"/>
              <a:ext cx="709656" cy="326482"/>
            </a:xfrm>
            <a:prstGeom prst="rect">
              <a:avLst/>
            </a:prstGeom>
            <a:solidFill>
              <a:srgbClr val="FFF2CC"/>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09" name="Rectangle 208">
              <a:extLst>
                <a:ext uri="{FF2B5EF4-FFF2-40B4-BE49-F238E27FC236}">
                  <a16:creationId xmlns:a16="http://schemas.microsoft.com/office/drawing/2014/main" id="{E004060E-C4E4-14B4-2A85-40247258E16F}"/>
                </a:ext>
              </a:extLst>
            </p:cNvPr>
            <p:cNvSpPr/>
            <p:nvPr/>
          </p:nvSpPr>
          <p:spPr>
            <a:xfrm>
              <a:off x="703349" y="1004523"/>
              <a:ext cx="709656" cy="326482"/>
            </a:xfrm>
            <a:prstGeom prst="rect">
              <a:avLst/>
            </a:prstGeom>
            <a:solidFill>
              <a:srgbClr val="DFEBF7"/>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10" name="Rectangle 209">
              <a:extLst>
                <a:ext uri="{FF2B5EF4-FFF2-40B4-BE49-F238E27FC236}">
                  <a16:creationId xmlns:a16="http://schemas.microsoft.com/office/drawing/2014/main" id="{F6AB17F7-8550-8B1C-CEDB-721BB8F27D9A}"/>
                </a:ext>
              </a:extLst>
            </p:cNvPr>
            <p:cNvSpPr/>
            <p:nvPr/>
          </p:nvSpPr>
          <p:spPr>
            <a:xfrm>
              <a:off x="703349" y="1331289"/>
              <a:ext cx="709656" cy="326482"/>
            </a:xfrm>
            <a:prstGeom prst="rect">
              <a:avLst/>
            </a:prstGeom>
            <a:solidFill>
              <a:srgbClr val="E4F0DB"/>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11" name="Rectangle 210">
              <a:extLst>
                <a:ext uri="{FF2B5EF4-FFF2-40B4-BE49-F238E27FC236}">
                  <a16:creationId xmlns:a16="http://schemas.microsoft.com/office/drawing/2014/main" id="{2C79CAB2-AEAB-A4E2-BB39-2704CE91A0D1}"/>
                </a:ext>
              </a:extLst>
            </p:cNvPr>
            <p:cNvSpPr/>
            <p:nvPr/>
          </p:nvSpPr>
          <p:spPr>
            <a:xfrm>
              <a:off x="1409851" y="1004523"/>
              <a:ext cx="709656" cy="326482"/>
            </a:xfrm>
            <a:prstGeom prst="rect">
              <a:avLst/>
            </a:prstGeom>
            <a:solidFill>
              <a:srgbClr val="FBE6D6"/>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12" name="Rectangle 211">
              <a:extLst>
                <a:ext uri="{FF2B5EF4-FFF2-40B4-BE49-F238E27FC236}">
                  <a16:creationId xmlns:a16="http://schemas.microsoft.com/office/drawing/2014/main" id="{99873AD5-3269-FFA8-2DB5-1C712A8348A5}"/>
                </a:ext>
              </a:extLst>
            </p:cNvPr>
            <p:cNvSpPr/>
            <p:nvPr/>
          </p:nvSpPr>
          <p:spPr>
            <a:xfrm>
              <a:off x="1409851" y="1331289"/>
              <a:ext cx="709656" cy="326482"/>
            </a:xfrm>
            <a:prstGeom prst="rect">
              <a:avLst/>
            </a:prstGeom>
            <a:solidFill>
              <a:srgbClr val="FFF2CC"/>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13" name="Rectangle 212">
              <a:extLst>
                <a:ext uri="{FF2B5EF4-FFF2-40B4-BE49-F238E27FC236}">
                  <a16:creationId xmlns:a16="http://schemas.microsoft.com/office/drawing/2014/main" id="{22B52E20-99A7-C805-F2C3-E3448F6B4320}"/>
                </a:ext>
              </a:extLst>
            </p:cNvPr>
            <p:cNvSpPr/>
            <p:nvPr/>
          </p:nvSpPr>
          <p:spPr>
            <a:xfrm>
              <a:off x="2113199" y="1004523"/>
              <a:ext cx="709656" cy="326482"/>
            </a:xfrm>
            <a:prstGeom prst="rect">
              <a:avLst/>
            </a:prstGeom>
            <a:solidFill>
              <a:srgbClr val="DFEBF7"/>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14" name="Rectangle 213">
              <a:extLst>
                <a:ext uri="{FF2B5EF4-FFF2-40B4-BE49-F238E27FC236}">
                  <a16:creationId xmlns:a16="http://schemas.microsoft.com/office/drawing/2014/main" id="{7C30D9E0-FEDE-0A1B-EC1C-F733D3893218}"/>
                </a:ext>
              </a:extLst>
            </p:cNvPr>
            <p:cNvSpPr/>
            <p:nvPr/>
          </p:nvSpPr>
          <p:spPr>
            <a:xfrm>
              <a:off x="2113199" y="1331289"/>
              <a:ext cx="709656" cy="326482"/>
            </a:xfrm>
            <a:prstGeom prst="rect">
              <a:avLst/>
            </a:prstGeom>
            <a:solidFill>
              <a:srgbClr val="E4F0DB"/>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15" name="Rectangle 214">
              <a:extLst>
                <a:ext uri="{FF2B5EF4-FFF2-40B4-BE49-F238E27FC236}">
                  <a16:creationId xmlns:a16="http://schemas.microsoft.com/office/drawing/2014/main" id="{EE15A7A8-9C8A-EC6C-DC8F-7013DBAB4138}"/>
                </a:ext>
              </a:extLst>
            </p:cNvPr>
            <p:cNvSpPr/>
            <p:nvPr/>
          </p:nvSpPr>
          <p:spPr>
            <a:xfrm>
              <a:off x="2813395" y="1004523"/>
              <a:ext cx="709656" cy="326482"/>
            </a:xfrm>
            <a:prstGeom prst="rect">
              <a:avLst/>
            </a:prstGeom>
            <a:solidFill>
              <a:srgbClr val="FBE6D6"/>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16" name="Rectangle 215">
              <a:extLst>
                <a:ext uri="{FF2B5EF4-FFF2-40B4-BE49-F238E27FC236}">
                  <a16:creationId xmlns:a16="http://schemas.microsoft.com/office/drawing/2014/main" id="{13049CA2-710A-F8C8-E6F7-7F0F40E532CD}"/>
                </a:ext>
              </a:extLst>
            </p:cNvPr>
            <p:cNvSpPr/>
            <p:nvPr/>
          </p:nvSpPr>
          <p:spPr>
            <a:xfrm>
              <a:off x="2813395" y="1331289"/>
              <a:ext cx="709656" cy="326482"/>
            </a:xfrm>
            <a:prstGeom prst="rect">
              <a:avLst/>
            </a:prstGeom>
            <a:solidFill>
              <a:srgbClr val="FFF2CC"/>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17" name="Rectangle 216">
              <a:extLst>
                <a:ext uri="{FF2B5EF4-FFF2-40B4-BE49-F238E27FC236}">
                  <a16:creationId xmlns:a16="http://schemas.microsoft.com/office/drawing/2014/main" id="{D40695E0-76E3-9DD0-6F70-AF297E17A1E7}"/>
                </a:ext>
              </a:extLst>
            </p:cNvPr>
            <p:cNvSpPr/>
            <p:nvPr/>
          </p:nvSpPr>
          <p:spPr>
            <a:xfrm>
              <a:off x="3516743" y="1004523"/>
              <a:ext cx="709656" cy="326482"/>
            </a:xfrm>
            <a:prstGeom prst="rect">
              <a:avLst/>
            </a:prstGeom>
            <a:solidFill>
              <a:srgbClr val="DFEBF7"/>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18" name="Rectangle 217">
              <a:extLst>
                <a:ext uri="{FF2B5EF4-FFF2-40B4-BE49-F238E27FC236}">
                  <a16:creationId xmlns:a16="http://schemas.microsoft.com/office/drawing/2014/main" id="{4EBBD235-D2E1-645A-F1CB-FAB95C85498B}"/>
                </a:ext>
              </a:extLst>
            </p:cNvPr>
            <p:cNvSpPr/>
            <p:nvPr/>
          </p:nvSpPr>
          <p:spPr>
            <a:xfrm>
              <a:off x="3516743" y="1331289"/>
              <a:ext cx="709656" cy="326482"/>
            </a:xfrm>
            <a:prstGeom prst="rect">
              <a:avLst/>
            </a:prstGeom>
            <a:solidFill>
              <a:srgbClr val="E4F0DB"/>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19" name="Rectangle 218">
              <a:extLst>
                <a:ext uri="{FF2B5EF4-FFF2-40B4-BE49-F238E27FC236}">
                  <a16:creationId xmlns:a16="http://schemas.microsoft.com/office/drawing/2014/main" id="{0E6F71E3-2C24-66F0-5130-E8FCF40FE916}"/>
                </a:ext>
              </a:extLst>
            </p:cNvPr>
            <p:cNvSpPr/>
            <p:nvPr/>
          </p:nvSpPr>
          <p:spPr>
            <a:xfrm>
              <a:off x="4223245" y="1004523"/>
              <a:ext cx="709656" cy="326482"/>
            </a:xfrm>
            <a:prstGeom prst="rect">
              <a:avLst/>
            </a:prstGeom>
            <a:solidFill>
              <a:srgbClr val="FBE6D6"/>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20" name="Rectangle 219">
              <a:extLst>
                <a:ext uri="{FF2B5EF4-FFF2-40B4-BE49-F238E27FC236}">
                  <a16:creationId xmlns:a16="http://schemas.microsoft.com/office/drawing/2014/main" id="{4FBD78D5-B4FA-9F9A-E853-35ED22438F48}"/>
                </a:ext>
              </a:extLst>
            </p:cNvPr>
            <p:cNvSpPr/>
            <p:nvPr/>
          </p:nvSpPr>
          <p:spPr>
            <a:xfrm>
              <a:off x="4223245" y="1331289"/>
              <a:ext cx="709656" cy="326482"/>
            </a:xfrm>
            <a:prstGeom prst="rect">
              <a:avLst/>
            </a:prstGeom>
            <a:solidFill>
              <a:srgbClr val="FFF2CC"/>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21" name="Rectangle 220">
              <a:extLst>
                <a:ext uri="{FF2B5EF4-FFF2-40B4-BE49-F238E27FC236}">
                  <a16:creationId xmlns:a16="http://schemas.microsoft.com/office/drawing/2014/main" id="{E82E871B-4DB6-24E9-DFCD-B56FDFF94EAF}"/>
                </a:ext>
              </a:extLst>
            </p:cNvPr>
            <p:cNvSpPr/>
            <p:nvPr/>
          </p:nvSpPr>
          <p:spPr>
            <a:xfrm>
              <a:off x="4926594" y="1004523"/>
              <a:ext cx="709656" cy="326482"/>
            </a:xfrm>
            <a:prstGeom prst="rect">
              <a:avLst/>
            </a:prstGeom>
            <a:solidFill>
              <a:srgbClr val="DFEBF7"/>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22" name="Rectangle 221">
              <a:extLst>
                <a:ext uri="{FF2B5EF4-FFF2-40B4-BE49-F238E27FC236}">
                  <a16:creationId xmlns:a16="http://schemas.microsoft.com/office/drawing/2014/main" id="{FA13B9F4-5BCE-8AB7-B2CE-B1A13667108B}"/>
                </a:ext>
              </a:extLst>
            </p:cNvPr>
            <p:cNvSpPr/>
            <p:nvPr/>
          </p:nvSpPr>
          <p:spPr>
            <a:xfrm>
              <a:off x="4926594" y="1331289"/>
              <a:ext cx="709656" cy="326482"/>
            </a:xfrm>
            <a:prstGeom prst="rect">
              <a:avLst/>
            </a:prstGeom>
            <a:solidFill>
              <a:srgbClr val="E4F0DB"/>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23" name="Rectangle 222">
              <a:extLst>
                <a:ext uri="{FF2B5EF4-FFF2-40B4-BE49-F238E27FC236}">
                  <a16:creationId xmlns:a16="http://schemas.microsoft.com/office/drawing/2014/main" id="{02243485-F926-B286-B13C-68F982E2D6D7}"/>
                </a:ext>
              </a:extLst>
            </p:cNvPr>
            <p:cNvSpPr/>
            <p:nvPr/>
          </p:nvSpPr>
          <p:spPr>
            <a:xfrm>
              <a:off x="5642260" y="1004523"/>
              <a:ext cx="709656" cy="326482"/>
            </a:xfrm>
            <a:prstGeom prst="rect">
              <a:avLst/>
            </a:prstGeom>
            <a:solidFill>
              <a:srgbClr val="FBE6D6"/>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24" name="Rectangle 223">
              <a:extLst>
                <a:ext uri="{FF2B5EF4-FFF2-40B4-BE49-F238E27FC236}">
                  <a16:creationId xmlns:a16="http://schemas.microsoft.com/office/drawing/2014/main" id="{0A992E89-F8E4-7650-4AD4-5A1D54300E3A}"/>
                </a:ext>
              </a:extLst>
            </p:cNvPr>
            <p:cNvSpPr/>
            <p:nvPr/>
          </p:nvSpPr>
          <p:spPr>
            <a:xfrm>
              <a:off x="5642260" y="1331289"/>
              <a:ext cx="709656" cy="326482"/>
            </a:xfrm>
            <a:prstGeom prst="rect">
              <a:avLst/>
            </a:prstGeom>
            <a:solidFill>
              <a:srgbClr val="FFF2CC"/>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25" name="Rectangle 224">
              <a:extLst>
                <a:ext uri="{FF2B5EF4-FFF2-40B4-BE49-F238E27FC236}">
                  <a16:creationId xmlns:a16="http://schemas.microsoft.com/office/drawing/2014/main" id="{74C7FF09-E240-8C38-8326-9518F91A2613}"/>
                </a:ext>
              </a:extLst>
            </p:cNvPr>
            <p:cNvSpPr/>
            <p:nvPr/>
          </p:nvSpPr>
          <p:spPr>
            <a:xfrm>
              <a:off x="6345609" y="1004523"/>
              <a:ext cx="709656" cy="326482"/>
            </a:xfrm>
            <a:prstGeom prst="rect">
              <a:avLst/>
            </a:prstGeom>
            <a:solidFill>
              <a:srgbClr val="DFEBF7"/>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26" name="Rectangle 225">
              <a:extLst>
                <a:ext uri="{FF2B5EF4-FFF2-40B4-BE49-F238E27FC236}">
                  <a16:creationId xmlns:a16="http://schemas.microsoft.com/office/drawing/2014/main" id="{4EE8D28C-E827-2D64-CAE2-8964072809F5}"/>
                </a:ext>
              </a:extLst>
            </p:cNvPr>
            <p:cNvSpPr/>
            <p:nvPr/>
          </p:nvSpPr>
          <p:spPr>
            <a:xfrm>
              <a:off x="6345609" y="1331289"/>
              <a:ext cx="709656" cy="326482"/>
            </a:xfrm>
            <a:prstGeom prst="rect">
              <a:avLst/>
            </a:prstGeom>
            <a:solidFill>
              <a:srgbClr val="E4F0DB"/>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27" name="Rectangle 226">
              <a:extLst>
                <a:ext uri="{FF2B5EF4-FFF2-40B4-BE49-F238E27FC236}">
                  <a16:creationId xmlns:a16="http://schemas.microsoft.com/office/drawing/2014/main" id="{CEFCE1C4-C73D-6D85-027A-26E5C0AEBEB9}"/>
                </a:ext>
              </a:extLst>
            </p:cNvPr>
            <p:cNvSpPr/>
            <p:nvPr/>
          </p:nvSpPr>
          <p:spPr>
            <a:xfrm>
              <a:off x="7052111" y="1004523"/>
              <a:ext cx="709656" cy="326482"/>
            </a:xfrm>
            <a:prstGeom prst="rect">
              <a:avLst/>
            </a:prstGeom>
            <a:solidFill>
              <a:srgbClr val="FBE6D6"/>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28" name="Rectangle 227">
              <a:extLst>
                <a:ext uri="{FF2B5EF4-FFF2-40B4-BE49-F238E27FC236}">
                  <a16:creationId xmlns:a16="http://schemas.microsoft.com/office/drawing/2014/main" id="{09EE6FFF-15E3-829E-7441-611AD5EAD644}"/>
                </a:ext>
              </a:extLst>
            </p:cNvPr>
            <p:cNvSpPr/>
            <p:nvPr/>
          </p:nvSpPr>
          <p:spPr>
            <a:xfrm>
              <a:off x="7052111" y="1331289"/>
              <a:ext cx="709656" cy="326482"/>
            </a:xfrm>
            <a:prstGeom prst="rect">
              <a:avLst/>
            </a:prstGeom>
            <a:solidFill>
              <a:srgbClr val="FFF2CC"/>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29" name="Rectangle 228">
              <a:extLst>
                <a:ext uri="{FF2B5EF4-FFF2-40B4-BE49-F238E27FC236}">
                  <a16:creationId xmlns:a16="http://schemas.microsoft.com/office/drawing/2014/main" id="{477F006A-2F3C-7821-144A-98C4AB1045F3}"/>
                </a:ext>
              </a:extLst>
            </p:cNvPr>
            <p:cNvSpPr/>
            <p:nvPr/>
          </p:nvSpPr>
          <p:spPr>
            <a:xfrm>
              <a:off x="7755460" y="1004523"/>
              <a:ext cx="709656" cy="326482"/>
            </a:xfrm>
            <a:prstGeom prst="rect">
              <a:avLst/>
            </a:prstGeom>
            <a:solidFill>
              <a:srgbClr val="DFEBF7"/>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30" name="Rectangle 229">
              <a:extLst>
                <a:ext uri="{FF2B5EF4-FFF2-40B4-BE49-F238E27FC236}">
                  <a16:creationId xmlns:a16="http://schemas.microsoft.com/office/drawing/2014/main" id="{4847D838-A02E-47D6-17EF-F2294FC8B271}"/>
                </a:ext>
              </a:extLst>
            </p:cNvPr>
            <p:cNvSpPr/>
            <p:nvPr/>
          </p:nvSpPr>
          <p:spPr>
            <a:xfrm>
              <a:off x="7755460" y="1331289"/>
              <a:ext cx="709656" cy="326482"/>
            </a:xfrm>
            <a:prstGeom prst="rect">
              <a:avLst/>
            </a:prstGeom>
            <a:solidFill>
              <a:srgbClr val="E4F0DB"/>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31" name="Rectangle 230">
              <a:extLst>
                <a:ext uri="{FF2B5EF4-FFF2-40B4-BE49-F238E27FC236}">
                  <a16:creationId xmlns:a16="http://schemas.microsoft.com/office/drawing/2014/main" id="{90E39803-1F4B-048A-6317-EE21F74636F0}"/>
                </a:ext>
              </a:extLst>
            </p:cNvPr>
            <p:cNvSpPr/>
            <p:nvPr/>
          </p:nvSpPr>
          <p:spPr>
            <a:xfrm>
              <a:off x="0" y="1663021"/>
              <a:ext cx="709656" cy="326482"/>
            </a:xfrm>
            <a:prstGeom prst="rect">
              <a:avLst/>
            </a:prstGeom>
            <a:solidFill>
              <a:srgbClr val="FBE6D6"/>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32" name="Rectangle 231">
              <a:extLst>
                <a:ext uri="{FF2B5EF4-FFF2-40B4-BE49-F238E27FC236}">
                  <a16:creationId xmlns:a16="http://schemas.microsoft.com/office/drawing/2014/main" id="{7EE08F43-7A4E-30EA-C7C2-99814ED4C91A}"/>
                </a:ext>
              </a:extLst>
            </p:cNvPr>
            <p:cNvSpPr/>
            <p:nvPr/>
          </p:nvSpPr>
          <p:spPr>
            <a:xfrm>
              <a:off x="0" y="1989787"/>
              <a:ext cx="709656" cy="326482"/>
            </a:xfrm>
            <a:prstGeom prst="rect">
              <a:avLst/>
            </a:prstGeom>
            <a:solidFill>
              <a:srgbClr val="FFF2CC"/>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33" name="Rectangle 232">
              <a:extLst>
                <a:ext uri="{FF2B5EF4-FFF2-40B4-BE49-F238E27FC236}">
                  <a16:creationId xmlns:a16="http://schemas.microsoft.com/office/drawing/2014/main" id="{7BC41A3F-82E3-34AF-26F0-4B225FCEF32C}"/>
                </a:ext>
              </a:extLst>
            </p:cNvPr>
            <p:cNvSpPr/>
            <p:nvPr/>
          </p:nvSpPr>
          <p:spPr>
            <a:xfrm>
              <a:off x="703349" y="1663021"/>
              <a:ext cx="709656" cy="326482"/>
            </a:xfrm>
            <a:prstGeom prst="rect">
              <a:avLst/>
            </a:prstGeom>
            <a:solidFill>
              <a:srgbClr val="DFEBF7"/>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34" name="Rectangle 233">
              <a:extLst>
                <a:ext uri="{FF2B5EF4-FFF2-40B4-BE49-F238E27FC236}">
                  <a16:creationId xmlns:a16="http://schemas.microsoft.com/office/drawing/2014/main" id="{4E633D9A-F64B-D852-595A-872E54E42EF6}"/>
                </a:ext>
              </a:extLst>
            </p:cNvPr>
            <p:cNvSpPr/>
            <p:nvPr/>
          </p:nvSpPr>
          <p:spPr>
            <a:xfrm>
              <a:off x="703349" y="1989787"/>
              <a:ext cx="709656" cy="326482"/>
            </a:xfrm>
            <a:prstGeom prst="rect">
              <a:avLst/>
            </a:prstGeom>
            <a:solidFill>
              <a:srgbClr val="E4F0DB"/>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35" name="Rectangle 234">
              <a:extLst>
                <a:ext uri="{FF2B5EF4-FFF2-40B4-BE49-F238E27FC236}">
                  <a16:creationId xmlns:a16="http://schemas.microsoft.com/office/drawing/2014/main" id="{5DDD69A1-2D0E-3315-010D-3494FFA43333}"/>
                </a:ext>
              </a:extLst>
            </p:cNvPr>
            <p:cNvSpPr/>
            <p:nvPr/>
          </p:nvSpPr>
          <p:spPr>
            <a:xfrm>
              <a:off x="1409851" y="1663021"/>
              <a:ext cx="709656" cy="326482"/>
            </a:xfrm>
            <a:prstGeom prst="rect">
              <a:avLst/>
            </a:prstGeom>
            <a:solidFill>
              <a:srgbClr val="FBE6D6"/>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36" name="Rectangle 235">
              <a:extLst>
                <a:ext uri="{FF2B5EF4-FFF2-40B4-BE49-F238E27FC236}">
                  <a16:creationId xmlns:a16="http://schemas.microsoft.com/office/drawing/2014/main" id="{C4360AFE-39F4-FF1D-9FAA-1C2BCD8F21F9}"/>
                </a:ext>
              </a:extLst>
            </p:cNvPr>
            <p:cNvSpPr/>
            <p:nvPr/>
          </p:nvSpPr>
          <p:spPr>
            <a:xfrm>
              <a:off x="1409851" y="1989787"/>
              <a:ext cx="709656" cy="326482"/>
            </a:xfrm>
            <a:prstGeom prst="rect">
              <a:avLst/>
            </a:prstGeom>
            <a:solidFill>
              <a:srgbClr val="FFF2CC"/>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37" name="Rectangle 236">
              <a:extLst>
                <a:ext uri="{FF2B5EF4-FFF2-40B4-BE49-F238E27FC236}">
                  <a16:creationId xmlns:a16="http://schemas.microsoft.com/office/drawing/2014/main" id="{96B19CA6-4C69-2384-12A2-FD7AFC5DE9DC}"/>
                </a:ext>
              </a:extLst>
            </p:cNvPr>
            <p:cNvSpPr/>
            <p:nvPr/>
          </p:nvSpPr>
          <p:spPr>
            <a:xfrm>
              <a:off x="2113199" y="1663021"/>
              <a:ext cx="709656" cy="326482"/>
            </a:xfrm>
            <a:prstGeom prst="rect">
              <a:avLst/>
            </a:prstGeom>
            <a:solidFill>
              <a:srgbClr val="DFEBF7"/>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38" name="Rectangle 237">
              <a:extLst>
                <a:ext uri="{FF2B5EF4-FFF2-40B4-BE49-F238E27FC236}">
                  <a16:creationId xmlns:a16="http://schemas.microsoft.com/office/drawing/2014/main" id="{E8E2F4F8-A0BF-D264-AFFE-A091610EBF1F}"/>
                </a:ext>
              </a:extLst>
            </p:cNvPr>
            <p:cNvSpPr/>
            <p:nvPr/>
          </p:nvSpPr>
          <p:spPr>
            <a:xfrm>
              <a:off x="2113199" y="1989787"/>
              <a:ext cx="709656" cy="326482"/>
            </a:xfrm>
            <a:prstGeom prst="rect">
              <a:avLst/>
            </a:prstGeom>
            <a:solidFill>
              <a:srgbClr val="E4F0DB"/>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39" name="Rectangle 238">
              <a:extLst>
                <a:ext uri="{FF2B5EF4-FFF2-40B4-BE49-F238E27FC236}">
                  <a16:creationId xmlns:a16="http://schemas.microsoft.com/office/drawing/2014/main" id="{B34B5745-158E-4544-102F-823BDBC5DE90}"/>
                </a:ext>
              </a:extLst>
            </p:cNvPr>
            <p:cNvSpPr/>
            <p:nvPr/>
          </p:nvSpPr>
          <p:spPr>
            <a:xfrm>
              <a:off x="2813395" y="1663021"/>
              <a:ext cx="709656" cy="326482"/>
            </a:xfrm>
            <a:prstGeom prst="rect">
              <a:avLst/>
            </a:prstGeom>
            <a:solidFill>
              <a:srgbClr val="FBE6D6"/>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40" name="Rectangle 239">
              <a:extLst>
                <a:ext uri="{FF2B5EF4-FFF2-40B4-BE49-F238E27FC236}">
                  <a16:creationId xmlns:a16="http://schemas.microsoft.com/office/drawing/2014/main" id="{1CC6DBD7-F1FE-CCD8-3776-E1C53287D7DE}"/>
                </a:ext>
              </a:extLst>
            </p:cNvPr>
            <p:cNvSpPr/>
            <p:nvPr/>
          </p:nvSpPr>
          <p:spPr>
            <a:xfrm>
              <a:off x="2813395" y="1989787"/>
              <a:ext cx="709656" cy="326482"/>
            </a:xfrm>
            <a:prstGeom prst="rect">
              <a:avLst/>
            </a:prstGeom>
            <a:solidFill>
              <a:srgbClr val="FFF2CC"/>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41" name="Rectangle 240">
              <a:extLst>
                <a:ext uri="{FF2B5EF4-FFF2-40B4-BE49-F238E27FC236}">
                  <a16:creationId xmlns:a16="http://schemas.microsoft.com/office/drawing/2014/main" id="{184667FF-177B-CB48-5B67-D2AAC7488ED2}"/>
                </a:ext>
              </a:extLst>
            </p:cNvPr>
            <p:cNvSpPr/>
            <p:nvPr/>
          </p:nvSpPr>
          <p:spPr>
            <a:xfrm>
              <a:off x="3516743" y="1663021"/>
              <a:ext cx="709656" cy="326482"/>
            </a:xfrm>
            <a:prstGeom prst="rect">
              <a:avLst/>
            </a:prstGeom>
            <a:solidFill>
              <a:srgbClr val="DFEBF7"/>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42" name="Rectangle 241">
              <a:extLst>
                <a:ext uri="{FF2B5EF4-FFF2-40B4-BE49-F238E27FC236}">
                  <a16:creationId xmlns:a16="http://schemas.microsoft.com/office/drawing/2014/main" id="{02D9BE53-F4B1-0EEA-BF39-E9012003F4B8}"/>
                </a:ext>
              </a:extLst>
            </p:cNvPr>
            <p:cNvSpPr/>
            <p:nvPr/>
          </p:nvSpPr>
          <p:spPr>
            <a:xfrm>
              <a:off x="3516743" y="1989787"/>
              <a:ext cx="709656" cy="326482"/>
            </a:xfrm>
            <a:prstGeom prst="rect">
              <a:avLst/>
            </a:prstGeom>
            <a:solidFill>
              <a:srgbClr val="E4F0DB"/>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43" name="Rectangle 242">
              <a:extLst>
                <a:ext uri="{FF2B5EF4-FFF2-40B4-BE49-F238E27FC236}">
                  <a16:creationId xmlns:a16="http://schemas.microsoft.com/office/drawing/2014/main" id="{76F7E123-5619-1201-8B9B-378EC1898F67}"/>
                </a:ext>
              </a:extLst>
            </p:cNvPr>
            <p:cNvSpPr/>
            <p:nvPr/>
          </p:nvSpPr>
          <p:spPr>
            <a:xfrm>
              <a:off x="4223245" y="1663021"/>
              <a:ext cx="709656" cy="326482"/>
            </a:xfrm>
            <a:prstGeom prst="rect">
              <a:avLst/>
            </a:prstGeom>
            <a:solidFill>
              <a:srgbClr val="FBE6D6"/>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44" name="Rectangle 243">
              <a:extLst>
                <a:ext uri="{FF2B5EF4-FFF2-40B4-BE49-F238E27FC236}">
                  <a16:creationId xmlns:a16="http://schemas.microsoft.com/office/drawing/2014/main" id="{50C4C51A-C2C6-E050-252A-67E5285D75E2}"/>
                </a:ext>
              </a:extLst>
            </p:cNvPr>
            <p:cNvSpPr/>
            <p:nvPr/>
          </p:nvSpPr>
          <p:spPr>
            <a:xfrm>
              <a:off x="4223245" y="1989787"/>
              <a:ext cx="709656" cy="326482"/>
            </a:xfrm>
            <a:prstGeom prst="rect">
              <a:avLst/>
            </a:prstGeom>
            <a:solidFill>
              <a:srgbClr val="FFF2CC"/>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45" name="Rectangle 244">
              <a:extLst>
                <a:ext uri="{FF2B5EF4-FFF2-40B4-BE49-F238E27FC236}">
                  <a16:creationId xmlns:a16="http://schemas.microsoft.com/office/drawing/2014/main" id="{7C413379-5643-4C8A-1C75-3D7EBC4A1BBA}"/>
                </a:ext>
              </a:extLst>
            </p:cNvPr>
            <p:cNvSpPr/>
            <p:nvPr/>
          </p:nvSpPr>
          <p:spPr>
            <a:xfrm>
              <a:off x="4926594" y="1663021"/>
              <a:ext cx="709656" cy="326482"/>
            </a:xfrm>
            <a:prstGeom prst="rect">
              <a:avLst/>
            </a:prstGeom>
            <a:solidFill>
              <a:srgbClr val="DFEBF7"/>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46" name="Rectangle 245">
              <a:extLst>
                <a:ext uri="{FF2B5EF4-FFF2-40B4-BE49-F238E27FC236}">
                  <a16:creationId xmlns:a16="http://schemas.microsoft.com/office/drawing/2014/main" id="{B12DBC2F-51F1-4DF5-F83A-06BB30A6405F}"/>
                </a:ext>
              </a:extLst>
            </p:cNvPr>
            <p:cNvSpPr/>
            <p:nvPr/>
          </p:nvSpPr>
          <p:spPr>
            <a:xfrm>
              <a:off x="4926594" y="1989787"/>
              <a:ext cx="709656" cy="326482"/>
            </a:xfrm>
            <a:prstGeom prst="rect">
              <a:avLst/>
            </a:prstGeom>
            <a:solidFill>
              <a:srgbClr val="E4F0DB"/>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47" name="Rectangle 246">
              <a:extLst>
                <a:ext uri="{FF2B5EF4-FFF2-40B4-BE49-F238E27FC236}">
                  <a16:creationId xmlns:a16="http://schemas.microsoft.com/office/drawing/2014/main" id="{E4ABC4C1-5DF0-0617-80F8-A5B911A728A5}"/>
                </a:ext>
              </a:extLst>
            </p:cNvPr>
            <p:cNvSpPr/>
            <p:nvPr/>
          </p:nvSpPr>
          <p:spPr>
            <a:xfrm>
              <a:off x="5642260" y="1663021"/>
              <a:ext cx="709656" cy="326482"/>
            </a:xfrm>
            <a:prstGeom prst="rect">
              <a:avLst/>
            </a:prstGeom>
            <a:solidFill>
              <a:srgbClr val="FBE6D6"/>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48" name="Rectangle 247">
              <a:extLst>
                <a:ext uri="{FF2B5EF4-FFF2-40B4-BE49-F238E27FC236}">
                  <a16:creationId xmlns:a16="http://schemas.microsoft.com/office/drawing/2014/main" id="{0B66A923-B531-9576-417F-9F5D94FAD8E4}"/>
                </a:ext>
              </a:extLst>
            </p:cNvPr>
            <p:cNvSpPr/>
            <p:nvPr/>
          </p:nvSpPr>
          <p:spPr>
            <a:xfrm>
              <a:off x="5642260" y="1989787"/>
              <a:ext cx="709656" cy="326482"/>
            </a:xfrm>
            <a:prstGeom prst="rect">
              <a:avLst/>
            </a:prstGeom>
            <a:solidFill>
              <a:srgbClr val="FFF2CC"/>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49" name="Rectangle 248">
              <a:extLst>
                <a:ext uri="{FF2B5EF4-FFF2-40B4-BE49-F238E27FC236}">
                  <a16:creationId xmlns:a16="http://schemas.microsoft.com/office/drawing/2014/main" id="{390C4FDA-A621-515B-9B05-BB4DB9539A71}"/>
                </a:ext>
              </a:extLst>
            </p:cNvPr>
            <p:cNvSpPr/>
            <p:nvPr/>
          </p:nvSpPr>
          <p:spPr>
            <a:xfrm>
              <a:off x="6345609" y="1663021"/>
              <a:ext cx="709656" cy="326482"/>
            </a:xfrm>
            <a:prstGeom prst="rect">
              <a:avLst/>
            </a:prstGeom>
            <a:solidFill>
              <a:srgbClr val="DFEBF7"/>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50" name="Rectangle 249">
              <a:extLst>
                <a:ext uri="{FF2B5EF4-FFF2-40B4-BE49-F238E27FC236}">
                  <a16:creationId xmlns:a16="http://schemas.microsoft.com/office/drawing/2014/main" id="{5E54B12B-A696-B245-A458-82523029408B}"/>
                </a:ext>
              </a:extLst>
            </p:cNvPr>
            <p:cNvSpPr/>
            <p:nvPr/>
          </p:nvSpPr>
          <p:spPr>
            <a:xfrm>
              <a:off x="6345609" y="1989787"/>
              <a:ext cx="709656" cy="326482"/>
            </a:xfrm>
            <a:prstGeom prst="rect">
              <a:avLst/>
            </a:prstGeom>
            <a:solidFill>
              <a:srgbClr val="E4F0DB"/>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51" name="Rectangle 250">
              <a:extLst>
                <a:ext uri="{FF2B5EF4-FFF2-40B4-BE49-F238E27FC236}">
                  <a16:creationId xmlns:a16="http://schemas.microsoft.com/office/drawing/2014/main" id="{DEF2CDFC-7411-FEE4-6356-857CC47EF269}"/>
                </a:ext>
              </a:extLst>
            </p:cNvPr>
            <p:cNvSpPr/>
            <p:nvPr/>
          </p:nvSpPr>
          <p:spPr>
            <a:xfrm>
              <a:off x="7052111" y="1663021"/>
              <a:ext cx="709656" cy="326482"/>
            </a:xfrm>
            <a:prstGeom prst="rect">
              <a:avLst/>
            </a:prstGeom>
            <a:solidFill>
              <a:srgbClr val="FBE6D6"/>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52" name="Rectangle 251">
              <a:extLst>
                <a:ext uri="{FF2B5EF4-FFF2-40B4-BE49-F238E27FC236}">
                  <a16:creationId xmlns:a16="http://schemas.microsoft.com/office/drawing/2014/main" id="{D4BD3798-AD01-29EA-22C6-A8E8C8EC35E0}"/>
                </a:ext>
              </a:extLst>
            </p:cNvPr>
            <p:cNvSpPr/>
            <p:nvPr/>
          </p:nvSpPr>
          <p:spPr>
            <a:xfrm>
              <a:off x="7052111" y="1989787"/>
              <a:ext cx="709656" cy="326482"/>
            </a:xfrm>
            <a:prstGeom prst="rect">
              <a:avLst/>
            </a:prstGeom>
            <a:solidFill>
              <a:srgbClr val="FFF2CC"/>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53" name="Rectangle 252">
              <a:extLst>
                <a:ext uri="{FF2B5EF4-FFF2-40B4-BE49-F238E27FC236}">
                  <a16:creationId xmlns:a16="http://schemas.microsoft.com/office/drawing/2014/main" id="{F57CC2FE-B1D9-FC70-8E93-D1042315CC6C}"/>
                </a:ext>
              </a:extLst>
            </p:cNvPr>
            <p:cNvSpPr/>
            <p:nvPr/>
          </p:nvSpPr>
          <p:spPr>
            <a:xfrm>
              <a:off x="7755460" y="1663021"/>
              <a:ext cx="709656" cy="326482"/>
            </a:xfrm>
            <a:prstGeom prst="rect">
              <a:avLst/>
            </a:prstGeom>
            <a:solidFill>
              <a:srgbClr val="DFEBF7"/>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54" name="Rectangle 253">
              <a:extLst>
                <a:ext uri="{FF2B5EF4-FFF2-40B4-BE49-F238E27FC236}">
                  <a16:creationId xmlns:a16="http://schemas.microsoft.com/office/drawing/2014/main" id="{FF74A2F4-0ED0-5CBC-76C8-6DEEFA032B09}"/>
                </a:ext>
              </a:extLst>
            </p:cNvPr>
            <p:cNvSpPr/>
            <p:nvPr/>
          </p:nvSpPr>
          <p:spPr>
            <a:xfrm>
              <a:off x="7755460" y="1989787"/>
              <a:ext cx="709656" cy="326482"/>
            </a:xfrm>
            <a:prstGeom prst="rect">
              <a:avLst/>
            </a:prstGeom>
            <a:solidFill>
              <a:srgbClr val="E4F0DB"/>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55" name="Rectangle 254">
              <a:extLst>
                <a:ext uri="{FF2B5EF4-FFF2-40B4-BE49-F238E27FC236}">
                  <a16:creationId xmlns:a16="http://schemas.microsoft.com/office/drawing/2014/main" id="{ED6F7734-14EF-D3A9-35B8-AC5CF1C9A7ED}"/>
                </a:ext>
              </a:extLst>
            </p:cNvPr>
            <p:cNvSpPr/>
            <p:nvPr/>
          </p:nvSpPr>
          <p:spPr>
            <a:xfrm>
              <a:off x="0" y="2321795"/>
              <a:ext cx="709656" cy="326482"/>
            </a:xfrm>
            <a:prstGeom prst="rect">
              <a:avLst/>
            </a:prstGeom>
            <a:solidFill>
              <a:srgbClr val="FBE6D6"/>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56" name="Rectangle 255">
              <a:extLst>
                <a:ext uri="{FF2B5EF4-FFF2-40B4-BE49-F238E27FC236}">
                  <a16:creationId xmlns:a16="http://schemas.microsoft.com/office/drawing/2014/main" id="{507C0BA0-73CE-B587-0B33-A3341D8871AA}"/>
                </a:ext>
              </a:extLst>
            </p:cNvPr>
            <p:cNvSpPr/>
            <p:nvPr/>
          </p:nvSpPr>
          <p:spPr>
            <a:xfrm>
              <a:off x="0" y="2648561"/>
              <a:ext cx="709656" cy="326482"/>
            </a:xfrm>
            <a:prstGeom prst="rect">
              <a:avLst/>
            </a:prstGeom>
            <a:solidFill>
              <a:srgbClr val="FFF2CC"/>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57" name="Rectangle 256">
              <a:extLst>
                <a:ext uri="{FF2B5EF4-FFF2-40B4-BE49-F238E27FC236}">
                  <a16:creationId xmlns:a16="http://schemas.microsoft.com/office/drawing/2014/main" id="{638CF3A7-7378-79E7-6050-E37DB145CD9F}"/>
                </a:ext>
              </a:extLst>
            </p:cNvPr>
            <p:cNvSpPr/>
            <p:nvPr/>
          </p:nvSpPr>
          <p:spPr>
            <a:xfrm>
              <a:off x="703349" y="2321795"/>
              <a:ext cx="709656" cy="326482"/>
            </a:xfrm>
            <a:prstGeom prst="rect">
              <a:avLst/>
            </a:prstGeom>
            <a:solidFill>
              <a:srgbClr val="DFEBF7"/>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58" name="Rectangle 257">
              <a:extLst>
                <a:ext uri="{FF2B5EF4-FFF2-40B4-BE49-F238E27FC236}">
                  <a16:creationId xmlns:a16="http://schemas.microsoft.com/office/drawing/2014/main" id="{4223C97F-D7C2-A6A3-5EC9-33B1D8FFCAB0}"/>
                </a:ext>
              </a:extLst>
            </p:cNvPr>
            <p:cNvSpPr/>
            <p:nvPr/>
          </p:nvSpPr>
          <p:spPr>
            <a:xfrm>
              <a:off x="703349" y="2648561"/>
              <a:ext cx="709656" cy="326482"/>
            </a:xfrm>
            <a:prstGeom prst="rect">
              <a:avLst/>
            </a:prstGeom>
            <a:solidFill>
              <a:srgbClr val="E4F0DB"/>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59" name="Rectangle 258">
              <a:extLst>
                <a:ext uri="{FF2B5EF4-FFF2-40B4-BE49-F238E27FC236}">
                  <a16:creationId xmlns:a16="http://schemas.microsoft.com/office/drawing/2014/main" id="{8BCBF790-D1B5-2910-85EC-28CCDFCFF796}"/>
                </a:ext>
              </a:extLst>
            </p:cNvPr>
            <p:cNvSpPr/>
            <p:nvPr/>
          </p:nvSpPr>
          <p:spPr>
            <a:xfrm>
              <a:off x="1409851" y="2321795"/>
              <a:ext cx="709656" cy="326482"/>
            </a:xfrm>
            <a:prstGeom prst="rect">
              <a:avLst/>
            </a:prstGeom>
            <a:solidFill>
              <a:srgbClr val="FBE6D6"/>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60" name="Rectangle 259">
              <a:extLst>
                <a:ext uri="{FF2B5EF4-FFF2-40B4-BE49-F238E27FC236}">
                  <a16:creationId xmlns:a16="http://schemas.microsoft.com/office/drawing/2014/main" id="{31DA42C8-2E83-EAAA-FD2F-89C0EFBAC5E4}"/>
                </a:ext>
              </a:extLst>
            </p:cNvPr>
            <p:cNvSpPr/>
            <p:nvPr/>
          </p:nvSpPr>
          <p:spPr>
            <a:xfrm>
              <a:off x="1409851" y="2648561"/>
              <a:ext cx="709656" cy="326482"/>
            </a:xfrm>
            <a:prstGeom prst="rect">
              <a:avLst/>
            </a:prstGeom>
            <a:solidFill>
              <a:srgbClr val="FFF2CC"/>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61" name="Rectangle 260">
              <a:extLst>
                <a:ext uri="{FF2B5EF4-FFF2-40B4-BE49-F238E27FC236}">
                  <a16:creationId xmlns:a16="http://schemas.microsoft.com/office/drawing/2014/main" id="{61AE9F97-DB83-C656-2EE6-7816E3F513F3}"/>
                </a:ext>
              </a:extLst>
            </p:cNvPr>
            <p:cNvSpPr/>
            <p:nvPr/>
          </p:nvSpPr>
          <p:spPr>
            <a:xfrm>
              <a:off x="2113199" y="2321795"/>
              <a:ext cx="709656" cy="326482"/>
            </a:xfrm>
            <a:prstGeom prst="rect">
              <a:avLst/>
            </a:prstGeom>
            <a:solidFill>
              <a:srgbClr val="DFEBF7"/>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62" name="Rectangle 261">
              <a:extLst>
                <a:ext uri="{FF2B5EF4-FFF2-40B4-BE49-F238E27FC236}">
                  <a16:creationId xmlns:a16="http://schemas.microsoft.com/office/drawing/2014/main" id="{ADBD01B6-6A32-83B3-F1D3-816759153FBF}"/>
                </a:ext>
              </a:extLst>
            </p:cNvPr>
            <p:cNvSpPr/>
            <p:nvPr/>
          </p:nvSpPr>
          <p:spPr>
            <a:xfrm>
              <a:off x="2113199" y="2648561"/>
              <a:ext cx="709656" cy="326482"/>
            </a:xfrm>
            <a:prstGeom prst="rect">
              <a:avLst/>
            </a:prstGeom>
            <a:solidFill>
              <a:srgbClr val="E4F0DB"/>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63" name="Rectangle 262">
              <a:extLst>
                <a:ext uri="{FF2B5EF4-FFF2-40B4-BE49-F238E27FC236}">
                  <a16:creationId xmlns:a16="http://schemas.microsoft.com/office/drawing/2014/main" id="{5C83B8A3-0B85-6254-0CAF-7606B80B16FD}"/>
                </a:ext>
              </a:extLst>
            </p:cNvPr>
            <p:cNvSpPr/>
            <p:nvPr/>
          </p:nvSpPr>
          <p:spPr>
            <a:xfrm>
              <a:off x="2813395" y="2321795"/>
              <a:ext cx="709656" cy="326482"/>
            </a:xfrm>
            <a:prstGeom prst="rect">
              <a:avLst/>
            </a:prstGeom>
            <a:solidFill>
              <a:srgbClr val="FBE6D6"/>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64" name="Rectangle 263">
              <a:extLst>
                <a:ext uri="{FF2B5EF4-FFF2-40B4-BE49-F238E27FC236}">
                  <a16:creationId xmlns:a16="http://schemas.microsoft.com/office/drawing/2014/main" id="{F02A1CBD-9BB7-74E5-CB43-50B8779760B8}"/>
                </a:ext>
              </a:extLst>
            </p:cNvPr>
            <p:cNvSpPr/>
            <p:nvPr/>
          </p:nvSpPr>
          <p:spPr>
            <a:xfrm>
              <a:off x="2813395" y="2648561"/>
              <a:ext cx="709656" cy="326482"/>
            </a:xfrm>
            <a:prstGeom prst="rect">
              <a:avLst/>
            </a:prstGeom>
            <a:solidFill>
              <a:srgbClr val="FFF2CC"/>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65" name="Rectangle 264">
              <a:extLst>
                <a:ext uri="{FF2B5EF4-FFF2-40B4-BE49-F238E27FC236}">
                  <a16:creationId xmlns:a16="http://schemas.microsoft.com/office/drawing/2014/main" id="{A50438D3-AC03-2C2F-A08A-244F8A5B936C}"/>
                </a:ext>
              </a:extLst>
            </p:cNvPr>
            <p:cNvSpPr/>
            <p:nvPr/>
          </p:nvSpPr>
          <p:spPr>
            <a:xfrm>
              <a:off x="3516743" y="2321795"/>
              <a:ext cx="709656" cy="326482"/>
            </a:xfrm>
            <a:prstGeom prst="rect">
              <a:avLst/>
            </a:prstGeom>
            <a:solidFill>
              <a:srgbClr val="DFEBF7"/>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66" name="Rectangle 265">
              <a:extLst>
                <a:ext uri="{FF2B5EF4-FFF2-40B4-BE49-F238E27FC236}">
                  <a16:creationId xmlns:a16="http://schemas.microsoft.com/office/drawing/2014/main" id="{7056BA0D-EE71-B5A8-7C03-EDA99537C802}"/>
                </a:ext>
              </a:extLst>
            </p:cNvPr>
            <p:cNvSpPr/>
            <p:nvPr/>
          </p:nvSpPr>
          <p:spPr>
            <a:xfrm>
              <a:off x="3516743" y="2648561"/>
              <a:ext cx="709656" cy="326482"/>
            </a:xfrm>
            <a:prstGeom prst="rect">
              <a:avLst/>
            </a:prstGeom>
            <a:solidFill>
              <a:srgbClr val="E4F0DB"/>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67" name="Rectangle 266">
              <a:extLst>
                <a:ext uri="{FF2B5EF4-FFF2-40B4-BE49-F238E27FC236}">
                  <a16:creationId xmlns:a16="http://schemas.microsoft.com/office/drawing/2014/main" id="{1798FB4E-E0AB-21D0-2251-10A8997F55A6}"/>
                </a:ext>
              </a:extLst>
            </p:cNvPr>
            <p:cNvSpPr/>
            <p:nvPr/>
          </p:nvSpPr>
          <p:spPr>
            <a:xfrm>
              <a:off x="4223245" y="2321795"/>
              <a:ext cx="709656" cy="326482"/>
            </a:xfrm>
            <a:prstGeom prst="rect">
              <a:avLst/>
            </a:prstGeom>
            <a:solidFill>
              <a:srgbClr val="FBE6D6"/>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68" name="Rectangle 267">
              <a:extLst>
                <a:ext uri="{FF2B5EF4-FFF2-40B4-BE49-F238E27FC236}">
                  <a16:creationId xmlns:a16="http://schemas.microsoft.com/office/drawing/2014/main" id="{69FCD7FA-47A5-EDA4-72F3-4A29032E2EF2}"/>
                </a:ext>
              </a:extLst>
            </p:cNvPr>
            <p:cNvSpPr/>
            <p:nvPr/>
          </p:nvSpPr>
          <p:spPr>
            <a:xfrm>
              <a:off x="4223245" y="2648561"/>
              <a:ext cx="709656" cy="326482"/>
            </a:xfrm>
            <a:prstGeom prst="rect">
              <a:avLst/>
            </a:prstGeom>
            <a:solidFill>
              <a:srgbClr val="FFF2CC"/>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69" name="Rectangle 268">
              <a:extLst>
                <a:ext uri="{FF2B5EF4-FFF2-40B4-BE49-F238E27FC236}">
                  <a16:creationId xmlns:a16="http://schemas.microsoft.com/office/drawing/2014/main" id="{A1DC504F-03CC-4F87-6BE6-3FC677A52493}"/>
                </a:ext>
              </a:extLst>
            </p:cNvPr>
            <p:cNvSpPr/>
            <p:nvPr/>
          </p:nvSpPr>
          <p:spPr>
            <a:xfrm>
              <a:off x="4926594" y="2321795"/>
              <a:ext cx="709656" cy="326482"/>
            </a:xfrm>
            <a:prstGeom prst="rect">
              <a:avLst/>
            </a:prstGeom>
            <a:solidFill>
              <a:srgbClr val="DFEBF7"/>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70" name="Rectangle 269">
              <a:extLst>
                <a:ext uri="{FF2B5EF4-FFF2-40B4-BE49-F238E27FC236}">
                  <a16:creationId xmlns:a16="http://schemas.microsoft.com/office/drawing/2014/main" id="{650467EA-EF65-050F-C0A1-263B7C7016C8}"/>
                </a:ext>
              </a:extLst>
            </p:cNvPr>
            <p:cNvSpPr/>
            <p:nvPr/>
          </p:nvSpPr>
          <p:spPr>
            <a:xfrm>
              <a:off x="4926594" y="2648561"/>
              <a:ext cx="709656" cy="326482"/>
            </a:xfrm>
            <a:prstGeom prst="rect">
              <a:avLst/>
            </a:prstGeom>
            <a:solidFill>
              <a:srgbClr val="E4F0DB"/>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71" name="Rectangle 270">
              <a:extLst>
                <a:ext uri="{FF2B5EF4-FFF2-40B4-BE49-F238E27FC236}">
                  <a16:creationId xmlns:a16="http://schemas.microsoft.com/office/drawing/2014/main" id="{5F1E49EA-2E3C-8C61-0BDE-18EAFE0B527C}"/>
                </a:ext>
              </a:extLst>
            </p:cNvPr>
            <p:cNvSpPr/>
            <p:nvPr/>
          </p:nvSpPr>
          <p:spPr>
            <a:xfrm>
              <a:off x="5642260" y="2321795"/>
              <a:ext cx="709656" cy="326482"/>
            </a:xfrm>
            <a:prstGeom prst="rect">
              <a:avLst/>
            </a:prstGeom>
            <a:solidFill>
              <a:srgbClr val="FBE6D6"/>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72" name="Rectangle 271">
              <a:extLst>
                <a:ext uri="{FF2B5EF4-FFF2-40B4-BE49-F238E27FC236}">
                  <a16:creationId xmlns:a16="http://schemas.microsoft.com/office/drawing/2014/main" id="{BEC7207E-7725-4298-3BF6-10590A1DD99D}"/>
                </a:ext>
              </a:extLst>
            </p:cNvPr>
            <p:cNvSpPr/>
            <p:nvPr/>
          </p:nvSpPr>
          <p:spPr>
            <a:xfrm>
              <a:off x="5642260" y="2648561"/>
              <a:ext cx="709656" cy="326482"/>
            </a:xfrm>
            <a:prstGeom prst="rect">
              <a:avLst/>
            </a:prstGeom>
            <a:solidFill>
              <a:srgbClr val="FFF2CC"/>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73" name="Rectangle 272">
              <a:extLst>
                <a:ext uri="{FF2B5EF4-FFF2-40B4-BE49-F238E27FC236}">
                  <a16:creationId xmlns:a16="http://schemas.microsoft.com/office/drawing/2014/main" id="{E4E6DFEE-043E-22AE-B270-B7E8D16CFA8C}"/>
                </a:ext>
              </a:extLst>
            </p:cNvPr>
            <p:cNvSpPr/>
            <p:nvPr/>
          </p:nvSpPr>
          <p:spPr>
            <a:xfrm>
              <a:off x="6345609" y="2321795"/>
              <a:ext cx="709656" cy="326482"/>
            </a:xfrm>
            <a:prstGeom prst="rect">
              <a:avLst/>
            </a:prstGeom>
            <a:solidFill>
              <a:srgbClr val="DFEBF7"/>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74" name="Rectangle 273">
              <a:extLst>
                <a:ext uri="{FF2B5EF4-FFF2-40B4-BE49-F238E27FC236}">
                  <a16:creationId xmlns:a16="http://schemas.microsoft.com/office/drawing/2014/main" id="{188C3739-6598-F94C-49E6-0080F2B5ED56}"/>
                </a:ext>
              </a:extLst>
            </p:cNvPr>
            <p:cNvSpPr/>
            <p:nvPr/>
          </p:nvSpPr>
          <p:spPr>
            <a:xfrm>
              <a:off x="6345609" y="2648561"/>
              <a:ext cx="709656" cy="326482"/>
            </a:xfrm>
            <a:prstGeom prst="rect">
              <a:avLst/>
            </a:prstGeom>
            <a:solidFill>
              <a:srgbClr val="E4F0DB"/>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75" name="Rectangle 274">
              <a:extLst>
                <a:ext uri="{FF2B5EF4-FFF2-40B4-BE49-F238E27FC236}">
                  <a16:creationId xmlns:a16="http://schemas.microsoft.com/office/drawing/2014/main" id="{71ECBCAE-8AA8-1A82-F4DF-9C358B7CFB86}"/>
                </a:ext>
              </a:extLst>
            </p:cNvPr>
            <p:cNvSpPr/>
            <p:nvPr/>
          </p:nvSpPr>
          <p:spPr>
            <a:xfrm>
              <a:off x="7052111" y="2321795"/>
              <a:ext cx="709656" cy="326482"/>
            </a:xfrm>
            <a:prstGeom prst="rect">
              <a:avLst/>
            </a:prstGeom>
            <a:solidFill>
              <a:srgbClr val="FBE6D6"/>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76" name="Rectangle 275">
              <a:extLst>
                <a:ext uri="{FF2B5EF4-FFF2-40B4-BE49-F238E27FC236}">
                  <a16:creationId xmlns:a16="http://schemas.microsoft.com/office/drawing/2014/main" id="{52B34412-FA91-7AEB-C746-A9216066C418}"/>
                </a:ext>
              </a:extLst>
            </p:cNvPr>
            <p:cNvSpPr/>
            <p:nvPr/>
          </p:nvSpPr>
          <p:spPr>
            <a:xfrm>
              <a:off x="7052111" y="2648561"/>
              <a:ext cx="709656" cy="326482"/>
            </a:xfrm>
            <a:prstGeom prst="rect">
              <a:avLst/>
            </a:prstGeom>
            <a:solidFill>
              <a:srgbClr val="FFF2CC"/>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77" name="Rectangle 276">
              <a:extLst>
                <a:ext uri="{FF2B5EF4-FFF2-40B4-BE49-F238E27FC236}">
                  <a16:creationId xmlns:a16="http://schemas.microsoft.com/office/drawing/2014/main" id="{869BFEBC-5EF1-A460-5680-C0AB4CADCEA0}"/>
                </a:ext>
              </a:extLst>
            </p:cNvPr>
            <p:cNvSpPr/>
            <p:nvPr/>
          </p:nvSpPr>
          <p:spPr>
            <a:xfrm>
              <a:off x="7755460" y="2321795"/>
              <a:ext cx="709656" cy="326482"/>
            </a:xfrm>
            <a:prstGeom prst="rect">
              <a:avLst/>
            </a:prstGeom>
            <a:solidFill>
              <a:srgbClr val="DFEBF7"/>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78" name="Rectangle 277">
              <a:extLst>
                <a:ext uri="{FF2B5EF4-FFF2-40B4-BE49-F238E27FC236}">
                  <a16:creationId xmlns:a16="http://schemas.microsoft.com/office/drawing/2014/main" id="{4B116BFA-C07A-057F-4D03-894AF62BB7A9}"/>
                </a:ext>
              </a:extLst>
            </p:cNvPr>
            <p:cNvSpPr/>
            <p:nvPr/>
          </p:nvSpPr>
          <p:spPr>
            <a:xfrm>
              <a:off x="7755460" y="2648561"/>
              <a:ext cx="709656" cy="326482"/>
            </a:xfrm>
            <a:prstGeom prst="rect">
              <a:avLst/>
            </a:prstGeom>
            <a:solidFill>
              <a:srgbClr val="E4F0DB"/>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79" name="Rectangle 278">
              <a:extLst>
                <a:ext uri="{FF2B5EF4-FFF2-40B4-BE49-F238E27FC236}">
                  <a16:creationId xmlns:a16="http://schemas.microsoft.com/office/drawing/2014/main" id="{6065EEA1-74DA-7429-0C17-9B985B29492F}"/>
                </a:ext>
              </a:extLst>
            </p:cNvPr>
            <p:cNvSpPr/>
            <p:nvPr/>
          </p:nvSpPr>
          <p:spPr>
            <a:xfrm>
              <a:off x="0" y="2980293"/>
              <a:ext cx="709656" cy="326482"/>
            </a:xfrm>
            <a:prstGeom prst="rect">
              <a:avLst/>
            </a:prstGeom>
            <a:solidFill>
              <a:srgbClr val="FBE6D6"/>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80" name="Rectangle 279">
              <a:extLst>
                <a:ext uri="{FF2B5EF4-FFF2-40B4-BE49-F238E27FC236}">
                  <a16:creationId xmlns:a16="http://schemas.microsoft.com/office/drawing/2014/main" id="{17F653E1-4A94-5B2A-42EC-1D60747ABD07}"/>
                </a:ext>
              </a:extLst>
            </p:cNvPr>
            <p:cNvSpPr/>
            <p:nvPr/>
          </p:nvSpPr>
          <p:spPr>
            <a:xfrm>
              <a:off x="0" y="3307059"/>
              <a:ext cx="709656" cy="326482"/>
            </a:xfrm>
            <a:prstGeom prst="rect">
              <a:avLst/>
            </a:prstGeom>
            <a:solidFill>
              <a:srgbClr val="FFF2CC"/>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81" name="Rectangle 280">
              <a:extLst>
                <a:ext uri="{FF2B5EF4-FFF2-40B4-BE49-F238E27FC236}">
                  <a16:creationId xmlns:a16="http://schemas.microsoft.com/office/drawing/2014/main" id="{7D4C1768-46F0-9B61-621B-7EF40F2A0460}"/>
                </a:ext>
              </a:extLst>
            </p:cNvPr>
            <p:cNvSpPr/>
            <p:nvPr/>
          </p:nvSpPr>
          <p:spPr>
            <a:xfrm>
              <a:off x="703349" y="2980293"/>
              <a:ext cx="709656" cy="326482"/>
            </a:xfrm>
            <a:prstGeom prst="rect">
              <a:avLst/>
            </a:prstGeom>
            <a:solidFill>
              <a:srgbClr val="DFEBF7"/>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82" name="Rectangle 281">
              <a:extLst>
                <a:ext uri="{FF2B5EF4-FFF2-40B4-BE49-F238E27FC236}">
                  <a16:creationId xmlns:a16="http://schemas.microsoft.com/office/drawing/2014/main" id="{E1142BA0-59F5-A399-4C57-C1572CC7C73B}"/>
                </a:ext>
              </a:extLst>
            </p:cNvPr>
            <p:cNvSpPr/>
            <p:nvPr/>
          </p:nvSpPr>
          <p:spPr>
            <a:xfrm>
              <a:off x="703349" y="3307059"/>
              <a:ext cx="709656" cy="326482"/>
            </a:xfrm>
            <a:prstGeom prst="rect">
              <a:avLst/>
            </a:prstGeom>
            <a:solidFill>
              <a:srgbClr val="E4F0DB"/>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83" name="Rectangle 282">
              <a:extLst>
                <a:ext uri="{FF2B5EF4-FFF2-40B4-BE49-F238E27FC236}">
                  <a16:creationId xmlns:a16="http://schemas.microsoft.com/office/drawing/2014/main" id="{4695C08F-795D-57B7-B65C-65A2F6F4E149}"/>
                </a:ext>
              </a:extLst>
            </p:cNvPr>
            <p:cNvSpPr/>
            <p:nvPr/>
          </p:nvSpPr>
          <p:spPr>
            <a:xfrm>
              <a:off x="1409851" y="2980293"/>
              <a:ext cx="709656" cy="326482"/>
            </a:xfrm>
            <a:prstGeom prst="rect">
              <a:avLst/>
            </a:prstGeom>
            <a:solidFill>
              <a:srgbClr val="FBE6D6"/>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84" name="Rectangle 283">
              <a:extLst>
                <a:ext uri="{FF2B5EF4-FFF2-40B4-BE49-F238E27FC236}">
                  <a16:creationId xmlns:a16="http://schemas.microsoft.com/office/drawing/2014/main" id="{56F907A7-38D3-67F9-9A94-0A5D0BB85332}"/>
                </a:ext>
              </a:extLst>
            </p:cNvPr>
            <p:cNvSpPr/>
            <p:nvPr/>
          </p:nvSpPr>
          <p:spPr>
            <a:xfrm>
              <a:off x="1409851" y="3307059"/>
              <a:ext cx="709656" cy="326482"/>
            </a:xfrm>
            <a:prstGeom prst="rect">
              <a:avLst/>
            </a:prstGeom>
            <a:solidFill>
              <a:srgbClr val="FFF2CC"/>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85" name="Rectangle 284">
              <a:extLst>
                <a:ext uri="{FF2B5EF4-FFF2-40B4-BE49-F238E27FC236}">
                  <a16:creationId xmlns:a16="http://schemas.microsoft.com/office/drawing/2014/main" id="{C53DFE3A-AB5B-BF00-1FBC-9C3D5AED852A}"/>
                </a:ext>
              </a:extLst>
            </p:cNvPr>
            <p:cNvSpPr/>
            <p:nvPr/>
          </p:nvSpPr>
          <p:spPr>
            <a:xfrm>
              <a:off x="2113199" y="2980293"/>
              <a:ext cx="709656" cy="326482"/>
            </a:xfrm>
            <a:prstGeom prst="rect">
              <a:avLst/>
            </a:prstGeom>
            <a:solidFill>
              <a:srgbClr val="DFEBF7"/>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86" name="Rectangle 285">
              <a:extLst>
                <a:ext uri="{FF2B5EF4-FFF2-40B4-BE49-F238E27FC236}">
                  <a16:creationId xmlns:a16="http://schemas.microsoft.com/office/drawing/2014/main" id="{EC342B79-BB23-A3B5-3EFE-F42C75081BC1}"/>
                </a:ext>
              </a:extLst>
            </p:cNvPr>
            <p:cNvSpPr/>
            <p:nvPr/>
          </p:nvSpPr>
          <p:spPr>
            <a:xfrm>
              <a:off x="2113199" y="3307059"/>
              <a:ext cx="709656" cy="326482"/>
            </a:xfrm>
            <a:prstGeom prst="rect">
              <a:avLst/>
            </a:prstGeom>
            <a:solidFill>
              <a:srgbClr val="E4F0DB"/>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87" name="Rectangle 286">
              <a:extLst>
                <a:ext uri="{FF2B5EF4-FFF2-40B4-BE49-F238E27FC236}">
                  <a16:creationId xmlns:a16="http://schemas.microsoft.com/office/drawing/2014/main" id="{D7A094EA-9798-647C-2C7C-AA8F60D01250}"/>
                </a:ext>
              </a:extLst>
            </p:cNvPr>
            <p:cNvSpPr/>
            <p:nvPr/>
          </p:nvSpPr>
          <p:spPr>
            <a:xfrm>
              <a:off x="2813395" y="2980293"/>
              <a:ext cx="709656" cy="326482"/>
            </a:xfrm>
            <a:prstGeom prst="rect">
              <a:avLst/>
            </a:prstGeom>
            <a:solidFill>
              <a:srgbClr val="FBE6D6"/>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88" name="Rectangle 287">
              <a:extLst>
                <a:ext uri="{FF2B5EF4-FFF2-40B4-BE49-F238E27FC236}">
                  <a16:creationId xmlns:a16="http://schemas.microsoft.com/office/drawing/2014/main" id="{98B14791-0C2D-AA3A-8419-584BF52DB4DB}"/>
                </a:ext>
              </a:extLst>
            </p:cNvPr>
            <p:cNvSpPr/>
            <p:nvPr/>
          </p:nvSpPr>
          <p:spPr>
            <a:xfrm>
              <a:off x="2813395" y="3307059"/>
              <a:ext cx="709656" cy="326482"/>
            </a:xfrm>
            <a:prstGeom prst="rect">
              <a:avLst/>
            </a:prstGeom>
            <a:solidFill>
              <a:srgbClr val="FFF2CC"/>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89" name="Rectangle 288">
              <a:extLst>
                <a:ext uri="{FF2B5EF4-FFF2-40B4-BE49-F238E27FC236}">
                  <a16:creationId xmlns:a16="http://schemas.microsoft.com/office/drawing/2014/main" id="{CBCF89DC-6256-72FE-6FF9-93920780958F}"/>
                </a:ext>
              </a:extLst>
            </p:cNvPr>
            <p:cNvSpPr/>
            <p:nvPr/>
          </p:nvSpPr>
          <p:spPr>
            <a:xfrm>
              <a:off x="3516743" y="2980293"/>
              <a:ext cx="709656" cy="326482"/>
            </a:xfrm>
            <a:prstGeom prst="rect">
              <a:avLst/>
            </a:prstGeom>
            <a:solidFill>
              <a:srgbClr val="DFEBF7"/>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90" name="Rectangle 289">
              <a:extLst>
                <a:ext uri="{FF2B5EF4-FFF2-40B4-BE49-F238E27FC236}">
                  <a16:creationId xmlns:a16="http://schemas.microsoft.com/office/drawing/2014/main" id="{EFEEF63B-333F-D166-9540-FA9F3310A132}"/>
                </a:ext>
              </a:extLst>
            </p:cNvPr>
            <p:cNvSpPr/>
            <p:nvPr/>
          </p:nvSpPr>
          <p:spPr>
            <a:xfrm>
              <a:off x="3516743" y="3307059"/>
              <a:ext cx="709656" cy="326482"/>
            </a:xfrm>
            <a:prstGeom prst="rect">
              <a:avLst/>
            </a:prstGeom>
            <a:solidFill>
              <a:srgbClr val="E4F0DB"/>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91" name="Rectangle 290">
              <a:extLst>
                <a:ext uri="{FF2B5EF4-FFF2-40B4-BE49-F238E27FC236}">
                  <a16:creationId xmlns:a16="http://schemas.microsoft.com/office/drawing/2014/main" id="{7B984E37-9F1E-84F1-3BA1-23B20FC8639A}"/>
                </a:ext>
              </a:extLst>
            </p:cNvPr>
            <p:cNvSpPr/>
            <p:nvPr/>
          </p:nvSpPr>
          <p:spPr>
            <a:xfrm>
              <a:off x="4223245" y="2980293"/>
              <a:ext cx="709656" cy="326482"/>
            </a:xfrm>
            <a:prstGeom prst="rect">
              <a:avLst/>
            </a:prstGeom>
            <a:solidFill>
              <a:srgbClr val="FBE6D6"/>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92" name="Rectangle 291">
              <a:extLst>
                <a:ext uri="{FF2B5EF4-FFF2-40B4-BE49-F238E27FC236}">
                  <a16:creationId xmlns:a16="http://schemas.microsoft.com/office/drawing/2014/main" id="{4C25B040-FA7C-C7C6-A3F7-7E8BF309B305}"/>
                </a:ext>
              </a:extLst>
            </p:cNvPr>
            <p:cNvSpPr/>
            <p:nvPr/>
          </p:nvSpPr>
          <p:spPr>
            <a:xfrm>
              <a:off x="4223245" y="3307059"/>
              <a:ext cx="709656" cy="326482"/>
            </a:xfrm>
            <a:prstGeom prst="rect">
              <a:avLst/>
            </a:prstGeom>
            <a:solidFill>
              <a:srgbClr val="FFF2CC"/>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93" name="Rectangle 292">
              <a:extLst>
                <a:ext uri="{FF2B5EF4-FFF2-40B4-BE49-F238E27FC236}">
                  <a16:creationId xmlns:a16="http://schemas.microsoft.com/office/drawing/2014/main" id="{E43DF7C3-0617-FE06-2780-65697CFC0479}"/>
                </a:ext>
              </a:extLst>
            </p:cNvPr>
            <p:cNvSpPr/>
            <p:nvPr/>
          </p:nvSpPr>
          <p:spPr>
            <a:xfrm>
              <a:off x="4926594" y="2980293"/>
              <a:ext cx="709656" cy="326482"/>
            </a:xfrm>
            <a:prstGeom prst="rect">
              <a:avLst/>
            </a:prstGeom>
            <a:solidFill>
              <a:srgbClr val="DFEBF7"/>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94" name="Rectangle 293">
              <a:extLst>
                <a:ext uri="{FF2B5EF4-FFF2-40B4-BE49-F238E27FC236}">
                  <a16:creationId xmlns:a16="http://schemas.microsoft.com/office/drawing/2014/main" id="{85B1D8CD-27D6-4501-79F8-29CAB50920B6}"/>
                </a:ext>
              </a:extLst>
            </p:cNvPr>
            <p:cNvSpPr/>
            <p:nvPr/>
          </p:nvSpPr>
          <p:spPr>
            <a:xfrm>
              <a:off x="4926594" y="3307059"/>
              <a:ext cx="709656" cy="326482"/>
            </a:xfrm>
            <a:prstGeom prst="rect">
              <a:avLst/>
            </a:prstGeom>
            <a:solidFill>
              <a:srgbClr val="E4F0DB"/>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95" name="Rectangle 294">
              <a:extLst>
                <a:ext uri="{FF2B5EF4-FFF2-40B4-BE49-F238E27FC236}">
                  <a16:creationId xmlns:a16="http://schemas.microsoft.com/office/drawing/2014/main" id="{D7254BB1-3B82-1907-EEBF-A00EE9B00DD4}"/>
                </a:ext>
              </a:extLst>
            </p:cNvPr>
            <p:cNvSpPr/>
            <p:nvPr/>
          </p:nvSpPr>
          <p:spPr>
            <a:xfrm>
              <a:off x="5642260" y="2980293"/>
              <a:ext cx="709656" cy="326482"/>
            </a:xfrm>
            <a:prstGeom prst="rect">
              <a:avLst/>
            </a:prstGeom>
            <a:solidFill>
              <a:srgbClr val="FBE6D6"/>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96" name="Rectangle 295">
              <a:extLst>
                <a:ext uri="{FF2B5EF4-FFF2-40B4-BE49-F238E27FC236}">
                  <a16:creationId xmlns:a16="http://schemas.microsoft.com/office/drawing/2014/main" id="{1DC04F1E-70CE-A958-24C2-F26844B0D0B8}"/>
                </a:ext>
              </a:extLst>
            </p:cNvPr>
            <p:cNvSpPr/>
            <p:nvPr/>
          </p:nvSpPr>
          <p:spPr>
            <a:xfrm>
              <a:off x="5642260" y="3307059"/>
              <a:ext cx="709656" cy="326482"/>
            </a:xfrm>
            <a:prstGeom prst="rect">
              <a:avLst/>
            </a:prstGeom>
            <a:solidFill>
              <a:srgbClr val="FFF2CC"/>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97" name="Rectangle 296">
              <a:extLst>
                <a:ext uri="{FF2B5EF4-FFF2-40B4-BE49-F238E27FC236}">
                  <a16:creationId xmlns:a16="http://schemas.microsoft.com/office/drawing/2014/main" id="{06B36E4D-0C64-6D83-F2AF-297A75110700}"/>
                </a:ext>
              </a:extLst>
            </p:cNvPr>
            <p:cNvSpPr/>
            <p:nvPr/>
          </p:nvSpPr>
          <p:spPr>
            <a:xfrm>
              <a:off x="6345609" y="2980293"/>
              <a:ext cx="709656" cy="326482"/>
            </a:xfrm>
            <a:prstGeom prst="rect">
              <a:avLst/>
            </a:prstGeom>
            <a:solidFill>
              <a:srgbClr val="DFEBF7"/>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98" name="Rectangle 297">
              <a:extLst>
                <a:ext uri="{FF2B5EF4-FFF2-40B4-BE49-F238E27FC236}">
                  <a16:creationId xmlns:a16="http://schemas.microsoft.com/office/drawing/2014/main" id="{9F0B0E16-E14E-35AC-FEDC-9170781CA7EE}"/>
                </a:ext>
              </a:extLst>
            </p:cNvPr>
            <p:cNvSpPr/>
            <p:nvPr/>
          </p:nvSpPr>
          <p:spPr>
            <a:xfrm>
              <a:off x="6345609" y="3307059"/>
              <a:ext cx="709656" cy="326482"/>
            </a:xfrm>
            <a:prstGeom prst="rect">
              <a:avLst/>
            </a:prstGeom>
            <a:solidFill>
              <a:srgbClr val="E4F0DB"/>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99" name="Rectangle 298">
              <a:extLst>
                <a:ext uri="{FF2B5EF4-FFF2-40B4-BE49-F238E27FC236}">
                  <a16:creationId xmlns:a16="http://schemas.microsoft.com/office/drawing/2014/main" id="{6FED246D-28D1-E0A1-FC89-74D5AE78FE3C}"/>
                </a:ext>
              </a:extLst>
            </p:cNvPr>
            <p:cNvSpPr/>
            <p:nvPr/>
          </p:nvSpPr>
          <p:spPr>
            <a:xfrm>
              <a:off x="7052111" y="2980293"/>
              <a:ext cx="709656" cy="326482"/>
            </a:xfrm>
            <a:prstGeom prst="rect">
              <a:avLst/>
            </a:prstGeom>
            <a:solidFill>
              <a:srgbClr val="FBE6D6"/>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300" name="Rectangle 299">
              <a:extLst>
                <a:ext uri="{FF2B5EF4-FFF2-40B4-BE49-F238E27FC236}">
                  <a16:creationId xmlns:a16="http://schemas.microsoft.com/office/drawing/2014/main" id="{D08FEC69-FF5E-6CC4-0454-10F08EE69872}"/>
                </a:ext>
              </a:extLst>
            </p:cNvPr>
            <p:cNvSpPr/>
            <p:nvPr/>
          </p:nvSpPr>
          <p:spPr>
            <a:xfrm>
              <a:off x="7052111" y="3307059"/>
              <a:ext cx="709656" cy="326482"/>
            </a:xfrm>
            <a:prstGeom prst="rect">
              <a:avLst/>
            </a:prstGeom>
            <a:solidFill>
              <a:srgbClr val="FFF2CC"/>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301" name="Rectangle 300">
              <a:extLst>
                <a:ext uri="{FF2B5EF4-FFF2-40B4-BE49-F238E27FC236}">
                  <a16:creationId xmlns:a16="http://schemas.microsoft.com/office/drawing/2014/main" id="{A2FB0348-D183-85CE-B735-8F8028E0191E}"/>
                </a:ext>
              </a:extLst>
            </p:cNvPr>
            <p:cNvSpPr/>
            <p:nvPr/>
          </p:nvSpPr>
          <p:spPr>
            <a:xfrm>
              <a:off x="7755460" y="2980293"/>
              <a:ext cx="709656" cy="326482"/>
            </a:xfrm>
            <a:prstGeom prst="rect">
              <a:avLst/>
            </a:prstGeom>
            <a:solidFill>
              <a:srgbClr val="DFEBF7"/>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302" name="Rectangle 301">
              <a:extLst>
                <a:ext uri="{FF2B5EF4-FFF2-40B4-BE49-F238E27FC236}">
                  <a16:creationId xmlns:a16="http://schemas.microsoft.com/office/drawing/2014/main" id="{305907FE-6ED1-1811-FE91-8F6910CA9FE2}"/>
                </a:ext>
              </a:extLst>
            </p:cNvPr>
            <p:cNvSpPr/>
            <p:nvPr/>
          </p:nvSpPr>
          <p:spPr>
            <a:xfrm>
              <a:off x="7755460" y="3307059"/>
              <a:ext cx="709656" cy="326482"/>
            </a:xfrm>
            <a:prstGeom prst="rect">
              <a:avLst/>
            </a:prstGeom>
            <a:solidFill>
              <a:srgbClr val="E4F0DB"/>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303" name="Rectangle 302">
              <a:extLst>
                <a:ext uri="{FF2B5EF4-FFF2-40B4-BE49-F238E27FC236}">
                  <a16:creationId xmlns:a16="http://schemas.microsoft.com/office/drawing/2014/main" id="{F8FF1D4C-3CA4-F5A8-3ED2-51225E965556}"/>
                </a:ext>
              </a:extLst>
            </p:cNvPr>
            <p:cNvSpPr/>
            <p:nvPr/>
          </p:nvSpPr>
          <p:spPr>
            <a:xfrm>
              <a:off x="0" y="3627562"/>
              <a:ext cx="709656" cy="326482"/>
            </a:xfrm>
            <a:prstGeom prst="rect">
              <a:avLst/>
            </a:prstGeom>
            <a:solidFill>
              <a:srgbClr val="FBE6D6"/>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304" name="Rectangle 303">
              <a:extLst>
                <a:ext uri="{FF2B5EF4-FFF2-40B4-BE49-F238E27FC236}">
                  <a16:creationId xmlns:a16="http://schemas.microsoft.com/office/drawing/2014/main" id="{3FA6459F-A627-57E7-A0C4-DAA4DBE7C469}"/>
                </a:ext>
              </a:extLst>
            </p:cNvPr>
            <p:cNvSpPr/>
            <p:nvPr/>
          </p:nvSpPr>
          <p:spPr>
            <a:xfrm>
              <a:off x="703349" y="3627562"/>
              <a:ext cx="709656" cy="326482"/>
            </a:xfrm>
            <a:prstGeom prst="rect">
              <a:avLst/>
            </a:prstGeom>
            <a:solidFill>
              <a:srgbClr val="DFEBF7"/>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305" name="Rectangle 304">
              <a:extLst>
                <a:ext uri="{FF2B5EF4-FFF2-40B4-BE49-F238E27FC236}">
                  <a16:creationId xmlns:a16="http://schemas.microsoft.com/office/drawing/2014/main" id="{B69E0716-8237-BD70-9EFE-D189274FCB53}"/>
                </a:ext>
              </a:extLst>
            </p:cNvPr>
            <p:cNvSpPr/>
            <p:nvPr/>
          </p:nvSpPr>
          <p:spPr>
            <a:xfrm>
              <a:off x="1409851" y="3627562"/>
              <a:ext cx="709656" cy="326482"/>
            </a:xfrm>
            <a:prstGeom prst="rect">
              <a:avLst/>
            </a:prstGeom>
            <a:solidFill>
              <a:srgbClr val="FBE6D6"/>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306" name="Rectangle 305">
              <a:extLst>
                <a:ext uri="{FF2B5EF4-FFF2-40B4-BE49-F238E27FC236}">
                  <a16:creationId xmlns:a16="http://schemas.microsoft.com/office/drawing/2014/main" id="{D39DB5F9-A88C-B509-1167-74E058993136}"/>
                </a:ext>
              </a:extLst>
            </p:cNvPr>
            <p:cNvSpPr/>
            <p:nvPr/>
          </p:nvSpPr>
          <p:spPr>
            <a:xfrm>
              <a:off x="2113199" y="3627562"/>
              <a:ext cx="709656" cy="326482"/>
            </a:xfrm>
            <a:prstGeom prst="rect">
              <a:avLst/>
            </a:prstGeom>
            <a:solidFill>
              <a:srgbClr val="DFEBF7"/>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307" name="Rectangle 306">
              <a:extLst>
                <a:ext uri="{FF2B5EF4-FFF2-40B4-BE49-F238E27FC236}">
                  <a16:creationId xmlns:a16="http://schemas.microsoft.com/office/drawing/2014/main" id="{0125B88F-A333-BE32-6AED-38A928579558}"/>
                </a:ext>
              </a:extLst>
            </p:cNvPr>
            <p:cNvSpPr/>
            <p:nvPr/>
          </p:nvSpPr>
          <p:spPr>
            <a:xfrm>
              <a:off x="2813395" y="3627562"/>
              <a:ext cx="709656" cy="326482"/>
            </a:xfrm>
            <a:prstGeom prst="rect">
              <a:avLst/>
            </a:prstGeom>
            <a:solidFill>
              <a:srgbClr val="FBE6D6"/>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308" name="Rectangle 307">
              <a:extLst>
                <a:ext uri="{FF2B5EF4-FFF2-40B4-BE49-F238E27FC236}">
                  <a16:creationId xmlns:a16="http://schemas.microsoft.com/office/drawing/2014/main" id="{2D89442B-2409-3392-AC90-A57D5FA9C6BD}"/>
                </a:ext>
              </a:extLst>
            </p:cNvPr>
            <p:cNvSpPr/>
            <p:nvPr/>
          </p:nvSpPr>
          <p:spPr>
            <a:xfrm>
              <a:off x="3516743" y="3627562"/>
              <a:ext cx="709656" cy="326482"/>
            </a:xfrm>
            <a:prstGeom prst="rect">
              <a:avLst/>
            </a:prstGeom>
            <a:solidFill>
              <a:srgbClr val="DFEBF7"/>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309" name="Rectangle 308">
              <a:extLst>
                <a:ext uri="{FF2B5EF4-FFF2-40B4-BE49-F238E27FC236}">
                  <a16:creationId xmlns:a16="http://schemas.microsoft.com/office/drawing/2014/main" id="{1E4A4DDD-324A-A6BD-3642-BEC11DA4D349}"/>
                </a:ext>
              </a:extLst>
            </p:cNvPr>
            <p:cNvSpPr/>
            <p:nvPr/>
          </p:nvSpPr>
          <p:spPr>
            <a:xfrm>
              <a:off x="4223245" y="3627562"/>
              <a:ext cx="709656" cy="326482"/>
            </a:xfrm>
            <a:prstGeom prst="rect">
              <a:avLst/>
            </a:prstGeom>
            <a:solidFill>
              <a:srgbClr val="FBE6D6"/>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310" name="Rectangle 309">
              <a:extLst>
                <a:ext uri="{FF2B5EF4-FFF2-40B4-BE49-F238E27FC236}">
                  <a16:creationId xmlns:a16="http://schemas.microsoft.com/office/drawing/2014/main" id="{117BC9EB-151A-BFE8-CEBA-D3FD0D8BC221}"/>
                </a:ext>
              </a:extLst>
            </p:cNvPr>
            <p:cNvSpPr/>
            <p:nvPr/>
          </p:nvSpPr>
          <p:spPr>
            <a:xfrm>
              <a:off x="4926594" y="3627562"/>
              <a:ext cx="709656" cy="326482"/>
            </a:xfrm>
            <a:prstGeom prst="rect">
              <a:avLst/>
            </a:prstGeom>
            <a:solidFill>
              <a:srgbClr val="DFEBF7"/>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311" name="Rectangle 310">
              <a:extLst>
                <a:ext uri="{FF2B5EF4-FFF2-40B4-BE49-F238E27FC236}">
                  <a16:creationId xmlns:a16="http://schemas.microsoft.com/office/drawing/2014/main" id="{3DC2580A-66D6-9763-8966-C3FE257A0943}"/>
                </a:ext>
              </a:extLst>
            </p:cNvPr>
            <p:cNvSpPr/>
            <p:nvPr/>
          </p:nvSpPr>
          <p:spPr>
            <a:xfrm>
              <a:off x="5642260" y="3627562"/>
              <a:ext cx="709656" cy="326482"/>
            </a:xfrm>
            <a:prstGeom prst="rect">
              <a:avLst/>
            </a:prstGeom>
            <a:solidFill>
              <a:srgbClr val="FBE6D6"/>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312" name="Rectangle 311">
              <a:extLst>
                <a:ext uri="{FF2B5EF4-FFF2-40B4-BE49-F238E27FC236}">
                  <a16:creationId xmlns:a16="http://schemas.microsoft.com/office/drawing/2014/main" id="{44135978-94FA-6F62-08BB-6378318AAB72}"/>
                </a:ext>
              </a:extLst>
            </p:cNvPr>
            <p:cNvSpPr/>
            <p:nvPr/>
          </p:nvSpPr>
          <p:spPr>
            <a:xfrm>
              <a:off x="6345609" y="3627562"/>
              <a:ext cx="709656" cy="326482"/>
            </a:xfrm>
            <a:prstGeom prst="rect">
              <a:avLst/>
            </a:prstGeom>
            <a:solidFill>
              <a:srgbClr val="DFEBF7"/>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313" name="Rectangle 312">
              <a:extLst>
                <a:ext uri="{FF2B5EF4-FFF2-40B4-BE49-F238E27FC236}">
                  <a16:creationId xmlns:a16="http://schemas.microsoft.com/office/drawing/2014/main" id="{114DDAAA-4EB7-F874-41A9-223FC6958E76}"/>
                </a:ext>
              </a:extLst>
            </p:cNvPr>
            <p:cNvSpPr/>
            <p:nvPr/>
          </p:nvSpPr>
          <p:spPr>
            <a:xfrm>
              <a:off x="7052111" y="3627562"/>
              <a:ext cx="709656" cy="326482"/>
            </a:xfrm>
            <a:prstGeom prst="rect">
              <a:avLst/>
            </a:prstGeom>
            <a:solidFill>
              <a:srgbClr val="FBE6D6"/>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314" name="Rectangle 313">
              <a:extLst>
                <a:ext uri="{FF2B5EF4-FFF2-40B4-BE49-F238E27FC236}">
                  <a16:creationId xmlns:a16="http://schemas.microsoft.com/office/drawing/2014/main" id="{605BF3C1-E037-55B9-740E-135B06C5B9E3}"/>
                </a:ext>
              </a:extLst>
            </p:cNvPr>
            <p:cNvSpPr/>
            <p:nvPr/>
          </p:nvSpPr>
          <p:spPr>
            <a:xfrm>
              <a:off x="7755460" y="3627562"/>
              <a:ext cx="709656" cy="326482"/>
            </a:xfrm>
            <a:prstGeom prst="rect">
              <a:avLst/>
            </a:prstGeom>
            <a:solidFill>
              <a:srgbClr val="DFEBF7"/>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grpSp>
      <p:sp>
        <p:nvSpPr>
          <p:cNvPr id="168" name="Rectangle 167">
            <a:extLst>
              <a:ext uri="{FF2B5EF4-FFF2-40B4-BE49-F238E27FC236}">
                <a16:creationId xmlns:a16="http://schemas.microsoft.com/office/drawing/2014/main" id="{0A01AB90-90C0-147B-BAC4-433FCB160324}"/>
              </a:ext>
            </a:extLst>
          </p:cNvPr>
          <p:cNvSpPr/>
          <p:nvPr/>
        </p:nvSpPr>
        <p:spPr>
          <a:xfrm>
            <a:off x="639803" y="1852523"/>
            <a:ext cx="10878987" cy="3717067"/>
          </a:xfrm>
          <a:prstGeom prst="rect">
            <a:avLst/>
          </a:prstGeom>
          <a:solidFill>
            <a:schemeClr val="bg1">
              <a:alpha val="0"/>
            </a:schemeClr>
          </a:solidFill>
          <a:ln w="19050">
            <a:solidFill>
              <a:schemeClr val="tx1"/>
            </a:solidFill>
            <a:prstDash val="lgDashDot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cxnSp>
        <p:nvCxnSpPr>
          <p:cNvPr id="169" name="Straight Connector 168">
            <a:extLst>
              <a:ext uri="{FF2B5EF4-FFF2-40B4-BE49-F238E27FC236}">
                <a16:creationId xmlns:a16="http://schemas.microsoft.com/office/drawing/2014/main" id="{31CB957E-2DBB-DF4E-8410-5910CEB601A9}"/>
              </a:ext>
            </a:extLst>
          </p:cNvPr>
          <p:cNvCxnSpPr>
            <a:cxnSpLocks/>
          </p:cNvCxnSpPr>
          <p:nvPr/>
        </p:nvCxnSpPr>
        <p:spPr>
          <a:xfrm>
            <a:off x="3199625" y="2405981"/>
            <a:ext cx="5777987"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1E2A719A-481B-71EF-EC55-3468067908E2}"/>
              </a:ext>
            </a:extLst>
          </p:cNvPr>
          <p:cNvCxnSpPr>
            <a:cxnSpLocks/>
          </p:cNvCxnSpPr>
          <p:nvPr/>
        </p:nvCxnSpPr>
        <p:spPr>
          <a:xfrm>
            <a:off x="3199624" y="3281886"/>
            <a:ext cx="5775445"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85BB49F6-A9FB-5328-19F6-C0146AAFC4C6}"/>
              </a:ext>
            </a:extLst>
          </p:cNvPr>
          <p:cNvCxnSpPr>
            <a:cxnSpLocks/>
          </p:cNvCxnSpPr>
          <p:nvPr/>
        </p:nvCxnSpPr>
        <p:spPr>
          <a:xfrm>
            <a:off x="3199624" y="4157790"/>
            <a:ext cx="5775445"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66B59646-BAFA-7E66-B8DF-2FA1490134D7}"/>
              </a:ext>
            </a:extLst>
          </p:cNvPr>
          <p:cNvCxnSpPr>
            <a:cxnSpLocks/>
          </p:cNvCxnSpPr>
          <p:nvPr/>
        </p:nvCxnSpPr>
        <p:spPr>
          <a:xfrm flipV="1">
            <a:off x="2082604" y="2706793"/>
            <a:ext cx="0" cy="2026086"/>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BE9CBE1A-5E9D-ADFF-67E1-07F164CDE92A}"/>
              </a:ext>
            </a:extLst>
          </p:cNvPr>
          <p:cNvCxnSpPr>
            <a:cxnSpLocks/>
          </p:cNvCxnSpPr>
          <p:nvPr/>
        </p:nvCxnSpPr>
        <p:spPr>
          <a:xfrm flipV="1">
            <a:off x="4752433" y="2706793"/>
            <a:ext cx="0" cy="2026086"/>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FD6546F9-E0D8-2F69-611F-5BB1A8925F7A}"/>
              </a:ext>
            </a:extLst>
          </p:cNvPr>
          <p:cNvCxnSpPr>
            <a:cxnSpLocks/>
          </p:cNvCxnSpPr>
          <p:nvPr/>
        </p:nvCxnSpPr>
        <p:spPr>
          <a:xfrm flipV="1">
            <a:off x="7422261" y="2727402"/>
            <a:ext cx="0" cy="200548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A156254E-BBDD-3553-1165-71E33E9E0AD5}"/>
              </a:ext>
            </a:extLst>
          </p:cNvPr>
          <p:cNvCxnSpPr>
            <a:cxnSpLocks/>
          </p:cNvCxnSpPr>
          <p:nvPr/>
        </p:nvCxnSpPr>
        <p:spPr>
          <a:xfrm flipV="1">
            <a:off x="10092089" y="2706793"/>
            <a:ext cx="2543" cy="2026086"/>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24BF7B23-4865-FEFA-EEE7-625B01AF9262}"/>
              </a:ext>
            </a:extLst>
          </p:cNvPr>
          <p:cNvCxnSpPr>
            <a:cxnSpLocks/>
          </p:cNvCxnSpPr>
          <p:nvPr/>
        </p:nvCxnSpPr>
        <p:spPr>
          <a:xfrm>
            <a:off x="3199624" y="5033692"/>
            <a:ext cx="5775445"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DFEE930F-2F08-01B7-FE8D-D473195DE0B6}"/>
              </a:ext>
            </a:extLst>
          </p:cNvPr>
          <p:cNvCxnSpPr>
            <a:cxnSpLocks/>
          </p:cNvCxnSpPr>
          <p:nvPr/>
        </p:nvCxnSpPr>
        <p:spPr>
          <a:xfrm>
            <a:off x="3199624" y="2706794"/>
            <a:ext cx="5775445" cy="2027978"/>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48074E19-2525-F1E4-37B2-1F7F83720659}"/>
              </a:ext>
            </a:extLst>
          </p:cNvPr>
          <p:cNvCxnSpPr>
            <a:cxnSpLocks/>
          </p:cNvCxnSpPr>
          <p:nvPr/>
        </p:nvCxnSpPr>
        <p:spPr>
          <a:xfrm flipV="1">
            <a:off x="3199327" y="2684974"/>
            <a:ext cx="5788862" cy="2068512"/>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sp>
        <p:nvSpPr>
          <p:cNvPr id="195" name="Rounded Rectangle 2601">
            <a:extLst>
              <a:ext uri="{FF2B5EF4-FFF2-40B4-BE49-F238E27FC236}">
                <a16:creationId xmlns:a16="http://schemas.microsoft.com/office/drawing/2014/main" id="{BD0294F0-30E6-CE64-5786-D9CBB69DBCB2}"/>
              </a:ext>
            </a:extLst>
          </p:cNvPr>
          <p:cNvSpPr>
            <a:spLocks/>
          </p:cNvSpPr>
          <p:nvPr/>
        </p:nvSpPr>
        <p:spPr>
          <a:xfrm>
            <a:off x="628640" y="940680"/>
            <a:ext cx="3443479" cy="854002"/>
          </a:xfrm>
          <a:prstGeom prst="roundRect">
            <a:avLst>
              <a:gd name="adj" fmla="val 5966"/>
            </a:avLst>
          </a:prstGeom>
          <a:noFill/>
          <a:ln>
            <a:noFill/>
            <a:prstDash val="solid"/>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Light" panose="020F0302020204030204"/>
                <a:ea typeface="Source Sans Pro" panose="020B0503030403020204" pitchFamily="34" charset="0"/>
                <a:cs typeface="Source Sans Pro Light" panose="020B0403030403020204" pitchFamily="34" charset="0"/>
              </a:rPr>
              <a:t>Concept illustrates the multitude of systems in ORD’s area of operations that it organizes represented by their function type (not all inclusive).</a:t>
            </a:r>
            <a:endParaRPr kumimoji="0" lang="en-US" sz="1600" b="0" i="0" u="none" strike="noStrike" kern="1200" cap="none" spc="0" normalizeH="0" baseline="0" noProof="0" dirty="0">
              <a:ln>
                <a:noFill/>
              </a:ln>
              <a:solidFill>
                <a:prstClr val="white"/>
              </a:solidFill>
              <a:effectLst/>
              <a:uLnTx/>
              <a:uFillTx/>
              <a:latin typeface="Calibri Light" panose="020F0302020204030204"/>
              <a:ea typeface="Source Sans Pro" panose="020B0503030403020204" pitchFamily="34" charset="0"/>
              <a:cs typeface="+mn-cs"/>
            </a:endParaRPr>
          </a:p>
        </p:txBody>
      </p:sp>
      <p:sp>
        <p:nvSpPr>
          <p:cNvPr id="196" name="Rounded Rectangle 153">
            <a:extLst>
              <a:ext uri="{FF2B5EF4-FFF2-40B4-BE49-F238E27FC236}">
                <a16:creationId xmlns:a16="http://schemas.microsoft.com/office/drawing/2014/main" id="{EED74623-C5A2-8AF8-01E6-C4A9A8AE1141}"/>
              </a:ext>
            </a:extLst>
          </p:cNvPr>
          <p:cNvSpPr>
            <a:spLocks/>
          </p:cNvSpPr>
          <p:nvPr/>
        </p:nvSpPr>
        <p:spPr>
          <a:xfrm>
            <a:off x="663511" y="5727053"/>
            <a:ext cx="1776789" cy="359118"/>
          </a:xfrm>
          <a:prstGeom prst="roundRect">
            <a:avLst>
              <a:gd name="adj" fmla="val 5966"/>
            </a:avLst>
          </a:prstGeom>
          <a:solidFill>
            <a:schemeClr val="bg1">
              <a:alpha val="85000"/>
            </a:schemeClr>
          </a:solidFill>
          <a:ln>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lIns="9144" rIns="9144"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Light" panose="020F0302020204030204"/>
                <a:ea typeface="Times New Roman" panose="02020603050405020304" pitchFamily="18" charset="0"/>
                <a:cs typeface="Source Sans Pro Light" panose="020B0403030403020204" pitchFamily="34" charset="0"/>
              </a:rPr>
              <a:t>System by Function</a:t>
            </a:r>
            <a:endParaRPr kumimoji="0" lang="en-US" sz="1200" b="1" i="0" u="none" strike="noStrike" kern="1200" cap="none" spc="0" normalizeH="0" baseline="0" noProof="0" dirty="0">
              <a:ln>
                <a:noFill/>
              </a:ln>
              <a:solidFill>
                <a:prstClr val="white"/>
              </a:solidFill>
              <a:effectLst/>
              <a:uLnTx/>
              <a:uFillTx/>
              <a:latin typeface="Calibri Light" panose="020F0302020204030204"/>
              <a:ea typeface="Times New Roman" panose="02020603050405020304" pitchFamily="18" charset="0"/>
              <a:cs typeface="+mn-cs"/>
            </a:endParaRPr>
          </a:p>
        </p:txBody>
      </p:sp>
      <p:grpSp>
        <p:nvGrpSpPr>
          <p:cNvPr id="197" name="Group 196">
            <a:extLst>
              <a:ext uri="{FF2B5EF4-FFF2-40B4-BE49-F238E27FC236}">
                <a16:creationId xmlns:a16="http://schemas.microsoft.com/office/drawing/2014/main" id="{6B43605F-FCBE-B004-0AE9-0CE1F1298C9B}"/>
              </a:ext>
            </a:extLst>
          </p:cNvPr>
          <p:cNvGrpSpPr/>
          <p:nvPr/>
        </p:nvGrpSpPr>
        <p:grpSpPr>
          <a:xfrm>
            <a:off x="3406755" y="5733909"/>
            <a:ext cx="4483107" cy="326312"/>
            <a:chOff x="2246318" y="3897104"/>
            <a:chExt cx="4905741" cy="173732"/>
          </a:xfrm>
        </p:grpSpPr>
        <p:sp>
          <p:nvSpPr>
            <p:cNvPr id="203" name="Rectangle 202">
              <a:extLst>
                <a:ext uri="{FF2B5EF4-FFF2-40B4-BE49-F238E27FC236}">
                  <a16:creationId xmlns:a16="http://schemas.microsoft.com/office/drawing/2014/main" id="{3D64021E-3ABA-F0A3-EA57-7BC87C2B8556}"/>
                </a:ext>
              </a:extLst>
            </p:cNvPr>
            <p:cNvSpPr/>
            <p:nvPr/>
          </p:nvSpPr>
          <p:spPr>
            <a:xfrm>
              <a:off x="2246318" y="3897105"/>
              <a:ext cx="1210953" cy="172995"/>
            </a:xfrm>
            <a:prstGeom prst="rect">
              <a:avLst/>
            </a:prstGeom>
            <a:solidFill>
              <a:srgbClr val="FBE6D6"/>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Calibri Light" panose="020F0302020204030204"/>
                  <a:ea typeface="Source Sans Pro Light" panose="020B0403030403020204" pitchFamily="34" charset="0"/>
                  <a:cs typeface="Times New Roman" panose="02020603050405020304" pitchFamily="18" charset="0"/>
                </a:rPr>
                <a:t>Infrastructure</a:t>
              </a:r>
              <a:endParaRPr kumimoji="0" lang="en-US" sz="1200" b="0" i="0" u="none" strike="noStrike" kern="1200" cap="none" spc="0" normalizeH="0" baseline="0" noProof="0">
                <a:ln>
                  <a:noFill/>
                </a:ln>
                <a:solidFill>
                  <a:prstClr val="white"/>
                </a:solidFill>
                <a:effectLst/>
                <a:uLnTx/>
                <a:uFillTx/>
                <a:latin typeface="Calibri Light" panose="020F0302020204030204"/>
                <a:ea typeface="Times New Roman" panose="02020603050405020304" pitchFamily="18" charset="0"/>
                <a:cs typeface="+mn-cs"/>
              </a:endParaRPr>
            </a:p>
          </p:txBody>
        </p:sp>
        <p:sp>
          <p:nvSpPr>
            <p:cNvPr id="204" name="Rectangle 203">
              <a:extLst>
                <a:ext uri="{FF2B5EF4-FFF2-40B4-BE49-F238E27FC236}">
                  <a16:creationId xmlns:a16="http://schemas.microsoft.com/office/drawing/2014/main" id="{95047633-F2A3-C0F9-9E98-6C67FF88760F}"/>
                </a:ext>
              </a:extLst>
            </p:cNvPr>
            <p:cNvSpPr/>
            <p:nvPr/>
          </p:nvSpPr>
          <p:spPr>
            <a:xfrm>
              <a:off x="4709510" y="3897841"/>
              <a:ext cx="1210953" cy="172995"/>
            </a:xfrm>
            <a:prstGeom prst="rect">
              <a:avLst/>
            </a:prstGeom>
            <a:solidFill>
              <a:srgbClr val="FFF2CC"/>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Calibri Light" panose="020F0302020204030204"/>
                  <a:ea typeface="Source Sans Pro Light" panose="020B0403030403020204" pitchFamily="34" charset="0"/>
                  <a:cs typeface="Times New Roman" panose="02020603050405020304" pitchFamily="18" charset="0"/>
                </a:rPr>
                <a:t>Tools</a:t>
              </a:r>
              <a:endParaRPr kumimoji="0" lang="en-US" sz="1200" b="0" i="0" u="none" strike="noStrike" kern="1200" cap="none" spc="0" normalizeH="0" baseline="0" noProof="0">
                <a:ln>
                  <a:noFill/>
                </a:ln>
                <a:solidFill>
                  <a:prstClr val="white"/>
                </a:solidFill>
                <a:effectLst/>
                <a:uLnTx/>
                <a:uFillTx/>
                <a:latin typeface="Calibri Light" panose="020F0302020204030204"/>
                <a:ea typeface="Times New Roman" panose="02020603050405020304" pitchFamily="18" charset="0"/>
                <a:cs typeface="+mn-cs"/>
              </a:endParaRPr>
            </a:p>
          </p:txBody>
        </p:sp>
        <p:sp>
          <p:nvSpPr>
            <p:cNvPr id="205" name="Rectangle 204">
              <a:extLst>
                <a:ext uri="{FF2B5EF4-FFF2-40B4-BE49-F238E27FC236}">
                  <a16:creationId xmlns:a16="http://schemas.microsoft.com/office/drawing/2014/main" id="{FC5BB683-3FD9-D2B3-CDE3-ABDA559277CD}"/>
                </a:ext>
              </a:extLst>
            </p:cNvPr>
            <p:cNvSpPr/>
            <p:nvPr/>
          </p:nvSpPr>
          <p:spPr>
            <a:xfrm>
              <a:off x="5941106" y="3897841"/>
              <a:ext cx="1210953" cy="172995"/>
            </a:xfrm>
            <a:prstGeom prst="rect">
              <a:avLst/>
            </a:prstGeom>
            <a:solidFill>
              <a:srgbClr val="E3F0DA"/>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Calibri Light" panose="020F0302020204030204"/>
                  <a:ea typeface="Source Sans Pro Light" panose="020B0403030403020204" pitchFamily="34" charset="0"/>
                  <a:cs typeface="Times New Roman" panose="02020603050405020304" pitchFamily="18" charset="0"/>
                </a:rPr>
                <a:t>Data</a:t>
              </a:r>
              <a:endParaRPr kumimoji="0" lang="en-US" sz="1200" b="0" i="0" u="none" strike="noStrike" kern="1200" cap="none" spc="0" normalizeH="0" baseline="0" noProof="0">
                <a:ln>
                  <a:noFill/>
                </a:ln>
                <a:solidFill>
                  <a:prstClr val="white"/>
                </a:solidFill>
                <a:effectLst/>
                <a:uLnTx/>
                <a:uFillTx/>
                <a:latin typeface="Calibri Light" panose="020F0302020204030204"/>
                <a:ea typeface="Times New Roman" panose="02020603050405020304" pitchFamily="18" charset="0"/>
                <a:cs typeface="+mn-cs"/>
              </a:endParaRPr>
            </a:p>
          </p:txBody>
        </p:sp>
        <p:sp>
          <p:nvSpPr>
            <p:cNvPr id="206" name="Rectangle 205">
              <a:extLst>
                <a:ext uri="{FF2B5EF4-FFF2-40B4-BE49-F238E27FC236}">
                  <a16:creationId xmlns:a16="http://schemas.microsoft.com/office/drawing/2014/main" id="{0C5504EA-B522-5DAA-BC9C-9A5E0F8D392D}"/>
                </a:ext>
              </a:extLst>
            </p:cNvPr>
            <p:cNvSpPr/>
            <p:nvPr/>
          </p:nvSpPr>
          <p:spPr>
            <a:xfrm>
              <a:off x="3477914" y="3897104"/>
              <a:ext cx="1210953" cy="172995"/>
            </a:xfrm>
            <a:prstGeom prst="rect">
              <a:avLst/>
            </a:prstGeom>
            <a:solidFill>
              <a:srgbClr val="DFEBF7"/>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Calibri Light" panose="020F0302020204030204"/>
                  <a:ea typeface="Source Sans Pro Light" panose="020B0403030403020204" pitchFamily="34" charset="0"/>
                  <a:cs typeface="Times New Roman" panose="02020603050405020304" pitchFamily="18" charset="0"/>
                </a:rPr>
                <a:t>Services</a:t>
              </a:r>
              <a:endParaRPr kumimoji="0" lang="en-US" sz="1200" b="0" i="0" u="none" strike="noStrike" kern="1200" cap="none" spc="0" normalizeH="0" baseline="0" noProof="0">
                <a:ln>
                  <a:noFill/>
                </a:ln>
                <a:solidFill>
                  <a:prstClr val="white"/>
                </a:solidFill>
                <a:effectLst/>
                <a:uLnTx/>
                <a:uFillTx/>
                <a:latin typeface="Calibri Light" panose="020F0302020204030204"/>
                <a:ea typeface="Times New Roman" panose="02020603050405020304" pitchFamily="18" charset="0"/>
                <a:cs typeface="+mn-cs"/>
              </a:endParaRPr>
            </a:p>
          </p:txBody>
        </p:sp>
      </p:grpSp>
      <p:sp>
        <p:nvSpPr>
          <p:cNvPr id="198" name="Rectangle 197">
            <a:extLst>
              <a:ext uri="{FF2B5EF4-FFF2-40B4-BE49-F238E27FC236}">
                <a16:creationId xmlns:a16="http://schemas.microsoft.com/office/drawing/2014/main" id="{024A31F4-D6D5-4FC8-B6A6-AEF40F8F312F}"/>
              </a:ext>
            </a:extLst>
          </p:cNvPr>
          <p:cNvSpPr/>
          <p:nvPr/>
        </p:nvSpPr>
        <p:spPr>
          <a:xfrm>
            <a:off x="2348848" y="5632447"/>
            <a:ext cx="1106628" cy="52864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ts val="1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Calibri Light" panose="020F0302020204030204"/>
                <a:ea typeface="Source Sans Pro Light" panose="020B0403030403020204" pitchFamily="34" charset="0"/>
                <a:cs typeface="Times New Roman" panose="02020603050405020304" pitchFamily="18" charset="0"/>
              </a:rPr>
              <a:t>System</a:t>
            </a:r>
            <a:endParaRPr kumimoji="0" lang="en-US" sz="1200" b="0" i="0" u="none" strike="noStrike" kern="1200" cap="none" spc="0" normalizeH="0" baseline="0" noProof="0">
              <a:ln>
                <a:noFill/>
              </a:ln>
              <a:solidFill>
                <a:prstClr val="white"/>
              </a:solidFill>
              <a:effectLst/>
              <a:uLnTx/>
              <a:uFillTx/>
              <a:latin typeface="Calibri Light" panose="020F0302020204030204"/>
              <a:ea typeface="Times New Roman" panose="02020603050405020304" pitchFamily="18" charset="0"/>
              <a:cs typeface="+mn-cs"/>
            </a:endParaRPr>
          </a:p>
          <a:p>
            <a:pPr marL="0" marR="0" lvl="0" indent="0" algn="r" defTabSz="914400" rtl="0" eaLnBrk="1" fontAlgn="auto" latinLnBrk="0" hangingPunct="1">
              <a:lnSpc>
                <a:spcPts val="1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Calibri Light" panose="020F0302020204030204"/>
                <a:ea typeface="Source Sans Pro Light" panose="020B0403030403020204" pitchFamily="34" charset="0"/>
                <a:cs typeface="Times New Roman" panose="02020603050405020304" pitchFamily="18" charset="0"/>
              </a:rPr>
              <a:t>Components</a:t>
            </a:r>
            <a:endParaRPr kumimoji="0" lang="en-US" sz="1200" b="0" i="0" u="none" strike="noStrike" kern="1200" cap="none" spc="0" normalizeH="0" baseline="0" noProof="0">
              <a:ln>
                <a:noFill/>
              </a:ln>
              <a:solidFill>
                <a:prstClr val="white"/>
              </a:solidFill>
              <a:effectLst/>
              <a:uLnTx/>
              <a:uFillTx/>
              <a:latin typeface="Calibri Light" panose="020F0302020204030204"/>
              <a:ea typeface="Times New Roman" panose="02020603050405020304" pitchFamily="18" charset="0"/>
              <a:cs typeface="+mn-cs"/>
            </a:endParaRPr>
          </a:p>
        </p:txBody>
      </p:sp>
      <p:cxnSp>
        <p:nvCxnSpPr>
          <p:cNvPr id="199" name="Straight Connector 198">
            <a:extLst>
              <a:ext uri="{FF2B5EF4-FFF2-40B4-BE49-F238E27FC236}">
                <a16:creationId xmlns:a16="http://schemas.microsoft.com/office/drawing/2014/main" id="{E755D225-3125-2BBC-17C7-71A00269FD9D}"/>
              </a:ext>
            </a:extLst>
          </p:cNvPr>
          <p:cNvCxnSpPr>
            <a:cxnSpLocks/>
          </p:cNvCxnSpPr>
          <p:nvPr/>
        </p:nvCxnSpPr>
        <p:spPr>
          <a:xfrm>
            <a:off x="8753139" y="5964796"/>
            <a:ext cx="1240225"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2FB775FF-B4BF-DBF4-6C63-3FBA34356FF9}"/>
              </a:ext>
            </a:extLst>
          </p:cNvPr>
          <p:cNvCxnSpPr>
            <a:cxnSpLocks/>
          </p:cNvCxnSpPr>
          <p:nvPr/>
        </p:nvCxnSpPr>
        <p:spPr>
          <a:xfrm>
            <a:off x="10269457" y="5964796"/>
            <a:ext cx="1240225" cy="0"/>
          </a:xfrm>
          <a:prstGeom prst="line">
            <a:avLst/>
          </a:prstGeom>
          <a:ln w="12700">
            <a:solidFill>
              <a:schemeClr val="tx1"/>
            </a:solidFill>
            <a:prstDash val="lgDashDotDot"/>
          </a:ln>
        </p:spPr>
        <p:style>
          <a:lnRef idx="1">
            <a:schemeClr val="accent1"/>
          </a:lnRef>
          <a:fillRef idx="0">
            <a:schemeClr val="accent1"/>
          </a:fillRef>
          <a:effectRef idx="0">
            <a:schemeClr val="accent1"/>
          </a:effectRef>
          <a:fontRef idx="minor">
            <a:schemeClr val="tx1"/>
          </a:fontRef>
        </p:style>
      </p:cxnSp>
      <p:sp>
        <p:nvSpPr>
          <p:cNvPr id="201" name="Rectangle 200">
            <a:extLst>
              <a:ext uri="{FF2B5EF4-FFF2-40B4-BE49-F238E27FC236}">
                <a16:creationId xmlns:a16="http://schemas.microsoft.com/office/drawing/2014/main" id="{ACEF78A7-B412-76A9-95D3-1E6F2D159E1C}"/>
              </a:ext>
            </a:extLst>
          </p:cNvPr>
          <p:cNvSpPr/>
          <p:nvPr/>
        </p:nvSpPr>
        <p:spPr>
          <a:xfrm>
            <a:off x="8639719" y="5672840"/>
            <a:ext cx="1665334" cy="370978"/>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Calibri Light" panose="020F0302020204030204"/>
                <a:ea typeface="Source Sans Pro Light" panose="020B0403030403020204" pitchFamily="34" charset="0"/>
                <a:cs typeface="Times New Roman" panose="02020603050405020304" pitchFamily="18" charset="0"/>
              </a:rPr>
              <a:t>Coordination by ORD</a:t>
            </a:r>
            <a:endParaRPr kumimoji="0" lang="en-US" sz="1200" b="0" i="0" u="none" strike="noStrike" kern="1200" cap="none" spc="0" normalizeH="0" baseline="0" noProof="0">
              <a:ln>
                <a:noFill/>
              </a:ln>
              <a:solidFill>
                <a:prstClr val="white"/>
              </a:solidFill>
              <a:effectLst/>
              <a:uLnTx/>
              <a:uFillTx/>
              <a:latin typeface="Calibri Light" panose="020F0302020204030204"/>
              <a:ea typeface="Times New Roman" panose="02020603050405020304" pitchFamily="18" charset="0"/>
              <a:cs typeface="+mn-cs"/>
            </a:endParaRPr>
          </a:p>
        </p:txBody>
      </p:sp>
      <p:cxnSp>
        <p:nvCxnSpPr>
          <p:cNvPr id="202" name="Straight Connector 201">
            <a:extLst>
              <a:ext uri="{FF2B5EF4-FFF2-40B4-BE49-F238E27FC236}">
                <a16:creationId xmlns:a16="http://schemas.microsoft.com/office/drawing/2014/main" id="{1DA6436F-91BB-D335-84CB-3EFE3C47F919}"/>
              </a:ext>
            </a:extLst>
          </p:cNvPr>
          <p:cNvCxnSpPr>
            <a:cxnSpLocks/>
            <a:endCxn id="317" idx="2"/>
          </p:cNvCxnSpPr>
          <p:nvPr/>
        </p:nvCxnSpPr>
        <p:spPr>
          <a:xfrm flipV="1">
            <a:off x="10090637" y="1667343"/>
            <a:ext cx="0" cy="18518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sp>
        <p:nvSpPr>
          <p:cNvPr id="315" name="Rounded Rectangle 144">
            <a:extLst>
              <a:ext uri="{FF2B5EF4-FFF2-40B4-BE49-F238E27FC236}">
                <a16:creationId xmlns:a16="http://schemas.microsoft.com/office/drawing/2014/main" id="{67AE1799-E583-A2D4-91BC-50C01B775255}"/>
              </a:ext>
            </a:extLst>
          </p:cNvPr>
          <p:cNvSpPr>
            <a:spLocks/>
          </p:cNvSpPr>
          <p:nvPr/>
        </p:nvSpPr>
        <p:spPr>
          <a:xfrm>
            <a:off x="4978455" y="1004772"/>
            <a:ext cx="2231136" cy="660060"/>
          </a:xfrm>
          <a:prstGeom prst="roundRect">
            <a:avLst>
              <a:gd name="adj" fmla="val 5966"/>
            </a:avLst>
          </a:prstGeom>
          <a:solidFill>
            <a:schemeClr val="bg1">
              <a:alpha val="85000"/>
            </a:schemeClr>
          </a:solidFill>
          <a:ln w="19050">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lIns="9144" rIns="9144"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Light" panose="020F0302020204030204"/>
                <a:ea typeface="Times New Roman" panose="02020603050405020304" pitchFamily="18" charset="0"/>
                <a:cs typeface="Source Sans Pro Light" panose="020B0403030403020204" pitchFamily="34" charset="0"/>
              </a:rPr>
              <a:t>ORD Initiative Team</a:t>
            </a:r>
            <a:endParaRPr kumimoji="0" lang="en-US" sz="1200" b="0" i="0" u="none" strike="noStrike" kern="1200" cap="none" spc="0" normalizeH="0" baseline="0" noProof="0" dirty="0">
              <a:ln>
                <a:noFill/>
              </a:ln>
              <a:solidFill>
                <a:prstClr val="white"/>
              </a:solidFill>
              <a:effectLst/>
              <a:uLnTx/>
              <a:uFillTx/>
              <a:latin typeface="Calibri Light" panose="020F0302020204030204"/>
              <a:ea typeface="Times New Roman" panose="02020603050405020304" pitchFamily="18" charset="0"/>
              <a:cs typeface="+mn-cs"/>
            </a:endParaRPr>
          </a:p>
        </p:txBody>
      </p:sp>
      <p:cxnSp>
        <p:nvCxnSpPr>
          <p:cNvPr id="316" name="Straight Connector 315">
            <a:extLst>
              <a:ext uri="{FF2B5EF4-FFF2-40B4-BE49-F238E27FC236}">
                <a16:creationId xmlns:a16="http://schemas.microsoft.com/office/drawing/2014/main" id="{B413E094-0243-A6D9-D613-62ECB992ACBA}"/>
              </a:ext>
            </a:extLst>
          </p:cNvPr>
          <p:cNvCxnSpPr>
            <a:cxnSpLocks/>
            <a:stCxn id="317" idx="1"/>
            <a:endCxn id="315" idx="3"/>
          </p:cNvCxnSpPr>
          <p:nvPr/>
        </p:nvCxnSpPr>
        <p:spPr>
          <a:xfrm flipH="1" flipV="1">
            <a:off x="7209591" y="1334802"/>
            <a:ext cx="1765478" cy="2511"/>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sp>
        <p:nvSpPr>
          <p:cNvPr id="317" name="Rounded Rectangle 144">
            <a:extLst>
              <a:ext uri="{FF2B5EF4-FFF2-40B4-BE49-F238E27FC236}">
                <a16:creationId xmlns:a16="http://schemas.microsoft.com/office/drawing/2014/main" id="{221C5D76-53DD-DE07-7CFD-0C607335FB37}"/>
              </a:ext>
            </a:extLst>
          </p:cNvPr>
          <p:cNvSpPr>
            <a:spLocks/>
          </p:cNvSpPr>
          <p:nvPr/>
        </p:nvSpPr>
        <p:spPr>
          <a:xfrm>
            <a:off x="8975069" y="1007283"/>
            <a:ext cx="2231136" cy="660060"/>
          </a:xfrm>
          <a:prstGeom prst="roundRect">
            <a:avLst>
              <a:gd name="adj" fmla="val 5966"/>
            </a:avLst>
          </a:prstGeom>
          <a:solidFill>
            <a:schemeClr val="bg1">
              <a:alpha val="85000"/>
            </a:schemeClr>
          </a:solidFill>
          <a:ln w="19050">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lIns="9144" rIns="9144"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Light" panose="020F0302020204030204"/>
                <a:ea typeface="Times New Roman" panose="02020603050405020304" pitchFamily="18" charset="0"/>
                <a:cs typeface="Source Sans Pro Light" panose="020B0403030403020204" pitchFamily="34" charset="0"/>
              </a:rPr>
              <a:t>System Owner Coordination (SOC) group</a:t>
            </a:r>
            <a:endParaRPr kumimoji="0" lang="en-US" sz="1200" b="0" i="0" u="none" strike="noStrike" kern="1200" cap="none" spc="0" normalizeH="0" baseline="0" noProof="0" dirty="0">
              <a:ln>
                <a:noFill/>
              </a:ln>
              <a:solidFill>
                <a:prstClr val="white"/>
              </a:solidFill>
              <a:effectLst/>
              <a:uLnTx/>
              <a:uFillTx/>
              <a:latin typeface="Calibri Light" panose="020F0302020204030204"/>
              <a:ea typeface="Times New Roman" panose="02020603050405020304" pitchFamily="18" charset="0"/>
              <a:cs typeface="+mn-cs"/>
            </a:endParaRPr>
          </a:p>
        </p:txBody>
      </p:sp>
      <p:sp>
        <p:nvSpPr>
          <p:cNvPr id="29" name="TextBox 28">
            <a:extLst>
              <a:ext uri="{FF2B5EF4-FFF2-40B4-BE49-F238E27FC236}">
                <a16:creationId xmlns:a16="http://schemas.microsoft.com/office/drawing/2014/main" id="{09B54652-5FA2-CFDA-8843-96A596E5EC26}"/>
              </a:ext>
            </a:extLst>
          </p:cNvPr>
          <p:cNvSpPr txBox="1"/>
          <p:nvPr/>
        </p:nvSpPr>
        <p:spPr>
          <a:xfrm>
            <a:off x="81841" y="6187635"/>
            <a:ext cx="12023834" cy="646331"/>
          </a:xfrm>
          <a:prstGeom prst="rect">
            <a:avLst/>
          </a:prstGeom>
          <a:solidFill>
            <a:srgbClr val="002E56"/>
          </a:solidFill>
        </p:spPr>
        <p:txBody>
          <a:bodyPr wrap="square" lIns="91440" tIns="45720" rIns="91440" bIns="45720" anchor="t">
            <a:spAutoFit/>
          </a:bodyPr>
          <a:lstStyle/>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prstClr val="white"/>
                </a:solidFill>
                <a:effectLst/>
                <a:uLnTx/>
                <a:uFillTx/>
                <a:latin typeface="Calibri Light" panose="020F0302020204030204"/>
                <a:ea typeface="Source Sans Pro" panose="020B0503030403020204" pitchFamily="34" charset="0"/>
                <a:cs typeface="+mn-cs"/>
              </a:rPr>
              <a:t>A system: </a:t>
            </a:r>
            <a:r>
              <a:rPr kumimoji="0" lang="en-US" sz="1200" b="0" i="0" u="none" strike="noStrike" kern="1200" cap="none" spc="0" normalizeH="0" baseline="0" noProof="0" dirty="0">
                <a:ln>
                  <a:noFill/>
                </a:ln>
                <a:solidFill>
                  <a:prstClr val="white"/>
                </a:solidFill>
                <a:effectLst/>
                <a:uLnTx/>
                <a:uFillTx/>
                <a:latin typeface="Calibri Light" panose="020F0302020204030204"/>
                <a:ea typeface="Source Sans Pro" panose="020B0503030403020204" pitchFamily="34" charset="0"/>
                <a:cs typeface="+mn-cs"/>
              </a:rPr>
              <a:t> A working combination of some, or all, components of </a:t>
            </a:r>
            <a:r>
              <a:rPr kumimoji="0" lang="en-US" sz="1200" b="0" i="0" u="sng" strike="noStrike" kern="1200" cap="none" spc="0" normalizeH="0" baseline="0" noProof="0" dirty="0">
                <a:ln>
                  <a:noFill/>
                </a:ln>
                <a:solidFill>
                  <a:prstClr val="white"/>
                </a:solidFill>
                <a:effectLst/>
                <a:uLnTx/>
                <a:uFillTx/>
                <a:latin typeface="Calibri Light" panose="020F0302020204030204"/>
                <a:ea typeface="Source Sans Pro" panose="020B0503030403020204" pitchFamily="34" charset="0"/>
                <a:cs typeface="+mn-cs"/>
              </a:rPr>
              <a:t>infrastructure</a:t>
            </a:r>
            <a:r>
              <a:rPr kumimoji="0" lang="en-US" sz="1200" b="0" i="0" u="none" strike="noStrike" kern="1200" cap="none" spc="0" normalizeH="0" baseline="0" noProof="0" dirty="0">
                <a:ln>
                  <a:noFill/>
                </a:ln>
                <a:solidFill>
                  <a:prstClr val="white"/>
                </a:solidFill>
                <a:effectLst/>
                <a:uLnTx/>
                <a:uFillTx/>
                <a:latin typeface="Calibri Light" panose="020F0302020204030204"/>
                <a:ea typeface="Source Sans Pro" panose="020B0503030403020204" pitchFamily="34" charset="0"/>
                <a:cs typeface="+mn-cs"/>
              </a:rPr>
              <a:t>, </a:t>
            </a:r>
            <a:r>
              <a:rPr kumimoji="0" lang="en-US" sz="1200" b="0" i="0" u="sng" strike="noStrike" kern="1200" cap="none" spc="0" normalizeH="0" baseline="0" noProof="0" dirty="0">
                <a:ln>
                  <a:noFill/>
                </a:ln>
                <a:solidFill>
                  <a:prstClr val="white"/>
                </a:solidFill>
                <a:effectLst/>
                <a:uLnTx/>
                <a:uFillTx/>
                <a:latin typeface="Calibri Light" panose="020F0302020204030204"/>
                <a:ea typeface="Source Sans Pro" panose="020B0503030403020204" pitchFamily="34" charset="0"/>
                <a:cs typeface="+mn-cs"/>
              </a:rPr>
              <a:t>tools</a:t>
            </a:r>
            <a:r>
              <a:rPr kumimoji="0" lang="en-US" sz="1200" b="0" i="0" u="none" strike="noStrike" kern="1200" cap="none" spc="0" normalizeH="0" baseline="0" noProof="0" dirty="0">
                <a:ln>
                  <a:noFill/>
                </a:ln>
                <a:solidFill>
                  <a:prstClr val="white"/>
                </a:solidFill>
                <a:effectLst/>
                <a:uLnTx/>
                <a:uFillTx/>
                <a:latin typeface="Calibri Light" panose="020F0302020204030204"/>
                <a:ea typeface="Source Sans Pro" panose="020B0503030403020204" pitchFamily="34" charset="0"/>
                <a:cs typeface="+mn-cs"/>
              </a:rPr>
              <a:t>, </a:t>
            </a:r>
            <a:r>
              <a:rPr kumimoji="0" lang="en-US" sz="1200" b="0" i="0" u="sng" strike="noStrike" kern="1200" cap="none" spc="0" normalizeH="0" baseline="0" noProof="0" dirty="0">
                <a:ln>
                  <a:noFill/>
                </a:ln>
                <a:solidFill>
                  <a:prstClr val="white"/>
                </a:solidFill>
                <a:effectLst/>
                <a:uLnTx/>
                <a:uFillTx/>
                <a:latin typeface="Calibri Light" panose="020F0302020204030204"/>
                <a:ea typeface="Source Sans Pro" panose="020B0503030403020204" pitchFamily="34" charset="0"/>
                <a:cs typeface="+mn-cs"/>
              </a:rPr>
              <a:t>data</a:t>
            </a:r>
            <a:r>
              <a:rPr kumimoji="0" lang="en-US" sz="1200" b="0" i="0" u="none" strike="noStrike" kern="1200" cap="none" spc="0" normalizeH="0" baseline="0" noProof="0" dirty="0">
                <a:ln>
                  <a:noFill/>
                </a:ln>
                <a:solidFill>
                  <a:prstClr val="white"/>
                </a:solidFill>
                <a:effectLst/>
                <a:uLnTx/>
                <a:uFillTx/>
                <a:latin typeface="Calibri Light" panose="020F0302020204030204"/>
                <a:ea typeface="Source Sans Pro" panose="020B0503030403020204" pitchFamily="34" charset="0"/>
                <a:cs typeface="+mn-cs"/>
              </a:rPr>
              <a:t>, and </a:t>
            </a:r>
            <a:r>
              <a:rPr kumimoji="0" lang="en-US" sz="1200" b="0" i="0" u="sng" strike="noStrike" kern="1200" cap="none" spc="0" normalizeH="0" baseline="0" noProof="0" dirty="0">
                <a:ln>
                  <a:noFill/>
                </a:ln>
                <a:solidFill>
                  <a:prstClr val="white"/>
                </a:solidFill>
                <a:effectLst/>
                <a:uLnTx/>
                <a:uFillTx/>
                <a:latin typeface="Calibri Light" panose="020F0302020204030204"/>
                <a:ea typeface="Source Sans Pro" panose="020B0503030403020204" pitchFamily="34" charset="0"/>
                <a:cs typeface="+mn-cs"/>
              </a:rPr>
              <a:t>support services </a:t>
            </a:r>
            <a:r>
              <a:rPr kumimoji="0" lang="en-US" sz="1200" b="0" i="0" u="none" strike="noStrike" kern="1200" cap="none" spc="0" normalizeH="0" baseline="0" noProof="0" dirty="0">
                <a:ln>
                  <a:noFill/>
                </a:ln>
                <a:solidFill>
                  <a:prstClr val="white"/>
                </a:solidFill>
                <a:effectLst/>
                <a:uLnTx/>
                <a:uFillTx/>
                <a:latin typeface="Calibri Light" panose="020F0302020204030204"/>
                <a:ea typeface="Source Sans Pro" panose="020B0503030403020204" pitchFamily="34" charset="0"/>
                <a:cs typeface="+mn-cs"/>
              </a:rPr>
              <a:t>under direct management that provides the capability to conduct research.</a:t>
            </a:r>
          </a:p>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prstClr val="white"/>
                </a:solidFill>
                <a:effectLst/>
                <a:uLnTx/>
                <a:uFillTx/>
                <a:latin typeface="Calibri Light" panose="020F0302020204030204"/>
                <a:ea typeface="Source Sans Pro" panose="020B0503030403020204" pitchFamily="34" charset="0"/>
                <a:cs typeface="+mn-cs"/>
              </a:rPr>
              <a:t>System-of-Systems (SoS): </a:t>
            </a:r>
            <a:r>
              <a:rPr kumimoji="0" lang="en-US" sz="1200" b="0" i="0" u="none" strike="noStrike" kern="1200" cap="none" spc="0" normalizeH="0" baseline="0" noProof="0" dirty="0">
                <a:ln>
                  <a:noFill/>
                </a:ln>
                <a:solidFill>
                  <a:prstClr val="white"/>
                </a:solidFill>
                <a:effectLst/>
                <a:uLnTx/>
                <a:uFillTx/>
                <a:latin typeface="Calibri Light" panose="020F0302020204030204"/>
                <a:ea typeface="Source Sans Pro" panose="020B0503030403020204" pitchFamily="34" charset="0"/>
                <a:cs typeface="+mn-cs"/>
              </a:rPr>
              <a:t>A collection of systems that support research, each capable of independent operation, that when organized together achieve additional desired research capabilities.</a:t>
            </a:r>
          </a:p>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prstClr val="white"/>
                </a:solidFill>
                <a:effectLst/>
                <a:uLnTx/>
                <a:uFillTx/>
                <a:latin typeface="Calibri Light" panose="020F0302020204030204"/>
                <a:ea typeface="Source Sans Pro"/>
                <a:cs typeface="+mn-cs"/>
              </a:rPr>
              <a:t>Function:  </a:t>
            </a:r>
            <a:r>
              <a:rPr kumimoji="0" lang="en-US" sz="1200" b="0" i="0" u="none" strike="noStrike" kern="1200" cap="none" spc="0" normalizeH="0" baseline="0" noProof="0" dirty="0">
                <a:ln>
                  <a:noFill/>
                </a:ln>
                <a:solidFill>
                  <a:prstClr val="white"/>
                </a:solidFill>
                <a:effectLst/>
                <a:uLnTx/>
                <a:uFillTx/>
                <a:latin typeface="Calibri Light" panose="020F0302020204030204"/>
                <a:ea typeface="Source Sans Pro"/>
                <a:cs typeface="+mn-cs"/>
              </a:rPr>
              <a:t>A set of related processes or activities carried out by a group.</a:t>
            </a:r>
            <a:endParaRPr kumimoji="0" lang="en-US" sz="1200" b="0" i="0" u="none" strike="noStrike" kern="1200" cap="none" spc="0" normalizeH="0" baseline="0" noProof="0" dirty="0">
              <a:ln>
                <a:noFill/>
              </a:ln>
              <a:solidFill>
                <a:prstClr val="white"/>
              </a:solidFill>
              <a:effectLst/>
              <a:uLnTx/>
              <a:uFillTx/>
              <a:latin typeface="Calibri Light" panose="020F0302020204030204"/>
              <a:ea typeface="Source Sans Pro"/>
              <a:cs typeface="Calibri Light"/>
            </a:endParaRPr>
          </a:p>
        </p:txBody>
      </p:sp>
      <p:sp>
        <p:nvSpPr>
          <p:cNvPr id="177" name="Rounded Rectangle 127">
            <a:extLst>
              <a:ext uri="{FF2B5EF4-FFF2-40B4-BE49-F238E27FC236}">
                <a16:creationId xmlns:a16="http://schemas.microsoft.com/office/drawing/2014/main" id="{AED0D3B0-4D63-CF6A-25BA-3D191E6E1428}"/>
              </a:ext>
            </a:extLst>
          </p:cNvPr>
          <p:cNvSpPr>
            <a:spLocks/>
          </p:cNvSpPr>
          <p:nvPr/>
        </p:nvSpPr>
        <p:spPr>
          <a:xfrm>
            <a:off x="965584" y="2105168"/>
            <a:ext cx="2234041" cy="601625"/>
          </a:xfrm>
          <a:prstGeom prst="roundRect">
            <a:avLst>
              <a:gd name="adj" fmla="val 5966"/>
            </a:avLst>
          </a:prstGeom>
          <a:solidFill>
            <a:schemeClr val="bg1">
              <a:alpha val="80000"/>
            </a:schemeClr>
          </a:solidFill>
          <a:ln w="12700">
            <a:solidFill>
              <a:schemeClr val="accent1"/>
            </a:solidFill>
            <a:prstDash val="solid"/>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 tIns="45720" rIns="9144"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Light" panose="020F0302020204030204"/>
                <a:ea typeface="Times New Roman" panose="02020603050405020304" pitchFamily="18" charset="0"/>
                <a:cs typeface="+mn-cs"/>
              </a:rPr>
              <a:t>Quantitative Analysis Systems</a:t>
            </a:r>
            <a:endParaRPr kumimoji="0" lang="en-US" sz="1200" b="0" i="0" u="none" strike="noStrike" kern="1200" cap="none" spc="0" normalizeH="0" baseline="0" noProof="0" dirty="0">
              <a:ln>
                <a:noFill/>
              </a:ln>
              <a:solidFill>
                <a:prstClr val="white"/>
              </a:solidFill>
              <a:effectLst/>
              <a:uLnTx/>
              <a:uFillTx/>
              <a:latin typeface="Calibri Light" panose="020F0302020204030204"/>
              <a:ea typeface="Times New Roman" panose="02020603050405020304" pitchFamily="18" charset="0"/>
              <a:cs typeface="+mn-cs"/>
            </a:endParaRPr>
          </a:p>
        </p:txBody>
      </p:sp>
      <p:sp>
        <p:nvSpPr>
          <p:cNvPr id="178" name="Rounded Rectangle 128">
            <a:extLst>
              <a:ext uri="{FF2B5EF4-FFF2-40B4-BE49-F238E27FC236}">
                <a16:creationId xmlns:a16="http://schemas.microsoft.com/office/drawing/2014/main" id="{BA494F9C-3C74-5D81-DB85-6B6FEE6C749B}"/>
              </a:ext>
            </a:extLst>
          </p:cNvPr>
          <p:cNvSpPr>
            <a:spLocks/>
          </p:cNvSpPr>
          <p:nvPr/>
        </p:nvSpPr>
        <p:spPr>
          <a:xfrm>
            <a:off x="3642659" y="3862068"/>
            <a:ext cx="2234041" cy="601625"/>
          </a:xfrm>
          <a:prstGeom prst="roundRect">
            <a:avLst>
              <a:gd name="adj" fmla="val 6961"/>
            </a:avLst>
          </a:prstGeom>
          <a:solidFill>
            <a:schemeClr val="bg1">
              <a:alpha val="80000"/>
            </a:schemeClr>
          </a:solidFill>
          <a:ln>
            <a:solidFill>
              <a:schemeClr val="accent1"/>
            </a:solidFill>
            <a:prstDash val="solid"/>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 tIns="45720" rIns="9144" bIns="4572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Light" panose="020F0302020204030204"/>
                <a:ea typeface="Calibri Light"/>
                <a:cs typeface="Calibri Light"/>
              </a:rPr>
              <a:t>Finance Systems</a:t>
            </a:r>
            <a:endParaRPr kumimoji="0" lang="en-US" sz="1100" b="0" i="0" u="none" strike="noStrike" kern="1200" cap="none" spc="0" normalizeH="0" baseline="0" noProof="0" dirty="0">
              <a:ln>
                <a:noFill/>
              </a:ln>
              <a:solidFill>
                <a:prstClr val="black"/>
              </a:solidFill>
              <a:effectLst/>
              <a:uLnTx/>
              <a:uFillTx/>
              <a:latin typeface="Calibri" panose="020F0502020204030204"/>
              <a:ea typeface="Calibri Light"/>
              <a:cs typeface="Calibri Light"/>
            </a:endParaRPr>
          </a:p>
        </p:txBody>
      </p:sp>
      <p:sp>
        <p:nvSpPr>
          <p:cNvPr id="179" name="Rounded Rectangle 51">
            <a:extLst>
              <a:ext uri="{FF2B5EF4-FFF2-40B4-BE49-F238E27FC236}">
                <a16:creationId xmlns:a16="http://schemas.microsoft.com/office/drawing/2014/main" id="{DEE699C8-49DD-9F7D-2AE5-929ACF1E959C}"/>
              </a:ext>
            </a:extLst>
          </p:cNvPr>
          <p:cNvSpPr>
            <a:spLocks/>
          </p:cNvSpPr>
          <p:nvPr/>
        </p:nvSpPr>
        <p:spPr>
          <a:xfrm>
            <a:off x="8996810" y="2983618"/>
            <a:ext cx="2234041" cy="601625"/>
          </a:xfrm>
          <a:prstGeom prst="roundRect">
            <a:avLst>
              <a:gd name="adj" fmla="val 5966"/>
            </a:avLst>
          </a:prstGeom>
          <a:solidFill>
            <a:schemeClr val="bg1">
              <a:alpha val="80000"/>
            </a:schemeClr>
          </a:solidFill>
          <a:ln>
            <a:solidFill>
              <a:schemeClr val="accent1"/>
            </a:solidFill>
            <a:prstDash val="solid"/>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 tIns="45720" rIns="9144"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Light" panose="020F0302020204030204"/>
                <a:ea typeface="Times New Roman" panose="02020603050405020304" pitchFamily="18" charset="0"/>
                <a:cs typeface="Source Sans Pro Light" panose="020B0403030403020204" pitchFamily="34" charset="0"/>
              </a:rPr>
              <a:t>Regulatory</a:t>
            </a:r>
            <a:r>
              <a:rPr lang="en-US" sz="1100" dirty="0">
                <a:solidFill>
                  <a:prstClr val="white"/>
                </a:solidFill>
                <a:latin typeface="Calibri Light" panose="020F0302020204030204"/>
                <a:ea typeface="Times New Roman" panose="02020603050405020304" pitchFamily="18" charset="0"/>
                <a:cs typeface="Source Sans Pro Light" panose="020B0403030403020204" pitchFamily="34" charset="0"/>
              </a:rPr>
              <a:t> </a:t>
            </a:r>
            <a:r>
              <a:rPr kumimoji="0" lang="en-US" sz="1100" b="0" i="0" u="none" strike="noStrike" kern="1200" cap="none" spc="0" normalizeH="0" baseline="0" noProof="0" dirty="0">
                <a:ln>
                  <a:noFill/>
                </a:ln>
                <a:solidFill>
                  <a:srgbClr val="000000"/>
                </a:solidFill>
                <a:effectLst/>
                <a:uLnTx/>
                <a:uFillTx/>
                <a:latin typeface="Calibri Light" panose="020F0302020204030204"/>
                <a:ea typeface="Times New Roman" panose="02020603050405020304" pitchFamily="18" charset="0"/>
                <a:cs typeface="Source Sans Pro Light" panose="020B0403030403020204" pitchFamily="34" charset="0"/>
              </a:rPr>
              <a:t>Systems</a:t>
            </a:r>
            <a:endParaRPr kumimoji="0" lang="en-US" sz="1200" b="0" i="0" u="none" strike="noStrike" kern="1200" cap="none" spc="0" normalizeH="0" baseline="0" noProof="0" dirty="0">
              <a:ln>
                <a:noFill/>
              </a:ln>
              <a:solidFill>
                <a:prstClr val="white"/>
              </a:solidFill>
              <a:effectLst/>
              <a:uLnTx/>
              <a:uFillTx/>
              <a:latin typeface="Calibri Light" panose="020F0302020204030204"/>
              <a:ea typeface="Times New Roman" panose="02020603050405020304" pitchFamily="18" charset="0"/>
              <a:cs typeface="Calibri Light" panose="020F0302020204030204"/>
            </a:endParaRPr>
          </a:p>
        </p:txBody>
      </p:sp>
      <p:sp>
        <p:nvSpPr>
          <p:cNvPr id="180" name="Rounded Rectangle 130">
            <a:extLst>
              <a:ext uri="{FF2B5EF4-FFF2-40B4-BE49-F238E27FC236}">
                <a16:creationId xmlns:a16="http://schemas.microsoft.com/office/drawing/2014/main" id="{027E5198-D5B6-A419-B751-E4F917421823}"/>
              </a:ext>
            </a:extLst>
          </p:cNvPr>
          <p:cNvSpPr>
            <a:spLocks/>
          </p:cNvSpPr>
          <p:nvPr/>
        </p:nvSpPr>
        <p:spPr>
          <a:xfrm>
            <a:off x="3642659" y="2983618"/>
            <a:ext cx="2234041" cy="601625"/>
          </a:xfrm>
          <a:prstGeom prst="roundRect">
            <a:avLst>
              <a:gd name="adj" fmla="val 6961"/>
            </a:avLst>
          </a:prstGeom>
          <a:solidFill>
            <a:schemeClr val="bg1">
              <a:alpha val="80000"/>
            </a:schemeClr>
          </a:solidFill>
          <a:ln>
            <a:solidFill>
              <a:schemeClr val="accent1"/>
            </a:solidFill>
            <a:prstDash val="solid"/>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 tIns="45720" rIns="9144"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Light" panose="020F0302020204030204"/>
                <a:ea typeface="Times New Roman" panose="02020603050405020304" pitchFamily="18" charset="0"/>
                <a:cs typeface="Source Sans Pro Light" panose="020B0403030403020204" pitchFamily="34" charset="0"/>
              </a:rPr>
              <a:t>Patient Registry Systems</a:t>
            </a:r>
            <a:endParaRPr kumimoji="0" lang="en-US" sz="1200" b="0" i="0" u="none" strike="noStrike" kern="1200" cap="none" spc="0" normalizeH="0" baseline="0" noProof="0" dirty="0">
              <a:ln>
                <a:noFill/>
              </a:ln>
              <a:solidFill>
                <a:prstClr val="white"/>
              </a:solidFill>
              <a:effectLst/>
              <a:uLnTx/>
              <a:uFillTx/>
              <a:latin typeface="Calibri Light" panose="020F0302020204030204"/>
              <a:ea typeface="Times New Roman" panose="02020603050405020304" pitchFamily="18" charset="0"/>
              <a:cs typeface="+mn-cs"/>
            </a:endParaRPr>
          </a:p>
        </p:txBody>
      </p:sp>
      <p:sp>
        <p:nvSpPr>
          <p:cNvPr id="181" name="Rounded Rectangle 144">
            <a:extLst>
              <a:ext uri="{FF2B5EF4-FFF2-40B4-BE49-F238E27FC236}">
                <a16:creationId xmlns:a16="http://schemas.microsoft.com/office/drawing/2014/main" id="{371FAC5D-9038-CD64-5B1D-D8114C950363}"/>
              </a:ext>
            </a:extLst>
          </p:cNvPr>
          <p:cNvSpPr>
            <a:spLocks/>
          </p:cNvSpPr>
          <p:nvPr/>
        </p:nvSpPr>
        <p:spPr>
          <a:xfrm>
            <a:off x="965584" y="4740519"/>
            <a:ext cx="2234041" cy="601625"/>
          </a:xfrm>
          <a:prstGeom prst="roundRect">
            <a:avLst>
              <a:gd name="adj" fmla="val 5966"/>
            </a:avLst>
          </a:prstGeom>
          <a:solidFill>
            <a:schemeClr val="bg1">
              <a:alpha val="80000"/>
            </a:schemeClr>
          </a:solidFill>
          <a:ln>
            <a:solidFill>
              <a:schemeClr val="accent1"/>
            </a:solidFill>
            <a:prstDash val="solid"/>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 tIns="45720" rIns="9144"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Light" panose="020F0302020204030204"/>
                <a:ea typeface="Times New Roman" panose="02020603050405020304" pitchFamily="18" charset="0"/>
                <a:cs typeface="Source Sans Pro Light" panose="020B0403030403020204" pitchFamily="34" charset="0"/>
              </a:rPr>
              <a:t>Basic / Wet Lab Systems</a:t>
            </a:r>
          </a:p>
        </p:txBody>
      </p:sp>
      <p:sp>
        <p:nvSpPr>
          <p:cNvPr id="182" name="Rounded Rectangle 51">
            <a:extLst>
              <a:ext uri="{FF2B5EF4-FFF2-40B4-BE49-F238E27FC236}">
                <a16:creationId xmlns:a16="http://schemas.microsoft.com/office/drawing/2014/main" id="{CA6D319B-E7D4-1442-B530-21FB29E1547D}"/>
              </a:ext>
            </a:extLst>
          </p:cNvPr>
          <p:cNvSpPr>
            <a:spLocks/>
          </p:cNvSpPr>
          <p:nvPr/>
        </p:nvSpPr>
        <p:spPr>
          <a:xfrm>
            <a:off x="6319734" y="4740519"/>
            <a:ext cx="2234041" cy="601625"/>
          </a:xfrm>
          <a:prstGeom prst="roundRect">
            <a:avLst>
              <a:gd name="adj" fmla="val 5966"/>
            </a:avLst>
          </a:prstGeom>
          <a:solidFill>
            <a:schemeClr val="bg1">
              <a:alpha val="80000"/>
            </a:schemeClr>
          </a:solidFill>
          <a:ln>
            <a:solidFill>
              <a:schemeClr val="accent1"/>
            </a:solidFill>
            <a:prstDash val="solid"/>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 tIns="45720" rIns="9144"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Light" panose="020F0302020204030204"/>
                <a:ea typeface="Calibri Light"/>
                <a:cs typeface="Calibri Light"/>
              </a:rPr>
              <a:t>Field-based Research Systems</a:t>
            </a:r>
            <a:r>
              <a:rPr kumimoji="0" lang="en-US" sz="1100" b="0" i="0" u="none" strike="noStrike" kern="1200" cap="none" spc="0" normalizeH="0" baseline="0" noProof="0" dirty="0">
                <a:ln>
                  <a:noFill/>
                </a:ln>
                <a:solidFill>
                  <a:srgbClr val="000000"/>
                </a:solidFill>
                <a:effectLst/>
                <a:uLnTx/>
                <a:uFillTx/>
                <a:latin typeface="Calibri Light" panose="020F0302020204030204"/>
                <a:ea typeface="Calibri Light"/>
                <a:cs typeface="+mn-cs"/>
              </a:rPr>
              <a:t>*</a:t>
            </a:r>
            <a:endParaRPr kumimoji="0" lang="en-US" sz="1100" b="0" i="0" u="none" strike="noStrike" kern="1200" cap="none" spc="0" normalizeH="0" baseline="0" noProof="0" dirty="0">
              <a:ln>
                <a:noFill/>
              </a:ln>
              <a:solidFill>
                <a:prstClr val="white"/>
              </a:solidFill>
              <a:effectLst/>
              <a:uLnTx/>
              <a:uFillTx/>
              <a:latin typeface="Calibri" panose="020F0502020204030204"/>
              <a:ea typeface="+mn-lt"/>
              <a:cs typeface="Calibri" panose="020F0502020204030204"/>
            </a:endParaRPr>
          </a:p>
        </p:txBody>
      </p:sp>
      <p:sp>
        <p:nvSpPr>
          <p:cNvPr id="183" name="Rounded Rectangle 153">
            <a:extLst>
              <a:ext uri="{FF2B5EF4-FFF2-40B4-BE49-F238E27FC236}">
                <a16:creationId xmlns:a16="http://schemas.microsoft.com/office/drawing/2014/main" id="{55514BD4-162A-1949-2557-A718B62EF5B0}"/>
              </a:ext>
            </a:extLst>
          </p:cNvPr>
          <p:cNvSpPr>
            <a:spLocks/>
          </p:cNvSpPr>
          <p:nvPr/>
        </p:nvSpPr>
        <p:spPr>
          <a:xfrm>
            <a:off x="8996810" y="2105168"/>
            <a:ext cx="2234041" cy="601625"/>
          </a:xfrm>
          <a:prstGeom prst="roundRect">
            <a:avLst>
              <a:gd name="adj" fmla="val 5966"/>
            </a:avLst>
          </a:prstGeom>
          <a:solidFill>
            <a:schemeClr val="bg1">
              <a:alpha val="80000"/>
            </a:schemeClr>
          </a:solidFill>
          <a:ln>
            <a:solidFill>
              <a:schemeClr val="accent1"/>
            </a:solidFill>
            <a:prstDash val="solid"/>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 tIns="45720" rIns="9144"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Light" panose="020F0302020204030204"/>
                <a:ea typeface="+mn-ea"/>
                <a:cs typeface="+mn-cs"/>
              </a:rPr>
              <a:t>Biomedical Systems</a:t>
            </a:r>
            <a:endParaRPr kumimoji="0" lang="en-US" sz="1100" b="0" i="0" u="none" strike="noStrike" kern="1200" cap="none" spc="0" normalizeH="0" baseline="0" noProof="0" dirty="0">
              <a:ln>
                <a:noFill/>
              </a:ln>
              <a:solidFill>
                <a:prstClr val="black"/>
              </a:solidFill>
              <a:effectLst/>
              <a:uLnTx/>
              <a:uFillTx/>
              <a:latin typeface="Calibri" panose="020F0502020204030204"/>
              <a:ea typeface="+mn-lt"/>
              <a:cs typeface="Calibri" panose="020F0502020204030204"/>
            </a:endParaRPr>
          </a:p>
        </p:txBody>
      </p:sp>
      <p:sp>
        <p:nvSpPr>
          <p:cNvPr id="184" name="Rounded Rectangle 154">
            <a:extLst>
              <a:ext uri="{FF2B5EF4-FFF2-40B4-BE49-F238E27FC236}">
                <a16:creationId xmlns:a16="http://schemas.microsoft.com/office/drawing/2014/main" id="{1A7A8960-C084-38A7-833B-BBA9984C1EE4}"/>
              </a:ext>
            </a:extLst>
          </p:cNvPr>
          <p:cNvSpPr>
            <a:spLocks/>
          </p:cNvSpPr>
          <p:nvPr/>
        </p:nvSpPr>
        <p:spPr>
          <a:xfrm>
            <a:off x="3642659" y="4740519"/>
            <a:ext cx="2234041" cy="601625"/>
          </a:xfrm>
          <a:prstGeom prst="roundRect">
            <a:avLst>
              <a:gd name="adj" fmla="val 6961"/>
            </a:avLst>
          </a:prstGeom>
          <a:solidFill>
            <a:schemeClr val="bg1">
              <a:alpha val="80000"/>
            </a:schemeClr>
          </a:solidFill>
          <a:ln>
            <a:solidFill>
              <a:schemeClr val="accent1"/>
            </a:solidFill>
            <a:prstDash val="solid"/>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 tIns="45720" rIns="9144" bIns="4572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Light" panose="020F0302020204030204"/>
                <a:ea typeface="Calibri Light"/>
                <a:cs typeface="+mn-cs"/>
              </a:rPr>
              <a:t>Veterinary Research Systems</a:t>
            </a:r>
            <a:endParaRPr kumimoji="0" lang="en-US" sz="1100" b="0" i="0" u="none" strike="noStrike" kern="1200" cap="none" spc="0" normalizeH="0" baseline="0" noProof="0" dirty="0">
              <a:ln>
                <a:noFill/>
              </a:ln>
              <a:solidFill>
                <a:prstClr val="black"/>
              </a:solidFill>
              <a:effectLst/>
              <a:uLnTx/>
              <a:uFillTx/>
              <a:latin typeface="Calibri" panose="020F0502020204030204"/>
              <a:ea typeface="+mn-lt"/>
              <a:cs typeface="Calibri" panose="020F0502020204030204"/>
            </a:endParaRPr>
          </a:p>
        </p:txBody>
      </p:sp>
      <p:sp>
        <p:nvSpPr>
          <p:cNvPr id="185" name="Rounded Rectangle 51">
            <a:extLst>
              <a:ext uri="{FF2B5EF4-FFF2-40B4-BE49-F238E27FC236}">
                <a16:creationId xmlns:a16="http://schemas.microsoft.com/office/drawing/2014/main" id="{BC01E8AF-CD20-DB3F-478C-2917C0595552}"/>
              </a:ext>
            </a:extLst>
          </p:cNvPr>
          <p:cNvSpPr>
            <a:spLocks/>
          </p:cNvSpPr>
          <p:nvPr/>
        </p:nvSpPr>
        <p:spPr>
          <a:xfrm>
            <a:off x="8996810" y="4740519"/>
            <a:ext cx="2234041" cy="601625"/>
          </a:xfrm>
          <a:prstGeom prst="roundRect">
            <a:avLst>
              <a:gd name="adj" fmla="val 5966"/>
            </a:avLst>
          </a:prstGeom>
          <a:solidFill>
            <a:schemeClr val="bg1">
              <a:alpha val="80000"/>
            </a:schemeClr>
          </a:solidFill>
          <a:ln>
            <a:solidFill>
              <a:schemeClr val="accent1"/>
            </a:solidFill>
            <a:prstDash val="solid"/>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 tIns="45720" rIns="9144"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Light" panose="020F0302020204030204"/>
                <a:ea typeface="Calibri Light"/>
                <a:cs typeface="Calibri Light"/>
              </a:rPr>
              <a:t>Academic </a:t>
            </a:r>
            <a:r>
              <a:rPr kumimoji="0" lang="en-US" sz="1100" b="0" i="0" u="none" strike="noStrike" kern="1200" cap="none" spc="0" normalizeH="0" baseline="0" noProof="0" dirty="0">
                <a:ln>
                  <a:noFill/>
                </a:ln>
                <a:solidFill>
                  <a:srgbClr val="000000"/>
                </a:solidFill>
                <a:effectLst/>
                <a:uLnTx/>
                <a:uFillTx/>
                <a:latin typeface="Calibri Light" panose="020F0302020204030204"/>
                <a:ea typeface="Calibri Light"/>
                <a:cs typeface="+mn-cs"/>
              </a:rPr>
              <a:t>Affiliate</a:t>
            </a:r>
            <a:r>
              <a:rPr lang="en-US" sz="1100" dirty="0">
                <a:solidFill>
                  <a:srgbClr val="000000"/>
                </a:solidFill>
                <a:latin typeface="Calibri Light" panose="020F0302020204030204"/>
                <a:ea typeface="Calibri Light"/>
                <a:cs typeface="Calibri Light"/>
              </a:rPr>
              <a:t> </a:t>
            </a:r>
            <a:r>
              <a:rPr kumimoji="0" lang="en-US" sz="1100" b="0" i="0" u="none" strike="noStrike" kern="1200" cap="none" spc="0" normalizeH="0" baseline="0" noProof="0" dirty="0">
                <a:ln>
                  <a:noFill/>
                </a:ln>
                <a:solidFill>
                  <a:srgbClr val="000000"/>
                </a:solidFill>
                <a:effectLst/>
                <a:uLnTx/>
                <a:uFillTx/>
                <a:latin typeface="Calibri Light" panose="020F0302020204030204"/>
                <a:ea typeface="Calibri Light"/>
                <a:cs typeface="+mn-cs"/>
              </a:rPr>
              <a:t>Systems*</a:t>
            </a:r>
            <a:endParaRPr kumimoji="0" lang="en-US" sz="1100" b="0" i="0" u="none" strike="noStrike" kern="1200" cap="none" spc="0" normalizeH="0" baseline="0" noProof="0" dirty="0">
              <a:ln>
                <a:noFill/>
              </a:ln>
              <a:solidFill>
                <a:prstClr val="white"/>
              </a:solidFill>
              <a:effectLst/>
              <a:uLnTx/>
              <a:uFillTx/>
              <a:latin typeface="Calibri" panose="020F0502020204030204"/>
              <a:ea typeface="+mn-lt"/>
              <a:cs typeface="Calibri" panose="020F0502020204030204"/>
            </a:endParaRPr>
          </a:p>
        </p:txBody>
      </p:sp>
      <p:sp>
        <p:nvSpPr>
          <p:cNvPr id="186" name="Rounded Rectangle 156">
            <a:extLst>
              <a:ext uri="{FF2B5EF4-FFF2-40B4-BE49-F238E27FC236}">
                <a16:creationId xmlns:a16="http://schemas.microsoft.com/office/drawing/2014/main" id="{6F629A19-3D1F-4C40-5848-6C2261BD63BA}"/>
              </a:ext>
            </a:extLst>
          </p:cNvPr>
          <p:cNvSpPr>
            <a:spLocks/>
          </p:cNvSpPr>
          <p:nvPr/>
        </p:nvSpPr>
        <p:spPr>
          <a:xfrm>
            <a:off x="6319734" y="2105168"/>
            <a:ext cx="2234041" cy="601625"/>
          </a:xfrm>
          <a:prstGeom prst="roundRect">
            <a:avLst>
              <a:gd name="adj" fmla="val 6961"/>
            </a:avLst>
          </a:prstGeom>
          <a:solidFill>
            <a:schemeClr val="bg1">
              <a:alpha val="80000"/>
            </a:schemeClr>
          </a:solidFill>
          <a:ln>
            <a:solidFill>
              <a:schemeClr val="accent1"/>
            </a:solidFill>
            <a:prstDash val="solid"/>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 tIns="45720" rIns="9144"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Light" panose="020F0302020204030204"/>
                <a:ea typeface="Calibri Light"/>
                <a:cs typeface="Calibri Light"/>
              </a:rPr>
              <a:t>Clinical Trial Systems</a:t>
            </a:r>
            <a:endParaRPr kumimoji="0" lang="en-US" sz="1100" b="0" i="0" u="none" strike="noStrike" kern="1200" cap="none" spc="0" normalizeH="0" baseline="0" noProof="0" dirty="0">
              <a:ln>
                <a:noFill/>
              </a:ln>
              <a:solidFill>
                <a:prstClr val="white"/>
              </a:solidFill>
              <a:effectLst/>
              <a:uLnTx/>
              <a:uFillTx/>
              <a:latin typeface="Calibri" panose="020F0502020204030204"/>
              <a:ea typeface="Calibri Light"/>
              <a:cs typeface="Calibri Light"/>
            </a:endParaRPr>
          </a:p>
        </p:txBody>
      </p:sp>
      <p:sp>
        <p:nvSpPr>
          <p:cNvPr id="187" name="Rounded Rectangle 51">
            <a:extLst>
              <a:ext uri="{FF2B5EF4-FFF2-40B4-BE49-F238E27FC236}">
                <a16:creationId xmlns:a16="http://schemas.microsoft.com/office/drawing/2014/main" id="{ED69D2E1-3280-C7EB-598A-5E6AB77CCD82}"/>
              </a:ext>
            </a:extLst>
          </p:cNvPr>
          <p:cNvSpPr>
            <a:spLocks/>
          </p:cNvSpPr>
          <p:nvPr/>
        </p:nvSpPr>
        <p:spPr>
          <a:xfrm>
            <a:off x="3642659" y="2105168"/>
            <a:ext cx="2234041" cy="601625"/>
          </a:xfrm>
          <a:prstGeom prst="roundRect">
            <a:avLst>
              <a:gd name="adj" fmla="val 5966"/>
            </a:avLst>
          </a:prstGeom>
          <a:solidFill>
            <a:schemeClr val="bg1">
              <a:alpha val="80000"/>
            </a:schemeClr>
          </a:solidFill>
          <a:ln>
            <a:solidFill>
              <a:schemeClr val="accent1"/>
            </a:solidFill>
            <a:prstDash val="solid"/>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 tIns="45720" rIns="9144"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Light" panose="020F0302020204030204"/>
                <a:ea typeface="Calibri Light"/>
                <a:cs typeface="Calibri Light"/>
              </a:rPr>
              <a:t>Qualitative Analysis Systems</a:t>
            </a:r>
            <a:endParaRPr kumimoji="0" lang="en-US" sz="1100" b="0" i="0" u="none" strike="noStrike" kern="1200" cap="none" spc="0" normalizeH="0" baseline="0" noProof="0" dirty="0">
              <a:ln>
                <a:noFill/>
              </a:ln>
              <a:solidFill>
                <a:prstClr val="white"/>
              </a:solidFill>
              <a:effectLst/>
              <a:uLnTx/>
              <a:uFillTx/>
              <a:latin typeface="Calibri" panose="020F0502020204030204"/>
              <a:ea typeface="+mn-lt"/>
              <a:cs typeface="Calibri" panose="020F0502020204030204"/>
            </a:endParaRPr>
          </a:p>
        </p:txBody>
      </p:sp>
      <p:sp>
        <p:nvSpPr>
          <p:cNvPr id="188" name="Rounded Rectangle 51">
            <a:extLst>
              <a:ext uri="{FF2B5EF4-FFF2-40B4-BE49-F238E27FC236}">
                <a16:creationId xmlns:a16="http://schemas.microsoft.com/office/drawing/2014/main" id="{4111C219-60A8-E4AA-5959-5B13E49ECE1B}"/>
              </a:ext>
            </a:extLst>
          </p:cNvPr>
          <p:cNvSpPr>
            <a:spLocks/>
          </p:cNvSpPr>
          <p:nvPr/>
        </p:nvSpPr>
        <p:spPr>
          <a:xfrm>
            <a:off x="6319734" y="3862068"/>
            <a:ext cx="2234041" cy="601625"/>
          </a:xfrm>
          <a:prstGeom prst="roundRect">
            <a:avLst>
              <a:gd name="adj" fmla="val 5966"/>
            </a:avLst>
          </a:prstGeom>
          <a:solidFill>
            <a:schemeClr val="bg1">
              <a:alpha val="80000"/>
            </a:schemeClr>
          </a:solidFill>
          <a:ln>
            <a:solidFill>
              <a:schemeClr val="accent1"/>
            </a:solidFill>
            <a:prstDash val="solid"/>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 tIns="45720" rIns="9144"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Light" panose="020F0302020204030204"/>
                <a:ea typeface="Times New Roman" panose="02020603050405020304" pitchFamily="18" charset="0"/>
                <a:cs typeface="+mn-cs"/>
              </a:rPr>
              <a:t>Multi-year </a:t>
            </a:r>
            <a:r>
              <a:rPr kumimoji="0" lang="en-US" sz="1100" b="0" i="0" u="none" strike="noStrike" kern="1200" cap="none" spc="0" normalizeH="0" baseline="0" noProof="0" dirty="0">
                <a:ln>
                  <a:noFill/>
                </a:ln>
                <a:solidFill>
                  <a:prstClr val="black"/>
                </a:solidFill>
                <a:effectLst/>
                <a:uLnTx/>
                <a:uFillTx/>
                <a:latin typeface="Calibri Light"/>
                <a:ea typeface="+mn-lt"/>
                <a:cs typeface="Calibri" panose="020F0502020204030204"/>
              </a:rPr>
              <a:t>Planning, </a:t>
            </a:r>
            <a:br>
              <a:rPr kumimoji="0" lang="en-US" sz="1100" b="0" i="0" u="none" strike="noStrike" kern="1200" cap="none" spc="0" normalizeH="0" baseline="0" noProof="0" dirty="0">
                <a:ln>
                  <a:noFill/>
                </a:ln>
                <a:solidFill>
                  <a:prstClr val="black"/>
                </a:solidFill>
                <a:effectLst/>
                <a:uLnTx/>
                <a:uFillTx/>
                <a:latin typeface="Calibri Light"/>
                <a:ea typeface="+mn-lt"/>
                <a:cs typeface="Calibri" panose="020F0502020204030204"/>
              </a:rPr>
            </a:br>
            <a:r>
              <a:rPr kumimoji="0" lang="en-US" sz="1100" b="0" i="0" u="none" strike="noStrike" kern="1200" cap="none" spc="0" normalizeH="0" baseline="0" noProof="0" dirty="0">
                <a:ln>
                  <a:noFill/>
                </a:ln>
                <a:solidFill>
                  <a:prstClr val="black"/>
                </a:solidFill>
                <a:effectLst/>
                <a:uLnTx/>
                <a:uFillTx/>
                <a:latin typeface="Calibri Light"/>
                <a:ea typeface="+mn-lt"/>
                <a:cs typeface="Calibri" panose="020F0502020204030204"/>
              </a:rPr>
              <a:t>Programming, Budgeting, and Execution (PPBE) Systems</a:t>
            </a:r>
            <a:endParaRPr kumimoji="0" lang="en-US" sz="1200" b="0" i="0" u="none" strike="noStrike" kern="1200" cap="none" spc="0" normalizeH="0" baseline="0" noProof="0" dirty="0">
              <a:ln>
                <a:noFill/>
              </a:ln>
              <a:solidFill>
                <a:prstClr val="black"/>
              </a:solidFill>
              <a:effectLst/>
              <a:uLnTx/>
              <a:uFillTx/>
              <a:latin typeface="Calibri Light"/>
              <a:ea typeface="Times New Roman" panose="02020603050405020304" pitchFamily="18" charset="0"/>
              <a:cs typeface="Calibri Light"/>
            </a:endParaRPr>
          </a:p>
        </p:txBody>
      </p:sp>
      <p:sp>
        <p:nvSpPr>
          <p:cNvPr id="191" name="Rounded Rectangle 145">
            <a:extLst>
              <a:ext uri="{FF2B5EF4-FFF2-40B4-BE49-F238E27FC236}">
                <a16:creationId xmlns:a16="http://schemas.microsoft.com/office/drawing/2014/main" id="{F81B100A-680F-270F-21C4-49BC84971D42}"/>
              </a:ext>
            </a:extLst>
          </p:cNvPr>
          <p:cNvSpPr>
            <a:spLocks/>
          </p:cNvSpPr>
          <p:nvPr/>
        </p:nvSpPr>
        <p:spPr>
          <a:xfrm>
            <a:off x="8996810" y="3862068"/>
            <a:ext cx="2234041" cy="601625"/>
          </a:xfrm>
          <a:prstGeom prst="roundRect">
            <a:avLst>
              <a:gd name="adj" fmla="val 6961"/>
            </a:avLst>
          </a:prstGeom>
          <a:solidFill>
            <a:schemeClr val="bg1">
              <a:alpha val="80000"/>
            </a:schemeClr>
          </a:solidFill>
          <a:ln>
            <a:solidFill>
              <a:schemeClr val="accent1"/>
            </a:solidFill>
            <a:prstDash val="solid"/>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 tIns="45720" rIns="9144"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Light" panose="020F0302020204030204"/>
                <a:ea typeface="Calibri Light"/>
                <a:cs typeface="Calibri Light"/>
              </a:rPr>
              <a:t>Other Research </a:t>
            </a:r>
            <a:br>
              <a:rPr kumimoji="0" lang="en-US" sz="1100" b="0" i="0" u="none" strike="noStrike" kern="1200" cap="none" spc="0" normalizeH="0" baseline="0" noProof="0" dirty="0">
                <a:ln>
                  <a:noFill/>
                </a:ln>
                <a:solidFill>
                  <a:srgbClr val="000000"/>
                </a:solidFill>
                <a:effectLst/>
                <a:uLnTx/>
                <a:uFillTx/>
                <a:latin typeface="Calibri Light" panose="020F0302020204030204"/>
                <a:ea typeface="Calibri Light"/>
                <a:cs typeface="Calibri Light"/>
              </a:rPr>
            </a:br>
            <a:r>
              <a:rPr kumimoji="0" lang="en-US" sz="1100" b="0" i="0" u="none" strike="noStrike" kern="1200" cap="none" spc="0" normalizeH="0" baseline="0" noProof="0" dirty="0">
                <a:ln>
                  <a:noFill/>
                </a:ln>
                <a:solidFill>
                  <a:srgbClr val="000000"/>
                </a:solidFill>
                <a:effectLst/>
                <a:uLnTx/>
                <a:uFillTx/>
                <a:latin typeface="Calibri Light" panose="020F0302020204030204"/>
                <a:ea typeface="Calibri Light"/>
                <a:cs typeface="Calibri Light"/>
              </a:rPr>
              <a:t>Administration Systems</a:t>
            </a:r>
            <a:endParaRPr kumimoji="0" lang="en-US" sz="1100" b="0" i="0" u="none" strike="noStrike" kern="1200" cap="none" spc="0" normalizeH="0" baseline="0" noProof="0" dirty="0">
              <a:ln>
                <a:noFill/>
              </a:ln>
              <a:solidFill>
                <a:prstClr val="white"/>
              </a:solidFill>
              <a:effectLst/>
              <a:uLnTx/>
              <a:uFillTx/>
              <a:latin typeface="Calibri" panose="020F0502020204030204"/>
              <a:ea typeface="+mn-lt"/>
              <a:cs typeface="Calibri" panose="020F0502020204030204"/>
            </a:endParaRPr>
          </a:p>
        </p:txBody>
      </p:sp>
      <p:sp>
        <p:nvSpPr>
          <p:cNvPr id="192" name="Rounded Rectangle 147">
            <a:extLst>
              <a:ext uri="{FF2B5EF4-FFF2-40B4-BE49-F238E27FC236}">
                <a16:creationId xmlns:a16="http://schemas.microsoft.com/office/drawing/2014/main" id="{914C1B6D-C92A-26E2-04E4-C23977FC1F0C}"/>
              </a:ext>
            </a:extLst>
          </p:cNvPr>
          <p:cNvSpPr>
            <a:spLocks/>
          </p:cNvSpPr>
          <p:nvPr/>
        </p:nvSpPr>
        <p:spPr>
          <a:xfrm>
            <a:off x="965584" y="2983618"/>
            <a:ext cx="2234041" cy="601625"/>
          </a:xfrm>
          <a:prstGeom prst="roundRect">
            <a:avLst>
              <a:gd name="adj" fmla="val 6961"/>
            </a:avLst>
          </a:prstGeom>
          <a:solidFill>
            <a:schemeClr val="bg1">
              <a:alpha val="80000"/>
            </a:schemeClr>
          </a:solidFill>
          <a:ln>
            <a:solidFill>
              <a:schemeClr val="accent1"/>
            </a:solidFill>
            <a:prstDash val="solid"/>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 rIns="9144"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Light" panose="020F0302020204030204"/>
                <a:ea typeface="Times New Roman" panose="02020603050405020304" pitchFamily="18" charset="0"/>
                <a:cs typeface="Source Sans Pro Light" panose="020B0403030403020204" pitchFamily="34" charset="0"/>
              </a:rPr>
              <a:t>Data Repository Systems</a:t>
            </a:r>
            <a:endParaRPr kumimoji="0" lang="en-US" sz="1200" b="0" i="0" u="none" strike="noStrike" kern="1200" cap="none" spc="0" normalizeH="0" baseline="0" noProof="0" dirty="0">
              <a:ln>
                <a:noFill/>
              </a:ln>
              <a:solidFill>
                <a:prstClr val="white"/>
              </a:solidFill>
              <a:effectLst/>
              <a:uLnTx/>
              <a:uFillTx/>
              <a:latin typeface="Calibri Light" panose="020F0302020204030204"/>
              <a:ea typeface="Times New Roman" panose="02020603050405020304" pitchFamily="18" charset="0"/>
              <a:cs typeface="+mn-cs"/>
            </a:endParaRPr>
          </a:p>
        </p:txBody>
      </p:sp>
      <p:sp>
        <p:nvSpPr>
          <p:cNvPr id="193" name="Rounded Rectangle 51">
            <a:extLst>
              <a:ext uri="{FF2B5EF4-FFF2-40B4-BE49-F238E27FC236}">
                <a16:creationId xmlns:a16="http://schemas.microsoft.com/office/drawing/2014/main" id="{8456B196-2500-9D98-75DC-648DF3C497D4}"/>
              </a:ext>
            </a:extLst>
          </p:cNvPr>
          <p:cNvSpPr>
            <a:spLocks/>
          </p:cNvSpPr>
          <p:nvPr/>
        </p:nvSpPr>
        <p:spPr>
          <a:xfrm>
            <a:off x="6319734" y="2983618"/>
            <a:ext cx="2234041" cy="601625"/>
          </a:xfrm>
          <a:prstGeom prst="roundRect">
            <a:avLst>
              <a:gd name="adj" fmla="val 5966"/>
            </a:avLst>
          </a:prstGeom>
          <a:solidFill>
            <a:schemeClr val="bg1">
              <a:alpha val="80000"/>
            </a:schemeClr>
          </a:solidFill>
          <a:ln>
            <a:solidFill>
              <a:schemeClr val="accent1"/>
            </a:solidFill>
            <a:prstDash val="solid"/>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 rIns="9144"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Light" panose="020F0302020204030204"/>
                <a:ea typeface="Times New Roman" panose="02020603050405020304" pitchFamily="18" charset="0"/>
                <a:cs typeface="Source Sans Pro Light" panose="020B0403030403020204" pitchFamily="34" charset="0"/>
              </a:rPr>
              <a:t>Biorepository Systems</a:t>
            </a:r>
            <a:endParaRPr kumimoji="0" lang="en-US" sz="1200" b="0" i="0" u="none" strike="noStrike" kern="1200" cap="none" spc="0" normalizeH="0" baseline="0" noProof="0" dirty="0">
              <a:ln>
                <a:noFill/>
              </a:ln>
              <a:solidFill>
                <a:prstClr val="white"/>
              </a:solidFill>
              <a:effectLst/>
              <a:uLnTx/>
              <a:uFillTx/>
              <a:latin typeface="Calibri Light" panose="020F0302020204030204"/>
              <a:ea typeface="Times New Roman" panose="02020603050405020304" pitchFamily="18" charset="0"/>
              <a:cs typeface="+mn-cs"/>
            </a:endParaRPr>
          </a:p>
        </p:txBody>
      </p:sp>
      <p:sp>
        <p:nvSpPr>
          <p:cNvPr id="194" name="Rounded Rectangle 51">
            <a:extLst>
              <a:ext uri="{FF2B5EF4-FFF2-40B4-BE49-F238E27FC236}">
                <a16:creationId xmlns:a16="http://schemas.microsoft.com/office/drawing/2014/main" id="{70867041-8CC5-82AE-2469-339DA98AE969}"/>
              </a:ext>
            </a:extLst>
          </p:cNvPr>
          <p:cNvSpPr>
            <a:spLocks/>
          </p:cNvSpPr>
          <p:nvPr/>
        </p:nvSpPr>
        <p:spPr>
          <a:xfrm>
            <a:off x="965584" y="3862068"/>
            <a:ext cx="2234041" cy="601625"/>
          </a:xfrm>
          <a:prstGeom prst="roundRect">
            <a:avLst>
              <a:gd name="adj" fmla="val 5966"/>
            </a:avLst>
          </a:prstGeom>
          <a:solidFill>
            <a:schemeClr val="bg1">
              <a:alpha val="80000"/>
            </a:schemeClr>
          </a:solidFill>
          <a:ln>
            <a:solidFill>
              <a:schemeClr val="accent1"/>
            </a:solidFill>
            <a:prstDash val="solid"/>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 tIns="45720" rIns="9144"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Light" panose="020F0302020204030204"/>
                <a:ea typeface="+mn-ea"/>
                <a:cs typeface="+mn-cs"/>
              </a:rPr>
              <a:t>Grant Management</a:t>
            </a:r>
            <a:r>
              <a:rPr lang="en-US" dirty="0">
                <a:solidFill>
                  <a:srgbClr val="FFFFFF"/>
                </a:solidFill>
                <a:latin typeface="Calibri" panose="020F0502020204030204"/>
                <a:cs typeface="Calibri" panose="020F0502020204030204"/>
              </a:rPr>
              <a:t> </a:t>
            </a:r>
            <a:r>
              <a:rPr kumimoji="0" lang="en-US" sz="1100" b="0" i="0" u="none" strike="noStrike" kern="1200" cap="none" spc="0" normalizeH="0" baseline="0" noProof="0" dirty="0">
                <a:ln>
                  <a:noFill/>
                </a:ln>
                <a:solidFill>
                  <a:srgbClr val="000000"/>
                </a:solidFill>
                <a:effectLst/>
                <a:uLnTx/>
                <a:uFillTx/>
                <a:latin typeface="Calibri Light" panose="020F0302020204030204"/>
                <a:ea typeface="+mn-ea"/>
                <a:cs typeface="+mn-cs"/>
              </a:rPr>
              <a:t>Systems</a:t>
            </a:r>
            <a:endParaRPr kumimoji="0" lang="en-US" sz="1800" b="0" i="0" u="none" strike="noStrike" kern="1200" cap="none" spc="0" normalizeH="0" baseline="0" noProof="0" dirty="0">
              <a:ln>
                <a:noFill/>
              </a:ln>
              <a:solidFill>
                <a:prstClr val="white"/>
              </a:solidFill>
              <a:effectLst/>
              <a:uLnTx/>
              <a:uFillTx/>
              <a:latin typeface="Calibri" panose="020F0502020204030204"/>
              <a:ea typeface="Calibri"/>
              <a:cs typeface="Calibri"/>
            </a:endParaRPr>
          </a:p>
        </p:txBody>
      </p:sp>
      <p:sp>
        <p:nvSpPr>
          <p:cNvPr id="156" name="Slide Number Placeholder 2">
            <a:extLst>
              <a:ext uri="{FF2B5EF4-FFF2-40B4-BE49-F238E27FC236}">
                <a16:creationId xmlns:a16="http://schemas.microsoft.com/office/drawing/2014/main" id="{DBF36409-F3F5-870E-C223-E12D54255D3F}"/>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619776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312732-C7CE-47D3-A994-5C9DAF8F6542}"/>
              </a:ext>
            </a:extLst>
          </p:cNvPr>
          <p:cNvSpPr>
            <a:spLocks noGrp="1"/>
          </p:cNvSpPr>
          <p:nvPr>
            <p:ph type="title"/>
          </p:nvPr>
        </p:nvSpPr>
        <p:spPr/>
        <p:txBody>
          <a:bodyPr/>
          <a:lstStyle/>
          <a:p>
            <a:r>
              <a:rPr lang="en-US" dirty="0">
                <a:solidFill>
                  <a:schemeClr val="tx1"/>
                </a:solidFill>
              </a:rPr>
              <a:t>Appendix: FERSS Roadmap</a:t>
            </a:r>
            <a:br>
              <a:rPr lang="en-US" dirty="0">
                <a:solidFill>
                  <a:schemeClr val="tx1"/>
                </a:solidFill>
              </a:rPr>
            </a:br>
            <a:endParaRPr lang="en-US" dirty="0">
              <a:solidFill>
                <a:schemeClr val="tx1"/>
              </a:solidFill>
            </a:endParaRPr>
          </a:p>
        </p:txBody>
      </p:sp>
      <p:sp>
        <p:nvSpPr>
          <p:cNvPr id="6" name="Slide Number Placeholder 2">
            <a:extLst>
              <a:ext uri="{FF2B5EF4-FFF2-40B4-BE49-F238E27FC236}">
                <a16:creationId xmlns:a16="http://schemas.microsoft.com/office/drawing/2014/main" id="{348A4DB6-213A-EF35-FF18-1097643D6169}"/>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US"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7948587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3B544-E962-43C8-8C33-407F87284804}"/>
              </a:ext>
            </a:extLst>
          </p:cNvPr>
          <p:cNvSpPr>
            <a:spLocks noGrp="1"/>
          </p:cNvSpPr>
          <p:nvPr>
            <p:ph type="title"/>
          </p:nvPr>
        </p:nvSpPr>
        <p:spPr/>
        <p:txBody>
          <a:bodyPr/>
          <a:lstStyle/>
          <a:p>
            <a:r>
              <a:rPr lang="en-US" sz="2400" dirty="0"/>
              <a:t>Centralized Field Support Contract High-Level Roadmap</a:t>
            </a:r>
          </a:p>
        </p:txBody>
      </p:sp>
      <p:sp>
        <p:nvSpPr>
          <p:cNvPr id="4" name="ee4pHeader1">
            <a:extLst>
              <a:ext uri="{FF2B5EF4-FFF2-40B4-BE49-F238E27FC236}">
                <a16:creationId xmlns:a16="http://schemas.microsoft.com/office/drawing/2014/main" id="{091EEE54-1324-43A0-8163-FC9FD46012F5}"/>
              </a:ext>
            </a:extLst>
          </p:cNvPr>
          <p:cNvSpPr/>
          <p:nvPr>
            <p:custDataLst>
              <p:tags r:id="rId1"/>
            </p:custDataLst>
          </p:nvPr>
        </p:nvSpPr>
        <p:spPr bwMode="auto">
          <a:xfrm>
            <a:off x="585623" y="1204849"/>
            <a:ext cx="3657600" cy="434396"/>
          </a:xfrm>
          <a:prstGeom prst="homePlate">
            <a:avLst>
              <a:gd name="adj" fmla="val 19696"/>
            </a:avLst>
          </a:prstGeom>
          <a:solidFill>
            <a:srgbClr val="002F56"/>
          </a:solidFill>
          <a:ln w="9525" cmpd="sng">
            <a:solidFill>
              <a:srgbClr val="002060"/>
            </a:solidFill>
            <a:prstDash val="solid"/>
            <a:miter lim="800000"/>
            <a:headEnd/>
            <a:tailEnd/>
          </a:ln>
          <a:effectLst/>
        </p:spPr>
        <p:txBody>
          <a:bodyPr lIns="90000" tIns="46800" rIns="90000" bIns="46800" anchor="ctr"/>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rPr>
              <a:t>Phase 1: Develop &amp; Plan</a:t>
            </a:r>
          </a:p>
        </p:txBody>
      </p:sp>
      <p:cxnSp>
        <p:nvCxnSpPr>
          <p:cNvPr id="7" name="Straight Arrow Connector 6">
            <a:extLst>
              <a:ext uri="{FF2B5EF4-FFF2-40B4-BE49-F238E27FC236}">
                <a16:creationId xmlns:a16="http://schemas.microsoft.com/office/drawing/2014/main" id="{1E6F4360-3123-446C-8CAC-7441555553B9}"/>
              </a:ext>
            </a:extLst>
          </p:cNvPr>
          <p:cNvCxnSpPr>
            <a:cxnSpLocks/>
          </p:cNvCxnSpPr>
          <p:nvPr/>
        </p:nvCxnSpPr>
        <p:spPr>
          <a:xfrm>
            <a:off x="585623" y="1037611"/>
            <a:ext cx="3657600" cy="0"/>
          </a:xfrm>
          <a:prstGeom prst="straightConnector1">
            <a:avLst/>
          </a:prstGeom>
          <a:ln>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C1B5BCE-AE6D-45B7-9482-9D29E76FFB28}"/>
              </a:ext>
            </a:extLst>
          </p:cNvPr>
          <p:cNvSpPr txBox="1"/>
          <p:nvPr/>
        </p:nvSpPr>
        <p:spPr>
          <a:xfrm>
            <a:off x="1966616" y="899111"/>
            <a:ext cx="895613" cy="276999"/>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4 Weeks</a:t>
            </a:r>
          </a:p>
        </p:txBody>
      </p:sp>
      <p:cxnSp>
        <p:nvCxnSpPr>
          <p:cNvPr id="9" name="Straight Arrow Connector 8">
            <a:extLst>
              <a:ext uri="{FF2B5EF4-FFF2-40B4-BE49-F238E27FC236}">
                <a16:creationId xmlns:a16="http://schemas.microsoft.com/office/drawing/2014/main" id="{10615E61-5656-427B-8051-E3491432447C}"/>
              </a:ext>
            </a:extLst>
          </p:cNvPr>
          <p:cNvCxnSpPr>
            <a:cxnSpLocks/>
          </p:cNvCxnSpPr>
          <p:nvPr/>
        </p:nvCxnSpPr>
        <p:spPr>
          <a:xfrm>
            <a:off x="4460130" y="1037611"/>
            <a:ext cx="3657600" cy="0"/>
          </a:xfrm>
          <a:prstGeom prst="straightConnector1">
            <a:avLst/>
          </a:prstGeom>
          <a:ln>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E7E98C9D-12AF-42E2-81A5-49F6ABDF59E7}"/>
              </a:ext>
            </a:extLst>
          </p:cNvPr>
          <p:cNvSpPr txBox="1"/>
          <p:nvPr/>
        </p:nvSpPr>
        <p:spPr>
          <a:xfrm>
            <a:off x="5672123" y="899111"/>
            <a:ext cx="1233614" cy="276999"/>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12 Weeks</a:t>
            </a:r>
          </a:p>
        </p:txBody>
      </p:sp>
      <p:cxnSp>
        <p:nvCxnSpPr>
          <p:cNvPr id="25" name="Straight Connector 24">
            <a:extLst>
              <a:ext uri="{FF2B5EF4-FFF2-40B4-BE49-F238E27FC236}">
                <a16:creationId xmlns:a16="http://schemas.microsoft.com/office/drawing/2014/main" id="{90C10146-167D-431D-B425-C506A5D28E78}"/>
              </a:ext>
            </a:extLst>
          </p:cNvPr>
          <p:cNvCxnSpPr>
            <a:cxnSpLocks/>
          </p:cNvCxnSpPr>
          <p:nvPr/>
        </p:nvCxnSpPr>
        <p:spPr>
          <a:xfrm>
            <a:off x="230216" y="2565816"/>
            <a:ext cx="11731567" cy="0"/>
          </a:xfrm>
          <a:prstGeom prst="line">
            <a:avLst/>
          </a:prstGeom>
          <a:ln>
            <a:solidFill>
              <a:schemeClr val="bg2">
                <a:lumMod val="90000"/>
              </a:schemeClr>
            </a:solidFill>
            <a:prstDash val="lgDash"/>
          </a:ln>
        </p:spPr>
        <p:style>
          <a:lnRef idx="1">
            <a:schemeClr val="accent1"/>
          </a:lnRef>
          <a:fillRef idx="0">
            <a:schemeClr val="accent1"/>
          </a:fillRef>
          <a:effectRef idx="0">
            <a:schemeClr val="accent1"/>
          </a:effectRef>
          <a:fontRef idx="minor">
            <a:schemeClr val="tx1"/>
          </a:fontRef>
        </p:style>
      </p:cxnSp>
      <p:sp>
        <p:nvSpPr>
          <p:cNvPr id="34" name="ee4pHeader2">
            <a:extLst>
              <a:ext uri="{FF2B5EF4-FFF2-40B4-BE49-F238E27FC236}">
                <a16:creationId xmlns:a16="http://schemas.microsoft.com/office/drawing/2014/main" id="{29B23E46-C2D3-429E-A7CF-4252E6D847A7}"/>
              </a:ext>
            </a:extLst>
          </p:cNvPr>
          <p:cNvSpPr/>
          <p:nvPr>
            <p:custDataLst>
              <p:tags r:id="rId2"/>
            </p:custDataLst>
          </p:nvPr>
        </p:nvSpPr>
        <p:spPr bwMode="auto">
          <a:xfrm>
            <a:off x="4460130" y="1204849"/>
            <a:ext cx="3657600" cy="434396"/>
          </a:xfrm>
          <a:prstGeom prst="chevron">
            <a:avLst>
              <a:gd name="adj" fmla="val 19696"/>
            </a:avLst>
          </a:prstGeom>
          <a:solidFill>
            <a:srgbClr val="002F56"/>
          </a:solidFill>
          <a:ln w="9525" cmpd="sng">
            <a:solidFill>
              <a:srgbClr val="002060"/>
            </a:solidFill>
            <a:prstDash val="solid"/>
            <a:miter lim="800000"/>
            <a:headEnd/>
            <a:tailEnd/>
          </a:ln>
          <a:effectLst/>
        </p:spPr>
        <p:txBody>
          <a:bodyPr anchor="ctr"/>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rPr>
              <a:t>Phase 2.A: Implementation Activities</a:t>
            </a:r>
          </a:p>
        </p:txBody>
      </p:sp>
      <p:cxnSp>
        <p:nvCxnSpPr>
          <p:cNvPr id="42" name="Straight Connector 41">
            <a:extLst>
              <a:ext uri="{FF2B5EF4-FFF2-40B4-BE49-F238E27FC236}">
                <a16:creationId xmlns:a16="http://schemas.microsoft.com/office/drawing/2014/main" id="{9522F3FF-691E-4A09-AB9B-BC2DBD21641C}"/>
              </a:ext>
            </a:extLst>
          </p:cNvPr>
          <p:cNvCxnSpPr>
            <a:cxnSpLocks/>
          </p:cNvCxnSpPr>
          <p:nvPr/>
        </p:nvCxnSpPr>
        <p:spPr>
          <a:xfrm>
            <a:off x="209234" y="3303149"/>
            <a:ext cx="11731567" cy="0"/>
          </a:xfrm>
          <a:prstGeom prst="line">
            <a:avLst/>
          </a:prstGeom>
          <a:ln>
            <a:solidFill>
              <a:schemeClr val="bg2">
                <a:lumMod val="9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0CAC548B-AD3E-47A6-81BD-A78EF36B6666}"/>
              </a:ext>
            </a:extLst>
          </p:cNvPr>
          <p:cNvCxnSpPr>
            <a:cxnSpLocks/>
          </p:cNvCxnSpPr>
          <p:nvPr/>
        </p:nvCxnSpPr>
        <p:spPr>
          <a:xfrm>
            <a:off x="8334636" y="1037611"/>
            <a:ext cx="3657601" cy="0"/>
          </a:xfrm>
          <a:prstGeom prst="straightConnector1">
            <a:avLst/>
          </a:prstGeom>
          <a:ln>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3F403377-D7B0-423D-A98C-DF61CFF8F212}"/>
              </a:ext>
            </a:extLst>
          </p:cNvPr>
          <p:cNvSpPr txBox="1"/>
          <p:nvPr/>
        </p:nvSpPr>
        <p:spPr>
          <a:xfrm>
            <a:off x="9715629" y="899111"/>
            <a:ext cx="895613" cy="276999"/>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prstClr val="black"/>
                </a:solidFill>
                <a:latin typeface="Calibri" panose="020F0502020204030204"/>
              </a:rPr>
              <a:t>Quarterly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 name="ee4pHeader2">
            <a:extLst>
              <a:ext uri="{FF2B5EF4-FFF2-40B4-BE49-F238E27FC236}">
                <a16:creationId xmlns:a16="http://schemas.microsoft.com/office/drawing/2014/main" id="{EB4305D6-1826-4C70-8FD9-3B3B8D60A494}"/>
              </a:ext>
            </a:extLst>
          </p:cNvPr>
          <p:cNvSpPr/>
          <p:nvPr>
            <p:custDataLst>
              <p:tags r:id="rId3"/>
            </p:custDataLst>
          </p:nvPr>
        </p:nvSpPr>
        <p:spPr bwMode="auto">
          <a:xfrm>
            <a:off x="8334636" y="1204849"/>
            <a:ext cx="3657600" cy="434396"/>
          </a:xfrm>
          <a:prstGeom prst="chevron">
            <a:avLst>
              <a:gd name="adj" fmla="val 19696"/>
            </a:avLst>
          </a:prstGeom>
          <a:solidFill>
            <a:srgbClr val="002F56"/>
          </a:solidFill>
          <a:ln w="9525" cmpd="sng">
            <a:solidFill>
              <a:srgbClr val="002060"/>
            </a:solidFill>
            <a:prstDash val="solid"/>
            <a:miter lim="800000"/>
            <a:headEnd/>
            <a:tailEnd/>
          </a:ln>
          <a:effectLst/>
        </p:spPr>
        <p:txBody>
          <a:bodyPr anchor="ctr"/>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rPr>
              <a:t>Phase 2.B: Assess Implementation</a:t>
            </a:r>
          </a:p>
        </p:txBody>
      </p:sp>
      <p:graphicFrame>
        <p:nvGraphicFramePr>
          <p:cNvPr id="6" name="Table 10">
            <a:extLst>
              <a:ext uri="{FF2B5EF4-FFF2-40B4-BE49-F238E27FC236}">
                <a16:creationId xmlns:a16="http://schemas.microsoft.com/office/drawing/2014/main" id="{62C3302B-4085-49A0-A6C0-E815FEB693FA}"/>
              </a:ext>
            </a:extLst>
          </p:cNvPr>
          <p:cNvGraphicFramePr>
            <a:graphicFrameLocks noGrp="1"/>
          </p:cNvGraphicFramePr>
          <p:nvPr/>
        </p:nvGraphicFramePr>
        <p:xfrm>
          <a:off x="585624" y="1684556"/>
          <a:ext cx="11410198" cy="3634740"/>
        </p:xfrm>
        <a:graphic>
          <a:graphicData uri="http://schemas.openxmlformats.org/drawingml/2006/table">
            <a:tbl>
              <a:tblPr firstRow="1" bandRow="1">
                <a:tableStyleId>{5C22544A-7EE6-4342-B048-85BDC9FD1C3A}</a:tableStyleId>
              </a:tblPr>
              <a:tblGrid>
                <a:gridCol w="3656176">
                  <a:extLst>
                    <a:ext uri="{9D8B030D-6E8A-4147-A177-3AD203B41FA5}">
                      <a16:colId xmlns:a16="http://schemas.microsoft.com/office/drawing/2014/main" val="3750921723"/>
                    </a:ext>
                  </a:extLst>
                </a:gridCol>
                <a:gridCol w="208280">
                  <a:extLst>
                    <a:ext uri="{9D8B030D-6E8A-4147-A177-3AD203B41FA5}">
                      <a16:colId xmlns:a16="http://schemas.microsoft.com/office/drawing/2014/main" val="1641279710"/>
                    </a:ext>
                  </a:extLst>
                </a:gridCol>
                <a:gridCol w="3557395">
                  <a:extLst>
                    <a:ext uri="{9D8B030D-6E8A-4147-A177-3AD203B41FA5}">
                      <a16:colId xmlns:a16="http://schemas.microsoft.com/office/drawing/2014/main" val="1553886837"/>
                    </a:ext>
                  </a:extLst>
                </a:gridCol>
                <a:gridCol w="344045">
                  <a:extLst>
                    <a:ext uri="{9D8B030D-6E8A-4147-A177-3AD203B41FA5}">
                      <a16:colId xmlns:a16="http://schemas.microsoft.com/office/drawing/2014/main" val="2235691221"/>
                    </a:ext>
                  </a:extLst>
                </a:gridCol>
                <a:gridCol w="3644302">
                  <a:extLst>
                    <a:ext uri="{9D8B030D-6E8A-4147-A177-3AD203B41FA5}">
                      <a16:colId xmlns:a16="http://schemas.microsoft.com/office/drawing/2014/main" val="3622975302"/>
                    </a:ext>
                  </a:extLst>
                </a:gridCol>
              </a:tblGrid>
              <a:tr h="484056">
                <a:tc>
                  <a:txBody>
                    <a:body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Develop the tools to enable researchers to access the centrally managed contract</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Develop communication and deployment plans to ensure success of the initiative</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lang="en-US" sz="1050" b="0" dirty="0">
                          <a:solidFill>
                            <a:prstClr val="black"/>
                          </a:solidFill>
                          <a:latin typeface="+mn-lt"/>
                        </a:rPr>
                        <a:t>Verify portal viability</a:t>
                      </a:r>
                      <a:endPar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endPar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Deploy centralized contract tool</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Deliver contractual staffing resources to the field</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endPar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endParaRP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endPar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endPar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Assess effectiveness of implementation</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Take action to address issues</a:t>
                      </a:r>
                      <a:endParaRPr kumimoji="0" lang="en-US" sz="1050" b="0" i="0" u="none" strike="noStrike" kern="1200" cap="none" spc="0" normalizeH="0" baseline="0" dirty="0">
                        <a:ln>
                          <a:noFill/>
                        </a:ln>
                        <a:solidFill>
                          <a:prstClr val="black"/>
                        </a:solidFill>
                        <a:effectLst/>
                        <a:uLnTx/>
                        <a:uFillTx/>
                        <a:latin typeface="+mn-lt"/>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2808865"/>
                  </a:ext>
                </a:extLst>
              </a:tr>
              <a:tr h="609058">
                <a:tc>
                  <a:txBody>
                    <a:body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Request fulfillment SOPs</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Intake portal</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Implementation plan</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Communications &amp; engagement strategy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None/>
                        <a:tabLst/>
                        <a:defRPr/>
                      </a:pPr>
                      <a:endPar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Deployed portal and SOPs</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Feedback results</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Revised portal and SOPs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None/>
                        <a:tabLst/>
                        <a:defRPr/>
                      </a:pPr>
                      <a:endPar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Feedback results</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dirty="0">
                          <a:ln>
                            <a:noFill/>
                          </a:ln>
                          <a:solidFill>
                            <a:prstClr val="black"/>
                          </a:solidFill>
                          <a:effectLst/>
                          <a:uLnTx/>
                          <a:uFillTx/>
                          <a:latin typeface="+mn-lt"/>
                          <a:ea typeface="+mn-ea"/>
                          <a:cs typeface="Arial" panose="020B0604020202020204" pitchFamily="34" charset="0"/>
                        </a:rPr>
                        <a:t>Revised portal and SOPs</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Quarterly Implementation Assessment</a:t>
                      </a:r>
                      <a:endParaRPr kumimoji="0" lang="en-US" sz="1050" b="0" i="0" u="none" strike="noStrike" kern="1200" cap="none" spc="0" normalizeH="0" baseline="0" dirty="0">
                        <a:ln>
                          <a:noFill/>
                        </a:ln>
                        <a:solidFill>
                          <a:prstClr val="black"/>
                        </a:solidFill>
                        <a:effectLst/>
                        <a:uLnTx/>
                        <a:uFillTx/>
                        <a:latin typeface="+mn-lt"/>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9828637"/>
                  </a:ext>
                </a:extLst>
              </a:tr>
              <a:tr h="697958">
                <a:tc>
                  <a:txBody>
                    <a:body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SOP Development</a:t>
                      </a:r>
                    </a:p>
                    <a:p>
                      <a:pPr marL="406400" marR="0" lvl="2"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Define intake requests</a:t>
                      </a:r>
                    </a:p>
                    <a:p>
                      <a:pPr marL="406400" marR="0" lvl="2"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Define prioritization</a:t>
                      </a:r>
                    </a:p>
                    <a:p>
                      <a:pPr marL="406400" marR="0" lvl="2"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Define request execution</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Develop intake portal</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lang="en-US" sz="1050" dirty="0">
                          <a:solidFill>
                            <a:prstClr val="black"/>
                          </a:solidFill>
                          <a:latin typeface="+mn-lt"/>
                        </a:rPr>
                        <a:t>Pilot intake portal</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Revise intake portal</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Develop feedback plan and mechanisms</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Develop deployment/implementation plan</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Develop communications &amp; engagement strategy</a:t>
                      </a:r>
                    </a:p>
                    <a:p>
                      <a:pPr marL="0" marR="0" lvl="1" indent="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None/>
                        <a:tabLst/>
                        <a:defRPr/>
                      </a:pPr>
                      <a:endParaRPr kumimoji="0" lang="en-US" sz="1050" i="0" u="none" strike="noStrike" kern="1200" cap="none" spc="0" normalizeH="0" baseline="0" noProof="0" dirty="0">
                        <a:ln>
                          <a:noFill/>
                        </a:ln>
                        <a:solidFill>
                          <a:prstClr val="black"/>
                        </a:solidFill>
                        <a:effectLst/>
                        <a:uLnTx/>
                        <a:uFillTx/>
                        <a:latin typeface="+mn-lt"/>
                        <a:ea typeface="+mn-ea"/>
                        <a:cs typeface="Arial" panose="020B0604020202020204" pitchFamily="34" charset="0"/>
                      </a:endParaRP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endParaRPr kumimoji="0" lang="en-US" sz="1050" i="0" u="none" strike="noStrike" kern="1200" cap="none" spc="0" normalizeH="0" baseline="0" noProof="0" dirty="0">
                        <a:ln>
                          <a:noFill/>
                        </a:ln>
                        <a:solidFill>
                          <a:prstClr val="black"/>
                        </a:solidFill>
                        <a:effectLst/>
                        <a:uLnTx/>
                        <a:uFillTx/>
                        <a:latin typeface="+mn-lt"/>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endParaRPr kumimoji="0" lang="en-US" sz="1050" i="0" u="none" strike="noStrike" kern="1200" cap="none" spc="0" normalizeH="0" baseline="0" noProof="0" dirty="0">
                        <a:ln>
                          <a:noFill/>
                        </a:ln>
                        <a:solidFill>
                          <a:prstClr val="black"/>
                        </a:solidFill>
                        <a:effectLst/>
                        <a:uLnTx/>
                        <a:uFillTx/>
                        <a:latin typeface="+mn-lt"/>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Deploy intake portal to field</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Communicate deployment to field</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Collect and analyze feedback &amp; key metrics from </a:t>
                      </a: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the</a:t>
                      </a:r>
                      <a:r>
                        <a:rPr kumimoji="0" lang="en-US" sz="105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 field</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Incorporate feedback into SOPs/Portal/Deployment plan</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Communicate changes to field</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endParaRPr kumimoji="0" lang="en-US" sz="1050" i="0" u="none" strike="noStrike" kern="1200" cap="none" spc="0" normalizeH="0" baseline="0" noProof="0" dirty="0">
                        <a:ln>
                          <a:noFill/>
                        </a:ln>
                        <a:solidFill>
                          <a:prstClr val="black"/>
                        </a:solidFill>
                        <a:effectLst/>
                        <a:uLnTx/>
                        <a:uFillTx/>
                        <a:latin typeface="+mn-lt"/>
                        <a:ea typeface="+mn-ea"/>
                        <a:cs typeface="Arial" panose="020B0604020202020204" pitchFamily="34" charset="0"/>
                      </a:endParaRP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endParaRPr kumimoji="0" lang="en-US" sz="1050" i="0" u="none" strike="noStrike" kern="1200" cap="none" spc="0" normalizeH="0" baseline="0" noProof="0" dirty="0">
                        <a:ln>
                          <a:noFill/>
                        </a:ln>
                        <a:solidFill>
                          <a:prstClr val="black"/>
                        </a:solidFill>
                        <a:effectLst/>
                        <a:uLnTx/>
                        <a:uFillTx/>
                        <a:latin typeface="+mn-lt"/>
                        <a:ea typeface="+mn-ea"/>
                        <a:cs typeface="Arial" panose="020B0604020202020204" pitchFamily="34" charset="0"/>
                      </a:endParaRP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endParaRPr kumimoji="0" lang="en-US" sz="1050" i="0" u="none" strike="noStrike" kern="1200" cap="none" spc="0" normalizeH="0" baseline="0" noProof="0" dirty="0">
                        <a:ln>
                          <a:noFill/>
                        </a:ln>
                        <a:solidFill>
                          <a:prstClr val="black"/>
                        </a:solidFill>
                        <a:effectLst/>
                        <a:uLnTx/>
                        <a:uFillTx/>
                        <a:latin typeface="+mn-lt"/>
                        <a:ea typeface="+mn-ea"/>
                        <a:cs typeface="Arial" panose="020B0604020202020204" pitchFamily="34" charset="0"/>
                      </a:endParaRP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endParaRPr kumimoji="0" lang="en-US" sz="1050" i="0" u="none" strike="noStrike" kern="1200" cap="none" spc="0" normalizeH="0" baseline="0" noProof="0" dirty="0">
                        <a:ln>
                          <a:noFill/>
                        </a:ln>
                        <a:solidFill>
                          <a:prstClr val="black"/>
                        </a:solidFill>
                        <a:effectLst/>
                        <a:uLnTx/>
                        <a:uFillTx/>
                        <a:latin typeface="+mn-lt"/>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endParaRPr kumimoji="0" lang="en-US" sz="1050" i="0" u="none" strike="noStrike" kern="1200" cap="none" spc="0" normalizeH="0" baseline="0" noProof="0" dirty="0">
                        <a:ln>
                          <a:noFill/>
                        </a:ln>
                        <a:solidFill>
                          <a:prstClr val="black"/>
                        </a:solidFill>
                        <a:effectLst/>
                        <a:uLnTx/>
                        <a:uFillTx/>
                        <a:latin typeface="+mn-lt"/>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Collect feedback from field via feedback mechanism and on ad hoc basis</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i="0" u="none" strike="noStrike" kern="1200" cap="none" spc="0" normalizeH="0" baseline="0" dirty="0">
                          <a:ln>
                            <a:noFill/>
                          </a:ln>
                          <a:solidFill>
                            <a:prstClr val="black"/>
                          </a:solidFill>
                          <a:effectLst/>
                          <a:uLnTx/>
                          <a:uFillTx/>
                          <a:latin typeface="+mn-lt"/>
                          <a:ea typeface="+mn-ea"/>
                          <a:cs typeface="Arial" panose="020B0604020202020204" pitchFamily="34" charset="0"/>
                        </a:rPr>
                        <a:t>Incorporate feedback into SOPs/Portal/Deployment plan</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Communicate changes to field</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endParaRPr kumimoji="0" lang="en-US" sz="1050" i="0" u="none" strike="noStrike" kern="1200" cap="none" spc="0" normalizeH="0" baseline="0" noProof="0" dirty="0">
                        <a:ln>
                          <a:noFill/>
                        </a:ln>
                        <a:solidFill>
                          <a:prstClr val="black"/>
                        </a:solidFill>
                        <a:effectLst/>
                        <a:uLnTx/>
                        <a:uFillTx/>
                        <a:latin typeface="+mn-lt"/>
                        <a:ea typeface="+mn-ea"/>
                        <a:cs typeface="Arial" panose="020B0604020202020204" pitchFamily="34" charset="0"/>
                      </a:endParaRP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endParaRPr kumimoji="0" lang="en-US" sz="1050" i="0" u="none" strike="noStrike" kern="1200" cap="none" spc="0" normalizeH="0" baseline="0" noProof="0" dirty="0">
                        <a:ln>
                          <a:noFill/>
                        </a:ln>
                        <a:solidFill>
                          <a:prstClr val="black"/>
                        </a:solidFill>
                        <a:effectLst/>
                        <a:uLnTx/>
                        <a:uFillTx/>
                        <a:latin typeface="+mn-lt"/>
                        <a:ea typeface="+mn-ea"/>
                        <a:cs typeface="Arial" panose="020B0604020202020204" pitchFamily="34" charset="0"/>
                      </a:endParaRP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endParaRPr kumimoji="0" lang="en-US" sz="1050" i="0" u="none" strike="noStrike" kern="1200" cap="none" spc="0" normalizeH="0" baseline="0" noProof="0" dirty="0">
                        <a:ln>
                          <a:noFill/>
                        </a:ln>
                        <a:solidFill>
                          <a:prstClr val="black"/>
                        </a:solidFill>
                        <a:effectLst/>
                        <a:uLnTx/>
                        <a:uFillTx/>
                        <a:latin typeface="+mn-lt"/>
                        <a:ea typeface="+mn-ea"/>
                        <a:cs typeface="Arial" panose="020B0604020202020204" pitchFamily="34" charset="0"/>
                      </a:endParaRP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endParaRPr kumimoji="0" lang="en-US" sz="1050" i="0" u="none" strike="noStrike" kern="1200" cap="none" spc="0" normalizeH="0" baseline="0" noProof="0" dirty="0">
                        <a:ln>
                          <a:noFill/>
                        </a:ln>
                        <a:solidFill>
                          <a:prstClr val="black"/>
                        </a:solidFill>
                        <a:effectLst/>
                        <a:uLnTx/>
                        <a:uFillTx/>
                        <a:latin typeface="+mn-lt"/>
                        <a:ea typeface="+mn-ea"/>
                        <a:cs typeface="Arial" panose="020B0604020202020204" pitchFamily="34" charset="0"/>
                      </a:endParaRP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endParaRPr kumimoji="0" lang="en-US" sz="1050" i="0" u="none" strike="noStrike" kern="1200" cap="none" spc="0" normalizeH="0" baseline="0" noProof="0" dirty="0">
                        <a:ln>
                          <a:noFill/>
                        </a:ln>
                        <a:solidFill>
                          <a:prstClr val="black"/>
                        </a:solidFill>
                        <a:effectLst/>
                        <a:uLnTx/>
                        <a:uFillTx/>
                        <a:latin typeface="+mn-lt"/>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7623247"/>
                  </a:ext>
                </a:extLst>
              </a:tr>
            </a:tbl>
          </a:graphicData>
        </a:graphic>
      </p:graphicFrame>
      <p:sp>
        <p:nvSpPr>
          <p:cNvPr id="23" name="TextBox 22">
            <a:extLst>
              <a:ext uri="{FF2B5EF4-FFF2-40B4-BE49-F238E27FC236}">
                <a16:creationId xmlns:a16="http://schemas.microsoft.com/office/drawing/2014/main" id="{2C8EF6A1-A2D9-4CA4-ABEF-7DE48C6256D4}"/>
              </a:ext>
            </a:extLst>
          </p:cNvPr>
          <p:cNvSpPr txBox="1"/>
          <p:nvPr/>
        </p:nvSpPr>
        <p:spPr>
          <a:xfrm rot="16200000">
            <a:off x="-155399" y="1932240"/>
            <a:ext cx="1228436"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Goals</a:t>
            </a:r>
          </a:p>
        </p:txBody>
      </p:sp>
      <p:sp>
        <p:nvSpPr>
          <p:cNvPr id="24" name="TextBox 23">
            <a:extLst>
              <a:ext uri="{FF2B5EF4-FFF2-40B4-BE49-F238E27FC236}">
                <a16:creationId xmlns:a16="http://schemas.microsoft.com/office/drawing/2014/main" id="{E32252AE-F333-47F8-B05E-CC358DDA6FD0}"/>
              </a:ext>
            </a:extLst>
          </p:cNvPr>
          <p:cNvSpPr txBox="1"/>
          <p:nvPr/>
        </p:nvSpPr>
        <p:spPr>
          <a:xfrm rot="16200000">
            <a:off x="-161247" y="4038107"/>
            <a:ext cx="1228436"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Milestones</a:t>
            </a:r>
          </a:p>
        </p:txBody>
      </p:sp>
      <p:sp>
        <p:nvSpPr>
          <p:cNvPr id="27" name="TextBox 26">
            <a:extLst>
              <a:ext uri="{FF2B5EF4-FFF2-40B4-BE49-F238E27FC236}">
                <a16:creationId xmlns:a16="http://schemas.microsoft.com/office/drawing/2014/main" id="{004918F0-B0DA-4ED0-9E09-805EB24D1E08}"/>
              </a:ext>
            </a:extLst>
          </p:cNvPr>
          <p:cNvSpPr txBox="1"/>
          <p:nvPr/>
        </p:nvSpPr>
        <p:spPr>
          <a:xfrm rot="16200000">
            <a:off x="-155400" y="2793962"/>
            <a:ext cx="1228436"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Outputs</a:t>
            </a:r>
          </a:p>
        </p:txBody>
      </p:sp>
      <p:sp>
        <p:nvSpPr>
          <p:cNvPr id="19" name="Slide Number Placeholder 2">
            <a:extLst>
              <a:ext uri="{FF2B5EF4-FFF2-40B4-BE49-F238E27FC236}">
                <a16:creationId xmlns:a16="http://schemas.microsoft.com/office/drawing/2014/main" id="{87BA05ED-EAF1-C2C5-FAA9-8725E1CC1C71}"/>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US"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2010594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Arrow Connector 3">
            <a:extLst>
              <a:ext uri="{FF2B5EF4-FFF2-40B4-BE49-F238E27FC236}">
                <a16:creationId xmlns:a16="http://schemas.microsoft.com/office/drawing/2014/main" id="{050AB773-B44E-4572-B1F6-1C3A70C218B8}"/>
              </a:ext>
            </a:extLst>
          </p:cNvPr>
          <p:cNvCxnSpPr>
            <a:cxnSpLocks/>
          </p:cNvCxnSpPr>
          <p:nvPr/>
        </p:nvCxnSpPr>
        <p:spPr>
          <a:xfrm>
            <a:off x="6396997" y="1037610"/>
            <a:ext cx="4076251" cy="0"/>
          </a:xfrm>
          <a:prstGeom prst="straightConnector1">
            <a:avLst/>
          </a:prstGeom>
          <a:ln>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98F08DB-00CC-4B59-99D2-579A13921190}"/>
              </a:ext>
            </a:extLst>
          </p:cNvPr>
          <p:cNvSpPr txBox="1"/>
          <p:nvPr/>
        </p:nvSpPr>
        <p:spPr>
          <a:xfrm>
            <a:off x="8079301" y="899111"/>
            <a:ext cx="711644" cy="276999"/>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Q4 FY22</a:t>
            </a:r>
          </a:p>
        </p:txBody>
      </p:sp>
      <p:sp>
        <p:nvSpPr>
          <p:cNvPr id="7" name="ee4pHeader3">
            <a:extLst>
              <a:ext uri="{FF2B5EF4-FFF2-40B4-BE49-F238E27FC236}">
                <a16:creationId xmlns:a16="http://schemas.microsoft.com/office/drawing/2014/main" id="{F6AB4A71-DCB1-4C8A-953C-1BB6FB0180B3}"/>
              </a:ext>
            </a:extLst>
          </p:cNvPr>
          <p:cNvSpPr/>
          <p:nvPr>
            <p:custDataLst>
              <p:tags r:id="rId1"/>
            </p:custDataLst>
          </p:nvPr>
        </p:nvSpPr>
        <p:spPr bwMode="auto">
          <a:xfrm>
            <a:off x="2190570" y="1183175"/>
            <a:ext cx="4076251" cy="434396"/>
          </a:xfrm>
          <a:prstGeom prst="chevron">
            <a:avLst>
              <a:gd name="adj" fmla="val 19696"/>
            </a:avLst>
          </a:prstGeom>
          <a:solidFill>
            <a:srgbClr val="002F56"/>
          </a:solidFill>
          <a:ln w="9525" cmpd="sng">
            <a:solidFill>
              <a:srgbClr val="002060"/>
            </a:solidFill>
            <a:prstDash val="solid"/>
            <a:miter lim="800000"/>
            <a:headEnd/>
            <a:tailEnd/>
          </a:ln>
          <a:effectLst/>
        </p:spPr>
        <p:txBody>
          <a:bodyPr anchor="ctr"/>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rPr>
              <a:t>Phase 3: Contract Evaluation</a:t>
            </a:r>
          </a:p>
        </p:txBody>
      </p:sp>
      <p:sp>
        <p:nvSpPr>
          <p:cNvPr id="10" name="TextBox 9">
            <a:extLst>
              <a:ext uri="{FF2B5EF4-FFF2-40B4-BE49-F238E27FC236}">
                <a16:creationId xmlns:a16="http://schemas.microsoft.com/office/drawing/2014/main" id="{339AB8DA-E3D1-49CC-A271-41DE64072FE3}"/>
              </a:ext>
            </a:extLst>
          </p:cNvPr>
          <p:cNvSpPr txBox="1"/>
          <p:nvPr/>
        </p:nvSpPr>
        <p:spPr>
          <a:xfrm rot="16200000">
            <a:off x="1277346" y="1721637"/>
            <a:ext cx="1228436"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Goals</a:t>
            </a:r>
          </a:p>
        </p:txBody>
      </p:sp>
      <p:sp>
        <p:nvSpPr>
          <p:cNvPr id="11" name="TextBox 10">
            <a:extLst>
              <a:ext uri="{FF2B5EF4-FFF2-40B4-BE49-F238E27FC236}">
                <a16:creationId xmlns:a16="http://schemas.microsoft.com/office/drawing/2014/main" id="{FEF707E9-9EE6-47CE-B56F-33F7268116EA}"/>
              </a:ext>
            </a:extLst>
          </p:cNvPr>
          <p:cNvSpPr txBox="1"/>
          <p:nvPr/>
        </p:nvSpPr>
        <p:spPr>
          <a:xfrm rot="16200000">
            <a:off x="1277346" y="3034345"/>
            <a:ext cx="1228436"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Milestones</a:t>
            </a:r>
          </a:p>
        </p:txBody>
      </p:sp>
      <p:sp>
        <p:nvSpPr>
          <p:cNvPr id="12" name="TextBox 11">
            <a:extLst>
              <a:ext uri="{FF2B5EF4-FFF2-40B4-BE49-F238E27FC236}">
                <a16:creationId xmlns:a16="http://schemas.microsoft.com/office/drawing/2014/main" id="{8731FD6D-40AC-4E91-BDC3-7811A168B209}"/>
              </a:ext>
            </a:extLst>
          </p:cNvPr>
          <p:cNvSpPr txBox="1"/>
          <p:nvPr/>
        </p:nvSpPr>
        <p:spPr>
          <a:xfrm rot="16200000">
            <a:off x="1277347" y="2283137"/>
            <a:ext cx="1228436"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Outputs</a:t>
            </a:r>
          </a:p>
        </p:txBody>
      </p:sp>
      <p:cxnSp>
        <p:nvCxnSpPr>
          <p:cNvPr id="17" name="Straight Arrow Connector 16">
            <a:extLst>
              <a:ext uri="{FF2B5EF4-FFF2-40B4-BE49-F238E27FC236}">
                <a16:creationId xmlns:a16="http://schemas.microsoft.com/office/drawing/2014/main" id="{A4A413DE-2DA7-4205-89C2-625BDFF40286}"/>
              </a:ext>
            </a:extLst>
          </p:cNvPr>
          <p:cNvCxnSpPr>
            <a:cxnSpLocks/>
          </p:cNvCxnSpPr>
          <p:nvPr/>
        </p:nvCxnSpPr>
        <p:spPr>
          <a:xfrm>
            <a:off x="2190570" y="1037610"/>
            <a:ext cx="4076251" cy="0"/>
          </a:xfrm>
          <a:prstGeom prst="straightConnector1">
            <a:avLst/>
          </a:prstGeom>
          <a:ln>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9AA9A88B-8009-47E0-9DE1-DB063CB0FECA}"/>
              </a:ext>
            </a:extLst>
          </p:cNvPr>
          <p:cNvSpPr txBox="1"/>
          <p:nvPr/>
        </p:nvSpPr>
        <p:spPr>
          <a:xfrm>
            <a:off x="3872874" y="884663"/>
            <a:ext cx="711644" cy="276999"/>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4 weeks</a:t>
            </a:r>
          </a:p>
        </p:txBody>
      </p:sp>
      <p:sp>
        <p:nvSpPr>
          <p:cNvPr id="20" name="ee4pHeader3">
            <a:extLst>
              <a:ext uri="{FF2B5EF4-FFF2-40B4-BE49-F238E27FC236}">
                <a16:creationId xmlns:a16="http://schemas.microsoft.com/office/drawing/2014/main" id="{E30FA7A2-2175-441E-90AB-973D65370079}"/>
              </a:ext>
            </a:extLst>
          </p:cNvPr>
          <p:cNvSpPr/>
          <p:nvPr>
            <p:custDataLst>
              <p:tags r:id="rId2"/>
            </p:custDataLst>
          </p:nvPr>
        </p:nvSpPr>
        <p:spPr bwMode="auto">
          <a:xfrm>
            <a:off x="6396997" y="1183175"/>
            <a:ext cx="4076251" cy="434396"/>
          </a:xfrm>
          <a:prstGeom prst="chevron">
            <a:avLst>
              <a:gd name="adj" fmla="val 19696"/>
            </a:avLst>
          </a:prstGeom>
          <a:solidFill>
            <a:srgbClr val="002F56"/>
          </a:solidFill>
          <a:ln w="9525" cmpd="sng">
            <a:solidFill>
              <a:srgbClr val="002060"/>
            </a:solidFill>
            <a:prstDash val="solid"/>
            <a:miter lim="800000"/>
            <a:headEnd/>
            <a:tailEnd/>
          </a:ln>
          <a:effectLst/>
        </p:spPr>
        <p:txBody>
          <a:bodyPr anchor="ctr"/>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rPr>
              <a:t>Phase 4: Future State Analysis </a:t>
            </a:r>
          </a:p>
        </p:txBody>
      </p:sp>
      <p:sp>
        <p:nvSpPr>
          <p:cNvPr id="25" name="Title 1">
            <a:extLst>
              <a:ext uri="{FF2B5EF4-FFF2-40B4-BE49-F238E27FC236}">
                <a16:creationId xmlns:a16="http://schemas.microsoft.com/office/drawing/2014/main" id="{F2D2C9AD-2B35-4ABF-AA3F-515A4FCB6B23}"/>
              </a:ext>
            </a:extLst>
          </p:cNvPr>
          <p:cNvSpPr>
            <a:spLocks noGrp="1"/>
          </p:cNvSpPr>
          <p:nvPr>
            <p:ph type="title"/>
          </p:nvPr>
        </p:nvSpPr>
        <p:spPr>
          <a:xfrm>
            <a:off x="390525" y="97245"/>
            <a:ext cx="10515600" cy="680223"/>
          </a:xfrm>
        </p:spPr>
        <p:txBody>
          <a:bodyPr/>
          <a:lstStyle/>
          <a:p>
            <a:r>
              <a:rPr lang="en-US" sz="2400" dirty="0"/>
              <a:t>Centralized Field Support Contract High-Level Roadmap</a:t>
            </a:r>
          </a:p>
        </p:txBody>
      </p:sp>
      <p:graphicFrame>
        <p:nvGraphicFramePr>
          <p:cNvPr id="2" name="Table 18">
            <a:extLst>
              <a:ext uri="{FF2B5EF4-FFF2-40B4-BE49-F238E27FC236}">
                <a16:creationId xmlns:a16="http://schemas.microsoft.com/office/drawing/2014/main" id="{F8C9A569-883D-401E-9CC8-7C1304C16541}"/>
              </a:ext>
            </a:extLst>
          </p:cNvPr>
          <p:cNvGraphicFramePr>
            <a:graphicFrameLocks noGrp="1"/>
          </p:cNvGraphicFramePr>
          <p:nvPr/>
        </p:nvGraphicFramePr>
        <p:xfrm>
          <a:off x="2190570" y="1639084"/>
          <a:ext cx="8282678" cy="1969530"/>
        </p:xfrm>
        <a:graphic>
          <a:graphicData uri="http://schemas.openxmlformats.org/drawingml/2006/table">
            <a:tbl>
              <a:tblPr firstRow="1" bandRow="1">
                <a:tableStyleId>{5C22544A-7EE6-4342-B048-85BDC9FD1C3A}</a:tableStyleId>
              </a:tblPr>
              <a:tblGrid>
                <a:gridCol w="3997097">
                  <a:extLst>
                    <a:ext uri="{9D8B030D-6E8A-4147-A177-3AD203B41FA5}">
                      <a16:colId xmlns:a16="http://schemas.microsoft.com/office/drawing/2014/main" val="1554800756"/>
                    </a:ext>
                  </a:extLst>
                </a:gridCol>
                <a:gridCol w="208280">
                  <a:extLst>
                    <a:ext uri="{9D8B030D-6E8A-4147-A177-3AD203B41FA5}">
                      <a16:colId xmlns:a16="http://schemas.microsoft.com/office/drawing/2014/main" val="3972360632"/>
                    </a:ext>
                  </a:extLst>
                </a:gridCol>
                <a:gridCol w="4077301">
                  <a:extLst>
                    <a:ext uri="{9D8B030D-6E8A-4147-A177-3AD203B41FA5}">
                      <a16:colId xmlns:a16="http://schemas.microsoft.com/office/drawing/2014/main" val="911479256"/>
                    </a:ext>
                  </a:extLst>
                </a:gridCol>
              </a:tblGrid>
              <a:tr h="477099">
                <a:tc>
                  <a:txBody>
                    <a:body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Determine contract continuation course of action</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Adjust tools and processes to support course of action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endParaRPr kumimoji="0" lang="en-US" sz="1050" b="0" i="0" u="none" strike="noStrike" kern="1200" cap="none" spc="0" normalizeH="0" baseline="0" dirty="0">
                        <a:ln>
                          <a:noFill/>
                        </a:ln>
                        <a:solidFill>
                          <a:prstClr val="black"/>
                        </a:solidFill>
                        <a:effectLst/>
                        <a:uLnTx/>
                        <a:uFillTx/>
                        <a:latin typeface="+mn-lt"/>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Develop an understanding of the potential for the contract to be used for other resourcing needs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14531516"/>
                  </a:ext>
                </a:extLst>
              </a:tr>
              <a:tr h="600891">
                <a:tc>
                  <a:txBody>
                    <a:body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Contract evaluation determination</a:t>
                      </a:r>
                    </a:p>
                    <a:p>
                      <a:pPr marL="0" marR="0" lvl="1" indent="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None/>
                        <a:tabLst/>
                        <a:defRPr/>
                      </a:pPr>
                      <a:endPar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endParaRP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endParaRPr kumimoji="0" lang="en-US" sz="1050" b="0" i="0" u="none" strike="noStrike" kern="1200" cap="none" spc="0" normalizeH="0" baseline="0" dirty="0">
                        <a:ln>
                          <a:noFill/>
                        </a:ln>
                        <a:solidFill>
                          <a:prstClr val="black"/>
                        </a:solidFill>
                        <a:effectLst/>
                        <a:uLnTx/>
                        <a:uFillTx/>
                        <a:latin typeface="+mn-lt"/>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None/>
                        <a:tabLst/>
                        <a:defRPr/>
                      </a:pPr>
                      <a:endPar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Findings from long term analysis</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endPar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endParaRPr>
                    </a:p>
                    <a:p>
                      <a:pPr marL="0" marR="0" lvl="1" indent="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None/>
                        <a:tabLst/>
                        <a:defRPr/>
                      </a:pPr>
                      <a:endPar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3948072"/>
                  </a:ext>
                </a:extLst>
              </a:tr>
              <a:tr h="370840">
                <a:tc>
                  <a:txBody>
                    <a:body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Develop contract continuity options</a:t>
                      </a:r>
                    </a:p>
                    <a:p>
                      <a:pPr marL="406400" marR="0" lvl="2"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End, Revise, Continue (largely) as-is</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Determine contract execution option</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Communicate determination</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Adjust SOPs to new contract environment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None/>
                        <a:tabLst/>
                        <a:defRPr/>
                      </a:pPr>
                      <a:endPar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Conduct long term financial analysis of progress</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Finalize evaluation of potential contract expansion to other usages</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Analyze user feedback</a:t>
                      </a:r>
                    </a:p>
                    <a:p>
                      <a:pPr marL="0" marR="0" lvl="1" indent="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None/>
                        <a:tabLst/>
                        <a:defRPr/>
                      </a:pPr>
                      <a:endPar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16464019"/>
                  </a:ext>
                </a:extLst>
              </a:tr>
            </a:tbl>
          </a:graphicData>
        </a:graphic>
      </p:graphicFrame>
      <p:cxnSp>
        <p:nvCxnSpPr>
          <p:cNvPr id="9" name="Straight Connector 8">
            <a:extLst>
              <a:ext uri="{FF2B5EF4-FFF2-40B4-BE49-F238E27FC236}">
                <a16:creationId xmlns:a16="http://schemas.microsoft.com/office/drawing/2014/main" id="{828921F8-C472-420B-8C8B-CF9736A8A9EF}"/>
              </a:ext>
            </a:extLst>
          </p:cNvPr>
          <p:cNvCxnSpPr>
            <a:cxnSpLocks/>
          </p:cNvCxnSpPr>
          <p:nvPr/>
        </p:nvCxnSpPr>
        <p:spPr>
          <a:xfrm>
            <a:off x="230216" y="2105227"/>
            <a:ext cx="11731567" cy="0"/>
          </a:xfrm>
          <a:prstGeom prst="line">
            <a:avLst/>
          </a:prstGeom>
          <a:ln>
            <a:solidFill>
              <a:schemeClr val="bg2">
                <a:lumMod val="9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06DFE41-1186-43FA-AA43-4E1789224183}"/>
              </a:ext>
            </a:extLst>
          </p:cNvPr>
          <p:cNvCxnSpPr>
            <a:cxnSpLocks/>
          </p:cNvCxnSpPr>
          <p:nvPr/>
        </p:nvCxnSpPr>
        <p:spPr>
          <a:xfrm>
            <a:off x="268756" y="2716091"/>
            <a:ext cx="11731567" cy="0"/>
          </a:xfrm>
          <a:prstGeom prst="line">
            <a:avLst/>
          </a:prstGeom>
          <a:ln>
            <a:solidFill>
              <a:schemeClr val="bg2">
                <a:lumMod val="90000"/>
              </a:schemeClr>
            </a:solidFill>
            <a:prstDash val="lgDash"/>
          </a:ln>
        </p:spPr>
        <p:style>
          <a:lnRef idx="1">
            <a:schemeClr val="accent1"/>
          </a:lnRef>
          <a:fillRef idx="0">
            <a:schemeClr val="accent1"/>
          </a:fillRef>
          <a:effectRef idx="0">
            <a:schemeClr val="accent1"/>
          </a:effectRef>
          <a:fontRef idx="minor">
            <a:schemeClr val="tx1"/>
          </a:fontRef>
        </p:style>
      </p:cxnSp>
      <p:sp>
        <p:nvSpPr>
          <p:cNvPr id="16" name="Slide Number Placeholder 2">
            <a:extLst>
              <a:ext uri="{FF2B5EF4-FFF2-40B4-BE49-F238E27FC236}">
                <a16:creationId xmlns:a16="http://schemas.microsoft.com/office/drawing/2014/main" id="{D4B6F7C7-E590-08C4-C325-D53032E5C91A}"/>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n-US"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5963150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312732-C7CE-47D3-A994-5C9DAF8F6542}"/>
              </a:ext>
            </a:extLst>
          </p:cNvPr>
          <p:cNvSpPr>
            <a:spLocks noGrp="1"/>
          </p:cNvSpPr>
          <p:nvPr>
            <p:ph type="title"/>
          </p:nvPr>
        </p:nvSpPr>
        <p:spPr/>
        <p:txBody>
          <a:bodyPr/>
          <a:lstStyle/>
          <a:p>
            <a:r>
              <a:rPr lang="en-US" dirty="0">
                <a:solidFill>
                  <a:schemeClr val="tx1"/>
                </a:solidFill>
              </a:rPr>
              <a:t>Appendix: Central Research HR Function Roadmap</a:t>
            </a:r>
            <a:br>
              <a:rPr lang="en-US" dirty="0">
                <a:solidFill>
                  <a:schemeClr val="tx1"/>
                </a:solidFill>
              </a:rPr>
            </a:br>
            <a:endParaRPr lang="en-US" dirty="0">
              <a:solidFill>
                <a:schemeClr val="tx1"/>
              </a:solidFill>
            </a:endParaRPr>
          </a:p>
        </p:txBody>
      </p:sp>
      <p:sp>
        <p:nvSpPr>
          <p:cNvPr id="6" name="Slide Number Placeholder 2">
            <a:extLst>
              <a:ext uri="{FF2B5EF4-FFF2-40B4-BE49-F238E27FC236}">
                <a16:creationId xmlns:a16="http://schemas.microsoft.com/office/drawing/2014/main" id="{348A4DB6-213A-EF35-FF18-1097643D6169}"/>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7165404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084AACB4-9DD1-4831-BBB1-1E89585DA2F0}"/>
              </a:ext>
            </a:extLst>
          </p:cNvPr>
          <p:cNvGraphicFramePr>
            <a:graphicFrameLocks noGrp="1"/>
          </p:cNvGraphicFramePr>
          <p:nvPr/>
        </p:nvGraphicFramePr>
        <p:xfrm>
          <a:off x="224924" y="923655"/>
          <a:ext cx="11742151" cy="5027561"/>
        </p:xfrm>
        <a:graphic>
          <a:graphicData uri="http://schemas.openxmlformats.org/drawingml/2006/table">
            <a:tbl>
              <a:tblPr firstRow="1" bandRow="1">
                <a:tableStyleId>{5C22544A-7EE6-4342-B048-85BDC9FD1C3A}</a:tableStyleId>
              </a:tblPr>
              <a:tblGrid>
                <a:gridCol w="416243">
                  <a:extLst>
                    <a:ext uri="{9D8B030D-6E8A-4147-A177-3AD203B41FA5}">
                      <a16:colId xmlns:a16="http://schemas.microsoft.com/office/drawing/2014/main" val="165306633"/>
                    </a:ext>
                  </a:extLst>
                </a:gridCol>
                <a:gridCol w="2831477">
                  <a:extLst>
                    <a:ext uri="{9D8B030D-6E8A-4147-A177-3AD203B41FA5}">
                      <a16:colId xmlns:a16="http://schemas.microsoft.com/office/drawing/2014/main" val="2435354250"/>
                    </a:ext>
                  </a:extLst>
                </a:gridCol>
                <a:gridCol w="2831477">
                  <a:extLst>
                    <a:ext uri="{9D8B030D-6E8A-4147-A177-3AD203B41FA5}">
                      <a16:colId xmlns:a16="http://schemas.microsoft.com/office/drawing/2014/main" val="345243578"/>
                    </a:ext>
                  </a:extLst>
                </a:gridCol>
                <a:gridCol w="2831477">
                  <a:extLst>
                    <a:ext uri="{9D8B030D-6E8A-4147-A177-3AD203B41FA5}">
                      <a16:colId xmlns:a16="http://schemas.microsoft.com/office/drawing/2014/main" val="208525038"/>
                    </a:ext>
                  </a:extLst>
                </a:gridCol>
                <a:gridCol w="2831477">
                  <a:extLst>
                    <a:ext uri="{9D8B030D-6E8A-4147-A177-3AD203B41FA5}">
                      <a16:colId xmlns:a16="http://schemas.microsoft.com/office/drawing/2014/main" val="2755749036"/>
                    </a:ext>
                  </a:extLst>
                </a:gridCol>
              </a:tblGrid>
              <a:tr h="912761">
                <a:tc>
                  <a:txBody>
                    <a:bodyPr/>
                    <a:lstStyle/>
                    <a:p>
                      <a:pPr marL="0" marR="0" lvl="1" indent="0" algn="ctr" defTabSz="914400" rtl="0" eaLnBrk="1" fontAlgn="auto" latinLnBrk="0" hangingPunct="1">
                        <a:lnSpc>
                          <a:spcPct val="100000"/>
                        </a:lnSpc>
                        <a:spcBef>
                          <a:spcPts val="0"/>
                        </a:spcBef>
                        <a:spcAft>
                          <a:spcPts val="0"/>
                        </a:spcAft>
                        <a:buClr>
                          <a:srgbClr val="4472C4"/>
                        </a:buClr>
                        <a:buSzTx/>
                        <a:buFont typeface="Wingdings" panose="05000000000000000000" pitchFamily="2" charset="2"/>
                        <a:buNone/>
                        <a:tabLst/>
                        <a:defRPr/>
                      </a:pPr>
                      <a:endParaRPr kumimoji="0" lang="en-US" sz="1200" b="1" i="0" u="none" strike="noStrike" kern="1200" cap="none" spc="0" normalizeH="0" baseline="0" noProof="0" dirty="0">
                        <a:ln>
                          <a:noFill/>
                        </a:ln>
                        <a:solidFill>
                          <a:prstClr val="black"/>
                        </a:solidFill>
                        <a:effectLst/>
                        <a:uLnTx/>
                        <a:uFillTx/>
                        <a:latin typeface="+mn-lt"/>
                        <a:ea typeface="+mn-ea"/>
                        <a:cs typeface="Arial" panose="020B0604020202020204" pitchFamily="34" charset="0"/>
                      </a:endParaRPr>
                    </a:p>
                  </a:txBody>
                  <a:tcPr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endPar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endPar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endPar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endPar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42039299"/>
                  </a:ext>
                </a:extLst>
              </a:tr>
              <a:tr h="370840">
                <a:tc>
                  <a:txBody>
                    <a:bodyPr/>
                    <a:lstStyle/>
                    <a:p>
                      <a:pPr marL="0" marR="0" lvl="1" indent="0" algn="ctr" defTabSz="914400" rtl="0" eaLnBrk="1" fontAlgn="auto" latinLnBrk="0" hangingPunct="1">
                        <a:lnSpc>
                          <a:spcPct val="100000"/>
                        </a:lnSpc>
                        <a:spcBef>
                          <a:spcPts val="0"/>
                        </a:spcBef>
                        <a:spcAft>
                          <a:spcPts val="0"/>
                        </a:spcAft>
                        <a:buClr>
                          <a:srgbClr val="4472C4"/>
                        </a:buClr>
                        <a:buSzTx/>
                        <a:buFont typeface="Wingdings" panose="05000000000000000000" pitchFamily="2" charset="2"/>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Goals</a:t>
                      </a:r>
                    </a:p>
                  </a:txBody>
                  <a:tcPr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90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Establish agreements and secure funding to establish Central Research HR Function</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Get buy-in from operations leadership</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90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Develop tools and guidance for implementation</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Plan the roll-out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90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Implement Central Research HR Function at the Wave 1 site</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Prepare for implementation at Wave 2-8 sites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90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Implement Central Research HR Function across the Research Enterprise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90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6438976"/>
                  </a:ext>
                </a:extLst>
              </a:tr>
              <a:tr h="370840">
                <a:tc>
                  <a:txBody>
                    <a:bodyPr/>
                    <a:lstStyle/>
                    <a:p>
                      <a:pPr marL="0" marR="0" lvl="1" indent="0" algn="ctr" defTabSz="914400" rtl="0" eaLnBrk="1" fontAlgn="auto" latinLnBrk="0" hangingPunct="1">
                        <a:lnSpc>
                          <a:spcPct val="100000"/>
                        </a:lnSpc>
                        <a:spcBef>
                          <a:spcPts val="0"/>
                        </a:spcBef>
                        <a:spcAft>
                          <a:spcPts val="0"/>
                        </a:spcAft>
                        <a:buClr>
                          <a:srgbClr val="4472C4"/>
                        </a:buClr>
                        <a:buSzTx/>
                        <a:buFont typeface="Wingdings" panose="05000000000000000000" pitchFamily="2" charset="2"/>
                        <a:buNone/>
                        <a:tabLst/>
                        <a:defRPr/>
                      </a:pPr>
                      <a:r>
                        <a:rPr kumimoji="0" lang="en-US" sz="1200" b="1" i="0" u="none" strike="noStrike" kern="1200" cap="none" spc="0" normalizeH="0" baseline="0" dirty="0">
                          <a:ln>
                            <a:noFill/>
                          </a:ln>
                          <a:solidFill>
                            <a:prstClr val="black"/>
                          </a:solidFill>
                          <a:effectLst/>
                          <a:uLnTx/>
                          <a:uFillTx/>
                          <a:latin typeface="+mn-lt"/>
                          <a:ea typeface="+mn-ea"/>
                          <a:cs typeface="Arial" panose="020B0604020202020204" pitchFamily="34" charset="0"/>
                        </a:rPr>
                        <a:t>Activities</a:t>
                      </a:r>
                    </a:p>
                  </a:txBody>
                  <a:tcPr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90000"/>
                        </a:schemeClr>
                      </a:solidFill>
                      <a:prstDash val="sysDash"/>
                      <a:round/>
                      <a:headEnd type="none" w="med" len="med"/>
                      <a:tailEnd type="none" w="med" len="med"/>
                    </a:lnT>
                    <a:lnB w="12700" cap="flat" cmpd="sng" algn="ctr">
                      <a:solidFill>
                        <a:schemeClr val="bg2">
                          <a:lumMod val="90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Develop roadmap</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Identify initiative team members</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Continue engaging with stakeholders to complete SLA negotiations</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Identify funding requirements and secure funding to fulfill SLAs</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Solidify annual SLA reevaluation timeline</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Define the roll-out waves</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Develop communications plan for pre-Wave 1 (RO’s and local payroll)</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Engage operations leadership to get buy in and support for the roll out</a:t>
                      </a:r>
                      <a:endParaRPr lang="en-US" sz="1050" b="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90000"/>
                        </a:schemeClr>
                      </a:solidFill>
                      <a:prstDash val="sysDash"/>
                      <a:round/>
                      <a:headEnd type="none" w="med" len="med"/>
                      <a:tailEnd type="none" w="med" len="med"/>
                    </a:lnT>
                    <a:lnB w="12700" cap="flat" cmpd="sng" algn="ctr">
                      <a:solidFill>
                        <a:schemeClr val="bg2">
                          <a:lumMod val="90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1" u="none" strike="noStrike" kern="1200" cap="none" spc="0" normalizeH="0" baseline="0" noProof="0" dirty="0">
                          <a:ln>
                            <a:noFill/>
                          </a:ln>
                          <a:solidFill>
                            <a:prstClr val="black"/>
                          </a:solidFill>
                          <a:effectLst/>
                          <a:uLnTx/>
                          <a:uFillTx/>
                          <a:latin typeface="+mn-lt"/>
                          <a:ea typeface="+mn-ea"/>
                          <a:cs typeface="Arial" panose="020B0604020202020204" pitchFamily="34" charset="0"/>
                        </a:rPr>
                        <a:t>HR team hires/onboards staff</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1" u="none" strike="noStrike" kern="1200" cap="none" spc="0" normalizeH="0" baseline="0" noProof="0" dirty="0">
                          <a:ln>
                            <a:noFill/>
                          </a:ln>
                          <a:solidFill>
                            <a:prstClr val="black"/>
                          </a:solidFill>
                          <a:effectLst/>
                          <a:uLnTx/>
                          <a:uFillTx/>
                          <a:latin typeface="+mn-lt"/>
                          <a:ea typeface="+mn-ea"/>
                          <a:cs typeface="Arial" panose="020B0604020202020204" pitchFamily="34" charset="0"/>
                        </a:rPr>
                        <a:t>HR team develops transition worksheet</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Communicate the roll out plan across the enterprise</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Identify staff to serve on the implementation team for the Wave 1 site</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Engage with staff at Wave 1 site</a:t>
                      </a:r>
                    </a:p>
                    <a:p>
                      <a:pPr marL="406400" marR="0" lvl="2"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Payroll at local sites</a:t>
                      </a:r>
                    </a:p>
                    <a:p>
                      <a:pPr marL="406400" marR="0" lvl="2"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Research offices</a:t>
                      </a:r>
                    </a:p>
                    <a:p>
                      <a:pPr marL="406400" marR="0" lvl="2"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Train local staff at Wave 1 site</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Develop template research site instructions</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Develop feedback mechanisms</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Design implementation tracking tool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90000"/>
                        </a:schemeClr>
                      </a:solidFill>
                      <a:prstDash val="sysDash"/>
                      <a:round/>
                      <a:headEnd type="none" w="med" len="med"/>
                      <a:tailEnd type="none" w="med" len="med"/>
                    </a:lnT>
                    <a:lnB w="12700" cap="flat" cmpd="sng" algn="ctr">
                      <a:solidFill>
                        <a:schemeClr val="bg2">
                          <a:lumMod val="90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Implement Wave 1</a:t>
                      </a:r>
                    </a:p>
                    <a:p>
                      <a:pPr marL="406400" marR="0" lvl="2"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1" u="none" strike="noStrike" kern="1200" cap="none" spc="0" normalizeH="0" baseline="0" noProof="0" dirty="0">
                          <a:ln>
                            <a:noFill/>
                          </a:ln>
                          <a:solidFill>
                            <a:prstClr val="black"/>
                          </a:solidFill>
                          <a:effectLst/>
                          <a:uLnTx/>
                          <a:uFillTx/>
                          <a:latin typeface="+mn-lt"/>
                          <a:ea typeface="+mn-ea"/>
                          <a:cs typeface="Arial" panose="020B0604020202020204" pitchFamily="34" charset="0"/>
                        </a:rPr>
                        <a:t>Recode</a:t>
                      </a: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 all affected personnel</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Deploy tracking tool</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Update implementation strategy as needed</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Identify implementation team at Wave 2 stations and begin working with them to prepare for roll-out</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Engage stakeholders at Wave 2 sites</a:t>
                      </a:r>
                    </a:p>
                    <a:p>
                      <a:pPr marL="406400" marR="0" lvl="2"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Train staff at Wave 2 site</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Gather and analyze Wave 1 feedback</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Collect and track key metrics from Wave 1 site</a:t>
                      </a:r>
                      <a:endParaRPr lang="en-US" sz="1050" b="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90000"/>
                        </a:schemeClr>
                      </a:solidFill>
                      <a:prstDash val="sysDash"/>
                      <a:round/>
                      <a:headEnd type="none" w="med" len="med"/>
                      <a:tailEnd type="none" w="med" len="med"/>
                    </a:lnT>
                    <a:lnB w="12700" cap="flat" cmpd="sng" algn="ctr">
                      <a:solidFill>
                        <a:schemeClr val="bg2">
                          <a:lumMod val="90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(Repeat for all phases)</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Roll out at Wave 2-8 stations</a:t>
                      </a:r>
                    </a:p>
                    <a:p>
                      <a:pPr marL="406400" marR="0" lvl="2"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HR evaluates resource needs</a:t>
                      </a:r>
                    </a:p>
                    <a:p>
                      <a:pPr marL="406400" marR="0" lvl="2"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Train local staff </a:t>
                      </a:r>
                    </a:p>
                    <a:p>
                      <a:pPr marL="406400" marR="0" lvl="2"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1" u="none" strike="noStrike" kern="1200" cap="none" spc="0" normalizeH="0" baseline="0" noProof="0" dirty="0">
                          <a:ln>
                            <a:noFill/>
                          </a:ln>
                          <a:solidFill>
                            <a:prstClr val="black"/>
                          </a:solidFill>
                          <a:effectLst/>
                          <a:uLnTx/>
                          <a:uFillTx/>
                          <a:latin typeface="+mn-lt"/>
                          <a:ea typeface="+mn-ea"/>
                          <a:cs typeface="Arial" panose="020B0604020202020204" pitchFamily="34" charset="0"/>
                        </a:rPr>
                        <a:t>Recode</a:t>
                      </a: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 all affected personnel</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Identify and execute on improvement opportunities</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Engage key stakeholders as needed</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Update implementation tracking tool regularly</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Identify implementation team at Wave 2-8 stations and begin working with them to prepare for roll-out</a:t>
                      </a:r>
                      <a:endParaRPr lang="en-US" sz="1050" b="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90000"/>
                        </a:schemeClr>
                      </a:solidFill>
                      <a:prstDash val="sysDash"/>
                      <a:round/>
                      <a:headEnd type="none" w="med" len="med"/>
                      <a:tailEnd type="none" w="med" len="med"/>
                    </a:lnT>
                    <a:lnB w="12700" cap="flat" cmpd="sng" algn="ctr">
                      <a:solidFill>
                        <a:schemeClr val="bg2">
                          <a:lumMod val="90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52025275"/>
                  </a:ext>
                </a:extLst>
              </a:tr>
              <a:tr h="370840">
                <a:tc>
                  <a:txBody>
                    <a:bodyPr/>
                    <a:lstStyle/>
                    <a:p>
                      <a:pPr marL="203200" marR="0" lvl="2" indent="0" algn="ctr" defTabSz="914400" rtl="0" eaLnBrk="1" fontAlgn="auto" latinLnBrk="0" hangingPunct="1">
                        <a:lnSpc>
                          <a:spcPct val="100000"/>
                        </a:lnSpc>
                        <a:spcBef>
                          <a:spcPts val="0"/>
                        </a:spcBef>
                        <a:spcAft>
                          <a:spcPts val="0"/>
                        </a:spcAft>
                        <a:buClr>
                          <a:srgbClr val="4472C4"/>
                        </a:buClr>
                        <a:buSzTx/>
                        <a:buFont typeface="Wingdings" panose="05000000000000000000" pitchFamily="2" charset="2"/>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Outputs</a:t>
                      </a:r>
                    </a:p>
                  </a:txBody>
                  <a:tcPr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90000"/>
                        </a:schemeClr>
                      </a:solidFill>
                      <a:prstDash val="sys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HR funding for initiative staff</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Signed SLAs</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Communications Plan</a:t>
                      </a:r>
                    </a:p>
                    <a:p>
                      <a:pPr marL="406400" marR="0" lvl="2"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Comms letter from operations leadership to site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90000"/>
                        </a:schemeClr>
                      </a:solidFill>
                      <a:prstDash val="sys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Draft site SOPs for Wave 1</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Local staff training materials</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Implementation team rosters</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HR worksheet</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Hired HR staff</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Feedback mechanism</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endPar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90000"/>
                        </a:schemeClr>
                      </a:solidFill>
                      <a:prstDash val="sys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Implementation tracking tool</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First wave of transitioned staff</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Updated transition SOPs</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Report progress to SC</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Initial access to CHRF resource at Wave 1 site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90000"/>
                        </a:schemeClr>
                      </a:solidFill>
                      <a:prstDash val="sys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Active Implementation dashboard </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Incorporate feedback into active phases</a:t>
                      </a:r>
                    </a:p>
                    <a:p>
                      <a:pPr marL="203200" marR="0" lvl="1" indent="-20320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Access across the Research Enterprise to CHRF resources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90000"/>
                        </a:schemeClr>
                      </a:solidFill>
                      <a:prstDash val="sys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9027718"/>
                  </a:ext>
                </a:extLst>
              </a:tr>
            </a:tbl>
          </a:graphicData>
        </a:graphic>
      </p:graphicFrame>
      <p:grpSp>
        <p:nvGrpSpPr>
          <p:cNvPr id="5" name="Group 4">
            <a:extLst>
              <a:ext uri="{FF2B5EF4-FFF2-40B4-BE49-F238E27FC236}">
                <a16:creationId xmlns:a16="http://schemas.microsoft.com/office/drawing/2014/main" id="{003A83EA-7189-4B9B-8D5D-DAD0DB21EF63}"/>
              </a:ext>
            </a:extLst>
          </p:cNvPr>
          <p:cNvGrpSpPr/>
          <p:nvPr/>
        </p:nvGrpSpPr>
        <p:grpSpPr>
          <a:xfrm>
            <a:off x="780314" y="1009650"/>
            <a:ext cx="2553183" cy="740771"/>
            <a:chOff x="786141" y="1029742"/>
            <a:chExt cx="2553183" cy="740771"/>
          </a:xfrm>
        </p:grpSpPr>
        <p:sp>
          <p:nvSpPr>
            <p:cNvPr id="6" name="ee4pHeader1">
              <a:extLst>
                <a:ext uri="{FF2B5EF4-FFF2-40B4-BE49-F238E27FC236}">
                  <a16:creationId xmlns:a16="http://schemas.microsoft.com/office/drawing/2014/main" id="{4292F442-917F-4AF4-8211-C039C09FC789}"/>
                </a:ext>
              </a:extLst>
            </p:cNvPr>
            <p:cNvSpPr/>
            <p:nvPr>
              <p:custDataLst>
                <p:tags r:id="rId4"/>
              </p:custDataLst>
            </p:nvPr>
          </p:nvSpPr>
          <p:spPr bwMode="auto">
            <a:xfrm>
              <a:off x="786141" y="1336117"/>
              <a:ext cx="2535769" cy="434396"/>
            </a:xfrm>
            <a:prstGeom prst="homePlate">
              <a:avLst>
                <a:gd name="adj" fmla="val 19696"/>
              </a:avLst>
            </a:prstGeom>
            <a:solidFill>
              <a:srgbClr val="002F56"/>
            </a:solidFill>
            <a:ln w="9525" cmpd="sng">
              <a:solidFill>
                <a:srgbClr val="002060"/>
              </a:solidFill>
              <a:prstDash val="solid"/>
              <a:miter lim="800000"/>
              <a:headEnd/>
              <a:tailEnd/>
            </a:ln>
            <a:effectLst/>
          </p:spPr>
          <p:txBody>
            <a:bodyPr lIns="90000" tIns="46800" rIns="90000" bIns="46800" anchor="ctr"/>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rPr>
                <a:t>Phase 1: SLA Negotiation &amp; Committee Standup</a:t>
              </a:r>
            </a:p>
          </p:txBody>
        </p:sp>
        <p:cxnSp>
          <p:nvCxnSpPr>
            <p:cNvPr id="7" name="Straight Arrow Connector 6">
              <a:extLst>
                <a:ext uri="{FF2B5EF4-FFF2-40B4-BE49-F238E27FC236}">
                  <a16:creationId xmlns:a16="http://schemas.microsoft.com/office/drawing/2014/main" id="{06246A21-979F-4D6E-80F3-CF79460A39C9}"/>
                </a:ext>
              </a:extLst>
            </p:cNvPr>
            <p:cNvCxnSpPr>
              <a:cxnSpLocks/>
            </p:cNvCxnSpPr>
            <p:nvPr/>
          </p:nvCxnSpPr>
          <p:spPr>
            <a:xfrm>
              <a:off x="803555" y="1168241"/>
              <a:ext cx="2535769" cy="0"/>
            </a:xfrm>
            <a:prstGeom prst="straightConnector1">
              <a:avLst/>
            </a:prstGeom>
            <a:ln>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6168800-E5D3-4468-B445-73CA015AE4AC}"/>
                </a:ext>
              </a:extLst>
            </p:cNvPr>
            <p:cNvSpPr txBox="1"/>
            <p:nvPr/>
          </p:nvSpPr>
          <p:spPr>
            <a:xfrm>
              <a:off x="1569394" y="1029742"/>
              <a:ext cx="969264" cy="276999"/>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Nov. </a:t>
              </a:r>
              <a:r>
                <a:rPr lang="en-US" sz="1200" dirty="0">
                  <a:solidFill>
                    <a:prstClr val="black"/>
                  </a:solidFill>
                  <a:latin typeface="Calibri" panose="020F0502020204030204"/>
                </a:rPr>
                <a:t>– Dec.</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9" name="Group 8">
            <a:extLst>
              <a:ext uri="{FF2B5EF4-FFF2-40B4-BE49-F238E27FC236}">
                <a16:creationId xmlns:a16="http://schemas.microsoft.com/office/drawing/2014/main" id="{4CF445EA-5731-440E-8102-333028D193B7}"/>
              </a:ext>
            </a:extLst>
          </p:cNvPr>
          <p:cNvGrpSpPr/>
          <p:nvPr/>
        </p:nvGrpSpPr>
        <p:grpSpPr>
          <a:xfrm>
            <a:off x="3620498" y="993513"/>
            <a:ext cx="2535769" cy="773045"/>
            <a:chOff x="3653962" y="986197"/>
            <a:chExt cx="2535769" cy="773045"/>
          </a:xfrm>
        </p:grpSpPr>
        <p:sp>
          <p:nvSpPr>
            <p:cNvPr id="10" name="ee4pHeader2">
              <a:extLst>
                <a:ext uri="{FF2B5EF4-FFF2-40B4-BE49-F238E27FC236}">
                  <a16:creationId xmlns:a16="http://schemas.microsoft.com/office/drawing/2014/main" id="{CAB45015-649F-4784-A0F0-04EFC1E8ECAA}"/>
                </a:ext>
              </a:extLst>
            </p:cNvPr>
            <p:cNvSpPr/>
            <p:nvPr>
              <p:custDataLst>
                <p:tags r:id="rId3"/>
              </p:custDataLst>
            </p:nvPr>
          </p:nvSpPr>
          <p:spPr bwMode="auto">
            <a:xfrm>
              <a:off x="3653962" y="1324846"/>
              <a:ext cx="2535769" cy="434396"/>
            </a:xfrm>
            <a:prstGeom prst="chevron">
              <a:avLst>
                <a:gd name="adj" fmla="val 19696"/>
              </a:avLst>
            </a:prstGeom>
            <a:solidFill>
              <a:srgbClr val="002F56"/>
            </a:solidFill>
            <a:ln w="9525" cmpd="sng">
              <a:solidFill>
                <a:srgbClr val="002060"/>
              </a:solidFill>
              <a:prstDash val="solid"/>
              <a:miter lim="800000"/>
              <a:headEnd/>
              <a:tailEnd/>
            </a:ln>
            <a:effectLst/>
          </p:spPr>
          <p:txBody>
            <a:bodyPr anchor="ctr"/>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rPr>
                <a:t>Phase 2: Pre-Wave 1</a:t>
              </a:r>
            </a:p>
          </p:txBody>
        </p:sp>
        <p:cxnSp>
          <p:nvCxnSpPr>
            <p:cNvPr id="11" name="Straight Arrow Connector 10">
              <a:extLst>
                <a:ext uri="{FF2B5EF4-FFF2-40B4-BE49-F238E27FC236}">
                  <a16:creationId xmlns:a16="http://schemas.microsoft.com/office/drawing/2014/main" id="{93BF0A07-7845-4449-879D-7F466002470B}"/>
                </a:ext>
              </a:extLst>
            </p:cNvPr>
            <p:cNvCxnSpPr>
              <a:cxnSpLocks/>
            </p:cNvCxnSpPr>
            <p:nvPr/>
          </p:nvCxnSpPr>
          <p:spPr>
            <a:xfrm>
              <a:off x="3653962" y="1124696"/>
              <a:ext cx="2535769" cy="0"/>
            </a:xfrm>
            <a:prstGeom prst="straightConnector1">
              <a:avLst/>
            </a:prstGeom>
            <a:ln>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E89E94AC-AEF5-484E-ADB2-B69B144175DC}"/>
                </a:ext>
              </a:extLst>
            </p:cNvPr>
            <p:cNvSpPr txBox="1"/>
            <p:nvPr/>
          </p:nvSpPr>
          <p:spPr>
            <a:xfrm>
              <a:off x="4437214" y="986197"/>
              <a:ext cx="969264" cy="276999"/>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Jan. – Feb.</a:t>
              </a:r>
            </a:p>
          </p:txBody>
        </p:sp>
      </p:grpSp>
      <p:grpSp>
        <p:nvGrpSpPr>
          <p:cNvPr id="13" name="Group 12">
            <a:extLst>
              <a:ext uri="{FF2B5EF4-FFF2-40B4-BE49-F238E27FC236}">
                <a16:creationId xmlns:a16="http://schemas.microsoft.com/office/drawing/2014/main" id="{21618D8A-7CC1-49F9-976B-26F9146787A9}"/>
              </a:ext>
            </a:extLst>
          </p:cNvPr>
          <p:cNvGrpSpPr/>
          <p:nvPr/>
        </p:nvGrpSpPr>
        <p:grpSpPr>
          <a:xfrm>
            <a:off x="6451976" y="993513"/>
            <a:ext cx="2535769" cy="773045"/>
            <a:chOff x="6422623" y="977490"/>
            <a:chExt cx="2535769" cy="773045"/>
          </a:xfrm>
        </p:grpSpPr>
        <p:sp>
          <p:nvSpPr>
            <p:cNvPr id="14" name="ee4pHeader3">
              <a:extLst>
                <a:ext uri="{FF2B5EF4-FFF2-40B4-BE49-F238E27FC236}">
                  <a16:creationId xmlns:a16="http://schemas.microsoft.com/office/drawing/2014/main" id="{19D91B81-9C3B-483B-AF96-A4E17599F80B}"/>
                </a:ext>
              </a:extLst>
            </p:cNvPr>
            <p:cNvSpPr/>
            <p:nvPr>
              <p:custDataLst>
                <p:tags r:id="rId2"/>
              </p:custDataLst>
            </p:nvPr>
          </p:nvSpPr>
          <p:spPr bwMode="auto">
            <a:xfrm>
              <a:off x="6422623" y="1316139"/>
              <a:ext cx="2535769" cy="434396"/>
            </a:xfrm>
            <a:prstGeom prst="chevron">
              <a:avLst>
                <a:gd name="adj" fmla="val 19696"/>
              </a:avLst>
            </a:prstGeom>
            <a:solidFill>
              <a:srgbClr val="002F56"/>
            </a:solidFill>
            <a:ln w="9525" cmpd="sng">
              <a:solidFill>
                <a:srgbClr val="002060"/>
              </a:solidFill>
              <a:prstDash val="solid"/>
              <a:miter lim="800000"/>
              <a:headEnd/>
              <a:tailEnd/>
            </a:ln>
            <a:effectLst/>
          </p:spPr>
          <p:txBody>
            <a:bodyPr anchor="ctr"/>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rPr>
                <a:t>Phase 3: Wave 1</a:t>
              </a:r>
            </a:p>
          </p:txBody>
        </p:sp>
        <p:cxnSp>
          <p:nvCxnSpPr>
            <p:cNvPr id="15" name="Straight Arrow Connector 14">
              <a:extLst>
                <a:ext uri="{FF2B5EF4-FFF2-40B4-BE49-F238E27FC236}">
                  <a16:creationId xmlns:a16="http://schemas.microsoft.com/office/drawing/2014/main" id="{904961B1-5902-46D7-9D43-92A5BC856394}"/>
                </a:ext>
              </a:extLst>
            </p:cNvPr>
            <p:cNvCxnSpPr>
              <a:cxnSpLocks/>
            </p:cNvCxnSpPr>
            <p:nvPr/>
          </p:nvCxnSpPr>
          <p:spPr>
            <a:xfrm>
              <a:off x="6422623" y="1115989"/>
              <a:ext cx="2535769" cy="0"/>
            </a:xfrm>
            <a:prstGeom prst="straightConnector1">
              <a:avLst/>
            </a:prstGeom>
            <a:ln>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86F29C8F-F538-42E2-8F44-C06D71A3DA2D}"/>
                </a:ext>
              </a:extLst>
            </p:cNvPr>
            <p:cNvSpPr txBox="1"/>
            <p:nvPr/>
          </p:nvSpPr>
          <p:spPr>
            <a:xfrm>
              <a:off x="7206383" y="977490"/>
              <a:ext cx="969264" cy="276999"/>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Feb.</a:t>
              </a:r>
            </a:p>
          </p:txBody>
        </p:sp>
      </p:grpSp>
      <p:grpSp>
        <p:nvGrpSpPr>
          <p:cNvPr id="17" name="Group 16">
            <a:extLst>
              <a:ext uri="{FF2B5EF4-FFF2-40B4-BE49-F238E27FC236}">
                <a16:creationId xmlns:a16="http://schemas.microsoft.com/office/drawing/2014/main" id="{DF022DF3-589E-4DFD-8EE3-42F91361C3BF}"/>
              </a:ext>
            </a:extLst>
          </p:cNvPr>
          <p:cNvGrpSpPr/>
          <p:nvPr/>
        </p:nvGrpSpPr>
        <p:grpSpPr>
          <a:xfrm>
            <a:off x="9283452" y="993513"/>
            <a:ext cx="2535770" cy="773045"/>
            <a:chOff x="9185940" y="994908"/>
            <a:chExt cx="2535770" cy="773045"/>
          </a:xfrm>
        </p:grpSpPr>
        <p:sp>
          <p:nvSpPr>
            <p:cNvPr id="18" name="ee4pHeader3">
              <a:extLst>
                <a:ext uri="{FF2B5EF4-FFF2-40B4-BE49-F238E27FC236}">
                  <a16:creationId xmlns:a16="http://schemas.microsoft.com/office/drawing/2014/main" id="{E9D38E66-F0AC-4BAB-A578-B5EB1BE98D11}"/>
                </a:ext>
              </a:extLst>
            </p:cNvPr>
            <p:cNvSpPr/>
            <p:nvPr>
              <p:custDataLst>
                <p:tags r:id="rId1"/>
              </p:custDataLst>
            </p:nvPr>
          </p:nvSpPr>
          <p:spPr bwMode="auto">
            <a:xfrm>
              <a:off x="9185941" y="1333557"/>
              <a:ext cx="2535769" cy="434396"/>
            </a:xfrm>
            <a:prstGeom prst="chevron">
              <a:avLst>
                <a:gd name="adj" fmla="val 19696"/>
              </a:avLst>
            </a:prstGeom>
            <a:solidFill>
              <a:srgbClr val="002F56"/>
            </a:solidFill>
            <a:ln w="9525" cmpd="sng">
              <a:solidFill>
                <a:srgbClr val="002060"/>
              </a:solidFill>
              <a:prstDash val="solid"/>
              <a:miter lim="800000"/>
              <a:headEnd/>
              <a:tailEnd/>
            </a:ln>
            <a:effectLst/>
          </p:spPr>
          <p:txBody>
            <a:bodyPr anchor="ctr"/>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rPr>
                <a:t>Phase 4: Implementation for Subsequent Waves</a:t>
              </a:r>
            </a:p>
          </p:txBody>
        </p:sp>
        <p:cxnSp>
          <p:nvCxnSpPr>
            <p:cNvPr id="19" name="Straight Arrow Connector 18">
              <a:extLst>
                <a:ext uri="{FF2B5EF4-FFF2-40B4-BE49-F238E27FC236}">
                  <a16:creationId xmlns:a16="http://schemas.microsoft.com/office/drawing/2014/main" id="{85CABD8C-1E2C-42C4-BC09-0D42905018BC}"/>
                </a:ext>
              </a:extLst>
            </p:cNvPr>
            <p:cNvCxnSpPr>
              <a:cxnSpLocks/>
            </p:cNvCxnSpPr>
            <p:nvPr/>
          </p:nvCxnSpPr>
          <p:spPr>
            <a:xfrm>
              <a:off x="9185940" y="1133408"/>
              <a:ext cx="2535769" cy="0"/>
            </a:xfrm>
            <a:prstGeom prst="straightConnector1">
              <a:avLst/>
            </a:prstGeom>
            <a:ln>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1E52FCD7-ADED-4B9E-8E9B-81BDEEFFE8CE}"/>
                </a:ext>
              </a:extLst>
            </p:cNvPr>
            <p:cNvSpPr txBox="1"/>
            <p:nvPr/>
          </p:nvSpPr>
          <p:spPr>
            <a:xfrm>
              <a:off x="9969702" y="994908"/>
              <a:ext cx="969264" cy="276999"/>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Mar. – Oct.</a:t>
              </a:r>
            </a:p>
          </p:txBody>
        </p:sp>
      </p:grpSp>
      <p:sp>
        <p:nvSpPr>
          <p:cNvPr id="30" name="Title 1">
            <a:extLst>
              <a:ext uri="{FF2B5EF4-FFF2-40B4-BE49-F238E27FC236}">
                <a16:creationId xmlns:a16="http://schemas.microsoft.com/office/drawing/2014/main" id="{3623DD7B-228C-49F3-898E-4E7C81B018FC}"/>
              </a:ext>
            </a:extLst>
          </p:cNvPr>
          <p:cNvSpPr>
            <a:spLocks noGrp="1"/>
          </p:cNvSpPr>
          <p:nvPr>
            <p:ph type="title"/>
          </p:nvPr>
        </p:nvSpPr>
        <p:spPr>
          <a:xfrm>
            <a:off x="390525" y="97245"/>
            <a:ext cx="10515600" cy="680223"/>
          </a:xfrm>
        </p:spPr>
        <p:txBody>
          <a:bodyPr/>
          <a:lstStyle/>
          <a:p>
            <a:r>
              <a:rPr lang="en-US" sz="2400" dirty="0"/>
              <a:t>Central Research HR Function High-Level Roadmap</a:t>
            </a:r>
          </a:p>
        </p:txBody>
      </p:sp>
      <p:sp>
        <p:nvSpPr>
          <p:cNvPr id="21" name="Slide Number Placeholder 2">
            <a:extLst>
              <a:ext uri="{FF2B5EF4-FFF2-40B4-BE49-F238E27FC236}">
                <a16:creationId xmlns:a16="http://schemas.microsoft.com/office/drawing/2014/main" id="{384DB68F-AF49-E43D-BEB6-139B2B51874A}"/>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n-US"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8073663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312732-C7CE-47D3-A994-5C9DAF8F6542}"/>
              </a:ext>
            </a:extLst>
          </p:cNvPr>
          <p:cNvSpPr>
            <a:spLocks noGrp="1"/>
          </p:cNvSpPr>
          <p:nvPr>
            <p:ph type="title"/>
          </p:nvPr>
        </p:nvSpPr>
        <p:spPr/>
        <p:txBody>
          <a:bodyPr/>
          <a:lstStyle/>
          <a:p>
            <a:r>
              <a:rPr lang="en-US" dirty="0">
                <a:solidFill>
                  <a:schemeClr val="tx1"/>
                </a:solidFill>
              </a:rPr>
              <a:t>Appendix: Partnered Research Program Roadmap</a:t>
            </a:r>
            <a:br>
              <a:rPr lang="en-US" dirty="0">
                <a:solidFill>
                  <a:schemeClr val="tx1"/>
                </a:solidFill>
              </a:rPr>
            </a:br>
            <a:endParaRPr lang="en-US" dirty="0">
              <a:solidFill>
                <a:schemeClr val="tx1"/>
              </a:solidFill>
            </a:endParaRPr>
          </a:p>
        </p:txBody>
      </p:sp>
      <p:sp>
        <p:nvSpPr>
          <p:cNvPr id="6" name="Slide Number Placeholder 2">
            <a:extLst>
              <a:ext uri="{FF2B5EF4-FFF2-40B4-BE49-F238E27FC236}">
                <a16:creationId xmlns:a16="http://schemas.microsoft.com/office/drawing/2014/main" id="{348A4DB6-213A-EF35-FF18-1097643D6169}"/>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en-US"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5567669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ee4pContent1">
            <a:extLst>
              <a:ext uri="{FF2B5EF4-FFF2-40B4-BE49-F238E27FC236}">
                <a16:creationId xmlns:a16="http://schemas.microsoft.com/office/drawing/2014/main" id="{768DFEB3-A633-4584-8CED-E65B9FF19AB9}"/>
              </a:ext>
            </a:extLst>
          </p:cNvPr>
          <p:cNvSpPr txBox="1">
            <a:spLocks/>
          </p:cNvSpPr>
          <p:nvPr>
            <p:custDataLst>
              <p:tags r:id="rId1"/>
            </p:custDataLst>
          </p:nvPr>
        </p:nvSpPr>
        <p:spPr>
          <a:xfrm>
            <a:off x="564089" y="2517794"/>
            <a:ext cx="3429000" cy="2361327"/>
          </a:xfrm>
          <a:prstGeom prst="rect">
            <a:avLst/>
          </a:prstGeom>
        </p:spPr>
        <p:txBody>
          <a:bodyPr vert="horz" lIns="0" tIns="0" rIns="0" bIns="0" rtlCol="0">
            <a:noAutofit/>
          </a:bodyPr>
          <a:lstStyle>
            <a:lvl1pPr marL="0" indent="0" algn="l" defTabSz="914400" rtl="0" eaLnBrk="1" latinLnBrk="0" hangingPunct="1">
              <a:spcBef>
                <a:spcPct val="30000"/>
              </a:spcBef>
              <a:buClr>
                <a:srgbClr val="C02A26"/>
              </a:buClr>
              <a:buFont typeface="Wingdings" panose="05000000000000000000" pitchFamily="2" charset="2"/>
              <a:buNone/>
              <a:defRPr sz="1600" kern="1200">
                <a:solidFill>
                  <a:schemeClr val="tx1"/>
                </a:solidFill>
                <a:latin typeface="Arial" panose="020B0604020202020204" pitchFamily="34" charset="0"/>
                <a:ea typeface="+mn-ea"/>
                <a:cs typeface="Arial" panose="020B0604020202020204" pitchFamily="34" charset="0"/>
              </a:defRPr>
            </a:lvl1pPr>
            <a:lvl2pPr marL="2032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2pPr>
            <a:lvl3pPr marL="4064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3pPr>
            <a:lvl4pPr marL="6096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4pPr>
            <a:lvl5pPr marL="8128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10160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6pPr>
            <a:lvl7pPr marL="12192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7pPr>
            <a:lvl8pPr marL="14224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8pPr>
            <a:lvl9pPr marL="16256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9pPr>
          </a:lstStyle>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Define EPRP Scope and Functions </a:t>
            </a:r>
          </a:p>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Outline the industry and researcher customer journeys</a:t>
            </a:r>
          </a:p>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Develop PRP service process SOPs</a:t>
            </a:r>
          </a:p>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Define team requirements</a:t>
            </a:r>
          </a:p>
          <a:p>
            <a:pPr marL="406400" marR="0" lvl="2"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Define staffing needs</a:t>
            </a:r>
          </a:p>
          <a:p>
            <a:pPr marL="406400" marR="0" lvl="2"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Obtain approval and funding for additional staff to support day-to-day operations</a:t>
            </a:r>
          </a:p>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Develop PRP budget estimates</a:t>
            </a:r>
          </a:p>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Identify and engage key stakeholders</a:t>
            </a:r>
          </a:p>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Develop communications plan</a:t>
            </a:r>
          </a:p>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Continue conducting pilot trials and conduct post-trial start up evaluations</a:t>
            </a:r>
          </a:p>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Identify additional SOPs that need to be developed</a:t>
            </a:r>
          </a:p>
          <a:p>
            <a:pPr marL="0" marR="0" lvl="1" indent="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31" name="ee4pContent2">
            <a:extLst>
              <a:ext uri="{FF2B5EF4-FFF2-40B4-BE49-F238E27FC236}">
                <a16:creationId xmlns:a16="http://schemas.microsoft.com/office/drawing/2014/main" id="{9F6F8315-306F-4D68-B635-D571A1461A6F}"/>
              </a:ext>
            </a:extLst>
          </p:cNvPr>
          <p:cNvSpPr txBox="1">
            <a:spLocks/>
          </p:cNvSpPr>
          <p:nvPr>
            <p:custDataLst>
              <p:tags r:id="rId2"/>
            </p:custDataLst>
          </p:nvPr>
        </p:nvSpPr>
        <p:spPr>
          <a:xfrm>
            <a:off x="4314615" y="2517794"/>
            <a:ext cx="3429000" cy="2073251"/>
          </a:xfrm>
          <a:prstGeom prst="rect">
            <a:avLst/>
          </a:prstGeom>
        </p:spPr>
        <p:txBody>
          <a:bodyPr vert="horz" lIns="0" tIns="0" rIns="0" bIns="0" rtlCol="0">
            <a:noAutofit/>
          </a:bodyPr>
          <a:lstStyle>
            <a:lvl1pPr marL="0" indent="0" algn="l" defTabSz="914400" rtl="0" eaLnBrk="1" latinLnBrk="0" hangingPunct="1">
              <a:spcBef>
                <a:spcPct val="30000"/>
              </a:spcBef>
              <a:buClr>
                <a:srgbClr val="C02A26"/>
              </a:buClr>
              <a:buFont typeface="Wingdings" panose="05000000000000000000" pitchFamily="2" charset="2"/>
              <a:buNone/>
              <a:defRPr sz="1600" kern="1200">
                <a:solidFill>
                  <a:schemeClr val="tx1"/>
                </a:solidFill>
                <a:latin typeface="Arial" panose="020B0604020202020204" pitchFamily="34" charset="0"/>
                <a:ea typeface="+mn-ea"/>
                <a:cs typeface="Arial" panose="020B0604020202020204" pitchFamily="34" charset="0"/>
              </a:defRPr>
            </a:lvl1pPr>
            <a:lvl2pPr marL="2032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2pPr>
            <a:lvl3pPr marL="4064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3pPr>
            <a:lvl4pPr marL="6096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4pPr>
            <a:lvl5pPr marL="8128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10160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6pPr>
            <a:lvl7pPr marL="12192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7pPr>
            <a:lvl8pPr marL="14224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8pPr>
            <a:lvl9pPr marL="16256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9pPr>
          </a:lstStyle>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Deploy SAG (EPRP team toolkit)</a:t>
            </a:r>
          </a:p>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Hire and onboard staff to implement PRP functions</a:t>
            </a:r>
          </a:p>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Deploy communications plan</a:t>
            </a:r>
          </a:p>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Develop additional SOPs identified during pilot trial and initial SOP development</a:t>
            </a:r>
            <a:endParaRPr kumimoji="0" lang="en-US" sz="1050" b="0" i="0" u="none" strike="noStrike" kern="1200" cap="none" spc="0" normalizeH="0" baseline="0" noProof="0">
              <a:ln>
                <a:noFill/>
              </a:ln>
              <a:solidFill>
                <a:prstClr val="black"/>
              </a:solidFill>
              <a:effectLst/>
              <a:highlight>
                <a:srgbClr val="FF0000"/>
              </a:highlight>
              <a:uLnTx/>
              <a:uFillTx/>
              <a:latin typeface="Calibri" panose="020F0502020204030204"/>
              <a:ea typeface="+mn-ea"/>
              <a:cs typeface="Arial" panose="020B0604020202020204" pitchFamily="34" charset="0"/>
            </a:endParaRPr>
          </a:p>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Continue engaging key stakeholders </a:t>
            </a:r>
          </a:p>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Develop standardized feedback mechanisms (internal survey) for industry partners and researchers for future use</a:t>
            </a:r>
          </a:p>
          <a:p>
            <a:pPr marL="0" marR="0" lvl="1" indent="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None/>
              <a:tabLst/>
              <a:defRPr/>
            </a:pPr>
            <a:endParaRPr kumimoji="0" lang="en-US" sz="105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endParaRPr kumimoji="0" lang="en-US" sz="105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32" name="ee4pContent3">
            <a:extLst>
              <a:ext uri="{FF2B5EF4-FFF2-40B4-BE49-F238E27FC236}">
                <a16:creationId xmlns:a16="http://schemas.microsoft.com/office/drawing/2014/main" id="{09A15830-8406-4529-9E40-A088B872AF26}"/>
              </a:ext>
            </a:extLst>
          </p:cNvPr>
          <p:cNvSpPr txBox="1">
            <a:spLocks/>
          </p:cNvSpPr>
          <p:nvPr>
            <p:custDataLst>
              <p:tags r:id="rId3"/>
            </p:custDataLst>
          </p:nvPr>
        </p:nvSpPr>
        <p:spPr>
          <a:xfrm>
            <a:off x="8073852" y="2517794"/>
            <a:ext cx="3429000" cy="2073251"/>
          </a:xfrm>
          <a:prstGeom prst="rect">
            <a:avLst/>
          </a:prstGeom>
        </p:spPr>
        <p:txBody>
          <a:bodyPr vert="horz" lIns="0" tIns="0" rIns="0" bIns="0" rtlCol="0">
            <a:noAutofit/>
          </a:bodyPr>
          <a:lstStyle>
            <a:lvl1pPr marL="0" indent="0" algn="l" defTabSz="914400" rtl="0" eaLnBrk="1" latinLnBrk="0" hangingPunct="1">
              <a:spcBef>
                <a:spcPct val="30000"/>
              </a:spcBef>
              <a:buClr>
                <a:srgbClr val="C02A26"/>
              </a:buClr>
              <a:buFont typeface="Wingdings" panose="05000000000000000000" pitchFamily="2" charset="2"/>
              <a:buNone/>
              <a:defRPr sz="1600" kern="1200">
                <a:solidFill>
                  <a:schemeClr val="tx1"/>
                </a:solidFill>
                <a:latin typeface="Arial" panose="020B0604020202020204" pitchFamily="34" charset="0"/>
                <a:ea typeface="+mn-ea"/>
                <a:cs typeface="Arial" panose="020B0604020202020204" pitchFamily="34" charset="0"/>
              </a:defRPr>
            </a:lvl1pPr>
            <a:lvl2pPr marL="2032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2pPr>
            <a:lvl3pPr marL="4064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3pPr>
            <a:lvl4pPr marL="6096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4pPr>
            <a:lvl5pPr marL="8128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10160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6pPr>
            <a:lvl7pPr marL="12192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7pPr>
            <a:lvl8pPr marL="14224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8pPr>
            <a:lvl9pPr marL="16256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9pPr>
          </a:lstStyle>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Deploy and refine standardized tools</a:t>
            </a:r>
          </a:p>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Identify and execute on improvement opportunities</a:t>
            </a:r>
          </a:p>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Gather and analyze feedback form customers</a:t>
            </a:r>
          </a:p>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Reevaluate the scope of operations and make a decision re. potential expansion of the Program</a:t>
            </a:r>
          </a:p>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05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If applicable, develop an expansion plan and obtain approval / funding</a:t>
            </a:r>
          </a:p>
        </p:txBody>
      </p:sp>
      <p:sp>
        <p:nvSpPr>
          <p:cNvPr id="33" name="ee4pHeader1">
            <a:extLst>
              <a:ext uri="{FF2B5EF4-FFF2-40B4-BE49-F238E27FC236}">
                <a16:creationId xmlns:a16="http://schemas.microsoft.com/office/drawing/2014/main" id="{504AC7DD-9F6A-4EA3-A747-CDCEF537A150}"/>
              </a:ext>
            </a:extLst>
          </p:cNvPr>
          <p:cNvSpPr/>
          <p:nvPr>
            <p:custDataLst>
              <p:tags r:id="rId4"/>
            </p:custDataLst>
          </p:nvPr>
        </p:nvSpPr>
        <p:spPr bwMode="auto">
          <a:xfrm>
            <a:off x="564090" y="1105236"/>
            <a:ext cx="3429000" cy="434396"/>
          </a:xfrm>
          <a:prstGeom prst="homePlate">
            <a:avLst>
              <a:gd name="adj" fmla="val 19696"/>
            </a:avLst>
          </a:prstGeom>
          <a:solidFill>
            <a:srgbClr val="002F56"/>
          </a:solidFill>
          <a:ln w="9525" cmpd="sng">
            <a:solidFill>
              <a:srgbClr val="002060"/>
            </a:solidFill>
            <a:prstDash val="solid"/>
            <a:miter lim="800000"/>
            <a:headEnd/>
            <a:tailEnd/>
          </a:ln>
          <a:effectLst/>
        </p:spPr>
        <p:txBody>
          <a:bodyPr lIns="90000" tIns="46800" rIns="90000" bIns="46800" anchor="ctr"/>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panose="020F0502020204030204"/>
                <a:ea typeface="+mn-ea"/>
                <a:cs typeface="+mn-cs"/>
              </a:rPr>
              <a:t>Phase 1: Infrastructure</a:t>
            </a:r>
          </a:p>
        </p:txBody>
      </p:sp>
      <p:sp>
        <p:nvSpPr>
          <p:cNvPr id="34" name="ee4pHeader2">
            <a:extLst>
              <a:ext uri="{FF2B5EF4-FFF2-40B4-BE49-F238E27FC236}">
                <a16:creationId xmlns:a16="http://schemas.microsoft.com/office/drawing/2014/main" id="{0E8E00F9-086E-457A-95D9-3A03E93C3C9C}"/>
              </a:ext>
            </a:extLst>
          </p:cNvPr>
          <p:cNvSpPr/>
          <p:nvPr>
            <p:custDataLst>
              <p:tags r:id="rId5"/>
            </p:custDataLst>
          </p:nvPr>
        </p:nvSpPr>
        <p:spPr bwMode="auto">
          <a:xfrm>
            <a:off x="4314617" y="1105236"/>
            <a:ext cx="3429000" cy="434396"/>
          </a:xfrm>
          <a:prstGeom prst="chevron">
            <a:avLst>
              <a:gd name="adj" fmla="val 19696"/>
            </a:avLst>
          </a:prstGeom>
          <a:solidFill>
            <a:srgbClr val="002F56"/>
          </a:solidFill>
          <a:ln w="9525" cmpd="sng">
            <a:solidFill>
              <a:srgbClr val="002060"/>
            </a:solidFill>
            <a:prstDash val="solid"/>
            <a:miter lim="800000"/>
            <a:headEnd/>
            <a:tailEnd/>
          </a:ln>
          <a:effectLst/>
        </p:spPr>
        <p:txBody>
          <a:bodyPr anchor="ctr"/>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panose="020F0502020204030204"/>
                <a:ea typeface="+mn-ea"/>
                <a:cs typeface="+mn-cs"/>
              </a:rPr>
              <a:t>Phase 2: Implementation</a:t>
            </a:r>
          </a:p>
        </p:txBody>
      </p:sp>
      <p:sp>
        <p:nvSpPr>
          <p:cNvPr id="35" name="ee4pHeader3">
            <a:extLst>
              <a:ext uri="{FF2B5EF4-FFF2-40B4-BE49-F238E27FC236}">
                <a16:creationId xmlns:a16="http://schemas.microsoft.com/office/drawing/2014/main" id="{BB7F7FCD-F359-4169-9FA7-73E569A88404}"/>
              </a:ext>
            </a:extLst>
          </p:cNvPr>
          <p:cNvSpPr/>
          <p:nvPr>
            <p:custDataLst>
              <p:tags r:id="rId6"/>
            </p:custDataLst>
          </p:nvPr>
        </p:nvSpPr>
        <p:spPr bwMode="auto">
          <a:xfrm>
            <a:off x="8073853" y="1105236"/>
            <a:ext cx="3429000" cy="434396"/>
          </a:xfrm>
          <a:prstGeom prst="chevron">
            <a:avLst>
              <a:gd name="adj" fmla="val 19696"/>
            </a:avLst>
          </a:prstGeom>
          <a:solidFill>
            <a:srgbClr val="002F56"/>
          </a:solidFill>
          <a:ln w="9525" cmpd="sng">
            <a:solidFill>
              <a:srgbClr val="002060"/>
            </a:solidFill>
            <a:prstDash val="solid"/>
            <a:miter lim="800000"/>
            <a:headEnd/>
            <a:tailEnd/>
          </a:ln>
          <a:effectLst/>
        </p:spPr>
        <p:txBody>
          <a:bodyPr anchor="ctr"/>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panose="020F0502020204030204"/>
                <a:ea typeface="+mn-ea"/>
                <a:cs typeface="+mn-cs"/>
              </a:rPr>
              <a:t>Phase 3: Innovation</a:t>
            </a:r>
          </a:p>
        </p:txBody>
      </p:sp>
      <p:sp>
        <p:nvSpPr>
          <p:cNvPr id="39" name="TextBox 38">
            <a:extLst>
              <a:ext uri="{FF2B5EF4-FFF2-40B4-BE49-F238E27FC236}">
                <a16:creationId xmlns:a16="http://schemas.microsoft.com/office/drawing/2014/main" id="{5F71AECC-CC72-466D-9AB7-4674CA7D4B5F}"/>
              </a:ext>
            </a:extLst>
          </p:cNvPr>
          <p:cNvSpPr txBox="1"/>
          <p:nvPr/>
        </p:nvSpPr>
        <p:spPr>
          <a:xfrm rot="16200000">
            <a:off x="-320708" y="3530912"/>
            <a:ext cx="1228436"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Milestones</a:t>
            </a:r>
          </a:p>
        </p:txBody>
      </p:sp>
      <p:sp>
        <p:nvSpPr>
          <p:cNvPr id="40" name="ee4pContent1">
            <a:extLst>
              <a:ext uri="{FF2B5EF4-FFF2-40B4-BE49-F238E27FC236}">
                <a16:creationId xmlns:a16="http://schemas.microsoft.com/office/drawing/2014/main" id="{299D4825-009D-4D03-8E68-3C0E500AC937}"/>
              </a:ext>
            </a:extLst>
          </p:cNvPr>
          <p:cNvSpPr txBox="1">
            <a:spLocks/>
          </p:cNvSpPr>
          <p:nvPr>
            <p:custDataLst>
              <p:tags r:id="rId7"/>
            </p:custDataLst>
          </p:nvPr>
        </p:nvSpPr>
        <p:spPr>
          <a:xfrm>
            <a:off x="564089" y="5159855"/>
            <a:ext cx="3429000" cy="1228434"/>
          </a:xfrm>
          <a:prstGeom prst="rect">
            <a:avLst/>
          </a:prstGeom>
        </p:spPr>
        <p:txBody>
          <a:bodyPr vert="horz" lIns="0" tIns="0" rIns="0" bIns="0" rtlCol="0">
            <a:noAutofit/>
          </a:bodyPr>
          <a:lstStyle>
            <a:lvl1pPr marL="0" indent="0" algn="l" defTabSz="914400" rtl="0" eaLnBrk="1" latinLnBrk="0" hangingPunct="1">
              <a:spcBef>
                <a:spcPct val="30000"/>
              </a:spcBef>
              <a:buClr>
                <a:srgbClr val="C02A26"/>
              </a:buClr>
              <a:buFont typeface="Wingdings" panose="05000000000000000000" pitchFamily="2" charset="2"/>
              <a:buNone/>
              <a:defRPr sz="1600" kern="1200">
                <a:solidFill>
                  <a:schemeClr val="tx1"/>
                </a:solidFill>
                <a:latin typeface="Arial" panose="020B0604020202020204" pitchFamily="34" charset="0"/>
                <a:ea typeface="+mn-ea"/>
                <a:cs typeface="Arial" panose="020B0604020202020204" pitchFamily="34" charset="0"/>
              </a:defRPr>
            </a:lvl1pPr>
            <a:lvl2pPr marL="2032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2pPr>
            <a:lvl3pPr marL="4064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3pPr>
            <a:lvl4pPr marL="6096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4pPr>
            <a:lvl5pPr marL="8128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10160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6pPr>
            <a:lvl7pPr marL="12192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7pPr>
            <a:lvl8pPr marL="14224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8pPr>
            <a:lvl9pPr marL="16256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9pPr>
          </a:lstStyle>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05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EPRP Strategic Plan (including budget, concept of operations, PRP office staffing and structure)</a:t>
            </a:r>
          </a:p>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05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Service specific SOPs</a:t>
            </a:r>
            <a:endParaRPr kumimoji="0" lang="en-US" sz="1050" b="1"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Arial" panose="020B0604020202020204" pitchFamily="34" charset="0"/>
            </a:endParaRPr>
          </a:p>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05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Additional resources to support day-to-day operations</a:t>
            </a:r>
          </a:p>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05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Post trial start up evaluations</a:t>
            </a:r>
          </a:p>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endParaRPr kumimoji="0" lang="en-US" sz="105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41" name="ee4pContent2">
            <a:extLst>
              <a:ext uri="{FF2B5EF4-FFF2-40B4-BE49-F238E27FC236}">
                <a16:creationId xmlns:a16="http://schemas.microsoft.com/office/drawing/2014/main" id="{86968CFF-5280-4D4B-8C19-87F8294D7E73}"/>
              </a:ext>
            </a:extLst>
          </p:cNvPr>
          <p:cNvSpPr txBox="1">
            <a:spLocks/>
          </p:cNvSpPr>
          <p:nvPr>
            <p:custDataLst>
              <p:tags r:id="rId8"/>
            </p:custDataLst>
          </p:nvPr>
        </p:nvSpPr>
        <p:spPr>
          <a:xfrm>
            <a:off x="4314616" y="5159855"/>
            <a:ext cx="3429000" cy="1593096"/>
          </a:xfrm>
          <a:prstGeom prst="rect">
            <a:avLst/>
          </a:prstGeom>
        </p:spPr>
        <p:txBody>
          <a:bodyPr vert="horz" lIns="0" tIns="0" rIns="0" bIns="0" rtlCol="0">
            <a:noAutofit/>
          </a:bodyPr>
          <a:lstStyle>
            <a:lvl1pPr marL="0" indent="0" algn="l" defTabSz="914400" rtl="0" eaLnBrk="1" latinLnBrk="0" hangingPunct="1">
              <a:spcBef>
                <a:spcPct val="30000"/>
              </a:spcBef>
              <a:buClr>
                <a:srgbClr val="C02A26"/>
              </a:buClr>
              <a:buFont typeface="Wingdings" panose="05000000000000000000" pitchFamily="2" charset="2"/>
              <a:buNone/>
              <a:defRPr sz="1600" kern="1200">
                <a:solidFill>
                  <a:schemeClr val="tx1"/>
                </a:solidFill>
                <a:latin typeface="Arial" panose="020B0604020202020204" pitchFamily="34" charset="0"/>
                <a:ea typeface="+mn-ea"/>
                <a:cs typeface="Arial" panose="020B0604020202020204" pitchFamily="34" charset="0"/>
              </a:defRPr>
            </a:lvl1pPr>
            <a:lvl2pPr marL="2032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2pPr>
            <a:lvl3pPr marL="4064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3pPr>
            <a:lvl4pPr marL="6096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4pPr>
            <a:lvl5pPr marL="8128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10160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6pPr>
            <a:lvl7pPr marL="12192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7pPr>
            <a:lvl8pPr marL="14224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8pPr>
            <a:lvl9pPr marL="16256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9pPr>
          </a:lstStyle>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050" b="1"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Staff to implement EPRP functions</a:t>
            </a:r>
          </a:p>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050" b="1"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Additional identified SOPs</a:t>
            </a:r>
          </a:p>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050" b="1"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Detailed communication plan and feedback mechanism</a:t>
            </a:r>
          </a:p>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050" b="1"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Deployed SAG</a:t>
            </a:r>
          </a:p>
        </p:txBody>
      </p:sp>
      <p:sp>
        <p:nvSpPr>
          <p:cNvPr id="42" name="ee4pContent3">
            <a:extLst>
              <a:ext uri="{FF2B5EF4-FFF2-40B4-BE49-F238E27FC236}">
                <a16:creationId xmlns:a16="http://schemas.microsoft.com/office/drawing/2014/main" id="{84A58B58-C0C4-426C-910F-83499201BAB8}"/>
              </a:ext>
            </a:extLst>
          </p:cNvPr>
          <p:cNvSpPr txBox="1">
            <a:spLocks/>
          </p:cNvSpPr>
          <p:nvPr>
            <p:custDataLst>
              <p:tags r:id="rId9"/>
            </p:custDataLst>
          </p:nvPr>
        </p:nvSpPr>
        <p:spPr>
          <a:xfrm>
            <a:off x="8073852" y="5159855"/>
            <a:ext cx="3429000" cy="1593096"/>
          </a:xfrm>
          <a:prstGeom prst="rect">
            <a:avLst/>
          </a:prstGeom>
        </p:spPr>
        <p:txBody>
          <a:bodyPr vert="horz" lIns="0" tIns="0" rIns="0" bIns="0" rtlCol="0">
            <a:noAutofit/>
          </a:bodyPr>
          <a:lstStyle>
            <a:lvl1pPr marL="0" indent="0" algn="l" defTabSz="914400" rtl="0" eaLnBrk="1" latinLnBrk="0" hangingPunct="1">
              <a:spcBef>
                <a:spcPct val="30000"/>
              </a:spcBef>
              <a:buClr>
                <a:srgbClr val="C02A26"/>
              </a:buClr>
              <a:buFont typeface="Wingdings" panose="05000000000000000000" pitchFamily="2" charset="2"/>
              <a:buNone/>
              <a:defRPr sz="1600" kern="1200">
                <a:solidFill>
                  <a:schemeClr val="tx1"/>
                </a:solidFill>
                <a:latin typeface="Arial" panose="020B0604020202020204" pitchFamily="34" charset="0"/>
                <a:ea typeface="+mn-ea"/>
                <a:cs typeface="Arial" panose="020B0604020202020204" pitchFamily="34" charset="0"/>
              </a:defRPr>
            </a:lvl1pPr>
            <a:lvl2pPr marL="2032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2pPr>
            <a:lvl3pPr marL="4064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3pPr>
            <a:lvl4pPr marL="6096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4pPr>
            <a:lvl5pPr marL="8128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10160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6pPr>
            <a:lvl7pPr marL="12192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7pPr>
            <a:lvl8pPr marL="14224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8pPr>
            <a:lvl9pPr marL="16256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9pPr>
          </a:lstStyle>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050" b="1"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Updated Phase 2 tools</a:t>
            </a:r>
          </a:p>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050" b="1"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Customer feedback analysis</a:t>
            </a:r>
          </a:p>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050" b="1"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Expansion assessment report</a:t>
            </a:r>
          </a:p>
          <a:p>
            <a:pPr marL="203200" marR="0" lvl="1" indent="-20320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Char char="§"/>
              <a:tabLst/>
              <a:defRPr/>
            </a:pPr>
            <a:r>
              <a:rPr kumimoji="0" lang="en-US" sz="1050" b="1"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If applicable, funding request</a:t>
            </a:r>
          </a:p>
        </p:txBody>
      </p:sp>
      <p:sp>
        <p:nvSpPr>
          <p:cNvPr id="43" name="TextBox 42">
            <a:extLst>
              <a:ext uri="{FF2B5EF4-FFF2-40B4-BE49-F238E27FC236}">
                <a16:creationId xmlns:a16="http://schemas.microsoft.com/office/drawing/2014/main" id="{4DA086EF-D22B-4CAE-A439-5CC7DB493A9C}"/>
              </a:ext>
            </a:extLst>
          </p:cNvPr>
          <p:cNvSpPr txBox="1"/>
          <p:nvPr/>
        </p:nvSpPr>
        <p:spPr>
          <a:xfrm rot="16200000">
            <a:off x="-320708" y="5566992"/>
            <a:ext cx="1228436"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Outputs </a:t>
            </a:r>
          </a:p>
        </p:txBody>
      </p:sp>
      <p:cxnSp>
        <p:nvCxnSpPr>
          <p:cNvPr id="44" name="Straight Connector 43">
            <a:extLst>
              <a:ext uri="{FF2B5EF4-FFF2-40B4-BE49-F238E27FC236}">
                <a16:creationId xmlns:a16="http://schemas.microsoft.com/office/drawing/2014/main" id="{77F56812-C07B-4EF2-9994-28A05DF88D3C}"/>
              </a:ext>
            </a:extLst>
          </p:cNvPr>
          <p:cNvCxnSpPr>
            <a:cxnSpLocks/>
          </p:cNvCxnSpPr>
          <p:nvPr/>
        </p:nvCxnSpPr>
        <p:spPr>
          <a:xfrm>
            <a:off x="155010" y="5095720"/>
            <a:ext cx="11731567" cy="0"/>
          </a:xfrm>
          <a:prstGeom prst="line">
            <a:avLst/>
          </a:prstGeom>
          <a:ln>
            <a:solidFill>
              <a:schemeClr val="bg2">
                <a:lumMod val="9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E0D5D832-ACA1-4575-A0E3-45CBD9EF657A}"/>
              </a:ext>
            </a:extLst>
          </p:cNvPr>
          <p:cNvCxnSpPr>
            <a:cxnSpLocks/>
          </p:cNvCxnSpPr>
          <p:nvPr/>
        </p:nvCxnSpPr>
        <p:spPr>
          <a:xfrm>
            <a:off x="564090" y="989109"/>
            <a:ext cx="3429000" cy="0"/>
          </a:xfrm>
          <a:prstGeom prst="straightConnector1">
            <a:avLst/>
          </a:prstGeom>
          <a:ln>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8642ED2C-BC9B-4642-8DE5-87A24FBE0D61}"/>
              </a:ext>
            </a:extLst>
          </p:cNvPr>
          <p:cNvSpPr txBox="1"/>
          <p:nvPr/>
        </p:nvSpPr>
        <p:spPr>
          <a:xfrm>
            <a:off x="2004270" y="897669"/>
            <a:ext cx="548640" cy="182880"/>
          </a:xfrm>
          <a:prstGeom prst="rect">
            <a:avLst/>
          </a:prstGeom>
          <a:solidFill>
            <a:schemeClr val="bg1"/>
          </a:solid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Calibri" panose="020F0502020204030204"/>
                <a:ea typeface="+mn-ea"/>
                <a:cs typeface="+mn-cs"/>
              </a:rPr>
              <a:t>7 mo.</a:t>
            </a:r>
          </a:p>
        </p:txBody>
      </p:sp>
      <p:cxnSp>
        <p:nvCxnSpPr>
          <p:cNvPr id="47" name="Straight Arrow Connector 46">
            <a:extLst>
              <a:ext uri="{FF2B5EF4-FFF2-40B4-BE49-F238E27FC236}">
                <a16:creationId xmlns:a16="http://schemas.microsoft.com/office/drawing/2014/main" id="{1BAE0BE2-ECA0-43E5-B5E1-CE32B78AF5EC}"/>
              </a:ext>
            </a:extLst>
          </p:cNvPr>
          <p:cNvCxnSpPr/>
          <p:nvPr/>
        </p:nvCxnSpPr>
        <p:spPr>
          <a:xfrm>
            <a:off x="4314616" y="989109"/>
            <a:ext cx="3429001" cy="0"/>
          </a:xfrm>
          <a:prstGeom prst="straightConnector1">
            <a:avLst/>
          </a:prstGeom>
          <a:ln>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E1F6F789-3B84-4862-AA35-133502F08502}"/>
              </a:ext>
            </a:extLst>
          </p:cNvPr>
          <p:cNvSpPr txBox="1"/>
          <p:nvPr/>
        </p:nvSpPr>
        <p:spPr>
          <a:xfrm>
            <a:off x="5754797" y="897669"/>
            <a:ext cx="548640" cy="182880"/>
          </a:xfrm>
          <a:prstGeom prst="rect">
            <a:avLst/>
          </a:prstGeom>
          <a:solidFill>
            <a:schemeClr val="bg1"/>
          </a:solid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Calibri" panose="020F0502020204030204"/>
                <a:ea typeface="+mn-ea"/>
                <a:cs typeface="+mn-cs"/>
              </a:rPr>
              <a:t>6 mo.</a:t>
            </a:r>
          </a:p>
        </p:txBody>
      </p:sp>
      <p:cxnSp>
        <p:nvCxnSpPr>
          <p:cNvPr id="49" name="Straight Arrow Connector 48">
            <a:extLst>
              <a:ext uri="{FF2B5EF4-FFF2-40B4-BE49-F238E27FC236}">
                <a16:creationId xmlns:a16="http://schemas.microsoft.com/office/drawing/2014/main" id="{B5EB22E6-394A-4D07-B5F7-7F7EBE83DF5C}"/>
              </a:ext>
            </a:extLst>
          </p:cNvPr>
          <p:cNvCxnSpPr/>
          <p:nvPr/>
        </p:nvCxnSpPr>
        <p:spPr>
          <a:xfrm>
            <a:off x="8073853" y="989109"/>
            <a:ext cx="3429000" cy="0"/>
          </a:xfrm>
          <a:prstGeom prst="straightConnector1">
            <a:avLst/>
          </a:prstGeom>
          <a:ln>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60A328B9-3BF3-4147-8977-067734E9170B}"/>
              </a:ext>
            </a:extLst>
          </p:cNvPr>
          <p:cNvSpPr txBox="1"/>
          <p:nvPr/>
        </p:nvSpPr>
        <p:spPr>
          <a:xfrm>
            <a:off x="9514032" y="897669"/>
            <a:ext cx="548640" cy="182880"/>
          </a:xfrm>
          <a:prstGeom prst="rect">
            <a:avLst/>
          </a:prstGeom>
          <a:solidFill>
            <a:schemeClr val="bg1"/>
          </a:solid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Calibri" panose="020F0502020204030204"/>
                <a:ea typeface="+mn-ea"/>
                <a:cs typeface="+mn-cs"/>
              </a:rPr>
              <a:t>3 mo.</a:t>
            </a:r>
          </a:p>
        </p:txBody>
      </p:sp>
      <p:cxnSp>
        <p:nvCxnSpPr>
          <p:cNvPr id="51" name="Straight Connector 50">
            <a:extLst>
              <a:ext uri="{FF2B5EF4-FFF2-40B4-BE49-F238E27FC236}">
                <a16:creationId xmlns:a16="http://schemas.microsoft.com/office/drawing/2014/main" id="{E351177A-6100-4C00-A408-1B1FF53637EA}"/>
              </a:ext>
            </a:extLst>
          </p:cNvPr>
          <p:cNvCxnSpPr>
            <a:cxnSpLocks/>
          </p:cNvCxnSpPr>
          <p:nvPr/>
        </p:nvCxnSpPr>
        <p:spPr>
          <a:xfrm>
            <a:off x="155010" y="2378283"/>
            <a:ext cx="11731567" cy="0"/>
          </a:xfrm>
          <a:prstGeom prst="line">
            <a:avLst/>
          </a:prstGeom>
          <a:ln>
            <a:solidFill>
              <a:schemeClr val="bg2">
                <a:lumMod val="90000"/>
              </a:schemeClr>
            </a:solidFill>
            <a:prstDash val="lgDash"/>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5392B2F1-F63C-4170-AC2E-C3E9F8F9A8B9}"/>
              </a:ext>
            </a:extLst>
          </p:cNvPr>
          <p:cNvSpPr txBox="1"/>
          <p:nvPr/>
        </p:nvSpPr>
        <p:spPr>
          <a:xfrm rot="16200000">
            <a:off x="-320707" y="1805670"/>
            <a:ext cx="1228436"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Goals</a:t>
            </a:r>
          </a:p>
        </p:txBody>
      </p:sp>
      <p:sp>
        <p:nvSpPr>
          <p:cNvPr id="53" name="ee4pContent2">
            <a:extLst>
              <a:ext uri="{FF2B5EF4-FFF2-40B4-BE49-F238E27FC236}">
                <a16:creationId xmlns:a16="http://schemas.microsoft.com/office/drawing/2014/main" id="{7618AE15-6C21-4F59-80E5-BC2DB68DDDE7}"/>
              </a:ext>
            </a:extLst>
          </p:cNvPr>
          <p:cNvSpPr txBox="1">
            <a:spLocks/>
          </p:cNvSpPr>
          <p:nvPr>
            <p:custDataLst>
              <p:tags r:id="rId10"/>
            </p:custDataLst>
          </p:nvPr>
        </p:nvSpPr>
        <p:spPr>
          <a:xfrm>
            <a:off x="4314616" y="1608776"/>
            <a:ext cx="3429000" cy="1593096"/>
          </a:xfrm>
          <a:prstGeom prst="rect">
            <a:avLst/>
          </a:prstGeom>
        </p:spPr>
        <p:txBody>
          <a:bodyPr vert="horz" lIns="0" tIns="0" rIns="0" bIns="0" rtlCol="0">
            <a:noAutofit/>
          </a:bodyPr>
          <a:lstStyle>
            <a:lvl1pPr marL="0" indent="0" algn="l" defTabSz="914400" rtl="0" eaLnBrk="1" latinLnBrk="0" hangingPunct="1">
              <a:spcBef>
                <a:spcPct val="30000"/>
              </a:spcBef>
              <a:buClr>
                <a:srgbClr val="C02A26"/>
              </a:buClr>
              <a:buFont typeface="Wingdings" panose="05000000000000000000" pitchFamily="2" charset="2"/>
              <a:buNone/>
              <a:defRPr sz="1600" kern="1200">
                <a:solidFill>
                  <a:schemeClr val="tx1"/>
                </a:solidFill>
                <a:latin typeface="Arial" panose="020B0604020202020204" pitchFamily="34" charset="0"/>
                <a:ea typeface="+mn-ea"/>
                <a:cs typeface="Arial" panose="020B0604020202020204" pitchFamily="34" charset="0"/>
              </a:defRPr>
            </a:lvl1pPr>
            <a:lvl2pPr marL="2032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2pPr>
            <a:lvl3pPr marL="4064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3pPr>
            <a:lvl4pPr marL="6096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4pPr>
            <a:lvl5pPr marL="8128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10160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6pPr>
            <a:lvl7pPr marL="12192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7pPr>
            <a:lvl8pPr marL="14224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8pPr>
            <a:lvl9pPr marL="16256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9pPr>
          </a:lstStyle>
          <a:p>
            <a:pPr marL="0" marR="0" lvl="1" indent="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None/>
              <a:tabLst/>
              <a:defRPr/>
            </a:pPr>
            <a:r>
              <a:rPr kumimoji="0" lang="en-US" sz="105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Successful standup of more robust EPRP</a:t>
            </a:r>
          </a:p>
          <a:p>
            <a:pPr marL="0" marR="0" lvl="1" indent="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None/>
              <a:tabLst/>
              <a:defRPr/>
            </a:pPr>
            <a:r>
              <a:rPr kumimoji="0" lang="en-US" sz="105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Continue development and procurement of tools and resources</a:t>
            </a:r>
          </a:p>
          <a:p>
            <a:pPr marL="0" marR="0" lvl="1" indent="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None/>
              <a:tabLst/>
              <a:defRPr/>
            </a:pPr>
            <a:r>
              <a:rPr kumimoji="0" lang="en-US" sz="105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Raise internal and external awareness about the EPRP</a:t>
            </a:r>
          </a:p>
        </p:txBody>
      </p:sp>
      <p:sp>
        <p:nvSpPr>
          <p:cNvPr id="54" name="ee4pContent3">
            <a:extLst>
              <a:ext uri="{FF2B5EF4-FFF2-40B4-BE49-F238E27FC236}">
                <a16:creationId xmlns:a16="http://schemas.microsoft.com/office/drawing/2014/main" id="{13CD8A81-1C73-424E-A32B-B27A8D43E3E2}"/>
              </a:ext>
            </a:extLst>
          </p:cNvPr>
          <p:cNvSpPr txBox="1">
            <a:spLocks/>
          </p:cNvSpPr>
          <p:nvPr>
            <p:custDataLst>
              <p:tags r:id="rId11"/>
            </p:custDataLst>
          </p:nvPr>
        </p:nvSpPr>
        <p:spPr>
          <a:xfrm>
            <a:off x="8073852" y="1608776"/>
            <a:ext cx="3429000" cy="1593096"/>
          </a:xfrm>
          <a:prstGeom prst="rect">
            <a:avLst/>
          </a:prstGeom>
        </p:spPr>
        <p:txBody>
          <a:bodyPr vert="horz" lIns="0" tIns="0" rIns="0" bIns="0" rtlCol="0">
            <a:noAutofit/>
          </a:bodyPr>
          <a:lstStyle>
            <a:lvl1pPr marL="0" indent="0" algn="l" defTabSz="914400" rtl="0" eaLnBrk="1" latinLnBrk="0" hangingPunct="1">
              <a:spcBef>
                <a:spcPct val="30000"/>
              </a:spcBef>
              <a:buClr>
                <a:srgbClr val="C02A26"/>
              </a:buClr>
              <a:buFont typeface="Wingdings" panose="05000000000000000000" pitchFamily="2" charset="2"/>
              <a:buNone/>
              <a:defRPr sz="1600" kern="1200">
                <a:solidFill>
                  <a:schemeClr val="tx1"/>
                </a:solidFill>
                <a:latin typeface="Arial" panose="020B0604020202020204" pitchFamily="34" charset="0"/>
                <a:ea typeface="+mn-ea"/>
                <a:cs typeface="Arial" panose="020B0604020202020204" pitchFamily="34" charset="0"/>
              </a:defRPr>
            </a:lvl1pPr>
            <a:lvl2pPr marL="2032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2pPr>
            <a:lvl3pPr marL="4064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3pPr>
            <a:lvl4pPr marL="6096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4pPr>
            <a:lvl5pPr marL="8128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10160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6pPr>
            <a:lvl7pPr marL="12192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7pPr>
            <a:lvl8pPr marL="14224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8pPr>
            <a:lvl9pPr marL="16256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9pPr>
          </a:lstStyle>
          <a:p>
            <a:pPr marL="0" marR="0" lvl="1" indent="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None/>
              <a:tabLst/>
              <a:defRPr/>
            </a:pPr>
            <a:r>
              <a:rPr kumimoji="0" lang="en-US" sz="105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Assess sustainability of initiative progress and whether expansion is feasible/necessary </a:t>
            </a:r>
          </a:p>
          <a:p>
            <a:pPr marL="0" marR="0" lvl="1" indent="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None/>
              <a:tabLst/>
              <a:defRPr/>
            </a:pPr>
            <a:r>
              <a:rPr kumimoji="0" lang="en-US" sz="105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Sustain operations and incorporate improvements</a:t>
            </a:r>
          </a:p>
          <a:p>
            <a:pPr marL="0" marR="0" lvl="1" indent="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None/>
              <a:tabLst/>
              <a:defRPr/>
            </a:pPr>
            <a:endParaRPr kumimoji="0" lang="en-US" sz="105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55" name="Rectangle 54">
            <a:extLst>
              <a:ext uri="{FF2B5EF4-FFF2-40B4-BE49-F238E27FC236}">
                <a16:creationId xmlns:a16="http://schemas.microsoft.com/office/drawing/2014/main" id="{4FD8E818-70AE-40C8-BF28-54F9DAB277E1}"/>
              </a:ext>
            </a:extLst>
          </p:cNvPr>
          <p:cNvSpPr/>
          <p:nvPr/>
        </p:nvSpPr>
        <p:spPr>
          <a:xfrm>
            <a:off x="203456" y="6203272"/>
            <a:ext cx="11667455" cy="603421"/>
          </a:xfrm>
          <a:prstGeom prst="rect">
            <a:avLst/>
          </a:prstGeom>
          <a:solidFill>
            <a:srgbClr val="002F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i="0" u="none" strike="noStrike" kern="1200" cap="none" spc="0" normalizeH="0" baseline="0" noProof="0">
                <a:ln>
                  <a:noFill/>
                </a:ln>
                <a:solidFill>
                  <a:prstClr val="white"/>
                </a:solidFill>
                <a:effectLst/>
                <a:uLnTx/>
                <a:uFillTx/>
                <a:latin typeface="Calibri" panose="020F0502020204030204"/>
                <a:ea typeface="+mn-ea"/>
                <a:cs typeface="+mn-cs"/>
              </a:rPr>
              <a:t>What other services/resources should I engage to ensure that I properly define what the PRP should encompass?</a:t>
            </a:r>
          </a:p>
        </p:txBody>
      </p:sp>
      <p:sp>
        <p:nvSpPr>
          <p:cNvPr id="56" name="ee4pContent1">
            <a:extLst>
              <a:ext uri="{FF2B5EF4-FFF2-40B4-BE49-F238E27FC236}">
                <a16:creationId xmlns:a16="http://schemas.microsoft.com/office/drawing/2014/main" id="{4B9D9D52-FE7B-47F9-B60A-404D78131889}"/>
              </a:ext>
            </a:extLst>
          </p:cNvPr>
          <p:cNvSpPr txBox="1">
            <a:spLocks/>
          </p:cNvSpPr>
          <p:nvPr>
            <p:custDataLst>
              <p:tags r:id="rId12"/>
            </p:custDataLst>
          </p:nvPr>
        </p:nvSpPr>
        <p:spPr>
          <a:xfrm>
            <a:off x="564089" y="1608776"/>
            <a:ext cx="3429000" cy="1228434"/>
          </a:xfrm>
          <a:prstGeom prst="rect">
            <a:avLst/>
          </a:prstGeom>
        </p:spPr>
        <p:txBody>
          <a:bodyPr vert="horz" lIns="0" tIns="0" rIns="0" bIns="0" rtlCol="0">
            <a:noAutofit/>
          </a:bodyPr>
          <a:lstStyle>
            <a:lvl1pPr marL="0" indent="0" algn="l" defTabSz="914400" rtl="0" eaLnBrk="1" latinLnBrk="0" hangingPunct="1">
              <a:spcBef>
                <a:spcPct val="30000"/>
              </a:spcBef>
              <a:buClr>
                <a:srgbClr val="C02A26"/>
              </a:buClr>
              <a:buFont typeface="Wingdings" panose="05000000000000000000" pitchFamily="2" charset="2"/>
              <a:buNone/>
              <a:defRPr sz="1600" kern="1200">
                <a:solidFill>
                  <a:schemeClr val="tx1"/>
                </a:solidFill>
                <a:latin typeface="Arial" panose="020B0604020202020204" pitchFamily="34" charset="0"/>
                <a:ea typeface="+mn-ea"/>
                <a:cs typeface="Arial" panose="020B0604020202020204" pitchFamily="34" charset="0"/>
              </a:defRPr>
            </a:lvl1pPr>
            <a:lvl2pPr marL="2032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2pPr>
            <a:lvl3pPr marL="4064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3pPr>
            <a:lvl4pPr marL="6096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4pPr>
            <a:lvl5pPr marL="8128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10160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6pPr>
            <a:lvl7pPr marL="12192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7pPr>
            <a:lvl8pPr marL="14224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8pPr>
            <a:lvl9pPr marL="16256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9pPr>
          </a:lstStyle>
          <a:p>
            <a:pPr marL="0" marR="0" lvl="1" indent="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None/>
              <a:tabLst/>
              <a:defRPr/>
            </a:pPr>
            <a:r>
              <a:rPr kumimoji="0" lang="en-US" sz="105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Develop strategy, formalize processes, and define the scope of the EPRP </a:t>
            </a:r>
          </a:p>
          <a:p>
            <a:pPr marL="0" marR="0" lvl="1" indent="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None/>
              <a:tabLst/>
              <a:defRPr/>
            </a:pPr>
            <a:r>
              <a:rPr kumimoji="0" lang="en-US" sz="105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Engage key stakeholders</a:t>
            </a:r>
          </a:p>
          <a:p>
            <a:pPr marL="0" marR="0" lvl="1" indent="0" algn="l" defTabSz="914400" rtl="0" eaLnBrk="1" fontAlgn="auto" latinLnBrk="0" hangingPunct="1">
              <a:lnSpc>
                <a:spcPct val="100000"/>
              </a:lnSpc>
              <a:spcBef>
                <a:spcPct val="30000"/>
              </a:spcBef>
              <a:spcAft>
                <a:spcPts val="0"/>
              </a:spcAft>
              <a:buClr>
                <a:srgbClr val="4472C4"/>
              </a:buClr>
              <a:buSzTx/>
              <a:buFont typeface="Wingdings" panose="05000000000000000000" pitchFamily="2" charset="2"/>
              <a:buNone/>
              <a:tabLst/>
              <a:defRPr/>
            </a:pPr>
            <a:r>
              <a:rPr lang="en-US" sz="1050">
                <a:solidFill>
                  <a:prstClr val="black"/>
                </a:solidFill>
                <a:latin typeface="Calibri" panose="020F0502020204030204"/>
              </a:rPr>
              <a:t>Secure staffing and resources</a:t>
            </a:r>
            <a:endParaRPr kumimoji="0" lang="en-US" sz="105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57" name="Title 1">
            <a:extLst>
              <a:ext uri="{FF2B5EF4-FFF2-40B4-BE49-F238E27FC236}">
                <a16:creationId xmlns:a16="http://schemas.microsoft.com/office/drawing/2014/main" id="{0E1600D9-E5A9-49ED-B6F8-2DCA63630FA2}"/>
              </a:ext>
            </a:extLst>
          </p:cNvPr>
          <p:cNvSpPr>
            <a:spLocks noGrp="1"/>
          </p:cNvSpPr>
          <p:nvPr>
            <p:ph type="title"/>
          </p:nvPr>
        </p:nvSpPr>
        <p:spPr>
          <a:xfrm>
            <a:off x="390525" y="72531"/>
            <a:ext cx="10515600" cy="680223"/>
          </a:xfrm>
        </p:spPr>
        <p:txBody>
          <a:bodyPr/>
          <a:lstStyle/>
          <a:p>
            <a:r>
              <a:rPr lang="en-US" sz="2400" dirty="0"/>
              <a:t>Enhanced Partnered Research Program High-Level Roadmap</a:t>
            </a:r>
          </a:p>
        </p:txBody>
      </p:sp>
      <p:sp>
        <p:nvSpPr>
          <p:cNvPr id="27" name="Slide Number Placeholder 2">
            <a:extLst>
              <a:ext uri="{FF2B5EF4-FFF2-40B4-BE49-F238E27FC236}">
                <a16:creationId xmlns:a16="http://schemas.microsoft.com/office/drawing/2014/main" id="{866D165E-1FD5-7A6D-AE1A-0B45DE691730}"/>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2757046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Tenjo8i3HuRM573PfLSFA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EE4P_TEMPLATESTYLE" val="25"/>
</p:tagLst>
</file>

<file path=ppt/tags/tag5.xml><?xml version="1.0" encoding="utf-8"?>
<p:tagLst xmlns:a="http://schemas.openxmlformats.org/drawingml/2006/main" xmlns:r="http://schemas.openxmlformats.org/officeDocument/2006/relationships" xmlns:p="http://schemas.openxmlformats.org/presentationml/2006/main">
  <p:tag name="EE4P_TEMPLATESTYLE" val="3"/>
</p:tagLst>
</file>

<file path=ppt/tags/tag6.xml><?xml version="1.0" encoding="utf-8"?>
<p:tagLst xmlns:a="http://schemas.openxmlformats.org/drawingml/2006/main" xmlns:r="http://schemas.openxmlformats.org/officeDocument/2006/relationships" xmlns:p="http://schemas.openxmlformats.org/presentationml/2006/main">
  <p:tag name="EE4P_TEMPLATESTYLE" val="25"/>
</p:tagLst>
</file>

<file path=ppt/tags/tag7.xml><?xml version="1.0" encoding="utf-8"?>
<p:tagLst xmlns:a="http://schemas.openxmlformats.org/drawingml/2006/main" xmlns:r="http://schemas.openxmlformats.org/officeDocument/2006/relationships" xmlns:p="http://schemas.openxmlformats.org/presentationml/2006/main">
  <p:tag name="EE4P_TEMPLATESTYLE" val="25"/>
</p:tagLst>
</file>

<file path=ppt/tags/tag8.xml><?xml version="1.0" encoding="utf-8"?>
<p:tagLst xmlns:a="http://schemas.openxmlformats.org/drawingml/2006/main" xmlns:r="http://schemas.openxmlformats.org/officeDocument/2006/relationships" xmlns:p="http://schemas.openxmlformats.org/presentationml/2006/main">
  <p:tag name="EE4P_TEMPLATESTYLE" val="25"/>
</p:tagLst>
</file>

<file path=ppt/tags/tag9.xml><?xml version="1.0" encoding="utf-8"?>
<p:tagLst xmlns:a="http://schemas.openxmlformats.org/drawingml/2006/main" xmlns:r="http://schemas.openxmlformats.org/officeDocument/2006/relationships" xmlns:p="http://schemas.openxmlformats.org/presentationml/2006/main">
  <p:tag name="EE4P_TEMPLATESTYLE" val="25"/>
</p:tagLst>
</file>

<file path=ppt/tags/tag10.xml><?xml version="1.0" encoding="utf-8"?>
<p:tagLst xmlns:a="http://schemas.openxmlformats.org/drawingml/2006/main" xmlns:r="http://schemas.openxmlformats.org/officeDocument/2006/relationships" xmlns:p="http://schemas.openxmlformats.org/presentationml/2006/main">
  <p:tag name="EE4P_TEMPLATESTYLE" val="25"/>
</p:tagLst>
</file>

<file path=ppt/tags/tag11.xml><?xml version="1.0" encoding="utf-8"?>
<p:tagLst xmlns:a="http://schemas.openxmlformats.org/drawingml/2006/main" xmlns:r="http://schemas.openxmlformats.org/officeDocument/2006/relationships" xmlns:p="http://schemas.openxmlformats.org/presentationml/2006/main">
  <p:tag name="EE4P_TEMPLATESTYLE" val="25"/>
</p:tagLst>
</file>

<file path=ppt/tags/tag12.xml><?xml version="1.0" encoding="utf-8"?>
<p:tagLst xmlns:a="http://schemas.openxmlformats.org/drawingml/2006/main" xmlns:r="http://schemas.openxmlformats.org/officeDocument/2006/relationships" xmlns:p="http://schemas.openxmlformats.org/presentationml/2006/main">
  <p:tag name="EE4P_TEMPLATESTYLE" val="25"/>
</p:tagLst>
</file>

<file path=ppt/tags/tag13.xml><?xml version="1.0" encoding="utf-8"?>
<p:tagLst xmlns:a="http://schemas.openxmlformats.org/drawingml/2006/main" xmlns:r="http://schemas.openxmlformats.org/officeDocument/2006/relationships" xmlns:p="http://schemas.openxmlformats.org/presentationml/2006/main">
  <p:tag name="EE4P_TEMPLATESTYLE" val="3"/>
</p:tagLst>
</file>

<file path=ppt/tags/tag14.xml><?xml version="1.0" encoding="utf-8"?>
<p:tagLst xmlns:a="http://schemas.openxmlformats.org/drawingml/2006/main" xmlns:r="http://schemas.openxmlformats.org/officeDocument/2006/relationships" xmlns:p="http://schemas.openxmlformats.org/presentationml/2006/main">
  <p:tag name="EE4P_TEMPLATESTYLE" val="5"/>
</p:tagLst>
</file>

<file path=ppt/tags/tag15.xml><?xml version="1.0" encoding="utf-8"?>
<p:tagLst xmlns:a="http://schemas.openxmlformats.org/drawingml/2006/main" xmlns:r="http://schemas.openxmlformats.org/officeDocument/2006/relationships" xmlns:p="http://schemas.openxmlformats.org/presentationml/2006/main">
  <p:tag name="EE4P_TEMPLATESTYLE" val="5"/>
</p:tagLst>
</file>

<file path=ppt/tags/tag16.xml><?xml version="1.0" encoding="utf-8"?>
<p:tagLst xmlns:a="http://schemas.openxmlformats.org/drawingml/2006/main" xmlns:r="http://schemas.openxmlformats.org/officeDocument/2006/relationships" xmlns:p="http://schemas.openxmlformats.org/presentationml/2006/main">
  <p:tag name="EE4P_TEMPLATESTYLE" val="5"/>
</p:tagLst>
</file>

<file path=ppt/tags/tag17.xml><?xml version="1.0" encoding="utf-8"?>
<p:tagLst xmlns:a="http://schemas.openxmlformats.org/drawingml/2006/main" xmlns:r="http://schemas.openxmlformats.org/officeDocument/2006/relationships" xmlns:p="http://schemas.openxmlformats.org/presentationml/2006/main">
  <p:tag name="EE4P_TEMPLATESTYLE" val="5"/>
</p:tagLst>
</file>

<file path=ppt/tags/tag18.xml><?xml version="1.0" encoding="utf-8"?>
<p:tagLst xmlns:a="http://schemas.openxmlformats.org/drawingml/2006/main" xmlns:r="http://schemas.openxmlformats.org/officeDocument/2006/relationships" xmlns:p="http://schemas.openxmlformats.org/presentationml/2006/main">
  <p:tag name="EE4P_TEMPLATESTYLE" val="5"/>
</p:tagLst>
</file>

<file path=ppt/tags/tag19.xml><?xml version="1.0" encoding="utf-8"?>
<p:tagLst xmlns:a="http://schemas.openxmlformats.org/drawingml/2006/main" xmlns:r="http://schemas.openxmlformats.org/officeDocument/2006/relationships" xmlns:p="http://schemas.openxmlformats.org/presentationml/2006/main">
  <p:tag name="EE4P_TEMPLATESTYLE" val="5"/>
</p:tagLst>
</file>

<file path=ppt/tags/tag20.xml><?xml version="1.0" encoding="utf-8"?>
<p:tagLst xmlns:a="http://schemas.openxmlformats.org/drawingml/2006/main" xmlns:r="http://schemas.openxmlformats.org/officeDocument/2006/relationships" xmlns:p="http://schemas.openxmlformats.org/presentationml/2006/main">
  <p:tag name="EE4P_TEMPLATESTYLE" val="5"/>
</p:tagLst>
</file>

<file path=ppt/tags/tag21.xml><?xml version="1.0" encoding="utf-8"?>
<p:tagLst xmlns:a="http://schemas.openxmlformats.org/drawingml/2006/main" xmlns:r="http://schemas.openxmlformats.org/officeDocument/2006/relationships" xmlns:p="http://schemas.openxmlformats.org/presentationml/2006/main">
  <p:tag name="EE4P_TEMPLATESTYLE" val="5"/>
</p:tagLst>
</file>

<file path=ppt/tags/tag22.xml><?xml version="1.0" encoding="utf-8"?>
<p:tagLst xmlns:a="http://schemas.openxmlformats.org/drawingml/2006/main" xmlns:r="http://schemas.openxmlformats.org/officeDocument/2006/relationships" xmlns:p="http://schemas.openxmlformats.org/presentationml/2006/main">
  <p:tag name="EE4P_TEMPLATESTYLE" val="5"/>
</p:tagLst>
</file>

<file path=ppt/tags/tag23.xml><?xml version="1.0" encoding="utf-8"?>
<p:tagLst xmlns:a="http://schemas.openxmlformats.org/drawingml/2006/main" xmlns:r="http://schemas.openxmlformats.org/officeDocument/2006/relationships" xmlns:p="http://schemas.openxmlformats.org/presentationml/2006/main">
  <p:tag name="EE4P_TEMPLATESTYLE" val="5"/>
</p:tagLst>
</file>

<file path=ppt/tags/tag24.xml><?xml version="1.0" encoding="utf-8"?>
<p:tagLst xmlns:a="http://schemas.openxmlformats.org/drawingml/2006/main" xmlns:r="http://schemas.openxmlformats.org/officeDocument/2006/relationships" xmlns:p="http://schemas.openxmlformats.org/presentationml/2006/main">
  <p:tag name="EE4P_TEMPLATESTYLE" val="3"/>
</p:tagLst>
</file>

<file path=ppt/tags/tag25.xml><?xml version="1.0" encoding="utf-8"?>
<p:tagLst xmlns:a="http://schemas.openxmlformats.org/drawingml/2006/main" xmlns:r="http://schemas.openxmlformats.org/officeDocument/2006/relationships" xmlns:p="http://schemas.openxmlformats.org/presentationml/2006/main">
  <p:tag name="EE4P_TEMPLATESTYLE" val="25"/>
</p:tagLst>
</file>

<file path=ppt/tags/tag26.xml><?xml version="1.0" encoding="utf-8"?>
<p:tagLst xmlns:a="http://schemas.openxmlformats.org/drawingml/2006/main" xmlns:r="http://schemas.openxmlformats.org/officeDocument/2006/relationships" xmlns:p="http://schemas.openxmlformats.org/presentationml/2006/main">
  <p:tag name="EE4P_TEMPLATESTYLE" val="25"/>
</p:tagLst>
</file>

<file path=ppt/tags/tag27.xml><?xml version="1.0" encoding="utf-8"?>
<p:tagLst xmlns:a="http://schemas.openxmlformats.org/drawingml/2006/main" xmlns:r="http://schemas.openxmlformats.org/officeDocument/2006/relationships" xmlns:p="http://schemas.openxmlformats.org/presentationml/2006/main">
  <p:tag name="EE4P_TEMPLATESTYLE" val="25"/>
</p:tagLst>
</file>

<file path=ppt/tags/tag28.xml><?xml version="1.0" encoding="utf-8"?>
<p:tagLst xmlns:a="http://schemas.openxmlformats.org/drawingml/2006/main" xmlns:r="http://schemas.openxmlformats.org/officeDocument/2006/relationships" xmlns:p="http://schemas.openxmlformats.org/presentationml/2006/main">
  <p:tag name="EE4P_TEMPLATESTYLE" val="25"/>
</p:tagLst>
</file>

<file path=ppt/tags/tag29.xml><?xml version="1.0" encoding="utf-8"?>
<p:tagLst xmlns:a="http://schemas.openxmlformats.org/drawingml/2006/main" xmlns:r="http://schemas.openxmlformats.org/officeDocument/2006/relationships" xmlns:p="http://schemas.openxmlformats.org/presentationml/2006/main">
  <p:tag name="EE4P_TEMPLATESTYLE" val="3"/>
</p:tagLst>
</file>

<file path=ppt/tags/tag30.xml><?xml version="1.0" encoding="utf-8"?>
<p:tagLst xmlns:a="http://schemas.openxmlformats.org/drawingml/2006/main" xmlns:r="http://schemas.openxmlformats.org/officeDocument/2006/relationships" xmlns:p="http://schemas.openxmlformats.org/presentationml/2006/main">
  <p:tag name="EE4P_TEMPLATESTYLE" val="25"/>
</p:tagLst>
</file>

<file path=ppt/tags/tag31.xml><?xml version="1.0" encoding="utf-8"?>
<p:tagLst xmlns:a="http://schemas.openxmlformats.org/drawingml/2006/main" xmlns:r="http://schemas.openxmlformats.org/officeDocument/2006/relationships" xmlns:p="http://schemas.openxmlformats.org/presentationml/2006/main">
  <p:tag name="EE4P_TEMPLATESTYLE" val="25"/>
</p:tagLst>
</file>

<file path=ppt/tags/tag32.xml><?xml version="1.0" encoding="utf-8"?>
<p:tagLst xmlns:a="http://schemas.openxmlformats.org/drawingml/2006/main" xmlns:r="http://schemas.openxmlformats.org/officeDocument/2006/relationships" xmlns:p="http://schemas.openxmlformats.org/presentationml/2006/main">
  <p:tag name="EE4P_TEMPLATESTYLE" val="25"/>
</p:tagLst>
</file>

<file path=ppt/tags/tag33.xml><?xml version="1.0" encoding="utf-8"?>
<p:tagLst xmlns:a="http://schemas.openxmlformats.org/drawingml/2006/main" xmlns:r="http://schemas.openxmlformats.org/officeDocument/2006/relationships" xmlns:p="http://schemas.openxmlformats.org/presentationml/2006/main">
  <p:tag name="EE4P_TEMPLATESTYLE" val="25"/>
</p:tagLst>
</file>

<file path=ppt/tags/tag34.xml><?xml version="1.0" encoding="utf-8"?>
<p:tagLst xmlns:a="http://schemas.openxmlformats.org/drawingml/2006/main" xmlns:r="http://schemas.openxmlformats.org/officeDocument/2006/relationships" xmlns:p="http://schemas.openxmlformats.org/presentationml/2006/main">
  <p:tag name="EE4P_TEMPLATESTYLE" val="25"/>
</p:tagLst>
</file>

<file path=ppt/tags/tag35.xml><?xml version="1.0" encoding="utf-8"?>
<p:tagLst xmlns:a="http://schemas.openxmlformats.org/drawingml/2006/main" xmlns:r="http://schemas.openxmlformats.org/officeDocument/2006/relationships" xmlns:p="http://schemas.openxmlformats.org/presentationml/2006/main">
  <p:tag name="EE4P_TEMPLATESTYLE" val="25"/>
</p:tagLst>
</file>

<file path=ppt/tags/tag36.xml><?xml version="1.0" encoding="utf-8"?>
<p:tagLst xmlns:a="http://schemas.openxmlformats.org/drawingml/2006/main" xmlns:r="http://schemas.openxmlformats.org/officeDocument/2006/relationships" xmlns:p="http://schemas.openxmlformats.org/presentationml/2006/main">
  <p:tag name="EE4P_TEMPLATESTYLE" val="25"/>
</p:tagLst>
</file>

<file path=ppt/tags/tag37.xml><?xml version="1.0" encoding="utf-8"?>
<p:tagLst xmlns:a="http://schemas.openxmlformats.org/drawingml/2006/main" xmlns:r="http://schemas.openxmlformats.org/officeDocument/2006/relationships" xmlns:p="http://schemas.openxmlformats.org/presentationml/2006/main">
  <p:tag name="EE4P_TEMPLATESTYLE" val="3"/>
</p:tagLst>
</file>

<file path=ppt/tags/tag38.xml><?xml version="1.0" encoding="utf-8"?>
<p:tagLst xmlns:a="http://schemas.openxmlformats.org/drawingml/2006/main" xmlns:r="http://schemas.openxmlformats.org/officeDocument/2006/relationships" xmlns:p="http://schemas.openxmlformats.org/presentationml/2006/main">
  <p:tag name="EE4P_TEMPLATESTYLE" val="5"/>
</p:tagLst>
</file>

<file path=ppt/tags/tag39.xml><?xml version="1.0" encoding="utf-8"?>
<p:tagLst xmlns:a="http://schemas.openxmlformats.org/drawingml/2006/main" xmlns:r="http://schemas.openxmlformats.org/officeDocument/2006/relationships" xmlns:p="http://schemas.openxmlformats.org/presentationml/2006/main">
  <p:tag name="EE4P_TEMPLATESTYLE" val="5"/>
</p:tagLst>
</file>

<file path=ppt/tags/tag40.xml><?xml version="1.0" encoding="utf-8"?>
<p:tagLst xmlns:a="http://schemas.openxmlformats.org/drawingml/2006/main" xmlns:r="http://schemas.openxmlformats.org/officeDocument/2006/relationships" xmlns:p="http://schemas.openxmlformats.org/presentationml/2006/main">
  <p:tag name="EE4P_TEMPLATESTYLE" val="5"/>
</p:tagLst>
</file>

<file path=ppt/tags/tag41.xml><?xml version="1.0" encoding="utf-8"?>
<p:tagLst xmlns:a="http://schemas.openxmlformats.org/drawingml/2006/main" xmlns:r="http://schemas.openxmlformats.org/officeDocument/2006/relationships" xmlns:p="http://schemas.openxmlformats.org/presentationml/2006/main">
  <p:tag name="EE4P_TEMPLATESTYLE" val="3"/>
</p:tagLst>
</file>

<file path=ppt/tags/tag42.xml><?xml version="1.0" encoding="utf-8"?>
<p:tagLst xmlns:a="http://schemas.openxmlformats.org/drawingml/2006/main" xmlns:r="http://schemas.openxmlformats.org/officeDocument/2006/relationships" xmlns:p="http://schemas.openxmlformats.org/presentationml/2006/main">
  <p:tag name="EE4P_TEMPLATESTYLE" val="25"/>
</p:tagLst>
</file>

<file path=ppt/tags/tag43.xml><?xml version="1.0" encoding="utf-8"?>
<p:tagLst xmlns:a="http://schemas.openxmlformats.org/drawingml/2006/main" xmlns:r="http://schemas.openxmlformats.org/officeDocument/2006/relationships" xmlns:p="http://schemas.openxmlformats.org/presentationml/2006/main">
  <p:tag name="EE4P_TEMPLATESTYLE" val="25"/>
</p:tagLst>
</file>

<file path=ppt/tags/tag44.xml><?xml version="1.0" encoding="utf-8"?>
<p:tagLst xmlns:a="http://schemas.openxmlformats.org/drawingml/2006/main" xmlns:r="http://schemas.openxmlformats.org/officeDocument/2006/relationships" xmlns:p="http://schemas.openxmlformats.org/presentationml/2006/main">
  <p:tag name="EE4P_TEMPLATESTYLE" val="5"/>
</p:tagLst>
</file>

<file path=ppt/tags/tag45.xml><?xml version="1.0" encoding="utf-8"?>
<p:tagLst xmlns:a="http://schemas.openxmlformats.org/drawingml/2006/main" xmlns:r="http://schemas.openxmlformats.org/officeDocument/2006/relationships" xmlns:p="http://schemas.openxmlformats.org/presentationml/2006/main">
  <p:tag name="EE4P_TEMPLATESTYLE" val="5"/>
</p:tagLst>
</file>

<file path=ppt/tags/tag46.xml><?xml version="1.0" encoding="utf-8"?>
<p:tagLst xmlns:a="http://schemas.openxmlformats.org/drawingml/2006/main" xmlns:r="http://schemas.openxmlformats.org/officeDocument/2006/relationships" xmlns:p="http://schemas.openxmlformats.org/presentationml/2006/main">
  <p:tag name="EE4P_TEMPLATESTYLE" val="5"/>
</p:tagLst>
</file>

<file path=ppt/tags/tag47.xml><?xml version="1.0" encoding="utf-8"?>
<p:tagLst xmlns:a="http://schemas.openxmlformats.org/drawingml/2006/main" xmlns:r="http://schemas.openxmlformats.org/officeDocument/2006/relationships" xmlns:p="http://schemas.openxmlformats.org/presentationml/2006/main">
  <p:tag name="EE4P_TEMPLATESTYLE" val="5"/>
</p:tagLst>
</file>

<file path=ppt/tags/tag48.xml><?xml version="1.0" encoding="utf-8"?>
<p:tagLst xmlns:a="http://schemas.openxmlformats.org/drawingml/2006/main" xmlns:r="http://schemas.openxmlformats.org/officeDocument/2006/relationships" xmlns:p="http://schemas.openxmlformats.org/presentationml/2006/main">
  <p:tag name="EE4P_TEMPLATESTYLE" val="5"/>
</p:tagLst>
</file>

<file path=ppt/tags/tag49.xml><?xml version="1.0" encoding="utf-8"?>
<p:tagLst xmlns:a="http://schemas.openxmlformats.org/drawingml/2006/main" xmlns:r="http://schemas.openxmlformats.org/officeDocument/2006/relationships" xmlns:p="http://schemas.openxmlformats.org/presentationml/2006/main">
  <p:tag name="EE4P_TEMPLATESTYLE" val="5"/>
</p:tagLst>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6fd99b86-a2da-47ef-ab26-55e7009dfe6e" xsi:nil="true"/>
    <lcf76f155ced4ddcb4097134ff3c332f xmlns="46ade7e5-a61b-41ef-8b65-1672892065de">
      <Terms xmlns="http://schemas.microsoft.com/office/infopath/2007/PartnerControls"/>
    </lcf76f155ced4ddcb4097134ff3c332f>
    <DocumentType xmlns="46ade7e5-a61b-41ef-8b65-1672892065de">Presentations and Other Documents</DocumentType>
    <Topic xmlns="46ade7e5-a61b-41ef-8b65-1672892065de">Clinical Trials</Topic>
    <PageReference xmlns="46ade7e5-a61b-41ef-8b65-1672892065de"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670CDE65625E449B41BBE9E2A9D6E5A" ma:contentTypeVersion="14" ma:contentTypeDescription="Create a new document." ma:contentTypeScope="" ma:versionID="8b6d79dcc5f754c7cfb59536e3674b4c">
  <xsd:schema xmlns:xsd="http://www.w3.org/2001/XMLSchema" xmlns:xs="http://www.w3.org/2001/XMLSchema" xmlns:p="http://schemas.microsoft.com/office/2006/metadata/properties" xmlns:ns2="46ade7e5-a61b-41ef-8b65-1672892065de" xmlns:ns3="6fd99b86-a2da-47ef-ab26-55e7009dfe6e" targetNamespace="http://schemas.microsoft.com/office/2006/metadata/properties" ma:root="true" ma:fieldsID="64eb71bd406154cbfd68acd3ef293514" ns2:_="" ns3:_="">
    <xsd:import namespace="46ade7e5-a61b-41ef-8b65-1672892065de"/>
    <xsd:import namespace="6fd99b86-a2da-47ef-ab26-55e7009dfe6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Topic"/>
                <xsd:element ref="ns2:DocumentType"/>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PageReferenc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6ade7e5-a61b-41ef-8b65-1672892065d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Topic" ma:index="12" ma:displayName="Topic" ma:format="Dropdown" ma:internalName="Topic">
      <xsd:simpleType>
        <xsd:restriction base="dms:Choice">
          <xsd:enumeration value="Animal Research"/>
          <xsd:enumeration value="Artificial Intelligence (AI)"/>
          <xsd:enumeration value="Budget"/>
          <xsd:enumeration value="Cannabis"/>
          <xsd:enumeration value="Centers"/>
          <xsd:enumeration value="Clinical Trials"/>
          <xsd:enumeration value="Community Care"/>
          <xsd:enumeration value="Congress"/>
          <xsd:enumeration value="COVID"/>
          <xsd:enumeration value="Enterprise Transformation"/>
          <xsd:enumeration value="General ORD"/>
          <xsd:enumeration value="Mental Health"/>
          <xsd:enumeration value="Mortality Data"/>
          <xsd:enumeration value="MVP"/>
          <xsd:enumeration value="NRAC"/>
          <xsd:enumeration value="Precision Oncology"/>
          <xsd:enumeration value="Psychedelics"/>
          <xsd:enumeration value="Rural Health"/>
          <xsd:enumeration value="Spinal Cord Injury (SCI)"/>
          <xsd:enumeration value="Suicide Prevention"/>
          <xsd:enumeration value="Traumatic Brain Injury (TBI)"/>
          <xsd:enumeration value="Technology Transfer Program"/>
          <xsd:enumeration value="Toxic Exposure - MERP"/>
          <xsd:enumeration value="VA Secretary"/>
          <xsd:enumeration value="VHA USH"/>
          <xsd:enumeration value="Women’s Health – Maternity and Infertility"/>
        </xsd:restriction>
      </xsd:simpleType>
    </xsd:element>
    <xsd:element name="DocumentType" ma:index="13" ma:displayName="Document Type" ma:format="Dropdown" ma:internalName="DocumentType">
      <xsd:simpleType>
        <xsd:restriction base="dms:Choice">
          <xsd:enumeration value="Briefing Papers - Congress"/>
          <xsd:enumeration value="Briefing Papers - VA-VHA"/>
          <xsd:enumeration value="Briefing Papers - Other"/>
          <xsd:enumeration value="Budget Justification"/>
          <xsd:enumeration value="GAO"/>
          <xsd:enumeration value="Mandated Congressional Reports"/>
          <xsd:enumeration value="News Articles"/>
          <xsd:enumeration value="Press Releases"/>
          <xsd:enumeration value="Publications-Studies"/>
          <xsd:enumeration value="RFA"/>
          <xsd:enumeration value="RFI - Congress"/>
          <xsd:enumeration value="Slide Presentations"/>
          <xsd:enumeration value="Talking Points - Congress"/>
          <xsd:enumeration value="Testimony - Congress Speeches"/>
          <xsd:enumeration value="Talking Points - VA-VHA"/>
          <xsd:enumeration value="Talking Points - Other"/>
          <xsd:enumeration value="Other-Misc Documents"/>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f0ac6538-d41a-4f9a-bd67-5f7ae81a6d74"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PageReference" ma:index="21" nillable="true" ma:displayName="Page Reference" ma:description="provide a page reference for longer documents" ma:format="Dropdown" ma:internalName="PageReferenc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fd99b86-a2da-47ef-ab26-55e7009dfe6e"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3736d572-348b-4845-bc48-0c7ae7dc85c2}" ma:internalName="TaxCatchAll" ma:showField="CatchAllData" ma:web="6fd99b86-a2da-47ef-ab26-55e7009dfe6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294E934-08CB-4F4E-B7C3-801E88C321CE}">
  <ds:schemaRefs>
    <ds:schemaRef ds:uri="http://schemas.microsoft.com/office/2006/metadata/properties"/>
    <ds:schemaRef ds:uri="http://schemas.microsoft.com/office/infopath/2007/PartnerControls"/>
    <ds:schemaRef ds:uri="http://schemas.microsoft.com/sharepoint/v3"/>
    <ds:schemaRef ds:uri="50f0e209-8335-4762-bc61-35d878d3e9d9"/>
    <ds:schemaRef ds:uri="6aa70152-e7f0-4492-8b74-233e905943de"/>
  </ds:schemaRefs>
</ds:datastoreItem>
</file>

<file path=customXml/itemProps2.xml><?xml version="1.0" encoding="utf-8"?>
<ds:datastoreItem xmlns:ds="http://schemas.openxmlformats.org/officeDocument/2006/customXml" ds:itemID="{A1C4B98C-ADD9-4909-B228-5699B0D5E7ED}"/>
</file>

<file path=customXml/itemProps3.xml><?xml version="1.0" encoding="utf-8"?>
<ds:datastoreItem xmlns:ds="http://schemas.openxmlformats.org/officeDocument/2006/customXml" ds:itemID="{E7628A1A-DFB2-4801-A1FA-04883C5FE96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11410</Words>
  <Application>Microsoft Office PowerPoint</Application>
  <PresentationFormat>Widescreen</PresentationFormat>
  <Paragraphs>1387</Paragraphs>
  <Slides>65</Slides>
  <Notes>45</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65</vt:i4>
      </vt:variant>
    </vt:vector>
  </HeadingPairs>
  <TitlesOfParts>
    <vt:vector size="75" baseType="lpstr">
      <vt:lpstr>Arial</vt:lpstr>
      <vt:lpstr>Arial Black</vt:lpstr>
      <vt:lpstr>Calibri</vt:lpstr>
      <vt:lpstr>Calibri Light</vt:lpstr>
      <vt:lpstr>Helvetica Neue</vt:lpstr>
      <vt:lpstr>Source Sans Pro</vt:lpstr>
      <vt:lpstr>Source Sans Pro Light</vt:lpstr>
      <vt:lpstr>Wingdings</vt:lpstr>
      <vt:lpstr>1_Office Theme</vt:lpstr>
      <vt:lpstr>think-cell Slide</vt:lpstr>
      <vt:lpstr>Research Enterprise Initiative Report-Out: Session 1</vt:lpstr>
      <vt:lpstr>PowerPoint Presentation</vt:lpstr>
      <vt:lpstr>Organizational Alignment </vt:lpstr>
      <vt:lpstr>Organizational Alignment: Objectives</vt:lpstr>
      <vt:lpstr>Organizational Alignment: Delivery Status</vt:lpstr>
      <vt:lpstr>Organizational Alignment: Proposed Next Steps</vt:lpstr>
      <vt:lpstr>Organizational Alignment: Proposed Phased Implementation Timeline</vt:lpstr>
      <vt:lpstr>Organizational Alignment: Proposed Next Steps</vt:lpstr>
      <vt:lpstr>Actively Managed Portfolios </vt:lpstr>
      <vt:lpstr>Actively Managed Portfolio: Objectives </vt:lpstr>
      <vt:lpstr>Actively Managed Portfolio: Objectives </vt:lpstr>
      <vt:lpstr>Actively Managed Portfolio: Delivery Status</vt:lpstr>
      <vt:lpstr>Actively Managed Portfolio: Delivery Status</vt:lpstr>
      <vt:lpstr>Actively Managed Portfolio: Proposed Next Steps</vt:lpstr>
      <vt:lpstr>Actively Managed Portfolio: Proposed Next Steps</vt:lpstr>
      <vt:lpstr>Finance Process </vt:lpstr>
      <vt:lpstr>Finance Process: Objectives</vt:lpstr>
      <vt:lpstr>Finance Process: Delivery Status</vt:lpstr>
      <vt:lpstr>Finance Process: Proposed Next Steps</vt:lpstr>
      <vt:lpstr>Staff Training Empowerment and Motivation </vt:lpstr>
      <vt:lpstr>STEAM: Objectives</vt:lpstr>
      <vt:lpstr>STEAM: Delivery Status</vt:lpstr>
      <vt:lpstr>STEAM: Proposed Next Steps</vt:lpstr>
      <vt:lpstr>Research Enterprise Initiative Report-Out: Session 2</vt:lpstr>
      <vt:lpstr>PowerPoint Presentation</vt:lpstr>
      <vt:lpstr>IT &amp; Data Governance </vt:lpstr>
      <vt:lpstr>IT &amp; Data Governance: Objectives</vt:lpstr>
      <vt:lpstr>IT &amp; Data Governance: Delivery Status</vt:lpstr>
      <vt:lpstr>IT &amp; Data Governance: Proposed Next Steps</vt:lpstr>
      <vt:lpstr>FERSS </vt:lpstr>
      <vt:lpstr>FERSS: Objectives</vt:lpstr>
      <vt:lpstr>FERSS: Delivery Status</vt:lpstr>
      <vt:lpstr>FERSS: Proposed Next Steps</vt:lpstr>
      <vt:lpstr>Central Research HR Function </vt:lpstr>
      <vt:lpstr>Central Research HR Function: Objectives</vt:lpstr>
      <vt:lpstr>Central Research HR Function: Delivery Status</vt:lpstr>
      <vt:lpstr>Central Research HR Function: Proposed Next Steps</vt:lpstr>
      <vt:lpstr>Partnered Research Program </vt:lpstr>
      <vt:lpstr>PRP: Objectives</vt:lpstr>
      <vt:lpstr>PRP: Delivery Status</vt:lpstr>
      <vt:lpstr>PRP: Delivery Status (continued)</vt:lpstr>
      <vt:lpstr>PRP: Delivery Status (continued)</vt:lpstr>
      <vt:lpstr>PRP: Proposed Next Steps</vt:lpstr>
      <vt:lpstr>Appendix:  Organizational Alignment Roadmap   </vt:lpstr>
      <vt:lpstr>PowerPoint Presentation</vt:lpstr>
      <vt:lpstr>PowerPoint Presentation</vt:lpstr>
      <vt:lpstr>Appendix: Actively Managed Portfolios Roadmap </vt:lpstr>
      <vt:lpstr>AMP Initiative Roadmap Overview</vt:lpstr>
      <vt:lpstr>Appendix:  Finance Process Roadmap </vt:lpstr>
      <vt:lpstr>Project Plan with proposed activities and status</vt:lpstr>
      <vt:lpstr>Finance Initiative Objectives: Status as of August 2022</vt:lpstr>
      <vt:lpstr>Appendix:  STEAM Roadmap </vt:lpstr>
      <vt:lpstr>Staff Development and Mentoring Initiative High-Level Roadmap and Goals</vt:lpstr>
      <vt:lpstr>Appendix: IT &amp; Data Governance Roadmap </vt:lpstr>
      <vt:lpstr>PowerPoint Presentation</vt:lpstr>
      <vt:lpstr>PowerPoint Presentation</vt:lpstr>
      <vt:lpstr>Process &amp; Anatomy of Strategic Plan</vt:lpstr>
      <vt:lpstr>System-of-Systems: Framework for understanding environment</vt:lpstr>
      <vt:lpstr>Appendix: FERSS Roadmap </vt:lpstr>
      <vt:lpstr>Centralized Field Support Contract High-Level Roadmap</vt:lpstr>
      <vt:lpstr>Centralized Field Support Contract High-Level Roadmap</vt:lpstr>
      <vt:lpstr>Appendix: Central Research HR Function Roadmap </vt:lpstr>
      <vt:lpstr>Central Research HR Function High-Level Roadmap</vt:lpstr>
      <vt:lpstr>Appendix: Partnered Research Program Roadmap </vt:lpstr>
      <vt:lpstr>Enhanced Partnered Research Program High-Level Roadmap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Enterprise Report Out-Session 1 8-17-22 (Power Point presentation)</dc:title>
  <dc:creator/>
  <cp:lastModifiedBy/>
  <cp:revision>4</cp:revision>
  <dcterms:created xsi:type="dcterms:W3CDTF">2022-08-19T15:08:42Z</dcterms:created>
  <dcterms:modified xsi:type="dcterms:W3CDTF">2022-10-11T12:54:35Z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0x010100F670CDE65625E449B41BBE9E2A9D6E5A</vt:lpwstr>
  </property>
  <property fmtid="{D5CDD505-2E9C-101B-9397-08002B2CF9AE}" pid="3" name="MSIP_Label_7f97ea9d-daff-4c91-a4f1-55d953dbb0fc_Enabled">
    <vt:lpwstr>true</vt:lpwstr>
  </property>
  <property fmtid="{D5CDD505-2E9C-101B-9397-08002B2CF9AE}" pid="4" name="MSIP_Label_7f97ea9d-daff-4c91-a4f1-55d953dbb0fc_SetDate">
    <vt:lpwstr>2022-08-24T15:04:15Z</vt:lpwstr>
  </property>
  <property fmtid="{D5CDD505-2E9C-101B-9397-08002B2CF9AE}" pid="5" name="MSIP_Label_7f97ea9d-daff-4c91-a4f1-55d953dbb0fc_Method">
    <vt:lpwstr>Standard</vt:lpwstr>
  </property>
  <property fmtid="{D5CDD505-2E9C-101B-9397-08002B2CF9AE}" pid="6" name="MSIP_Label_7f97ea9d-daff-4c91-a4f1-55d953dbb0fc_Name">
    <vt:lpwstr>Public</vt:lpwstr>
  </property>
  <property fmtid="{D5CDD505-2E9C-101B-9397-08002B2CF9AE}" pid="7" name="MSIP_Label_7f97ea9d-daff-4c91-a4f1-55d953dbb0fc_SiteId">
    <vt:lpwstr>58196b33-812d-4eb0-ad27-fc2dd9de53eb</vt:lpwstr>
  </property>
  <property fmtid="{D5CDD505-2E9C-101B-9397-08002B2CF9AE}" pid="8" name="MSIP_Label_7f97ea9d-daff-4c91-a4f1-55d953dbb0fc_ActionId">
    <vt:lpwstr>f09e0d92-bd57-4269-85b1-bf9583e0bb15</vt:lpwstr>
  </property>
  <property fmtid="{D5CDD505-2E9C-101B-9397-08002B2CF9AE}" pid="9" name="MSIP_Label_7f97ea9d-daff-4c91-a4f1-55d953dbb0fc_ContentBits">
    <vt:lpwstr>0</vt:lpwstr>
  </property>
  <property fmtid="{D5CDD505-2E9C-101B-9397-08002B2CF9AE}" pid="10" name="MediaServiceImageTags">
    <vt:lpwstr/>
  </property>
</Properties>
</file>