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7.xml" ContentType="application/vnd.openxmlformats-officedocument.them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24.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25.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 id="2147483709" r:id="rId5"/>
    <p:sldMasterId id="2147483720" r:id="rId6"/>
    <p:sldMasterId id="2147483730" r:id="rId7"/>
    <p:sldMasterId id="2147483749" r:id="rId8"/>
    <p:sldMasterId id="2147483762" r:id="rId9"/>
    <p:sldMasterId id="2147483778" r:id="rId10"/>
  </p:sldMasterIdLst>
  <p:notesMasterIdLst>
    <p:notesMasterId r:id="rId51"/>
  </p:notesMasterIdLst>
  <p:sldIdLst>
    <p:sldId id="2147479703" r:id="rId11"/>
    <p:sldId id="2147479768" r:id="rId12"/>
    <p:sldId id="2147479770" r:id="rId13"/>
    <p:sldId id="2147479771" r:id="rId14"/>
    <p:sldId id="2147479769" r:id="rId15"/>
    <p:sldId id="2147479705" r:id="rId16"/>
    <p:sldId id="2147479706" r:id="rId17"/>
    <p:sldId id="2147479523" r:id="rId18"/>
    <p:sldId id="2147479366" r:id="rId19"/>
    <p:sldId id="2147479697" r:id="rId20"/>
    <p:sldId id="269" r:id="rId21"/>
    <p:sldId id="2147479718" r:id="rId22"/>
    <p:sldId id="2147479698" r:id="rId23"/>
    <p:sldId id="2147479637" r:id="rId24"/>
    <p:sldId id="2147479707" r:id="rId25"/>
    <p:sldId id="2147479683" r:id="rId26"/>
    <p:sldId id="2147479673" r:id="rId27"/>
    <p:sldId id="2147479714" r:id="rId28"/>
    <p:sldId id="2147479807" r:id="rId29"/>
    <p:sldId id="2147479808" r:id="rId30"/>
    <p:sldId id="2147479804" r:id="rId31"/>
    <p:sldId id="2134806510" r:id="rId32"/>
    <p:sldId id="2147479805" r:id="rId33"/>
    <p:sldId id="2147479699" r:id="rId34"/>
    <p:sldId id="2147479700" r:id="rId35"/>
    <p:sldId id="2147479765" r:id="rId36"/>
    <p:sldId id="2147479664" r:id="rId37"/>
    <p:sldId id="2147479398" r:id="rId38"/>
    <p:sldId id="2147479587" r:id="rId39"/>
    <p:sldId id="2147479381" r:id="rId40"/>
    <p:sldId id="2147479717" r:id="rId41"/>
    <p:sldId id="2147479080" r:id="rId42"/>
    <p:sldId id="2147479668" r:id="rId43"/>
    <p:sldId id="2147479701" r:id="rId44"/>
    <p:sldId id="2147479713" r:id="rId45"/>
    <p:sldId id="2147479565" r:id="rId46"/>
    <p:sldId id="2147479086" r:id="rId47"/>
    <p:sldId id="2147479712" r:id="rId48"/>
    <p:sldId id="256" r:id="rId49"/>
    <p:sldId id="257" r:id="rId50"/>
  </p:sldIdLst>
  <p:sldSz cx="12192000" cy="6858000"/>
  <p:notesSz cx="6858000" cy="9144000"/>
  <p:custDataLst>
    <p:tags r:id="rId5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6FE4692-666F-4594-91AC-1B4AC2361C7A}">
          <p14:sldIdLst>
            <p14:sldId id="2147479703"/>
            <p14:sldId id="2147479768"/>
            <p14:sldId id="2147479770"/>
            <p14:sldId id="2147479771"/>
            <p14:sldId id="2147479769"/>
            <p14:sldId id="2147479705"/>
            <p14:sldId id="2147479706"/>
            <p14:sldId id="2147479523"/>
            <p14:sldId id="2147479366"/>
            <p14:sldId id="2147479697"/>
            <p14:sldId id="269"/>
            <p14:sldId id="2147479718"/>
            <p14:sldId id="2147479698"/>
            <p14:sldId id="2147479637"/>
            <p14:sldId id="2147479707"/>
            <p14:sldId id="2147479683"/>
            <p14:sldId id="2147479673"/>
            <p14:sldId id="2147479714"/>
            <p14:sldId id="2147479807"/>
            <p14:sldId id="2147479808"/>
            <p14:sldId id="2147479804"/>
            <p14:sldId id="2134806510"/>
            <p14:sldId id="2147479805"/>
            <p14:sldId id="2147479699"/>
            <p14:sldId id="2147479700"/>
            <p14:sldId id="2147479765"/>
            <p14:sldId id="2147479664"/>
            <p14:sldId id="2147479398"/>
            <p14:sldId id="2147479587"/>
            <p14:sldId id="2147479381"/>
            <p14:sldId id="2147479717"/>
            <p14:sldId id="2147479080"/>
            <p14:sldId id="2147479668"/>
            <p14:sldId id="2147479701"/>
            <p14:sldId id="2147479713"/>
            <p14:sldId id="2147479565"/>
            <p14:sldId id="2147479086"/>
          </p14:sldIdLst>
        </p14:section>
        <p14:section name="Appendix" id="{D596EFA8-8B60-4BFF-B85D-64947382163E}">
          <p14:sldIdLst>
            <p14:sldId id="2147479712"/>
            <p14:sldId id="256"/>
            <p14:sldId id="25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4005304-9AFC-E221-F557-7C6D3F5799F5}" name="Caroline Mwonga" initials="" userId="S::Caroline.Mwonga@riospartners.com::51e2a6b6-a60a-490c-b1e8-b63fd0836ae8" providerId="AD"/>
  <p188:author id="{D897750E-553E-EC82-7661-0E3882829F45}" name="Bever, Christopher T. (he/him/his)" initials="BCT(" userId="S::Christopher.Bever@va.gov::df010063-44d1-4def-990c-afcca8fb522a" providerId="AD"/>
  <p188:author id="{DAF9BE24-C389-53B1-30E4-C0F84E939D08}" name="Maharsi Naidu" initials="MN" userId="S::Maharsi.Naidu@riospartners.com::e85744f3-8b54-425a-86a4-db59ac33e407" providerId="AD"/>
  <p188:author id="{B074395C-85C5-3E47-CBC6-1123EFDA27D5}" name="Walsh, Mary B." initials="WMB" userId="S::Mary.Walsh3@va.gov::5ff9e56b-5373-4810-8592-78e78c808496" providerId="AD"/>
  <p188:author id="{76EDBFB5-E740-2647-247B-A202E9AE07B3}" name="Elizabeth Whiting" initials="EW" userId="S::elizabeth.whiting@riospartners.com::7b59e6d8-2fb0-4215-9c5e-b0c2b653420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002F56"/>
    <a:srgbClr val="000000"/>
    <a:srgbClr val="F2DCDB"/>
    <a:srgbClr val="D9D9D9"/>
    <a:srgbClr val="EBF1D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77C9039-44CA-4082-920C-B39F61C5983B}" v="68" dt="2024-09-11T20:21:32.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401" autoAdjust="0"/>
  </p:normalViewPr>
  <p:slideViewPr>
    <p:cSldViewPr snapToGrid="0">
      <p:cViewPr varScale="1">
        <p:scale>
          <a:sx n="102" d="100"/>
          <a:sy n="102"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slide" Target="slides/slide32.xml"/><Relationship Id="rId47" Type="http://schemas.openxmlformats.org/officeDocument/2006/relationships/slide" Target="slides/slide37.xml"/><Relationship Id="rId50" Type="http://schemas.openxmlformats.org/officeDocument/2006/relationships/slide" Target="slides/slide40.xml"/><Relationship Id="rId55"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slide" Target="slides/slide35.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9.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microsoft.com/office/2018/10/relationships/authors" Target="authors.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e Mwonga" userId="51e2a6b6-a60a-490c-b1e8-b63fd0836ae8" providerId="ADAL" clId="{777C9039-44CA-4082-920C-B39F61C5983B}"/>
    <pc:docChg chg="undo custSel addSld delSld modSld modSection">
      <pc:chgData name="Caroline Mwonga" userId="51e2a6b6-a60a-490c-b1e8-b63fd0836ae8" providerId="ADAL" clId="{777C9039-44CA-4082-920C-B39F61C5983B}" dt="2024-09-11T20:28:14.572" v="877" actId="14100"/>
      <pc:docMkLst>
        <pc:docMk/>
      </pc:docMkLst>
      <pc:sldChg chg="addSp delSp modSp mod">
        <pc:chgData name="Caroline Mwonga" userId="51e2a6b6-a60a-490c-b1e8-b63fd0836ae8" providerId="ADAL" clId="{777C9039-44CA-4082-920C-B39F61C5983B}" dt="2024-09-09T17:19:39.997" v="516" actId="478"/>
        <pc:sldMkLst>
          <pc:docMk/>
          <pc:sldMk cId="2656073936" sldId="2134806510"/>
        </pc:sldMkLst>
        <pc:spChg chg="add mod">
          <ac:chgData name="Caroline Mwonga" userId="51e2a6b6-a60a-490c-b1e8-b63fd0836ae8" providerId="ADAL" clId="{777C9039-44CA-4082-920C-B39F61C5983B}" dt="2024-09-09T14:10:49.150" v="125"/>
          <ac:spMkLst>
            <pc:docMk/>
            <pc:sldMk cId="2656073936" sldId="2134806510"/>
            <ac:spMk id="4" creationId="{A1A70C98-D325-E71D-ADFC-38E60CF22AA2}"/>
          </ac:spMkLst>
        </pc:spChg>
        <pc:spChg chg="add del mod">
          <ac:chgData name="Caroline Mwonga" userId="51e2a6b6-a60a-490c-b1e8-b63fd0836ae8" providerId="ADAL" clId="{777C9039-44CA-4082-920C-B39F61C5983B}" dt="2024-09-09T17:19:39.997" v="516" actId="478"/>
          <ac:spMkLst>
            <pc:docMk/>
            <pc:sldMk cId="2656073936" sldId="2134806510"/>
            <ac:spMk id="5" creationId="{E418417D-58D9-736E-86A4-676AD95FA3F0}"/>
          </ac:spMkLst>
        </pc:spChg>
      </pc:sldChg>
      <pc:sldChg chg="addSp modSp">
        <pc:chgData name="Caroline Mwonga" userId="51e2a6b6-a60a-490c-b1e8-b63fd0836ae8" providerId="ADAL" clId="{777C9039-44CA-4082-920C-B39F61C5983B}" dt="2024-09-09T14:11:43.213" v="136"/>
        <pc:sldMkLst>
          <pc:docMk/>
          <pc:sldMk cId="2861931429" sldId="2147479381"/>
        </pc:sldMkLst>
        <pc:spChg chg="add mod">
          <ac:chgData name="Caroline Mwonga" userId="51e2a6b6-a60a-490c-b1e8-b63fd0836ae8" providerId="ADAL" clId="{777C9039-44CA-4082-920C-B39F61C5983B}" dt="2024-09-09T14:11:43.213" v="136"/>
          <ac:spMkLst>
            <pc:docMk/>
            <pc:sldMk cId="2861931429" sldId="2147479381"/>
            <ac:spMk id="4" creationId="{BFE73FBA-3058-4210-4AA5-38EBBAA8760F}"/>
          </ac:spMkLst>
        </pc:spChg>
      </pc:sldChg>
      <pc:sldChg chg="addSp modSp del">
        <pc:chgData name="Caroline Mwonga" userId="51e2a6b6-a60a-490c-b1e8-b63fd0836ae8" providerId="ADAL" clId="{777C9039-44CA-4082-920C-B39F61C5983B}" dt="2024-09-09T17:11:04.531" v="510" actId="47"/>
        <pc:sldMkLst>
          <pc:docMk/>
          <pc:sldMk cId="3946953337" sldId="2147479387"/>
        </pc:sldMkLst>
        <pc:spChg chg="add mod">
          <ac:chgData name="Caroline Mwonga" userId="51e2a6b6-a60a-490c-b1e8-b63fd0836ae8" providerId="ADAL" clId="{777C9039-44CA-4082-920C-B39F61C5983B}" dt="2024-09-09T14:10:36.704" v="123"/>
          <ac:spMkLst>
            <pc:docMk/>
            <pc:sldMk cId="3946953337" sldId="2147479387"/>
            <ac:spMk id="2" creationId="{B4D0B60F-82EC-74D6-2431-5A0C308FC44C}"/>
          </ac:spMkLst>
        </pc:spChg>
      </pc:sldChg>
      <pc:sldChg chg="del">
        <pc:chgData name="Caroline Mwonga" userId="51e2a6b6-a60a-490c-b1e8-b63fd0836ae8" providerId="ADAL" clId="{777C9039-44CA-4082-920C-B39F61C5983B}" dt="2024-09-09T17:11:04.531" v="510" actId="47"/>
        <pc:sldMkLst>
          <pc:docMk/>
          <pc:sldMk cId="2234621929" sldId="2147479566"/>
        </pc:sldMkLst>
      </pc:sldChg>
      <pc:sldChg chg="addSp modSp">
        <pc:chgData name="Caroline Mwonga" userId="51e2a6b6-a60a-490c-b1e8-b63fd0836ae8" providerId="ADAL" clId="{777C9039-44CA-4082-920C-B39F61C5983B}" dt="2024-09-09T14:11:40.293" v="135"/>
        <pc:sldMkLst>
          <pc:docMk/>
          <pc:sldMk cId="108176107" sldId="2147479587"/>
        </pc:sldMkLst>
        <pc:spChg chg="add mod">
          <ac:chgData name="Caroline Mwonga" userId="51e2a6b6-a60a-490c-b1e8-b63fd0836ae8" providerId="ADAL" clId="{777C9039-44CA-4082-920C-B39F61C5983B}" dt="2024-09-09T14:11:40.293" v="135"/>
          <ac:spMkLst>
            <pc:docMk/>
            <pc:sldMk cId="108176107" sldId="2147479587"/>
            <ac:spMk id="5" creationId="{29A23CB8-3BD2-180A-90BC-4CAEA85F53C3}"/>
          </ac:spMkLst>
        </pc:spChg>
      </pc:sldChg>
      <pc:sldChg chg="addSp delSp modSp mod">
        <pc:chgData name="Caroline Mwonga" userId="51e2a6b6-a60a-490c-b1e8-b63fd0836ae8" providerId="ADAL" clId="{777C9039-44CA-4082-920C-B39F61C5983B}" dt="2024-09-09T14:10:14.625" v="120" actId="478"/>
        <pc:sldMkLst>
          <pc:docMk/>
          <pc:sldMk cId="928673601" sldId="2147479637"/>
        </pc:sldMkLst>
        <pc:spChg chg="add mod">
          <ac:chgData name="Caroline Mwonga" userId="51e2a6b6-a60a-490c-b1e8-b63fd0836ae8" providerId="ADAL" clId="{777C9039-44CA-4082-920C-B39F61C5983B}" dt="2024-09-09T14:10:10.688" v="119"/>
          <ac:spMkLst>
            <pc:docMk/>
            <pc:sldMk cId="928673601" sldId="2147479637"/>
            <ac:spMk id="2" creationId="{5C7EF5CD-AF2B-7A7E-6838-B247A640F2E1}"/>
          </ac:spMkLst>
        </pc:spChg>
        <pc:spChg chg="del">
          <ac:chgData name="Caroline Mwonga" userId="51e2a6b6-a60a-490c-b1e8-b63fd0836ae8" providerId="ADAL" clId="{777C9039-44CA-4082-920C-B39F61C5983B}" dt="2024-09-09T14:10:14.625" v="120" actId="478"/>
          <ac:spMkLst>
            <pc:docMk/>
            <pc:sldMk cId="928673601" sldId="2147479637"/>
            <ac:spMk id="5" creationId="{2BCABE8C-1B75-102C-0A69-856B7F87FC37}"/>
          </ac:spMkLst>
        </pc:spChg>
      </pc:sldChg>
      <pc:sldChg chg="addSp modSp del">
        <pc:chgData name="Caroline Mwonga" userId="51e2a6b6-a60a-490c-b1e8-b63fd0836ae8" providerId="ADAL" clId="{777C9039-44CA-4082-920C-B39F61C5983B}" dt="2024-09-09T14:15:22.273" v="334" actId="47"/>
        <pc:sldMkLst>
          <pc:docMk/>
          <pc:sldMk cId="991415655" sldId="2147479695"/>
        </pc:sldMkLst>
        <pc:spChg chg="add mod">
          <ac:chgData name="Caroline Mwonga" userId="51e2a6b6-a60a-490c-b1e8-b63fd0836ae8" providerId="ADAL" clId="{777C9039-44CA-4082-920C-B39F61C5983B}" dt="2024-09-09T14:11:29.410" v="134"/>
          <ac:spMkLst>
            <pc:docMk/>
            <pc:sldMk cId="991415655" sldId="2147479695"/>
            <ac:spMk id="5" creationId="{8895C2AF-AEB4-BA1F-31BE-3E0D054E9337}"/>
          </ac:spMkLst>
        </pc:spChg>
      </pc:sldChg>
      <pc:sldChg chg="addSp delSp modSp mod">
        <pc:chgData name="Caroline Mwonga" userId="51e2a6b6-a60a-490c-b1e8-b63fd0836ae8" providerId="ADAL" clId="{777C9039-44CA-4082-920C-B39F61C5983B}" dt="2024-09-09T17:19:46.221" v="518" actId="478"/>
        <pc:sldMkLst>
          <pc:docMk/>
          <pc:sldMk cId="2926294699" sldId="2147479699"/>
        </pc:sldMkLst>
        <pc:spChg chg="mod">
          <ac:chgData name="Caroline Mwonga" userId="51e2a6b6-a60a-490c-b1e8-b63fd0836ae8" providerId="ADAL" clId="{777C9039-44CA-4082-920C-B39F61C5983B}" dt="2024-09-09T14:22:03.718" v="426" actId="1076"/>
          <ac:spMkLst>
            <pc:docMk/>
            <pc:sldMk cId="2926294699" sldId="2147479699"/>
            <ac:spMk id="3" creationId="{6F4B9500-C5CC-9E63-4A26-CF6F7E0D94E7}"/>
          </ac:spMkLst>
        </pc:spChg>
        <pc:spChg chg="add mod">
          <ac:chgData name="Caroline Mwonga" userId="51e2a6b6-a60a-490c-b1e8-b63fd0836ae8" providerId="ADAL" clId="{777C9039-44CA-4082-920C-B39F61C5983B}" dt="2024-09-09T14:10:57.849" v="127"/>
          <ac:spMkLst>
            <pc:docMk/>
            <pc:sldMk cId="2926294699" sldId="2147479699"/>
            <ac:spMk id="5" creationId="{FF85CEC9-5948-5B74-CEDA-1F8E974D81DD}"/>
          </ac:spMkLst>
        </pc:spChg>
        <pc:spChg chg="add del mod">
          <ac:chgData name="Caroline Mwonga" userId="51e2a6b6-a60a-490c-b1e8-b63fd0836ae8" providerId="ADAL" clId="{777C9039-44CA-4082-920C-B39F61C5983B}" dt="2024-09-09T17:19:46.221" v="518" actId="478"/>
          <ac:spMkLst>
            <pc:docMk/>
            <pc:sldMk cId="2926294699" sldId="2147479699"/>
            <ac:spMk id="6" creationId="{C9B5B2EB-A792-AC1D-AB79-897724E20CE8}"/>
          </ac:spMkLst>
        </pc:spChg>
        <pc:graphicFrameChg chg="mod modGraphic">
          <ac:chgData name="Caroline Mwonga" userId="51e2a6b6-a60a-490c-b1e8-b63fd0836ae8" providerId="ADAL" clId="{777C9039-44CA-4082-920C-B39F61C5983B}" dt="2024-09-09T14:24:05.759" v="446" actId="122"/>
          <ac:graphicFrameMkLst>
            <pc:docMk/>
            <pc:sldMk cId="2926294699" sldId="2147479699"/>
            <ac:graphicFrameMk id="4" creationId="{9AE6FD54-623F-F067-9385-4D25D3DDBF2E}"/>
          </ac:graphicFrameMkLst>
        </pc:graphicFrameChg>
      </pc:sldChg>
      <pc:sldChg chg="addSp delSp modSp mod">
        <pc:chgData name="Caroline Mwonga" userId="51e2a6b6-a60a-490c-b1e8-b63fd0836ae8" providerId="ADAL" clId="{777C9039-44CA-4082-920C-B39F61C5983B}" dt="2024-09-09T17:19:49.095" v="519" actId="478"/>
        <pc:sldMkLst>
          <pc:docMk/>
          <pc:sldMk cId="3855861765" sldId="2147479700"/>
        </pc:sldMkLst>
        <pc:spChg chg="add mod">
          <ac:chgData name="Caroline Mwonga" userId="51e2a6b6-a60a-490c-b1e8-b63fd0836ae8" providerId="ADAL" clId="{777C9039-44CA-4082-920C-B39F61C5983B}" dt="2024-09-09T14:11:00.852" v="128"/>
          <ac:spMkLst>
            <pc:docMk/>
            <pc:sldMk cId="3855861765" sldId="2147479700"/>
            <ac:spMk id="4" creationId="{015991DB-34FF-FBF0-2459-D6693FF307A0}"/>
          </ac:spMkLst>
        </pc:spChg>
        <pc:spChg chg="add del mod">
          <ac:chgData name="Caroline Mwonga" userId="51e2a6b6-a60a-490c-b1e8-b63fd0836ae8" providerId="ADAL" clId="{777C9039-44CA-4082-920C-B39F61C5983B}" dt="2024-09-09T17:19:49.095" v="519" actId="478"/>
          <ac:spMkLst>
            <pc:docMk/>
            <pc:sldMk cId="3855861765" sldId="2147479700"/>
            <ac:spMk id="5" creationId="{AA74D878-FBE1-95F6-0EB5-89B5F1F4E32E}"/>
          </ac:spMkLst>
        </pc:spChg>
      </pc:sldChg>
      <pc:sldChg chg="modSp mod">
        <pc:chgData name="Caroline Mwonga" userId="51e2a6b6-a60a-490c-b1e8-b63fd0836ae8" providerId="ADAL" clId="{777C9039-44CA-4082-920C-B39F61C5983B}" dt="2024-09-11T20:25:55.614" v="809" actId="404"/>
        <pc:sldMkLst>
          <pc:docMk/>
          <pc:sldMk cId="3371717785" sldId="2147479703"/>
        </pc:sldMkLst>
        <pc:spChg chg="mod">
          <ac:chgData name="Caroline Mwonga" userId="51e2a6b6-a60a-490c-b1e8-b63fd0836ae8" providerId="ADAL" clId="{777C9039-44CA-4082-920C-B39F61C5983B}" dt="2024-09-11T20:25:55.614" v="809" actId="404"/>
          <ac:spMkLst>
            <pc:docMk/>
            <pc:sldMk cId="3371717785" sldId="2147479703"/>
            <ac:spMk id="2" creationId="{FE7231E0-9C50-ACC0-BDDF-D31C1E201521}"/>
          </ac:spMkLst>
        </pc:spChg>
        <pc:spChg chg="mod">
          <ac:chgData name="Caroline Mwonga" userId="51e2a6b6-a60a-490c-b1e8-b63fd0836ae8" providerId="ADAL" clId="{777C9039-44CA-4082-920C-B39F61C5983B}" dt="2024-09-09T14:09:27.452" v="114" actId="1076"/>
          <ac:spMkLst>
            <pc:docMk/>
            <pc:sldMk cId="3371717785" sldId="2147479703"/>
            <ac:spMk id="5" creationId="{6015F954-B41B-CAAD-D7B0-15F12C76A74C}"/>
          </ac:spMkLst>
        </pc:spChg>
      </pc:sldChg>
      <pc:sldChg chg="addSp modSp">
        <pc:chgData name="Caroline Mwonga" userId="51e2a6b6-a60a-490c-b1e8-b63fd0836ae8" providerId="ADAL" clId="{777C9039-44CA-4082-920C-B39F61C5983B}" dt="2024-09-09T14:09:46.749" v="116"/>
        <pc:sldMkLst>
          <pc:docMk/>
          <pc:sldMk cId="2590757764" sldId="2147479705"/>
        </pc:sldMkLst>
        <pc:spChg chg="add mod">
          <ac:chgData name="Caroline Mwonga" userId="51e2a6b6-a60a-490c-b1e8-b63fd0836ae8" providerId="ADAL" clId="{777C9039-44CA-4082-920C-B39F61C5983B}" dt="2024-09-09T14:09:46.749" v="116"/>
          <ac:spMkLst>
            <pc:docMk/>
            <pc:sldMk cId="2590757764" sldId="2147479705"/>
            <ac:spMk id="5" creationId="{8199A25E-09AC-AFF8-F233-38EA03C02DFB}"/>
          </ac:spMkLst>
        </pc:spChg>
      </pc:sldChg>
      <pc:sldChg chg="addSp modSp">
        <pc:chgData name="Caroline Mwonga" userId="51e2a6b6-a60a-490c-b1e8-b63fd0836ae8" providerId="ADAL" clId="{777C9039-44CA-4082-920C-B39F61C5983B}" dt="2024-09-09T14:09:50.814" v="117"/>
        <pc:sldMkLst>
          <pc:docMk/>
          <pc:sldMk cId="714511012" sldId="2147479706"/>
        </pc:sldMkLst>
        <pc:spChg chg="add mod">
          <ac:chgData name="Caroline Mwonga" userId="51e2a6b6-a60a-490c-b1e8-b63fd0836ae8" providerId="ADAL" clId="{777C9039-44CA-4082-920C-B39F61C5983B}" dt="2024-09-09T14:09:50.814" v="117"/>
          <ac:spMkLst>
            <pc:docMk/>
            <pc:sldMk cId="714511012" sldId="2147479706"/>
            <ac:spMk id="4" creationId="{887C7412-D15D-C405-0EC7-8A89D845908C}"/>
          </ac:spMkLst>
        </pc:spChg>
      </pc:sldChg>
      <pc:sldChg chg="del">
        <pc:chgData name="Caroline Mwonga" userId="51e2a6b6-a60a-490c-b1e8-b63fd0836ae8" providerId="ADAL" clId="{777C9039-44CA-4082-920C-B39F61C5983B}" dt="2024-09-09T14:15:22.273" v="334" actId="47"/>
        <pc:sldMkLst>
          <pc:docMk/>
          <pc:sldMk cId="3487389900" sldId="2147479711"/>
        </pc:sldMkLst>
      </pc:sldChg>
      <pc:sldChg chg="addSp modSp">
        <pc:chgData name="Caroline Mwonga" userId="51e2a6b6-a60a-490c-b1e8-b63fd0836ae8" providerId="ADAL" clId="{777C9039-44CA-4082-920C-B39F61C5983B}" dt="2024-09-09T14:10:27.387" v="122"/>
        <pc:sldMkLst>
          <pc:docMk/>
          <pc:sldMk cId="1930806710" sldId="2147479714"/>
        </pc:sldMkLst>
        <pc:spChg chg="add mod">
          <ac:chgData name="Caroline Mwonga" userId="51e2a6b6-a60a-490c-b1e8-b63fd0836ae8" providerId="ADAL" clId="{777C9039-44CA-4082-920C-B39F61C5983B}" dt="2024-09-09T14:10:27.387" v="122"/>
          <ac:spMkLst>
            <pc:docMk/>
            <pc:sldMk cId="1930806710" sldId="2147479714"/>
            <ac:spMk id="3" creationId="{751E910D-6292-7318-AEF8-FA89A6E48D4D}"/>
          </ac:spMkLst>
        </pc:spChg>
      </pc:sldChg>
      <pc:sldChg chg="addSp modSp">
        <pc:chgData name="Caroline Mwonga" userId="51e2a6b6-a60a-490c-b1e8-b63fd0836ae8" providerId="ADAL" clId="{777C9039-44CA-4082-920C-B39F61C5983B}" dt="2024-09-09T14:10:02.336" v="118"/>
        <pc:sldMkLst>
          <pc:docMk/>
          <pc:sldMk cId="972780007" sldId="2147479718"/>
        </pc:sldMkLst>
        <pc:spChg chg="add mod">
          <ac:chgData name="Caroline Mwonga" userId="51e2a6b6-a60a-490c-b1e8-b63fd0836ae8" providerId="ADAL" clId="{777C9039-44CA-4082-920C-B39F61C5983B}" dt="2024-09-09T14:10:02.336" v="118"/>
          <ac:spMkLst>
            <pc:docMk/>
            <pc:sldMk cId="972780007" sldId="2147479718"/>
            <ac:spMk id="2" creationId="{F10957CF-6352-ECCF-2C4D-463C9AE15A9F}"/>
          </ac:spMkLst>
        </pc:spChg>
      </pc:sldChg>
      <pc:sldChg chg="addSp delSp modSp mod">
        <pc:chgData name="Caroline Mwonga" userId="51e2a6b6-a60a-490c-b1e8-b63fd0836ae8" providerId="ADAL" clId="{777C9039-44CA-4082-920C-B39F61C5983B}" dt="2024-09-09T14:11:25.605" v="133"/>
        <pc:sldMkLst>
          <pc:docMk/>
          <pc:sldMk cId="4208734723" sldId="2147479765"/>
        </pc:sldMkLst>
        <pc:spChg chg="del">
          <ac:chgData name="Caroline Mwonga" userId="51e2a6b6-a60a-490c-b1e8-b63fd0836ae8" providerId="ADAL" clId="{777C9039-44CA-4082-920C-B39F61C5983B}" dt="2024-09-09T14:11:23.661" v="132" actId="478"/>
          <ac:spMkLst>
            <pc:docMk/>
            <pc:sldMk cId="4208734723" sldId="2147479765"/>
            <ac:spMk id="2" creationId="{9F9D9441-7485-762C-2423-E5FAF2B17B5F}"/>
          </ac:spMkLst>
        </pc:spChg>
        <pc:spChg chg="add mod">
          <ac:chgData name="Caroline Mwonga" userId="51e2a6b6-a60a-490c-b1e8-b63fd0836ae8" providerId="ADAL" clId="{777C9039-44CA-4082-920C-B39F61C5983B}" dt="2024-09-09T14:11:25.605" v="133"/>
          <ac:spMkLst>
            <pc:docMk/>
            <pc:sldMk cId="4208734723" sldId="2147479765"/>
            <ac:spMk id="14" creationId="{E31B9BD4-228E-5F33-CF85-843A4D1CDE66}"/>
          </ac:spMkLst>
        </pc:spChg>
      </pc:sldChg>
      <pc:sldChg chg="delSp modSp mod">
        <pc:chgData name="Caroline Mwonga" userId="51e2a6b6-a60a-490c-b1e8-b63fd0836ae8" providerId="ADAL" clId="{777C9039-44CA-4082-920C-B39F61C5983B}" dt="2024-09-09T14:16:07.155" v="337" actId="20577"/>
        <pc:sldMkLst>
          <pc:docMk/>
          <pc:sldMk cId="2367659027" sldId="2147479768"/>
        </pc:sldMkLst>
        <pc:spChg chg="mod">
          <ac:chgData name="Caroline Mwonga" userId="51e2a6b6-a60a-490c-b1e8-b63fd0836ae8" providerId="ADAL" clId="{777C9039-44CA-4082-920C-B39F61C5983B}" dt="2024-09-09T14:16:07.155" v="337" actId="20577"/>
          <ac:spMkLst>
            <pc:docMk/>
            <pc:sldMk cId="2367659027" sldId="2147479768"/>
            <ac:spMk id="4" creationId="{EA14DB50-B8FC-1EB6-410E-A10A0D81ED70}"/>
          </ac:spMkLst>
        </pc:spChg>
        <pc:spChg chg="del">
          <ac:chgData name="Caroline Mwonga" userId="51e2a6b6-a60a-490c-b1e8-b63fd0836ae8" providerId="ADAL" clId="{777C9039-44CA-4082-920C-B39F61C5983B}" dt="2024-09-09T14:04:43.280" v="86" actId="21"/>
          <ac:spMkLst>
            <pc:docMk/>
            <pc:sldMk cId="2367659027" sldId="2147479768"/>
            <ac:spMk id="5" creationId="{086A63C0-B4CC-7500-4F42-1F21217D749C}"/>
          </ac:spMkLst>
        </pc:spChg>
      </pc:sldChg>
      <pc:sldChg chg="addSp delSp modSp mod">
        <pc:chgData name="Caroline Mwonga" userId="51e2a6b6-a60a-490c-b1e8-b63fd0836ae8" providerId="ADAL" clId="{777C9039-44CA-4082-920C-B39F61C5983B}" dt="2024-09-09T14:09:13.433" v="111" actId="478"/>
        <pc:sldMkLst>
          <pc:docMk/>
          <pc:sldMk cId="885838446" sldId="2147479769"/>
        </pc:sldMkLst>
        <pc:spChg chg="mod">
          <ac:chgData name="Caroline Mwonga" userId="51e2a6b6-a60a-490c-b1e8-b63fd0836ae8" providerId="ADAL" clId="{777C9039-44CA-4082-920C-B39F61C5983B}" dt="2024-09-09T14:04:10.466" v="25" actId="20577"/>
          <ac:spMkLst>
            <pc:docMk/>
            <pc:sldMk cId="885838446" sldId="2147479769"/>
            <ac:spMk id="4" creationId="{25513B2F-E191-C856-B7FD-C4ADBB6E1B69}"/>
          </ac:spMkLst>
        </pc:spChg>
        <pc:spChg chg="add del">
          <ac:chgData name="Caroline Mwonga" userId="51e2a6b6-a60a-490c-b1e8-b63fd0836ae8" providerId="ADAL" clId="{777C9039-44CA-4082-920C-B39F61C5983B}" dt="2024-09-09T14:09:13.433" v="111" actId="478"/>
          <ac:spMkLst>
            <pc:docMk/>
            <pc:sldMk cId="885838446" sldId="2147479769"/>
            <ac:spMk id="5" creationId="{0AD3791F-C1AD-3FB3-608E-0C6DFB71FCAA}"/>
          </ac:spMkLst>
        </pc:spChg>
      </pc:sldChg>
      <pc:sldChg chg="addSp delSp modSp mod">
        <pc:chgData name="Caroline Mwonga" userId="51e2a6b6-a60a-490c-b1e8-b63fd0836ae8" providerId="ADAL" clId="{777C9039-44CA-4082-920C-B39F61C5983B}" dt="2024-09-09T14:09:15.685" v="112" actId="478"/>
        <pc:sldMkLst>
          <pc:docMk/>
          <pc:sldMk cId="2309503199" sldId="2147479770"/>
        </pc:sldMkLst>
        <pc:spChg chg="add mod">
          <ac:chgData name="Caroline Mwonga" userId="51e2a6b6-a60a-490c-b1e8-b63fd0836ae8" providerId="ADAL" clId="{777C9039-44CA-4082-920C-B39F61C5983B}" dt="2024-09-09T14:09:07.409" v="108"/>
          <ac:spMkLst>
            <pc:docMk/>
            <pc:sldMk cId="2309503199" sldId="2147479770"/>
            <ac:spMk id="2" creationId="{339C9E4D-E48D-2F28-248F-8222EB133ECB}"/>
          </ac:spMkLst>
        </pc:spChg>
        <pc:spChg chg="add mod">
          <ac:chgData name="Caroline Mwonga" userId="51e2a6b6-a60a-490c-b1e8-b63fd0836ae8" providerId="ADAL" clId="{777C9039-44CA-4082-920C-B39F61C5983B}" dt="2024-09-09T14:09:12.850" v="110"/>
          <ac:spMkLst>
            <pc:docMk/>
            <pc:sldMk cId="2309503199" sldId="2147479770"/>
            <ac:spMk id="3" creationId="{24CA2C60-9C3D-380E-84A3-0AD57FDADD41}"/>
          </ac:spMkLst>
        </pc:spChg>
        <pc:spChg chg="mod">
          <ac:chgData name="Caroline Mwonga" userId="51e2a6b6-a60a-490c-b1e8-b63fd0836ae8" providerId="ADAL" clId="{777C9039-44CA-4082-920C-B39F61C5983B}" dt="2024-09-09T14:04:34.805" v="77" actId="20577"/>
          <ac:spMkLst>
            <pc:docMk/>
            <pc:sldMk cId="2309503199" sldId="2147479770"/>
            <ac:spMk id="4" creationId="{25513B2F-E191-C856-B7FD-C4ADBB6E1B69}"/>
          </ac:spMkLst>
        </pc:spChg>
        <pc:spChg chg="add del">
          <ac:chgData name="Caroline Mwonga" userId="51e2a6b6-a60a-490c-b1e8-b63fd0836ae8" providerId="ADAL" clId="{777C9039-44CA-4082-920C-B39F61C5983B}" dt="2024-09-09T14:09:15.685" v="112" actId="478"/>
          <ac:spMkLst>
            <pc:docMk/>
            <pc:sldMk cId="2309503199" sldId="2147479770"/>
            <ac:spMk id="5" creationId="{0AD3791F-C1AD-3FB3-608E-0C6DFB71FCAA}"/>
          </ac:spMkLst>
        </pc:spChg>
      </pc:sldChg>
      <pc:sldChg chg="addSp delSp modSp new mod modClrScheme chgLayout">
        <pc:chgData name="Caroline Mwonga" userId="51e2a6b6-a60a-490c-b1e8-b63fd0836ae8" providerId="ADAL" clId="{777C9039-44CA-4082-920C-B39F61C5983B}" dt="2024-09-11T20:28:14.572" v="877" actId="14100"/>
        <pc:sldMkLst>
          <pc:docMk/>
          <pc:sldMk cId="1937418396" sldId="2147479771"/>
        </pc:sldMkLst>
        <pc:spChg chg="del mod ord">
          <ac:chgData name="Caroline Mwonga" userId="51e2a6b6-a60a-490c-b1e8-b63fd0836ae8" providerId="ADAL" clId="{777C9039-44CA-4082-920C-B39F61C5983B}" dt="2024-09-09T14:05:16.049" v="88" actId="700"/>
          <ac:spMkLst>
            <pc:docMk/>
            <pc:sldMk cId="1937418396" sldId="2147479771"/>
            <ac:spMk id="2" creationId="{FBA2C341-EEEA-40B9-3AB2-3443E28FFAE7}"/>
          </ac:spMkLst>
        </pc:spChg>
        <pc:spChg chg="add mod ord">
          <ac:chgData name="Caroline Mwonga" userId="51e2a6b6-a60a-490c-b1e8-b63fd0836ae8" providerId="ADAL" clId="{777C9039-44CA-4082-920C-B39F61C5983B}" dt="2024-09-11T20:23:52" v="783" actId="20577"/>
          <ac:spMkLst>
            <pc:docMk/>
            <pc:sldMk cId="1937418396" sldId="2147479771"/>
            <ac:spMk id="3" creationId="{92B93A33-8935-3A7A-B0C2-3403B48AE925}"/>
          </ac:spMkLst>
        </pc:spChg>
        <pc:spChg chg="add del mod ord">
          <ac:chgData name="Caroline Mwonga" userId="51e2a6b6-a60a-490c-b1e8-b63fd0836ae8" providerId="ADAL" clId="{777C9039-44CA-4082-920C-B39F61C5983B}" dt="2024-09-09T14:05:20.461" v="89" actId="478"/>
          <ac:spMkLst>
            <pc:docMk/>
            <pc:sldMk cId="1937418396" sldId="2147479771"/>
            <ac:spMk id="4" creationId="{063D3734-254A-4ED1-EFD3-587375B3D5D1}"/>
          </ac:spMkLst>
        </pc:spChg>
        <pc:spChg chg="add mod">
          <ac:chgData name="Caroline Mwonga" userId="51e2a6b6-a60a-490c-b1e8-b63fd0836ae8" providerId="ADAL" clId="{777C9039-44CA-4082-920C-B39F61C5983B}" dt="2024-09-11T20:28:14.572" v="877" actId="14100"/>
          <ac:spMkLst>
            <pc:docMk/>
            <pc:sldMk cId="1937418396" sldId="2147479771"/>
            <ac:spMk id="5" creationId="{086A63C0-B4CC-7500-4F42-1F21217D749C}"/>
          </ac:spMkLst>
        </pc:spChg>
        <pc:spChg chg="add mod">
          <ac:chgData name="Caroline Mwonga" userId="51e2a6b6-a60a-490c-b1e8-b63fd0836ae8" providerId="ADAL" clId="{777C9039-44CA-4082-920C-B39F61C5983B}" dt="2024-09-09T14:08:41.019" v="104"/>
          <ac:spMkLst>
            <pc:docMk/>
            <pc:sldMk cId="1937418396" sldId="2147479771"/>
            <ac:spMk id="6" creationId="{3E13553B-81F0-17B4-9D32-95EDB70C3402}"/>
          </ac:spMkLst>
        </pc:spChg>
        <pc:spChg chg="add mod">
          <ac:chgData name="Caroline Mwonga" userId="51e2a6b6-a60a-490c-b1e8-b63fd0836ae8" providerId="ADAL" clId="{777C9039-44CA-4082-920C-B39F61C5983B}" dt="2024-09-09T14:09:37.824" v="115"/>
          <ac:spMkLst>
            <pc:docMk/>
            <pc:sldMk cId="1937418396" sldId="2147479771"/>
            <ac:spMk id="7" creationId="{BF7D0AC7-A7DF-4860-195F-8DD94E5851F9}"/>
          </ac:spMkLst>
        </pc:spChg>
        <pc:picChg chg="add mod">
          <ac:chgData name="Caroline Mwonga" userId="51e2a6b6-a60a-490c-b1e8-b63fd0836ae8" providerId="ADAL" clId="{777C9039-44CA-4082-920C-B39F61C5983B}" dt="2024-09-11T20:28:04.636" v="873" actId="1076"/>
          <ac:picMkLst>
            <pc:docMk/>
            <pc:sldMk cId="1937418396" sldId="2147479771"/>
            <ac:picMk id="2" creationId="{5280CA07-5EB0-4AB0-1A9F-E8D64445C1CC}"/>
          </ac:picMkLst>
        </pc:picChg>
        <pc:picChg chg="add del mod">
          <ac:chgData name="Caroline Mwonga" userId="51e2a6b6-a60a-490c-b1e8-b63fd0836ae8" providerId="ADAL" clId="{777C9039-44CA-4082-920C-B39F61C5983B}" dt="2024-09-11T20:18:37.242" v="524" actId="478"/>
          <ac:picMkLst>
            <pc:docMk/>
            <pc:sldMk cId="1937418396" sldId="2147479771"/>
            <ac:picMk id="1026" creationId="{40ABBC21-5867-0520-B1E8-E3FE52F9B979}"/>
          </ac:picMkLst>
        </pc:picChg>
        <pc:picChg chg="add del mod">
          <ac:chgData name="Caroline Mwonga" userId="51e2a6b6-a60a-490c-b1e8-b63fd0836ae8" providerId="ADAL" clId="{777C9039-44CA-4082-920C-B39F61C5983B}" dt="2024-09-11T20:20:54.883" v="672" actId="478"/>
          <ac:picMkLst>
            <pc:docMk/>
            <pc:sldMk cId="1937418396" sldId="2147479771"/>
            <ac:picMk id="1028" creationId="{D13D74FF-67EE-AFB9-0A8F-E5B1B072BDB3}"/>
          </ac:picMkLst>
        </pc:picChg>
      </pc:sldChg>
      <pc:sldChg chg="addSp modSp del">
        <pc:chgData name="Caroline Mwonga" userId="51e2a6b6-a60a-490c-b1e8-b63fd0836ae8" providerId="ADAL" clId="{777C9039-44CA-4082-920C-B39F61C5983B}" dt="2024-09-09T16:31:52.828" v="509" actId="2696"/>
        <pc:sldMkLst>
          <pc:docMk/>
          <pc:sldMk cId="2982868282" sldId="2147479801"/>
        </pc:sldMkLst>
        <pc:spChg chg="add mod">
          <ac:chgData name="Caroline Mwonga" userId="51e2a6b6-a60a-490c-b1e8-b63fd0836ae8" providerId="ADAL" clId="{777C9039-44CA-4082-920C-B39F61C5983B}" dt="2024-09-09T14:11:05.721" v="129"/>
          <ac:spMkLst>
            <pc:docMk/>
            <pc:sldMk cId="2982868282" sldId="2147479801"/>
            <ac:spMk id="4" creationId="{4ED53601-D2D2-A43D-1099-94366A2195FE}"/>
          </ac:spMkLst>
        </pc:spChg>
        <pc:spChg chg="add mod">
          <ac:chgData name="Caroline Mwonga" userId="51e2a6b6-a60a-490c-b1e8-b63fd0836ae8" providerId="ADAL" clId="{777C9039-44CA-4082-920C-B39F61C5983B}" dt="2024-09-09T14:15:02.879" v="331"/>
          <ac:spMkLst>
            <pc:docMk/>
            <pc:sldMk cId="2982868282" sldId="2147479801"/>
            <ac:spMk id="5" creationId="{6DB9C747-C5CE-7CE4-DDD5-D85C9B0ECAB1}"/>
          </ac:spMkLst>
        </pc:spChg>
      </pc:sldChg>
      <pc:sldChg chg="addSp modSp del mod">
        <pc:chgData name="Caroline Mwonga" userId="51e2a6b6-a60a-490c-b1e8-b63fd0836ae8" providerId="ADAL" clId="{777C9039-44CA-4082-920C-B39F61C5983B}" dt="2024-09-09T16:31:27.922" v="507" actId="2696"/>
        <pc:sldMkLst>
          <pc:docMk/>
          <pc:sldMk cId="1428328012" sldId="2147479802"/>
        </pc:sldMkLst>
        <pc:spChg chg="mod">
          <ac:chgData name="Caroline Mwonga" userId="51e2a6b6-a60a-490c-b1e8-b63fd0836ae8" providerId="ADAL" clId="{777C9039-44CA-4082-920C-B39F61C5983B}" dt="2024-09-09T14:25:04.182" v="450" actId="255"/>
          <ac:spMkLst>
            <pc:docMk/>
            <pc:sldMk cId="1428328012" sldId="2147479802"/>
            <ac:spMk id="3" creationId="{6F4B9500-C5CC-9E63-4A26-CF6F7E0D94E7}"/>
          </ac:spMkLst>
        </pc:spChg>
        <pc:spChg chg="add mod">
          <ac:chgData name="Caroline Mwonga" userId="51e2a6b6-a60a-490c-b1e8-b63fd0836ae8" providerId="ADAL" clId="{777C9039-44CA-4082-920C-B39F61C5983B}" dt="2024-09-09T14:11:10.282" v="130"/>
          <ac:spMkLst>
            <pc:docMk/>
            <pc:sldMk cId="1428328012" sldId="2147479802"/>
            <ac:spMk id="4" creationId="{A38CCE2A-20F3-D9B0-D020-7910C4203A56}"/>
          </ac:spMkLst>
        </pc:spChg>
        <pc:spChg chg="add mod">
          <ac:chgData name="Caroline Mwonga" userId="51e2a6b6-a60a-490c-b1e8-b63fd0836ae8" providerId="ADAL" clId="{777C9039-44CA-4082-920C-B39F61C5983B}" dt="2024-09-09T14:15:06.930" v="332"/>
          <ac:spMkLst>
            <pc:docMk/>
            <pc:sldMk cId="1428328012" sldId="2147479802"/>
            <ac:spMk id="5" creationId="{536BDFE1-2320-2302-26A0-F4E226F074A2}"/>
          </ac:spMkLst>
        </pc:spChg>
      </pc:sldChg>
      <pc:sldChg chg="addSp modSp del mod">
        <pc:chgData name="Caroline Mwonga" userId="51e2a6b6-a60a-490c-b1e8-b63fd0836ae8" providerId="ADAL" clId="{777C9039-44CA-4082-920C-B39F61C5983B}" dt="2024-09-09T16:31:39.450" v="508" actId="2696"/>
        <pc:sldMkLst>
          <pc:docMk/>
          <pc:sldMk cId="705975082" sldId="2147479803"/>
        </pc:sldMkLst>
        <pc:spChg chg="mod">
          <ac:chgData name="Caroline Mwonga" userId="51e2a6b6-a60a-490c-b1e8-b63fd0836ae8" providerId="ADAL" clId="{777C9039-44CA-4082-920C-B39F61C5983B}" dt="2024-09-09T14:25:40.387" v="451" actId="255"/>
          <ac:spMkLst>
            <pc:docMk/>
            <pc:sldMk cId="705975082" sldId="2147479803"/>
            <ac:spMk id="3" creationId="{6F4B9500-C5CC-9E63-4A26-CF6F7E0D94E7}"/>
          </ac:spMkLst>
        </pc:spChg>
        <pc:spChg chg="add mod">
          <ac:chgData name="Caroline Mwonga" userId="51e2a6b6-a60a-490c-b1e8-b63fd0836ae8" providerId="ADAL" clId="{777C9039-44CA-4082-920C-B39F61C5983B}" dt="2024-09-09T14:11:18.378" v="131"/>
          <ac:spMkLst>
            <pc:docMk/>
            <pc:sldMk cId="705975082" sldId="2147479803"/>
            <ac:spMk id="4" creationId="{09AAA022-2DED-0D55-D6F5-2E1D3892E559}"/>
          </ac:spMkLst>
        </pc:spChg>
        <pc:spChg chg="add mod">
          <ac:chgData name="Caroline Mwonga" userId="51e2a6b6-a60a-490c-b1e8-b63fd0836ae8" providerId="ADAL" clId="{777C9039-44CA-4082-920C-B39F61C5983B}" dt="2024-09-09T14:15:11.448" v="333"/>
          <ac:spMkLst>
            <pc:docMk/>
            <pc:sldMk cId="705975082" sldId="2147479803"/>
            <ac:spMk id="5" creationId="{8A8D1DF1-0CC7-2B42-F180-5EC8F690440B}"/>
          </ac:spMkLst>
        </pc:spChg>
      </pc:sldChg>
      <pc:sldChg chg="addSp delSp modSp mod">
        <pc:chgData name="Caroline Mwonga" userId="51e2a6b6-a60a-490c-b1e8-b63fd0836ae8" providerId="ADAL" clId="{777C9039-44CA-4082-920C-B39F61C5983B}" dt="2024-09-11T20:27:07.718" v="868" actId="20577"/>
        <pc:sldMkLst>
          <pc:docMk/>
          <pc:sldMk cId="3777509074" sldId="2147479804"/>
        </pc:sldMkLst>
        <pc:spChg chg="mod">
          <ac:chgData name="Caroline Mwonga" userId="51e2a6b6-a60a-490c-b1e8-b63fd0836ae8" providerId="ADAL" clId="{777C9039-44CA-4082-920C-B39F61C5983B}" dt="2024-09-11T20:27:07.718" v="868" actId="20577"/>
          <ac:spMkLst>
            <pc:docMk/>
            <pc:sldMk cId="3777509074" sldId="2147479804"/>
            <ac:spMk id="3" creationId="{6F4B9500-C5CC-9E63-4A26-CF6F7E0D94E7}"/>
          </ac:spMkLst>
        </pc:spChg>
        <pc:spChg chg="add mod">
          <ac:chgData name="Caroline Mwonga" userId="51e2a6b6-a60a-490c-b1e8-b63fd0836ae8" providerId="ADAL" clId="{777C9039-44CA-4082-920C-B39F61C5983B}" dt="2024-09-09T14:10:44.996" v="124"/>
          <ac:spMkLst>
            <pc:docMk/>
            <pc:sldMk cId="3777509074" sldId="2147479804"/>
            <ac:spMk id="4" creationId="{836AB4DA-BD97-C83C-58C3-90EBD5EE219C}"/>
          </ac:spMkLst>
        </pc:spChg>
        <pc:spChg chg="add del mod">
          <ac:chgData name="Caroline Mwonga" userId="51e2a6b6-a60a-490c-b1e8-b63fd0836ae8" providerId="ADAL" clId="{777C9039-44CA-4082-920C-B39F61C5983B}" dt="2024-09-09T17:19:36.824" v="515" actId="478"/>
          <ac:spMkLst>
            <pc:docMk/>
            <pc:sldMk cId="3777509074" sldId="2147479804"/>
            <ac:spMk id="5" creationId="{0067B776-1F9A-87B9-9D07-C97C4BF7D6CB}"/>
          </ac:spMkLst>
        </pc:spChg>
      </pc:sldChg>
      <pc:sldChg chg="addSp delSp modSp mod">
        <pc:chgData name="Caroline Mwonga" userId="51e2a6b6-a60a-490c-b1e8-b63fd0836ae8" providerId="ADAL" clId="{777C9039-44CA-4082-920C-B39F61C5983B}" dt="2024-09-09T17:19:42.574" v="517" actId="478"/>
        <pc:sldMkLst>
          <pc:docMk/>
          <pc:sldMk cId="4003553797" sldId="2147479805"/>
        </pc:sldMkLst>
        <pc:spChg chg="mod">
          <ac:chgData name="Caroline Mwonga" userId="51e2a6b6-a60a-490c-b1e8-b63fd0836ae8" providerId="ADAL" clId="{777C9039-44CA-4082-920C-B39F61C5983B}" dt="2024-09-09T14:20:11.687" v="409" actId="1076"/>
          <ac:spMkLst>
            <pc:docMk/>
            <pc:sldMk cId="4003553797" sldId="2147479805"/>
            <ac:spMk id="3" creationId="{6F4B9500-C5CC-9E63-4A26-CF6F7E0D94E7}"/>
          </ac:spMkLst>
        </pc:spChg>
        <pc:spChg chg="add mod">
          <ac:chgData name="Caroline Mwonga" userId="51e2a6b6-a60a-490c-b1e8-b63fd0836ae8" providerId="ADAL" clId="{777C9039-44CA-4082-920C-B39F61C5983B}" dt="2024-09-09T14:10:53.351" v="126"/>
          <ac:spMkLst>
            <pc:docMk/>
            <pc:sldMk cId="4003553797" sldId="2147479805"/>
            <ac:spMk id="4" creationId="{1B73DAA6-AB87-9B0F-044A-5AA687BB2CDB}"/>
          </ac:spMkLst>
        </pc:spChg>
        <pc:spChg chg="add del mod">
          <ac:chgData name="Caroline Mwonga" userId="51e2a6b6-a60a-490c-b1e8-b63fd0836ae8" providerId="ADAL" clId="{777C9039-44CA-4082-920C-B39F61C5983B}" dt="2024-09-09T17:19:42.574" v="517" actId="478"/>
          <ac:spMkLst>
            <pc:docMk/>
            <pc:sldMk cId="4003553797" sldId="2147479805"/>
            <ac:spMk id="5" creationId="{D6663E1D-82ED-053D-848D-18919E1B735A}"/>
          </ac:spMkLst>
        </pc:spChg>
      </pc:sldChg>
      <pc:sldChg chg="del">
        <pc:chgData name="Caroline Mwonga" userId="51e2a6b6-a60a-490c-b1e8-b63fd0836ae8" providerId="ADAL" clId="{777C9039-44CA-4082-920C-B39F61C5983B}" dt="2024-09-09T17:19:29.531" v="514" actId="2696"/>
        <pc:sldMkLst>
          <pc:docMk/>
          <pc:sldMk cId="3369464792" sldId="2147479806"/>
        </pc:sldMkLst>
      </pc:sldChg>
      <pc:sldChg chg="delSp modSp mod">
        <pc:chgData name="Caroline Mwonga" userId="51e2a6b6-a60a-490c-b1e8-b63fd0836ae8" providerId="ADAL" clId="{777C9039-44CA-4082-920C-B39F61C5983B}" dt="2024-09-09T17:11:16.031" v="513" actId="478"/>
        <pc:sldMkLst>
          <pc:docMk/>
          <pc:sldMk cId="2644756400" sldId="2147479807"/>
        </pc:sldMkLst>
        <pc:spChg chg="mod">
          <ac:chgData name="Caroline Mwonga" userId="51e2a6b6-a60a-490c-b1e8-b63fd0836ae8" providerId="ADAL" clId="{777C9039-44CA-4082-920C-B39F61C5983B}" dt="2024-09-09T17:11:10.340" v="511" actId="20577"/>
          <ac:spMkLst>
            <pc:docMk/>
            <pc:sldMk cId="2644756400" sldId="2147479807"/>
            <ac:spMk id="5" creationId="{B5CE5904-81F6-1393-B68B-60601A839078}"/>
          </ac:spMkLst>
        </pc:spChg>
        <pc:spChg chg="mod">
          <ac:chgData name="Caroline Mwonga" userId="51e2a6b6-a60a-490c-b1e8-b63fd0836ae8" providerId="ADAL" clId="{777C9039-44CA-4082-920C-B39F61C5983B}" dt="2024-09-09T17:11:12.480" v="512" actId="20577"/>
          <ac:spMkLst>
            <pc:docMk/>
            <pc:sldMk cId="2644756400" sldId="2147479807"/>
            <ac:spMk id="6" creationId="{90FB3315-1E0E-9F57-D19E-C8D89B6FD101}"/>
          </ac:spMkLst>
        </pc:spChg>
        <pc:spChg chg="del">
          <ac:chgData name="Caroline Mwonga" userId="51e2a6b6-a60a-490c-b1e8-b63fd0836ae8" providerId="ADAL" clId="{777C9039-44CA-4082-920C-B39F61C5983B}" dt="2024-09-09T17:11:16.031" v="513" actId="478"/>
          <ac:spMkLst>
            <pc:docMk/>
            <pc:sldMk cId="2644756400" sldId="2147479807"/>
            <ac:spMk id="7" creationId="{1588FFDA-8C7C-9175-1FE7-5A137F1C140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B6D5D2-C66A-483C-A1AF-B1BF2DC4976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BB6EE928-5695-494F-BEC5-3911DDDCD918}">
      <dgm:prSet phldrT="[Text]"/>
      <dgm:spPr>
        <a:solidFill>
          <a:srgbClr val="00B050"/>
        </a:solidFill>
      </dgm:spPr>
      <dgm:t>
        <a:bodyPr/>
        <a:lstStyle/>
        <a:p>
          <a:r>
            <a:rPr lang="en-US" dirty="0"/>
            <a:t>Leadership Council</a:t>
          </a:r>
        </a:p>
      </dgm:t>
    </dgm:pt>
    <dgm:pt modelId="{208646B3-0D05-4F61-8A66-A70CD1677B1A}" type="parTrans" cxnId="{4248546C-F053-418F-B622-C8202F6EDD0C}">
      <dgm:prSet/>
      <dgm:spPr/>
      <dgm:t>
        <a:bodyPr/>
        <a:lstStyle/>
        <a:p>
          <a:endParaRPr lang="en-US"/>
        </a:p>
      </dgm:t>
    </dgm:pt>
    <dgm:pt modelId="{2EAEC75D-45EF-4B57-A4D1-D3A998594BF8}" type="sibTrans" cxnId="{4248546C-F053-418F-B622-C8202F6EDD0C}">
      <dgm:prSet/>
      <dgm:spPr/>
      <dgm:t>
        <a:bodyPr/>
        <a:lstStyle/>
        <a:p>
          <a:endParaRPr lang="en-US"/>
        </a:p>
      </dgm:t>
    </dgm:pt>
    <dgm:pt modelId="{30E94408-8E02-4648-A004-448DF587FC05}">
      <dgm:prSet phldrT="[Text]"/>
      <dgm:spPr>
        <a:solidFill>
          <a:srgbClr val="00B0F0"/>
        </a:solidFill>
      </dgm:spPr>
      <dgm:t>
        <a:bodyPr/>
        <a:lstStyle/>
        <a:p>
          <a:r>
            <a:rPr lang="en-US" dirty="0"/>
            <a:t>Traumatic Brain Injury </a:t>
          </a:r>
        </a:p>
      </dgm:t>
    </dgm:pt>
    <dgm:pt modelId="{52CB0853-947A-4B90-AEF3-D1423522539D}" type="parTrans" cxnId="{9CA1A91F-1C4D-4600-B8AE-05439FBA0401}">
      <dgm:prSet/>
      <dgm:spPr/>
      <dgm:t>
        <a:bodyPr/>
        <a:lstStyle/>
        <a:p>
          <a:endParaRPr lang="en-US"/>
        </a:p>
      </dgm:t>
    </dgm:pt>
    <dgm:pt modelId="{60CE2141-1230-4526-AA13-56F13A2C7827}" type="sibTrans" cxnId="{9CA1A91F-1C4D-4600-B8AE-05439FBA0401}">
      <dgm:prSet/>
      <dgm:spPr/>
      <dgm:t>
        <a:bodyPr/>
        <a:lstStyle/>
        <a:p>
          <a:endParaRPr lang="en-US"/>
        </a:p>
      </dgm:t>
    </dgm:pt>
    <dgm:pt modelId="{4109F201-BDF2-4D2C-8552-095CE142ACC4}">
      <dgm:prSet phldrT="[Text]"/>
      <dgm:spPr>
        <a:solidFill>
          <a:srgbClr val="00B0F0"/>
        </a:solidFill>
      </dgm:spPr>
      <dgm:t>
        <a:bodyPr/>
        <a:lstStyle/>
        <a:p>
          <a:r>
            <a:rPr lang="en-US" dirty="0"/>
            <a:t>Suicide Prevention</a:t>
          </a:r>
        </a:p>
      </dgm:t>
    </dgm:pt>
    <dgm:pt modelId="{2234DD10-C928-4213-8E95-FC02994DD702}" type="parTrans" cxnId="{2A4D8D23-297A-46A9-A599-022D17EFF430}">
      <dgm:prSet/>
      <dgm:spPr/>
      <dgm:t>
        <a:bodyPr/>
        <a:lstStyle/>
        <a:p>
          <a:endParaRPr lang="en-US"/>
        </a:p>
      </dgm:t>
    </dgm:pt>
    <dgm:pt modelId="{757313B4-C69F-45B6-8B4D-0D6C8531ADF0}" type="sibTrans" cxnId="{2A4D8D23-297A-46A9-A599-022D17EFF430}">
      <dgm:prSet/>
      <dgm:spPr/>
      <dgm:t>
        <a:bodyPr/>
        <a:lstStyle/>
        <a:p>
          <a:endParaRPr lang="en-US"/>
        </a:p>
      </dgm:t>
    </dgm:pt>
    <dgm:pt modelId="{C3FA83AA-A756-4A4C-9F7F-8394A67289A8}">
      <dgm:prSet phldrT="[Text]"/>
      <dgm:spPr>
        <a:solidFill>
          <a:srgbClr val="00B0F0"/>
        </a:solidFill>
      </dgm:spPr>
      <dgm:t>
        <a:bodyPr/>
        <a:lstStyle/>
        <a:p>
          <a:r>
            <a:rPr lang="en-US" dirty="0"/>
            <a:t>Pain/Opioid Use Disorders</a:t>
          </a:r>
        </a:p>
      </dgm:t>
    </dgm:pt>
    <dgm:pt modelId="{5164C0BB-BBA9-4AF3-A82F-586EC1D65210}" type="parTrans" cxnId="{C49E1A46-3A32-429C-841F-97E9AA86EDA1}">
      <dgm:prSet/>
      <dgm:spPr/>
      <dgm:t>
        <a:bodyPr/>
        <a:lstStyle/>
        <a:p>
          <a:endParaRPr lang="en-US"/>
        </a:p>
      </dgm:t>
    </dgm:pt>
    <dgm:pt modelId="{B3DDFB8E-3AB4-4822-9C2E-32B4944B716D}" type="sibTrans" cxnId="{C49E1A46-3A32-429C-841F-97E9AA86EDA1}">
      <dgm:prSet/>
      <dgm:spPr/>
      <dgm:t>
        <a:bodyPr/>
        <a:lstStyle/>
        <a:p>
          <a:endParaRPr lang="en-US"/>
        </a:p>
      </dgm:t>
    </dgm:pt>
    <dgm:pt modelId="{3D010FAB-502C-47DC-91EF-328E04DBA558}">
      <dgm:prSet/>
      <dgm:spPr>
        <a:solidFill>
          <a:srgbClr val="00B0F0"/>
        </a:solidFill>
      </dgm:spPr>
      <dgm:t>
        <a:bodyPr/>
        <a:lstStyle/>
        <a:p>
          <a:r>
            <a:rPr lang="en-US" dirty="0"/>
            <a:t>Military Exposures</a:t>
          </a:r>
        </a:p>
      </dgm:t>
    </dgm:pt>
    <dgm:pt modelId="{AC83EB4A-4228-4FC6-9FE6-0B84CFC89775}" type="parTrans" cxnId="{034EBB8A-9412-4D27-8873-1E5BF9D9E40E}">
      <dgm:prSet/>
      <dgm:spPr/>
      <dgm:t>
        <a:bodyPr/>
        <a:lstStyle/>
        <a:p>
          <a:endParaRPr lang="en-US"/>
        </a:p>
      </dgm:t>
    </dgm:pt>
    <dgm:pt modelId="{AFCC37C8-9D75-4B79-B64C-03D1913D925C}" type="sibTrans" cxnId="{034EBB8A-9412-4D27-8873-1E5BF9D9E40E}">
      <dgm:prSet/>
      <dgm:spPr/>
      <dgm:t>
        <a:bodyPr/>
        <a:lstStyle/>
        <a:p>
          <a:endParaRPr lang="en-US"/>
        </a:p>
      </dgm:t>
    </dgm:pt>
    <dgm:pt modelId="{702AF853-A472-41A5-A222-04382E977489}">
      <dgm:prSet/>
      <dgm:spPr>
        <a:solidFill>
          <a:srgbClr val="00B0F0"/>
        </a:solidFill>
      </dgm:spPr>
      <dgm:t>
        <a:bodyPr/>
        <a:lstStyle/>
        <a:p>
          <a:r>
            <a:rPr lang="en-US" dirty="0"/>
            <a:t>Precision Oncology</a:t>
          </a:r>
        </a:p>
      </dgm:t>
    </dgm:pt>
    <dgm:pt modelId="{13CEAF22-D59B-4DCE-AD9A-9E611C383C22}" type="parTrans" cxnId="{71F1B869-05EF-451A-AEF8-7049D0D7C5DC}">
      <dgm:prSet/>
      <dgm:spPr/>
      <dgm:t>
        <a:bodyPr/>
        <a:lstStyle/>
        <a:p>
          <a:endParaRPr lang="en-US"/>
        </a:p>
      </dgm:t>
    </dgm:pt>
    <dgm:pt modelId="{C23AAD3D-C800-4C1E-ABC8-FA935884239C}" type="sibTrans" cxnId="{71F1B869-05EF-451A-AEF8-7049D0D7C5DC}">
      <dgm:prSet/>
      <dgm:spPr/>
      <dgm:t>
        <a:bodyPr/>
        <a:lstStyle/>
        <a:p>
          <a:endParaRPr lang="en-US"/>
        </a:p>
      </dgm:t>
    </dgm:pt>
    <dgm:pt modelId="{77F003D5-3106-4FEF-8A37-165201F537C1}">
      <dgm:prSet/>
      <dgm:spPr/>
      <dgm:t>
        <a:bodyPr/>
        <a:lstStyle/>
        <a:p>
          <a:r>
            <a:rPr lang="en-US" dirty="0"/>
            <a:t>Health Systems Research</a:t>
          </a:r>
        </a:p>
      </dgm:t>
    </dgm:pt>
    <dgm:pt modelId="{DED520A9-9309-4B3E-8371-763688EA3068}" type="parTrans" cxnId="{17AF6FAE-4299-4B65-AC6F-8A654B0C7F48}">
      <dgm:prSet/>
      <dgm:spPr/>
      <dgm:t>
        <a:bodyPr/>
        <a:lstStyle/>
        <a:p>
          <a:endParaRPr lang="en-US"/>
        </a:p>
      </dgm:t>
    </dgm:pt>
    <dgm:pt modelId="{826900C9-457F-497B-95E6-204AC43BC0FE}" type="sibTrans" cxnId="{17AF6FAE-4299-4B65-AC6F-8A654B0C7F48}">
      <dgm:prSet/>
      <dgm:spPr/>
      <dgm:t>
        <a:bodyPr/>
        <a:lstStyle/>
        <a:p>
          <a:endParaRPr lang="en-US"/>
        </a:p>
      </dgm:t>
    </dgm:pt>
    <dgm:pt modelId="{220F2415-7374-45EA-AB6E-B5D88D202AB0}">
      <dgm:prSet/>
      <dgm:spPr/>
      <dgm:t>
        <a:bodyPr/>
        <a:lstStyle/>
        <a:p>
          <a:r>
            <a:rPr lang="en-US" dirty="0"/>
            <a:t>Rehabilitation Research Development and Translation</a:t>
          </a:r>
        </a:p>
      </dgm:t>
    </dgm:pt>
    <dgm:pt modelId="{E9E563F4-B010-423F-A6F0-1FA2E6776C82}" type="parTrans" cxnId="{00052200-1785-4538-876D-2CDBF642B3C2}">
      <dgm:prSet/>
      <dgm:spPr/>
      <dgm:t>
        <a:bodyPr/>
        <a:lstStyle/>
        <a:p>
          <a:endParaRPr lang="en-US"/>
        </a:p>
      </dgm:t>
    </dgm:pt>
    <dgm:pt modelId="{632DDA34-CD94-4F90-8E4A-90593852C7E3}" type="sibTrans" cxnId="{00052200-1785-4538-876D-2CDBF642B3C2}">
      <dgm:prSet/>
      <dgm:spPr/>
      <dgm:t>
        <a:bodyPr/>
        <a:lstStyle/>
        <a:p>
          <a:endParaRPr lang="en-US"/>
        </a:p>
      </dgm:t>
    </dgm:pt>
    <dgm:pt modelId="{70DC4EF0-4D43-40BB-9C98-8EAEAEAA0D85}">
      <dgm:prSet/>
      <dgm:spPr/>
      <dgm:t>
        <a:bodyPr/>
        <a:lstStyle/>
        <a:p>
          <a:r>
            <a:rPr lang="en-US" dirty="0"/>
            <a:t>Medical Health Research</a:t>
          </a:r>
        </a:p>
      </dgm:t>
    </dgm:pt>
    <dgm:pt modelId="{1D644EA1-BE76-442F-9922-D62A10A4B982}" type="parTrans" cxnId="{3596DC62-1D39-465C-A590-F7308C57F268}">
      <dgm:prSet/>
      <dgm:spPr/>
      <dgm:t>
        <a:bodyPr/>
        <a:lstStyle/>
        <a:p>
          <a:endParaRPr lang="en-US"/>
        </a:p>
      </dgm:t>
    </dgm:pt>
    <dgm:pt modelId="{F8123CD1-E53D-4CF5-ABEC-41B562341269}" type="sibTrans" cxnId="{3596DC62-1D39-465C-A590-F7308C57F268}">
      <dgm:prSet/>
      <dgm:spPr/>
      <dgm:t>
        <a:bodyPr/>
        <a:lstStyle/>
        <a:p>
          <a:endParaRPr lang="en-US"/>
        </a:p>
      </dgm:t>
    </dgm:pt>
    <dgm:pt modelId="{A1456305-23D6-4B0E-8643-A297ED907C95}">
      <dgm:prSet/>
      <dgm:spPr/>
      <dgm:t>
        <a:bodyPr/>
        <a:lstStyle/>
        <a:p>
          <a:r>
            <a:rPr lang="en-US" dirty="0"/>
            <a:t>Brain, Behavioral and Mental Health Research</a:t>
          </a:r>
        </a:p>
      </dgm:t>
    </dgm:pt>
    <dgm:pt modelId="{36C773FB-13E0-46E7-96BB-3E5FBD0B9E76}" type="parTrans" cxnId="{6021F9EF-931D-43E4-927D-3AF9BB94684A}">
      <dgm:prSet/>
      <dgm:spPr/>
      <dgm:t>
        <a:bodyPr/>
        <a:lstStyle/>
        <a:p>
          <a:endParaRPr lang="en-US"/>
        </a:p>
      </dgm:t>
    </dgm:pt>
    <dgm:pt modelId="{29DC4ED4-1B96-4500-BC84-D5F37350E223}" type="sibTrans" cxnId="{6021F9EF-931D-43E4-927D-3AF9BB94684A}">
      <dgm:prSet/>
      <dgm:spPr/>
      <dgm:t>
        <a:bodyPr/>
        <a:lstStyle/>
        <a:p>
          <a:endParaRPr lang="en-US"/>
        </a:p>
      </dgm:t>
    </dgm:pt>
    <dgm:pt modelId="{5F277F5A-A9EE-499B-B359-081EF4C0A907}" type="pres">
      <dgm:prSet presAssocID="{08B6D5D2-C66A-483C-A1AF-B1BF2DC49765}" presName="hierChild1" presStyleCnt="0">
        <dgm:presLayoutVars>
          <dgm:orgChart val="1"/>
          <dgm:chPref val="1"/>
          <dgm:dir/>
          <dgm:animOne val="branch"/>
          <dgm:animLvl val="lvl"/>
          <dgm:resizeHandles/>
        </dgm:presLayoutVars>
      </dgm:prSet>
      <dgm:spPr/>
    </dgm:pt>
    <dgm:pt modelId="{73FE7A23-0178-446F-B926-A7769299AD93}" type="pres">
      <dgm:prSet presAssocID="{BB6EE928-5695-494F-BEC5-3911DDDCD918}" presName="hierRoot1" presStyleCnt="0">
        <dgm:presLayoutVars>
          <dgm:hierBranch val="init"/>
        </dgm:presLayoutVars>
      </dgm:prSet>
      <dgm:spPr/>
    </dgm:pt>
    <dgm:pt modelId="{AA4A9584-E8BB-4C7D-801E-426CF7373E94}" type="pres">
      <dgm:prSet presAssocID="{BB6EE928-5695-494F-BEC5-3911DDDCD918}" presName="rootComposite1" presStyleCnt="0"/>
      <dgm:spPr/>
    </dgm:pt>
    <dgm:pt modelId="{5A1F0CA8-3957-4CAE-915B-024B5A6F204A}" type="pres">
      <dgm:prSet presAssocID="{BB6EE928-5695-494F-BEC5-3911DDDCD918}" presName="rootText1" presStyleLbl="node0" presStyleIdx="0" presStyleCnt="1" custLinFactNeighborY="-51098">
        <dgm:presLayoutVars>
          <dgm:chPref val="3"/>
        </dgm:presLayoutVars>
      </dgm:prSet>
      <dgm:spPr/>
    </dgm:pt>
    <dgm:pt modelId="{695BDD94-8D5A-4E49-8257-85EB2E2A2C46}" type="pres">
      <dgm:prSet presAssocID="{BB6EE928-5695-494F-BEC5-3911DDDCD918}" presName="rootConnector1" presStyleLbl="node1" presStyleIdx="0" presStyleCnt="0"/>
      <dgm:spPr/>
    </dgm:pt>
    <dgm:pt modelId="{E932D9A7-90AA-47AB-9080-007DA7B23401}" type="pres">
      <dgm:prSet presAssocID="{BB6EE928-5695-494F-BEC5-3911DDDCD918}" presName="hierChild2" presStyleCnt="0"/>
      <dgm:spPr/>
    </dgm:pt>
    <dgm:pt modelId="{66148B3A-8E34-4E96-9508-BCC7D97AA1C1}" type="pres">
      <dgm:prSet presAssocID="{52CB0853-947A-4B90-AEF3-D1423522539D}" presName="Name37" presStyleLbl="parChTrans1D2" presStyleIdx="0" presStyleCnt="9"/>
      <dgm:spPr/>
    </dgm:pt>
    <dgm:pt modelId="{F9D60E79-727D-4596-A969-DCA4AF9891C5}" type="pres">
      <dgm:prSet presAssocID="{30E94408-8E02-4648-A004-448DF587FC05}" presName="hierRoot2" presStyleCnt="0">
        <dgm:presLayoutVars>
          <dgm:hierBranch val="init"/>
        </dgm:presLayoutVars>
      </dgm:prSet>
      <dgm:spPr/>
    </dgm:pt>
    <dgm:pt modelId="{7829539B-2A63-4006-A1E5-92A467FAD9F0}" type="pres">
      <dgm:prSet presAssocID="{30E94408-8E02-4648-A004-448DF587FC05}" presName="rootComposite" presStyleCnt="0"/>
      <dgm:spPr/>
    </dgm:pt>
    <dgm:pt modelId="{FC612050-3DF4-489E-B1B7-243DC7F961C9}" type="pres">
      <dgm:prSet presAssocID="{30E94408-8E02-4648-A004-448DF587FC05}" presName="rootText" presStyleLbl="node2" presStyleIdx="0" presStyleCnt="9">
        <dgm:presLayoutVars>
          <dgm:chPref val="3"/>
        </dgm:presLayoutVars>
      </dgm:prSet>
      <dgm:spPr/>
    </dgm:pt>
    <dgm:pt modelId="{520237DE-E8A1-4B26-9E2E-8CCF2ECE8AAF}" type="pres">
      <dgm:prSet presAssocID="{30E94408-8E02-4648-A004-448DF587FC05}" presName="rootConnector" presStyleLbl="node2" presStyleIdx="0" presStyleCnt="9"/>
      <dgm:spPr/>
    </dgm:pt>
    <dgm:pt modelId="{59407EC9-C01F-4D44-8DA5-6E6EDA36619D}" type="pres">
      <dgm:prSet presAssocID="{30E94408-8E02-4648-A004-448DF587FC05}" presName="hierChild4" presStyleCnt="0"/>
      <dgm:spPr/>
    </dgm:pt>
    <dgm:pt modelId="{CD932169-22B8-4BAC-9FFA-908988CE765F}" type="pres">
      <dgm:prSet presAssocID="{30E94408-8E02-4648-A004-448DF587FC05}" presName="hierChild5" presStyleCnt="0"/>
      <dgm:spPr/>
    </dgm:pt>
    <dgm:pt modelId="{05D9BF9D-F445-490C-916F-0207C745FFF6}" type="pres">
      <dgm:prSet presAssocID="{2234DD10-C928-4213-8E95-FC02994DD702}" presName="Name37" presStyleLbl="parChTrans1D2" presStyleIdx="1" presStyleCnt="9"/>
      <dgm:spPr/>
    </dgm:pt>
    <dgm:pt modelId="{FB577917-A93A-4914-914F-4B3016FA9C01}" type="pres">
      <dgm:prSet presAssocID="{4109F201-BDF2-4D2C-8552-095CE142ACC4}" presName="hierRoot2" presStyleCnt="0">
        <dgm:presLayoutVars>
          <dgm:hierBranch val="init"/>
        </dgm:presLayoutVars>
      </dgm:prSet>
      <dgm:spPr/>
    </dgm:pt>
    <dgm:pt modelId="{BA4D8E7D-048D-4E90-9351-501CC7EFCCAE}" type="pres">
      <dgm:prSet presAssocID="{4109F201-BDF2-4D2C-8552-095CE142ACC4}" presName="rootComposite" presStyleCnt="0"/>
      <dgm:spPr/>
    </dgm:pt>
    <dgm:pt modelId="{57695B00-9D85-4A1B-8F50-DD7773C2A38C}" type="pres">
      <dgm:prSet presAssocID="{4109F201-BDF2-4D2C-8552-095CE142ACC4}" presName="rootText" presStyleLbl="node2" presStyleIdx="1" presStyleCnt="9">
        <dgm:presLayoutVars>
          <dgm:chPref val="3"/>
        </dgm:presLayoutVars>
      </dgm:prSet>
      <dgm:spPr/>
    </dgm:pt>
    <dgm:pt modelId="{F2B7AB57-4159-4EE2-B28A-3B7BD20BE11D}" type="pres">
      <dgm:prSet presAssocID="{4109F201-BDF2-4D2C-8552-095CE142ACC4}" presName="rootConnector" presStyleLbl="node2" presStyleIdx="1" presStyleCnt="9"/>
      <dgm:spPr/>
    </dgm:pt>
    <dgm:pt modelId="{8BA51426-17FD-4E91-BFB3-D85B78412386}" type="pres">
      <dgm:prSet presAssocID="{4109F201-BDF2-4D2C-8552-095CE142ACC4}" presName="hierChild4" presStyleCnt="0"/>
      <dgm:spPr/>
    </dgm:pt>
    <dgm:pt modelId="{33DE623D-9F11-4F61-99AF-40F79CD2DF38}" type="pres">
      <dgm:prSet presAssocID="{4109F201-BDF2-4D2C-8552-095CE142ACC4}" presName="hierChild5" presStyleCnt="0"/>
      <dgm:spPr/>
    </dgm:pt>
    <dgm:pt modelId="{7D9ADE14-1147-4564-9F40-7FFDBF96416F}" type="pres">
      <dgm:prSet presAssocID="{5164C0BB-BBA9-4AF3-A82F-586EC1D65210}" presName="Name37" presStyleLbl="parChTrans1D2" presStyleIdx="2" presStyleCnt="9"/>
      <dgm:spPr/>
    </dgm:pt>
    <dgm:pt modelId="{96630E91-7924-4FAC-81FB-6944B4ACDE65}" type="pres">
      <dgm:prSet presAssocID="{C3FA83AA-A756-4A4C-9F7F-8394A67289A8}" presName="hierRoot2" presStyleCnt="0">
        <dgm:presLayoutVars>
          <dgm:hierBranch val="init"/>
        </dgm:presLayoutVars>
      </dgm:prSet>
      <dgm:spPr/>
    </dgm:pt>
    <dgm:pt modelId="{91396014-3B99-4075-B8B6-0717659003E4}" type="pres">
      <dgm:prSet presAssocID="{C3FA83AA-A756-4A4C-9F7F-8394A67289A8}" presName="rootComposite" presStyleCnt="0"/>
      <dgm:spPr/>
    </dgm:pt>
    <dgm:pt modelId="{34874774-8A23-4BED-B921-5208E549DC8D}" type="pres">
      <dgm:prSet presAssocID="{C3FA83AA-A756-4A4C-9F7F-8394A67289A8}" presName="rootText" presStyleLbl="node2" presStyleIdx="2" presStyleCnt="9">
        <dgm:presLayoutVars>
          <dgm:chPref val="3"/>
        </dgm:presLayoutVars>
      </dgm:prSet>
      <dgm:spPr/>
    </dgm:pt>
    <dgm:pt modelId="{6C649E34-6D78-4807-A6F2-BFC3D5C56DA2}" type="pres">
      <dgm:prSet presAssocID="{C3FA83AA-A756-4A4C-9F7F-8394A67289A8}" presName="rootConnector" presStyleLbl="node2" presStyleIdx="2" presStyleCnt="9"/>
      <dgm:spPr/>
    </dgm:pt>
    <dgm:pt modelId="{4FF47759-CC10-4BA9-94E0-30F3F4EFE7AA}" type="pres">
      <dgm:prSet presAssocID="{C3FA83AA-A756-4A4C-9F7F-8394A67289A8}" presName="hierChild4" presStyleCnt="0"/>
      <dgm:spPr/>
    </dgm:pt>
    <dgm:pt modelId="{858CC62A-72DC-4D49-B4CF-388CC92D98C0}" type="pres">
      <dgm:prSet presAssocID="{C3FA83AA-A756-4A4C-9F7F-8394A67289A8}" presName="hierChild5" presStyleCnt="0"/>
      <dgm:spPr/>
    </dgm:pt>
    <dgm:pt modelId="{B3C298AB-2E63-4355-A2A2-4CA22B9DD125}" type="pres">
      <dgm:prSet presAssocID="{AC83EB4A-4228-4FC6-9FE6-0B84CFC89775}" presName="Name37" presStyleLbl="parChTrans1D2" presStyleIdx="3" presStyleCnt="9"/>
      <dgm:spPr/>
    </dgm:pt>
    <dgm:pt modelId="{0DFAC28A-3738-49A1-93E6-5F92F88D9649}" type="pres">
      <dgm:prSet presAssocID="{3D010FAB-502C-47DC-91EF-328E04DBA558}" presName="hierRoot2" presStyleCnt="0">
        <dgm:presLayoutVars>
          <dgm:hierBranch val="init"/>
        </dgm:presLayoutVars>
      </dgm:prSet>
      <dgm:spPr/>
    </dgm:pt>
    <dgm:pt modelId="{1D5320AF-E5F5-40D9-AA69-71BABA53C022}" type="pres">
      <dgm:prSet presAssocID="{3D010FAB-502C-47DC-91EF-328E04DBA558}" presName="rootComposite" presStyleCnt="0"/>
      <dgm:spPr/>
    </dgm:pt>
    <dgm:pt modelId="{6378EB43-EB4C-4EAE-A63F-E371BCEB05D9}" type="pres">
      <dgm:prSet presAssocID="{3D010FAB-502C-47DC-91EF-328E04DBA558}" presName="rootText" presStyleLbl="node2" presStyleIdx="3" presStyleCnt="9">
        <dgm:presLayoutVars>
          <dgm:chPref val="3"/>
        </dgm:presLayoutVars>
      </dgm:prSet>
      <dgm:spPr/>
    </dgm:pt>
    <dgm:pt modelId="{99AB59CE-251F-41BB-84C3-0138F15F389F}" type="pres">
      <dgm:prSet presAssocID="{3D010FAB-502C-47DC-91EF-328E04DBA558}" presName="rootConnector" presStyleLbl="node2" presStyleIdx="3" presStyleCnt="9"/>
      <dgm:spPr/>
    </dgm:pt>
    <dgm:pt modelId="{7325CB30-8CE7-412D-8E24-DED8E5774B58}" type="pres">
      <dgm:prSet presAssocID="{3D010FAB-502C-47DC-91EF-328E04DBA558}" presName="hierChild4" presStyleCnt="0"/>
      <dgm:spPr/>
    </dgm:pt>
    <dgm:pt modelId="{64804A09-AB52-446A-BE2B-5CB79BAAA633}" type="pres">
      <dgm:prSet presAssocID="{3D010FAB-502C-47DC-91EF-328E04DBA558}" presName="hierChild5" presStyleCnt="0"/>
      <dgm:spPr/>
    </dgm:pt>
    <dgm:pt modelId="{004134E2-723B-477E-9E6E-C813E0ACA002}" type="pres">
      <dgm:prSet presAssocID="{13CEAF22-D59B-4DCE-AD9A-9E611C383C22}" presName="Name37" presStyleLbl="parChTrans1D2" presStyleIdx="4" presStyleCnt="9"/>
      <dgm:spPr/>
    </dgm:pt>
    <dgm:pt modelId="{B5C990B1-D7FB-42EC-BF18-813E7760F2B4}" type="pres">
      <dgm:prSet presAssocID="{702AF853-A472-41A5-A222-04382E977489}" presName="hierRoot2" presStyleCnt="0">
        <dgm:presLayoutVars>
          <dgm:hierBranch val="init"/>
        </dgm:presLayoutVars>
      </dgm:prSet>
      <dgm:spPr/>
    </dgm:pt>
    <dgm:pt modelId="{5A4EBBB1-1D12-4D9D-8753-CC6CE2320B0A}" type="pres">
      <dgm:prSet presAssocID="{702AF853-A472-41A5-A222-04382E977489}" presName="rootComposite" presStyleCnt="0"/>
      <dgm:spPr/>
    </dgm:pt>
    <dgm:pt modelId="{A266CC78-E417-43CF-AFC8-180C1D80A0E7}" type="pres">
      <dgm:prSet presAssocID="{702AF853-A472-41A5-A222-04382E977489}" presName="rootText" presStyleLbl="node2" presStyleIdx="4" presStyleCnt="9">
        <dgm:presLayoutVars>
          <dgm:chPref val="3"/>
        </dgm:presLayoutVars>
      </dgm:prSet>
      <dgm:spPr/>
    </dgm:pt>
    <dgm:pt modelId="{0167FD8D-70A1-4613-ACD9-D7C52014A526}" type="pres">
      <dgm:prSet presAssocID="{702AF853-A472-41A5-A222-04382E977489}" presName="rootConnector" presStyleLbl="node2" presStyleIdx="4" presStyleCnt="9"/>
      <dgm:spPr/>
    </dgm:pt>
    <dgm:pt modelId="{1D0C0321-24BE-40DB-8D79-DCBDEE5702E7}" type="pres">
      <dgm:prSet presAssocID="{702AF853-A472-41A5-A222-04382E977489}" presName="hierChild4" presStyleCnt="0"/>
      <dgm:spPr/>
    </dgm:pt>
    <dgm:pt modelId="{BAF83A2A-F05A-425E-B48E-569CF3797DC2}" type="pres">
      <dgm:prSet presAssocID="{702AF853-A472-41A5-A222-04382E977489}" presName="hierChild5" presStyleCnt="0"/>
      <dgm:spPr/>
    </dgm:pt>
    <dgm:pt modelId="{AA7AD1AF-537D-4E0F-9066-0A7087792EAD}" type="pres">
      <dgm:prSet presAssocID="{DED520A9-9309-4B3E-8371-763688EA3068}" presName="Name37" presStyleLbl="parChTrans1D2" presStyleIdx="5" presStyleCnt="9"/>
      <dgm:spPr/>
    </dgm:pt>
    <dgm:pt modelId="{AD2CD791-4FF9-4FA8-94EF-7C4BCDE594C7}" type="pres">
      <dgm:prSet presAssocID="{77F003D5-3106-4FEF-8A37-165201F537C1}" presName="hierRoot2" presStyleCnt="0">
        <dgm:presLayoutVars>
          <dgm:hierBranch val="init"/>
        </dgm:presLayoutVars>
      </dgm:prSet>
      <dgm:spPr/>
    </dgm:pt>
    <dgm:pt modelId="{C8DBB609-31BA-4763-BF63-C2AB2D2E7F82}" type="pres">
      <dgm:prSet presAssocID="{77F003D5-3106-4FEF-8A37-165201F537C1}" presName="rootComposite" presStyleCnt="0"/>
      <dgm:spPr/>
    </dgm:pt>
    <dgm:pt modelId="{1FDB05AB-EBCA-4FF6-805B-4E1C6F5527B7}" type="pres">
      <dgm:prSet presAssocID="{77F003D5-3106-4FEF-8A37-165201F537C1}" presName="rootText" presStyleLbl="node2" presStyleIdx="5" presStyleCnt="9">
        <dgm:presLayoutVars>
          <dgm:chPref val="3"/>
        </dgm:presLayoutVars>
      </dgm:prSet>
      <dgm:spPr/>
    </dgm:pt>
    <dgm:pt modelId="{FF8FD28E-C242-478E-89E1-AD9F39D83D53}" type="pres">
      <dgm:prSet presAssocID="{77F003D5-3106-4FEF-8A37-165201F537C1}" presName="rootConnector" presStyleLbl="node2" presStyleIdx="5" presStyleCnt="9"/>
      <dgm:spPr/>
    </dgm:pt>
    <dgm:pt modelId="{21FE894B-F8CA-4CC2-B818-2DF30A47240E}" type="pres">
      <dgm:prSet presAssocID="{77F003D5-3106-4FEF-8A37-165201F537C1}" presName="hierChild4" presStyleCnt="0"/>
      <dgm:spPr/>
    </dgm:pt>
    <dgm:pt modelId="{7903710F-6AA3-4A71-8168-83612C52C0A7}" type="pres">
      <dgm:prSet presAssocID="{77F003D5-3106-4FEF-8A37-165201F537C1}" presName="hierChild5" presStyleCnt="0"/>
      <dgm:spPr/>
    </dgm:pt>
    <dgm:pt modelId="{759E32CF-E3A9-4DBB-BFB8-70DE69FEECF2}" type="pres">
      <dgm:prSet presAssocID="{E9E563F4-B010-423F-A6F0-1FA2E6776C82}" presName="Name37" presStyleLbl="parChTrans1D2" presStyleIdx="6" presStyleCnt="9"/>
      <dgm:spPr/>
    </dgm:pt>
    <dgm:pt modelId="{4A05F440-BA66-45C6-84DC-7E170C03FD25}" type="pres">
      <dgm:prSet presAssocID="{220F2415-7374-45EA-AB6E-B5D88D202AB0}" presName="hierRoot2" presStyleCnt="0">
        <dgm:presLayoutVars>
          <dgm:hierBranch val="init"/>
        </dgm:presLayoutVars>
      </dgm:prSet>
      <dgm:spPr/>
    </dgm:pt>
    <dgm:pt modelId="{937CDBA1-68E5-4DE8-962A-9BBCB195E87A}" type="pres">
      <dgm:prSet presAssocID="{220F2415-7374-45EA-AB6E-B5D88D202AB0}" presName="rootComposite" presStyleCnt="0"/>
      <dgm:spPr/>
    </dgm:pt>
    <dgm:pt modelId="{013A6EF0-BC37-45CB-9C82-069D2259C9B2}" type="pres">
      <dgm:prSet presAssocID="{220F2415-7374-45EA-AB6E-B5D88D202AB0}" presName="rootText" presStyleLbl="node2" presStyleIdx="6" presStyleCnt="9">
        <dgm:presLayoutVars>
          <dgm:chPref val="3"/>
        </dgm:presLayoutVars>
      </dgm:prSet>
      <dgm:spPr/>
    </dgm:pt>
    <dgm:pt modelId="{9EE802BF-3C63-4749-B4DC-859DC2D7ED64}" type="pres">
      <dgm:prSet presAssocID="{220F2415-7374-45EA-AB6E-B5D88D202AB0}" presName="rootConnector" presStyleLbl="node2" presStyleIdx="6" presStyleCnt="9"/>
      <dgm:spPr/>
    </dgm:pt>
    <dgm:pt modelId="{89E20E5C-3AD4-4F38-B0B5-0F88BDE57C1F}" type="pres">
      <dgm:prSet presAssocID="{220F2415-7374-45EA-AB6E-B5D88D202AB0}" presName="hierChild4" presStyleCnt="0"/>
      <dgm:spPr/>
    </dgm:pt>
    <dgm:pt modelId="{12C1D1BA-5ECD-4EF9-96C4-41A8566C9422}" type="pres">
      <dgm:prSet presAssocID="{220F2415-7374-45EA-AB6E-B5D88D202AB0}" presName="hierChild5" presStyleCnt="0"/>
      <dgm:spPr/>
    </dgm:pt>
    <dgm:pt modelId="{03EAF334-239D-450D-AE49-96EE7A4EC141}" type="pres">
      <dgm:prSet presAssocID="{1D644EA1-BE76-442F-9922-D62A10A4B982}" presName="Name37" presStyleLbl="parChTrans1D2" presStyleIdx="7" presStyleCnt="9"/>
      <dgm:spPr/>
    </dgm:pt>
    <dgm:pt modelId="{7348A9BE-95A9-4A04-8C01-34DC74616AD6}" type="pres">
      <dgm:prSet presAssocID="{70DC4EF0-4D43-40BB-9C98-8EAEAEAA0D85}" presName="hierRoot2" presStyleCnt="0">
        <dgm:presLayoutVars>
          <dgm:hierBranch val="init"/>
        </dgm:presLayoutVars>
      </dgm:prSet>
      <dgm:spPr/>
    </dgm:pt>
    <dgm:pt modelId="{B665704D-CB51-415D-959B-3A63A01270EA}" type="pres">
      <dgm:prSet presAssocID="{70DC4EF0-4D43-40BB-9C98-8EAEAEAA0D85}" presName="rootComposite" presStyleCnt="0"/>
      <dgm:spPr/>
    </dgm:pt>
    <dgm:pt modelId="{9488A1DB-6B8A-4705-8743-34E971D06C9B}" type="pres">
      <dgm:prSet presAssocID="{70DC4EF0-4D43-40BB-9C98-8EAEAEAA0D85}" presName="rootText" presStyleLbl="node2" presStyleIdx="7" presStyleCnt="9">
        <dgm:presLayoutVars>
          <dgm:chPref val="3"/>
        </dgm:presLayoutVars>
      </dgm:prSet>
      <dgm:spPr/>
    </dgm:pt>
    <dgm:pt modelId="{46F5CF6A-85FC-4FEE-956F-86CBD41ADF33}" type="pres">
      <dgm:prSet presAssocID="{70DC4EF0-4D43-40BB-9C98-8EAEAEAA0D85}" presName="rootConnector" presStyleLbl="node2" presStyleIdx="7" presStyleCnt="9"/>
      <dgm:spPr/>
    </dgm:pt>
    <dgm:pt modelId="{E24C570A-5FED-476A-94E1-8BB001FE0963}" type="pres">
      <dgm:prSet presAssocID="{70DC4EF0-4D43-40BB-9C98-8EAEAEAA0D85}" presName="hierChild4" presStyleCnt="0"/>
      <dgm:spPr/>
    </dgm:pt>
    <dgm:pt modelId="{979797D5-2F4B-4623-865E-51D256C574FD}" type="pres">
      <dgm:prSet presAssocID="{70DC4EF0-4D43-40BB-9C98-8EAEAEAA0D85}" presName="hierChild5" presStyleCnt="0"/>
      <dgm:spPr/>
    </dgm:pt>
    <dgm:pt modelId="{F41F26C7-F44A-41C9-A8DC-A30385B46036}" type="pres">
      <dgm:prSet presAssocID="{36C773FB-13E0-46E7-96BB-3E5FBD0B9E76}" presName="Name37" presStyleLbl="parChTrans1D2" presStyleIdx="8" presStyleCnt="9"/>
      <dgm:spPr/>
    </dgm:pt>
    <dgm:pt modelId="{46925180-1287-4810-B1B9-C3A71DFCB284}" type="pres">
      <dgm:prSet presAssocID="{A1456305-23D6-4B0E-8643-A297ED907C95}" presName="hierRoot2" presStyleCnt="0">
        <dgm:presLayoutVars>
          <dgm:hierBranch val="init"/>
        </dgm:presLayoutVars>
      </dgm:prSet>
      <dgm:spPr/>
    </dgm:pt>
    <dgm:pt modelId="{A97C2ED4-A09E-44DD-8E78-8A8F90836768}" type="pres">
      <dgm:prSet presAssocID="{A1456305-23D6-4B0E-8643-A297ED907C95}" presName="rootComposite" presStyleCnt="0"/>
      <dgm:spPr/>
    </dgm:pt>
    <dgm:pt modelId="{F62E3AFB-0F4E-41A4-BE11-D68C473B3317}" type="pres">
      <dgm:prSet presAssocID="{A1456305-23D6-4B0E-8643-A297ED907C95}" presName="rootText" presStyleLbl="node2" presStyleIdx="8" presStyleCnt="9">
        <dgm:presLayoutVars>
          <dgm:chPref val="3"/>
        </dgm:presLayoutVars>
      </dgm:prSet>
      <dgm:spPr/>
    </dgm:pt>
    <dgm:pt modelId="{5144782D-AF52-4308-BD09-0319781BCF7D}" type="pres">
      <dgm:prSet presAssocID="{A1456305-23D6-4B0E-8643-A297ED907C95}" presName="rootConnector" presStyleLbl="node2" presStyleIdx="8" presStyleCnt="9"/>
      <dgm:spPr/>
    </dgm:pt>
    <dgm:pt modelId="{892920D4-62E7-4060-B66C-9AB0074E5296}" type="pres">
      <dgm:prSet presAssocID="{A1456305-23D6-4B0E-8643-A297ED907C95}" presName="hierChild4" presStyleCnt="0"/>
      <dgm:spPr/>
    </dgm:pt>
    <dgm:pt modelId="{EC4899FC-5042-4699-9E20-60959322FB19}" type="pres">
      <dgm:prSet presAssocID="{A1456305-23D6-4B0E-8643-A297ED907C95}" presName="hierChild5" presStyleCnt="0"/>
      <dgm:spPr/>
    </dgm:pt>
    <dgm:pt modelId="{BAB50FC1-34C7-4084-BFD9-08D9FB73C659}" type="pres">
      <dgm:prSet presAssocID="{BB6EE928-5695-494F-BEC5-3911DDDCD918}" presName="hierChild3" presStyleCnt="0"/>
      <dgm:spPr/>
    </dgm:pt>
  </dgm:ptLst>
  <dgm:cxnLst>
    <dgm:cxn modelId="{00052200-1785-4538-876D-2CDBF642B3C2}" srcId="{BB6EE928-5695-494F-BEC5-3911DDDCD918}" destId="{220F2415-7374-45EA-AB6E-B5D88D202AB0}" srcOrd="6" destOrd="0" parTransId="{E9E563F4-B010-423F-A6F0-1FA2E6776C82}" sibTransId="{632DDA34-CD94-4F90-8E4A-90593852C7E3}"/>
    <dgm:cxn modelId="{2230E90E-AC0D-459B-A078-DA2512800CDC}" type="presOf" srcId="{52CB0853-947A-4B90-AEF3-D1423522539D}" destId="{66148B3A-8E34-4E96-9508-BCC7D97AA1C1}" srcOrd="0" destOrd="0" presId="urn:microsoft.com/office/officeart/2005/8/layout/orgChart1"/>
    <dgm:cxn modelId="{12113515-7122-4604-ABC2-1121A9AB5F72}" type="presOf" srcId="{13CEAF22-D59B-4DCE-AD9A-9E611C383C22}" destId="{004134E2-723B-477E-9E6E-C813E0ACA002}" srcOrd="0" destOrd="0" presId="urn:microsoft.com/office/officeart/2005/8/layout/orgChart1"/>
    <dgm:cxn modelId="{1651591E-2D31-4534-9B7B-F4384F48606F}" type="presOf" srcId="{A1456305-23D6-4B0E-8643-A297ED907C95}" destId="{5144782D-AF52-4308-BD09-0319781BCF7D}" srcOrd="1" destOrd="0" presId="urn:microsoft.com/office/officeart/2005/8/layout/orgChart1"/>
    <dgm:cxn modelId="{9CA1A91F-1C4D-4600-B8AE-05439FBA0401}" srcId="{BB6EE928-5695-494F-BEC5-3911DDDCD918}" destId="{30E94408-8E02-4648-A004-448DF587FC05}" srcOrd="0" destOrd="0" parTransId="{52CB0853-947A-4B90-AEF3-D1423522539D}" sibTransId="{60CE2141-1230-4526-AA13-56F13A2C7827}"/>
    <dgm:cxn modelId="{2A4D8D23-297A-46A9-A599-022D17EFF430}" srcId="{BB6EE928-5695-494F-BEC5-3911DDDCD918}" destId="{4109F201-BDF2-4D2C-8552-095CE142ACC4}" srcOrd="1" destOrd="0" parTransId="{2234DD10-C928-4213-8E95-FC02994DD702}" sibTransId="{757313B4-C69F-45B6-8B4D-0D6C8531ADF0}"/>
    <dgm:cxn modelId="{B1DCD627-EF89-4290-B9B0-CA504E2B0C00}" type="presOf" srcId="{C3FA83AA-A756-4A4C-9F7F-8394A67289A8}" destId="{6C649E34-6D78-4807-A6F2-BFC3D5C56DA2}" srcOrd="1" destOrd="0" presId="urn:microsoft.com/office/officeart/2005/8/layout/orgChart1"/>
    <dgm:cxn modelId="{888FC22A-65E7-44E2-96C1-04D6A98E3017}" type="presOf" srcId="{3D010FAB-502C-47DC-91EF-328E04DBA558}" destId="{6378EB43-EB4C-4EAE-A63F-E371BCEB05D9}" srcOrd="0" destOrd="0" presId="urn:microsoft.com/office/officeart/2005/8/layout/orgChart1"/>
    <dgm:cxn modelId="{0989A72F-E71E-4273-9DED-9C8636A4AC6B}" type="presOf" srcId="{4109F201-BDF2-4D2C-8552-095CE142ACC4}" destId="{F2B7AB57-4159-4EE2-B28A-3B7BD20BE11D}" srcOrd="1" destOrd="0" presId="urn:microsoft.com/office/officeart/2005/8/layout/orgChart1"/>
    <dgm:cxn modelId="{5571DD30-DBD9-4FD3-B925-6A39E8994E7A}" type="presOf" srcId="{30E94408-8E02-4648-A004-448DF587FC05}" destId="{FC612050-3DF4-489E-B1B7-243DC7F961C9}" srcOrd="0" destOrd="0" presId="urn:microsoft.com/office/officeart/2005/8/layout/orgChart1"/>
    <dgm:cxn modelId="{0597CF31-69CB-405D-89D0-94FFE7DE208F}" type="presOf" srcId="{5164C0BB-BBA9-4AF3-A82F-586EC1D65210}" destId="{7D9ADE14-1147-4564-9F40-7FFDBF96416F}" srcOrd="0" destOrd="0" presId="urn:microsoft.com/office/officeart/2005/8/layout/orgChart1"/>
    <dgm:cxn modelId="{37492E61-673C-4EE7-B19A-B2C1730DE997}" type="presOf" srcId="{220F2415-7374-45EA-AB6E-B5D88D202AB0}" destId="{9EE802BF-3C63-4749-B4DC-859DC2D7ED64}" srcOrd="1" destOrd="0" presId="urn:microsoft.com/office/officeart/2005/8/layout/orgChart1"/>
    <dgm:cxn modelId="{3596DC62-1D39-465C-A590-F7308C57F268}" srcId="{BB6EE928-5695-494F-BEC5-3911DDDCD918}" destId="{70DC4EF0-4D43-40BB-9C98-8EAEAEAA0D85}" srcOrd="7" destOrd="0" parTransId="{1D644EA1-BE76-442F-9922-D62A10A4B982}" sibTransId="{F8123CD1-E53D-4CF5-ABEC-41B562341269}"/>
    <dgm:cxn modelId="{FA53B843-8AFD-4A12-84B0-DB047E414781}" type="presOf" srcId="{C3FA83AA-A756-4A4C-9F7F-8394A67289A8}" destId="{34874774-8A23-4BED-B921-5208E549DC8D}" srcOrd="0" destOrd="0" presId="urn:microsoft.com/office/officeart/2005/8/layout/orgChart1"/>
    <dgm:cxn modelId="{C49E1A46-3A32-429C-841F-97E9AA86EDA1}" srcId="{BB6EE928-5695-494F-BEC5-3911DDDCD918}" destId="{C3FA83AA-A756-4A4C-9F7F-8394A67289A8}" srcOrd="2" destOrd="0" parTransId="{5164C0BB-BBA9-4AF3-A82F-586EC1D65210}" sibTransId="{B3DDFB8E-3AB4-4822-9C2E-32B4944B716D}"/>
    <dgm:cxn modelId="{DFDB2369-46C9-466D-B9A3-A4BD4805D636}" type="presOf" srcId="{E9E563F4-B010-423F-A6F0-1FA2E6776C82}" destId="{759E32CF-E3A9-4DBB-BFB8-70DE69FEECF2}" srcOrd="0" destOrd="0" presId="urn:microsoft.com/office/officeart/2005/8/layout/orgChart1"/>
    <dgm:cxn modelId="{9BC84269-F791-4248-BB54-B3ED3B857347}" type="presOf" srcId="{77F003D5-3106-4FEF-8A37-165201F537C1}" destId="{FF8FD28E-C242-478E-89E1-AD9F39D83D53}" srcOrd="1" destOrd="0" presId="urn:microsoft.com/office/officeart/2005/8/layout/orgChart1"/>
    <dgm:cxn modelId="{71F1B869-05EF-451A-AEF8-7049D0D7C5DC}" srcId="{BB6EE928-5695-494F-BEC5-3911DDDCD918}" destId="{702AF853-A472-41A5-A222-04382E977489}" srcOrd="4" destOrd="0" parTransId="{13CEAF22-D59B-4DCE-AD9A-9E611C383C22}" sibTransId="{C23AAD3D-C800-4C1E-ABC8-FA935884239C}"/>
    <dgm:cxn modelId="{4248546C-F053-418F-B622-C8202F6EDD0C}" srcId="{08B6D5D2-C66A-483C-A1AF-B1BF2DC49765}" destId="{BB6EE928-5695-494F-BEC5-3911DDDCD918}" srcOrd="0" destOrd="0" parTransId="{208646B3-0D05-4F61-8A66-A70CD1677B1A}" sibTransId="{2EAEC75D-45EF-4B57-A4D1-D3A998594BF8}"/>
    <dgm:cxn modelId="{87DA8E6E-FC12-4A85-B6F8-2BA8EF02D8A3}" type="presOf" srcId="{1D644EA1-BE76-442F-9922-D62A10A4B982}" destId="{03EAF334-239D-450D-AE49-96EE7A4EC141}" srcOrd="0" destOrd="0" presId="urn:microsoft.com/office/officeart/2005/8/layout/orgChart1"/>
    <dgm:cxn modelId="{C0C39455-13D0-4F38-86B5-8234AEA8A0BF}" type="presOf" srcId="{77F003D5-3106-4FEF-8A37-165201F537C1}" destId="{1FDB05AB-EBCA-4FF6-805B-4E1C6F5527B7}" srcOrd="0" destOrd="0" presId="urn:microsoft.com/office/officeart/2005/8/layout/orgChart1"/>
    <dgm:cxn modelId="{41206078-6CFC-4D97-90AC-8781BB419CE5}" type="presOf" srcId="{36C773FB-13E0-46E7-96BB-3E5FBD0B9E76}" destId="{F41F26C7-F44A-41C9-A8DC-A30385B46036}" srcOrd="0" destOrd="0" presId="urn:microsoft.com/office/officeart/2005/8/layout/orgChart1"/>
    <dgm:cxn modelId="{5483CA58-13E5-4A54-8C5F-D74860036CF1}" type="presOf" srcId="{4109F201-BDF2-4D2C-8552-095CE142ACC4}" destId="{57695B00-9D85-4A1B-8F50-DD7773C2A38C}" srcOrd="0" destOrd="0" presId="urn:microsoft.com/office/officeart/2005/8/layout/orgChart1"/>
    <dgm:cxn modelId="{F8E8E27C-F713-48BD-A95F-EEBBD37CCC13}" type="presOf" srcId="{2234DD10-C928-4213-8E95-FC02994DD702}" destId="{05D9BF9D-F445-490C-916F-0207C745FFF6}" srcOrd="0" destOrd="0" presId="urn:microsoft.com/office/officeart/2005/8/layout/orgChart1"/>
    <dgm:cxn modelId="{57429883-7EFD-4984-8F9C-1BD41F97D2BC}" type="presOf" srcId="{702AF853-A472-41A5-A222-04382E977489}" destId="{0167FD8D-70A1-4613-ACD9-D7C52014A526}" srcOrd="1" destOrd="0" presId="urn:microsoft.com/office/officeart/2005/8/layout/orgChart1"/>
    <dgm:cxn modelId="{06B9D284-F67F-4AB9-BEB5-DC4530D8BDA4}" type="presOf" srcId="{DED520A9-9309-4B3E-8371-763688EA3068}" destId="{AA7AD1AF-537D-4E0F-9066-0A7087792EAD}" srcOrd="0" destOrd="0" presId="urn:microsoft.com/office/officeart/2005/8/layout/orgChart1"/>
    <dgm:cxn modelId="{034EBB8A-9412-4D27-8873-1E5BF9D9E40E}" srcId="{BB6EE928-5695-494F-BEC5-3911DDDCD918}" destId="{3D010FAB-502C-47DC-91EF-328E04DBA558}" srcOrd="3" destOrd="0" parTransId="{AC83EB4A-4228-4FC6-9FE6-0B84CFC89775}" sibTransId="{AFCC37C8-9D75-4B79-B64C-03D1913D925C}"/>
    <dgm:cxn modelId="{97888A9A-7475-493B-913C-0C6FE1E29A9B}" type="presOf" srcId="{AC83EB4A-4228-4FC6-9FE6-0B84CFC89775}" destId="{B3C298AB-2E63-4355-A2A2-4CA22B9DD125}" srcOrd="0" destOrd="0" presId="urn:microsoft.com/office/officeart/2005/8/layout/orgChart1"/>
    <dgm:cxn modelId="{6994089B-918B-4CA2-9664-1CE46735A359}" type="presOf" srcId="{702AF853-A472-41A5-A222-04382E977489}" destId="{A266CC78-E417-43CF-AFC8-180C1D80A0E7}" srcOrd="0" destOrd="0" presId="urn:microsoft.com/office/officeart/2005/8/layout/orgChart1"/>
    <dgm:cxn modelId="{CC9412A0-942B-4BEC-90A9-395DB1C4F1CC}" type="presOf" srcId="{08B6D5D2-C66A-483C-A1AF-B1BF2DC49765}" destId="{5F277F5A-A9EE-499B-B359-081EF4C0A907}" srcOrd="0" destOrd="0" presId="urn:microsoft.com/office/officeart/2005/8/layout/orgChart1"/>
    <dgm:cxn modelId="{62ECF8A8-5C86-446B-A232-F15C26BEA5A2}" type="presOf" srcId="{BB6EE928-5695-494F-BEC5-3911DDDCD918}" destId="{695BDD94-8D5A-4E49-8257-85EB2E2A2C46}" srcOrd="1" destOrd="0" presId="urn:microsoft.com/office/officeart/2005/8/layout/orgChart1"/>
    <dgm:cxn modelId="{17AF6FAE-4299-4B65-AC6F-8A654B0C7F48}" srcId="{BB6EE928-5695-494F-BEC5-3911DDDCD918}" destId="{77F003D5-3106-4FEF-8A37-165201F537C1}" srcOrd="5" destOrd="0" parTransId="{DED520A9-9309-4B3E-8371-763688EA3068}" sibTransId="{826900C9-457F-497B-95E6-204AC43BC0FE}"/>
    <dgm:cxn modelId="{7C9BB9B2-48C9-4A72-83CA-47C9C4BC2711}" type="presOf" srcId="{70DC4EF0-4D43-40BB-9C98-8EAEAEAA0D85}" destId="{9488A1DB-6B8A-4705-8743-34E971D06C9B}" srcOrd="0" destOrd="0" presId="urn:microsoft.com/office/officeart/2005/8/layout/orgChart1"/>
    <dgm:cxn modelId="{FEA104BF-A08B-4A24-A8AB-CE536F00F9D0}" type="presOf" srcId="{BB6EE928-5695-494F-BEC5-3911DDDCD918}" destId="{5A1F0CA8-3957-4CAE-915B-024B5A6F204A}" srcOrd="0" destOrd="0" presId="urn:microsoft.com/office/officeart/2005/8/layout/orgChart1"/>
    <dgm:cxn modelId="{0AC99ECF-7E43-4C93-B896-52C5D6FF9967}" type="presOf" srcId="{30E94408-8E02-4648-A004-448DF587FC05}" destId="{520237DE-E8A1-4B26-9E2E-8CCF2ECE8AAF}" srcOrd="1" destOrd="0" presId="urn:microsoft.com/office/officeart/2005/8/layout/orgChart1"/>
    <dgm:cxn modelId="{4ECA12D8-A899-41E0-BBA2-5556049D3EEC}" type="presOf" srcId="{70DC4EF0-4D43-40BB-9C98-8EAEAEAA0D85}" destId="{46F5CF6A-85FC-4FEE-956F-86CBD41ADF33}" srcOrd="1" destOrd="0" presId="urn:microsoft.com/office/officeart/2005/8/layout/orgChart1"/>
    <dgm:cxn modelId="{0FA67CE2-7F52-4D13-9C2A-FEBF5858760E}" type="presOf" srcId="{3D010FAB-502C-47DC-91EF-328E04DBA558}" destId="{99AB59CE-251F-41BB-84C3-0138F15F389F}" srcOrd="1" destOrd="0" presId="urn:microsoft.com/office/officeart/2005/8/layout/orgChart1"/>
    <dgm:cxn modelId="{C4451FE4-C72F-416A-B6C9-DA7DD0A2A758}" type="presOf" srcId="{A1456305-23D6-4B0E-8643-A297ED907C95}" destId="{F62E3AFB-0F4E-41A4-BE11-D68C473B3317}" srcOrd="0" destOrd="0" presId="urn:microsoft.com/office/officeart/2005/8/layout/orgChart1"/>
    <dgm:cxn modelId="{6021F9EF-931D-43E4-927D-3AF9BB94684A}" srcId="{BB6EE928-5695-494F-BEC5-3911DDDCD918}" destId="{A1456305-23D6-4B0E-8643-A297ED907C95}" srcOrd="8" destOrd="0" parTransId="{36C773FB-13E0-46E7-96BB-3E5FBD0B9E76}" sibTransId="{29DC4ED4-1B96-4500-BC84-D5F37350E223}"/>
    <dgm:cxn modelId="{BD97C1FA-2C14-45BC-B481-617DA8CDAE2F}" type="presOf" srcId="{220F2415-7374-45EA-AB6E-B5D88D202AB0}" destId="{013A6EF0-BC37-45CB-9C82-069D2259C9B2}" srcOrd="0" destOrd="0" presId="urn:microsoft.com/office/officeart/2005/8/layout/orgChart1"/>
    <dgm:cxn modelId="{BD0E52D9-3B77-4A6E-AFC0-D0D13DBC0429}" type="presParOf" srcId="{5F277F5A-A9EE-499B-B359-081EF4C0A907}" destId="{73FE7A23-0178-446F-B926-A7769299AD93}" srcOrd="0" destOrd="0" presId="urn:microsoft.com/office/officeart/2005/8/layout/orgChart1"/>
    <dgm:cxn modelId="{FFDE96C9-EB26-4D95-A2B8-85744CF4C39C}" type="presParOf" srcId="{73FE7A23-0178-446F-B926-A7769299AD93}" destId="{AA4A9584-E8BB-4C7D-801E-426CF7373E94}" srcOrd="0" destOrd="0" presId="urn:microsoft.com/office/officeart/2005/8/layout/orgChart1"/>
    <dgm:cxn modelId="{C1F9C68C-A4B1-40CF-926A-AF19BF04CAFA}" type="presParOf" srcId="{AA4A9584-E8BB-4C7D-801E-426CF7373E94}" destId="{5A1F0CA8-3957-4CAE-915B-024B5A6F204A}" srcOrd="0" destOrd="0" presId="urn:microsoft.com/office/officeart/2005/8/layout/orgChart1"/>
    <dgm:cxn modelId="{1EFF4C3A-0229-44BB-9963-060F3E9C90BF}" type="presParOf" srcId="{AA4A9584-E8BB-4C7D-801E-426CF7373E94}" destId="{695BDD94-8D5A-4E49-8257-85EB2E2A2C46}" srcOrd="1" destOrd="0" presId="urn:microsoft.com/office/officeart/2005/8/layout/orgChart1"/>
    <dgm:cxn modelId="{BE2F3D16-FD5C-47BF-B2B8-733F3D011C2D}" type="presParOf" srcId="{73FE7A23-0178-446F-B926-A7769299AD93}" destId="{E932D9A7-90AA-47AB-9080-007DA7B23401}" srcOrd="1" destOrd="0" presId="urn:microsoft.com/office/officeart/2005/8/layout/orgChart1"/>
    <dgm:cxn modelId="{4F2E331C-F0DF-4712-8124-D1A71A5E32D6}" type="presParOf" srcId="{E932D9A7-90AA-47AB-9080-007DA7B23401}" destId="{66148B3A-8E34-4E96-9508-BCC7D97AA1C1}" srcOrd="0" destOrd="0" presId="urn:microsoft.com/office/officeart/2005/8/layout/orgChart1"/>
    <dgm:cxn modelId="{97B4229F-64E9-4EC7-99C5-716267DEE154}" type="presParOf" srcId="{E932D9A7-90AA-47AB-9080-007DA7B23401}" destId="{F9D60E79-727D-4596-A969-DCA4AF9891C5}" srcOrd="1" destOrd="0" presId="urn:microsoft.com/office/officeart/2005/8/layout/orgChart1"/>
    <dgm:cxn modelId="{4593B47F-7F0E-43BF-BE28-23C6BEA19BD2}" type="presParOf" srcId="{F9D60E79-727D-4596-A969-DCA4AF9891C5}" destId="{7829539B-2A63-4006-A1E5-92A467FAD9F0}" srcOrd="0" destOrd="0" presId="urn:microsoft.com/office/officeart/2005/8/layout/orgChart1"/>
    <dgm:cxn modelId="{BB494827-256D-4F19-A780-1D418187B9E8}" type="presParOf" srcId="{7829539B-2A63-4006-A1E5-92A467FAD9F0}" destId="{FC612050-3DF4-489E-B1B7-243DC7F961C9}" srcOrd="0" destOrd="0" presId="urn:microsoft.com/office/officeart/2005/8/layout/orgChart1"/>
    <dgm:cxn modelId="{46B1603A-0561-483E-BCDF-3A039F604D91}" type="presParOf" srcId="{7829539B-2A63-4006-A1E5-92A467FAD9F0}" destId="{520237DE-E8A1-4B26-9E2E-8CCF2ECE8AAF}" srcOrd="1" destOrd="0" presId="urn:microsoft.com/office/officeart/2005/8/layout/orgChart1"/>
    <dgm:cxn modelId="{57EC437C-2D26-482E-9B29-E3FEF0804DE3}" type="presParOf" srcId="{F9D60E79-727D-4596-A969-DCA4AF9891C5}" destId="{59407EC9-C01F-4D44-8DA5-6E6EDA36619D}" srcOrd="1" destOrd="0" presId="urn:microsoft.com/office/officeart/2005/8/layout/orgChart1"/>
    <dgm:cxn modelId="{0A85B627-6D25-4D40-B310-D8057192EE8D}" type="presParOf" srcId="{F9D60E79-727D-4596-A969-DCA4AF9891C5}" destId="{CD932169-22B8-4BAC-9FFA-908988CE765F}" srcOrd="2" destOrd="0" presId="urn:microsoft.com/office/officeart/2005/8/layout/orgChart1"/>
    <dgm:cxn modelId="{A50C1347-6D07-4FFB-8657-03DA9A3CF42B}" type="presParOf" srcId="{E932D9A7-90AA-47AB-9080-007DA7B23401}" destId="{05D9BF9D-F445-490C-916F-0207C745FFF6}" srcOrd="2" destOrd="0" presId="urn:microsoft.com/office/officeart/2005/8/layout/orgChart1"/>
    <dgm:cxn modelId="{31B9FB9F-A577-4160-98BF-53F7A267AFE6}" type="presParOf" srcId="{E932D9A7-90AA-47AB-9080-007DA7B23401}" destId="{FB577917-A93A-4914-914F-4B3016FA9C01}" srcOrd="3" destOrd="0" presId="urn:microsoft.com/office/officeart/2005/8/layout/orgChart1"/>
    <dgm:cxn modelId="{F5DC0D66-E3F6-4854-B878-4845C23BE31A}" type="presParOf" srcId="{FB577917-A93A-4914-914F-4B3016FA9C01}" destId="{BA4D8E7D-048D-4E90-9351-501CC7EFCCAE}" srcOrd="0" destOrd="0" presId="urn:microsoft.com/office/officeart/2005/8/layout/orgChart1"/>
    <dgm:cxn modelId="{9D64057C-4C14-4467-B5CF-89F8A57D8E90}" type="presParOf" srcId="{BA4D8E7D-048D-4E90-9351-501CC7EFCCAE}" destId="{57695B00-9D85-4A1B-8F50-DD7773C2A38C}" srcOrd="0" destOrd="0" presId="urn:microsoft.com/office/officeart/2005/8/layout/orgChart1"/>
    <dgm:cxn modelId="{1D85A091-C41E-4138-AF8F-CFCC8965D928}" type="presParOf" srcId="{BA4D8E7D-048D-4E90-9351-501CC7EFCCAE}" destId="{F2B7AB57-4159-4EE2-B28A-3B7BD20BE11D}" srcOrd="1" destOrd="0" presId="urn:microsoft.com/office/officeart/2005/8/layout/orgChart1"/>
    <dgm:cxn modelId="{DD50094A-E19D-4C7D-91C0-1566A96B81A2}" type="presParOf" srcId="{FB577917-A93A-4914-914F-4B3016FA9C01}" destId="{8BA51426-17FD-4E91-BFB3-D85B78412386}" srcOrd="1" destOrd="0" presId="urn:microsoft.com/office/officeart/2005/8/layout/orgChart1"/>
    <dgm:cxn modelId="{AE8307E8-5A2F-4240-AF41-1DC2D5130B52}" type="presParOf" srcId="{FB577917-A93A-4914-914F-4B3016FA9C01}" destId="{33DE623D-9F11-4F61-99AF-40F79CD2DF38}" srcOrd="2" destOrd="0" presId="urn:microsoft.com/office/officeart/2005/8/layout/orgChart1"/>
    <dgm:cxn modelId="{F162193E-9A45-4DEA-AF1F-6807F5D7BEB1}" type="presParOf" srcId="{E932D9A7-90AA-47AB-9080-007DA7B23401}" destId="{7D9ADE14-1147-4564-9F40-7FFDBF96416F}" srcOrd="4" destOrd="0" presId="urn:microsoft.com/office/officeart/2005/8/layout/orgChart1"/>
    <dgm:cxn modelId="{548C27BA-1F6D-408D-97CD-8722E57EAA24}" type="presParOf" srcId="{E932D9A7-90AA-47AB-9080-007DA7B23401}" destId="{96630E91-7924-4FAC-81FB-6944B4ACDE65}" srcOrd="5" destOrd="0" presId="urn:microsoft.com/office/officeart/2005/8/layout/orgChart1"/>
    <dgm:cxn modelId="{70A53656-EC55-44DC-8C5E-6106426C4A9F}" type="presParOf" srcId="{96630E91-7924-4FAC-81FB-6944B4ACDE65}" destId="{91396014-3B99-4075-B8B6-0717659003E4}" srcOrd="0" destOrd="0" presId="urn:microsoft.com/office/officeart/2005/8/layout/orgChart1"/>
    <dgm:cxn modelId="{9251629A-757B-4760-ABEF-C9CE327025AF}" type="presParOf" srcId="{91396014-3B99-4075-B8B6-0717659003E4}" destId="{34874774-8A23-4BED-B921-5208E549DC8D}" srcOrd="0" destOrd="0" presId="urn:microsoft.com/office/officeart/2005/8/layout/orgChart1"/>
    <dgm:cxn modelId="{0CE0BADC-E31B-431C-AB03-5010DD68EEDE}" type="presParOf" srcId="{91396014-3B99-4075-B8B6-0717659003E4}" destId="{6C649E34-6D78-4807-A6F2-BFC3D5C56DA2}" srcOrd="1" destOrd="0" presId="urn:microsoft.com/office/officeart/2005/8/layout/orgChart1"/>
    <dgm:cxn modelId="{46F61691-28E5-422D-B761-3CFD97CFB3FE}" type="presParOf" srcId="{96630E91-7924-4FAC-81FB-6944B4ACDE65}" destId="{4FF47759-CC10-4BA9-94E0-30F3F4EFE7AA}" srcOrd="1" destOrd="0" presId="urn:microsoft.com/office/officeart/2005/8/layout/orgChart1"/>
    <dgm:cxn modelId="{8E82A021-CC41-46B7-B9C0-5B6A594B499A}" type="presParOf" srcId="{96630E91-7924-4FAC-81FB-6944B4ACDE65}" destId="{858CC62A-72DC-4D49-B4CF-388CC92D98C0}" srcOrd="2" destOrd="0" presId="urn:microsoft.com/office/officeart/2005/8/layout/orgChart1"/>
    <dgm:cxn modelId="{8F6D3A41-7937-4484-87DA-FED40BBCB503}" type="presParOf" srcId="{E932D9A7-90AA-47AB-9080-007DA7B23401}" destId="{B3C298AB-2E63-4355-A2A2-4CA22B9DD125}" srcOrd="6" destOrd="0" presId="urn:microsoft.com/office/officeart/2005/8/layout/orgChart1"/>
    <dgm:cxn modelId="{CF813B89-0F15-470B-BBC2-2FB34692BE0A}" type="presParOf" srcId="{E932D9A7-90AA-47AB-9080-007DA7B23401}" destId="{0DFAC28A-3738-49A1-93E6-5F92F88D9649}" srcOrd="7" destOrd="0" presId="urn:microsoft.com/office/officeart/2005/8/layout/orgChart1"/>
    <dgm:cxn modelId="{01DE7BE5-6E59-4F16-971E-C1A57C6234D6}" type="presParOf" srcId="{0DFAC28A-3738-49A1-93E6-5F92F88D9649}" destId="{1D5320AF-E5F5-40D9-AA69-71BABA53C022}" srcOrd="0" destOrd="0" presId="urn:microsoft.com/office/officeart/2005/8/layout/orgChart1"/>
    <dgm:cxn modelId="{BAECE902-A1F7-4CC9-864F-B9EDD4B74619}" type="presParOf" srcId="{1D5320AF-E5F5-40D9-AA69-71BABA53C022}" destId="{6378EB43-EB4C-4EAE-A63F-E371BCEB05D9}" srcOrd="0" destOrd="0" presId="urn:microsoft.com/office/officeart/2005/8/layout/orgChart1"/>
    <dgm:cxn modelId="{F1CA5C73-E4AE-4AC2-805B-5181307B6553}" type="presParOf" srcId="{1D5320AF-E5F5-40D9-AA69-71BABA53C022}" destId="{99AB59CE-251F-41BB-84C3-0138F15F389F}" srcOrd="1" destOrd="0" presId="urn:microsoft.com/office/officeart/2005/8/layout/orgChart1"/>
    <dgm:cxn modelId="{16ECE44D-D247-40BE-9EC6-FB94E9B6BC8A}" type="presParOf" srcId="{0DFAC28A-3738-49A1-93E6-5F92F88D9649}" destId="{7325CB30-8CE7-412D-8E24-DED8E5774B58}" srcOrd="1" destOrd="0" presId="urn:microsoft.com/office/officeart/2005/8/layout/orgChart1"/>
    <dgm:cxn modelId="{1F82A3A7-9273-4E25-B77D-E21A7DD0D1D8}" type="presParOf" srcId="{0DFAC28A-3738-49A1-93E6-5F92F88D9649}" destId="{64804A09-AB52-446A-BE2B-5CB79BAAA633}" srcOrd="2" destOrd="0" presId="urn:microsoft.com/office/officeart/2005/8/layout/orgChart1"/>
    <dgm:cxn modelId="{6675C706-55EF-45F4-86F1-961B0A2CF535}" type="presParOf" srcId="{E932D9A7-90AA-47AB-9080-007DA7B23401}" destId="{004134E2-723B-477E-9E6E-C813E0ACA002}" srcOrd="8" destOrd="0" presId="urn:microsoft.com/office/officeart/2005/8/layout/orgChart1"/>
    <dgm:cxn modelId="{CFBFFD5D-DF5A-4FE7-9FE5-6F3B81A6521B}" type="presParOf" srcId="{E932D9A7-90AA-47AB-9080-007DA7B23401}" destId="{B5C990B1-D7FB-42EC-BF18-813E7760F2B4}" srcOrd="9" destOrd="0" presId="urn:microsoft.com/office/officeart/2005/8/layout/orgChart1"/>
    <dgm:cxn modelId="{40E394F1-1CD8-4415-AD50-13DEF634755D}" type="presParOf" srcId="{B5C990B1-D7FB-42EC-BF18-813E7760F2B4}" destId="{5A4EBBB1-1D12-4D9D-8753-CC6CE2320B0A}" srcOrd="0" destOrd="0" presId="urn:microsoft.com/office/officeart/2005/8/layout/orgChart1"/>
    <dgm:cxn modelId="{3BDDB61B-A8B5-4EC3-8DB0-2AD7D8861F94}" type="presParOf" srcId="{5A4EBBB1-1D12-4D9D-8753-CC6CE2320B0A}" destId="{A266CC78-E417-43CF-AFC8-180C1D80A0E7}" srcOrd="0" destOrd="0" presId="urn:microsoft.com/office/officeart/2005/8/layout/orgChart1"/>
    <dgm:cxn modelId="{49178611-0758-4913-90AD-DE86501E9FDC}" type="presParOf" srcId="{5A4EBBB1-1D12-4D9D-8753-CC6CE2320B0A}" destId="{0167FD8D-70A1-4613-ACD9-D7C52014A526}" srcOrd="1" destOrd="0" presId="urn:microsoft.com/office/officeart/2005/8/layout/orgChart1"/>
    <dgm:cxn modelId="{29D5908E-4603-420A-9A84-9D9E36862215}" type="presParOf" srcId="{B5C990B1-D7FB-42EC-BF18-813E7760F2B4}" destId="{1D0C0321-24BE-40DB-8D79-DCBDEE5702E7}" srcOrd="1" destOrd="0" presId="urn:microsoft.com/office/officeart/2005/8/layout/orgChart1"/>
    <dgm:cxn modelId="{315CB183-E6E7-4697-8ACC-30EB1C05D709}" type="presParOf" srcId="{B5C990B1-D7FB-42EC-BF18-813E7760F2B4}" destId="{BAF83A2A-F05A-425E-B48E-569CF3797DC2}" srcOrd="2" destOrd="0" presId="urn:microsoft.com/office/officeart/2005/8/layout/orgChart1"/>
    <dgm:cxn modelId="{14C4474F-9513-48C0-A69F-10FE3D789490}" type="presParOf" srcId="{E932D9A7-90AA-47AB-9080-007DA7B23401}" destId="{AA7AD1AF-537D-4E0F-9066-0A7087792EAD}" srcOrd="10" destOrd="0" presId="urn:microsoft.com/office/officeart/2005/8/layout/orgChart1"/>
    <dgm:cxn modelId="{58E5CC97-D936-4FEE-9054-4F40190A66A9}" type="presParOf" srcId="{E932D9A7-90AA-47AB-9080-007DA7B23401}" destId="{AD2CD791-4FF9-4FA8-94EF-7C4BCDE594C7}" srcOrd="11" destOrd="0" presId="urn:microsoft.com/office/officeart/2005/8/layout/orgChart1"/>
    <dgm:cxn modelId="{EFA9CA41-95D0-4C20-9B27-BD723D060847}" type="presParOf" srcId="{AD2CD791-4FF9-4FA8-94EF-7C4BCDE594C7}" destId="{C8DBB609-31BA-4763-BF63-C2AB2D2E7F82}" srcOrd="0" destOrd="0" presId="urn:microsoft.com/office/officeart/2005/8/layout/orgChart1"/>
    <dgm:cxn modelId="{2331B778-E90B-42C5-A823-9D397F9A44DD}" type="presParOf" srcId="{C8DBB609-31BA-4763-BF63-C2AB2D2E7F82}" destId="{1FDB05AB-EBCA-4FF6-805B-4E1C6F5527B7}" srcOrd="0" destOrd="0" presId="urn:microsoft.com/office/officeart/2005/8/layout/orgChart1"/>
    <dgm:cxn modelId="{1756B4E3-AE80-4696-B5DC-79A10C20EB01}" type="presParOf" srcId="{C8DBB609-31BA-4763-BF63-C2AB2D2E7F82}" destId="{FF8FD28E-C242-478E-89E1-AD9F39D83D53}" srcOrd="1" destOrd="0" presId="urn:microsoft.com/office/officeart/2005/8/layout/orgChart1"/>
    <dgm:cxn modelId="{758DD610-D7C5-481A-9FBF-4346D9F2BD5B}" type="presParOf" srcId="{AD2CD791-4FF9-4FA8-94EF-7C4BCDE594C7}" destId="{21FE894B-F8CA-4CC2-B818-2DF30A47240E}" srcOrd="1" destOrd="0" presId="urn:microsoft.com/office/officeart/2005/8/layout/orgChart1"/>
    <dgm:cxn modelId="{7A2A0E3D-8799-4A04-8B94-6FC9D3E19402}" type="presParOf" srcId="{AD2CD791-4FF9-4FA8-94EF-7C4BCDE594C7}" destId="{7903710F-6AA3-4A71-8168-83612C52C0A7}" srcOrd="2" destOrd="0" presId="urn:microsoft.com/office/officeart/2005/8/layout/orgChart1"/>
    <dgm:cxn modelId="{0BBFE924-A6EC-486C-9164-84AA2D7C3936}" type="presParOf" srcId="{E932D9A7-90AA-47AB-9080-007DA7B23401}" destId="{759E32CF-E3A9-4DBB-BFB8-70DE69FEECF2}" srcOrd="12" destOrd="0" presId="urn:microsoft.com/office/officeart/2005/8/layout/orgChart1"/>
    <dgm:cxn modelId="{92333269-FC6C-4D51-B416-C6ADD9DB6A9D}" type="presParOf" srcId="{E932D9A7-90AA-47AB-9080-007DA7B23401}" destId="{4A05F440-BA66-45C6-84DC-7E170C03FD25}" srcOrd="13" destOrd="0" presId="urn:microsoft.com/office/officeart/2005/8/layout/orgChart1"/>
    <dgm:cxn modelId="{8B6CC44F-311A-482C-8EB2-2ADD42264CC3}" type="presParOf" srcId="{4A05F440-BA66-45C6-84DC-7E170C03FD25}" destId="{937CDBA1-68E5-4DE8-962A-9BBCB195E87A}" srcOrd="0" destOrd="0" presId="urn:microsoft.com/office/officeart/2005/8/layout/orgChart1"/>
    <dgm:cxn modelId="{0C1B34DA-0146-4815-9503-A83CBE12E112}" type="presParOf" srcId="{937CDBA1-68E5-4DE8-962A-9BBCB195E87A}" destId="{013A6EF0-BC37-45CB-9C82-069D2259C9B2}" srcOrd="0" destOrd="0" presId="urn:microsoft.com/office/officeart/2005/8/layout/orgChart1"/>
    <dgm:cxn modelId="{CCAC325E-BCC5-4607-A1BD-B4428A76847F}" type="presParOf" srcId="{937CDBA1-68E5-4DE8-962A-9BBCB195E87A}" destId="{9EE802BF-3C63-4749-B4DC-859DC2D7ED64}" srcOrd="1" destOrd="0" presId="urn:microsoft.com/office/officeart/2005/8/layout/orgChart1"/>
    <dgm:cxn modelId="{3196B788-849E-4C37-8FE1-4E020EC0AE2E}" type="presParOf" srcId="{4A05F440-BA66-45C6-84DC-7E170C03FD25}" destId="{89E20E5C-3AD4-4F38-B0B5-0F88BDE57C1F}" srcOrd="1" destOrd="0" presId="urn:microsoft.com/office/officeart/2005/8/layout/orgChart1"/>
    <dgm:cxn modelId="{9D49E338-BC7A-413F-99A6-89B931A52F5E}" type="presParOf" srcId="{4A05F440-BA66-45C6-84DC-7E170C03FD25}" destId="{12C1D1BA-5ECD-4EF9-96C4-41A8566C9422}" srcOrd="2" destOrd="0" presId="urn:microsoft.com/office/officeart/2005/8/layout/orgChart1"/>
    <dgm:cxn modelId="{56785F1D-3111-40C2-AD71-8A803FDB886E}" type="presParOf" srcId="{E932D9A7-90AA-47AB-9080-007DA7B23401}" destId="{03EAF334-239D-450D-AE49-96EE7A4EC141}" srcOrd="14" destOrd="0" presId="urn:microsoft.com/office/officeart/2005/8/layout/orgChart1"/>
    <dgm:cxn modelId="{141482C4-6427-4ECB-AE29-DA3CE8A9BC07}" type="presParOf" srcId="{E932D9A7-90AA-47AB-9080-007DA7B23401}" destId="{7348A9BE-95A9-4A04-8C01-34DC74616AD6}" srcOrd="15" destOrd="0" presId="urn:microsoft.com/office/officeart/2005/8/layout/orgChart1"/>
    <dgm:cxn modelId="{65DEC3AD-F698-4F67-BF60-8CEE01F37755}" type="presParOf" srcId="{7348A9BE-95A9-4A04-8C01-34DC74616AD6}" destId="{B665704D-CB51-415D-959B-3A63A01270EA}" srcOrd="0" destOrd="0" presId="urn:microsoft.com/office/officeart/2005/8/layout/orgChart1"/>
    <dgm:cxn modelId="{5172941F-1E74-46E4-998A-E32AB21C9C5A}" type="presParOf" srcId="{B665704D-CB51-415D-959B-3A63A01270EA}" destId="{9488A1DB-6B8A-4705-8743-34E971D06C9B}" srcOrd="0" destOrd="0" presId="urn:microsoft.com/office/officeart/2005/8/layout/orgChart1"/>
    <dgm:cxn modelId="{FD60E767-A934-44B5-BDE2-55DC0280E423}" type="presParOf" srcId="{B665704D-CB51-415D-959B-3A63A01270EA}" destId="{46F5CF6A-85FC-4FEE-956F-86CBD41ADF33}" srcOrd="1" destOrd="0" presId="urn:microsoft.com/office/officeart/2005/8/layout/orgChart1"/>
    <dgm:cxn modelId="{70AD4143-8801-48B6-93C1-B44C07D562B2}" type="presParOf" srcId="{7348A9BE-95A9-4A04-8C01-34DC74616AD6}" destId="{E24C570A-5FED-476A-94E1-8BB001FE0963}" srcOrd="1" destOrd="0" presId="urn:microsoft.com/office/officeart/2005/8/layout/orgChart1"/>
    <dgm:cxn modelId="{CDE64F5F-40FC-452C-94C0-485D8D72B237}" type="presParOf" srcId="{7348A9BE-95A9-4A04-8C01-34DC74616AD6}" destId="{979797D5-2F4B-4623-865E-51D256C574FD}" srcOrd="2" destOrd="0" presId="urn:microsoft.com/office/officeart/2005/8/layout/orgChart1"/>
    <dgm:cxn modelId="{F9DE4835-A61A-4EFE-A4F6-B3C4C482B983}" type="presParOf" srcId="{E932D9A7-90AA-47AB-9080-007DA7B23401}" destId="{F41F26C7-F44A-41C9-A8DC-A30385B46036}" srcOrd="16" destOrd="0" presId="urn:microsoft.com/office/officeart/2005/8/layout/orgChart1"/>
    <dgm:cxn modelId="{FE85B5F5-D601-46BD-9207-526078B99F68}" type="presParOf" srcId="{E932D9A7-90AA-47AB-9080-007DA7B23401}" destId="{46925180-1287-4810-B1B9-C3A71DFCB284}" srcOrd="17" destOrd="0" presId="urn:microsoft.com/office/officeart/2005/8/layout/orgChart1"/>
    <dgm:cxn modelId="{5C589782-21AC-41B8-B5D4-0F5CE5A7DF28}" type="presParOf" srcId="{46925180-1287-4810-B1B9-C3A71DFCB284}" destId="{A97C2ED4-A09E-44DD-8E78-8A8F90836768}" srcOrd="0" destOrd="0" presId="urn:microsoft.com/office/officeart/2005/8/layout/orgChart1"/>
    <dgm:cxn modelId="{66999C70-34EE-445E-9AA3-B4F46C3B8146}" type="presParOf" srcId="{A97C2ED4-A09E-44DD-8E78-8A8F90836768}" destId="{F62E3AFB-0F4E-41A4-BE11-D68C473B3317}" srcOrd="0" destOrd="0" presId="urn:microsoft.com/office/officeart/2005/8/layout/orgChart1"/>
    <dgm:cxn modelId="{58A502EF-14E8-42B6-B5CD-5052D770E0EC}" type="presParOf" srcId="{A97C2ED4-A09E-44DD-8E78-8A8F90836768}" destId="{5144782D-AF52-4308-BD09-0319781BCF7D}" srcOrd="1" destOrd="0" presId="urn:microsoft.com/office/officeart/2005/8/layout/orgChart1"/>
    <dgm:cxn modelId="{8D0C0362-23D7-4110-A1E9-7C1E0AB51280}" type="presParOf" srcId="{46925180-1287-4810-B1B9-C3A71DFCB284}" destId="{892920D4-62E7-4060-B66C-9AB0074E5296}" srcOrd="1" destOrd="0" presId="urn:microsoft.com/office/officeart/2005/8/layout/orgChart1"/>
    <dgm:cxn modelId="{927ECA6B-3909-4088-85B6-A15338F4B3C5}" type="presParOf" srcId="{46925180-1287-4810-B1B9-C3A71DFCB284}" destId="{EC4899FC-5042-4699-9E20-60959322FB19}" srcOrd="2" destOrd="0" presId="urn:microsoft.com/office/officeart/2005/8/layout/orgChart1"/>
    <dgm:cxn modelId="{54B26F4F-5FC2-4619-9D20-074DBCAC4D88}" type="presParOf" srcId="{73FE7A23-0178-446F-B926-A7769299AD93}" destId="{BAB50FC1-34C7-4084-BFD9-08D9FB73C659}"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38BD26-07E7-4909-89C0-8677FE97240C}"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en-US"/>
        </a:p>
      </dgm:t>
    </dgm:pt>
    <dgm:pt modelId="{F191B918-FEF4-4BAD-8AF4-E01D7EF7C239}">
      <dgm:prSet phldrT="[Text]" custT="1"/>
      <dgm:spPr>
        <a:solidFill>
          <a:schemeClr val="bg1">
            <a:lumMod val="75000"/>
          </a:schemeClr>
        </a:solidFill>
      </dgm:spPr>
      <dgm:t>
        <a:bodyPr/>
        <a:lstStyle/>
        <a:p>
          <a:r>
            <a:rPr lang="en-US" sz="4800">
              <a:solidFill>
                <a:schemeClr val="tx1"/>
              </a:solidFill>
            </a:rPr>
            <a:t>ISRM LC</a:t>
          </a:r>
        </a:p>
      </dgm:t>
    </dgm:pt>
    <dgm:pt modelId="{18E39B30-D1F2-4BAE-AE00-3A8CDCDDCA41}" type="parTrans" cxnId="{334D923F-6913-42F2-9AFE-10437FEE3F04}">
      <dgm:prSet/>
      <dgm:spPr/>
      <dgm:t>
        <a:bodyPr/>
        <a:lstStyle/>
        <a:p>
          <a:endParaRPr lang="en-US"/>
        </a:p>
      </dgm:t>
    </dgm:pt>
    <dgm:pt modelId="{50A36E35-0002-4D86-9D03-919EA9014F9B}" type="sibTrans" cxnId="{334D923F-6913-42F2-9AFE-10437FEE3F04}">
      <dgm:prSet/>
      <dgm:spPr/>
      <dgm:t>
        <a:bodyPr/>
        <a:lstStyle/>
        <a:p>
          <a:endParaRPr lang="en-US"/>
        </a:p>
      </dgm:t>
    </dgm:pt>
    <dgm:pt modelId="{26EAA480-2053-412F-935C-2048946D9076}">
      <dgm:prSet phldrT="[Text]" custT="1"/>
      <dgm:spPr>
        <a:solidFill>
          <a:srgbClr val="00B050"/>
        </a:solidFill>
      </dgm:spPr>
      <dgm:t>
        <a:bodyPr/>
        <a:lstStyle/>
        <a:p>
          <a:r>
            <a:rPr lang="en-US" sz="1200" b="1">
              <a:solidFill>
                <a:schemeClr val="tx1"/>
              </a:solidFill>
            </a:rPr>
            <a:t>BP Directors</a:t>
          </a:r>
        </a:p>
      </dgm:t>
    </dgm:pt>
    <dgm:pt modelId="{805250B1-BB1B-4A67-A70C-6BF00644EB98}" type="parTrans" cxnId="{6CBD1827-450C-4E3D-8488-1A1A0C700A4B}">
      <dgm:prSet/>
      <dgm:spPr/>
      <dgm:t>
        <a:bodyPr/>
        <a:lstStyle/>
        <a:p>
          <a:endParaRPr lang="en-US"/>
        </a:p>
      </dgm:t>
    </dgm:pt>
    <dgm:pt modelId="{1E733F74-E4B6-42AF-B347-9CFB4F1CE640}" type="sibTrans" cxnId="{6CBD1827-450C-4E3D-8488-1A1A0C700A4B}">
      <dgm:prSet/>
      <dgm:spPr/>
      <dgm:t>
        <a:bodyPr/>
        <a:lstStyle/>
        <a:p>
          <a:endParaRPr lang="en-US"/>
        </a:p>
      </dgm:t>
    </dgm:pt>
    <dgm:pt modelId="{10C0331A-DC2F-43B4-83B9-D33D45E08F60}">
      <dgm:prSet custT="1"/>
      <dgm:spPr>
        <a:solidFill>
          <a:schemeClr val="accent1">
            <a:lumMod val="20000"/>
            <a:lumOff val="80000"/>
          </a:schemeClr>
        </a:solidFill>
      </dgm:spPr>
      <dgm:t>
        <a:bodyPr/>
        <a:lstStyle/>
        <a:p>
          <a:r>
            <a:rPr lang="en-US" sz="1200" b="1">
              <a:solidFill>
                <a:schemeClr val="tx1"/>
              </a:solidFill>
            </a:rPr>
            <a:t>AMP Directors</a:t>
          </a:r>
        </a:p>
      </dgm:t>
    </dgm:pt>
    <dgm:pt modelId="{2F2100EF-379F-4497-B836-87A415E1F8D0}" type="parTrans" cxnId="{73EB09F0-0361-47FB-B75E-DF764F862CBF}">
      <dgm:prSet/>
      <dgm:spPr/>
      <dgm:t>
        <a:bodyPr/>
        <a:lstStyle/>
        <a:p>
          <a:endParaRPr lang="en-US"/>
        </a:p>
      </dgm:t>
    </dgm:pt>
    <dgm:pt modelId="{8B92CE8C-51ED-48D6-A8BE-473D4A5A9767}" type="sibTrans" cxnId="{73EB09F0-0361-47FB-B75E-DF764F862CBF}">
      <dgm:prSet/>
      <dgm:spPr/>
      <dgm:t>
        <a:bodyPr/>
        <a:lstStyle/>
        <a:p>
          <a:endParaRPr lang="en-US"/>
        </a:p>
      </dgm:t>
    </dgm:pt>
    <dgm:pt modelId="{A413A151-36A4-4FA4-AC7B-0A1717E6EACF}">
      <dgm:prSet phldrT="[Text]" custT="1"/>
      <dgm:spPr>
        <a:solidFill>
          <a:schemeClr val="accent1"/>
        </a:solidFill>
      </dgm:spPr>
      <dgm:t>
        <a:bodyPr/>
        <a:lstStyle/>
        <a:p>
          <a:r>
            <a:rPr lang="en-US" sz="1200" b="1">
              <a:solidFill>
                <a:schemeClr val="tx1"/>
              </a:solidFill>
            </a:rPr>
            <a:t>DCRADO</a:t>
          </a:r>
        </a:p>
      </dgm:t>
    </dgm:pt>
    <dgm:pt modelId="{6CF54F3E-40BC-4A2B-98FF-30E4B42D9FA8}" type="parTrans" cxnId="{1E214E57-B9ED-4277-889A-FB238F29A762}">
      <dgm:prSet/>
      <dgm:spPr/>
      <dgm:t>
        <a:bodyPr/>
        <a:lstStyle/>
        <a:p>
          <a:endParaRPr lang="en-US"/>
        </a:p>
      </dgm:t>
    </dgm:pt>
    <dgm:pt modelId="{936AF45D-8621-4668-B3F4-2BA5F3D858D6}" type="sibTrans" cxnId="{1E214E57-B9ED-4277-889A-FB238F29A762}">
      <dgm:prSet/>
      <dgm:spPr/>
      <dgm:t>
        <a:bodyPr/>
        <a:lstStyle/>
        <a:p>
          <a:endParaRPr lang="en-US"/>
        </a:p>
      </dgm:t>
    </dgm:pt>
    <dgm:pt modelId="{E55B7A11-A1EB-498D-8D3B-654EB0D3BBB8}">
      <dgm:prSet phldrT="[Text]" custT="1"/>
      <dgm:spPr>
        <a:solidFill>
          <a:schemeClr val="accent1"/>
        </a:solidFill>
      </dgm:spPr>
      <dgm:t>
        <a:bodyPr/>
        <a:lstStyle/>
        <a:p>
          <a:r>
            <a:rPr lang="en-US" sz="1200" b="1">
              <a:solidFill>
                <a:schemeClr val="tx1"/>
              </a:solidFill>
            </a:rPr>
            <a:t>Research Integration Dir.</a:t>
          </a:r>
        </a:p>
      </dgm:t>
    </dgm:pt>
    <dgm:pt modelId="{B4C66089-8DF9-4954-9811-701613C49BB8}" type="parTrans" cxnId="{4482710B-D6CA-4DD8-943A-56B7474180AE}">
      <dgm:prSet/>
      <dgm:spPr/>
      <dgm:t>
        <a:bodyPr/>
        <a:lstStyle/>
        <a:p>
          <a:endParaRPr lang="en-US"/>
        </a:p>
      </dgm:t>
    </dgm:pt>
    <dgm:pt modelId="{85343C81-A2DB-4770-8935-0D36179846EA}" type="sibTrans" cxnId="{4482710B-D6CA-4DD8-943A-56B7474180AE}">
      <dgm:prSet/>
      <dgm:spPr/>
      <dgm:t>
        <a:bodyPr/>
        <a:lstStyle/>
        <a:p>
          <a:endParaRPr lang="en-US"/>
        </a:p>
      </dgm:t>
    </dgm:pt>
    <dgm:pt modelId="{B260E9A6-69BB-49D1-9175-CBDF86A667E2}">
      <dgm:prSet phldrT="[Text]" custT="1"/>
      <dgm:spPr>
        <a:solidFill>
          <a:schemeClr val="accent1"/>
        </a:solidFill>
      </dgm:spPr>
      <dgm:t>
        <a:bodyPr/>
        <a:lstStyle/>
        <a:p>
          <a:r>
            <a:rPr lang="en-US" sz="1200" b="1">
              <a:solidFill>
                <a:schemeClr val="tx1"/>
              </a:solidFill>
            </a:rPr>
            <a:t>Ops Dir.</a:t>
          </a:r>
        </a:p>
      </dgm:t>
    </dgm:pt>
    <dgm:pt modelId="{6D3FBE08-D2DA-47AE-840E-9765F915BB9F}" type="parTrans" cxnId="{753923A7-D17C-440E-8AD1-DA958EF5F6B8}">
      <dgm:prSet/>
      <dgm:spPr/>
      <dgm:t>
        <a:bodyPr/>
        <a:lstStyle/>
        <a:p>
          <a:endParaRPr lang="en-US"/>
        </a:p>
      </dgm:t>
    </dgm:pt>
    <dgm:pt modelId="{0827D690-35FF-4C46-AC73-7F9D06330996}" type="sibTrans" cxnId="{753923A7-D17C-440E-8AD1-DA958EF5F6B8}">
      <dgm:prSet/>
      <dgm:spPr/>
      <dgm:t>
        <a:bodyPr/>
        <a:lstStyle/>
        <a:p>
          <a:endParaRPr lang="en-US"/>
        </a:p>
      </dgm:t>
    </dgm:pt>
    <dgm:pt modelId="{D14C26D7-A196-4597-BC9B-57F8113CA0FD}">
      <dgm:prSet custT="1"/>
      <dgm:spPr>
        <a:solidFill>
          <a:schemeClr val="accent1">
            <a:lumMod val="20000"/>
            <a:lumOff val="80000"/>
          </a:schemeClr>
        </a:solidFill>
      </dgm:spPr>
      <dgm:t>
        <a:bodyPr/>
        <a:lstStyle/>
        <a:p>
          <a:r>
            <a:rPr lang="en-US" sz="1200" b="1">
              <a:solidFill>
                <a:schemeClr val="tx1"/>
              </a:solidFill>
            </a:rPr>
            <a:t>Program Directors</a:t>
          </a:r>
        </a:p>
      </dgm:t>
    </dgm:pt>
    <dgm:pt modelId="{708C5F37-40BC-4CEC-A29F-7A8FC7F7F45C}" type="parTrans" cxnId="{C512665D-A238-4ECC-B7F5-CD4CC8CD0050}">
      <dgm:prSet/>
      <dgm:spPr/>
      <dgm:t>
        <a:bodyPr/>
        <a:lstStyle/>
        <a:p>
          <a:endParaRPr lang="en-US"/>
        </a:p>
      </dgm:t>
    </dgm:pt>
    <dgm:pt modelId="{B7A6C2DB-9D1F-451B-9E91-3B1DD8B20C63}" type="sibTrans" cxnId="{C512665D-A238-4ECC-B7F5-CD4CC8CD0050}">
      <dgm:prSet/>
      <dgm:spPr/>
      <dgm:t>
        <a:bodyPr/>
        <a:lstStyle/>
        <a:p>
          <a:endParaRPr lang="en-US"/>
        </a:p>
      </dgm:t>
    </dgm:pt>
    <dgm:pt modelId="{2EF32C02-ED5F-45DD-A7DE-465E4F40F3B5}" type="pres">
      <dgm:prSet presAssocID="{3238BD26-07E7-4909-89C0-8677FE97240C}" presName="cycle" presStyleCnt="0">
        <dgm:presLayoutVars>
          <dgm:chMax val="1"/>
          <dgm:dir/>
          <dgm:animLvl val="ctr"/>
          <dgm:resizeHandles val="exact"/>
        </dgm:presLayoutVars>
      </dgm:prSet>
      <dgm:spPr/>
    </dgm:pt>
    <dgm:pt modelId="{4B7A12EF-FE28-4014-BC01-08A562FF4A7C}" type="pres">
      <dgm:prSet presAssocID="{F191B918-FEF4-4BAD-8AF4-E01D7EF7C239}" presName="centerShape" presStyleLbl="node0" presStyleIdx="0" presStyleCnt="1" custScaleX="620406" custScaleY="608201" custLinFactNeighborX="-242" custLinFactNeighborY="0"/>
      <dgm:spPr/>
    </dgm:pt>
    <dgm:pt modelId="{ADD0992B-9AFC-40A9-8D05-1733F320F41A}" type="pres">
      <dgm:prSet presAssocID="{805250B1-BB1B-4A67-A70C-6BF00644EB98}" presName="Name9" presStyleLbl="parChTrans1D2" presStyleIdx="0" presStyleCnt="6"/>
      <dgm:spPr/>
    </dgm:pt>
    <dgm:pt modelId="{B7904162-0567-46BC-9C7F-9B64B8FAE3F6}" type="pres">
      <dgm:prSet presAssocID="{805250B1-BB1B-4A67-A70C-6BF00644EB98}" presName="connTx" presStyleLbl="parChTrans1D2" presStyleIdx="0" presStyleCnt="6"/>
      <dgm:spPr/>
    </dgm:pt>
    <dgm:pt modelId="{6CE6283A-8511-4E38-9829-63C06BC9F373}" type="pres">
      <dgm:prSet presAssocID="{26EAA480-2053-412F-935C-2048946D9076}" presName="node" presStyleLbl="node1" presStyleIdx="0" presStyleCnt="6" custScaleX="146410" custScaleY="146410" custRadScaleRad="79237" custRadScaleInc="-3853">
        <dgm:presLayoutVars>
          <dgm:bulletEnabled val="1"/>
        </dgm:presLayoutVars>
      </dgm:prSet>
      <dgm:spPr/>
    </dgm:pt>
    <dgm:pt modelId="{0C9D1C75-0746-46E7-A0FA-3DEAE2AB8615}" type="pres">
      <dgm:prSet presAssocID="{2F2100EF-379F-4497-B836-87A415E1F8D0}" presName="Name9" presStyleLbl="parChTrans1D2" presStyleIdx="1" presStyleCnt="6"/>
      <dgm:spPr/>
    </dgm:pt>
    <dgm:pt modelId="{2623A121-2314-4071-9C48-5CF8D537B54B}" type="pres">
      <dgm:prSet presAssocID="{2F2100EF-379F-4497-B836-87A415E1F8D0}" presName="connTx" presStyleLbl="parChTrans1D2" presStyleIdx="1" presStyleCnt="6"/>
      <dgm:spPr/>
    </dgm:pt>
    <dgm:pt modelId="{11B88054-4621-4A5D-8D54-F46090FC05B3}" type="pres">
      <dgm:prSet presAssocID="{10C0331A-DC2F-43B4-83B9-D33D45E08F60}" presName="node" presStyleLbl="node1" presStyleIdx="1" presStyleCnt="6" custScaleX="146410" custScaleY="146410" custRadScaleRad="78218" custRadScaleInc="-11379">
        <dgm:presLayoutVars>
          <dgm:bulletEnabled val="1"/>
        </dgm:presLayoutVars>
      </dgm:prSet>
      <dgm:spPr/>
    </dgm:pt>
    <dgm:pt modelId="{C0A62B36-963B-4DA4-B27B-F91F05D91114}" type="pres">
      <dgm:prSet presAssocID="{708C5F37-40BC-4CEC-A29F-7A8FC7F7F45C}" presName="Name9" presStyleLbl="parChTrans1D2" presStyleIdx="2" presStyleCnt="6"/>
      <dgm:spPr/>
    </dgm:pt>
    <dgm:pt modelId="{262D9FC5-2FED-417E-A4C9-90FFAE5D5B48}" type="pres">
      <dgm:prSet presAssocID="{708C5F37-40BC-4CEC-A29F-7A8FC7F7F45C}" presName="connTx" presStyleLbl="parChTrans1D2" presStyleIdx="2" presStyleCnt="6"/>
      <dgm:spPr/>
    </dgm:pt>
    <dgm:pt modelId="{5FB2F15A-6BDB-4D52-BA83-A1CFFF66A8ED}" type="pres">
      <dgm:prSet presAssocID="{D14C26D7-A196-4597-BC9B-57F8113CA0FD}" presName="node" presStyleLbl="node1" presStyleIdx="2" presStyleCnt="6" custScaleX="146410" custScaleY="146410" custRadScaleRad="80623" custRadScaleInc="6155">
        <dgm:presLayoutVars>
          <dgm:bulletEnabled val="1"/>
        </dgm:presLayoutVars>
      </dgm:prSet>
      <dgm:spPr/>
    </dgm:pt>
    <dgm:pt modelId="{7A1FD8AB-7AB5-40CF-9FE8-C205E023E267}" type="pres">
      <dgm:prSet presAssocID="{6CF54F3E-40BC-4A2B-98FF-30E4B42D9FA8}" presName="Name9" presStyleLbl="parChTrans1D2" presStyleIdx="3" presStyleCnt="6"/>
      <dgm:spPr/>
    </dgm:pt>
    <dgm:pt modelId="{5180B9DD-175A-47D5-B001-FC70EB43944E}" type="pres">
      <dgm:prSet presAssocID="{6CF54F3E-40BC-4A2B-98FF-30E4B42D9FA8}" presName="connTx" presStyleLbl="parChTrans1D2" presStyleIdx="3" presStyleCnt="6"/>
      <dgm:spPr/>
    </dgm:pt>
    <dgm:pt modelId="{75DD4E1E-5960-4007-A336-8C228F16442D}" type="pres">
      <dgm:prSet presAssocID="{A413A151-36A4-4FA4-AC7B-0A1717E6EACF}" presName="node" presStyleLbl="node1" presStyleIdx="3" presStyleCnt="6" custScaleX="146410" custScaleY="146410" custRadScaleRad="76586" custRadScaleInc="-5316">
        <dgm:presLayoutVars>
          <dgm:bulletEnabled val="1"/>
        </dgm:presLayoutVars>
      </dgm:prSet>
      <dgm:spPr/>
    </dgm:pt>
    <dgm:pt modelId="{9DC84FD7-FE4D-4337-9DB2-40CDAFC5D109}" type="pres">
      <dgm:prSet presAssocID="{B4C66089-8DF9-4954-9811-701613C49BB8}" presName="Name9" presStyleLbl="parChTrans1D2" presStyleIdx="4" presStyleCnt="6"/>
      <dgm:spPr/>
    </dgm:pt>
    <dgm:pt modelId="{05BF354C-E05B-4853-837A-A469684C44A3}" type="pres">
      <dgm:prSet presAssocID="{B4C66089-8DF9-4954-9811-701613C49BB8}" presName="connTx" presStyleLbl="parChTrans1D2" presStyleIdx="4" presStyleCnt="6"/>
      <dgm:spPr/>
    </dgm:pt>
    <dgm:pt modelId="{FA0C6118-15BE-4001-933F-BE832C68B979}" type="pres">
      <dgm:prSet presAssocID="{E55B7A11-A1EB-498D-8D3B-654EB0D3BBB8}" presName="node" presStyleLbl="node1" presStyleIdx="4" presStyleCnt="6" custScaleX="160334" custScaleY="146410" custRadScaleRad="78879" custRadScaleInc="-4229">
        <dgm:presLayoutVars>
          <dgm:bulletEnabled val="1"/>
        </dgm:presLayoutVars>
      </dgm:prSet>
      <dgm:spPr/>
    </dgm:pt>
    <dgm:pt modelId="{05F4D875-765D-4DC4-BB3E-0E402AA071CC}" type="pres">
      <dgm:prSet presAssocID="{6D3FBE08-D2DA-47AE-840E-9765F915BB9F}" presName="Name9" presStyleLbl="parChTrans1D2" presStyleIdx="5" presStyleCnt="6"/>
      <dgm:spPr/>
    </dgm:pt>
    <dgm:pt modelId="{F5C29868-A529-45D6-BF77-2DF8F3505A7E}" type="pres">
      <dgm:prSet presAssocID="{6D3FBE08-D2DA-47AE-840E-9765F915BB9F}" presName="connTx" presStyleLbl="parChTrans1D2" presStyleIdx="5" presStyleCnt="6"/>
      <dgm:spPr/>
    </dgm:pt>
    <dgm:pt modelId="{934CB72E-A575-4695-A4BF-35EF36B89DA1}" type="pres">
      <dgm:prSet presAssocID="{B260E9A6-69BB-49D1-9175-CBDF86A667E2}" presName="node" presStyleLbl="node1" presStyleIdx="5" presStyleCnt="6" custScaleX="146410" custScaleY="146410" custRadScaleRad="81438" custRadScaleInc="2054">
        <dgm:presLayoutVars>
          <dgm:bulletEnabled val="1"/>
        </dgm:presLayoutVars>
      </dgm:prSet>
      <dgm:spPr/>
    </dgm:pt>
  </dgm:ptLst>
  <dgm:cxnLst>
    <dgm:cxn modelId="{326ED801-7D6E-4374-A13B-119C0D67BEB4}" type="presOf" srcId="{E55B7A11-A1EB-498D-8D3B-654EB0D3BBB8}" destId="{FA0C6118-15BE-4001-933F-BE832C68B979}" srcOrd="0" destOrd="0" presId="urn:microsoft.com/office/officeart/2005/8/layout/radial1"/>
    <dgm:cxn modelId="{4482710B-D6CA-4DD8-943A-56B7474180AE}" srcId="{F191B918-FEF4-4BAD-8AF4-E01D7EF7C239}" destId="{E55B7A11-A1EB-498D-8D3B-654EB0D3BBB8}" srcOrd="4" destOrd="0" parTransId="{B4C66089-8DF9-4954-9811-701613C49BB8}" sibTransId="{85343C81-A2DB-4770-8935-0D36179846EA}"/>
    <dgm:cxn modelId="{05208C0E-7360-4252-ADCC-229B8286253B}" type="presOf" srcId="{3238BD26-07E7-4909-89C0-8677FE97240C}" destId="{2EF32C02-ED5F-45DD-A7DE-465E4F40F3B5}" srcOrd="0" destOrd="0" presId="urn:microsoft.com/office/officeart/2005/8/layout/radial1"/>
    <dgm:cxn modelId="{9F0AAC1A-F8C5-4C45-904B-55C37D5C67A3}" type="presOf" srcId="{805250B1-BB1B-4A67-A70C-6BF00644EB98}" destId="{B7904162-0567-46BC-9C7F-9B64B8FAE3F6}" srcOrd="1" destOrd="0" presId="urn:microsoft.com/office/officeart/2005/8/layout/radial1"/>
    <dgm:cxn modelId="{BDDC1A1D-E674-4BDC-8543-91EA5177334D}" type="presOf" srcId="{6D3FBE08-D2DA-47AE-840E-9765F915BB9F}" destId="{F5C29868-A529-45D6-BF77-2DF8F3505A7E}" srcOrd="1" destOrd="0" presId="urn:microsoft.com/office/officeart/2005/8/layout/radial1"/>
    <dgm:cxn modelId="{8446B126-84CD-47DE-ACA7-E40302A4F810}" type="presOf" srcId="{B4C66089-8DF9-4954-9811-701613C49BB8}" destId="{05BF354C-E05B-4853-837A-A469684C44A3}" srcOrd="1" destOrd="0" presId="urn:microsoft.com/office/officeart/2005/8/layout/radial1"/>
    <dgm:cxn modelId="{6CBD1827-450C-4E3D-8488-1A1A0C700A4B}" srcId="{F191B918-FEF4-4BAD-8AF4-E01D7EF7C239}" destId="{26EAA480-2053-412F-935C-2048946D9076}" srcOrd="0" destOrd="0" parTransId="{805250B1-BB1B-4A67-A70C-6BF00644EB98}" sibTransId="{1E733F74-E4B6-42AF-B347-9CFB4F1CE640}"/>
    <dgm:cxn modelId="{B4EA4A37-7EB8-4F67-9D2B-008FD963BD5A}" type="presOf" srcId="{D14C26D7-A196-4597-BC9B-57F8113CA0FD}" destId="{5FB2F15A-6BDB-4D52-BA83-A1CFFF66A8ED}" srcOrd="0" destOrd="0" presId="urn:microsoft.com/office/officeart/2005/8/layout/radial1"/>
    <dgm:cxn modelId="{3CB6B038-1818-445E-A6E7-C18B536F4926}" type="presOf" srcId="{805250B1-BB1B-4A67-A70C-6BF00644EB98}" destId="{ADD0992B-9AFC-40A9-8D05-1733F320F41A}" srcOrd="0" destOrd="0" presId="urn:microsoft.com/office/officeart/2005/8/layout/radial1"/>
    <dgm:cxn modelId="{AC45D639-4F7B-481C-B1AB-1D732A2A58E2}" type="presOf" srcId="{708C5F37-40BC-4CEC-A29F-7A8FC7F7F45C}" destId="{C0A62B36-963B-4DA4-B27B-F91F05D91114}" srcOrd="0" destOrd="0" presId="urn:microsoft.com/office/officeart/2005/8/layout/radial1"/>
    <dgm:cxn modelId="{334D923F-6913-42F2-9AFE-10437FEE3F04}" srcId="{3238BD26-07E7-4909-89C0-8677FE97240C}" destId="{F191B918-FEF4-4BAD-8AF4-E01D7EF7C239}" srcOrd="0" destOrd="0" parTransId="{18E39B30-D1F2-4BAE-AE00-3A8CDCDDCA41}" sibTransId="{50A36E35-0002-4D86-9D03-919EA9014F9B}"/>
    <dgm:cxn modelId="{C512665D-A238-4ECC-B7F5-CD4CC8CD0050}" srcId="{F191B918-FEF4-4BAD-8AF4-E01D7EF7C239}" destId="{D14C26D7-A196-4597-BC9B-57F8113CA0FD}" srcOrd="2" destOrd="0" parTransId="{708C5F37-40BC-4CEC-A29F-7A8FC7F7F45C}" sibTransId="{B7A6C2DB-9D1F-451B-9E91-3B1DD8B20C63}"/>
    <dgm:cxn modelId="{BAE2BC76-CFAE-42C7-BDB0-1B2234C014DC}" type="presOf" srcId="{708C5F37-40BC-4CEC-A29F-7A8FC7F7F45C}" destId="{262D9FC5-2FED-417E-A4C9-90FFAE5D5B48}" srcOrd="1" destOrd="0" presId="urn:microsoft.com/office/officeart/2005/8/layout/radial1"/>
    <dgm:cxn modelId="{1E214E57-B9ED-4277-889A-FB238F29A762}" srcId="{F191B918-FEF4-4BAD-8AF4-E01D7EF7C239}" destId="{A413A151-36A4-4FA4-AC7B-0A1717E6EACF}" srcOrd="3" destOrd="0" parTransId="{6CF54F3E-40BC-4A2B-98FF-30E4B42D9FA8}" sibTransId="{936AF45D-8621-4668-B3F4-2BA5F3D858D6}"/>
    <dgm:cxn modelId="{843BCD5A-0281-4D49-AD5E-BD8843FD88C3}" type="presOf" srcId="{2F2100EF-379F-4497-B836-87A415E1F8D0}" destId="{0C9D1C75-0746-46E7-A0FA-3DEAE2AB8615}" srcOrd="0" destOrd="0" presId="urn:microsoft.com/office/officeart/2005/8/layout/radial1"/>
    <dgm:cxn modelId="{E976759E-2ADA-4E9F-8E73-62792E97DD65}" type="presOf" srcId="{2F2100EF-379F-4497-B836-87A415E1F8D0}" destId="{2623A121-2314-4071-9C48-5CF8D537B54B}" srcOrd="1" destOrd="0" presId="urn:microsoft.com/office/officeart/2005/8/layout/radial1"/>
    <dgm:cxn modelId="{753923A7-D17C-440E-8AD1-DA958EF5F6B8}" srcId="{F191B918-FEF4-4BAD-8AF4-E01D7EF7C239}" destId="{B260E9A6-69BB-49D1-9175-CBDF86A667E2}" srcOrd="5" destOrd="0" parTransId="{6D3FBE08-D2DA-47AE-840E-9765F915BB9F}" sibTransId="{0827D690-35FF-4C46-AC73-7F9D06330996}"/>
    <dgm:cxn modelId="{33BDDAB3-3A27-44FA-94E6-222F931FE5A6}" type="presOf" srcId="{10C0331A-DC2F-43B4-83B9-D33D45E08F60}" destId="{11B88054-4621-4A5D-8D54-F46090FC05B3}" srcOrd="0" destOrd="0" presId="urn:microsoft.com/office/officeart/2005/8/layout/radial1"/>
    <dgm:cxn modelId="{960B50B7-9D9C-4ED2-B19D-AB5E400B47DA}" type="presOf" srcId="{6CF54F3E-40BC-4A2B-98FF-30E4B42D9FA8}" destId="{5180B9DD-175A-47D5-B001-FC70EB43944E}" srcOrd="1" destOrd="0" presId="urn:microsoft.com/office/officeart/2005/8/layout/radial1"/>
    <dgm:cxn modelId="{341D59C8-1DC1-4289-A974-719B69DF2CF6}" type="presOf" srcId="{F191B918-FEF4-4BAD-8AF4-E01D7EF7C239}" destId="{4B7A12EF-FE28-4014-BC01-08A562FF4A7C}" srcOrd="0" destOrd="0" presId="urn:microsoft.com/office/officeart/2005/8/layout/radial1"/>
    <dgm:cxn modelId="{E02F30CD-7884-4C55-BF33-A2C093B07CDA}" type="presOf" srcId="{A413A151-36A4-4FA4-AC7B-0A1717E6EACF}" destId="{75DD4E1E-5960-4007-A336-8C228F16442D}" srcOrd="0" destOrd="0" presId="urn:microsoft.com/office/officeart/2005/8/layout/radial1"/>
    <dgm:cxn modelId="{A3A334CF-D8A8-4788-88ED-E9308E21ECEC}" type="presOf" srcId="{26EAA480-2053-412F-935C-2048946D9076}" destId="{6CE6283A-8511-4E38-9829-63C06BC9F373}" srcOrd="0" destOrd="0" presId="urn:microsoft.com/office/officeart/2005/8/layout/radial1"/>
    <dgm:cxn modelId="{A22918D2-24A5-4A35-AC80-B1C60F7E446E}" type="presOf" srcId="{B4C66089-8DF9-4954-9811-701613C49BB8}" destId="{9DC84FD7-FE4D-4337-9DB2-40CDAFC5D109}" srcOrd="0" destOrd="0" presId="urn:microsoft.com/office/officeart/2005/8/layout/radial1"/>
    <dgm:cxn modelId="{A78EF3D7-7021-4AA5-9CA2-8AF0CF126ABF}" type="presOf" srcId="{B260E9A6-69BB-49D1-9175-CBDF86A667E2}" destId="{934CB72E-A575-4695-A4BF-35EF36B89DA1}" srcOrd="0" destOrd="0" presId="urn:microsoft.com/office/officeart/2005/8/layout/radial1"/>
    <dgm:cxn modelId="{E96523D8-A7F2-4644-A3B8-9E20A5D5D46B}" type="presOf" srcId="{6CF54F3E-40BC-4A2B-98FF-30E4B42D9FA8}" destId="{7A1FD8AB-7AB5-40CF-9FE8-C205E023E267}" srcOrd="0" destOrd="0" presId="urn:microsoft.com/office/officeart/2005/8/layout/radial1"/>
    <dgm:cxn modelId="{389AE6E4-ADE9-483D-B38A-9DFAABB1CEB3}" type="presOf" srcId="{6D3FBE08-D2DA-47AE-840E-9765F915BB9F}" destId="{05F4D875-765D-4DC4-BB3E-0E402AA071CC}" srcOrd="0" destOrd="0" presId="urn:microsoft.com/office/officeart/2005/8/layout/radial1"/>
    <dgm:cxn modelId="{73EB09F0-0361-47FB-B75E-DF764F862CBF}" srcId="{F191B918-FEF4-4BAD-8AF4-E01D7EF7C239}" destId="{10C0331A-DC2F-43B4-83B9-D33D45E08F60}" srcOrd="1" destOrd="0" parTransId="{2F2100EF-379F-4497-B836-87A415E1F8D0}" sibTransId="{8B92CE8C-51ED-48D6-A8BE-473D4A5A9767}"/>
    <dgm:cxn modelId="{DBF1122B-364E-40B4-B434-3ECDD0482E47}" type="presParOf" srcId="{2EF32C02-ED5F-45DD-A7DE-465E4F40F3B5}" destId="{4B7A12EF-FE28-4014-BC01-08A562FF4A7C}" srcOrd="0" destOrd="0" presId="urn:microsoft.com/office/officeart/2005/8/layout/radial1"/>
    <dgm:cxn modelId="{1CA12915-1BE8-4E52-B530-52E33E805D31}" type="presParOf" srcId="{2EF32C02-ED5F-45DD-A7DE-465E4F40F3B5}" destId="{ADD0992B-9AFC-40A9-8D05-1733F320F41A}" srcOrd="1" destOrd="0" presId="urn:microsoft.com/office/officeart/2005/8/layout/radial1"/>
    <dgm:cxn modelId="{108775AC-B32F-423C-9144-723500EDBBCB}" type="presParOf" srcId="{ADD0992B-9AFC-40A9-8D05-1733F320F41A}" destId="{B7904162-0567-46BC-9C7F-9B64B8FAE3F6}" srcOrd="0" destOrd="0" presId="urn:microsoft.com/office/officeart/2005/8/layout/radial1"/>
    <dgm:cxn modelId="{31185E10-85EC-4FFF-A41B-AE3B7BE21E21}" type="presParOf" srcId="{2EF32C02-ED5F-45DD-A7DE-465E4F40F3B5}" destId="{6CE6283A-8511-4E38-9829-63C06BC9F373}" srcOrd="2" destOrd="0" presId="urn:microsoft.com/office/officeart/2005/8/layout/radial1"/>
    <dgm:cxn modelId="{69D182B4-A1D3-4951-941D-A14473EA5268}" type="presParOf" srcId="{2EF32C02-ED5F-45DD-A7DE-465E4F40F3B5}" destId="{0C9D1C75-0746-46E7-A0FA-3DEAE2AB8615}" srcOrd="3" destOrd="0" presId="urn:microsoft.com/office/officeart/2005/8/layout/radial1"/>
    <dgm:cxn modelId="{8DB86725-E5E4-4FD2-82C2-E156F23A65B9}" type="presParOf" srcId="{0C9D1C75-0746-46E7-A0FA-3DEAE2AB8615}" destId="{2623A121-2314-4071-9C48-5CF8D537B54B}" srcOrd="0" destOrd="0" presId="urn:microsoft.com/office/officeart/2005/8/layout/radial1"/>
    <dgm:cxn modelId="{C10D57C5-2E33-4D66-A75F-D44F8C7C3F7E}" type="presParOf" srcId="{2EF32C02-ED5F-45DD-A7DE-465E4F40F3B5}" destId="{11B88054-4621-4A5D-8D54-F46090FC05B3}" srcOrd="4" destOrd="0" presId="urn:microsoft.com/office/officeart/2005/8/layout/radial1"/>
    <dgm:cxn modelId="{E930A0A4-606F-4573-8D86-3CEF2D2DD011}" type="presParOf" srcId="{2EF32C02-ED5F-45DD-A7DE-465E4F40F3B5}" destId="{C0A62B36-963B-4DA4-B27B-F91F05D91114}" srcOrd="5" destOrd="0" presId="urn:microsoft.com/office/officeart/2005/8/layout/radial1"/>
    <dgm:cxn modelId="{A8F995CC-D1E0-4F89-8DC6-4D56D6F6505C}" type="presParOf" srcId="{C0A62B36-963B-4DA4-B27B-F91F05D91114}" destId="{262D9FC5-2FED-417E-A4C9-90FFAE5D5B48}" srcOrd="0" destOrd="0" presId="urn:microsoft.com/office/officeart/2005/8/layout/radial1"/>
    <dgm:cxn modelId="{CBE637E3-DBBC-493F-AFD8-DE7481C0BC6E}" type="presParOf" srcId="{2EF32C02-ED5F-45DD-A7DE-465E4F40F3B5}" destId="{5FB2F15A-6BDB-4D52-BA83-A1CFFF66A8ED}" srcOrd="6" destOrd="0" presId="urn:microsoft.com/office/officeart/2005/8/layout/radial1"/>
    <dgm:cxn modelId="{98A1E717-C367-4E66-881E-CF35074562B4}" type="presParOf" srcId="{2EF32C02-ED5F-45DD-A7DE-465E4F40F3B5}" destId="{7A1FD8AB-7AB5-40CF-9FE8-C205E023E267}" srcOrd="7" destOrd="0" presId="urn:microsoft.com/office/officeart/2005/8/layout/radial1"/>
    <dgm:cxn modelId="{96008DA9-6C9B-4DA6-B968-B4A118E570A6}" type="presParOf" srcId="{7A1FD8AB-7AB5-40CF-9FE8-C205E023E267}" destId="{5180B9DD-175A-47D5-B001-FC70EB43944E}" srcOrd="0" destOrd="0" presId="urn:microsoft.com/office/officeart/2005/8/layout/radial1"/>
    <dgm:cxn modelId="{706ABA5E-464F-486B-A471-07C4067E81A2}" type="presParOf" srcId="{2EF32C02-ED5F-45DD-A7DE-465E4F40F3B5}" destId="{75DD4E1E-5960-4007-A336-8C228F16442D}" srcOrd="8" destOrd="0" presId="urn:microsoft.com/office/officeart/2005/8/layout/radial1"/>
    <dgm:cxn modelId="{12769056-4257-4667-BBC7-89807E49D4AE}" type="presParOf" srcId="{2EF32C02-ED5F-45DD-A7DE-465E4F40F3B5}" destId="{9DC84FD7-FE4D-4337-9DB2-40CDAFC5D109}" srcOrd="9" destOrd="0" presId="urn:microsoft.com/office/officeart/2005/8/layout/radial1"/>
    <dgm:cxn modelId="{BACF0D24-7416-4851-AECD-DA7F921522D6}" type="presParOf" srcId="{9DC84FD7-FE4D-4337-9DB2-40CDAFC5D109}" destId="{05BF354C-E05B-4853-837A-A469684C44A3}" srcOrd="0" destOrd="0" presId="urn:microsoft.com/office/officeart/2005/8/layout/radial1"/>
    <dgm:cxn modelId="{33234172-B30E-41D8-9A23-6F8FB6407B30}" type="presParOf" srcId="{2EF32C02-ED5F-45DD-A7DE-465E4F40F3B5}" destId="{FA0C6118-15BE-4001-933F-BE832C68B979}" srcOrd="10" destOrd="0" presId="urn:microsoft.com/office/officeart/2005/8/layout/radial1"/>
    <dgm:cxn modelId="{421B95FF-8677-439F-A0BB-8E5B595A7C6D}" type="presParOf" srcId="{2EF32C02-ED5F-45DD-A7DE-465E4F40F3B5}" destId="{05F4D875-765D-4DC4-BB3E-0E402AA071CC}" srcOrd="11" destOrd="0" presId="urn:microsoft.com/office/officeart/2005/8/layout/radial1"/>
    <dgm:cxn modelId="{85F8C721-AA00-4BF8-AEFD-DAE5C9E86CFF}" type="presParOf" srcId="{05F4D875-765D-4DC4-BB3E-0E402AA071CC}" destId="{F5C29868-A529-45D6-BF77-2DF8F3505A7E}" srcOrd="0" destOrd="0" presId="urn:microsoft.com/office/officeart/2005/8/layout/radial1"/>
    <dgm:cxn modelId="{772C4743-FF99-445B-B40B-5919E9134116}" type="presParOf" srcId="{2EF32C02-ED5F-45DD-A7DE-465E4F40F3B5}" destId="{934CB72E-A575-4695-A4BF-35EF36B89DA1}" srcOrd="12"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1F26C7-F44A-41C9-A8DC-A30385B46036}">
      <dsp:nvSpPr>
        <dsp:cNvPr id="0" name=""/>
        <dsp:cNvSpPr/>
      </dsp:nvSpPr>
      <dsp:spPr>
        <a:xfrm>
          <a:off x="5634572" y="1795685"/>
          <a:ext cx="5101722" cy="490661"/>
        </a:xfrm>
        <a:custGeom>
          <a:avLst/>
          <a:gdLst/>
          <a:ahLst/>
          <a:cxnLst/>
          <a:rect l="0" t="0" r="0" b="0"/>
          <a:pathLst>
            <a:path>
              <a:moveTo>
                <a:pt x="0" y="0"/>
              </a:moveTo>
              <a:lnTo>
                <a:pt x="0" y="379983"/>
              </a:lnTo>
              <a:lnTo>
                <a:pt x="5101722" y="379983"/>
              </a:lnTo>
              <a:lnTo>
                <a:pt x="5101722"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EAF334-239D-450D-AE49-96EE7A4EC141}">
      <dsp:nvSpPr>
        <dsp:cNvPr id="0" name=""/>
        <dsp:cNvSpPr/>
      </dsp:nvSpPr>
      <dsp:spPr>
        <a:xfrm>
          <a:off x="5634572" y="1795685"/>
          <a:ext cx="3826292" cy="490661"/>
        </a:xfrm>
        <a:custGeom>
          <a:avLst/>
          <a:gdLst/>
          <a:ahLst/>
          <a:cxnLst/>
          <a:rect l="0" t="0" r="0" b="0"/>
          <a:pathLst>
            <a:path>
              <a:moveTo>
                <a:pt x="0" y="0"/>
              </a:moveTo>
              <a:lnTo>
                <a:pt x="0" y="379983"/>
              </a:lnTo>
              <a:lnTo>
                <a:pt x="3826292" y="379983"/>
              </a:lnTo>
              <a:lnTo>
                <a:pt x="3826292"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9E32CF-E3A9-4DBB-BFB8-70DE69FEECF2}">
      <dsp:nvSpPr>
        <dsp:cNvPr id="0" name=""/>
        <dsp:cNvSpPr/>
      </dsp:nvSpPr>
      <dsp:spPr>
        <a:xfrm>
          <a:off x="5634572" y="1795685"/>
          <a:ext cx="2550861" cy="490661"/>
        </a:xfrm>
        <a:custGeom>
          <a:avLst/>
          <a:gdLst/>
          <a:ahLst/>
          <a:cxnLst/>
          <a:rect l="0" t="0" r="0" b="0"/>
          <a:pathLst>
            <a:path>
              <a:moveTo>
                <a:pt x="0" y="0"/>
              </a:moveTo>
              <a:lnTo>
                <a:pt x="0" y="379983"/>
              </a:lnTo>
              <a:lnTo>
                <a:pt x="2550861" y="379983"/>
              </a:lnTo>
              <a:lnTo>
                <a:pt x="2550861"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7AD1AF-537D-4E0F-9066-0A7087792EAD}">
      <dsp:nvSpPr>
        <dsp:cNvPr id="0" name=""/>
        <dsp:cNvSpPr/>
      </dsp:nvSpPr>
      <dsp:spPr>
        <a:xfrm>
          <a:off x="5634572" y="1795685"/>
          <a:ext cx="1275430" cy="490661"/>
        </a:xfrm>
        <a:custGeom>
          <a:avLst/>
          <a:gdLst/>
          <a:ahLst/>
          <a:cxnLst/>
          <a:rect l="0" t="0" r="0" b="0"/>
          <a:pathLst>
            <a:path>
              <a:moveTo>
                <a:pt x="0" y="0"/>
              </a:moveTo>
              <a:lnTo>
                <a:pt x="0" y="379983"/>
              </a:lnTo>
              <a:lnTo>
                <a:pt x="1275430" y="379983"/>
              </a:lnTo>
              <a:lnTo>
                <a:pt x="1275430"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4134E2-723B-477E-9E6E-C813E0ACA002}">
      <dsp:nvSpPr>
        <dsp:cNvPr id="0" name=""/>
        <dsp:cNvSpPr/>
      </dsp:nvSpPr>
      <dsp:spPr>
        <a:xfrm>
          <a:off x="5588852" y="1795685"/>
          <a:ext cx="91440" cy="490661"/>
        </a:xfrm>
        <a:custGeom>
          <a:avLst/>
          <a:gdLst/>
          <a:ahLst/>
          <a:cxnLst/>
          <a:rect l="0" t="0" r="0" b="0"/>
          <a:pathLst>
            <a:path>
              <a:moveTo>
                <a:pt x="45720" y="0"/>
              </a:moveTo>
              <a:lnTo>
                <a:pt x="45720"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C298AB-2E63-4355-A2A2-4CA22B9DD125}">
      <dsp:nvSpPr>
        <dsp:cNvPr id="0" name=""/>
        <dsp:cNvSpPr/>
      </dsp:nvSpPr>
      <dsp:spPr>
        <a:xfrm>
          <a:off x="4359141" y="1795685"/>
          <a:ext cx="1275430" cy="490661"/>
        </a:xfrm>
        <a:custGeom>
          <a:avLst/>
          <a:gdLst/>
          <a:ahLst/>
          <a:cxnLst/>
          <a:rect l="0" t="0" r="0" b="0"/>
          <a:pathLst>
            <a:path>
              <a:moveTo>
                <a:pt x="1275430" y="0"/>
              </a:moveTo>
              <a:lnTo>
                <a:pt x="1275430" y="379983"/>
              </a:lnTo>
              <a:lnTo>
                <a:pt x="0" y="379983"/>
              </a:lnTo>
              <a:lnTo>
                <a:pt x="0"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9ADE14-1147-4564-9F40-7FFDBF96416F}">
      <dsp:nvSpPr>
        <dsp:cNvPr id="0" name=""/>
        <dsp:cNvSpPr/>
      </dsp:nvSpPr>
      <dsp:spPr>
        <a:xfrm>
          <a:off x="3083711" y="1795685"/>
          <a:ext cx="2550861" cy="490661"/>
        </a:xfrm>
        <a:custGeom>
          <a:avLst/>
          <a:gdLst/>
          <a:ahLst/>
          <a:cxnLst/>
          <a:rect l="0" t="0" r="0" b="0"/>
          <a:pathLst>
            <a:path>
              <a:moveTo>
                <a:pt x="2550861" y="0"/>
              </a:moveTo>
              <a:lnTo>
                <a:pt x="2550861" y="379983"/>
              </a:lnTo>
              <a:lnTo>
                <a:pt x="0" y="379983"/>
              </a:lnTo>
              <a:lnTo>
                <a:pt x="0"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D9BF9D-F445-490C-916F-0207C745FFF6}">
      <dsp:nvSpPr>
        <dsp:cNvPr id="0" name=""/>
        <dsp:cNvSpPr/>
      </dsp:nvSpPr>
      <dsp:spPr>
        <a:xfrm>
          <a:off x="1808280" y="1795685"/>
          <a:ext cx="3826292" cy="490661"/>
        </a:xfrm>
        <a:custGeom>
          <a:avLst/>
          <a:gdLst/>
          <a:ahLst/>
          <a:cxnLst/>
          <a:rect l="0" t="0" r="0" b="0"/>
          <a:pathLst>
            <a:path>
              <a:moveTo>
                <a:pt x="3826292" y="0"/>
              </a:moveTo>
              <a:lnTo>
                <a:pt x="3826292" y="379983"/>
              </a:lnTo>
              <a:lnTo>
                <a:pt x="0" y="379983"/>
              </a:lnTo>
              <a:lnTo>
                <a:pt x="0"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148B3A-8E34-4E96-9508-BCC7D97AA1C1}">
      <dsp:nvSpPr>
        <dsp:cNvPr id="0" name=""/>
        <dsp:cNvSpPr/>
      </dsp:nvSpPr>
      <dsp:spPr>
        <a:xfrm>
          <a:off x="532849" y="1795685"/>
          <a:ext cx="5101722" cy="490661"/>
        </a:xfrm>
        <a:custGeom>
          <a:avLst/>
          <a:gdLst/>
          <a:ahLst/>
          <a:cxnLst/>
          <a:rect l="0" t="0" r="0" b="0"/>
          <a:pathLst>
            <a:path>
              <a:moveTo>
                <a:pt x="5101722" y="0"/>
              </a:moveTo>
              <a:lnTo>
                <a:pt x="5101722" y="379983"/>
              </a:lnTo>
              <a:lnTo>
                <a:pt x="0" y="379983"/>
              </a:lnTo>
              <a:lnTo>
                <a:pt x="0" y="49066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1F0CA8-3957-4CAE-915B-024B5A6F204A}">
      <dsp:nvSpPr>
        <dsp:cNvPr id="0" name=""/>
        <dsp:cNvSpPr/>
      </dsp:nvSpPr>
      <dsp:spPr>
        <a:xfrm>
          <a:off x="5107535" y="1268648"/>
          <a:ext cx="1054074" cy="527037"/>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Leadership Council</a:t>
          </a:r>
        </a:p>
      </dsp:txBody>
      <dsp:txXfrm>
        <a:off x="5107535" y="1268648"/>
        <a:ext cx="1054074" cy="527037"/>
      </dsp:txXfrm>
    </dsp:sp>
    <dsp:sp modelId="{FC612050-3DF4-489E-B1B7-243DC7F961C9}">
      <dsp:nvSpPr>
        <dsp:cNvPr id="0" name=""/>
        <dsp:cNvSpPr/>
      </dsp:nvSpPr>
      <dsp:spPr>
        <a:xfrm>
          <a:off x="5812" y="2286346"/>
          <a:ext cx="1054074" cy="527037"/>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Traumatic Brain Injury </a:t>
          </a:r>
        </a:p>
      </dsp:txBody>
      <dsp:txXfrm>
        <a:off x="5812" y="2286346"/>
        <a:ext cx="1054074" cy="527037"/>
      </dsp:txXfrm>
    </dsp:sp>
    <dsp:sp modelId="{57695B00-9D85-4A1B-8F50-DD7773C2A38C}">
      <dsp:nvSpPr>
        <dsp:cNvPr id="0" name=""/>
        <dsp:cNvSpPr/>
      </dsp:nvSpPr>
      <dsp:spPr>
        <a:xfrm>
          <a:off x="1281242" y="2286346"/>
          <a:ext cx="1054074" cy="527037"/>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Suicide Prevention</a:t>
          </a:r>
        </a:p>
      </dsp:txBody>
      <dsp:txXfrm>
        <a:off x="1281242" y="2286346"/>
        <a:ext cx="1054074" cy="527037"/>
      </dsp:txXfrm>
    </dsp:sp>
    <dsp:sp modelId="{34874774-8A23-4BED-B921-5208E549DC8D}">
      <dsp:nvSpPr>
        <dsp:cNvPr id="0" name=""/>
        <dsp:cNvSpPr/>
      </dsp:nvSpPr>
      <dsp:spPr>
        <a:xfrm>
          <a:off x="2556673" y="2286346"/>
          <a:ext cx="1054074" cy="527037"/>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Pain/Opioid Use Disorders</a:t>
          </a:r>
        </a:p>
      </dsp:txBody>
      <dsp:txXfrm>
        <a:off x="2556673" y="2286346"/>
        <a:ext cx="1054074" cy="527037"/>
      </dsp:txXfrm>
    </dsp:sp>
    <dsp:sp modelId="{6378EB43-EB4C-4EAE-A63F-E371BCEB05D9}">
      <dsp:nvSpPr>
        <dsp:cNvPr id="0" name=""/>
        <dsp:cNvSpPr/>
      </dsp:nvSpPr>
      <dsp:spPr>
        <a:xfrm>
          <a:off x="3832104" y="2286346"/>
          <a:ext cx="1054074" cy="527037"/>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Military Exposures</a:t>
          </a:r>
        </a:p>
      </dsp:txBody>
      <dsp:txXfrm>
        <a:off x="3832104" y="2286346"/>
        <a:ext cx="1054074" cy="527037"/>
      </dsp:txXfrm>
    </dsp:sp>
    <dsp:sp modelId="{A266CC78-E417-43CF-AFC8-180C1D80A0E7}">
      <dsp:nvSpPr>
        <dsp:cNvPr id="0" name=""/>
        <dsp:cNvSpPr/>
      </dsp:nvSpPr>
      <dsp:spPr>
        <a:xfrm>
          <a:off x="5107535" y="2286346"/>
          <a:ext cx="1054074" cy="527037"/>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Precision Oncology</a:t>
          </a:r>
        </a:p>
      </dsp:txBody>
      <dsp:txXfrm>
        <a:off x="5107535" y="2286346"/>
        <a:ext cx="1054074" cy="527037"/>
      </dsp:txXfrm>
    </dsp:sp>
    <dsp:sp modelId="{1FDB05AB-EBCA-4FF6-805B-4E1C6F5527B7}">
      <dsp:nvSpPr>
        <dsp:cNvPr id="0" name=""/>
        <dsp:cNvSpPr/>
      </dsp:nvSpPr>
      <dsp:spPr>
        <a:xfrm>
          <a:off x="6382965" y="2286346"/>
          <a:ext cx="1054074" cy="5270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Health Systems Research</a:t>
          </a:r>
        </a:p>
      </dsp:txBody>
      <dsp:txXfrm>
        <a:off x="6382965" y="2286346"/>
        <a:ext cx="1054074" cy="527037"/>
      </dsp:txXfrm>
    </dsp:sp>
    <dsp:sp modelId="{013A6EF0-BC37-45CB-9C82-069D2259C9B2}">
      <dsp:nvSpPr>
        <dsp:cNvPr id="0" name=""/>
        <dsp:cNvSpPr/>
      </dsp:nvSpPr>
      <dsp:spPr>
        <a:xfrm>
          <a:off x="7658396" y="2286346"/>
          <a:ext cx="1054074" cy="5270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Rehabilitation Research Development and Translation</a:t>
          </a:r>
        </a:p>
      </dsp:txBody>
      <dsp:txXfrm>
        <a:off x="7658396" y="2286346"/>
        <a:ext cx="1054074" cy="527037"/>
      </dsp:txXfrm>
    </dsp:sp>
    <dsp:sp modelId="{9488A1DB-6B8A-4705-8743-34E971D06C9B}">
      <dsp:nvSpPr>
        <dsp:cNvPr id="0" name=""/>
        <dsp:cNvSpPr/>
      </dsp:nvSpPr>
      <dsp:spPr>
        <a:xfrm>
          <a:off x="8933827" y="2286346"/>
          <a:ext cx="1054074" cy="5270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Medical Health Research</a:t>
          </a:r>
        </a:p>
      </dsp:txBody>
      <dsp:txXfrm>
        <a:off x="8933827" y="2286346"/>
        <a:ext cx="1054074" cy="527037"/>
      </dsp:txXfrm>
    </dsp:sp>
    <dsp:sp modelId="{F62E3AFB-0F4E-41A4-BE11-D68C473B3317}">
      <dsp:nvSpPr>
        <dsp:cNvPr id="0" name=""/>
        <dsp:cNvSpPr/>
      </dsp:nvSpPr>
      <dsp:spPr>
        <a:xfrm>
          <a:off x="10209257" y="2286346"/>
          <a:ext cx="1054074" cy="52703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t>Brain, Behavioral and Mental Health Research</a:t>
          </a:r>
        </a:p>
      </dsp:txBody>
      <dsp:txXfrm>
        <a:off x="10209257" y="2286346"/>
        <a:ext cx="1054074" cy="5270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7A12EF-FE28-4014-BC01-08A562FF4A7C}">
      <dsp:nvSpPr>
        <dsp:cNvPr id="0" name=""/>
        <dsp:cNvSpPr/>
      </dsp:nvSpPr>
      <dsp:spPr>
        <a:xfrm>
          <a:off x="276391" y="1238"/>
          <a:ext cx="4114803" cy="4033854"/>
        </a:xfrm>
        <a:prstGeom prst="ellipse">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2133600">
            <a:lnSpc>
              <a:spcPct val="90000"/>
            </a:lnSpc>
            <a:spcBef>
              <a:spcPct val="0"/>
            </a:spcBef>
            <a:spcAft>
              <a:spcPct val="35000"/>
            </a:spcAft>
            <a:buNone/>
          </a:pPr>
          <a:r>
            <a:rPr lang="en-US" sz="4800" kern="1200">
              <a:solidFill>
                <a:schemeClr val="tx1"/>
              </a:solidFill>
            </a:rPr>
            <a:t>ISRM LC</a:t>
          </a:r>
        </a:p>
      </dsp:txBody>
      <dsp:txXfrm>
        <a:off x="878990" y="591982"/>
        <a:ext cx="2909605" cy="2852366"/>
      </dsp:txXfrm>
    </dsp:sp>
    <dsp:sp modelId="{ADD0992B-9AFC-40A9-8D05-1733F320F41A}">
      <dsp:nvSpPr>
        <dsp:cNvPr id="0" name=""/>
        <dsp:cNvSpPr/>
      </dsp:nvSpPr>
      <dsp:spPr>
        <a:xfrm rot="5351643">
          <a:off x="1728934" y="573340"/>
          <a:ext cx="1169425" cy="25488"/>
        </a:xfrm>
        <a:custGeom>
          <a:avLst/>
          <a:gdLst/>
          <a:ahLst/>
          <a:cxnLst/>
          <a:rect l="0" t="0" r="0" b="0"/>
          <a:pathLst>
            <a:path>
              <a:moveTo>
                <a:pt x="0" y="12744"/>
              </a:moveTo>
              <a:lnTo>
                <a:pt x="1169425" y="127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84411" y="556849"/>
        <a:ext cx="58471" cy="58471"/>
      </dsp:txXfrm>
    </dsp:sp>
    <dsp:sp modelId="{6CE6283A-8511-4E38-9829-63C06BC9F373}">
      <dsp:nvSpPr>
        <dsp:cNvPr id="0" name=""/>
        <dsp:cNvSpPr/>
      </dsp:nvSpPr>
      <dsp:spPr>
        <a:xfrm>
          <a:off x="1829514" y="199732"/>
          <a:ext cx="971054" cy="971054"/>
        </a:xfrm>
        <a:prstGeom prst="ellipse">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BP Directors</a:t>
          </a:r>
        </a:p>
      </dsp:txBody>
      <dsp:txXfrm>
        <a:off x="1971722" y="341940"/>
        <a:ext cx="686638" cy="686638"/>
      </dsp:txXfrm>
    </dsp:sp>
    <dsp:sp modelId="{0C9D1C75-0746-46E7-A0FA-3DEAE2AB8615}">
      <dsp:nvSpPr>
        <dsp:cNvPr id="0" name=""/>
        <dsp:cNvSpPr/>
      </dsp:nvSpPr>
      <dsp:spPr>
        <a:xfrm rot="8806832">
          <a:off x="2935585" y="1215888"/>
          <a:ext cx="1207689" cy="25488"/>
        </a:xfrm>
        <a:custGeom>
          <a:avLst/>
          <a:gdLst/>
          <a:ahLst/>
          <a:cxnLst/>
          <a:rect l="0" t="0" r="0" b="0"/>
          <a:pathLst>
            <a:path>
              <a:moveTo>
                <a:pt x="0" y="12744"/>
              </a:moveTo>
              <a:lnTo>
                <a:pt x="1207689" y="127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09238" y="1198440"/>
        <a:ext cx="60384" cy="60384"/>
      </dsp:txXfrm>
    </dsp:sp>
    <dsp:sp modelId="{11B88054-4621-4A5D-8D54-F46090FC05B3}">
      <dsp:nvSpPr>
        <dsp:cNvPr id="0" name=""/>
        <dsp:cNvSpPr/>
      </dsp:nvSpPr>
      <dsp:spPr>
        <a:xfrm>
          <a:off x="2954921" y="807925"/>
          <a:ext cx="971054" cy="971054"/>
        </a:xfrm>
        <a:prstGeom prst="ellipse">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AMP Directors</a:t>
          </a:r>
        </a:p>
      </dsp:txBody>
      <dsp:txXfrm>
        <a:off x="3097129" y="950133"/>
        <a:ext cx="686638" cy="686638"/>
      </dsp:txXfrm>
    </dsp:sp>
    <dsp:sp modelId="{C0A62B36-963B-4DA4-B27B-F91F05D91114}">
      <dsp:nvSpPr>
        <dsp:cNvPr id="0" name=""/>
        <dsp:cNvSpPr/>
      </dsp:nvSpPr>
      <dsp:spPr>
        <a:xfrm rot="12699956">
          <a:off x="2994035" y="2772894"/>
          <a:ext cx="1168111" cy="25488"/>
        </a:xfrm>
        <a:custGeom>
          <a:avLst/>
          <a:gdLst/>
          <a:ahLst/>
          <a:cxnLst/>
          <a:rect l="0" t="0" r="0" b="0"/>
          <a:pathLst>
            <a:path>
              <a:moveTo>
                <a:pt x="0" y="12744"/>
              </a:moveTo>
              <a:lnTo>
                <a:pt x="1168111" y="127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548888" y="2756435"/>
        <a:ext cx="58405" cy="58405"/>
      </dsp:txXfrm>
    </dsp:sp>
    <dsp:sp modelId="{5FB2F15A-6BDB-4D52-BA83-A1CFFF66A8ED}">
      <dsp:nvSpPr>
        <dsp:cNvPr id="0" name=""/>
        <dsp:cNvSpPr/>
      </dsp:nvSpPr>
      <dsp:spPr>
        <a:xfrm>
          <a:off x="3008704" y="2248387"/>
          <a:ext cx="971054" cy="971054"/>
        </a:xfrm>
        <a:prstGeom prst="ellipse">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Program Directors</a:t>
          </a:r>
        </a:p>
      </dsp:txBody>
      <dsp:txXfrm>
        <a:off x="3150912" y="2390595"/>
        <a:ext cx="686638" cy="686638"/>
      </dsp:txXfrm>
    </dsp:sp>
    <dsp:sp modelId="{7A1FD8AB-7AB5-40CF-9FE8-C205E023E267}">
      <dsp:nvSpPr>
        <dsp:cNvPr id="0" name=""/>
        <dsp:cNvSpPr/>
      </dsp:nvSpPr>
      <dsp:spPr>
        <a:xfrm rot="16082599">
          <a:off x="1775102" y="3414734"/>
          <a:ext cx="1213674" cy="25488"/>
        </a:xfrm>
        <a:custGeom>
          <a:avLst/>
          <a:gdLst/>
          <a:ahLst/>
          <a:cxnLst/>
          <a:rect l="0" t="0" r="0" b="0"/>
          <a:pathLst>
            <a:path>
              <a:moveTo>
                <a:pt x="0" y="12744"/>
              </a:moveTo>
              <a:lnTo>
                <a:pt x="1213674" y="127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2351598" y="3397136"/>
        <a:ext cx="60683" cy="60683"/>
      </dsp:txXfrm>
    </dsp:sp>
    <dsp:sp modelId="{75DD4E1E-5960-4007-A336-8C228F16442D}">
      <dsp:nvSpPr>
        <dsp:cNvPr id="0" name=""/>
        <dsp:cNvSpPr/>
      </dsp:nvSpPr>
      <dsp:spPr>
        <a:xfrm>
          <a:off x="1892270" y="2820711"/>
          <a:ext cx="971054" cy="971054"/>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DCRADO</a:t>
          </a:r>
        </a:p>
      </dsp:txBody>
      <dsp:txXfrm>
        <a:off x="2034478" y="2962919"/>
        <a:ext cx="686638" cy="686638"/>
      </dsp:txXfrm>
    </dsp:sp>
    <dsp:sp modelId="{9DC84FD7-FE4D-4337-9DB2-40CDAFC5D109}">
      <dsp:nvSpPr>
        <dsp:cNvPr id="0" name=""/>
        <dsp:cNvSpPr/>
      </dsp:nvSpPr>
      <dsp:spPr>
        <a:xfrm rot="19712871">
          <a:off x="496907" y="2748574"/>
          <a:ext cx="1243783" cy="25488"/>
        </a:xfrm>
        <a:custGeom>
          <a:avLst/>
          <a:gdLst/>
          <a:ahLst/>
          <a:cxnLst/>
          <a:rect l="0" t="0" r="0" b="0"/>
          <a:pathLst>
            <a:path>
              <a:moveTo>
                <a:pt x="0" y="12744"/>
              </a:moveTo>
              <a:lnTo>
                <a:pt x="1243783" y="127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87704" y="2730224"/>
        <a:ext cx="62189" cy="62189"/>
      </dsp:txXfrm>
    </dsp:sp>
    <dsp:sp modelId="{FA0C6118-15BE-4001-933F-BE832C68B979}">
      <dsp:nvSpPr>
        <dsp:cNvPr id="0" name=""/>
        <dsp:cNvSpPr/>
      </dsp:nvSpPr>
      <dsp:spPr>
        <a:xfrm>
          <a:off x="675859" y="2221499"/>
          <a:ext cx="1063404" cy="971054"/>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Research Integration Dir.</a:t>
          </a:r>
        </a:p>
      </dsp:txBody>
      <dsp:txXfrm>
        <a:off x="831591" y="2363707"/>
        <a:ext cx="751940" cy="686638"/>
      </dsp:txXfrm>
    </dsp:sp>
    <dsp:sp modelId="{05F4D875-765D-4DC4-BB3E-0E402AA071CC}">
      <dsp:nvSpPr>
        <dsp:cNvPr id="0" name=""/>
        <dsp:cNvSpPr/>
      </dsp:nvSpPr>
      <dsp:spPr>
        <a:xfrm rot="1847431">
          <a:off x="493325" y="1256961"/>
          <a:ext cx="1168880" cy="25488"/>
        </a:xfrm>
        <a:custGeom>
          <a:avLst/>
          <a:gdLst/>
          <a:ahLst/>
          <a:cxnLst/>
          <a:rect l="0" t="0" r="0" b="0"/>
          <a:pathLst>
            <a:path>
              <a:moveTo>
                <a:pt x="0" y="12744"/>
              </a:moveTo>
              <a:lnTo>
                <a:pt x="1168880" y="127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048544" y="1240483"/>
        <a:ext cx="58444" cy="58444"/>
      </dsp:txXfrm>
    </dsp:sp>
    <dsp:sp modelId="{934CB72E-A575-4695-A4BF-35EF36B89DA1}">
      <dsp:nvSpPr>
        <dsp:cNvPr id="0" name=""/>
        <dsp:cNvSpPr/>
      </dsp:nvSpPr>
      <dsp:spPr>
        <a:xfrm>
          <a:off x="677209" y="834811"/>
          <a:ext cx="971054" cy="971054"/>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b="1" kern="1200">
              <a:solidFill>
                <a:schemeClr val="tx1"/>
              </a:solidFill>
            </a:rPr>
            <a:t>Ops Dir.</a:t>
          </a:r>
        </a:p>
      </dsp:txBody>
      <dsp:txXfrm>
        <a:off x="819417" y="977019"/>
        <a:ext cx="686638" cy="68663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28EEC1-6B92-4BAC-8DC3-2683807D951A}" type="datetimeFigureOut">
              <a:rPr lang="en-US" smtClean="0"/>
              <a:t>9/11/2024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AA743C-D3B9-483E-8886-D710F752ED33}" type="slidenum">
              <a:rPr lang="en-US" smtClean="0"/>
              <a:t>‹#›</a:t>
            </a:fld>
            <a:endParaRPr lang="en-US"/>
          </a:p>
        </p:txBody>
      </p:sp>
    </p:spTree>
    <p:extLst>
      <p:ext uri="{BB962C8B-B14F-4D97-AF65-F5344CB8AC3E}">
        <p14:creationId xmlns:p14="http://schemas.microsoft.com/office/powerpoint/2010/main" val="525747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AA743C-D3B9-483E-8886-D710F752ED33}" type="slidenum">
              <a:rPr lang="en-US" smtClean="0"/>
              <a:t>1</a:t>
            </a:fld>
            <a:endParaRPr lang="en-US"/>
          </a:p>
        </p:txBody>
      </p:sp>
    </p:spTree>
    <p:extLst>
      <p:ext uri="{BB962C8B-B14F-4D97-AF65-F5344CB8AC3E}">
        <p14:creationId xmlns:p14="http://schemas.microsoft.com/office/powerpoint/2010/main" val="2249290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AA743C-D3B9-483E-8886-D710F752ED33}" type="slidenum">
              <a:rPr lang="en-US" smtClean="0"/>
              <a:t>3</a:t>
            </a:fld>
            <a:endParaRPr lang="en-US"/>
          </a:p>
        </p:txBody>
      </p:sp>
    </p:spTree>
    <p:extLst>
      <p:ext uri="{BB962C8B-B14F-4D97-AF65-F5344CB8AC3E}">
        <p14:creationId xmlns:p14="http://schemas.microsoft.com/office/powerpoint/2010/main" val="1013793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AA743C-D3B9-483E-8886-D710F752ED33}" type="slidenum">
              <a:rPr lang="en-US" smtClean="0"/>
              <a:t>5</a:t>
            </a:fld>
            <a:endParaRPr lang="en-US"/>
          </a:p>
        </p:txBody>
      </p:sp>
    </p:spTree>
    <p:extLst>
      <p:ext uri="{BB962C8B-B14F-4D97-AF65-F5344CB8AC3E}">
        <p14:creationId xmlns:p14="http://schemas.microsoft.com/office/powerpoint/2010/main" val="2434331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ISRM initiative has been designed to accomplish three main goals.</a:t>
            </a:r>
            <a:b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b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first is to improve the infrastructure that allows clinicians to support research and vice versa.  This includes things like time support and specific coordinators for high priority topics.</a:t>
            </a:r>
          </a:p>
          <a:p>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second goal is to provide an overarching strategic vision across ISRM, with a unified approach to funding oversight.  Previously, that oversight was dispersed across many, or even all, of the services, and this led to some inconsistency and confusion.</a:t>
            </a:r>
          </a:p>
          <a:p>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The third goal is to allow for be</a:t>
            </a:r>
            <a:r>
              <a:rPr kumimoji="0" lang="en-US" sz="1200" b="0" i="0" u="none" strike="noStrike" kern="1200" cap="none" spc="0" normalizeH="0" baseline="0" noProof="0" dirty="0">
                <a:ln>
                  <a:noFill/>
                </a:ln>
                <a:solidFill>
                  <a:prstClr val="black"/>
                </a:solidFill>
                <a:effectLst/>
                <a:uLnTx/>
                <a:uFillTx/>
                <a:latin typeface="Calibri" panose="020F0502020204030204" pitchFamily="34" charset="0"/>
                <a:ea typeface="+mn-ea"/>
                <a:cs typeface="+mn-cs"/>
              </a:rPr>
              <a:t>tter collaboration across all disciplines, and a better integration of effort.  We want to make it easier for ISRM as a whole to work as a team, so we’ve focused our reorganization efforts on improving efficiency, reducing redundancy, and diminishing silos.  This is going to allow for a healthier work environment, but more importantly, it will empower us to better deliver on our core mission of serving Veterans.</a:t>
            </a:r>
          </a:p>
        </p:txBody>
      </p:sp>
      <p:sp>
        <p:nvSpPr>
          <p:cNvPr id="4" name="Slide Number Placeholder 3"/>
          <p:cNvSpPr>
            <a:spLocks noGrp="1"/>
          </p:cNvSpPr>
          <p:nvPr>
            <p:ph type="sldNum" sz="quarter" idx="5"/>
          </p:nvPr>
        </p:nvSpPr>
        <p:spPr/>
        <p:txBody>
          <a:bodyPr/>
          <a:lstStyle/>
          <a:p>
            <a:fld id="{F3AA743C-D3B9-483E-8886-D710F752ED33}" type="slidenum">
              <a:rPr lang="en-US" smtClean="0"/>
              <a:t>6</a:t>
            </a:fld>
            <a:endParaRPr lang="en-US"/>
          </a:p>
        </p:txBody>
      </p:sp>
    </p:spTree>
    <p:extLst>
      <p:ext uri="{BB962C8B-B14F-4D97-AF65-F5344CB8AC3E}">
        <p14:creationId xmlns:p14="http://schemas.microsoft.com/office/powerpoint/2010/main" val="1767301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exactly are we going to meet these goals?</a:t>
            </a:r>
          </a:p>
          <a:p>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First and foremost, we’re moving to a new structure that will consist of Broad Portfolios and Actively Managed Portfolios.  These portfolios allow for integration on multiple levels that is intuitive and naturally occurring.  It basically takes coordination within and between the portfolios and bakes that effort into how ISRM as a whole will operate.   Whereas the services tended to operate independently, the portfolios will foster communication.  This is also going to give each of you a greater voice in what changes, what doesn’t change, and how those changes will affect you both as an individual and all of us together as an organization. </a:t>
            </a:r>
          </a:p>
          <a:p>
            <a:pPr marL="283464" marR="0" lvl="0" indent="-283464" algn="l" defTabSz="914400" rtl="0" eaLnBrk="1" fontAlgn="auto" latinLnBrk="0" hangingPunct="1">
              <a:lnSpc>
                <a:spcPct val="100000"/>
              </a:lnSpc>
              <a:spcBef>
                <a:spcPts val="504"/>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3464" marR="0" lvl="0" indent="-283464" algn="l" defTabSz="914400" rtl="0" eaLnBrk="1" fontAlgn="auto" latinLnBrk="0" hangingPunct="1">
              <a:lnSpc>
                <a:spcPct val="100000"/>
              </a:lnSpc>
              <a:spcBef>
                <a:spcPts val="504"/>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Next, we’re going to establish new research operational services.  We’ll talk about this more in-depth in the second half of this class, but essentially, we’re</a:t>
            </a:r>
            <a:r>
              <a:rPr lang="en-US" dirty="0"/>
              <a:t> centralizing the resources of our growing organization so that we’ll be able to rapidly review and provide funding for research studies with the highest priorities.</a:t>
            </a:r>
          </a:p>
          <a:p>
            <a:pPr marL="283464" marR="0" indent="-283464" algn="l" rtl="0" eaLnBrk="1" fontAlgn="auto" latinLnBrk="0" hangingPunct="1">
              <a:spcBef>
                <a:spcPts val="504"/>
              </a:spcBef>
              <a:spcAft>
                <a:spcPts val="0"/>
              </a:spcAft>
            </a:pP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3464" marR="0" indent="-283464" algn="l" rtl="0" eaLnBrk="1" fontAlgn="auto" latinLnBrk="0" hangingPunct="1">
              <a:spcBef>
                <a:spcPts val="504"/>
              </a:spcBef>
              <a:spcAft>
                <a:spcPts val="0"/>
              </a:spcAft>
            </a:pPr>
            <a:r>
              <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rPr>
              <a:t>Our final step will be to update our funding processes and Standard Operating Procedures (SOPs) for the updated structure.  This is an effort that’s going to cross all our </a:t>
            </a:r>
            <a:r>
              <a:rPr lang="en-US" dirty="0"/>
              <a:t>financial and administrative functions, even our application reviews and funding decisions.  This is also where we’ll need everyone’s help.</a:t>
            </a:r>
          </a:p>
          <a:p>
            <a:pPr marL="283464" marR="0" indent="-283464" algn="l" rtl="0" eaLnBrk="1" fontAlgn="auto" latinLnBrk="0" hangingPunct="1">
              <a:spcBef>
                <a:spcPts val="504"/>
              </a:spcBef>
              <a:spcAft>
                <a:spcPts val="0"/>
              </a:spcAft>
            </a:pPr>
            <a:endParaRPr lang="en-US" dirty="0"/>
          </a:p>
          <a:p>
            <a:pPr marL="283464" marR="0" indent="-283464" algn="l" rtl="0" eaLnBrk="1" fontAlgn="auto" latinLnBrk="0" hangingPunct="1">
              <a:spcBef>
                <a:spcPts val="504"/>
              </a:spcBef>
              <a:spcAft>
                <a:spcPts val="0"/>
              </a:spcAft>
            </a:pPr>
            <a:r>
              <a:rPr lang="en-US" dirty="0"/>
              <a:t>Let’s take a look at what this transformation from services to portfolios will look like.  </a:t>
            </a:r>
            <a:br>
              <a:rPr lang="en-US" sz="1200" b="0" i="0" u="none" strike="noStrike" kern="1200" dirty="0">
                <a:solidFill>
                  <a:srgbClr val="242424"/>
                </a:solidFill>
                <a:effectLst/>
                <a:latin typeface="Calibri" panose="020F0502020204030204" pitchFamily="34" charset="0"/>
              </a:rPr>
            </a:br>
            <a:endParaRPr lang="en-US" sz="1200" b="0" i="0" u="none" strike="noStrike" dirty="0">
              <a:effectLst/>
              <a:latin typeface="Arial" panose="020B0604020202020204" pitchFamily="34" charset="0"/>
            </a:endParaRPr>
          </a:p>
          <a:p>
            <a:endParaRPr lang="en-US" dirty="0"/>
          </a:p>
        </p:txBody>
      </p:sp>
      <p:sp>
        <p:nvSpPr>
          <p:cNvPr id="4" name="Slide Number Placeholder 3"/>
          <p:cNvSpPr>
            <a:spLocks noGrp="1"/>
          </p:cNvSpPr>
          <p:nvPr>
            <p:ph type="sldNum" sz="quarter" idx="5"/>
          </p:nvPr>
        </p:nvSpPr>
        <p:spPr/>
        <p:txBody>
          <a:bodyPr/>
          <a:lstStyle/>
          <a:p>
            <a:fld id="{F3AA743C-D3B9-483E-8886-D710F752ED33}" type="slidenum">
              <a:rPr lang="en-US" smtClean="0"/>
              <a:t>7</a:t>
            </a:fld>
            <a:endParaRPr lang="en-US"/>
          </a:p>
        </p:txBody>
      </p:sp>
    </p:spTree>
    <p:extLst>
      <p:ext uri="{BB962C8B-B14F-4D97-AF65-F5344CB8AC3E}">
        <p14:creationId xmlns:p14="http://schemas.microsoft.com/office/powerpoint/2010/main" val="9513358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3AA743C-D3B9-483E-8886-D710F752ED33}" type="slidenum">
              <a:rPr lang="en-US" smtClean="0"/>
              <a:t>8</a:t>
            </a:fld>
            <a:endParaRPr lang="en-US"/>
          </a:p>
        </p:txBody>
      </p:sp>
    </p:spTree>
    <p:extLst>
      <p:ext uri="{BB962C8B-B14F-4D97-AF65-F5344CB8AC3E}">
        <p14:creationId xmlns:p14="http://schemas.microsoft.com/office/powerpoint/2010/main" val="3897210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chemeClr val="tx2"/>
                </a:solidFill>
                <a:effectLst/>
                <a:uLnTx/>
                <a:uFillTx/>
                <a:latin typeface="Calibri" panose="020F0502020204030204"/>
                <a:ea typeface="+mn-ea"/>
                <a:cs typeface="+mn-cs"/>
              </a:rPr>
              <a:t>Here we have an example of the service structure we’ve been using as ORD’s scientific funding unit for the last twenty-plus years.   ISRM has been organized by scientific discipline – basic science, clinical science, health services, etc. – and under each service is its own coverage of high priority research topics, like Traumatic Brain Injury, Suicide Prevention or Pain and Opioid Use.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i="0" u="none" strike="noStrike" kern="1200" cap="none" spc="0" normalizeH="0" baseline="0" noProof="0">
              <a:ln>
                <a:noFill/>
              </a:ln>
              <a:solidFill>
                <a:schemeClr val="tx2"/>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chemeClr val="tx2"/>
                </a:solidFill>
                <a:effectLst/>
                <a:uLnTx/>
                <a:uFillTx/>
                <a:latin typeface="Calibri" panose="020F0502020204030204"/>
                <a:ea typeface="+mn-ea"/>
                <a:cs typeface="+mn-cs"/>
              </a:rPr>
              <a:t>I won’t say there haven’t been advantages to this system, but you can see it has caused a lot of siloing, a lot of repetition of activities focused on the same health condition, and a lot of redundancy in effort.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i="0" u="none" strike="noStrike" kern="1200" cap="none" spc="0" normalizeH="0" baseline="0" noProof="0">
              <a:ln>
                <a:noFill/>
              </a:ln>
              <a:solidFill>
                <a:schemeClr val="tx2"/>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chemeClr val="tx2"/>
                </a:solidFill>
                <a:effectLst/>
                <a:uLnTx/>
                <a:uFillTx/>
                <a:latin typeface="Calibri" panose="020F0502020204030204"/>
                <a:ea typeface="+mn-ea"/>
                <a:cs typeface="+mn-cs"/>
              </a:rPr>
              <a:t>This also creates a lot of confusion for our eternal stakeholders and the research community at large, especially in the upcoming generation of research investigators.  It’s resulted in a lot of repeated effort for them too.</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E2A7E0-0736-493F-998F-8B599A7E84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5457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chemeClr val="tx2"/>
                </a:solidFill>
                <a:effectLst/>
                <a:uLnTx/>
                <a:uFillTx/>
                <a:latin typeface="Calibri" panose="020F0502020204030204"/>
                <a:ea typeface="+mn-ea"/>
                <a:cs typeface="+mn-cs"/>
              </a:rPr>
              <a:t>Here we have an example of the service structure we’ve been using as ORD’s scientific funding unit for the last twenty-plus years.   ISRM has been organized by scientific discipline – basic science, clinical science, health services, etc. – and under each service is its own coverage of high priority research topics, like Traumatic Brain Injury, Suicide Prevention or Pain and Opioid Use.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i="0" u="none" strike="noStrike" kern="1200" cap="none" spc="0" normalizeH="0" baseline="0" noProof="0">
              <a:ln>
                <a:noFill/>
              </a:ln>
              <a:solidFill>
                <a:schemeClr val="tx2"/>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chemeClr val="tx2"/>
                </a:solidFill>
                <a:effectLst/>
                <a:uLnTx/>
                <a:uFillTx/>
                <a:latin typeface="Calibri" panose="020F0502020204030204"/>
                <a:ea typeface="+mn-ea"/>
                <a:cs typeface="+mn-cs"/>
              </a:rPr>
              <a:t>I won’t say there haven’t been advantages to this system, but you can see it has caused a lot of siloing, a lot of repetition of activities focused on the same health condition, and a lot of redundancy in effort.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i="0" u="none" strike="noStrike" kern="1200" cap="none" spc="0" normalizeH="0" baseline="0" noProof="0">
              <a:ln>
                <a:noFill/>
              </a:ln>
              <a:solidFill>
                <a:schemeClr val="tx2"/>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a:ln>
                  <a:noFill/>
                </a:ln>
                <a:solidFill>
                  <a:schemeClr val="tx2"/>
                </a:solidFill>
                <a:effectLst/>
                <a:uLnTx/>
                <a:uFillTx/>
                <a:latin typeface="Calibri" panose="020F0502020204030204"/>
                <a:ea typeface="+mn-ea"/>
                <a:cs typeface="+mn-cs"/>
              </a:rPr>
              <a:t>This also creates a lot of confusion for our eternal stakeholders and the research community at large, especially in the upcoming generation of research investigators.  It’s resulted in a lot of repeated effort for them too.</a:t>
            </a:r>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E2A7E0-0736-493F-998F-8B599A7E84B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4715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i="1"/>
          </a:p>
        </p:txBody>
      </p:sp>
      <p:sp>
        <p:nvSpPr>
          <p:cNvPr id="4" name="Slide Number Placeholder 3"/>
          <p:cNvSpPr>
            <a:spLocks noGrp="1"/>
          </p:cNvSpPr>
          <p:nvPr>
            <p:ph type="sldNum" sz="quarter" idx="5"/>
          </p:nvPr>
        </p:nvSpPr>
        <p:spPr/>
        <p:txBody>
          <a:bodyPr/>
          <a:lstStyle/>
          <a:p>
            <a:fld id="{686BE72B-5095-46B0-B741-9CFCD80BF2F1}" type="slidenum">
              <a:rPr lang="en-US" smtClean="0"/>
              <a:t>11</a:t>
            </a:fld>
            <a:endParaRPr lang="en-US"/>
          </a:p>
        </p:txBody>
      </p:sp>
    </p:spTree>
    <p:extLst>
      <p:ext uri="{BB962C8B-B14F-4D97-AF65-F5344CB8AC3E}">
        <p14:creationId xmlns:p14="http://schemas.microsoft.com/office/powerpoint/2010/main" val="38886653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i="0"/>
          </a:p>
        </p:txBody>
      </p:sp>
      <p:sp>
        <p:nvSpPr>
          <p:cNvPr id="4" name="Slide Number Placeholder 3"/>
          <p:cNvSpPr>
            <a:spLocks noGrp="1"/>
          </p:cNvSpPr>
          <p:nvPr>
            <p:ph type="sldNum" sz="quarter" idx="5"/>
          </p:nvPr>
        </p:nvSpPr>
        <p:spPr/>
        <p:txBody>
          <a:bodyPr/>
          <a:lstStyle/>
          <a:p>
            <a:fld id="{F3AA743C-D3B9-483E-8886-D710F752ED33}" type="slidenum">
              <a:rPr lang="en-US" smtClean="0"/>
              <a:t>12</a:t>
            </a:fld>
            <a:endParaRPr lang="en-US"/>
          </a:p>
        </p:txBody>
      </p:sp>
    </p:spTree>
    <p:extLst>
      <p:ext uri="{BB962C8B-B14F-4D97-AF65-F5344CB8AC3E}">
        <p14:creationId xmlns:p14="http://schemas.microsoft.com/office/powerpoint/2010/main" val="2745456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200" b="0" i="0" u="none" strike="noStrike">
                <a:solidFill>
                  <a:srgbClr val="000000"/>
                </a:solidFill>
                <a:effectLst/>
              </a:rPr>
              <a:t>Before we move on to the net section, I want to cover a few key points of the upcoming transition.</a:t>
            </a:r>
            <a:r>
              <a:rPr lang="en-US">
                <a:solidFill>
                  <a:srgbClr val="000000"/>
                </a:solidFill>
              </a:rPr>
              <a:t> </a:t>
            </a:r>
            <a:r>
              <a:rPr lang="en-US" sz="1200" b="0" i="0" u="none" strike="noStrike">
                <a:solidFill>
                  <a:srgbClr val="000000"/>
                </a:solidFill>
                <a:effectLst/>
              </a:rPr>
              <a:t> The ISRM Organization Initiative is focusing on the design and testing of research portfolios that meet the real-world needs of Veterans, but this isn’t a change we’ll be rushing into.</a:t>
            </a:r>
          </a:p>
          <a:p>
            <a:pPr>
              <a:defRPr/>
            </a:pPr>
            <a:endParaRPr lang="en-US"/>
          </a:p>
          <a:p>
            <a:pPr>
              <a:defRPr/>
            </a:pPr>
            <a:r>
              <a:rPr lang="en-US"/>
              <a:t>It is important to note that ISRM’s transition from service-based funding to portfolio-based funding has been incremental and deliberative over the last two years.  </a:t>
            </a:r>
            <a:r>
              <a:rPr lang="en-US" i="0"/>
              <a:t>We were not looking to change everything at the stroke of midnight when the new fiscal year began, nor were we making changes for the sake of change.</a:t>
            </a:r>
            <a:r>
              <a:rPr lang="en-US"/>
              <a:t> </a:t>
            </a:r>
            <a:r>
              <a:rPr lang="en-US" i="0"/>
              <a:t> We have had time to learn lessons and make improvements as we go to ensure the transition is as smooth and successful as possible.</a:t>
            </a:r>
            <a:endParaRPr lang="en-US" i="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i="0"/>
          </a:p>
          <a:p>
            <a:pPr>
              <a:defRPr/>
            </a:pPr>
            <a:r>
              <a:rPr lang="en-US"/>
              <a:t>Also, during this transition, current funding commitments will be honored and administered as normal.  No one is going to be forced to start over or have their projects interrupted due to the reorganization.</a:t>
            </a:r>
            <a:endParaRPr lang="en-US">
              <a:cs typeface="Calibri"/>
            </a:endParaRPr>
          </a:p>
          <a:p>
            <a:pPr>
              <a:defRPr/>
            </a:pPr>
            <a:endParaRPr lang="en-US"/>
          </a:p>
          <a:p>
            <a:pPr>
              <a:defRPr/>
            </a:pPr>
            <a:r>
              <a:rPr lang="en-US"/>
              <a:t>And finally, any field researchers should continue to submit proposals as they normally do.  While the application processes are changing, the Standard Merit Review itself will remain unchanged, so there’s no need to wait for some new procedure or policy. </a:t>
            </a:r>
            <a:endParaRPr lang="en-US" i="1">
              <a:cs typeface="Calibri"/>
            </a:endParaRPr>
          </a:p>
        </p:txBody>
      </p:sp>
      <p:sp>
        <p:nvSpPr>
          <p:cNvPr id="4" name="Slide Number Placeholder 3"/>
          <p:cNvSpPr>
            <a:spLocks noGrp="1"/>
          </p:cNvSpPr>
          <p:nvPr>
            <p:ph type="sldNum" sz="quarter" idx="5"/>
          </p:nvPr>
        </p:nvSpPr>
        <p:spPr/>
        <p:txBody>
          <a:bodyPr/>
          <a:lstStyle/>
          <a:p>
            <a:fld id="{686BE72B-5095-46B0-B741-9CFCD80BF2F1}" type="slidenum">
              <a:rPr lang="en-US" smtClean="0"/>
              <a:t>15</a:t>
            </a:fld>
            <a:endParaRPr lang="en-US"/>
          </a:p>
        </p:txBody>
      </p:sp>
    </p:spTree>
    <p:extLst>
      <p:ext uri="{BB962C8B-B14F-4D97-AF65-F5344CB8AC3E}">
        <p14:creationId xmlns:p14="http://schemas.microsoft.com/office/powerpoint/2010/main" val="4172123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with that context in mind, we have seen some </a:t>
            </a:r>
            <a:r>
              <a:rPr lang="en-US" b="0"/>
              <a:t>issues in this application review process that we could compound as we transition to portfolios if not handled carefully and deliberately.</a:t>
            </a:r>
            <a:r>
              <a:rPr lang="en-US"/>
              <a:t> </a:t>
            </a:r>
            <a:endParaRPr lang="en-US" b="0"/>
          </a:p>
          <a:p>
            <a:endParaRPr lang="en-US" b="0"/>
          </a:p>
          <a:p>
            <a:pPr>
              <a:defRPr/>
            </a:pPr>
            <a:r>
              <a:rPr lang="en-US" b="0"/>
              <a:t>One of these issues is the large volume of service RFAs.</a:t>
            </a:r>
            <a:r>
              <a:rPr lang="en-US"/>
              <a:t> </a:t>
            </a:r>
            <a:r>
              <a:rPr lang="en-US" b="0"/>
              <a:t> It’s easy to imagine that the </a:t>
            </a:r>
            <a:r>
              <a:rPr lang="en-US" sz="1200" b="0">
                <a:solidFill>
                  <a:srgbClr val="000000"/>
                </a:solidFill>
              </a:rPr>
              <a:t>additional actively managed portfolios with want their own RFAs, which could increase this volume even further.</a:t>
            </a:r>
            <a:r>
              <a:rPr lang="en-US">
                <a:solidFill>
                  <a:srgbClr val="000000"/>
                </a:solidFill>
              </a:rPr>
              <a:t> </a:t>
            </a:r>
            <a:endParaRPr lang="en-US">
              <a:solidFill>
                <a:srgbClr val="000000"/>
              </a:solidFill>
              <a:cs typeface="Calibri"/>
            </a:endParaRPr>
          </a:p>
          <a:p>
            <a:pPr>
              <a:defRPr/>
            </a:pPr>
            <a:endParaRPr lang="en-US">
              <a:ea typeface="Calibri" panose="020F0502020204030204"/>
              <a:cs typeface="Calibri" panose="020F0502020204030204"/>
            </a:endParaRPr>
          </a:p>
          <a:p>
            <a:pPr>
              <a:defRPr/>
            </a:pPr>
            <a:r>
              <a:rPr lang="en-US" b="0"/>
              <a:t>Another issue is the wide variation in application requirements. </a:t>
            </a:r>
            <a:r>
              <a:rPr lang="en-US"/>
              <a:t>Currently budget caps &amp;requirements vary across services. Some but not all services use LOIs and/or pre-applications. This </a:t>
            </a:r>
            <a:r>
              <a:rPr lang="en-US" b="0"/>
              <a:t>can be very confusing for i</a:t>
            </a:r>
            <a:r>
              <a:rPr lang="en-US" sz="1200" b="0">
                <a:solidFill>
                  <a:schemeClr val="tx1"/>
                </a:solidFill>
              </a:rPr>
              <a:t>nvestigators as they try to navigate different processes for different portfolios, and these different ways to</a:t>
            </a:r>
            <a:r>
              <a:rPr lang="en-US"/>
              <a:t> </a:t>
            </a:r>
            <a:r>
              <a:rPr lang="en-US" sz="1200" b="0">
                <a:solidFill>
                  <a:schemeClr val="tx1"/>
                </a:solidFill>
              </a:rPr>
              <a:t>operate would also reduce collaboration.</a:t>
            </a:r>
            <a:r>
              <a:rPr lang="en-US"/>
              <a:t> </a:t>
            </a:r>
            <a:endParaRPr lang="en-US" sz="1200" b="0">
              <a:solidFill>
                <a:schemeClr val="tx1"/>
              </a:solidFill>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1"/>
              </a:solidFill>
            </a:endParaRPr>
          </a:p>
          <a:p>
            <a:pPr>
              <a:defRPr/>
            </a:pPr>
            <a:r>
              <a:rPr lang="en-US" sz="1200" b="0">
                <a:solidFill>
                  <a:schemeClr val="tx1"/>
                </a:solidFill>
              </a:rPr>
              <a:t>Finally, we recognize there are duplicative offerings. This causes ISRM to navigate duplicative legacy projects, which can lead to inefficiencies when new projects are funded.</a:t>
            </a:r>
            <a:r>
              <a:rPr lang="en-US"/>
              <a:t>   You may recall that we covered some of these challenges in the previous class, and that one of the goals of the reorganization was to streamline processes in order to reduce workload and better synchronize our efforts. </a:t>
            </a:r>
            <a:endParaRPr lang="en-US" sz="1200" b="0">
              <a:solidFill>
                <a:schemeClr val="tx1"/>
              </a:solidFill>
              <a:ea typeface="Calibri"/>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a:solidFill>
                <a:schemeClr val="tx1"/>
              </a:solidFill>
            </a:endParaRPr>
          </a:p>
          <a:p>
            <a:endParaRPr lang="en-US" b="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6BE72B-5095-46B0-B741-9CFCD80BF2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04332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And so to address these issues, we came up with 5 solutions. I will go into more details for each solution in the next slides. </a:t>
            </a:r>
          </a:p>
          <a:p>
            <a:endParaRPr lang="en-US" dirty="0">
              <a:cs typeface="Calibri"/>
            </a:endParaRPr>
          </a:p>
          <a:p>
            <a:r>
              <a:rPr lang="en-US" dirty="0">
                <a:cs typeface="Calibri"/>
              </a:rPr>
              <a:t>#1, We want to use ORD-Wide RFAs that are based on research methodology as opposed to research topic</a:t>
            </a:r>
            <a:endParaRPr lang="en-US" dirty="0">
              <a:ea typeface="Calibri"/>
              <a:cs typeface="Calibri"/>
            </a:endParaRPr>
          </a:p>
          <a:p>
            <a:r>
              <a:rPr lang="en-US" dirty="0">
                <a:cs typeface="Calibri"/>
              </a:rPr>
              <a:t>#2, In tandem with ORD-Wide RFAs, we want to send out Notices of Special Interest to announce specific research topic areas each portfolio wants to request</a:t>
            </a:r>
            <a:endParaRPr lang="en-US" dirty="0">
              <a:ea typeface="Calibri"/>
              <a:cs typeface="Calibri"/>
            </a:endParaRPr>
          </a:p>
          <a:p>
            <a:r>
              <a:rPr lang="en-US" dirty="0">
                <a:cs typeface="Calibri"/>
              </a:rPr>
              <a:t>#3, We will use a standardized RFA across all portfolios</a:t>
            </a:r>
            <a:endParaRPr lang="en-US" dirty="0">
              <a:ea typeface="Calibri"/>
              <a:cs typeface="Calibri"/>
            </a:endParaRPr>
          </a:p>
          <a:p>
            <a:r>
              <a:rPr lang="en-US" dirty="0">
                <a:cs typeface="Calibri"/>
              </a:rPr>
              <a:t>#4, We will utilize pre-applications to collect for all RFA's</a:t>
            </a:r>
            <a:endParaRPr lang="en-US" dirty="0">
              <a:ea typeface="Calibri"/>
              <a:cs typeface="Calibri"/>
            </a:endParaRPr>
          </a:p>
          <a:p>
            <a:r>
              <a:rPr lang="en-US" dirty="0">
                <a:cs typeface="Calibri"/>
              </a:rPr>
              <a:t>#5, We will utilize limited portfolio RFA's to capture RFA with unique needs</a:t>
            </a:r>
            <a:endParaRPr lang="en-US" dirty="0">
              <a:ea typeface="Calibri"/>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6BE72B-5095-46B0-B741-9CFCD80BF2F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39644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i="1"/>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AA743C-D3B9-483E-8886-D710F752ED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207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AA743C-D3B9-483E-8886-D710F752ED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2113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i="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6BE72B-5095-46B0-B741-9CFCD80BF2F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8650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0" dirty="0"/>
              <a:t>Okay, I know that was a lot, but don’t worry.  It won’t take nearly as long to go over the changes to RFAs.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AA743C-D3B9-483E-8886-D710F752ED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02703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From the investigator point of view, the process looks a bit different.</a:t>
            </a:r>
          </a:p>
          <a:p>
            <a:endParaRPr lang="en-US" dirty="0">
              <a:ea typeface="Calibri"/>
              <a:cs typeface="Calibri"/>
            </a:endParaRPr>
          </a:p>
          <a:p>
            <a:r>
              <a:rPr lang="en-US" dirty="0">
                <a:ea typeface="Calibri"/>
                <a:cs typeface="Calibri"/>
              </a:rPr>
              <a:t>Step 1: </a:t>
            </a:r>
            <a:r>
              <a:rPr lang="en-US" dirty="0"/>
              <a:t>The investigator picks the Portfolio and SRG with the appropriate purviews for their proposed study.</a:t>
            </a:r>
            <a:endParaRPr lang="en-US" dirty="0">
              <a:ea typeface="Calibri"/>
              <a:cs typeface="Calibri"/>
            </a:endParaRPr>
          </a:p>
          <a:p>
            <a:r>
              <a:rPr lang="en-US" dirty="0">
                <a:ea typeface="Calibri"/>
                <a:cs typeface="Calibri"/>
              </a:rPr>
              <a:t>Step 2: The </a:t>
            </a:r>
            <a:r>
              <a:rPr lang="en-US" dirty="0"/>
              <a:t>investigator will then complete the standardized pre-application in </a:t>
            </a:r>
            <a:r>
              <a:rPr lang="en-US" dirty="0" err="1"/>
              <a:t>eRA</a:t>
            </a:r>
            <a:r>
              <a:rPr lang="en-US" dirty="0"/>
              <a:t> providing basic project information and request the SRG to which they will submit to. </a:t>
            </a:r>
            <a:endParaRPr lang="en-US" dirty="0">
              <a:ea typeface="Calibri"/>
              <a:cs typeface="Calibri"/>
            </a:endParaRPr>
          </a:p>
          <a:p>
            <a:r>
              <a:rPr lang="en-US" dirty="0">
                <a:ea typeface="Calibri"/>
                <a:cs typeface="Calibri"/>
              </a:rPr>
              <a:t>Step 3: </a:t>
            </a:r>
            <a:r>
              <a:rPr lang="en-US" dirty="0"/>
              <a:t>Upon approval, they will then submit a full application through the ORD-Wide RFA including the approval letter which indicates the RFA to use and the assigned SRG.</a:t>
            </a:r>
            <a:endParaRPr lang="en-US" dirty="0">
              <a:ea typeface="Calibri"/>
              <a:cs typeface="Calibri"/>
            </a:endParaRPr>
          </a:p>
          <a:p>
            <a:r>
              <a:rPr lang="en-US" dirty="0">
                <a:ea typeface="Calibri"/>
                <a:cs typeface="Calibri"/>
              </a:rPr>
              <a:t>Step 4: The</a:t>
            </a:r>
            <a:r>
              <a:rPr lang="en-US" dirty="0"/>
              <a:t> investigators will receive scores and summary statement and an intent-to fund (if applicable).</a:t>
            </a:r>
            <a:endParaRPr lang="en-US" dirty="0">
              <a:ea typeface="Calibri"/>
              <a:cs typeface="Calibri"/>
            </a:endParaRPr>
          </a:p>
          <a:p>
            <a:endParaRPr lang="en-US" dirty="0">
              <a:ea typeface="Calibri"/>
              <a:cs typeface="Calibri"/>
            </a:endParaRPr>
          </a:p>
          <a:p>
            <a:r>
              <a:rPr lang="en-US" dirty="0">
                <a:ea typeface="Calibri"/>
                <a:cs typeface="Calibri"/>
              </a:rPr>
              <a:t>Let’s stop for a moment here, because ultimately, it’s going to fall on everyone here to help explain this new application process to investigators.  &lt;CLICK BUTTON&gt;  So what can we do to help them understand?</a:t>
            </a:r>
          </a:p>
          <a:p>
            <a:endParaRPr lang="en-US" dirty="0">
              <a:ea typeface="Calibri"/>
              <a:cs typeface="Calibri"/>
            </a:endParaRP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6BE72B-5095-46B0-B741-9CFCD80BF2F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474760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Based on the all the changes, here is a summary of things that will</a:t>
            </a:r>
            <a:r>
              <a:rPr lang="en-US" dirty="0"/>
              <a:t> change for Investigators and things that will remain the same.  There’s a lot here, but this is a summary.  We’ll go more in depth on this material in the next class.</a:t>
            </a:r>
          </a:p>
          <a:p>
            <a:endParaRPr lang="en-US" dirty="0">
              <a:cs typeface="Calibri"/>
            </a:endParaRPr>
          </a:p>
          <a:p>
            <a:r>
              <a:rPr lang="en-US" dirty="0">
                <a:cs typeface="Calibri"/>
              </a:rPr>
              <a:t>First, let's look at things that will change for Investigators</a:t>
            </a:r>
            <a:endParaRPr lang="en-US" dirty="0"/>
          </a:p>
          <a:p>
            <a:endParaRPr lang="en-US" dirty="0">
              <a:ea typeface="Calibri"/>
              <a:cs typeface="Calibri"/>
            </a:endParaRPr>
          </a:p>
          <a:p>
            <a:pPr marL="171450" indent="-171450">
              <a:lnSpc>
                <a:spcPct val="90000"/>
              </a:lnSpc>
              <a:spcBef>
                <a:spcPts val="1000"/>
              </a:spcBef>
              <a:buFont typeface="Arial"/>
              <a:buChar char="•"/>
            </a:pPr>
            <a:r>
              <a:rPr lang="en-US" dirty="0"/>
              <a:t>Funding opportunities are organized by the type of research proposed.</a:t>
            </a:r>
            <a:endParaRPr lang="en-US" dirty="0">
              <a:ea typeface="Calibri"/>
              <a:cs typeface="Calibri"/>
            </a:endParaRPr>
          </a:p>
          <a:p>
            <a:pPr marL="171450" indent="-171450">
              <a:lnSpc>
                <a:spcPct val="90000"/>
              </a:lnSpc>
              <a:spcBef>
                <a:spcPts val="1000"/>
              </a:spcBef>
              <a:buFont typeface="Arial"/>
              <a:buChar char="•"/>
            </a:pPr>
            <a:r>
              <a:rPr lang="en-US" dirty="0"/>
              <a:t>Accepted Pre-Applications are required prior to any full application submission for most applications.</a:t>
            </a:r>
            <a:endParaRPr lang="en-US" dirty="0">
              <a:ea typeface="Calibri"/>
              <a:cs typeface="Calibri"/>
            </a:endParaRPr>
          </a:p>
          <a:p>
            <a:pPr marL="171450" indent="-171450">
              <a:lnSpc>
                <a:spcPct val="90000"/>
              </a:lnSpc>
              <a:spcBef>
                <a:spcPts val="1000"/>
              </a:spcBef>
              <a:buFont typeface="Arial"/>
              <a:buChar char="•"/>
            </a:pPr>
            <a:r>
              <a:rPr lang="en-US" dirty="0"/>
              <a:t>Pre-applications are submitted to the Portfolio RFAs (I02).</a:t>
            </a:r>
            <a:endParaRPr lang="en-US" dirty="0">
              <a:ea typeface="Calibri"/>
              <a:cs typeface="Calibri"/>
            </a:endParaRPr>
          </a:p>
          <a:p>
            <a:pPr marL="171450" indent="-171450">
              <a:lnSpc>
                <a:spcPct val="90000"/>
              </a:lnSpc>
              <a:spcBef>
                <a:spcPts val="1000"/>
              </a:spcBef>
              <a:buFont typeface="Arial"/>
              <a:buChar char="•"/>
            </a:pPr>
            <a:r>
              <a:rPr lang="en-US" dirty="0"/>
              <a:t>The scientific review groups review for all Portfolios (not just a single Service).</a:t>
            </a:r>
            <a:endParaRPr lang="en-US" dirty="0">
              <a:ea typeface="Calibri"/>
              <a:cs typeface="Calibri"/>
            </a:endParaRPr>
          </a:p>
          <a:p>
            <a:pPr marL="171450" indent="-171450">
              <a:lnSpc>
                <a:spcPct val="90000"/>
              </a:lnSpc>
              <a:spcBef>
                <a:spcPts val="1000"/>
              </a:spcBef>
              <a:buFont typeface="Arial"/>
              <a:buChar char="•"/>
            </a:pPr>
            <a:r>
              <a:rPr lang="en-US" dirty="0"/>
              <a:t>Scored proposals will be ranked in the Portfolio funding meeting.  Tabletop modeling has shown that there is no advantage or disadvantage in applying to one SRG or portfolio versus another.</a:t>
            </a:r>
            <a:endParaRPr lang="en-US" dirty="0">
              <a:ea typeface="Calibri"/>
              <a:cs typeface="Calibri"/>
            </a:endParaRPr>
          </a:p>
          <a:p>
            <a:pPr marL="171450" indent="-171450">
              <a:lnSpc>
                <a:spcPct val="90000"/>
              </a:lnSpc>
              <a:spcBef>
                <a:spcPts val="1000"/>
              </a:spcBef>
              <a:buFont typeface="Arial"/>
              <a:buChar char="•"/>
            </a:pPr>
            <a:r>
              <a:rPr lang="en-US" dirty="0"/>
              <a:t>The ranked applications will go to the ISRM Leadership Council which will set the pay line for the round.</a:t>
            </a:r>
            <a:endParaRPr lang="en-US" dirty="0">
              <a:ea typeface="Calibri"/>
              <a:cs typeface="Calibri"/>
            </a:endParaRPr>
          </a:p>
          <a:p>
            <a:pPr marL="171450" indent="-171450">
              <a:lnSpc>
                <a:spcPct val="90000"/>
              </a:lnSpc>
              <a:spcBef>
                <a:spcPts val="1000"/>
              </a:spcBef>
              <a:buFont typeface="Arial"/>
              <a:buChar char="•"/>
            </a:pPr>
            <a:r>
              <a:rPr lang="en-US" dirty="0"/>
              <a:t>Funded projects will be managed by the director of the Portfolio to which it was submitted working with the SPM who managed the review.</a:t>
            </a:r>
            <a:endParaRPr lang="en-US" dirty="0">
              <a:ea typeface="Calibri"/>
              <a:cs typeface="Calibri"/>
            </a:endParaRPr>
          </a:p>
          <a:p>
            <a:pPr>
              <a:lnSpc>
                <a:spcPct val="90000"/>
              </a:lnSpc>
              <a:spcBef>
                <a:spcPts val="1000"/>
              </a:spcBef>
              <a:buFont typeface="Arial"/>
            </a:pPr>
            <a:endParaRPr lang="en-US" dirty="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6BE72B-5095-46B0-B741-9CFCD80BF2F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87413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things that will remain the same for Investigators</a:t>
            </a:r>
            <a:endParaRPr lang="en-US" dirty="0">
              <a:ea typeface="Calibri"/>
              <a:cs typeface="Calibri"/>
            </a:endParaRPr>
          </a:p>
          <a:p>
            <a:endParaRPr lang="en-US" dirty="0"/>
          </a:p>
          <a:p>
            <a:pPr marL="171450" indent="-171450">
              <a:lnSpc>
                <a:spcPct val="90000"/>
              </a:lnSpc>
              <a:spcBef>
                <a:spcPts val="1000"/>
              </a:spcBef>
              <a:buFont typeface="Arial"/>
              <a:buChar char="•"/>
            </a:pPr>
            <a:r>
              <a:rPr lang="en-US" dirty="0"/>
              <a:t>RFAs are posted and applications are submitted through Grants.gov and </a:t>
            </a:r>
            <a:r>
              <a:rPr lang="en-US" dirty="0" err="1"/>
              <a:t>eRA</a:t>
            </a:r>
            <a:r>
              <a:rPr lang="en-US" dirty="0"/>
              <a:t> Commons.</a:t>
            </a:r>
          </a:p>
          <a:p>
            <a:pPr marL="171450" indent="-171450">
              <a:lnSpc>
                <a:spcPct val="90000"/>
              </a:lnSpc>
              <a:spcBef>
                <a:spcPts val="1000"/>
              </a:spcBef>
              <a:buFont typeface="Arial"/>
              <a:buChar char="•"/>
            </a:pPr>
            <a:r>
              <a:rPr lang="en-US" dirty="0"/>
              <a:t>The purview of the scientific review groups and the timing of review group meetings (every 6 months) has not changed.</a:t>
            </a:r>
          </a:p>
          <a:p>
            <a:pPr marL="171450" indent="-171450">
              <a:lnSpc>
                <a:spcPct val="90000"/>
              </a:lnSpc>
              <a:spcBef>
                <a:spcPts val="1000"/>
              </a:spcBef>
              <a:buFont typeface="Arial"/>
              <a:buChar char="•"/>
            </a:pPr>
            <a:r>
              <a:rPr lang="en-US" dirty="0"/>
              <a:t>The Scientific Portfolio Managers who manage the SRGs has not changed.</a:t>
            </a:r>
          </a:p>
          <a:p>
            <a:pPr marL="171450" indent="-171450">
              <a:lnSpc>
                <a:spcPct val="90000"/>
              </a:lnSpc>
              <a:spcBef>
                <a:spcPts val="1000"/>
              </a:spcBef>
              <a:buFont typeface="Arial"/>
              <a:buChar char="•"/>
            </a:pPr>
            <a:r>
              <a:rPr lang="en-US" dirty="0"/>
              <a:t>Review by a specific scientific review group can be requested.</a:t>
            </a:r>
          </a:p>
          <a:p>
            <a:pPr marL="171450" indent="-171450">
              <a:lnSpc>
                <a:spcPct val="90000"/>
              </a:lnSpc>
              <a:spcBef>
                <a:spcPts val="1000"/>
              </a:spcBef>
              <a:buFont typeface="Arial"/>
              <a:buChar char="•"/>
            </a:pPr>
            <a:r>
              <a:rPr lang="en-US" dirty="0"/>
              <a:t>Applications not funded may be resubmitted no more than 2 times (-A1 and -A2).</a:t>
            </a:r>
          </a:p>
          <a:p>
            <a:pPr marL="171450" indent="-171450">
              <a:lnSpc>
                <a:spcPct val="90000"/>
              </a:lnSpc>
              <a:spcBef>
                <a:spcPts val="1000"/>
              </a:spcBef>
              <a:buFont typeface="Arial"/>
              <a:buChar char="•"/>
            </a:pPr>
            <a:r>
              <a:rPr lang="en-US" dirty="0"/>
              <a:t>Once a decision has been made about an application, a notice of intent to fund or not to fund will be sent. </a:t>
            </a:r>
          </a:p>
          <a:p>
            <a:pPr marL="171450" indent="-171450">
              <a:lnSpc>
                <a:spcPct val="90000"/>
              </a:lnSpc>
              <a:spcBef>
                <a:spcPts val="1000"/>
              </a:spcBef>
              <a:buFont typeface="Arial"/>
              <a:buChar char="•"/>
            </a:pPr>
            <a:r>
              <a:rPr lang="en-US" dirty="0"/>
              <a:t>PIs with approved applications will be required to complete just-in-time requirements.</a:t>
            </a:r>
          </a:p>
          <a:p>
            <a:pPr marL="171450" indent="-171450">
              <a:lnSpc>
                <a:spcPct val="90000"/>
              </a:lnSpc>
              <a:spcBef>
                <a:spcPts val="1000"/>
              </a:spcBef>
              <a:buFont typeface="Arial"/>
              <a:buChar char="•"/>
            </a:pPr>
            <a:r>
              <a:rPr lang="en-US" dirty="0"/>
              <a:t>If funded, the SPM who managed the review of the application will manage your project. </a:t>
            </a:r>
            <a:endParaRPr lang="en-US" dirty="0">
              <a:ea typeface="Calibri"/>
              <a:cs typeface="Calibri"/>
            </a:endParaRPr>
          </a:p>
          <a:p>
            <a:pPr>
              <a:lnSpc>
                <a:spcPct val="90000"/>
              </a:lnSpc>
              <a:spcBef>
                <a:spcPts val="1000"/>
              </a:spcBef>
              <a:buFont typeface="Arial"/>
            </a:pPr>
            <a:endParaRPr lang="en-US" dirty="0">
              <a:ea typeface="Calibri"/>
              <a:cs typeface="Calibri"/>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6BE72B-5095-46B0-B741-9CFCD80BF2F1}"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52216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a:t>To start, the Leadership Council will meet in the first quarter to set the budget.  These budgets will be b</a:t>
            </a:r>
            <a:r>
              <a:rPr lang="en-US" sz="2800"/>
              <a:t>ased on the value of the projects within the portfolio at the end of the prior fiscal year, plus any additional specific funding provided in the ORD budget.</a:t>
            </a:r>
          </a:p>
          <a:p>
            <a:endParaRPr lang="en-US" sz="2800"/>
          </a:p>
          <a:p>
            <a:r>
              <a:rPr lang="en-US" sz="2800"/>
              <a:t>That said, the council will have the authority to transfer funds between portfolios during the fiscal year if required. </a:t>
            </a:r>
          </a:p>
          <a:p>
            <a:endParaRPr lang="en-US"/>
          </a:p>
        </p:txBody>
      </p:sp>
      <p:sp>
        <p:nvSpPr>
          <p:cNvPr id="4" name="Slide Number Placeholder 3"/>
          <p:cNvSpPr>
            <a:spLocks noGrp="1"/>
          </p:cNvSpPr>
          <p:nvPr>
            <p:ph type="sldNum" sz="quarter" idx="5"/>
          </p:nvPr>
        </p:nvSpPr>
        <p:spPr/>
        <p:txBody>
          <a:bodyPr/>
          <a:lstStyle/>
          <a:p>
            <a:fld id="{F3AA743C-D3B9-483E-8886-D710F752ED33}" type="slidenum">
              <a:rPr lang="en-US" smtClean="0"/>
              <a:t>32</a:t>
            </a:fld>
            <a:endParaRPr lang="en-US"/>
          </a:p>
        </p:txBody>
      </p:sp>
    </p:spTree>
    <p:extLst>
      <p:ext uri="{BB962C8B-B14F-4D97-AF65-F5344CB8AC3E}">
        <p14:creationId xmlns:p14="http://schemas.microsoft.com/office/powerpoint/2010/main" val="38232985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From there, applications for funding received and scored by the portfolios will be reviewed in either the standing scientific review groups or special review groups.   The portfolios will convene funding recommendation meetings for each review cycle in which they have applications.  This is where a ranked list of recommended applications will be developed, and then submitted to the Leadership Council for approval.  The council is responsible for establishing the “pay line,”  and will also be responsible for approving or denying any deviations.   </a:t>
            </a:r>
          </a:p>
          <a:p>
            <a:endParaRPr lang="en-US"/>
          </a:p>
        </p:txBody>
      </p:sp>
      <p:sp>
        <p:nvSpPr>
          <p:cNvPr id="4" name="Slide Number Placeholder 3"/>
          <p:cNvSpPr>
            <a:spLocks noGrp="1"/>
          </p:cNvSpPr>
          <p:nvPr>
            <p:ph type="sldNum" sz="quarter" idx="5"/>
          </p:nvPr>
        </p:nvSpPr>
        <p:spPr/>
        <p:txBody>
          <a:bodyPr/>
          <a:lstStyle/>
          <a:p>
            <a:fld id="{F3AA743C-D3B9-483E-8886-D710F752ED33}" type="slidenum">
              <a:rPr lang="en-US" smtClean="0"/>
              <a:t>33</a:t>
            </a:fld>
            <a:endParaRPr lang="en-US"/>
          </a:p>
        </p:txBody>
      </p:sp>
    </p:spTree>
    <p:extLst>
      <p:ext uri="{BB962C8B-B14F-4D97-AF65-F5344CB8AC3E}">
        <p14:creationId xmlns:p14="http://schemas.microsoft.com/office/powerpoint/2010/main" val="34070893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here are some key points in our calendar. </a:t>
            </a:r>
          </a:p>
          <a:p>
            <a:endParaRPr lang="en-US"/>
          </a:p>
          <a:p>
            <a:r>
              <a:rPr lang="en-US"/>
              <a:t>Before we move on to our next topic, I want to ask you all for ideas on &lt;CLICK BUTTON&gt; how we can educate the field on which RFAs to use during the upcoming overlap of service and ORD-wide RFAs from July to September.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3AA743C-D3B9-483E-8886-D710F752ED3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783883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And that concludes our presentation for today.  Thank you for your attention as we describe the path forward for ISRM going into 2025.    </a:t>
            </a:r>
            <a:br>
              <a:rPr lang="en-US">
                <a:cs typeface="+mn-lt"/>
              </a:rPr>
            </a:br>
            <a:br>
              <a:rPr lang="en-US">
                <a:cs typeface="+mn-lt"/>
              </a:rPr>
            </a:br>
            <a:r>
              <a:rPr lang="en-US"/>
              <a:t>We talked about the transition from services to portfolios, and also about how those portfolios will be structured.</a:t>
            </a:r>
          </a:p>
          <a:p>
            <a:endParaRPr lang="en-US"/>
          </a:p>
          <a:p>
            <a:r>
              <a:rPr lang="en-US"/>
              <a:t>We also discussed the new consolidated operations unit and the structure of the operations sub-units that will support the portfolios.</a:t>
            </a:r>
            <a:endParaRPr lang="en-US">
              <a:cs typeface="Calibri"/>
            </a:endParaRPr>
          </a:p>
          <a:p>
            <a:endParaRPr lang="en-US"/>
          </a:p>
          <a:p>
            <a:r>
              <a:rPr lang="en-US"/>
              <a:t>Since we have a few minutes left, I can take a few questions from the audience, but please remember that we’ll have more classes about policies, procedures and collaboration stemming from the reorganization in the weeks to come.</a:t>
            </a:r>
            <a:endParaRPr lang="en-US">
              <a:cs typeface="Calibri"/>
            </a:endParaRPr>
          </a:p>
        </p:txBody>
      </p:sp>
      <p:sp>
        <p:nvSpPr>
          <p:cNvPr id="4" name="Slide Number Placeholder 3"/>
          <p:cNvSpPr>
            <a:spLocks noGrp="1"/>
          </p:cNvSpPr>
          <p:nvPr>
            <p:ph type="sldNum" sz="quarter" idx="5"/>
          </p:nvPr>
        </p:nvSpPr>
        <p:spPr/>
        <p:txBody>
          <a:bodyPr/>
          <a:lstStyle/>
          <a:p>
            <a:fld id="{F3AA743C-D3B9-483E-8886-D710F752ED33}" type="slidenum">
              <a:rPr lang="en-US" smtClean="0"/>
              <a:t>36</a:t>
            </a:fld>
            <a:endParaRPr lang="en-US"/>
          </a:p>
        </p:txBody>
      </p:sp>
    </p:spTree>
    <p:extLst>
      <p:ext uri="{BB962C8B-B14F-4D97-AF65-F5344CB8AC3E}">
        <p14:creationId xmlns:p14="http://schemas.microsoft.com/office/powerpoint/2010/main" val="10910533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4.emf"/></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4.emf"/></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4.xml"/><Relationship Id="rId1" Type="http://schemas.openxmlformats.org/officeDocument/2006/relationships/tags" Target="../tags/tag14.xml"/><Relationship Id="rId4" Type="http://schemas.openxmlformats.org/officeDocument/2006/relationships/image" Target="../media/image4.emf"/></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4.xml"/><Relationship Id="rId1" Type="http://schemas.openxmlformats.org/officeDocument/2006/relationships/tags" Target="../tags/tag15.xml"/><Relationship Id="rId4" Type="http://schemas.openxmlformats.org/officeDocument/2006/relationships/image" Target="../media/image4.emf"/></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18.xml"/><Relationship Id="rId4" Type="http://schemas.openxmlformats.org/officeDocument/2006/relationships/image" Target="../media/image4.emf"/></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6.xml"/><Relationship Id="rId1" Type="http://schemas.openxmlformats.org/officeDocument/2006/relationships/tags" Target="../tags/tag19.xml"/><Relationship Id="rId4" Type="http://schemas.openxmlformats.org/officeDocument/2006/relationships/image" Target="../media/image4.emf"/></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7.xml"/><Relationship Id="rId1" Type="http://schemas.openxmlformats.org/officeDocument/2006/relationships/tags" Target="../tags/tag22.xml"/><Relationship Id="rId4" Type="http://schemas.openxmlformats.org/officeDocument/2006/relationships/image" Target="../media/image4.emf"/></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7.xml"/><Relationship Id="rId1" Type="http://schemas.openxmlformats.org/officeDocument/2006/relationships/tags" Target="../tags/tag23.xml"/><Relationship Id="rId4" Type="http://schemas.openxmlformats.org/officeDocument/2006/relationships/image" Target="../media/image4.emf"/></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320421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27976432"/>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E2E7A7-A876-6AD4-5A17-4C809EC94665}"/>
              </a:ext>
            </a:extLst>
          </p:cNvPr>
          <p:cNvSpPr>
            <a:spLocks noGrp="1"/>
          </p:cNvSpPr>
          <p:nvPr>
            <p:ph type="dt" sz="half" idx="10"/>
          </p:nvPr>
        </p:nvSpPr>
        <p:spPr/>
        <p:txBody>
          <a:bodyPr/>
          <a:lstStyle/>
          <a:p>
            <a:fld id="{C633F186-FB2C-4ABD-A910-CC39FDE09F4E}" type="datetimeFigureOut">
              <a:rPr lang="en-US" smtClean="0"/>
              <a:t>9/11/2024</a:t>
            </a:fld>
            <a:endParaRPr lang="en-US"/>
          </a:p>
        </p:txBody>
      </p:sp>
      <p:sp>
        <p:nvSpPr>
          <p:cNvPr id="3" name="Footer Placeholder 2">
            <a:extLst>
              <a:ext uri="{FF2B5EF4-FFF2-40B4-BE49-F238E27FC236}">
                <a16:creationId xmlns:a16="http://schemas.microsoft.com/office/drawing/2014/main" id="{F87D9F87-A213-4B51-D0D0-66E78A59E2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B307AB-940B-F5A6-6723-4B843A2A6ABE}"/>
              </a:ext>
            </a:extLst>
          </p:cNvPr>
          <p:cNvSpPr>
            <a:spLocks noGrp="1"/>
          </p:cNvSpPr>
          <p:nvPr>
            <p:ph type="sldNum" sz="quarter" idx="12"/>
          </p:nvPr>
        </p:nvSpPr>
        <p:spPr/>
        <p:txBody>
          <a:bodyPr/>
          <a:lstStyle/>
          <a:p>
            <a:fld id="{FBB93BEC-F996-4DE6-8713-A3BAFBDAE062}" type="slidenum">
              <a:rPr lang="en-US" smtClean="0"/>
              <a:t>‹#›</a:t>
            </a:fld>
            <a:endParaRPr lang="en-US"/>
          </a:p>
        </p:txBody>
      </p:sp>
    </p:spTree>
    <p:extLst>
      <p:ext uri="{BB962C8B-B14F-4D97-AF65-F5344CB8AC3E}">
        <p14:creationId xmlns:p14="http://schemas.microsoft.com/office/powerpoint/2010/main" val="2316429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45086054"/>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27512" y="255719"/>
            <a:ext cx="3736975" cy="325923"/>
          </a:xfrm>
        </p:spPr>
        <p:txBody>
          <a:bodyPr lIns="0" tIns="0" rIns="0" bIns="0"/>
          <a:lstStyle>
            <a:lvl1pPr>
              <a:defRPr sz="2118"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52314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4" y="118875"/>
            <a:ext cx="10515600" cy="752929"/>
          </a:xfrm>
        </p:spPr>
        <p:txBody>
          <a:bodyPr/>
          <a:lstStyle/>
          <a:p>
            <a:r>
              <a:rPr lang="en-US"/>
              <a:t>Click to edit master title style</a:t>
            </a:r>
          </a:p>
        </p:txBody>
      </p:sp>
      <p:sp>
        <p:nvSpPr>
          <p:cNvPr id="3" name="Content Placeholder 2"/>
          <p:cNvSpPr>
            <a:spLocks noGrp="1"/>
          </p:cNvSpPr>
          <p:nvPr>
            <p:ph idx="1"/>
          </p:nvPr>
        </p:nvSpPr>
        <p:spPr>
          <a:xfrm>
            <a:off x="838204" y="1133859"/>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8" y="982666"/>
            <a:ext cx="3108114"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844387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0C9-A759-41CD-91B1-9887B3481B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BB956-B822-4E72-8D4C-5B8C85528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610801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320800" y="198438"/>
            <a:ext cx="10261600" cy="487362"/>
          </a:xfrm>
          <a:prstGeom prst="rect">
            <a:avLst/>
          </a:prstGeom>
        </p:spPr>
        <p:txBody>
          <a:bodyPr vert="horz"/>
          <a:lstStyle>
            <a:lvl1pPr algn="l">
              <a:defRPr sz="2200" cap="all" baseline="0">
                <a:solidFill>
                  <a:schemeClr val="bg1"/>
                </a:solidFill>
                <a:latin typeface="Georgia"/>
              </a:defRPr>
            </a:lvl1pPr>
          </a:lstStyle>
          <a:p>
            <a:r>
              <a:rPr lang="en-US"/>
              <a:t>Click to edit Master title style</a:t>
            </a:r>
          </a:p>
        </p:txBody>
      </p:sp>
      <p:sp>
        <p:nvSpPr>
          <p:cNvPr id="6" name="Content Placeholder 2"/>
          <p:cNvSpPr>
            <a:spLocks noGrp="1"/>
          </p:cNvSpPr>
          <p:nvPr>
            <p:ph idx="1"/>
          </p:nvPr>
        </p:nvSpPr>
        <p:spPr>
          <a:xfrm>
            <a:off x="609600" y="1600201"/>
            <a:ext cx="10972800" cy="4525963"/>
          </a:xfrm>
          <a:prstGeom prst="rect">
            <a:avLst/>
          </a:prstGeom>
        </p:spPr>
        <p:txBody>
          <a:bodyPr/>
          <a:lstStyle>
            <a:lvl1pPr>
              <a:defRPr>
                <a:solidFill>
                  <a:srgbClr val="174782"/>
                </a:solidFill>
                <a:latin typeface="Georgia"/>
              </a:defRPr>
            </a:lvl1pPr>
            <a:lvl2pPr>
              <a:defRPr>
                <a:latin typeface="Georgia"/>
              </a:defRPr>
            </a:lvl2pPr>
            <a:lvl3pPr>
              <a:defRPr>
                <a:latin typeface="Georgia"/>
              </a:defRPr>
            </a:lvl3pPr>
            <a:lvl4pPr>
              <a:defRPr>
                <a:latin typeface="Georgia"/>
              </a:defRPr>
            </a:lvl4pPr>
            <a:lvl5pPr>
              <a:defRPr>
                <a:latin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8"/>
          <p:cNvSpPr>
            <a:spLocks noGrp="1"/>
          </p:cNvSpPr>
          <p:nvPr>
            <p:ph type="dt" sz="half" idx="10"/>
          </p:nvPr>
        </p:nvSpPr>
        <p:spPr/>
        <p:txBody>
          <a:bodyPr/>
          <a:lstStyle>
            <a:lvl1pPr>
              <a:defRPr/>
            </a:lvl1pPr>
          </a:lstStyle>
          <a:p>
            <a:pPr>
              <a:defRPr/>
            </a:pPr>
            <a:r>
              <a:rPr lang="en-US"/>
              <a:t>DATE</a:t>
            </a:r>
          </a:p>
        </p:txBody>
      </p:sp>
      <p:sp>
        <p:nvSpPr>
          <p:cNvPr id="5" name="Footer Placeholder 9"/>
          <p:cNvSpPr>
            <a:spLocks noGrp="1"/>
          </p:cNvSpPr>
          <p:nvPr>
            <p:ph type="ftr" sz="quarter" idx="11"/>
          </p:nvPr>
        </p:nvSpPr>
        <p:spPr/>
        <p:txBody>
          <a:bodyPr/>
          <a:lstStyle>
            <a:lvl1pPr>
              <a:defRPr/>
            </a:lvl1pPr>
          </a:lstStyle>
          <a:p>
            <a:pPr>
              <a:defRPr/>
            </a:pPr>
            <a:r>
              <a:rPr lang="en-US"/>
              <a:t>DOCUMENT TYPE/STATUS</a:t>
            </a:r>
          </a:p>
        </p:txBody>
      </p:sp>
      <p:sp>
        <p:nvSpPr>
          <p:cNvPr id="7" name="Slide Number Placeholder 10"/>
          <p:cNvSpPr>
            <a:spLocks noGrp="1"/>
          </p:cNvSpPr>
          <p:nvPr>
            <p:ph type="sldNum" sz="quarter" idx="12"/>
          </p:nvPr>
        </p:nvSpPr>
        <p:spPr/>
        <p:txBody>
          <a:bodyPr/>
          <a:lstStyle>
            <a:lvl1pPr>
              <a:defRPr/>
            </a:lvl1pPr>
          </a:lstStyle>
          <a:p>
            <a:pPr>
              <a:defRPr/>
            </a:pPr>
            <a:fld id="{149DAFAA-7812-4B15-926F-EFC797A2885C}" type="slidenum">
              <a:rPr lang="en-US" altLang="en-US"/>
              <a:pPr>
                <a:defRPr/>
              </a:pPr>
              <a:t>‹#›</a:t>
            </a:fld>
            <a:endParaRPr lang="en-US" altLang="en-US"/>
          </a:p>
        </p:txBody>
      </p:sp>
    </p:spTree>
    <p:extLst>
      <p:ext uri="{BB962C8B-B14F-4D97-AF65-F5344CB8AC3E}">
        <p14:creationId xmlns:p14="http://schemas.microsoft.com/office/powerpoint/2010/main" val="1138097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9033475"/>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671997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0" y="6131277"/>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40" marR="0" lvl="0" indent="-9144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18140871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034478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71FE-F79C-46FE-B31D-207784C0EA9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71315D-ECBC-DC65-0034-65387586F0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86BA62-18E8-6558-303A-9AFDB2F3F19F}"/>
              </a:ext>
            </a:extLst>
          </p:cNvPr>
          <p:cNvSpPr>
            <a:spLocks noGrp="1"/>
          </p:cNvSpPr>
          <p:nvPr>
            <p:ph type="dt" sz="half" idx="10"/>
          </p:nvPr>
        </p:nvSpPr>
        <p:spPr/>
        <p:txBody>
          <a:bodyPr/>
          <a:lstStyle/>
          <a:p>
            <a:fld id="{C633F186-FB2C-4ABD-A910-CC39FDE09F4E}" type="datetimeFigureOut">
              <a:rPr lang="en-US" smtClean="0"/>
              <a:t>9/11/2024</a:t>
            </a:fld>
            <a:endParaRPr lang="en-US"/>
          </a:p>
        </p:txBody>
      </p:sp>
      <p:sp>
        <p:nvSpPr>
          <p:cNvPr id="5" name="Footer Placeholder 4">
            <a:extLst>
              <a:ext uri="{FF2B5EF4-FFF2-40B4-BE49-F238E27FC236}">
                <a16:creationId xmlns:a16="http://schemas.microsoft.com/office/drawing/2014/main" id="{B464D01A-1BA7-02AF-8885-0763CEF25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55AA4-D22B-E5DB-2770-73A2309BADAF}"/>
              </a:ext>
            </a:extLst>
          </p:cNvPr>
          <p:cNvSpPr>
            <a:spLocks noGrp="1"/>
          </p:cNvSpPr>
          <p:nvPr>
            <p:ph type="sldNum" sz="quarter" idx="12"/>
          </p:nvPr>
        </p:nvSpPr>
        <p:spPr/>
        <p:txBody>
          <a:bodyPr/>
          <a:lstStyle/>
          <a:p>
            <a:fld id="{FBB93BEC-F996-4DE6-8713-A3BAFBDAE062}" type="slidenum">
              <a:rPr lang="en-US" smtClean="0"/>
              <a:t>‹#›</a:t>
            </a:fld>
            <a:endParaRPr lang="en-US"/>
          </a:p>
        </p:txBody>
      </p:sp>
    </p:spTree>
    <p:extLst>
      <p:ext uri="{BB962C8B-B14F-4D97-AF65-F5344CB8AC3E}">
        <p14:creationId xmlns:p14="http://schemas.microsoft.com/office/powerpoint/2010/main" val="1301767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43434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244842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18"/>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04353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p:cNvSpPr>
            <a:spLocks noGrp="1"/>
          </p:cNvSpPr>
          <p:nvPr>
            <p:ph type="sldNum" sz="quarter" idx="12"/>
          </p:nvPr>
        </p:nvSpPr>
        <p:spPr>
          <a:xfrm>
            <a:off x="8610600" y="6356358"/>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9C639-C7C7-9848-BE32-492A9B56F14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D9B18402-97FF-41B9-A0F8-4E70EA1A736C}"/>
              </a:ext>
            </a:extLst>
          </p:cNvPr>
          <p:cNvGrpSpPr/>
          <p:nvPr userDrawn="1"/>
        </p:nvGrpSpPr>
        <p:grpSpPr>
          <a:xfrm>
            <a:off x="-4064" y="1311866"/>
            <a:ext cx="12196064" cy="46732"/>
            <a:chOff x="-4064" y="1396390"/>
            <a:chExt cx="12196064" cy="46732"/>
          </a:xfrm>
        </p:grpSpPr>
        <p:grpSp>
          <p:nvGrpSpPr>
            <p:cNvPr id="16" name="Group 15">
              <a:extLst>
                <a:ext uri="{FF2B5EF4-FFF2-40B4-BE49-F238E27FC236}">
                  <a16:creationId xmlns:a16="http://schemas.microsoft.com/office/drawing/2014/main" id="{4671C90E-ED8C-45B3-B185-2E5880B693E9}"/>
                </a:ext>
              </a:extLst>
            </p:cNvPr>
            <p:cNvGrpSpPr/>
            <p:nvPr userDrawn="1"/>
          </p:nvGrpSpPr>
          <p:grpSpPr>
            <a:xfrm>
              <a:off x="-4064" y="1396390"/>
              <a:ext cx="12196064" cy="15240"/>
              <a:chOff x="-3048" y="1344168"/>
              <a:chExt cx="9147048" cy="15240"/>
            </a:xfrm>
          </p:grpSpPr>
          <p:cxnSp>
            <p:nvCxnSpPr>
              <p:cNvPr id="20" name="Straight Connector 19">
                <a:extLst>
                  <a:ext uri="{FF2B5EF4-FFF2-40B4-BE49-F238E27FC236}">
                    <a16:creationId xmlns:a16="http://schemas.microsoft.com/office/drawing/2014/main" id="{38645419-0FA9-4759-8636-09E75908B383}"/>
                  </a:ext>
                </a:extLst>
              </p:cNvPr>
              <p:cNvCxnSpPr/>
              <p:nvPr userDrawn="1"/>
            </p:nvCxnSpPr>
            <p:spPr>
              <a:xfrm>
                <a:off x="0" y="134416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4768868-C34C-4707-B36D-C1BD9643BC90}"/>
                  </a:ext>
                </a:extLst>
              </p:cNvPr>
              <p:cNvCxnSpPr/>
              <p:nvPr userDrawn="1"/>
            </p:nvCxnSpPr>
            <p:spPr>
              <a:xfrm>
                <a:off x="-3048" y="135940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977A6D1-9034-4A80-B59D-5FCB6FF47B77}"/>
                </a:ext>
              </a:extLst>
            </p:cNvPr>
            <p:cNvGrpSpPr/>
            <p:nvPr userDrawn="1"/>
          </p:nvGrpSpPr>
          <p:grpSpPr>
            <a:xfrm>
              <a:off x="-4064" y="1427882"/>
              <a:ext cx="12196064" cy="15240"/>
              <a:chOff x="-3048" y="1344168"/>
              <a:chExt cx="9147048" cy="15240"/>
            </a:xfrm>
          </p:grpSpPr>
          <p:cxnSp>
            <p:nvCxnSpPr>
              <p:cNvPr id="18" name="Straight Connector 17">
                <a:extLst>
                  <a:ext uri="{FF2B5EF4-FFF2-40B4-BE49-F238E27FC236}">
                    <a16:creationId xmlns:a16="http://schemas.microsoft.com/office/drawing/2014/main" id="{7B94AB9B-8BC2-4FC5-AAE3-94E7776FAB76}"/>
                  </a:ext>
                </a:extLst>
              </p:cNvPr>
              <p:cNvCxnSpPr/>
              <p:nvPr userDrawn="1"/>
            </p:nvCxnSpPr>
            <p:spPr>
              <a:xfrm>
                <a:off x="0" y="134416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2C1DE8E-F8BE-4FC7-BEC4-06C4F168A5CE}"/>
                  </a:ext>
                </a:extLst>
              </p:cNvPr>
              <p:cNvCxnSpPr/>
              <p:nvPr userDrawn="1"/>
            </p:nvCxnSpPr>
            <p:spPr>
              <a:xfrm>
                <a:off x="-3048" y="135940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4767769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4963638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379433761"/>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0808483"/>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744971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0" y="6131277"/>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40" marR="0" lvl="0" indent="-9144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18605305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2178955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43567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0668487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881189169"/>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864952056"/>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3189638"/>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41161662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0" y="6131277"/>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40" marR="0" lvl="0" indent="-9144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25044208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885658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4" y="118875"/>
            <a:ext cx="10515600" cy="752929"/>
          </a:xfrm>
        </p:spPr>
        <p:txBody>
          <a:bodyPr/>
          <a:lstStyle/>
          <a:p>
            <a:r>
              <a:rPr lang="en-US"/>
              <a:t>Click to edit master title style</a:t>
            </a:r>
          </a:p>
        </p:txBody>
      </p:sp>
      <p:sp>
        <p:nvSpPr>
          <p:cNvPr id="3" name="Content Placeholder 2"/>
          <p:cNvSpPr>
            <a:spLocks noGrp="1"/>
          </p:cNvSpPr>
          <p:nvPr>
            <p:ph idx="1"/>
          </p:nvPr>
        </p:nvSpPr>
        <p:spPr>
          <a:xfrm>
            <a:off x="838204" y="1133859"/>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8" y="982666"/>
            <a:ext cx="3108114"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167458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9/11/2024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40528"/>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6"/>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2"/>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406065436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1615881223"/>
      </p:ext>
    </p:extLst>
  </p:cSld>
  <p:clrMapOvr>
    <a:masterClrMapping/>
  </p:clrMapOvr>
  <p:extLst>
    <p:ext uri="{DCECCB84-F9BA-43D5-87BE-67443E8EF086}">
      <p15:sldGuideLst xmlns:p15="http://schemas.microsoft.com/office/powerpoint/2012/main">
        <p15:guide id="1" orient="horz" pos="3984">
          <p15:clr>
            <a:srgbClr val="FBAE40"/>
          </p15:clr>
        </p15:guide>
        <p15:guide id="2" pos="32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E2E7A7-A876-6AD4-5A17-4C809EC94665}"/>
              </a:ext>
            </a:extLst>
          </p:cNvPr>
          <p:cNvSpPr>
            <a:spLocks noGrp="1"/>
          </p:cNvSpPr>
          <p:nvPr>
            <p:ph type="dt" sz="half" idx="10"/>
          </p:nvPr>
        </p:nvSpPr>
        <p:spPr/>
        <p:txBody>
          <a:bodyPr/>
          <a:lstStyle/>
          <a:p>
            <a:fld id="{C633F186-FB2C-4ABD-A910-CC39FDE09F4E}" type="datetimeFigureOut">
              <a:rPr lang="en-US" smtClean="0"/>
              <a:t>9/11/2024</a:t>
            </a:fld>
            <a:endParaRPr lang="en-US"/>
          </a:p>
        </p:txBody>
      </p:sp>
      <p:sp>
        <p:nvSpPr>
          <p:cNvPr id="3" name="Footer Placeholder 2">
            <a:extLst>
              <a:ext uri="{FF2B5EF4-FFF2-40B4-BE49-F238E27FC236}">
                <a16:creationId xmlns:a16="http://schemas.microsoft.com/office/drawing/2014/main" id="{F87D9F87-A213-4B51-D0D0-66E78A59E20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B307AB-940B-F5A6-6723-4B843A2A6ABE}"/>
              </a:ext>
            </a:extLst>
          </p:cNvPr>
          <p:cNvSpPr>
            <a:spLocks noGrp="1"/>
          </p:cNvSpPr>
          <p:nvPr>
            <p:ph type="sldNum" sz="quarter" idx="12"/>
          </p:nvPr>
        </p:nvSpPr>
        <p:spPr/>
        <p:txBody>
          <a:bodyPr/>
          <a:lstStyle/>
          <a:p>
            <a:fld id="{FBB93BEC-F996-4DE6-8713-A3BAFBDAE062}" type="slidenum">
              <a:rPr lang="en-US" smtClean="0"/>
              <a:t>‹#›</a:t>
            </a:fld>
            <a:endParaRPr lang="en-US"/>
          </a:p>
        </p:txBody>
      </p:sp>
    </p:spTree>
    <p:extLst>
      <p:ext uri="{BB962C8B-B14F-4D97-AF65-F5344CB8AC3E}">
        <p14:creationId xmlns:p14="http://schemas.microsoft.com/office/powerpoint/2010/main" val="287518784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defTabSz="914363">
              <a:defRPr/>
            </a:pPr>
            <a:endParaRPr lang="en-US">
              <a:solidFill>
                <a:prstClr val="black">
                  <a:tint val="75000"/>
                </a:prstClr>
              </a:solidFill>
            </a:endParaRPr>
          </a:p>
        </p:txBody>
      </p:sp>
      <p:sp>
        <p:nvSpPr>
          <p:cNvPr id="4" name="Slide Number Placeholder 3"/>
          <p:cNvSpPr>
            <a:spLocks noGrp="1"/>
          </p:cNvSpPr>
          <p:nvPr>
            <p:ph type="sldNum" sz="quarter" idx="12"/>
          </p:nvPr>
        </p:nvSpPr>
        <p:spPr>
          <a:xfrm>
            <a:off x="9361370" y="6356352"/>
            <a:ext cx="2743200" cy="365125"/>
          </a:xfrm>
        </p:spPr>
        <p:txBody>
          <a:bodyPr/>
          <a:lstStyle/>
          <a:p>
            <a:pPr defTabSz="914363">
              <a:defRPr/>
            </a:pPr>
            <a:fld id="{670A9334-4E67-F94F-A05E-0CE8B74A054E}" type="slidenum">
              <a:rPr lang="en-US" smtClean="0">
                <a:solidFill>
                  <a:prstClr val="black">
                    <a:tint val="75000"/>
                  </a:prstClr>
                </a:solidFill>
              </a:rPr>
              <a:pPr defTabSz="914363">
                <a:defRPr/>
              </a:pPr>
              <a:t>‹#›</a:t>
            </a:fld>
            <a:endParaRPr lang="en-US">
              <a:solidFill>
                <a:prstClr val="black">
                  <a:tint val="75000"/>
                </a:prstClr>
              </a:solidFill>
            </a:endParaRPr>
          </a:p>
        </p:txBody>
      </p:sp>
    </p:spTree>
    <p:extLst>
      <p:ext uri="{BB962C8B-B14F-4D97-AF65-F5344CB8AC3E}">
        <p14:creationId xmlns:p14="http://schemas.microsoft.com/office/powerpoint/2010/main" val="768350172"/>
      </p:ext>
    </p:extLst>
  </p:cSld>
  <p:clrMapOvr>
    <a:masterClrMapping/>
  </p:clrMapOvr>
  <p:hf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2"/>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98213821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1" y="6131279"/>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36" marR="0" lvl="0" indent="-91436" algn="l" defTabSz="914363"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42718233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8"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0700478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610600" y="6356360"/>
            <a:ext cx="2743200" cy="365125"/>
          </a:xfrm>
          <a:prstGeom prst="rect">
            <a:avLst/>
          </a:prstGeom>
        </p:spPr>
        <p:txBody>
          <a:bodyPr/>
          <a:lstStyle/>
          <a:p>
            <a:fld id="{FE09C639-C7C7-9848-BE32-492A9B56F14C}" type="slidenum">
              <a:rPr lang="en-US" smtClean="0"/>
              <a:t>‹#›</a:t>
            </a:fld>
            <a:endParaRPr lang="en-US"/>
          </a:p>
        </p:txBody>
      </p:sp>
      <p:grpSp>
        <p:nvGrpSpPr>
          <p:cNvPr id="15" name="Group 14">
            <a:extLst>
              <a:ext uri="{FF2B5EF4-FFF2-40B4-BE49-F238E27FC236}">
                <a16:creationId xmlns:a16="http://schemas.microsoft.com/office/drawing/2014/main" id="{D9B18402-97FF-41B9-A0F8-4E70EA1A736C}"/>
              </a:ext>
            </a:extLst>
          </p:cNvPr>
          <p:cNvGrpSpPr/>
          <p:nvPr userDrawn="1"/>
        </p:nvGrpSpPr>
        <p:grpSpPr>
          <a:xfrm>
            <a:off x="-4064" y="1311866"/>
            <a:ext cx="12196064" cy="46732"/>
            <a:chOff x="-4064" y="1396390"/>
            <a:chExt cx="12196064" cy="46732"/>
          </a:xfrm>
        </p:grpSpPr>
        <p:grpSp>
          <p:nvGrpSpPr>
            <p:cNvPr id="16" name="Group 15">
              <a:extLst>
                <a:ext uri="{FF2B5EF4-FFF2-40B4-BE49-F238E27FC236}">
                  <a16:creationId xmlns:a16="http://schemas.microsoft.com/office/drawing/2014/main" id="{4671C90E-ED8C-45B3-B185-2E5880B693E9}"/>
                </a:ext>
              </a:extLst>
            </p:cNvPr>
            <p:cNvGrpSpPr/>
            <p:nvPr userDrawn="1"/>
          </p:nvGrpSpPr>
          <p:grpSpPr>
            <a:xfrm>
              <a:off x="-4064" y="1396390"/>
              <a:ext cx="12196064" cy="15240"/>
              <a:chOff x="-3048" y="1344168"/>
              <a:chExt cx="9147048" cy="15240"/>
            </a:xfrm>
          </p:grpSpPr>
          <p:cxnSp>
            <p:nvCxnSpPr>
              <p:cNvPr id="20" name="Straight Connector 19">
                <a:extLst>
                  <a:ext uri="{FF2B5EF4-FFF2-40B4-BE49-F238E27FC236}">
                    <a16:creationId xmlns:a16="http://schemas.microsoft.com/office/drawing/2014/main" id="{38645419-0FA9-4759-8636-09E75908B383}"/>
                  </a:ext>
                </a:extLst>
              </p:cNvPr>
              <p:cNvCxnSpPr/>
              <p:nvPr userDrawn="1"/>
            </p:nvCxnSpPr>
            <p:spPr>
              <a:xfrm>
                <a:off x="0" y="134416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4768868-C34C-4707-B36D-C1BD9643BC90}"/>
                  </a:ext>
                </a:extLst>
              </p:cNvPr>
              <p:cNvCxnSpPr/>
              <p:nvPr userDrawn="1"/>
            </p:nvCxnSpPr>
            <p:spPr>
              <a:xfrm>
                <a:off x="-3048" y="1359408"/>
                <a:ext cx="9144000" cy="0"/>
              </a:xfrm>
              <a:prstGeom prst="line">
                <a:avLst/>
              </a:prstGeom>
              <a:ln w="15875">
                <a:solidFill>
                  <a:srgbClr val="1D3D78"/>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9977A6D1-9034-4A80-B59D-5FCB6FF47B77}"/>
                </a:ext>
              </a:extLst>
            </p:cNvPr>
            <p:cNvGrpSpPr/>
            <p:nvPr userDrawn="1"/>
          </p:nvGrpSpPr>
          <p:grpSpPr>
            <a:xfrm>
              <a:off x="-4064" y="1427882"/>
              <a:ext cx="12196064" cy="15240"/>
              <a:chOff x="-3048" y="1344168"/>
              <a:chExt cx="9147048" cy="15240"/>
            </a:xfrm>
          </p:grpSpPr>
          <p:cxnSp>
            <p:nvCxnSpPr>
              <p:cNvPr id="18" name="Straight Connector 17">
                <a:extLst>
                  <a:ext uri="{FF2B5EF4-FFF2-40B4-BE49-F238E27FC236}">
                    <a16:creationId xmlns:a16="http://schemas.microsoft.com/office/drawing/2014/main" id="{7B94AB9B-8BC2-4FC5-AAE3-94E7776FAB76}"/>
                  </a:ext>
                </a:extLst>
              </p:cNvPr>
              <p:cNvCxnSpPr/>
              <p:nvPr userDrawn="1"/>
            </p:nvCxnSpPr>
            <p:spPr>
              <a:xfrm>
                <a:off x="0" y="134416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2C1DE8E-F8BE-4FC7-BEC4-06C4F168A5CE}"/>
                  </a:ext>
                </a:extLst>
              </p:cNvPr>
              <p:cNvCxnSpPr/>
              <p:nvPr userDrawn="1"/>
            </p:nvCxnSpPr>
            <p:spPr>
              <a:xfrm>
                <a:off x="-3048" y="1359408"/>
                <a:ext cx="9144000" cy="0"/>
              </a:xfrm>
              <a:prstGeom prst="line">
                <a:avLst/>
              </a:prstGeom>
              <a:ln w="15875">
                <a:solidFill>
                  <a:srgbClr val="167B57"/>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852020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9/11/2024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95942199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C71FE-F79C-46FE-B31D-207784C0EA9C}"/>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271315D-ECBC-DC65-0034-65387586F049}"/>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F86BA62-18E8-6558-303A-9AFDB2F3F19F}"/>
              </a:ext>
            </a:extLst>
          </p:cNvPr>
          <p:cNvSpPr>
            <a:spLocks noGrp="1"/>
          </p:cNvSpPr>
          <p:nvPr>
            <p:ph type="dt" sz="half" idx="10"/>
          </p:nvPr>
        </p:nvSpPr>
        <p:spPr/>
        <p:txBody>
          <a:bodyPr/>
          <a:lstStyle/>
          <a:p>
            <a:fld id="{C633F186-FB2C-4ABD-A910-CC39FDE09F4E}" type="datetimeFigureOut">
              <a:rPr lang="en-US" smtClean="0"/>
              <a:t>9/11/2024</a:t>
            </a:fld>
            <a:endParaRPr lang="en-US"/>
          </a:p>
        </p:txBody>
      </p:sp>
      <p:sp>
        <p:nvSpPr>
          <p:cNvPr id="5" name="Footer Placeholder 4">
            <a:extLst>
              <a:ext uri="{FF2B5EF4-FFF2-40B4-BE49-F238E27FC236}">
                <a16:creationId xmlns:a16="http://schemas.microsoft.com/office/drawing/2014/main" id="{B464D01A-1BA7-02AF-8885-0763CEF25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B55AA4-D22B-E5DB-2770-73A2309BADAF}"/>
              </a:ext>
            </a:extLst>
          </p:cNvPr>
          <p:cNvSpPr>
            <a:spLocks noGrp="1"/>
          </p:cNvSpPr>
          <p:nvPr>
            <p:ph type="sldNum" sz="quarter" idx="12"/>
          </p:nvPr>
        </p:nvSpPr>
        <p:spPr/>
        <p:txBody>
          <a:bodyPr/>
          <a:lstStyle/>
          <a:p>
            <a:fld id="{FBB93BEC-F996-4DE6-8713-A3BAFBDAE062}" type="slidenum">
              <a:rPr lang="en-US" smtClean="0"/>
              <a:t>‹#›</a:t>
            </a:fld>
            <a:endParaRPr lang="en-US"/>
          </a:p>
        </p:txBody>
      </p:sp>
    </p:spTree>
    <p:extLst>
      <p:ext uri="{BB962C8B-B14F-4D97-AF65-F5344CB8AC3E}">
        <p14:creationId xmlns:p14="http://schemas.microsoft.com/office/powerpoint/2010/main" val="13047685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4216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90" y="1137442"/>
            <a:ext cx="10514011" cy="421194"/>
          </a:xfrm>
        </p:spPr>
        <p:txBody>
          <a:bodyPr anchor="t"/>
          <a:lstStyle>
            <a:lvl1pPr marL="0" indent="0">
              <a:buNone/>
              <a:defRPr sz="24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5343928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6"/>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20"/>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31289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182" indent="0" algn="ctr">
              <a:buNone/>
              <a:defRPr sz="2000"/>
            </a:lvl2pPr>
            <a:lvl3pPr marL="914363" indent="0" algn="ctr">
              <a:buNone/>
              <a:defRPr sz="1800"/>
            </a:lvl3pPr>
            <a:lvl4pPr marL="1371545" indent="0" algn="ctr">
              <a:buNone/>
              <a:defRPr sz="1600"/>
            </a:lvl4pPr>
            <a:lvl5pPr marL="1828727" indent="0" algn="ctr">
              <a:buNone/>
              <a:defRPr sz="1600"/>
            </a:lvl5pPr>
            <a:lvl6pPr marL="2285909" indent="0" algn="ctr">
              <a:buNone/>
              <a:defRPr sz="1600"/>
            </a:lvl6pPr>
            <a:lvl7pPr marL="2743090" indent="0" algn="ctr">
              <a:buNone/>
              <a:defRPr sz="1600"/>
            </a:lvl7pPr>
            <a:lvl8pPr marL="3200272" indent="0" algn="ctr">
              <a:buNone/>
              <a:defRPr sz="1600"/>
            </a:lvl8pPr>
            <a:lvl9pPr marL="3657454"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707403883"/>
      </p:ext>
    </p:extLst>
  </p:cSld>
  <p:clrMapOvr>
    <a:masterClrMapping/>
  </p:clrMapOvr>
  <p:extLst>
    <p:ext uri="{DCECCB84-F9BA-43D5-87BE-67443E8EF086}">
      <p15:sldGuideLst xmlns:p15="http://schemas.microsoft.com/office/powerpoint/2012/main">
        <p15:guide id="1" orient="horz" pos="3984">
          <p15:clr>
            <a:srgbClr val="FBAE40"/>
          </p15:clr>
        </p15:guide>
        <p15:guide id="2" pos="320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27513" y="255721"/>
            <a:ext cx="3736975" cy="325923"/>
          </a:xfrm>
        </p:spPr>
        <p:txBody>
          <a:bodyPr lIns="0" tIns="0" rIns="0" bIns="0"/>
          <a:lstStyle>
            <a:lvl1pPr>
              <a:defRPr sz="2118"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38779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87798"/>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635022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cSld name="2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0C9-A759-41CD-91B1-9887B3481B2D}"/>
              </a:ext>
            </a:extLst>
          </p:cNvPr>
          <p:cNvSpPr>
            <a:spLocks noGrp="1"/>
          </p:cNvSpPr>
          <p:nvPr>
            <p:ph type="title"/>
          </p:nvPr>
        </p:nvSpPr>
        <p:spPr>
          <a:xfrm>
            <a:off x="831850" y="1709740"/>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BB956-B822-4E72-8D4C-5B8C85528228}"/>
              </a:ext>
            </a:extLst>
          </p:cNvPr>
          <p:cNvSpPr>
            <a:spLocks noGrp="1"/>
          </p:cNvSpPr>
          <p:nvPr>
            <p:ph type="body" idx="1"/>
          </p:nvPr>
        </p:nvSpPr>
        <p:spPr>
          <a:xfrm>
            <a:off x="831850" y="4589465"/>
            <a:ext cx="10515600" cy="1500187"/>
          </a:xfrm>
        </p:spPr>
        <p:txBody>
          <a:bodyPr/>
          <a:lstStyle>
            <a:lvl1pPr marL="0" indent="0">
              <a:buNone/>
              <a:defRPr sz="2400">
                <a:solidFill>
                  <a:schemeClr val="tx1">
                    <a:tint val="75000"/>
                  </a:schemeClr>
                </a:solidFill>
              </a:defRPr>
            </a:lvl1pPr>
            <a:lvl2pPr marL="457182" indent="0">
              <a:buNone/>
              <a:defRPr sz="2000">
                <a:solidFill>
                  <a:schemeClr val="tx1">
                    <a:tint val="75000"/>
                  </a:schemeClr>
                </a:solidFill>
              </a:defRPr>
            </a:lvl2pPr>
            <a:lvl3pPr marL="914363" indent="0">
              <a:buNone/>
              <a:defRPr sz="1800">
                <a:solidFill>
                  <a:schemeClr val="tx1">
                    <a:tint val="75000"/>
                  </a:schemeClr>
                </a:solidFill>
              </a:defRPr>
            </a:lvl3pPr>
            <a:lvl4pPr marL="1371545" indent="0">
              <a:buNone/>
              <a:defRPr sz="1600">
                <a:solidFill>
                  <a:schemeClr val="tx1">
                    <a:tint val="75000"/>
                  </a:schemeClr>
                </a:solidFill>
              </a:defRPr>
            </a:lvl4pPr>
            <a:lvl5pPr marL="1828727" indent="0">
              <a:buNone/>
              <a:defRPr sz="1600">
                <a:solidFill>
                  <a:schemeClr val="tx1">
                    <a:tint val="75000"/>
                  </a:schemeClr>
                </a:solidFill>
              </a:defRPr>
            </a:lvl5pPr>
            <a:lvl6pPr marL="2285909" indent="0">
              <a:buNone/>
              <a:defRPr sz="1600">
                <a:solidFill>
                  <a:schemeClr val="tx1">
                    <a:tint val="75000"/>
                  </a:schemeClr>
                </a:solidFill>
              </a:defRPr>
            </a:lvl6pPr>
            <a:lvl7pPr marL="2743090" indent="0">
              <a:buNone/>
              <a:defRPr sz="1600">
                <a:solidFill>
                  <a:schemeClr val="tx1">
                    <a:tint val="75000"/>
                  </a:schemeClr>
                </a:solidFill>
              </a:defRPr>
            </a:lvl7pPr>
            <a:lvl8pPr marL="3200272" indent="0">
              <a:buNone/>
              <a:defRPr sz="1600">
                <a:solidFill>
                  <a:schemeClr val="tx1">
                    <a:tint val="75000"/>
                  </a:schemeClr>
                </a:solidFill>
              </a:defRPr>
            </a:lvl8pPr>
            <a:lvl9pPr marL="3657454"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2334654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320800" y="198438"/>
            <a:ext cx="10261600" cy="487362"/>
          </a:xfrm>
          <a:prstGeom prst="rect">
            <a:avLst/>
          </a:prstGeom>
        </p:spPr>
        <p:txBody>
          <a:bodyPr vert="horz"/>
          <a:lstStyle>
            <a:lvl1pPr algn="l">
              <a:defRPr sz="2200" cap="all" baseline="0">
                <a:solidFill>
                  <a:schemeClr val="bg1"/>
                </a:solidFill>
                <a:latin typeface="Georgia"/>
              </a:defRPr>
            </a:lvl1pPr>
          </a:lstStyle>
          <a:p>
            <a:r>
              <a:rPr lang="en-US"/>
              <a:t>Click to edit Master title style</a:t>
            </a:r>
          </a:p>
        </p:txBody>
      </p:sp>
      <p:sp>
        <p:nvSpPr>
          <p:cNvPr id="6" name="Content Placeholder 2"/>
          <p:cNvSpPr>
            <a:spLocks noGrp="1"/>
          </p:cNvSpPr>
          <p:nvPr>
            <p:ph idx="1"/>
          </p:nvPr>
        </p:nvSpPr>
        <p:spPr>
          <a:xfrm>
            <a:off x="609600" y="1600203"/>
            <a:ext cx="10972800" cy="4525963"/>
          </a:xfrm>
          <a:prstGeom prst="rect">
            <a:avLst/>
          </a:prstGeom>
        </p:spPr>
        <p:txBody>
          <a:bodyPr/>
          <a:lstStyle>
            <a:lvl1pPr>
              <a:defRPr>
                <a:solidFill>
                  <a:srgbClr val="174782"/>
                </a:solidFill>
                <a:latin typeface="Georgia"/>
              </a:defRPr>
            </a:lvl1pPr>
            <a:lvl2pPr>
              <a:defRPr>
                <a:latin typeface="Georgia"/>
              </a:defRPr>
            </a:lvl2pPr>
            <a:lvl3pPr>
              <a:defRPr>
                <a:latin typeface="Georgia"/>
              </a:defRPr>
            </a:lvl3pPr>
            <a:lvl4pPr>
              <a:defRPr>
                <a:latin typeface="Georgia"/>
              </a:defRPr>
            </a:lvl4pPr>
            <a:lvl5pPr>
              <a:defRPr>
                <a:latin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8"/>
          <p:cNvSpPr>
            <a:spLocks noGrp="1"/>
          </p:cNvSpPr>
          <p:nvPr>
            <p:ph type="dt" sz="half" idx="10"/>
          </p:nvPr>
        </p:nvSpPr>
        <p:spPr/>
        <p:txBody>
          <a:bodyPr/>
          <a:lstStyle>
            <a:lvl1pPr>
              <a:defRPr/>
            </a:lvl1pPr>
          </a:lstStyle>
          <a:p>
            <a:pPr>
              <a:defRPr/>
            </a:pPr>
            <a:r>
              <a:rPr lang="en-US"/>
              <a:t>DATE</a:t>
            </a:r>
          </a:p>
        </p:txBody>
      </p:sp>
      <p:sp>
        <p:nvSpPr>
          <p:cNvPr id="5" name="Footer Placeholder 9"/>
          <p:cNvSpPr>
            <a:spLocks noGrp="1"/>
          </p:cNvSpPr>
          <p:nvPr>
            <p:ph type="ftr" sz="quarter" idx="11"/>
          </p:nvPr>
        </p:nvSpPr>
        <p:spPr/>
        <p:txBody>
          <a:bodyPr/>
          <a:lstStyle>
            <a:lvl1pPr>
              <a:defRPr/>
            </a:lvl1pPr>
          </a:lstStyle>
          <a:p>
            <a:pPr>
              <a:defRPr/>
            </a:pPr>
            <a:r>
              <a:rPr lang="en-US"/>
              <a:t>DOCUMENT TYPE/STATUS</a:t>
            </a:r>
          </a:p>
        </p:txBody>
      </p:sp>
      <p:sp>
        <p:nvSpPr>
          <p:cNvPr id="7" name="Slide Number Placeholder 10"/>
          <p:cNvSpPr>
            <a:spLocks noGrp="1"/>
          </p:cNvSpPr>
          <p:nvPr>
            <p:ph type="sldNum" sz="quarter" idx="12"/>
          </p:nvPr>
        </p:nvSpPr>
        <p:spPr/>
        <p:txBody>
          <a:bodyPr/>
          <a:lstStyle>
            <a:lvl1pPr>
              <a:defRPr/>
            </a:lvl1pPr>
          </a:lstStyle>
          <a:p>
            <a:pPr>
              <a:defRPr/>
            </a:pPr>
            <a:fld id="{149DAFAA-7812-4B15-926F-EFC797A2885C}" type="slidenum">
              <a:rPr lang="en-US" altLang="en-US"/>
              <a:pPr>
                <a:defRPr/>
              </a:pPr>
              <a:t>‹#›</a:t>
            </a:fld>
            <a:endParaRPr lang="en-US" altLang="en-US"/>
          </a:p>
        </p:txBody>
      </p:sp>
    </p:spTree>
    <p:extLst>
      <p:ext uri="{BB962C8B-B14F-4D97-AF65-F5344CB8AC3E}">
        <p14:creationId xmlns:p14="http://schemas.microsoft.com/office/powerpoint/2010/main" val="16278603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D8619-F8A8-A1A3-3617-4E6C697D4B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5C8E82-8585-6685-58AC-ECED9FA660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E056DCA-6BF0-3FCB-F526-EA76185323FC}"/>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5" name="Footer Placeholder 4">
            <a:extLst>
              <a:ext uri="{FF2B5EF4-FFF2-40B4-BE49-F238E27FC236}">
                <a16:creationId xmlns:a16="http://schemas.microsoft.com/office/drawing/2014/main" id="{60AED924-EC09-620D-1BE9-CAB5D9D29C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23BD7B-DE7F-F169-4965-3D5D3D8D172F}"/>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12984767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B034B-042B-40E9-7C3D-6102CDC1B9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B455530-D463-6F6D-3103-9C55564A73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6165BC-2885-65DB-0DC5-3CF9B2C85DD9}"/>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5" name="Footer Placeholder 4">
            <a:extLst>
              <a:ext uri="{FF2B5EF4-FFF2-40B4-BE49-F238E27FC236}">
                <a16:creationId xmlns:a16="http://schemas.microsoft.com/office/drawing/2014/main" id="{D7FCFA3C-C1DC-8AAF-1FA9-2A65D4426F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64233E-FF23-160F-B49F-F81E5FB91958}"/>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292291771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54391-7EFE-D203-4D86-DF77122B37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467CC0-FF83-4DD8-9567-47E05596D1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2A38464-E5DE-4FBA-1180-0BB19FDBB0DD}"/>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5" name="Footer Placeholder 4">
            <a:extLst>
              <a:ext uri="{FF2B5EF4-FFF2-40B4-BE49-F238E27FC236}">
                <a16:creationId xmlns:a16="http://schemas.microsoft.com/office/drawing/2014/main" id="{EC87FFA6-D2B4-4114-5F16-874C36F3B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650F52-70BF-62C4-FDC4-14D1D4D1BC5D}"/>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16795274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DD812-B04B-B532-EC10-B17A9FC9FF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3103D4-F78B-1CF0-5C61-B19A2B51E2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429430-A5A5-B748-EE42-B80E8ADDCB0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334ECD-8D41-ABA5-9F55-C022B498BC2E}"/>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6" name="Footer Placeholder 5">
            <a:extLst>
              <a:ext uri="{FF2B5EF4-FFF2-40B4-BE49-F238E27FC236}">
                <a16:creationId xmlns:a16="http://schemas.microsoft.com/office/drawing/2014/main" id="{4A026A5A-6072-30A7-D771-8DA0ACAB3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359491-555B-426C-879B-3D1E85D4F3ED}"/>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174984771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DE52A-E0BD-0671-0FF8-F34D2E709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720DA3-A506-3F76-BA4C-C90A4A23C6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23A46E-E651-14CC-E851-1E5C3691F5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14400A1-5A86-8E5F-9B0C-00D0F059DA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B307FD-3971-EE24-A65A-221B480228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2A9F53-F90A-C789-1E96-7D7B2F0BCB60}"/>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8" name="Footer Placeholder 7">
            <a:extLst>
              <a:ext uri="{FF2B5EF4-FFF2-40B4-BE49-F238E27FC236}">
                <a16:creationId xmlns:a16="http://schemas.microsoft.com/office/drawing/2014/main" id="{CDCB0FC5-DEEF-17B7-3C02-DFC9D2F0C5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63A36C3-C58B-2054-24C1-272DF64D07F0}"/>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547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AAD03-BF5B-DD70-AB85-FF1A74343A4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3C1F80-F7B7-285C-4600-CB5B7AEBC036}"/>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4" name="Footer Placeholder 3">
            <a:extLst>
              <a:ext uri="{FF2B5EF4-FFF2-40B4-BE49-F238E27FC236}">
                <a16:creationId xmlns:a16="http://schemas.microsoft.com/office/drawing/2014/main" id="{7F7795A5-5C7F-A2FA-8A85-F52A8FB006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B11A0F-9E09-46AE-7F0B-A9C9678F22BA}"/>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186630417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D0FB51-4555-05F9-334F-69A7F4EFBA2B}"/>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3" name="Footer Placeholder 2">
            <a:extLst>
              <a:ext uri="{FF2B5EF4-FFF2-40B4-BE49-F238E27FC236}">
                <a16:creationId xmlns:a16="http://schemas.microsoft.com/office/drawing/2014/main" id="{94D2CDD3-5B7D-07EF-84D9-30133E51B2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1A0EAC0-EB1E-57BB-91EC-4812C0A44F99}"/>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4398717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CF0CE-CF4E-34D0-BC6B-844F2FD795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BA72BF6-B07B-5B10-8C9F-9CDD83D4A8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D0B21E-A027-2745-917B-9AB489304C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C33AC5-CB4D-E0ED-67D0-97BFDF9AC1F2}"/>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6" name="Footer Placeholder 5">
            <a:extLst>
              <a:ext uri="{FF2B5EF4-FFF2-40B4-BE49-F238E27FC236}">
                <a16:creationId xmlns:a16="http://schemas.microsoft.com/office/drawing/2014/main" id="{4BB5A326-DC39-FF29-AC32-2B99D89EFD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1F1E2B-4726-5D8A-0E27-F4419A840FFC}"/>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29072462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F8259-22EA-0AF0-CEB7-4A448E9CA7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45D7BE-2E7F-47EB-9548-5F81E02349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A199E9-6658-61D7-A71B-DFB01748C7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E4D6-08D9-CB41-B9D0-C64D976E6DDF}"/>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6" name="Footer Placeholder 5">
            <a:extLst>
              <a:ext uri="{FF2B5EF4-FFF2-40B4-BE49-F238E27FC236}">
                <a16:creationId xmlns:a16="http://schemas.microsoft.com/office/drawing/2014/main" id="{FBDF04C3-6D72-28E7-7C00-CEEC28653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C30CC6-C9A4-6D4B-D24C-66BF76931361}"/>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4966788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9CFFB3-162B-F35D-E320-FC3E654419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5A7D5D-BACC-09D6-6D20-5F55CF19A8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D39ACC-A344-BC6A-8FB4-3D7C181B3BD6}"/>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5" name="Footer Placeholder 4">
            <a:extLst>
              <a:ext uri="{FF2B5EF4-FFF2-40B4-BE49-F238E27FC236}">
                <a16:creationId xmlns:a16="http://schemas.microsoft.com/office/drawing/2014/main" id="{C19F2CFD-69BE-EFA4-DCE4-817575304A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A56E01-ECA3-8F50-0EB4-826EF7DD5EB1}"/>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204776389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2A459E-4FDD-5D68-A4DA-4772295D91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AFFAC86-96D9-6658-4E7C-80C4F8C766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075372-E5A8-1195-06B5-49EB45429CDB}"/>
              </a:ext>
            </a:extLst>
          </p:cNvPr>
          <p:cNvSpPr>
            <a:spLocks noGrp="1"/>
          </p:cNvSpPr>
          <p:nvPr>
            <p:ph type="dt" sz="half" idx="10"/>
          </p:nvPr>
        </p:nvSpPr>
        <p:spPr/>
        <p:txBody>
          <a:bodyPr/>
          <a:lstStyle/>
          <a:p>
            <a:fld id="{CC40F86B-C326-4D3B-8F75-25D803C9900F}" type="datetimeFigureOut">
              <a:rPr lang="en-US" smtClean="0"/>
              <a:t>9/11/2024</a:t>
            </a:fld>
            <a:endParaRPr lang="en-US"/>
          </a:p>
        </p:txBody>
      </p:sp>
      <p:sp>
        <p:nvSpPr>
          <p:cNvPr id="5" name="Footer Placeholder 4">
            <a:extLst>
              <a:ext uri="{FF2B5EF4-FFF2-40B4-BE49-F238E27FC236}">
                <a16:creationId xmlns:a16="http://schemas.microsoft.com/office/drawing/2014/main" id="{CF989091-1395-0BE6-A677-D4A530A8F7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7E7F7E-8B64-FD66-7015-3893A386CA69}"/>
              </a:ext>
            </a:extLst>
          </p:cNvPr>
          <p:cNvSpPr>
            <a:spLocks noGrp="1"/>
          </p:cNvSpPr>
          <p:nvPr>
            <p:ph type="sldNum" sz="quarter" idx="12"/>
          </p:nvPr>
        </p:nvSpPr>
        <p:spPr/>
        <p:txBody>
          <a:bodyPr/>
          <a:lstStyle/>
          <a:p>
            <a:fld id="{1E4F28D7-EC91-4E41-995B-140ECF03D505}" type="slidenum">
              <a:rPr lang="en-US" smtClean="0"/>
              <a:t>‹#›</a:t>
            </a:fld>
            <a:endParaRPr lang="en-US"/>
          </a:p>
        </p:txBody>
      </p:sp>
    </p:spTree>
    <p:extLst>
      <p:ext uri="{BB962C8B-B14F-4D97-AF65-F5344CB8AC3E}">
        <p14:creationId xmlns:p14="http://schemas.microsoft.com/office/powerpoint/2010/main" val="14013363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93263653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1028726131"/>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9104563"/>
      </p:ext>
    </p:extLst>
  </p:cSld>
  <p:clrMapOvr>
    <a:masterClrMapping/>
  </p:clrMapOvr>
  <p:hf hdr="0" ftr="0" dt="0"/>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34521473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0" y="6131277"/>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40" marR="0" lvl="0" indent="-9144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195911584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23558797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802334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9216900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18"/>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460945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428730437"/>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27512" y="255719"/>
            <a:ext cx="3736975" cy="325923"/>
          </a:xfrm>
        </p:spPr>
        <p:txBody>
          <a:bodyPr lIns="0" tIns="0" rIns="0" bIns="0"/>
          <a:lstStyle>
            <a:lvl1pPr>
              <a:defRPr sz="2118"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8036929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4" y="118875"/>
            <a:ext cx="10515600" cy="752929"/>
          </a:xfrm>
        </p:spPr>
        <p:txBody>
          <a:bodyPr/>
          <a:lstStyle/>
          <a:p>
            <a:r>
              <a:rPr lang="en-US"/>
              <a:t>Click to edit master title style</a:t>
            </a:r>
          </a:p>
        </p:txBody>
      </p:sp>
      <p:sp>
        <p:nvSpPr>
          <p:cNvPr id="3" name="Content Placeholder 2"/>
          <p:cNvSpPr>
            <a:spLocks noGrp="1"/>
          </p:cNvSpPr>
          <p:nvPr>
            <p:ph idx="1"/>
          </p:nvPr>
        </p:nvSpPr>
        <p:spPr>
          <a:xfrm>
            <a:off x="838204" y="1133859"/>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8" y="982666"/>
            <a:ext cx="3108114"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03765435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0C9-A759-41CD-91B1-9887B3481B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BB956-B822-4E72-8D4C-5B8C85528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93677067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320800" y="198438"/>
            <a:ext cx="10261600" cy="487362"/>
          </a:xfrm>
          <a:prstGeom prst="rect">
            <a:avLst/>
          </a:prstGeom>
        </p:spPr>
        <p:txBody>
          <a:bodyPr vert="horz"/>
          <a:lstStyle>
            <a:lvl1pPr algn="l">
              <a:defRPr sz="2200" cap="all" baseline="0">
                <a:solidFill>
                  <a:schemeClr val="bg1"/>
                </a:solidFill>
                <a:latin typeface="Georgia"/>
              </a:defRPr>
            </a:lvl1pPr>
          </a:lstStyle>
          <a:p>
            <a:r>
              <a:rPr lang="en-US"/>
              <a:t>Click to edit Master title style</a:t>
            </a:r>
          </a:p>
        </p:txBody>
      </p:sp>
      <p:sp>
        <p:nvSpPr>
          <p:cNvPr id="6" name="Content Placeholder 2"/>
          <p:cNvSpPr>
            <a:spLocks noGrp="1"/>
          </p:cNvSpPr>
          <p:nvPr>
            <p:ph idx="1"/>
          </p:nvPr>
        </p:nvSpPr>
        <p:spPr>
          <a:xfrm>
            <a:off x="609600" y="1600201"/>
            <a:ext cx="10972800" cy="4525963"/>
          </a:xfrm>
          <a:prstGeom prst="rect">
            <a:avLst/>
          </a:prstGeom>
        </p:spPr>
        <p:txBody>
          <a:bodyPr/>
          <a:lstStyle>
            <a:lvl1pPr>
              <a:defRPr>
                <a:solidFill>
                  <a:srgbClr val="174782"/>
                </a:solidFill>
                <a:latin typeface="Georgia"/>
              </a:defRPr>
            </a:lvl1pPr>
            <a:lvl2pPr>
              <a:defRPr>
                <a:latin typeface="Georgia"/>
              </a:defRPr>
            </a:lvl2pPr>
            <a:lvl3pPr>
              <a:defRPr>
                <a:latin typeface="Georgia"/>
              </a:defRPr>
            </a:lvl3pPr>
            <a:lvl4pPr>
              <a:defRPr>
                <a:latin typeface="Georgia"/>
              </a:defRPr>
            </a:lvl4pPr>
            <a:lvl5pPr>
              <a:defRPr>
                <a:latin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8"/>
          <p:cNvSpPr>
            <a:spLocks noGrp="1"/>
          </p:cNvSpPr>
          <p:nvPr>
            <p:ph type="dt" sz="half" idx="10"/>
          </p:nvPr>
        </p:nvSpPr>
        <p:spPr/>
        <p:txBody>
          <a:bodyPr/>
          <a:lstStyle>
            <a:lvl1pPr>
              <a:defRPr/>
            </a:lvl1pPr>
          </a:lstStyle>
          <a:p>
            <a:pPr>
              <a:defRPr/>
            </a:pPr>
            <a:r>
              <a:rPr lang="en-US"/>
              <a:t>DATE</a:t>
            </a:r>
          </a:p>
        </p:txBody>
      </p:sp>
      <p:sp>
        <p:nvSpPr>
          <p:cNvPr id="5" name="Footer Placeholder 9"/>
          <p:cNvSpPr>
            <a:spLocks noGrp="1"/>
          </p:cNvSpPr>
          <p:nvPr>
            <p:ph type="ftr" sz="quarter" idx="11"/>
          </p:nvPr>
        </p:nvSpPr>
        <p:spPr/>
        <p:txBody>
          <a:bodyPr/>
          <a:lstStyle>
            <a:lvl1pPr>
              <a:defRPr/>
            </a:lvl1pPr>
          </a:lstStyle>
          <a:p>
            <a:pPr>
              <a:defRPr/>
            </a:pPr>
            <a:r>
              <a:rPr lang="en-US"/>
              <a:t>DOCUMENT TYPE/STATUS</a:t>
            </a:r>
          </a:p>
        </p:txBody>
      </p:sp>
      <p:sp>
        <p:nvSpPr>
          <p:cNvPr id="7" name="Slide Number Placeholder 10"/>
          <p:cNvSpPr>
            <a:spLocks noGrp="1"/>
          </p:cNvSpPr>
          <p:nvPr>
            <p:ph type="sldNum" sz="quarter" idx="12"/>
          </p:nvPr>
        </p:nvSpPr>
        <p:spPr/>
        <p:txBody>
          <a:bodyPr/>
          <a:lstStyle>
            <a:lvl1pPr>
              <a:defRPr/>
            </a:lvl1pPr>
          </a:lstStyle>
          <a:p>
            <a:pPr>
              <a:defRPr/>
            </a:pPr>
            <a:fld id="{149DAFAA-7812-4B15-926F-EFC797A2885C}" type="slidenum">
              <a:rPr lang="en-US" altLang="en-US"/>
              <a:pPr>
                <a:defRPr/>
              </a:pPr>
              <a:t>‹#›</a:t>
            </a:fld>
            <a:endParaRPr lang="en-US" altLang="en-US"/>
          </a:p>
        </p:txBody>
      </p:sp>
    </p:spTree>
    <p:extLst>
      <p:ext uri="{BB962C8B-B14F-4D97-AF65-F5344CB8AC3E}">
        <p14:creationId xmlns:p14="http://schemas.microsoft.com/office/powerpoint/2010/main" val="336078053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421196589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4251307082"/>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9254828"/>
      </p:ext>
    </p:extLst>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57919610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0" y="6131277"/>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40" marR="0" lvl="0" indent="-9144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17902312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9376923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764DE79-268F-4C1A-8933-263129D2AF90}" type="datetimeFigureOut">
              <a:rPr lang="en-US" dirty="0"/>
              <a:t>9/11/2024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14796897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cxnSp>
        <p:nvCxnSpPr>
          <p:cNvPr id="7" name="Straight Connector 6" descr="&quot;&quot;">
            <a:extLst>
              <a:ext uri="{FF2B5EF4-FFF2-40B4-BE49-F238E27FC236}">
                <a16:creationId xmlns:a16="http://schemas.microsoft.com/office/drawing/2014/main" id="{BEAC91FE-22FD-4E6A-87EB-4B75B31CDEB8}"/>
              </a:ext>
            </a:extLst>
          </p:cNvPr>
          <p:cNvCxnSpPr/>
          <p:nvPr userDrawn="1"/>
        </p:nvCxnSpPr>
        <p:spPr>
          <a:xfrm>
            <a:off x="831851" y="3571876"/>
            <a:ext cx="10515600" cy="0"/>
          </a:xfrm>
          <a:prstGeom prst="line">
            <a:avLst/>
          </a:prstGeom>
          <a:ln>
            <a:solidFill>
              <a:srgbClr val="003F7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288643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Title, Header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B824-BC4D-BC4E-8F89-78915197848F}"/>
              </a:ext>
            </a:extLst>
          </p:cNvPr>
          <p:cNvSpPr>
            <a:spLocks noGrp="1"/>
          </p:cNvSpPr>
          <p:nvPr>
            <p:ph type="title" hasCustomPrompt="1"/>
          </p:nvPr>
        </p:nvSpPr>
        <p:spPr>
          <a:xfrm>
            <a:off x="838200" y="118873"/>
            <a:ext cx="10515600" cy="752929"/>
          </a:xfrm>
        </p:spPr>
        <p:txBody>
          <a:bodyPr/>
          <a:lstStyle>
            <a:lvl1pPr>
              <a:defRPr/>
            </a:lvl1pPr>
          </a:lstStyle>
          <a:p>
            <a:r>
              <a:rPr lang="en-US"/>
              <a:t>Click to edit master title style</a:t>
            </a:r>
          </a:p>
        </p:txBody>
      </p:sp>
      <p:sp>
        <p:nvSpPr>
          <p:cNvPr id="6" name="Text Placeholder 2">
            <a:extLst>
              <a:ext uri="{FF2B5EF4-FFF2-40B4-BE49-F238E27FC236}">
                <a16:creationId xmlns:a16="http://schemas.microsoft.com/office/drawing/2014/main" id="{D126D2C3-64E2-7440-99AC-F8DC77F0E964}"/>
              </a:ext>
            </a:extLst>
          </p:cNvPr>
          <p:cNvSpPr>
            <a:spLocks noGrp="1"/>
          </p:cNvSpPr>
          <p:nvPr>
            <p:ph type="body" idx="1" hasCustomPrompt="1"/>
          </p:nvPr>
        </p:nvSpPr>
        <p:spPr>
          <a:xfrm>
            <a:off x="839789" y="1137442"/>
            <a:ext cx="10514011" cy="421194"/>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Sub-heading</a:t>
            </a:r>
          </a:p>
        </p:txBody>
      </p:sp>
      <p:sp>
        <p:nvSpPr>
          <p:cNvPr id="7" name="Content Placeholder 2">
            <a:extLst>
              <a:ext uri="{FF2B5EF4-FFF2-40B4-BE49-F238E27FC236}">
                <a16:creationId xmlns:a16="http://schemas.microsoft.com/office/drawing/2014/main" id="{33D4B0C3-AED5-1149-A608-D92E5AF5417A}"/>
              </a:ext>
            </a:extLst>
          </p:cNvPr>
          <p:cNvSpPr>
            <a:spLocks noGrp="1"/>
          </p:cNvSpPr>
          <p:nvPr>
            <p:ph idx="11"/>
          </p:nvPr>
        </p:nvSpPr>
        <p:spPr>
          <a:xfrm>
            <a:off x="838200" y="1641764"/>
            <a:ext cx="10515600" cy="4281993"/>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a:extLst>
              <a:ext uri="{FF2B5EF4-FFF2-40B4-BE49-F238E27FC236}">
                <a16:creationId xmlns:a16="http://schemas.microsoft.com/office/drawing/2014/main" id="{4A79C999-42AF-3D4F-A523-E1CD40483976}"/>
              </a:ext>
            </a:extLst>
          </p:cNvPr>
          <p:cNvSpPr>
            <a:spLocks noGrp="1"/>
          </p:cNvSpPr>
          <p:nvPr>
            <p:ph type="sldNum" sz="quarter" idx="10"/>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26228711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18"/>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5610974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744949879"/>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227512" y="255719"/>
            <a:ext cx="3736975" cy="325923"/>
          </a:xfrm>
        </p:spPr>
        <p:txBody>
          <a:bodyPr lIns="0" tIns="0" rIns="0" bIns="0"/>
          <a:lstStyle>
            <a:lvl1pPr>
              <a:defRPr sz="2118"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9/11/2024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54588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4" y="118875"/>
            <a:ext cx="10515600" cy="752929"/>
          </a:xfrm>
        </p:spPr>
        <p:txBody>
          <a:bodyPr/>
          <a:lstStyle/>
          <a:p>
            <a:r>
              <a:rPr lang="en-US"/>
              <a:t>Click to edit master title style</a:t>
            </a:r>
          </a:p>
        </p:txBody>
      </p:sp>
      <p:sp>
        <p:nvSpPr>
          <p:cNvPr id="3" name="Content Placeholder 2"/>
          <p:cNvSpPr>
            <a:spLocks noGrp="1"/>
          </p:cNvSpPr>
          <p:nvPr>
            <p:ph idx="1"/>
          </p:nvPr>
        </p:nvSpPr>
        <p:spPr>
          <a:xfrm>
            <a:off x="838204" y="1133859"/>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8" y="982666"/>
            <a:ext cx="3108114"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059787101"/>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0C9-A759-41CD-91B1-9887B3481B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BB956-B822-4E72-8D4C-5B8C85528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571304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320800" y="198438"/>
            <a:ext cx="10261600" cy="487362"/>
          </a:xfrm>
          <a:prstGeom prst="rect">
            <a:avLst/>
          </a:prstGeom>
        </p:spPr>
        <p:txBody>
          <a:bodyPr vert="horz"/>
          <a:lstStyle>
            <a:lvl1pPr algn="l">
              <a:defRPr sz="2200" cap="all" baseline="0">
                <a:solidFill>
                  <a:schemeClr val="bg1"/>
                </a:solidFill>
                <a:latin typeface="Georgia"/>
              </a:defRPr>
            </a:lvl1pPr>
          </a:lstStyle>
          <a:p>
            <a:r>
              <a:rPr lang="en-US"/>
              <a:t>Click to edit Master title style</a:t>
            </a:r>
          </a:p>
        </p:txBody>
      </p:sp>
      <p:sp>
        <p:nvSpPr>
          <p:cNvPr id="6" name="Content Placeholder 2"/>
          <p:cNvSpPr>
            <a:spLocks noGrp="1"/>
          </p:cNvSpPr>
          <p:nvPr>
            <p:ph idx="1"/>
          </p:nvPr>
        </p:nvSpPr>
        <p:spPr>
          <a:xfrm>
            <a:off x="609600" y="1600201"/>
            <a:ext cx="10972800" cy="4525963"/>
          </a:xfrm>
          <a:prstGeom prst="rect">
            <a:avLst/>
          </a:prstGeom>
        </p:spPr>
        <p:txBody>
          <a:bodyPr/>
          <a:lstStyle>
            <a:lvl1pPr>
              <a:defRPr>
                <a:solidFill>
                  <a:srgbClr val="174782"/>
                </a:solidFill>
                <a:latin typeface="Georgia"/>
              </a:defRPr>
            </a:lvl1pPr>
            <a:lvl2pPr>
              <a:defRPr>
                <a:latin typeface="Georgia"/>
              </a:defRPr>
            </a:lvl2pPr>
            <a:lvl3pPr>
              <a:defRPr>
                <a:latin typeface="Georgia"/>
              </a:defRPr>
            </a:lvl3pPr>
            <a:lvl4pPr>
              <a:defRPr>
                <a:latin typeface="Georgia"/>
              </a:defRPr>
            </a:lvl4pPr>
            <a:lvl5pPr>
              <a:defRPr>
                <a:latin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8"/>
          <p:cNvSpPr>
            <a:spLocks noGrp="1"/>
          </p:cNvSpPr>
          <p:nvPr>
            <p:ph type="dt" sz="half" idx="10"/>
          </p:nvPr>
        </p:nvSpPr>
        <p:spPr/>
        <p:txBody>
          <a:bodyPr/>
          <a:lstStyle>
            <a:lvl1pPr>
              <a:defRPr/>
            </a:lvl1pPr>
          </a:lstStyle>
          <a:p>
            <a:pPr>
              <a:defRPr/>
            </a:pPr>
            <a:r>
              <a:rPr lang="en-US"/>
              <a:t>DATE</a:t>
            </a:r>
          </a:p>
        </p:txBody>
      </p:sp>
      <p:sp>
        <p:nvSpPr>
          <p:cNvPr id="5" name="Footer Placeholder 9"/>
          <p:cNvSpPr>
            <a:spLocks noGrp="1"/>
          </p:cNvSpPr>
          <p:nvPr>
            <p:ph type="ftr" sz="quarter" idx="11"/>
          </p:nvPr>
        </p:nvSpPr>
        <p:spPr/>
        <p:txBody>
          <a:bodyPr/>
          <a:lstStyle>
            <a:lvl1pPr>
              <a:defRPr/>
            </a:lvl1pPr>
          </a:lstStyle>
          <a:p>
            <a:pPr>
              <a:defRPr/>
            </a:pPr>
            <a:r>
              <a:rPr lang="en-US"/>
              <a:t>DOCUMENT TYPE/STATUS</a:t>
            </a:r>
          </a:p>
        </p:txBody>
      </p:sp>
      <p:sp>
        <p:nvSpPr>
          <p:cNvPr id="7" name="Slide Number Placeholder 10"/>
          <p:cNvSpPr>
            <a:spLocks noGrp="1"/>
          </p:cNvSpPr>
          <p:nvPr>
            <p:ph type="sldNum" sz="quarter" idx="12"/>
          </p:nvPr>
        </p:nvSpPr>
        <p:spPr/>
        <p:txBody>
          <a:bodyPr/>
          <a:lstStyle>
            <a:lvl1pPr>
              <a:defRPr/>
            </a:lvl1pPr>
          </a:lstStyle>
          <a:p>
            <a:pPr>
              <a:defRPr/>
            </a:pPr>
            <a:fld id="{149DAFAA-7812-4B15-926F-EFC797A2885C}" type="slidenum">
              <a:rPr lang="en-US" altLang="en-US"/>
              <a:pPr>
                <a:defRPr/>
              </a:pPr>
              <a:t>‹#›</a:t>
            </a:fld>
            <a:endParaRPr lang="en-US" altLang="en-US"/>
          </a:p>
        </p:txBody>
      </p:sp>
    </p:spTree>
    <p:extLst>
      <p:ext uri="{BB962C8B-B14F-4D97-AF65-F5344CB8AC3E}">
        <p14:creationId xmlns:p14="http://schemas.microsoft.com/office/powerpoint/2010/main" val="4187166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oleObject" Target="../embeddings/oleObject1.bin"/><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tags" Target="../tags/tag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13" Type="http://schemas.openxmlformats.org/officeDocument/2006/relationships/image" Target="../media/image2.png"/><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image" Target="../media/image1.emf"/><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oleObject" Target="../embeddings/oleObject4.bin"/><Relationship Id="rId5" Type="http://schemas.openxmlformats.org/officeDocument/2006/relationships/slideLayout" Target="../slideLayouts/slideLayout22.xml"/><Relationship Id="rId10" Type="http://schemas.openxmlformats.org/officeDocument/2006/relationships/tags" Target="../tags/tag7.xml"/><Relationship Id="rId4" Type="http://schemas.openxmlformats.org/officeDocument/2006/relationships/slideLayout" Target="../slideLayouts/slideLayout21.xml"/><Relationship Id="rId9" Type="http://schemas.openxmlformats.org/officeDocument/2006/relationships/tags" Target="../tags/tag6.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oleObject" Target="../embeddings/oleObject6.bin"/><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ags" Target="../tags/tag10.xml"/><Relationship Id="rId2" Type="http://schemas.openxmlformats.org/officeDocument/2006/relationships/slideLayout" Target="../slideLayouts/slideLayout26.xml"/><Relationship Id="rId16" Type="http://schemas.openxmlformats.org/officeDocument/2006/relationships/image" Target="../media/image3.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tags" Target="../tags/tag9.xml"/><Relationship Id="rId5" Type="http://schemas.openxmlformats.org/officeDocument/2006/relationships/slideLayout" Target="../slideLayouts/slideLayout29.xml"/><Relationship Id="rId15" Type="http://schemas.openxmlformats.org/officeDocument/2006/relationships/image" Target="../media/image2.png"/><Relationship Id="rId10" Type="http://schemas.openxmlformats.org/officeDocument/2006/relationships/theme" Target="../theme/theme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theme" Target="../theme/theme4.xml"/><Relationship Id="rId3" Type="http://schemas.openxmlformats.org/officeDocument/2006/relationships/slideLayout" Target="../slideLayouts/slideLayout36.xml"/><Relationship Id="rId21" Type="http://schemas.openxmlformats.org/officeDocument/2006/relationships/oleObject" Target="../embeddings/oleObject8.bin"/><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tags" Target="../tags/tag13.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image" Target="../media/image3.png"/><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image" Target="../media/image2.png"/><Relationship Id="rId10" Type="http://schemas.openxmlformats.org/officeDocument/2006/relationships/slideLayout" Target="../slideLayouts/slideLayout43.xml"/><Relationship Id="rId19" Type="http://schemas.openxmlformats.org/officeDocument/2006/relationships/tags" Target="../tags/tag12.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image" Target="../media/image1.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oleObject" Target="../embeddings/oleObject11.bin"/><Relationship Id="rId3" Type="http://schemas.openxmlformats.org/officeDocument/2006/relationships/slideLayout" Target="../slideLayouts/slideLayout64.xml"/><Relationship Id="rId21" Type="http://schemas.openxmlformats.org/officeDocument/2006/relationships/image" Target="../media/image3.png"/><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tags" Target="../tags/tag17.xml"/><Relationship Id="rId2" Type="http://schemas.openxmlformats.org/officeDocument/2006/relationships/slideLayout" Target="../slideLayouts/slideLayout63.xml"/><Relationship Id="rId16" Type="http://schemas.openxmlformats.org/officeDocument/2006/relationships/tags" Target="../tags/tag16.xml"/><Relationship Id="rId20" Type="http://schemas.openxmlformats.org/officeDocument/2006/relationships/image" Target="../media/image2.png"/><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theme" Target="../theme/theme6.xml"/><Relationship Id="rId10" Type="http://schemas.openxmlformats.org/officeDocument/2006/relationships/slideLayout" Target="../slideLayouts/slideLayout71.xml"/><Relationship Id="rId19" Type="http://schemas.openxmlformats.org/officeDocument/2006/relationships/image" Target="../media/image1.emf"/><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3.xml"/><Relationship Id="rId13" Type="http://schemas.openxmlformats.org/officeDocument/2006/relationships/slideLayout" Target="../slideLayouts/slideLayout88.xml"/><Relationship Id="rId18" Type="http://schemas.openxmlformats.org/officeDocument/2006/relationships/tags" Target="../tags/tag21.xml"/><Relationship Id="rId3" Type="http://schemas.openxmlformats.org/officeDocument/2006/relationships/slideLayout" Target="../slideLayouts/slideLayout78.xml"/><Relationship Id="rId21" Type="http://schemas.openxmlformats.org/officeDocument/2006/relationships/image" Target="../media/image2.png"/><Relationship Id="rId7" Type="http://schemas.openxmlformats.org/officeDocument/2006/relationships/slideLayout" Target="../slideLayouts/slideLayout82.xml"/><Relationship Id="rId12" Type="http://schemas.openxmlformats.org/officeDocument/2006/relationships/slideLayout" Target="../slideLayouts/slideLayout87.xml"/><Relationship Id="rId17" Type="http://schemas.openxmlformats.org/officeDocument/2006/relationships/tags" Target="../tags/tag20.xml"/><Relationship Id="rId2" Type="http://schemas.openxmlformats.org/officeDocument/2006/relationships/slideLayout" Target="../slideLayouts/slideLayout77.xml"/><Relationship Id="rId16" Type="http://schemas.openxmlformats.org/officeDocument/2006/relationships/theme" Target="../theme/theme7.xml"/><Relationship Id="rId20" Type="http://schemas.openxmlformats.org/officeDocument/2006/relationships/image" Target="../media/image1.emf"/><Relationship Id="rId1" Type="http://schemas.openxmlformats.org/officeDocument/2006/relationships/slideLayout" Target="../slideLayouts/slideLayout76.xml"/><Relationship Id="rId6" Type="http://schemas.openxmlformats.org/officeDocument/2006/relationships/slideLayout" Target="../slideLayouts/slideLayout81.xml"/><Relationship Id="rId11" Type="http://schemas.openxmlformats.org/officeDocument/2006/relationships/slideLayout" Target="../slideLayouts/slideLayout86.xml"/><Relationship Id="rId5" Type="http://schemas.openxmlformats.org/officeDocument/2006/relationships/slideLayout" Target="../slideLayouts/slideLayout80.xml"/><Relationship Id="rId15" Type="http://schemas.openxmlformats.org/officeDocument/2006/relationships/slideLayout" Target="../slideLayouts/slideLayout90.xml"/><Relationship Id="rId10" Type="http://schemas.openxmlformats.org/officeDocument/2006/relationships/slideLayout" Target="../slideLayouts/slideLayout85.xml"/><Relationship Id="rId19" Type="http://schemas.openxmlformats.org/officeDocument/2006/relationships/oleObject" Target="../embeddings/oleObject14.bin"/><Relationship Id="rId4" Type="http://schemas.openxmlformats.org/officeDocument/2006/relationships/slideLayout" Target="../slideLayouts/slideLayout79.xml"/><Relationship Id="rId9" Type="http://schemas.openxmlformats.org/officeDocument/2006/relationships/slideLayout" Target="../slideLayouts/slideLayout84.xml"/><Relationship Id="rId14" Type="http://schemas.openxmlformats.org/officeDocument/2006/relationships/slideLayout" Target="../slideLayouts/slideLayout89.xml"/><Relationship Id="rId22"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95" imgH="396" progId="TCLayout.ActiveDocument.1">
                  <p:embed/>
                </p:oleObj>
              </mc:Choice>
              <mc:Fallback>
                <p:oleObj name="think-cell Slide" r:id="rId21"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2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23"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24"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229256991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5" r:id="rId13"/>
    <p:sldLayoutId id="2147483706" r:id="rId14"/>
    <p:sldLayoutId id="2147483707" r:id="rId15"/>
    <p:sldLayoutId id="2147483708" r:id="rId16"/>
    <p:sldLayoutId id="2147483748" r:id="rId17"/>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6" progId="TCLayout.ActiveDocument.1">
                  <p:embed/>
                </p:oleObj>
              </mc:Choice>
              <mc:Fallback>
                <p:oleObj name="think-cell Slide" r:id="rId11"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13"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14"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145153205"/>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3" r:id="rId3"/>
    <p:sldLayoutId id="2147483714" r:id="rId4"/>
    <p:sldLayoutId id="2147483715" r:id="rId5"/>
    <p:sldLayoutId id="2147483716" r:id="rId6"/>
    <p:sldLayoutId id="2147483719" r:id="rId7"/>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95" imgH="396" progId="TCLayout.ActiveDocument.1">
                  <p:embed/>
                </p:oleObj>
              </mc:Choice>
              <mc:Fallback>
                <p:oleObj name="think-cell Slide" r:id="rId13"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16"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282503053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95" imgH="396" progId="TCLayout.ActiveDocument.1">
                  <p:embed/>
                </p:oleObj>
              </mc:Choice>
              <mc:Fallback>
                <p:oleObj name="think-cell Slide" r:id="rId21"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2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9/11/2024</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3"/>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182"/>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23"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24" cstate="print">
            <a:extLst>
              <a:ext uri="{28A0092B-C50C-407E-A947-70E740481C1C}">
                <a14:useLocalDpi xmlns:a14="http://schemas.microsoft.com/office/drawing/2010/main"/>
              </a:ext>
            </a:extLst>
          </a:blip>
          <a:stretch>
            <a:fillRect/>
          </a:stretch>
        </p:blipFill>
        <p:spPr>
          <a:xfrm>
            <a:off x="8743951" y="6184206"/>
            <a:ext cx="2940051" cy="641708"/>
          </a:xfrm>
          <a:prstGeom prst="rect">
            <a:avLst/>
          </a:prstGeom>
        </p:spPr>
      </p:pic>
      <p:sp>
        <p:nvSpPr>
          <p:cNvPr id="2" name="Title Placeholder 1"/>
          <p:cNvSpPr>
            <a:spLocks noGrp="1"/>
          </p:cNvSpPr>
          <p:nvPr>
            <p:ph type="title"/>
          </p:nvPr>
        </p:nvSpPr>
        <p:spPr>
          <a:xfrm>
            <a:off x="390525" y="97246"/>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1094475076"/>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 id="2147483742" r:id="rId12"/>
    <p:sldLayoutId id="2147483743" r:id="rId13"/>
    <p:sldLayoutId id="2147483744" r:id="rId14"/>
    <p:sldLayoutId id="2147483745" r:id="rId15"/>
    <p:sldLayoutId id="2147483746" r:id="rId16"/>
    <p:sldLayoutId id="2147483747" r:id="rId17"/>
  </p:sldLayoutIdLst>
  <p:hf hdr="0" ftr="0" dt="0"/>
  <p:txStyles>
    <p:titleStyle>
      <a:lvl1pPr algn="l" defTabSz="914363"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591" indent="-228591" algn="l" defTabSz="914363"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73" indent="-228591" algn="l" defTabSz="91436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54" indent="-228591" algn="l" defTabSz="91436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36"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18"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499"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81"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63"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45" indent="-228591" algn="l" defTabSz="91436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7CED52-9A9F-D201-62E0-4C746E6F23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FDBFAC-E693-E682-3EB9-B08FDD129E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749C79-9DB4-626E-FB6A-DE975BEE15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40F86B-C326-4D3B-8F75-25D803C9900F}" type="datetimeFigureOut">
              <a:rPr lang="en-US" smtClean="0"/>
              <a:t>9/11/2024</a:t>
            </a:fld>
            <a:endParaRPr lang="en-US"/>
          </a:p>
        </p:txBody>
      </p:sp>
      <p:sp>
        <p:nvSpPr>
          <p:cNvPr id="5" name="Footer Placeholder 4">
            <a:extLst>
              <a:ext uri="{FF2B5EF4-FFF2-40B4-BE49-F238E27FC236}">
                <a16:creationId xmlns:a16="http://schemas.microsoft.com/office/drawing/2014/main" id="{7531C28C-9774-32CE-8993-2A3D3CD170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9FD77D-AEF3-B3A2-98A8-59AE58EE555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4F28D7-EC91-4E41-995B-140ECF03D505}" type="slidenum">
              <a:rPr lang="en-US" smtClean="0"/>
              <a:t>‹#›</a:t>
            </a:fld>
            <a:endParaRPr lang="en-US"/>
          </a:p>
        </p:txBody>
      </p:sp>
    </p:spTree>
    <p:extLst>
      <p:ext uri="{BB962C8B-B14F-4D97-AF65-F5344CB8AC3E}">
        <p14:creationId xmlns:p14="http://schemas.microsoft.com/office/powerpoint/2010/main" val="3722752133"/>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395" imgH="396" progId="TCLayout.ActiveDocument.1">
                  <p:embed/>
                </p:oleObj>
              </mc:Choice>
              <mc:Fallback>
                <p:oleObj name="think-cell Slide" r:id="rId18"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20"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21"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526206586"/>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7"/>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395" imgH="396" progId="TCLayout.ActiveDocument.1">
                  <p:embed/>
                </p:oleObj>
              </mc:Choice>
              <mc:Fallback>
                <p:oleObj name="think-cell Slide" r:id="rId19"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8"/>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9/11/2024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21"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22"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1077369346"/>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9.xml"/><Relationship Id="rId7"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tags" Target="../tags/tag24.xml"/><Relationship Id="rId6" Type="http://schemas.openxmlformats.org/officeDocument/2006/relationships/image" Target="../media/image12.png"/><Relationship Id="rId5" Type="http://schemas.openxmlformats.org/officeDocument/2006/relationships/image" Target="../media/image11.emf"/><Relationship Id="rId4" Type="http://schemas.openxmlformats.org/officeDocument/2006/relationships/oleObject" Target="../embeddings/oleObject17.bin"/><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25.xml"/><Relationship Id="rId5" Type="http://schemas.openxmlformats.org/officeDocument/2006/relationships/image" Target="../media/image11.emf"/><Relationship Id="rId4" Type="http://schemas.openxmlformats.org/officeDocument/2006/relationships/oleObject" Target="../embeddings/oleObject18.bin"/></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5.svg"/><Relationship Id="rId5" Type="http://schemas.openxmlformats.org/officeDocument/2006/relationships/image" Target="../media/image24.png"/><Relationship Id="rId10" Type="http://schemas.openxmlformats.org/officeDocument/2006/relationships/image" Target="../media/image30.svg"/><Relationship Id="rId4" Type="http://schemas.openxmlformats.org/officeDocument/2006/relationships/image" Target="../media/image27.svg"/><Relationship Id="rId9"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231E0-9C50-ACC0-BDDF-D31C1E201521}"/>
              </a:ext>
            </a:extLst>
          </p:cNvPr>
          <p:cNvSpPr>
            <a:spLocks noGrp="1"/>
          </p:cNvSpPr>
          <p:nvPr>
            <p:ph type="ctrTitle"/>
          </p:nvPr>
        </p:nvSpPr>
        <p:spPr>
          <a:xfrm>
            <a:off x="269506" y="2763838"/>
            <a:ext cx="11626747" cy="1554665"/>
          </a:xfrm>
        </p:spPr>
        <p:txBody>
          <a:bodyPr>
            <a:noAutofit/>
          </a:bodyPr>
          <a:lstStyle/>
          <a:p>
            <a:r>
              <a:rPr lang="en-US" sz="3200" dirty="0"/>
              <a:t>Follow up on Changes to the VA Intramural Research Award Program</a:t>
            </a:r>
          </a:p>
        </p:txBody>
      </p:sp>
      <p:sp>
        <p:nvSpPr>
          <p:cNvPr id="5" name="Slide Number Placeholder 4">
            <a:extLst>
              <a:ext uri="{FF2B5EF4-FFF2-40B4-BE49-F238E27FC236}">
                <a16:creationId xmlns:a16="http://schemas.microsoft.com/office/drawing/2014/main" id="{6015F954-B41B-CAAD-D7B0-15F12C76A74C}"/>
              </a:ext>
            </a:extLst>
          </p:cNvPr>
          <p:cNvSpPr>
            <a:spLocks noGrp="1"/>
          </p:cNvSpPr>
          <p:nvPr>
            <p:ph type="sldNum" sz="quarter" idx="11"/>
          </p:nvPr>
        </p:nvSpPr>
        <p:spPr/>
        <p:txBody>
          <a:bodyPr/>
          <a:lstStyle/>
          <a:p>
            <a:fld id="{670A9334-4E67-F94F-A05E-0CE8B74A054E}" type="slidenum">
              <a:rPr lang="en-US" smtClean="0"/>
              <a:pPr/>
              <a:t>1</a:t>
            </a:fld>
            <a:endParaRPr lang="en-US"/>
          </a:p>
        </p:txBody>
      </p:sp>
      <p:sp>
        <p:nvSpPr>
          <p:cNvPr id="7" name="Text Placeholder 6">
            <a:extLst>
              <a:ext uri="{FF2B5EF4-FFF2-40B4-BE49-F238E27FC236}">
                <a16:creationId xmlns:a16="http://schemas.microsoft.com/office/drawing/2014/main" id="{66FC9CF4-6D20-C6E4-B07B-309456923542}"/>
              </a:ext>
            </a:extLst>
          </p:cNvPr>
          <p:cNvSpPr>
            <a:spLocks noGrp="1"/>
          </p:cNvSpPr>
          <p:nvPr>
            <p:ph type="body" sz="quarter" idx="10"/>
          </p:nvPr>
        </p:nvSpPr>
        <p:spPr>
          <a:xfrm>
            <a:off x="378614" y="4318503"/>
            <a:ext cx="11543880" cy="1189038"/>
          </a:xfrm>
        </p:spPr>
        <p:txBody>
          <a:bodyPr vert="horz" lIns="91440" tIns="45720" rIns="91440" bIns="45720" rtlCol="0" anchor="t">
            <a:noAutofit/>
          </a:bodyPr>
          <a:lstStyle/>
          <a:p>
            <a:r>
              <a:rPr lang="en-US" sz="2800" b="1" i="1" dirty="0"/>
              <a:t>Christopher T. Bever, Jr., MD, MBA</a:t>
            </a:r>
          </a:p>
          <a:p>
            <a:r>
              <a:rPr lang="en-US" sz="2800" b="1" i="1" dirty="0">
                <a:ea typeface="Calibri Light"/>
                <a:cs typeface="Calibri Light"/>
              </a:rPr>
              <a:t>Deputy Chief R&amp;D Officer for Investigators, Scientific Review and Management</a:t>
            </a:r>
            <a:endParaRPr lang="en-US" dirty="0">
              <a:ea typeface="Calibri Light"/>
              <a:cs typeface="Calibri Light"/>
            </a:endParaRPr>
          </a:p>
        </p:txBody>
      </p:sp>
    </p:spTree>
    <p:extLst>
      <p:ext uri="{BB962C8B-B14F-4D97-AF65-F5344CB8AC3E}">
        <p14:creationId xmlns:p14="http://schemas.microsoft.com/office/powerpoint/2010/main" val="3371717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AC0DA-7C42-113A-DDC5-AF3881AC12EB}"/>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8BD0580D-DE5A-6E45-AAE3-C06514020AE7}"/>
              </a:ext>
            </a:extLst>
          </p:cNvPr>
          <p:cNvSpPr>
            <a:spLocks noGrp="1"/>
          </p:cNvSpPr>
          <p:nvPr>
            <p:ph type="sldNum" sz="quarter" idx="12"/>
          </p:nvPr>
        </p:nvSpPr>
        <p:spPr/>
        <p:txBody>
          <a:bodyPr/>
          <a:lstStyle/>
          <a:p>
            <a:fld id="{670A9334-4E67-F94F-A05E-0CE8B74A054E}" type="slidenum">
              <a:rPr lang="en-US" smtClean="0"/>
              <a:t>2</a:t>
            </a:fld>
            <a:endParaRPr lang="en-US"/>
          </a:p>
        </p:txBody>
      </p:sp>
      <p:sp>
        <p:nvSpPr>
          <p:cNvPr id="4" name="TextBox 3">
            <a:extLst>
              <a:ext uri="{FF2B5EF4-FFF2-40B4-BE49-F238E27FC236}">
                <a16:creationId xmlns:a16="http://schemas.microsoft.com/office/drawing/2014/main" id="{EA14DB50-B8FC-1EB6-410E-A10A0D81ED70}"/>
              </a:ext>
            </a:extLst>
          </p:cNvPr>
          <p:cNvSpPr txBox="1"/>
          <p:nvPr/>
        </p:nvSpPr>
        <p:spPr>
          <a:xfrm>
            <a:off x="666750" y="1379358"/>
            <a:ext cx="9963150" cy="4420890"/>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sz="2400" dirty="0"/>
              <a:t>Introduction and Overview</a:t>
            </a:r>
          </a:p>
          <a:p>
            <a:pPr marL="342900" indent="-342900">
              <a:lnSpc>
                <a:spcPct val="200000"/>
              </a:lnSpc>
              <a:buFont typeface="Wingdings" panose="05000000000000000000" pitchFamily="2" charset="2"/>
              <a:buChar char="Ø"/>
            </a:pPr>
            <a:r>
              <a:rPr lang="en-US" sz="2400" dirty="0"/>
              <a:t>Why are we making changes?</a:t>
            </a:r>
          </a:p>
          <a:p>
            <a:pPr marL="342900" indent="-342900">
              <a:lnSpc>
                <a:spcPct val="200000"/>
              </a:lnSpc>
              <a:buFont typeface="Wingdings" panose="05000000000000000000" pitchFamily="2" charset="2"/>
              <a:buChar char="Ø"/>
            </a:pPr>
            <a:r>
              <a:rPr lang="en-US" sz="2400" dirty="0"/>
              <a:t>What will replace the services?</a:t>
            </a:r>
          </a:p>
          <a:p>
            <a:pPr marL="342900" indent="-342900">
              <a:lnSpc>
                <a:spcPct val="200000"/>
              </a:lnSpc>
              <a:buFont typeface="Wingdings" panose="05000000000000000000" pitchFamily="2" charset="2"/>
              <a:buChar char="Ø"/>
            </a:pPr>
            <a:r>
              <a:rPr lang="en-US" sz="2400" dirty="0"/>
              <a:t>What are the changes to the application review process?</a:t>
            </a:r>
          </a:p>
          <a:p>
            <a:pPr marL="342900" indent="-342900">
              <a:lnSpc>
                <a:spcPct val="200000"/>
              </a:lnSpc>
              <a:buFont typeface="Wingdings" panose="05000000000000000000" pitchFamily="2" charset="2"/>
              <a:buChar char="Ø"/>
            </a:pPr>
            <a:r>
              <a:rPr lang="en-US" sz="2400" dirty="0"/>
              <a:t>What are the changes to the funding decision process?</a:t>
            </a:r>
          </a:p>
          <a:p>
            <a:pPr marL="342900" indent="-342900">
              <a:lnSpc>
                <a:spcPct val="200000"/>
              </a:lnSpc>
              <a:buFont typeface="Wingdings" panose="05000000000000000000" pitchFamily="2" charset="2"/>
              <a:buChar char="Ø"/>
            </a:pPr>
            <a:r>
              <a:rPr lang="en-US" sz="2400" dirty="0"/>
              <a:t>What is the new application review timeline?</a:t>
            </a:r>
          </a:p>
        </p:txBody>
      </p:sp>
    </p:spTree>
    <p:extLst>
      <p:ext uri="{BB962C8B-B14F-4D97-AF65-F5344CB8AC3E}">
        <p14:creationId xmlns:p14="http://schemas.microsoft.com/office/powerpoint/2010/main" val="2367659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76B55-F4D7-3943-2B77-EE3DE7387B6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5513B2F-E191-C856-B7FD-C4ADBB6E1B69}"/>
              </a:ext>
            </a:extLst>
          </p:cNvPr>
          <p:cNvSpPr>
            <a:spLocks noGrp="1"/>
          </p:cNvSpPr>
          <p:nvPr>
            <p:ph type="body" sz="quarter" idx="10"/>
          </p:nvPr>
        </p:nvSpPr>
        <p:spPr>
          <a:xfrm>
            <a:off x="955497" y="3705225"/>
            <a:ext cx="10591044" cy="1828800"/>
          </a:xfrm>
        </p:spPr>
        <p:txBody>
          <a:bodyPr vert="horz" lIns="91440" tIns="45720" rIns="91440" bIns="45720" rtlCol="0" anchor="t">
            <a:noAutofit/>
          </a:bodyPr>
          <a:lstStyle/>
          <a:p>
            <a:pPr marR="0" lvl="0" algn="l" defTabSz="914400" rtl="0" eaLnBrk="1" fontAlgn="auto" latinLnBrk="0" hangingPunct="1">
              <a:lnSpc>
                <a:spcPct val="100000"/>
              </a:lnSpc>
              <a:spcBef>
                <a:spcPts val="0"/>
              </a:spcBef>
              <a:spcAft>
                <a:spcPts val="0"/>
              </a:spcAft>
              <a:buClrTx/>
              <a:buSzTx/>
              <a:tabLst/>
              <a:defRPr/>
            </a:pPr>
            <a:r>
              <a:rPr lang="en-US" sz="4000" i="0" dirty="0">
                <a:effectLst/>
                <a:latin typeface="Calibri" panose="020F0502020204030204" pitchFamily="34" charset="0"/>
              </a:rPr>
              <a:t>Introduction and Overview</a:t>
            </a:r>
          </a:p>
        </p:txBody>
      </p:sp>
      <p:sp>
        <p:nvSpPr>
          <p:cNvPr id="5" name="Slide Number Placeholder 4">
            <a:extLst>
              <a:ext uri="{FF2B5EF4-FFF2-40B4-BE49-F238E27FC236}">
                <a16:creationId xmlns:a16="http://schemas.microsoft.com/office/drawing/2014/main" id="{0AD3791F-C1AD-3FB3-608E-0C6DFB71FCAA}"/>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9503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2B93A33-8935-3A7A-B0C2-3403B48AE925}"/>
              </a:ext>
            </a:extLst>
          </p:cNvPr>
          <p:cNvSpPr>
            <a:spLocks noGrp="1"/>
          </p:cNvSpPr>
          <p:nvPr>
            <p:ph type="title"/>
          </p:nvPr>
        </p:nvSpPr>
        <p:spPr/>
        <p:txBody>
          <a:bodyPr/>
          <a:lstStyle/>
          <a:p>
            <a:r>
              <a:rPr lang="en-US" dirty="0"/>
              <a:t>ORD is celebrating its 100-year anniversary! </a:t>
            </a:r>
          </a:p>
        </p:txBody>
      </p:sp>
      <p:sp>
        <p:nvSpPr>
          <p:cNvPr id="5" name="Rectangle 4">
            <a:extLst>
              <a:ext uri="{FF2B5EF4-FFF2-40B4-BE49-F238E27FC236}">
                <a16:creationId xmlns:a16="http://schemas.microsoft.com/office/drawing/2014/main" id="{086A63C0-B4CC-7500-4F42-1F21217D749C}"/>
              </a:ext>
            </a:extLst>
          </p:cNvPr>
          <p:cNvSpPr/>
          <p:nvPr/>
        </p:nvSpPr>
        <p:spPr>
          <a:xfrm>
            <a:off x="3450208" y="2132989"/>
            <a:ext cx="6061437" cy="259201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200" dirty="0">
                <a:solidFill>
                  <a:schemeClr val="tx1"/>
                </a:solidFill>
              </a:rPr>
              <a:t>Placeholder - </a:t>
            </a:r>
          </a:p>
          <a:p>
            <a:pPr marL="171450" indent="-171450">
              <a:buFont typeface="Arial" panose="020B0604020202020204" pitchFamily="34" charset="0"/>
              <a:buChar char="•"/>
            </a:pPr>
            <a:r>
              <a:rPr lang="en-US" sz="1200" dirty="0">
                <a:solidFill>
                  <a:schemeClr val="tx1"/>
                </a:solidFill>
              </a:rPr>
              <a:t>Start with the fact that ORD has been around for 100 years</a:t>
            </a:r>
          </a:p>
          <a:p>
            <a:pPr marL="171450" indent="-171450">
              <a:buFont typeface="Arial" panose="020B0604020202020204" pitchFamily="34" charset="0"/>
              <a:buChar char="•"/>
            </a:pPr>
            <a:r>
              <a:rPr lang="en-US" sz="1200" dirty="0">
                <a:solidFill>
                  <a:schemeClr val="tx1"/>
                </a:solidFill>
              </a:rPr>
              <a:t>Launching the new research organization positions ORD for the next 100 years, etc. </a:t>
            </a:r>
          </a:p>
        </p:txBody>
      </p:sp>
      <p:sp>
        <p:nvSpPr>
          <p:cNvPr id="7" name="Slide Number Placeholder 2">
            <a:extLst>
              <a:ext uri="{FF2B5EF4-FFF2-40B4-BE49-F238E27FC236}">
                <a16:creationId xmlns:a16="http://schemas.microsoft.com/office/drawing/2014/main" id="{BF7D0AC7-A7DF-4860-195F-8DD94E5851F9}"/>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4</a:t>
            </a:fld>
            <a:endParaRPr lang="en-US"/>
          </a:p>
        </p:txBody>
      </p:sp>
      <p:pic>
        <p:nvPicPr>
          <p:cNvPr id="2" name="Picture 1">
            <a:extLst>
              <a:ext uri="{FF2B5EF4-FFF2-40B4-BE49-F238E27FC236}">
                <a16:creationId xmlns:a16="http://schemas.microsoft.com/office/drawing/2014/main" id="{5280CA07-5EB0-4AB0-1A9F-E8D64445C1CC}"/>
              </a:ext>
            </a:extLst>
          </p:cNvPr>
          <p:cNvPicPr>
            <a:picLocks noChangeAspect="1"/>
          </p:cNvPicPr>
          <p:nvPr/>
        </p:nvPicPr>
        <p:blipFill>
          <a:blip r:embed="rId2"/>
          <a:stretch>
            <a:fillRect/>
          </a:stretch>
        </p:blipFill>
        <p:spPr>
          <a:xfrm>
            <a:off x="373716" y="2132989"/>
            <a:ext cx="2608635" cy="2592019"/>
          </a:xfrm>
          <a:prstGeom prst="rect">
            <a:avLst/>
          </a:prstGeom>
        </p:spPr>
      </p:pic>
    </p:spTree>
    <p:extLst>
      <p:ext uri="{BB962C8B-B14F-4D97-AF65-F5344CB8AC3E}">
        <p14:creationId xmlns:p14="http://schemas.microsoft.com/office/powerpoint/2010/main" val="1937418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76B55-F4D7-3943-2B77-EE3DE7387B6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5513B2F-E191-C856-B7FD-C4ADBB6E1B69}"/>
              </a:ext>
            </a:extLst>
          </p:cNvPr>
          <p:cNvSpPr>
            <a:spLocks noGrp="1"/>
          </p:cNvSpPr>
          <p:nvPr>
            <p:ph type="body" sz="quarter" idx="10"/>
          </p:nvPr>
        </p:nvSpPr>
        <p:spPr>
          <a:xfrm>
            <a:off x="955497" y="3705225"/>
            <a:ext cx="10591044" cy="1828800"/>
          </a:xfrm>
        </p:spPr>
        <p:txBody>
          <a:bodyPr vert="horz" lIns="91440" tIns="45720" rIns="91440" bIns="45720" rtlCol="0" anchor="t">
            <a:noAutofit/>
          </a:bodyPr>
          <a:lstStyle/>
          <a:p>
            <a:pPr marR="0" lvl="0" algn="l" defTabSz="914400" rtl="0" eaLnBrk="1" fontAlgn="auto" latinLnBrk="0" hangingPunct="1">
              <a:lnSpc>
                <a:spcPct val="100000"/>
              </a:lnSpc>
              <a:spcBef>
                <a:spcPts val="0"/>
              </a:spcBef>
              <a:spcAft>
                <a:spcPts val="0"/>
              </a:spcAft>
              <a:buClrTx/>
              <a:buSzTx/>
              <a:tabLst/>
              <a:defRPr/>
            </a:pPr>
            <a:r>
              <a:rPr lang="en-US" sz="4000" i="0" dirty="0">
                <a:effectLst/>
                <a:latin typeface="Calibri" panose="020F0502020204030204" pitchFamily="34" charset="0"/>
              </a:rPr>
              <a:t>Why are we making changes?</a:t>
            </a:r>
          </a:p>
        </p:txBody>
      </p:sp>
      <p:sp>
        <p:nvSpPr>
          <p:cNvPr id="5" name="Slide Number Placeholder 4">
            <a:extLst>
              <a:ext uri="{FF2B5EF4-FFF2-40B4-BE49-F238E27FC236}">
                <a16:creationId xmlns:a16="http://schemas.microsoft.com/office/drawing/2014/main" id="{0AD3791F-C1AD-3FB3-608E-0C6DFB71FCAA}"/>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5838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529C23-2322-0C8C-9B79-EAD5007B563B}"/>
              </a:ext>
            </a:extLst>
          </p:cNvPr>
          <p:cNvSpPr>
            <a:spLocks noGrp="1"/>
          </p:cNvSpPr>
          <p:nvPr>
            <p:ph type="sldNum" sz="quarter" idx="12"/>
          </p:nvPr>
        </p:nvSpPr>
        <p:spPr/>
        <p:txBody>
          <a:bodyPr/>
          <a:lstStyle/>
          <a:p>
            <a:fld id="{FBB93BEC-F996-4DE6-8713-A3BAFBDAE062}" type="slidenum">
              <a:rPr lang="en-US" smtClean="0"/>
              <a:t>6</a:t>
            </a:fld>
            <a:endParaRPr lang="en-US"/>
          </a:p>
        </p:txBody>
      </p:sp>
      <p:sp>
        <p:nvSpPr>
          <p:cNvPr id="3" name="Title 1">
            <a:extLst>
              <a:ext uri="{FF2B5EF4-FFF2-40B4-BE49-F238E27FC236}">
                <a16:creationId xmlns:a16="http://schemas.microsoft.com/office/drawing/2014/main" id="{2BACE1E8-9920-3FB5-D133-D76052B67538}"/>
              </a:ext>
            </a:extLst>
          </p:cNvPr>
          <p:cNvSpPr txBox="1">
            <a:spLocks/>
          </p:cNvSpPr>
          <p:nvPr/>
        </p:nvSpPr>
        <p:spPr>
          <a:xfrm>
            <a:off x="304800" y="136525"/>
            <a:ext cx="10515600" cy="6810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en-US" dirty="0"/>
              <a:t>What is the problem?</a:t>
            </a:r>
          </a:p>
        </p:txBody>
      </p:sp>
      <p:sp>
        <p:nvSpPr>
          <p:cNvPr id="9" name="Rectangle: Rounded Corners 8">
            <a:extLst>
              <a:ext uri="{FF2B5EF4-FFF2-40B4-BE49-F238E27FC236}">
                <a16:creationId xmlns:a16="http://schemas.microsoft.com/office/drawing/2014/main" id="{74501CAF-AA16-71A6-58D0-98CFCE7F79F4}"/>
              </a:ext>
            </a:extLst>
          </p:cNvPr>
          <p:cNvSpPr/>
          <p:nvPr/>
        </p:nvSpPr>
        <p:spPr>
          <a:xfrm>
            <a:off x="1994627" y="1082842"/>
            <a:ext cx="7654700" cy="4692315"/>
          </a:xfrm>
          <a:prstGeom prst="roundRect">
            <a:avLst>
              <a:gd name="adj" fmla="val 7869"/>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defRPr/>
            </a:pPr>
            <a:endParaRPr lang="en-US" sz="3200" b="1">
              <a:solidFill>
                <a:srgbClr val="002060"/>
              </a:solidFill>
            </a:endParaRPr>
          </a:p>
          <a:p>
            <a:pPr>
              <a:lnSpc>
                <a:spcPct val="150000"/>
              </a:lnSpc>
              <a:defRPr/>
            </a:pPr>
            <a:r>
              <a:rPr lang="en-US" sz="3200" b="1">
                <a:solidFill>
                  <a:srgbClr val="002060"/>
                </a:solidFill>
              </a:rPr>
              <a:t>Overlapping service offerings and differing requirements lead to delays in review and rejected proposals, decreasing the ability to perform research.</a:t>
            </a:r>
          </a:p>
        </p:txBody>
      </p:sp>
      <p:pic>
        <p:nvPicPr>
          <p:cNvPr id="4" name="Graphic 3" descr="Social network with solid fill">
            <a:extLst>
              <a:ext uri="{FF2B5EF4-FFF2-40B4-BE49-F238E27FC236}">
                <a16:creationId xmlns:a16="http://schemas.microsoft.com/office/drawing/2014/main" id="{78B06C68-4053-5316-2B5E-8565DECE2A3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94627" y="1082842"/>
            <a:ext cx="1234912" cy="1234912"/>
          </a:xfrm>
          <a:prstGeom prst="rect">
            <a:avLst/>
          </a:prstGeom>
        </p:spPr>
      </p:pic>
      <p:sp>
        <p:nvSpPr>
          <p:cNvPr id="5" name="Slide Number Placeholder 2">
            <a:extLst>
              <a:ext uri="{FF2B5EF4-FFF2-40B4-BE49-F238E27FC236}">
                <a16:creationId xmlns:a16="http://schemas.microsoft.com/office/drawing/2014/main" id="{8199A25E-09AC-AFF8-F233-38EA03C02DFB}"/>
              </a:ext>
            </a:extLst>
          </p:cNvPr>
          <p:cNvSpPr txBox="1">
            <a:spLocks/>
          </p:cNvSpPr>
          <p:nvPr/>
        </p:nvSpPr>
        <p:spPr>
          <a:xfrm>
            <a:off x="927474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6</a:t>
            </a:fld>
            <a:endParaRPr lang="en-US"/>
          </a:p>
        </p:txBody>
      </p:sp>
    </p:spTree>
    <p:extLst>
      <p:ext uri="{BB962C8B-B14F-4D97-AF65-F5344CB8AC3E}">
        <p14:creationId xmlns:p14="http://schemas.microsoft.com/office/powerpoint/2010/main" val="2590757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529C23-2322-0C8C-9B79-EAD5007B563B}"/>
              </a:ext>
            </a:extLst>
          </p:cNvPr>
          <p:cNvSpPr>
            <a:spLocks noGrp="1"/>
          </p:cNvSpPr>
          <p:nvPr>
            <p:ph type="sldNum" sz="quarter" idx="12"/>
          </p:nvPr>
        </p:nvSpPr>
        <p:spPr/>
        <p:txBody>
          <a:bodyPr/>
          <a:lstStyle/>
          <a:p>
            <a:fld id="{FBB93BEC-F996-4DE6-8713-A3BAFBDAE062}" type="slidenum">
              <a:rPr lang="en-US" smtClean="0"/>
              <a:t>7</a:t>
            </a:fld>
            <a:endParaRPr lang="en-US"/>
          </a:p>
        </p:txBody>
      </p:sp>
      <p:sp>
        <p:nvSpPr>
          <p:cNvPr id="3" name="Title 1">
            <a:extLst>
              <a:ext uri="{FF2B5EF4-FFF2-40B4-BE49-F238E27FC236}">
                <a16:creationId xmlns:a16="http://schemas.microsoft.com/office/drawing/2014/main" id="{2BACE1E8-9920-3FB5-D133-D76052B67538}"/>
              </a:ext>
            </a:extLst>
          </p:cNvPr>
          <p:cNvSpPr txBox="1">
            <a:spLocks/>
          </p:cNvSpPr>
          <p:nvPr/>
        </p:nvSpPr>
        <p:spPr>
          <a:xfrm>
            <a:off x="304800" y="136525"/>
            <a:ext cx="10515600" cy="68103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en-US"/>
              <a:t>How do we solve the problem?</a:t>
            </a:r>
          </a:p>
        </p:txBody>
      </p:sp>
      <p:sp>
        <p:nvSpPr>
          <p:cNvPr id="9" name="Rectangle: Rounded Corners 8">
            <a:extLst>
              <a:ext uri="{FF2B5EF4-FFF2-40B4-BE49-F238E27FC236}">
                <a16:creationId xmlns:a16="http://schemas.microsoft.com/office/drawing/2014/main" id="{74501CAF-AA16-71A6-58D0-98CFCE7F79F4}"/>
              </a:ext>
            </a:extLst>
          </p:cNvPr>
          <p:cNvSpPr/>
          <p:nvPr/>
        </p:nvSpPr>
        <p:spPr>
          <a:xfrm>
            <a:off x="1994627" y="1082842"/>
            <a:ext cx="7654700" cy="4692315"/>
          </a:xfrm>
          <a:prstGeom prst="roundRect">
            <a:avLst>
              <a:gd name="adj" fmla="val 7869"/>
            </a:avLst>
          </a:prstGeom>
          <a:solidFill>
            <a:schemeClr val="accent1">
              <a:lumMod val="40000"/>
              <a:lumOff val="6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150000"/>
              </a:lnSpc>
              <a:defRPr/>
            </a:pPr>
            <a:r>
              <a:rPr lang="en-US" sz="3600" b="1">
                <a:solidFill>
                  <a:srgbClr val="002060"/>
                </a:solidFill>
              </a:rPr>
              <a:t>	   </a:t>
            </a:r>
            <a:r>
              <a:rPr lang="en-US" sz="3200" b="1">
                <a:solidFill>
                  <a:srgbClr val="002060"/>
                </a:solidFill>
              </a:rPr>
              <a:t>Implement new processes that enable investigators to more efficiently navigate the VA Research application process to rapidly launch research that improves the health and healthcare of Veterans.</a:t>
            </a:r>
            <a:endParaRPr kumimoji="0" lang="en-US" sz="3200" b="0" i="0" u="none" strike="noStrike" kern="1200" cap="none" spc="0" normalizeH="0" baseline="0" noProof="0">
              <a:ln>
                <a:noFill/>
              </a:ln>
              <a:solidFill>
                <a:prstClr val="black"/>
              </a:solidFill>
              <a:effectLst/>
              <a:uLnTx/>
              <a:uFillTx/>
              <a:latin typeface="Calibri" panose="020F0502020204030204" pitchFamily="34" charset="0"/>
            </a:endParaRPr>
          </a:p>
        </p:txBody>
      </p:sp>
      <p:pic>
        <p:nvPicPr>
          <p:cNvPr id="5" name="Graphic 4" descr="Group brainstorm with solid fill">
            <a:extLst>
              <a:ext uri="{FF2B5EF4-FFF2-40B4-BE49-F238E27FC236}">
                <a16:creationId xmlns:a16="http://schemas.microsoft.com/office/drawing/2014/main" id="{8D68618F-B97D-1EEE-DE79-0ACFB8C1812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185947" y="1082842"/>
            <a:ext cx="1157647" cy="1157647"/>
          </a:xfrm>
          <a:prstGeom prst="rect">
            <a:avLst/>
          </a:prstGeom>
        </p:spPr>
      </p:pic>
      <p:sp>
        <p:nvSpPr>
          <p:cNvPr id="4" name="Slide Number Placeholder 2">
            <a:extLst>
              <a:ext uri="{FF2B5EF4-FFF2-40B4-BE49-F238E27FC236}">
                <a16:creationId xmlns:a16="http://schemas.microsoft.com/office/drawing/2014/main" id="{887C7412-D15D-C405-0EC7-8A89D845908C}"/>
              </a:ext>
            </a:extLst>
          </p:cNvPr>
          <p:cNvSpPr txBox="1">
            <a:spLocks/>
          </p:cNvSpPr>
          <p:nvPr/>
        </p:nvSpPr>
        <p:spPr>
          <a:xfrm>
            <a:off x="927474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7</a:t>
            </a:fld>
            <a:endParaRPr lang="en-US"/>
          </a:p>
        </p:txBody>
      </p:sp>
    </p:spTree>
    <p:extLst>
      <p:ext uri="{BB962C8B-B14F-4D97-AF65-F5344CB8AC3E}">
        <p14:creationId xmlns:p14="http://schemas.microsoft.com/office/powerpoint/2010/main" val="714511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76B55-F4D7-3943-2B77-EE3DE7387B6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5513B2F-E191-C856-B7FD-C4ADBB6E1B69}"/>
              </a:ext>
            </a:extLst>
          </p:cNvPr>
          <p:cNvSpPr>
            <a:spLocks noGrp="1"/>
          </p:cNvSpPr>
          <p:nvPr>
            <p:ph type="body" sz="quarter" idx="10"/>
          </p:nvPr>
        </p:nvSpPr>
        <p:spPr>
          <a:xfrm>
            <a:off x="955497" y="3705225"/>
            <a:ext cx="10591044" cy="1828800"/>
          </a:xfrm>
        </p:spPr>
        <p:txBody>
          <a:bodyPr vert="horz" lIns="91440" tIns="45720" rIns="91440" bIns="45720" rtlCol="0" anchor="t">
            <a:noAutofit/>
          </a:bodyPr>
          <a:lstStyle/>
          <a:p>
            <a:pPr marR="0" lvl="0" algn="l" defTabSz="914400" rtl="0" eaLnBrk="1" fontAlgn="auto" latinLnBrk="0" hangingPunct="1">
              <a:lnSpc>
                <a:spcPct val="100000"/>
              </a:lnSpc>
              <a:spcBef>
                <a:spcPts val="0"/>
              </a:spcBef>
              <a:spcAft>
                <a:spcPts val="0"/>
              </a:spcAft>
              <a:buClrTx/>
              <a:buSzTx/>
              <a:tabLst/>
              <a:defRPr/>
            </a:pPr>
            <a:r>
              <a:rPr lang="en-US" sz="4000" i="0" dirty="0">
                <a:effectLst/>
                <a:latin typeface="Calibri" panose="020F0502020204030204" pitchFamily="34" charset="0"/>
              </a:rPr>
              <a:t>What will replace the services?</a:t>
            </a:r>
          </a:p>
        </p:txBody>
      </p:sp>
      <p:sp>
        <p:nvSpPr>
          <p:cNvPr id="5" name="Slide Number Placeholder 4">
            <a:extLst>
              <a:ext uri="{FF2B5EF4-FFF2-40B4-BE49-F238E27FC236}">
                <a16:creationId xmlns:a16="http://schemas.microsoft.com/office/drawing/2014/main" id="{0AD3791F-C1AD-3FB3-608E-0C6DFB71FCAA}"/>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1328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Group 52">
            <a:extLst>
              <a:ext uri="{FF2B5EF4-FFF2-40B4-BE49-F238E27FC236}">
                <a16:creationId xmlns:a16="http://schemas.microsoft.com/office/drawing/2014/main" id="{570A0F74-42AA-DC27-2BDB-F78B645EF30F}"/>
              </a:ext>
            </a:extLst>
          </p:cNvPr>
          <p:cNvGrpSpPr/>
          <p:nvPr/>
        </p:nvGrpSpPr>
        <p:grpSpPr>
          <a:xfrm>
            <a:off x="2087296" y="2117390"/>
            <a:ext cx="8144896" cy="797071"/>
            <a:chOff x="2289309" y="2438108"/>
            <a:chExt cx="7359804" cy="640884"/>
          </a:xfrm>
        </p:grpSpPr>
        <p:cxnSp>
          <p:nvCxnSpPr>
            <p:cNvPr id="37" name="Connector: Elbow 36">
              <a:extLst>
                <a:ext uri="{FF2B5EF4-FFF2-40B4-BE49-F238E27FC236}">
                  <a16:creationId xmlns:a16="http://schemas.microsoft.com/office/drawing/2014/main" id="{4451501E-3C24-ED58-08B9-58E26C966D8B}"/>
                </a:ext>
              </a:extLst>
            </p:cNvPr>
            <p:cNvCxnSpPr>
              <a:stCxn id="3" idx="2"/>
              <a:endCxn id="7" idx="0"/>
            </p:cNvCxnSpPr>
            <p:nvPr/>
          </p:nvCxnSpPr>
          <p:spPr>
            <a:xfrm rot="16200000" flipH="1">
              <a:off x="7486069" y="915946"/>
              <a:ext cx="640881" cy="3685206"/>
            </a:xfrm>
            <a:prstGeom prst="bentConnector3">
              <a:avLst/>
            </a:prstGeom>
            <a:ln w="28575">
              <a:solidFill>
                <a:srgbClr val="002F56"/>
              </a:solidFill>
              <a:headEnd type="triangle" w="sm" len="sm"/>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9E14274E-DFD5-77E1-2D19-F201573B1C6C}"/>
                </a:ext>
              </a:extLst>
            </p:cNvPr>
            <p:cNvCxnSpPr>
              <a:stCxn id="3" idx="2"/>
              <a:endCxn id="5" idx="0"/>
            </p:cNvCxnSpPr>
            <p:nvPr/>
          </p:nvCxnSpPr>
          <p:spPr>
            <a:xfrm rot="5400000">
              <a:off x="3806167" y="921252"/>
              <a:ext cx="640882" cy="3674597"/>
            </a:xfrm>
            <a:prstGeom prst="bentConnector3">
              <a:avLst/>
            </a:prstGeom>
            <a:ln w="28575">
              <a:solidFill>
                <a:srgbClr val="002F5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02D4A31-763F-2C5C-187B-E92C17895CC3}"/>
                </a:ext>
              </a:extLst>
            </p:cNvPr>
            <p:cNvCxnSpPr>
              <a:cxnSpLocks/>
              <a:endCxn id="8" idx="0"/>
            </p:cNvCxnSpPr>
            <p:nvPr/>
          </p:nvCxnSpPr>
          <p:spPr>
            <a:xfrm>
              <a:off x="7195844" y="2758544"/>
              <a:ext cx="0" cy="320442"/>
            </a:xfrm>
            <a:prstGeom prst="line">
              <a:avLst/>
            </a:prstGeom>
            <a:ln w="28575">
              <a:solidFill>
                <a:srgbClr val="002F56"/>
              </a:solidFill>
              <a:headEnd type="triangle" w="sm" len="sm"/>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80C298C-F095-8282-37E7-C67B413349F7}"/>
                </a:ext>
              </a:extLst>
            </p:cNvPr>
            <p:cNvCxnSpPr>
              <a:cxnSpLocks/>
              <a:stCxn id="6" idx="0"/>
            </p:cNvCxnSpPr>
            <p:nvPr/>
          </p:nvCxnSpPr>
          <p:spPr>
            <a:xfrm flipV="1">
              <a:off x="4742577" y="2758541"/>
              <a:ext cx="0" cy="320442"/>
            </a:xfrm>
            <a:prstGeom prst="line">
              <a:avLst/>
            </a:prstGeom>
            <a:ln w="28575">
              <a:solidFill>
                <a:srgbClr val="002F56"/>
              </a:solidFill>
              <a:headEnd type="triangle"/>
            </a:ln>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410A30E9-3055-7AC1-1D06-E748EE3F2A52}"/>
              </a:ext>
            </a:extLst>
          </p:cNvPr>
          <p:cNvSpPr/>
          <p:nvPr/>
        </p:nvSpPr>
        <p:spPr>
          <a:xfrm>
            <a:off x="3256017" y="5381658"/>
            <a:ext cx="5573486" cy="47269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63F088-7D36-BF5F-C3C8-AC499CE76990}"/>
              </a:ext>
            </a:extLst>
          </p:cNvPr>
          <p:cNvSpPr>
            <a:spLocks noGrp="1"/>
          </p:cNvSpPr>
          <p:nvPr>
            <p:ph type="title"/>
          </p:nvPr>
        </p:nvSpPr>
        <p:spPr>
          <a:xfrm>
            <a:off x="285749" y="166264"/>
            <a:ext cx="11181501" cy="618385"/>
          </a:xfrm>
        </p:spPr>
        <p:txBody>
          <a:bodyPr/>
          <a:lstStyle/>
          <a:p>
            <a:r>
              <a:rPr lang="en-US" dirty="0"/>
              <a:t>How the service-based structure addresses Veteran needs</a:t>
            </a:r>
          </a:p>
        </p:txBody>
      </p:sp>
      <p:sp>
        <p:nvSpPr>
          <p:cNvPr id="4" name="Slide Number Placeholder 3">
            <a:extLst>
              <a:ext uri="{FF2B5EF4-FFF2-40B4-BE49-F238E27FC236}">
                <a16:creationId xmlns:a16="http://schemas.microsoft.com/office/drawing/2014/main" id="{12542F41-FA8C-DAFE-4613-2CC3FA50F6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05F4967D-C200-8E8B-8AB0-CCE6D4D96757}"/>
              </a:ext>
            </a:extLst>
          </p:cNvPr>
          <p:cNvCxnSpPr>
            <a:stCxn id="5" idx="2"/>
            <a:endCxn id="11" idx="0"/>
          </p:cNvCxnSpPr>
          <p:nvPr/>
        </p:nvCxnSpPr>
        <p:spPr>
          <a:xfrm flipH="1">
            <a:off x="1543010" y="3691176"/>
            <a:ext cx="544285" cy="35380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70F110B7-D808-BAC3-BB14-913BAB850D53}"/>
              </a:ext>
            </a:extLst>
          </p:cNvPr>
          <p:cNvCxnSpPr>
            <a:stCxn id="5" idx="2"/>
            <a:endCxn id="13" idx="0"/>
          </p:cNvCxnSpPr>
          <p:nvPr/>
        </p:nvCxnSpPr>
        <p:spPr>
          <a:xfrm>
            <a:off x="2087295" y="3691176"/>
            <a:ext cx="46083" cy="35380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9F5D2F9-A718-C602-4312-106A4ED6BE94}"/>
              </a:ext>
            </a:extLst>
          </p:cNvPr>
          <p:cNvCxnSpPr>
            <a:stCxn id="5" idx="2"/>
            <a:endCxn id="14" idx="0"/>
          </p:cNvCxnSpPr>
          <p:nvPr/>
        </p:nvCxnSpPr>
        <p:spPr>
          <a:xfrm>
            <a:off x="2087295" y="3691175"/>
            <a:ext cx="650059" cy="35380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126A55F4-1D7E-AD15-E5B1-5A8073810408}"/>
              </a:ext>
            </a:extLst>
          </p:cNvPr>
          <p:cNvCxnSpPr>
            <a:cxnSpLocks/>
            <a:stCxn id="6" idx="2"/>
            <a:endCxn id="26" idx="0"/>
          </p:cNvCxnSpPr>
          <p:nvPr/>
        </p:nvCxnSpPr>
        <p:spPr>
          <a:xfrm flipH="1">
            <a:off x="4195585" y="3691176"/>
            <a:ext cx="595121" cy="35774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798B93C8-B296-E7EE-6143-4C8CAF60AA5E}"/>
              </a:ext>
            </a:extLst>
          </p:cNvPr>
          <p:cNvCxnSpPr>
            <a:cxnSpLocks/>
            <a:stCxn id="6" idx="2"/>
            <a:endCxn id="27" idx="0"/>
          </p:cNvCxnSpPr>
          <p:nvPr/>
        </p:nvCxnSpPr>
        <p:spPr>
          <a:xfrm flipH="1">
            <a:off x="4785953" y="3691176"/>
            <a:ext cx="4753" cy="35774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C47C92F1-CDB4-8F13-B3AA-1E3FC23B1FFF}"/>
              </a:ext>
            </a:extLst>
          </p:cNvPr>
          <p:cNvCxnSpPr>
            <a:cxnSpLocks/>
            <a:stCxn id="6" idx="2"/>
            <a:endCxn id="28" idx="0"/>
          </p:cNvCxnSpPr>
          <p:nvPr/>
        </p:nvCxnSpPr>
        <p:spPr>
          <a:xfrm>
            <a:off x="4790706" y="3691176"/>
            <a:ext cx="585616" cy="357741"/>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1442B5C-FC0B-CF00-D172-844BEDF9BBB6}"/>
              </a:ext>
            </a:extLst>
          </p:cNvPr>
          <p:cNvCxnSpPr>
            <a:stCxn id="8" idx="2"/>
            <a:endCxn id="30" idx="0"/>
          </p:cNvCxnSpPr>
          <p:nvPr/>
        </p:nvCxnSpPr>
        <p:spPr>
          <a:xfrm flipH="1">
            <a:off x="6900580" y="3691176"/>
            <a:ext cx="593537" cy="35380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0E8D515-6508-74D0-18A1-10B3D8ACDEC7}"/>
              </a:ext>
            </a:extLst>
          </p:cNvPr>
          <p:cNvCxnSpPr>
            <a:stCxn id="8" idx="2"/>
            <a:endCxn id="31" idx="0"/>
          </p:cNvCxnSpPr>
          <p:nvPr/>
        </p:nvCxnSpPr>
        <p:spPr>
          <a:xfrm flipH="1">
            <a:off x="7490948" y="3691176"/>
            <a:ext cx="3169" cy="35380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09A970D0-408B-1890-9413-8EAC964FDB5B}"/>
              </a:ext>
            </a:extLst>
          </p:cNvPr>
          <p:cNvCxnSpPr>
            <a:stCxn id="8" idx="2"/>
            <a:endCxn id="32" idx="0"/>
          </p:cNvCxnSpPr>
          <p:nvPr/>
        </p:nvCxnSpPr>
        <p:spPr>
          <a:xfrm>
            <a:off x="7494117" y="3691176"/>
            <a:ext cx="587200" cy="353803"/>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151C7C2-29FF-9D7B-E0D7-9AE1A977DF8C}"/>
              </a:ext>
            </a:extLst>
          </p:cNvPr>
          <p:cNvCxnSpPr>
            <a:stCxn id="7" idx="2"/>
            <a:endCxn id="34" idx="0"/>
          </p:cNvCxnSpPr>
          <p:nvPr/>
        </p:nvCxnSpPr>
        <p:spPr>
          <a:xfrm flipH="1">
            <a:off x="9607158" y="3691175"/>
            <a:ext cx="590369" cy="3593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B5041BF-66CC-D9B8-0103-B142D38B8628}"/>
              </a:ext>
            </a:extLst>
          </p:cNvPr>
          <p:cNvCxnSpPr>
            <a:stCxn id="7" idx="2"/>
            <a:endCxn id="35" idx="0"/>
          </p:cNvCxnSpPr>
          <p:nvPr/>
        </p:nvCxnSpPr>
        <p:spPr>
          <a:xfrm flipH="1">
            <a:off x="10197526" y="3691175"/>
            <a:ext cx="1" cy="3593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A54B875-2EF0-E77F-5F08-BE3BE5F20708}"/>
              </a:ext>
            </a:extLst>
          </p:cNvPr>
          <p:cNvCxnSpPr>
            <a:stCxn id="7" idx="2"/>
            <a:endCxn id="36" idx="0"/>
          </p:cNvCxnSpPr>
          <p:nvPr/>
        </p:nvCxnSpPr>
        <p:spPr>
          <a:xfrm>
            <a:off x="10197527" y="3691175"/>
            <a:ext cx="590368" cy="359328"/>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05B6987-F85F-58C6-6447-616F152FB2B1}"/>
              </a:ext>
            </a:extLst>
          </p:cNvPr>
          <p:cNvSpPr/>
          <p:nvPr/>
        </p:nvSpPr>
        <p:spPr>
          <a:xfrm>
            <a:off x="4437929" y="1431509"/>
            <a:ext cx="3397272" cy="7767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Research 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B7CF2FD-C954-F9A7-BB49-50A4DEE2ED49}"/>
              </a:ext>
            </a:extLst>
          </p:cNvPr>
          <p:cNvSpPr/>
          <p:nvPr/>
        </p:nvSpPr>
        <p:spPr>
          <a:xfrm>
            <a:off x="817570" y="2914456"/>
            <a:ext cx="2539449" cy="7767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Biomedical Science</a:t>
            </a:r>
          </a:p>
        </p:txBody>
      </p:sp>
      <p:sp>
        <p:nvSpPr>
          <p:cNvPr id="6" name="Rectangle 5">
            <a:extLst>
              <a:ext uri="{FF2B5EF4-FFF2-40B4-BE49-F238E27FC236}">
                <a16:creationId xmlns:a16="http://schemas.microsoft.com/office/drawing/2014/main" id="{148E493E-968B-D244-1D56-934DD82D8713}"/>
              </a:ext>
            </a:extLst>
          </p:cNvPr>
          <p:cNvSpPr/>
          <p:nvPr/>
        </p:nvSpPr>
        <p:spPr>
          <a:xfrm>
            <a:off x="3520981" y="2914456"/>
            <a:ext cx="2539449" cy="7767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Clinical Science</a:t>
            </a:r>
          </a:p>
        </p:txBody>
      </p:sp>
      <p:sp>
        <p:nvSpPr>
          <p:cNvPr id="7" name="Rectangle 6">
            <a:extLst>
              <a:ext uri="{FF2B5EF4-FFF2-40B4-BE49-F238E27FC236}">
                <a16:creationId xmlns:a16="http://schemas.microsoft.com/office/drawing/2014/main" id="{4A85F4F3-804B-F220-65B3-15B4FA499293}"/>
              </a:ext>
            </a:extLst>
          </p:cNvPr>
          <p:cNvSpPr/>
          <p:nvPr/>
        </p:nvSpPr>
        <p:spPr>
          <a:xfrm>
            <a:off x="8927802" y="2914455"/>
            <a:ext cx="2539449" cy="7767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Rehabilitation</a:t>
            </a:r>
          </a:p>
        </p:txBody>
      </p:sp>
      <p:sp>
        <p:nvSpPr>
          <p:cNvPr id="8" name="Rectangle 7">
            <a:extLst>
              <a:ext uri="{FF2B5EF4-FFF2-40B4-BE49-F238E27FC236}">
                <a16:creationId xmlns:a16="http://schemas.microsoft.com/office/drawing/2014/main" id="{84A5F102-B54B-F2DA-52C6-12A6BEE45859}"/>
              </a:ext>
            </a:extLst>
          </p:cNvPr>
          <p:cNvSpPr/>
          <p:nvPr/>
        </p:nvSpPr>
        <p:spPr>
          <a:xfrm>
            <a:off x="6224392" y="2914456"/>
            <a:ext cx="2539449" cy="7767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Health Services</a:t>
            </a:r>
          </a:p>
        </p:txBody>
      </p:sp>
      <p:grpSp>
        <p:nvGrpSpPr>
          <p:cNvPr id="9" name="Group 8">
            <a:extLst>
              <a:ext uri="{FF2B5EF4-FFF2-40B4-BE49-F238E27FC236}">
                <a16:creationId xmlns:a16="http://schemas.microsoft.com/office/drawing/2014/main" id="{D9FFE989-B249-94DA-BA1F-579C03342507}"/>
              </a:ext>
            </a:extLst>
          </p:cNvPr>
          <p:cNvGrpSpPr/>
          <p:nvPr/>
        </p:nvGrpSpPr>
        <p:grpSpPr>
          <a:xfrm>
            <a:off x="1286894" y="4044979"/>
            <a:ext cx="1720182" cy="366735"/>
            <a:chOff x="388014" y="3712477"/>
            <a:chExt cx="1561016" cy="332802"/>
          </a:xfrm>
        </p:grpSpPr>
        <p:sp>
          <p:nvSpPr>
            <p:cNvPr id="11" name="Rectangle 10">
              <a:extLst>
                <a:ext uri="{FF2B5EF4-FFF2-40B4-BE49-F238E27FC236}">
                  <a16:creationId xmlns:a16="http://schemas.microsoft.com/office/drawing/2014/main" id="{FEE35DD4-49BF-0469-0B37-A3BA7BE1BAAE}"/>
                </a:ext>
              </a:extLst>
            </p:cNvPr>
            <p:cNvSpPr/>
            <p:nvPr/>
          </p:nvSpPr>
          <p:spPr>
            <a:xfrm>
              <a:off x="388014" y="3712477"/>
              <a:ext cx="464835" cy="33280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a:t>
              </a:r>
            </a:p>
          </p:txBody>
        </p:sp>
        <p:sp>
          <p:nvSpPr>
            <p:cNvPr id="13" name="Rectangle 12">
              <a:extLst>
                <a:ext uri="{FF2B5EF4-FFF2-40B4-BE49-F238E27FC236}">
                  <a16:creationId xmlns:a16="http://schemas.microsoft.com/office/drawing/2014/main" id="{CA253531-F8A2-513A-AA0C-62A7EC976B71}"/>
                </a:ext>
              </a:extLst>
            </p:cNvPr>
            <p:cNvSpPr/>
            <p:nvPr/>
          </p:nvSpPr>
          <p:spPr>
            <a:xfrm>
              <a:off x="923756" y="3712477"/>
              <a:ext cx="464835" cy="332802"/>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1E5D061E-E676-A9FB-03C6-68CFF127CC08}"/>
                </a:ext>
              </a:extLst>
            </p:cNvPr>
            <p:cNvSpPr/>
            <p:nvPr/>
          </p:nvSpPr>
          <p:spPr>
            <a:xfrm>
              <a:off x="1459499" y="3712477"/>
              <a:ext cx="489531" cy="33280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5" name="Group 24">
            <a:extLst>
              <a:ext uri="{FF2B5EF4-FFF2-40B4-BE49-F238E27FC236}">
                <a16:creationId xmlns:a16="http://schemas.microsoft.com/office/drawing/2014/main" id="{095784EA-D962-59FA-0593-34C835BD7A18}"/>
              </a:ext>
            </a:extLst>
          </p:cNvPr>
          <p:cNvGrpSpPr/>
          <p:nvPr/>
        </p:nvGrpSpPr>
        <p:grpSpPr>
          <a:xfrm>
            <a:off x="3939469" y="4048917"/>
            <a:ext cx="1692967" cy="366735"/>
            <a:chOff x="349250" y="4191000"/>
            <a:chExt cx="2476500" cy="514350"/>
          </a:xfrm>
        </p:grpSpPr>
        <p:sp>
          <p:nvSpPr>
            <p:cNvPr id="26" name="Rectangle 25">
              <a:extLst>
                <a:ext uri="{FF2B5EF4-FFF2-40B4-BE49-F238E27FC236}">
                  <a16:creationId xmlns:a16="http://schemas.microsoft.com/office/drawing/2014/main" id="{7288FAF3-C3AA-56A1-DE29-805EA70C6179}"/>
                </a:ext>
              </a:extLst>
            </p:cNvPr>
            <p:cNvSpPr/>
            <p:nvPr/>
          </p:nvSpPr>
          <p:spPr>
            <a:xfrm>
              <a:off x="349250" y="4191000"/>
              <a:ext cx="749300" cy="51435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CD85142D-7313-A467-F041-5057B485B3DB}"/>
                </a:ext>
              </a:extLst>
            </p:cNvPr>
            <p:cNvSpPr/>
            <p:nvPr/>
          </p:nvSpPr>
          <p:spPr>
            <a:xfrm>
              <a:off x="1212850" y="4191000"/>
              <a:ext cx="749300" cy="51435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0760654B-35DF-8517-8951-222A7D2517CA}"/>
                </a:ext>
              </a:extLst>
            </p:cNvPr>
            <p:cNvSpPr/>
            <p:nvPr/>
          </p:nvSpPr>
          <p:spPr>
            <a:xfrm>
              <a:off x="2076450" y="4191000"/>
              <a:ext cx="749300" cy="51435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9" name="Group 28">
            <a:extLst>
              <a:ext uri="{FF2B5EF4-FFF2-40B4-BE49-F238E27FC236}">
                <a16:creationId xmlns:a16="http://schemas.microsoft.com/office/drawing/2014/main" id="{21770E7B-291D-D2A0-3617-71036D3ABA3D}"/>
              </a:ext>
            </a:extLst>
          </p:cNvPr>
          <p:cNvGrpSpPr/>
          <p:nvPr/>
        </p:nvGrpSpPr>
        <p:grpSpPr>
          <a:xfrm>
            <a:off x="6644464" y="4044979"/>
            <a:ext cx="1692967" cy="366735"/>
            <a:chOff x="349250" y="4191000"/>
            <a:chExt cx="2476500" cy="514350"/>
          </a:xfrm>
        </p:grpSpPr>
        <p:sp>
          <p:nvSpPr>
            <p:cNvPr id="30" name="Rectangle 29">
              <a:extLst>
                <a:ext uri="{FF2B5EF4-FFF2-40B4-BE49-F238E27FC236}">
                  <a16:creationId xmlns:a16="http://schemas.microsoft.com/office/drawing/2014/main" id="{01E0B661-298B-99AF-9E54-A94F16C3298B}"/>
                </a:ext>
              </a:extLst>
            </p:cNvPr>
            <p:cNvSpPr/>
            <p:nvPr/>
          </p:nvSpPr>
          <p:spPr>
            <a:xfrm>
              <a:off x="349250" y="4191000"/>
              <a:ext cx="749300" cy="51435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B3CE1BEB-DA3D-6B2C-E8A0-6A879A22098B}"/>
                </a:ext>
              </a:extLst>
            </p:cNvPr>
            <p:cNvSpPr/>
            <p:nvPr/>
          </p:nvSpPr>
          <p:spPr>
            <a:xfrm>
              <a:off x="1212850" y="4191000"/>
              <a:ext cx="749300" cy="51435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492883A-2A94-2652-83D7-8AA10BB1E033}"/>
                </a:ext>
              </a:extLst>
            </p:cNvPr>
            <p:cNvSpPr/>
            <p:nvPr/>
          </p:nvSpPr>
          <p:spPr>
            <a:xfrm>
              <a:off x="2076450" y="4191000"/>
              <a:ext cx="749300" cy="51435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3" name="Group 32">
            <a:extLst>
              <a:ext uri="{FF2B5EF4-FFF2-40B4-BE49-F238E27FC236}">
                <a16:creationId xmlns:a16="http://schemas.microsoft.com/office/drawing/2014/main" id="{E82D2EE2-E77C-35BF-DF7D-09A2DD6E3FFC}"/>
              </a:ext>
            </a:extLst>
          </p:cNvPr>
          <p:cNvGrpSpPr/>
          <p:nvPr/>
        </p:nvGrpSpPr>
        <p:grpSpPr>
          <a:xfrm>
            <a:off x="9351042" y="4050503"/>
            <a:ext cx="1692967" cy="366735"/>
            <a:chOff x="349250" y="4191000"/>
            <a:chExt cx="2476500" cy="514350"/>
          </a:xfrm>
        </p:grpSpPr>
        <p:sp>
          <p:nvSpPr>
            <p:cNvPr id="34" name="Rectangle 33">
              <a:extLst>
                <a:ext uri="{FF2B5EF4-FFF2-40B4-BE49-F238E27FC236}">
                  <a16:creationId xmlns:a16="http://schemas.microsoft.com/office/drawing/2014/main" id="{E63755F1-3BBA-45DB-6823-2DE35033E2B2}"/>
                </a:ext>
              </a:extLst>
            </p:cNvPr>
            <p:cNvSpPr/>
            <p:nvPr/>
          </p:nvSpPr>
          <p:spPr>
            <a:xfrm>
              <a:off x="349250" y="4191000"/>
              <a:ext cx="749300" cy="51435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875F72EC-0E5B-924F-AEBC-22869A4804F7}"/>
                </a:ext>
              </a:extLst>
            </p:cNvPr>
            <p:cNvSpPr/>
            <p:nvPr/>
          </p:nvSpPr>
          <p:spPr>
            <a:xfrm>
              <a:off x="1212850" y="4191000"/>
              <a:ext cx="749300" cy="51435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35">
              <a:extLst>
                <a:ext uri="{FF2B5EF4-FFF2-40B4-BE49-F238E27FC236}">
                  <a16:creationId xmlns:a16="http://schemas.microsoft.com/office/drawing/2014/main" id="{497832BE-164E-9B9C-0097-C65361C7796A}"/>
                </a:ext>
              </a:extLst>
            </p:cNvPr>
            <p:cNvSpPr/>
            <p:nvPr/>
          </p:nvSpPr>
          <p:spPr>
            <a:xfrm>
              <a:off x="2076450" y="4191000"/>
              <a:ext cx="749300" cy="514350"/>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56" name="TextBox 55">
            <a:extLst>
              <a:ext uri="{FF2B5EF4-FFF2-40B4-BE49-F238E27FC236}">
                <a16:creationId xmlns:a16="http://schemas.microsoft.com/office/drawing/2014/main" id="{09831A13-0210-262C-FA07-69E4C7B41CCF}"/>
              </a:ext>
            </a:extLst>
          </p:cNvPr>
          <p:cNvSpPr txBox="1"/>
          <p:nvPr/>
        </p:nvSpPr>
        <p:spPr>
          <a:xfrm>
            <a:off x="3007076" y="5845045"/>
            <a:ext cx="6042316"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prstClr val="black"/>
                </a:solidFill>
                <a:effectLst/>
                <a:uLnTx/>
                <a:uFillTx/>
                <a:latin typeface="Calibri" panose="020F0502020204030204"/>
                <a:ea typeface="+mn-ea"/>
                <a:cs typeface="+mn-cs"/>
              </a:rPr>
              <a:t>This partial drawing of ORD’s structure is for illustration purposes only</a:t>
            </a:r>
          </a:p>
        </p:txBody>
      </p:sp>
      <p:grpSp>
        <p:nvGrpSpPr>
          <p:cNvPr id="16" name="Group 15">
            <a:extLst>
              <a:ext uri="{FF2B5EF4-FFF2-40B4-BE49-F238E27FC236}">
                <a16:creationId xmlns:a16="http://schemas.microsoft.com/office/drawing/2014/main" id="{DBD63317-1C66-9659-B62D-89DE6D7B2896}"/>
              </a:ext>
            </a:extLst>
          </p:cNvPr>
          <p:cNvGrpSpPr/>
          <p:nvPr/>
        </p:nvGrpSpPr>
        <p:grpSpPr>
          <a:xfrm>
            <a:off x="3401913" y="5456536"/>
            <a:ext cx="5757726" cy="308184"/>
            <a:chOff x="3641453" y="5407554"/>
            <a:chExt cx="5757726" cy="308184"/>
          </a:xfrm>
        </p:grpSpPr>
        <p:grpSp>
          <p:nvGrpSpPr>
            <p:cNvPr id="58" name="Group 57">
              <a:extLst>
                <a:ext uri="{FF2B5EF4-FFF2-40B4-BE49-F238E27FC236}">
                  <a16:creationId xmlns:a16="http://schemas.microsoft.com/office/drawing/2014/main" id="{D86013CC-1613-FA2D-B31E-F067B582AE22}"/>
                </a:ext>
              </a:extLst>
            </p:cNvPr>
            <p:cNvGrpSpPr/>
            <p:nvPr/>
          </p:nvGrpSpPr>
          <p:grpSpPr>
            <a:xfrm>
              <a:off x="3641453" y="5407554"/>
              <a:ext cx="2289723" cy="297543"/>
              <a:chOff x="306199" y="5038585"/>
              <a:chExt cx="2561060" cy="332802"/>
            </a:xfrm>
          </p:grpSpPr>
          <p:sp>
            <p:nvSpPr>
              <p:cNvPr id="65" name="Rectangle 64">
                <a:extLst>
                  <a:ext uri="{FF2B5EF4-FFF2-40B4-BE49-F238E27FC236}">
                    <a16:creationId xmlns:a16="http://schemas.microsoft.com/office/drawing/2014/main" id="{13C02184-2362-B079-6E8A-E4B97445F314}"/>
                  </a:ext>
                </a:extLst>
              </p:cNvPr>
              <p:cNvSpPr/>
              <p:nvPr/>
            </p:nvSpPr>
            <p:spPr>
              <a:xfrm>
                <a:off x="306199" y="5038585"/>
                <a:ext cx="525713" cy="332802"/>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Rectangle 65">
                <a:extLst>
                  <a:ext uri="{FF2B5EF4-FFF2-40B4-BE49-F238E27FC236}">
                    <a16:creationId xmlns:a16="http://schemas.microsoft.com/office/drawing/2014/main" id="{7BD5C75A-7353-B6CD-BFDC-76E94AD60C28}"/>
                  </a:ext>
                </a:extLst>
              </p:cNvPr>
              <p:cNvSpPr/>
              <p:nvPr/>
            </p:nvSpPr>
            <p:spPr>
              <a:xfrm>
                <a:off x="878322" y="5050487"/>
                <a:ext cx="1988937" cy="3098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Calibri" panose="020F0502020204030204"/>
                  </a:rPr>
                  <a:t>Area of Veteran Need</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A</a:t>
                </a:r>
              </a:p>
            </p:txBody>
          </p:sp>
        </p:grpSp>
        <p:grpSp>
          <p:nvGrpSpPr>
            <p:cNvPr id="59" name="Group 58">
              <a:extLst>
                <a:ext uri="{FF2B5EF4-FFF2-40B4-BE49-F238E27FC236}">
                  <a16:creationId xmlns:a16="http://schemas.microsoft.com/office/drawing/2014/main" id="{0FB280B1-8A5A-B21E-B6B4-BC807AE72801}"/>
                </a:ext>
              </a:extLst>
            </p:cNvPr>
            <p:cNvGrpSpPr/>
            <p:nvPr/>
          </p:nvGrpSpPr>
          <p:grpSpPr>
            <a:xfrm>
              <a:off x="5634015" y="5407554"/>
              <a:ext cx="2020898" cy="297543"/>
              <a:chOff x="3623866" y="5038585"/>
              <a:chExt cx="2260379" cy="332802"/>
            </a:xfrm>
          </p:grpSpPr>
          <p:sp>
            <p:nvSpPr>
              <p:cNvPr id="63" name="Rectangle 62">
                <a:extLst>
                  <a:ext uri="{FF2B5EF4-FFF2-40B4-BE49-F238E27FC236}">
                    <a16:creationId xmlns:a16="http://schemas.microsoft.com/office/drawing/2014/main" id="{F30EB811-CE27-8C9C-F81D-1267775A7E85}"/>
                  </a:ext>
                </a:extLst>
              </p:cNvPr>
              <p:cNvSpPr/>
              <p:nvPr/>
            </p:nvSpPr>
            <p:spPr>
              <a:xfrm>
                <a:off x="3623866" y="5038585"/>
                <a:ext cx="464835" cy="332802"/>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B</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4" name="Rectangle 63">
                <a:extLst>
                  <a:ext uri="{FF2B5EF4-FFF2-40B4-BE49-F238E27FC236}">
                    <a16:creationId xmlns:a16="http://schemas.microsoft.com/office/drawing/2014/main" id="{B758EC4F-DA91-BC89-3890-946520FEF2A6}"/>
                  </a:ext>
                </a:extLst>
              </p:cNvPr>
              <p:cNvSpPr/>
              <p:nvPr/>
            </p:nvSpPr>
            <p:spPr>
              <a:xfrm>
                <a:off x="4115255" y="5038585"/>
                <a:ext cx="1768990" cy="332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Veteran Need B</a:t>
                </a:r>
              </a:p>
            </p:txBody>
          </p:sp>
        </p:grpSp>
        <p:grpSp>
          <p:nvGrpSpPr>
            <p:cNvPr id="60" name="Group 59">
              <a:extLst>
                <a:ext uri="{FF2B5EF4-FFF2-40B4-BE49-F238E27FC236}">
                  <a16:creationId xmlns:a16="http://schemas.microsoft.com/office/drawing/2014/main" id="{E2D009B2-B592-597E-6094-AD0A53F793AA}"/>
                </a:ext>
              </a:extLst>
            </p:cNvPr>
            <p:cNvGrpSpPr/>
            <p:nvPr/>
          </p:nvGrpSpPr>
          <p:grpSpPr>
            <a:xfrm>
              <a:off x="7414500" y="5418195"/>
              <a:ext cx="1984679" cy="297543"/>
              <a:chOff x="6144255" y="5050487"/>
              <a:chExt cx="2219868" cy="332802"/>
            </a:xfrm>
          </p:grpSpPr>
          <p:sp>
            <p:nvSpPr>
              <p:cNvPr id="61" name="Rectangle 60">
                <a:extLst>
                  <a:ext uri="{FF2B5EF4-FFF2-40B4-BE49-F238E27FC236}">
                    <a16:creationId xmlns:a16="http://schemas.microsoft.com/office/drawing/2014/main" id="{B3B68625-FB18-99A2-54F7-2C277CFB3608}"/>
                  </a:ext>
                </a:extLst>
              </p:cNvPr>
              <p:cNvSpPr/>
              <p:nvPr/>
            </p:nvSpPr>
            <p:spPr>
              <a:xfrm>
                <a:off x="6144255" y="5050487"/>
                <a:ext cx="601810" cy="332802"/>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B3755FB1-3CE3-AE72-9BC6-B1CD69A79FCB}"/>
                  </a:ext>
                </a:extLst>
              </p:cNvPr>
              <p:cNvSpPr/>
              <p:nvPr/>
            </p:nvSpPr>
            <p:spPr>
              <a:xfrm>
                <a:off x="6670881" y="5050487"/>
                <a:ext cx="1693242" cy="33280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prstClr val="black"/>
                    </a:solidFill>
                    <a:latin typeface="Calibri" panose="020F0502020204030204"/>
                  </a:rPr>
                  <a:t>Veteran Need</a:t>
                </a:r>
                <a:r>
                  <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rPr>
                  <a:t> C</a:t>
                </a:r>
              </a:p>
            </p:txBody>
          </p:sp>
        </p:grpSp>
      </p:grpSp>
    </p:spTree>
    <p:extLst>
      <p:ext uri="{BB962C8B-B14F-4D97-AF65-F5344CB8AC3E}">
        <p14:creationId xmlns:p14="http://schemas.microsoft.com/office/powerpoint/2010/main" val="4154577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3F088-7D36-BF5F-C3C8-AC499CE76990}"/>
              </a:ext>
            </a:extLst>
          </p:cNvPr>
          <p:cNvSpPr>
            <a:spLocks noGrp="1"/>
          </p:cNvSpPr>
          <p:nvPr>
            <p:ph type="title"/>
          </p:nvPr>
        </p:nvSpPr>
        <p:spPr>
          <a:xfrm>
            <a:off x="285749" y="166264"/>
            <a:ext cx="11181501" cy="618385"/>
          </a:xfrm>
        </p:spPr>
        <p:txBody>
          <a:bodyPr/>
          <a:lstStyle/>
          <a:p>
            <a:r>
              <a:rPr lang="en-US" dirty="0"/>
              <a:t>Where we are going</a:t>
            </a:r>
          </a:p>
        </p:txBody>
      </p:sp>
      <p:sp>
        <p:nvSpPr>
          <p:cNvPr id="4" name="Slide Number Placeholder 3">
            <a:extLst>
              <a:ext uri="{FF2B5EF4-FFF2-40B4-BE49-F238E27FC236}">
                <a16:creationId xmlns:a16="http://schemas.microsoft.com/office/drawing/2014/main" id="{12542F41-FA8C-DAFE-4613-2CC3FA50F6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Rectangle 2">
            <a:extLst>
              <a:ext uri="{FF2B5EF4-FFF2-40B4-BE49-F238E27FC236}">
                <a16:creationId xmlns:a16="http://schemas.microsoft.com/office/drawing/2014/main" id="{205B6987-F85F-58C6-6447-616F152FB2B1}"/>
              </a:ext>
            </a:extLst>
          </p:cNvPr>
          <p:cNvSpPr/>
          <p:nvPr/>
        </p:nvSpPr>
        <p:spPr>
          <a:xfrm>
            <a:off x="4437929" y="1431509"/>
            <a:ext cx="3397272" cy="77671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Research Application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5B7CF2FD-C954-F9A7-BB49-50A4DEE2ED49}"/>
              </a:ext>
            </a:extLst>
          </p:cNvPr>
          <p:cNvSpPr/>
          <p:nvPr/>
        </p:nvSpPr>
        <p:spPr>
          <a:xfrm>
            <a:off x="817570" y="2914456"/>
            <a:ext cx="2539449" cy="776719"/>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Area of Veteran Need A</a:t>
            </a:r>
          </a:p>
        </p:txBody>
      </p:sp>
      <p:sp>
        <p:nvSpPr>
          <p:cNvPr id="6" name="Rectangle 5">
            <a:extLst>
              <a:ext uri="{FF2B5EF4-FFF2-40B4-BE49-F238E27FC236}">
                <a16:creationId xmlns:a16="http://schemas.microsoft.com/office/drawing/2014/main" id="{148E493E-968B-D244-1D56-934DD82D8713}"/>
              </a:ext>
            </a:extLst>
          </p:cNvPr>
          <p:cNvSpPr/>
          <p:nvPr/>
        </p:nvSpPr>
        <p:spPr>
          <a:xfrm>
            <a:off x="3520981" y="2914456"/>
            <a:ext cx="2539449" cy="776719"/>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Calibri" panose="020F0502020204030204"/>
              </a:rPr>
              <a:t>Area of Veteran Need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B</a:t>
            </a:r>
          </a:p>
        </p:txBody>
      </p:sp>
      <p:sp>
        <p:nvSpPr>
          <p:cNvPr id="7" name="Rectangle 6">
            <a:extLst>
              <a:ext uri="{FF2B5EF4-FFF2-40B4-BE49-F238E27FC236}">
                <a16:creationId xmlns:a16="http://schemas.microsoft.com/office/drawing/2014/main" id="{4A85F4F3-804B-F220-65B3-15B4FA499293}"/>
              </a:ext>
            </a:extLst>
          </p:cNvPr>
          <p:cNvSpPr/>
          <p:nvPr/>
        </p:nvSpPr>
        <p:spPr>
          <a:xfrm>
            <a:off x="8927802" y="2914455"/>
            <a:ext cx="2539449" cy="776719"/>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Calibri" panose="020F0502020204030204"/>
              </a:rPr>
              <a:t>Area of Veteran Need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D</a:t>
            </a:r>
          </a:p>
        </p:txBody>
      </p:sp>
      <p:sp>
        <p:nvSpPr>
          <p:cNvPr id="8" name="Rectangle 7">
            <a:extLst>
              <a:ext uri="{FF2B5EF4-FFF2-40B4-BE49-F238E27FC236}">
                <a16:creationId xmlns:a16="http://schemas.microsoft.com/office/drawing/2014/main" id="{84A5F102-B54B-F2DA-52C6-12A6BEE45859}"/>
              </a:ext>
            </a:extLst>
          </p:cNvPr>
          <p:cNvSpPr/>
          <p:nvPr/>
        </p:nvSpPr>
        <p:spPr>
          <a:xfrm>
            <a:off x="6224392" y="2914456"/>
            <a:ext cx="2539449" cy="776719"/>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dirty="0">
                <a:solidFill>
                  <a:prstClr val="black"/>
                </a:solidFill>
                <a:latin typeface="Calibri" panose="020F0502020204030204"/>
              </a:rPr>
              <a:t>Area of Veteran Need</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a:t>
            </a:r>
          </a:p>
        </p:txBody>
      </p:sp>
      <p:grpSp>
        <p:nvGrpSpPr>
          <p:cNvPr id="53" name="Group 52">
            <a:extLst>
              <a:ext uri="{FF2B5EF4-FFF2-40B4-BE49-F238E27FC236}">
                <a16:creationId xmlns:a16="http://schemas.microsoft.com/office/drawing/2014/main" id="{570A0F74-42AA-DC27-2BDB-F78B645EF30F}"/>
              </a:ext>
            </a:extLst>
          </p:cNvPr>
          <p:cNvGrpSpPr/>
          <p:nvPr/>
        </p:nvGrpSpPr>
        <p:grpSpPr>
          <a:xfrm>
            <a:off x="2087296" y="2208229"/>
            <a:ext cx="9907557" cy="878937"/>
            <a:chOff x="2289309" y="2438108"/>
            <a:chExt cx="8990821" cy="797610"/>
          </a:xfrm>
        </p:grpSpPr>
        <p:cxnSp>
          <p:nvCxnSpPr>
            <p:cNvPr id="37" name="Connector: Elbow 36">
              <a:extLst>
                <a:ext uri="{FF2B5EF4-FFF2-40B4-BE49-F238E27FC236}">
                  <a16:creationId xmlns:a16="http://schemas.microsoft.com/office/drawing/2014/main" id="{4451501E-3C24-ED58-08B9-58E26C966D8B}"/>
                </a:ext>
              </a:extLst>
            </p:cNvPr>
            <p:cNvCxnSpPr>
              <a:stCxn id="3" idx="2"/>
              <a:endCxn id="7" idx="0"/>
            </p:cNvCxnSpPr>
            <p:nvPr/>
          </p:nvCxnSpPr>
          <p:spPr>
            <a:xfrm rot="16200000" flipH="1">
              <a:off x="7486069" y="915946"/>
              <a:ext cx="640881" cy="3685206"/>
            </a:xfrm>
            <a:prstGeom prst="bentConnector3">
              <a:avLst/>
            </a:prstGeom>
            <a:ln w="28575">
              <a:solidFill>
                <a:srgbClr val="002F56"/>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9E14274E-DFD5-77E1-2D19-F201573B1C6C}"/>
                </a:ext>
              </a:extLst>
            </p:cNvPr>
            <p:cNvCxnSpPr>
              <a:cxnSpLocks/>
            </p:cNvCxnSpPr>
            <p:nvPr/>
          </p:nvCxnSpPr>
          <p:spPr>
            <a:xfrm rot="5400000">
              <a:off x="3806167" y="921253"/>
              <a:ext cx="640882" cy="3674597"/>
            </a:xfrm>
            <a:prstGeom prst="bentConnector3">
              <a:avLst/>
            </a:prstGeom>
            <a:ln w="28575">
              <a:solidFill>
                <a:srgbClr val="002F56"/>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02D4A31-763F-2C5C-187B-E92C17895CC3}"/>
                </a:ext>
              </a:extLst>
            </p:cNvPr>
            <p:cNvCxnSpPr>
              <a:cxnSpLocks/>
              <a:endCxn id="8" idx="0"/>
            </p:cNvCxnSpPr>
            <p:nvPr/>
          </p:nvCxnSpPr>
          <p:spPr>
            <a:xfrm>
              <a:off x="7195844" y="2758544"/>
              <a:ext cx="0" cy="320442"/>
            </a:xfrm>
            <a:prstGeom prst="line">
              <a:avLst/>
            </a:prstGeom>
            <a:ln w="28575">
              <a:solidFill>
                <a:srgbClr val="002F56"/>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80C298C-F095-8282-37E7-C67B413349F7}"/>
                </a:ext>
              </a:extLst>
            </p:cNvPr>
            <p:cNvCxnSpPr>
              <a:cxnSpLocks/>
              <a:stCxn id="6" idx="0"/>
            </p:cNvCxnSpPr>
            <p:nvPr/>
          </p:nvCxnSpPr>
          <p:spPr>
            <a:xfrm flipV="1">
              <a:off x="4742577" y="2758541"/>
              <a:ext cx="0" cy="320442"/>
            </a:xfrm>
            <a:prstGeom prst="line">
              <a:avLst/>
            </a:prstGeom>
            <a:ln w="28575">
              <a:solidFill>
                <a:srgbClr val="002F5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3" name="Connector: Elbow 92">
              <a:extLst>
                <a:ext uri="{FF2B5EF4-FFF2-40B4-BE49-F238E27FC236}">
                  <a16:creationId xmlns:a16="http://schemas.microsoft.com/office/drawing/2014/main" id="{C8015FB1-F2FF-6A81-6B10-281E76763A10}"/>
                </a:ext>
              </a:extLst>
            </p:cNvPr>
            <p:cNvCxnSpPr>
              <a:cxnSpLocks/>
            </p:cNvCxnSpPr>
            <p:nvPr/>
          </p:nvCxnSpPr>
          <p:spPr>
            <a:xfrm>
              <a:off x="9649108" y="2759269"/>
              <a:ext cx="1631022" cy="476449"/>
            </a:xfrm>
            <a:prstGeom prst="bentConnector3">
              <a:avLst>
                <a:gd name="adj1" fmla="val 99227"/>
              </a:avLst>
            </a:prstGeom>
            <a:ln w="28575">
              <a:solidFill>
                <a:srgbClr val="002F56"/>
              </a:solidFill>
            </a:ln>
          </p:spPr>
          <p:style>
            <a:lnRef idx="1">
              <a:schemeClr val="accent1"/>
            </a:lnRef>
            <a:fillRef idx="0">
              <a:schemeClr val="accent1"/>
            </a:fillRef>
            <a:effectRef idx="0">
              <a:schemeClr val="accent1"/>
            </a:effectRef>
            <a:fontRef idx="minor">
              <a:schemeClr val="tx1"/>
            </a:fontRef>
          </p:style>
        </p:cxnSp>
      </p:grpSp>
      <p:sp>
        <p:nvSpPr>
          <p:cNvPr id="92" name="TextBox 91">
            <a:extLst>
              <a:ext uri="{FF2B5EF4-FFF2-40B4-BE49-F238E27FC236}">
                <a16:creationId xmlns:a16="http://schemas.microsoft.com/office/drawing/2014/main" id="{B86188D6-3BCE-710F-0066-64ACC35E2A88}"/>
              </a:ext>
            </a:extLst>
          </p:cNvPr>
          <p:cNvSpPr txBox="1"/>
          <p:nvPr/>
        </p:nvSpPr>
        <p:spPr>
          <a:xfrm>
            <a:off x="11631211" y="2711405"/>
            <a:ext cx="72727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grpSp>
        <p:nvGrpSpPr>
          <p:cNvPr id="17" name="Group 16">
            <a:extLst>
              <a:ext uri="{FF2B5EF4-FFF2-40B4-BE49-F238E27FC236}">
                <a16:creationId xmlns:a16="http://schemas.microsoft.com/office/drawing/2014/main" id="{76898D88-879D-38E2-4AE6-A6444AA1FBD5}"/>
              </a:ext>
            </a:extLst>
          </p:cNvPr>
          <p:cNvGrpSpPr/>
          <p:nvPr/>
        </p:nvGrpSpPr>
        <p:grpSpPr>
          <a:xfrm>
            <a:off x="817570" y="4338035"/>
            <a:ext cx="5698939" cy="1332967"/>
            <a:chOff x="274026" y="897182"/>
            <a:chExt cx="5698939" cy="1332967"/>
          </a:xfrm>
        </p:grpSpPr>
        <p:sp>
          <p:nvSpPr>
            <p:cNvPr id="18" name="Rectangle 17">
              <a:extLst>
                <a:ext uri="{FF2B5EF4-FFF2-40B4-BE49-F238E27FC236}">
                  <a16:creationId xmlns:a16="http://schemas.microsoft.com/office/drawing/2014/main" id="{C3F2A8B0-F2BA-980A-ED84-5FF92D515504}"/>
                </a:ext>
              </a:extLst>
            </p:cNvPr>
            <p:cNvSpPr/>
            <p:nvPr/>
          </p:nvSpPr>
          <p:spPr>
            <a:xfrm>
              <a:off x="397949" y="1084068"/>
              <a:ext cx="2562665" cy="7838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Brain, Behavioral and Mental Health</a:t>
              </a:r>
            </a:p>
          </p:txBody>
        </p:sp>
        <p:sp>
          <p:nvSpPr>
            <p:cNvPr id="19" name="Rectangle 18">
              <a:extLst>
                <a:ext uri="{FF2B5EF4-FFF2-40B4-BE49-F238E27FC236}">
                  <a16:creationId xmlns:a16="http://schemas.microsoft.com/office/drawing/2014/main" id="{5481BE8A-0BC7-1783-EF96-B80D3BA91B3C}"/>
                </a:ext>
              </a:extLst>
            </p:cNvPr>
            <p:cNvSpPr/>
            <p:nvPr/>
          </p:nvSpPr>
          <p:spPr>
            <a:xfrm>
              <a:off x="3277314" y="1084068"/>
              <a:ext cx="2562665" cy="78382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Medical Health and Aging</a:t>
              </a:r>
            </a:p>
          </p:txBody>
        </p:sp>
        <p:cxnSp>
          <p:nvCxnSpPr>
            <p:cNvPr id="20" name="Straight Connector 19">
              <a:extLst>
                <a:ext uri="{FF2B5EF4-FFF2-40B4-BE49-F238E27FC236}">
                  <a16:creationId xmlns:a16="http://schemas.microsoft.com/office/drawing/2014/main" id="{299E6336-A7E2-28D5-D837-8B52B8139FA5}"/>
                </a:ext>
              </a:extLst>
            </p:cNvPr>
            <p:cNvCxnSpPr>
              <a:cxnSpLocks/>
              <a:stCxn id="18" idx="3"/>
              <a:endCxn id="19" idx="1"/>
            </p:cNvCxnSpPr>
            <p:nvPr/>
          </p:nvCxnSpPr>
          <p:spPr>
            <a:xfrm>
              <a:off x="2960614" y="1475980"/>
              <a:ext cx="316700" cy="0"/>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21" name="Rectangle: Rounded Corners 20">
              <a:extLst>
                <a:ext uri="{FF2B5EF4-FFF2-40B4-BE49-F238E27FC236}">
                  <a16:creationId xmlns:a16="http://schemas.microsoft.com/office/drawing/2014/main" id="{E775AD3A-1196-BA28-8C06-63B8DA74A2AF}"/>
                </a:ext>
              </a:extLst>
            </p:cNvPr>
            <p:cNvSpPr/>
            <p:nvPr/>
          </p:nvSpPr>
          <p:spPr>
            <a:xfrm>
              <a:off x="274026" y="897182"/>
              <a:ext cx="5698939" cy="1332967"/>
            </a:xfrm>
            <a:prstGeom prst="roundRect">
              <a:avLst>
                <a:gd name="adj" fmla="val 16667"/>
              </a:avLst>
            </a:prstGeom>
            <a:solidFill>
              <a:schemeClr val="accent6">
                <a:lumMod val="40000"/>
                <a:lumOff val="6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1200" cap="none" spc="0" normalizeH="0" baseline="0" noProof="0" dirty="0">
                  <a:ln>
                    <a:noFill/>
                  </a:ln>
                  <a:solidFill>
                    <a:schemeClr val="tx1"/>
                  </a:solidFill>
                  <a:effectLst/>
                  <a:uLnTx/>
                  <a:uFillTx/>
                  <a:latin typeface="Calibri" panose="020F0502020204030204"/>
                  <a:ea typeface="+mn-ea"/>
                  <a:cs typeface="+mn-cs"/>
                </a:rPr>
                <a:t>Broad Portfolios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Include studies across the research spectrum </a:t>
              </a:r>
              <a:endParaRPr lang="en-US" sz="1400" dirty="0">
                <a:solidFill>
                  <a:prstClr val="black"/>
                </a:solidFill>
                <a:latin typeface="Calibri" panose="020F0502020204030204"/>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Take research from concept to implementation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28" name="Group 27">
            <a:extLst>
              <a:ext uri="{FF2B5EF4-FFF2-40B4-BE49-F238E27FC236}">
                <a16:creationId xmlns:a16="http://schemas.microsoft.com/office/drawing/2014/main" id="{316BE9AE-A4B8-E8A3-CFD6-84268E21A0C0}"/>
              </a:ext>
            </a:extLst>
          </p:cNvPr>
          <p:cNvGrpSpPr/>
          <p:nvPr/>
        </p:nvGrpSpPr>
        <p:grpSpPr>
          <a:xfrm>
            <a:off x="6881011" y="4388643"/>
            <a:ext cx="4586239" cy="1235600"/>
            <a:chOff x="179957" y="4287744"/>
            <a:chExt cx="4586239" cy="1235600"/>
          </a:xfrm>
        </p:grpSpPr>
        <p:sp>
          <p:nvSpPr>
            <p:cNvPr id="29" name="Rectangle 28">
              <a:extLst>
                <a:ext uri="{FF2B5EF4-FFF2-40B4-BE49-F238E27FC236}">
                  <a16:creationId xmlns:a16="http://schemas.microsoft.com/office/drawing/2014/main" id="{E268AA04-FD57-98A1-BD4E-442159CD4402}"/>
                </a:ext>
              </a:extLst>
            </p:cNvPr>
            <p:cNvSpPr/>
            <p:nvPr/>
          </p:nvSpPr>
          <p:spPr>
            <a:xfrm>
              <a:off x="683745" y="4562191"/>
              <a:ext cx="1819844" cy="732143"/>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Traumatic Brain Injury</a:t>
              </a:r>
              <a:endParaRPr lang="en-US" sz="1600">
                <a:solidFill>
                  <a:schemeClr val="tx1"/>
                </a:solidFill>
              </a:endParaRPr>
            </a:p>
          </p:txBody>
        </p:sp>
        <p:cxnSp>
          <p:nvCxnSpPr>
            <p:cNvPr id="30" name="Straight Connector 29">
              <a:extLst>
                <a:ext uri="{FF2B5EF4-FFF2-40B4-BE49-F238E27FC236}">
                  <a16:creationId xmlns:a16="http://schemas.microsoft.com/office/drawing/2014/main" id="{12093514-3518-F604-DB48-83985BC6E4DF}"/>
                </a:ext>
              </a:extLst>
            </p:cNvPr>
            <p:cNvCxnSpPr>
              <a:cxnSpLocks/>
              <a:stCxn id="29" idx="3"/>
              <a:endCxn id="31" idx="1"/>
            </p:cNvCxnSpPr>
            <p:nvPr/>
          </p:nvCxnSpPr>
          <p:spPr>
            <a:xfrm flipV="1">
              <a:off x="2503589" y="4908160"/>
              <a:ext cx="417716" cy="20103"/>
            </a:xfrm>
            <a:prstGeom prst="line">
              <a:avLst/>
            </a:prstGeom>
            <a:ln w="28575">
              <a:prstDash val="dash"/>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62F9D814-89A9-9CAD-E01B-412F629B878D}"/>
                </a:ext>
              </a:extLst>
            </p:cNvPr>
            <p:cNvSpPr/>
            <p:nvPr/>
          </p:nvSpPr>
          <p:spPr>
            <a:xfrm>
              <a:off x="2921305" y="4542088"/>
              <a:ext cx="1819844" cy="732143"/>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Suicide Prevention</a:t>
              </a:r>
              <a:endParaRPr lang="en-US">
                <a:solidFill>
                  <a:schemeClr val="tx1"/>
                </a:solidFill>
              </a:endParaRPr>
            </a:p>
          </p:txBody>
        </p:sp>
        <p:sp>
          <p:nvSpPr>
            <p:cNvPr id="32" name="Rectangle: Rounded Corners 31">
              <a:extLst>
                <a:ext uri="{FF2B5EF4-FFF2-40B4-BE49-F238E27FC236}">
                  <a16:creationId xmlns:a16="http://schemas.microsoft.com/office/drawing/2014/main" id="{1A5BFE3D-C8D5-6268-6C63-46D2F15FEB01}"/>
                </a:ext>
              </a:extLst>
            </p:cNvPr>
            <p:cNvSpPr/>
            <p:nvPr/>
          </p:nvSpPr>
          <p:spPr>
            <a:xfrm>
              <a:off x="179957" y="4287744"/>
              <a:ext cx="4586239" cy="1235600"/>
            </a:xfrm>
            <a:prstGeom prst="roundRect">
              <a:avLst>
                <a:gd name="adj" fmla="val 16667"/>
              </a:avLst>
            </a:prstGeom>
            <a:solidFill>
              <a:schemeClr val="accent1">
                <a:lumMod val="40000"/>
                <a:lumOff val="6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sng" strike="noStrike" kern="1200" cap="none" spc="0" normalizeH="0" baseline="0" noProof="0" dirty="0">
                  <a:ln>
                    <a:noFill/>
                  </a:ln>
                  <a:solidFill>
                    <a:prstClr val="black"/>
                  </a:solidFill>
                  <a:effectLst/>
                  <a:uLnTx/>
                  <a:uFillTx/>
                  <a:latin typeface="Calibri" panose="020F0502020204030204"/>
                  <a:ea typeface="+mn-ea"/>
                  <a:cs typeface="+mn-cs"/>
                </a:rPr>
                <a:t>Actively Managed Portfolio</a:t>
              </a:r>
              <a:r>
                <a:rPr kumimoji="0" lang="en-US" sz="1600" b="1" i="0" u="sng" strike="noStrike" kern="1200" cap="none" spc="0" normalizeH="0" baseline="0" noProof="0" dirty="0">
                  <a:ln>
                    <a:noFill/>
                  </a:ln>
                  <a:solidFill>
                    <a:schemeClr val="tx1"/>
                  </a:solidFill>
                  <a:effectLst/>
                  <a:uLnTx/>
                  <a:uFillTx/>
                  <a:latin typeface="Calibri" panose="020F0502020204030204"/>
                  <a:ea typeface="+mn-ea"/>
                  <a:cs typeface="+mn-cs"/>
                </a:rPr>
                <a: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Address urgent needs and critical problems </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Translate research to clinical </a:t>
              </a: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and policy </a:t>
              </a: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p>
          </p:txBody>
        </p:sp>
      </p:grpSp>
    </p:spTree>
    <p:extLst>
      <p:ext uri="{BB962C8B-B14F-4D97-AF65-F5344CB8AC3E}">
        <p14:creationId xmlns:p14="http://schemas.microsoft.com/office/powerpoint/2010/main" val="4235860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45A123E-E52D-3AC5-C651-40A19922EF5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8" name="think-cell data - do not delete" hidden="1">
                        <a:extLst>
                          <a:ext uri="{FF2B5EF4-FFF2-40B4-BE49-F238E27FC236}">
                            <a16:creationId xmlns:a16="http://schemas.microsoft.com/office/drawing/2014/main" id="{B45A123E-E52D-3AC5-C651-40A19922EF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a:extLst>
              <a:ext uri="{FF2B5EF4-FFF2-40B4-BE49-F238E27FC236}">
                <a16:creationId xmlns:a16="http://schemas.microsoft.com/office/drawing/2014/main" id="{A3BC412D-8C9A-5F39-497C-52FCDD7C685E}"/>
              </a:ext>
            </a:extLst>
          </p:cNvPr>
          <p:cNvSpPr>
            <a:spLocks noGrp="1"/>
          </p:cNvSpPr>
          <p:nvPr>
            <p:ph type="title"/>
          </p:nvPr>
        </p:nvSpPr>
        <p:spPr>
          <a:xfrm>
            <a:off x="285750" y="166264"/>
            <a:ext cx="11518610" cy="618385"/>
          </a:xfrm>
        </p:spPr>
        <p:txBody>
          <a:bodyPr vert="horz"/>
          <a:lstStyle/>
          <a:p>
            <a:r>
              <a:rPr lang="en-US" sz="3200"/>
              <a:t>Transitioning from Services to Portfolios provides several key benefits </a:t>
            </a:r>
          </a:p>
        </p:txBody>
      </p:sp>
      <p:grpSp>
        <p:nvGrpSpPr>
          <p:cNvPr id="26" name="Group 25">
            <a:extLst>
              <a:ext uri="{FF2B5EF4-FFF2-40B4-BE49-F238E27FC236}">
                <a16:creationId xmlns:a16="http://schemas.microsoft.com/office/drawing/2014/main" id="{50ADC27B-A935-0060-ECFD-5DE8EA0B1BF4}"/>
              </a:ext>
            </a:extLst>
          </p:cNvPr>
          <p:cNvGrpSpPr/>
          <p:nvPr/>
        </p:nvGrpSpPr>
        <p:grpSpPr>
          <a:xfrm>
            <a:off x="-5063245" y="234413"/>
            <a:ext cx="16801884" cy="6369298"/>
            <a:chOff x="-5063245" y="234413"/>
            <a:chExt cx="16801884" cy="6369298"/>
          </a:xfrm>
        </p:grpSpPr>
        <p:sp>
          <p:nvSpPr>
            <p:cNvPr id="27" name="Block Arc 26">
              <a:extLst>
                <a:ext uri="{FF2B5EF4-FFF2-40B4-BE49-F238E27FC236}">
                  <a16:creationId xmlns:a16="http://schemas.microsoft.com/office/drawing/2014/main" id="{BCAC544A-A15D-A42E-EE9D-A06B3F40C272}"/>
                </a:ext>
              </a:extLst>
            </p:cNvPr>
            <p:cNvSpPr/>
            <p:nvPr/>
          </p:nvSpPr>
          <p:spPr>
            <a:xfrm>
              <a:off x="-5063245" y="234413"/>
              <a:ext cx="6369298" cy="6369298"/>
            </a:xfrm>
            <a:prstGeom prst="blockArc">
              <a:avLst>
                <a:gd name="adj1" fmla="val 18900000"/>
                <a:gd name="adj2" fmla="val 2700000"/>
                <a:gd name="adj3" fmla="val 339"/>
              </a:avLst>
            </a:prstGeom>
          </p:spPr>
          <p:style>
            <a:lnRef idx="2">
              <a:schemeClr val="dk2">
                <a:shade val="60000"/>
                <a:hueOff val="0"/>
                <a:satOff val="0"/>
                <a:lumOff val="0"/>
                <a:alphaOff val="0"/>
              </a:schemeClr>
            </a:lnRef>
            <a:fillRef idx="0">
              <a:schemeClr val="dk2">
                <a:hueOff val="0"/>
                <a:satOff val="0"/>
                <a:lumOff val="0"/>
                <a:alphaOff val="0"/>
              </a:schemeClr>
            </a:fillRef>
            <a:effectRef idx="0">
              <a:schemeClr val="dk2">
                <a:hueOff val="0"/>
                <a:satOff val="0"/>
                <a:lumOff val="0"/>
                <a:alphaOff val="0"/>
              </a:schemeClr>
            </a:effectRef>
            <a:fontRef idx="minor">
              <a:schemeClr val="tx1">
                <a:hueOff val="0"/>
                <a:satOff val="0"/>
                <a:lumOff val="0"/>
                <a:alphaOff val="0"/>
              </a:schemeClr>
            </a:fontRef>
          </p:style>
          <p:txBody>
            <a:bodyPr/>
            <a:lstStyle/>
            <a:p>
              <a:endParaRPr lang="en-US"/>
            </a:p>
          </p:txBody>
        </p:sp>
        <p:sp>
          <p:nvSpPr>
            <p:cNvPr id="28" name="Freeform: Shape 27">
              <a:extLst>
                <a:ext uri="{FF2B5EF4-FFF2-40B4-BE49-F238E27FC236}">
                  <a16:creationId xmlns:a16="http://schemas.microsoft.com/office/drawing/2014/main" id="{D8171B03-1CF9-B461-F5C1-B64060F92B57}"/>
                </a:ext>
              </a:extLst>
            </p:cNvPr>
            <p:cNvSpPr/>
            <p:nvPr/>
          </p:nvSpPr>
          <p:spPr>
            <a:xfrm>
              <a:off x="819923" y="1417270"/>
              <a:ext cx="10918715" cy="727821"/>
            </a:xfrm>
            <a:custGeom>
              <a:avLst/>
              <a:gdLst>
                <a:gd name="connsiteX0" fmla="*/ 0 w 10918715"/>
                <a:gd name="connsiteY0" fmla="*/ 0 h 727821"/>
                <a:gd name="connsiteX1" fmla="*/ 10918715 w 10918715"/>
                <a:gd name="connsiteY1" fmla="*/ 0 h 727821"/>
                <a:gd name="connsiteX2" fmla="*/ 10918715 w 10918715"/>
                <a:gd name="connsiteY2" fmla="*/ 727821 h 727821"/>
                <a:gd name="connsiteX3" fmla="*/ 0 w 10918715"/>
                <a:gd name="connsiteY3" fmla="*/ 727821 h 727821"/>
                <a:gd name="connsiteX4" fmla="*/ 0 w 10918715"/>
                <a:gd name="connsiteY4" fmla="*/ 0 h 727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18715" h="727821">
                  <a:moveTo>
                    <a:pt x="0" y="0"/>
                  </a:moveTo>
                  <a:lnTo>
                    <a:pt x="10918715" y="0"/>
                  </a:lnTo>
                  <a:lnTo>
                    <a:pt x="10918715" y="727821"/>
                  </a:lnTo>
                  <a:lnTo>
                    <a:pt x="0" y="727821"/>
                  </a:lnTo>
                  <a:lnTo>
                    <a:pt x="0" y="0"/>
                  </a:lnTo>
                  <a:close/>
                </a:path>
              </a:pathLst>
            </a:custGeom>
            <a:solidFill>
              <a:srgbClr val="1D4999"/>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77708" tIns="50800" rIns="50800" bIns="50800" numCol="1" spcCol="1270" anchor="ctr" anchorCtr="0">
              <a:noAutofit/>
            </a:bodyPr>
            <a:lstStyle/>
            <a:p>
              <a:pPr marL="0" lvl="0" indent="0" algn="l" defTabSz="889000">
                <a:lnSpc>
                  <a:spcPct val="90000"/>
                </a:lnSpc>
                <a:spcBef>
                  <a:spcPct val="0"/>
                </a:spcBef>
                <a:spcAft>
                  <a:spcPct val="35000"/>
                </a:spcAft>
                <a:buNone/>
              </a:pPr>
              <a:r>
                <a:rPr lang="en-US" sz="2000" b="1" kern="1200"/>
                <a:t>Tailored support for Veteran needs: </a:t>
              </a:r>
              <a:r>
                <a:rPr lang="en-US" sz="2000" kern="1200"/>
                <a:t>ISRM will transition to a Portfolio-based structure, aligning research funding with specific Veteran health priorities</a:t>
              </a:r>
            </a:p>
          </p:txBody>
        </p:sp>
        <p:sp>
          <p:nvSpPr>
            <p:cNvPr id="29" name="Oval 28">
              <a:extLst>
                <a:ext uri="{FF2B5EF4-FFF2-40B4-BE49-F238E27FC236}">
                  <a16:creationId xmlns:a16="http://schemas.microsoft.com/office/drawing/2014/main" id="{025498F5-B91F-9B18-68B4-CC7A67A43516}"/>
                </a:ext>
              </a:extLst>
            </p:cNvPr>
            <p:cNvSpPr/>
            <p:nvPr/>
          </p:nvSpPr>
          <p:spPr>
            <a:xfrm>
              <a:off x="365035" y="1326292"/>
              <a:ext cx="909776" cy="909776"/>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0" name="Freeform: Shape 29">
              <a:extLst>
                <a:ext uri="{FF2B5EF4-FFF2-40B4-BE49-F238E27FC236}">
                  <a16:creationId xmlns:a16="http://schemas.microsoft.com/office/drawing/2014/main" id="{1488FE09-5C12-ED71-3048-2184A86A05E0}"/>
                </a:ext>
              </a:extLst>
            </p:cNvPr>
            <p:cNvSpPr/>
            <p:nvPr/>
          </p:nvSpPr>
          <p:spPr>
            <a:xfrm>
              <a:off x="1237200" y="2509191"/>
              <a:ext cx="10501439" cy="727821"/>
            </a:xfrm>
            <a:custGeom>
              <a:avLst/>
              <a:gdLst>
                <a:gd name="connsiteX0" fmla="*/ 0 w 10501439"/>
                <a:gd name="connsiteY0" fmla="*/ 0 h 727821"/>
                <a:gd name="connsiteX1" fmla="*/ 10501439 w 10501439"/>
                <a:gd name="connsiteY1" fmla="*/ 0 h 727821"/>
                <a:gd name="connsiteX2" fmla="*/ 10501439 w 10501439"/>
                <a:gd name="connsiteY2" fmla="*/ 727821 h 727821"/>
                <a:gd name="connsiteX3" fmla="*/ 0 w 10501439"/>
                <a:gd name="connsiteY3" fmla="*/ 727821 h 727821"/>
                <a:gd name="connsiteX4" fmla="*/ 0 w 10501439"/>
                <a:gd name="connsiteY4" fmla="*/ 0 h 727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1439" h="727821">
                  <a:moveTo>
                    <a:pt x="0" y="0"/>
                  </a:moveTo>
                  <a:lnTo>
                    <a:pt x="10501439" y="0"/>
                  </a:lnTo>
                  <a:lnTo>
                    <a:pt x="10501439" y="727821"/>
                  </a:lnTo>
                  <a:lnTo>
                    <a:pt x="0" y="727821"/>
                  </a:lnTo>
                  <a:lnTo>
                    <a:pt x="0" y="0"/>
                  </a:lnTo>
                  <a:close/>
                </a:path>
              </a:pathLst>
            </a:custGeom>
            <a:solidFill>
              <a:srgbClr val="1D4999"/>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77708" tIns="50800" rIns="50800" bIns="50800" numCol="1" spcCol="1270" anchor="ctr" anchorCtr="0">
              <a:noAutofit/>
            </a:bodyPr>
            <a:lstStyle/>
            <a:p>
              <a:pPr marL="0" lvl="0" indent="0" algn="l" defTabSz="889000">
                <a:lnSpc>
                  <a:spcPct val="90000"/>
                </a:lnSpc>
                <a:spcBef>
                  <a:spcPct val="0"/>
                </a:spcBef>
                <a:spcAft>
                  <a:spcPct val="35000"/>
                </a:spcAft>
                <a:buNone/>
              </a:pPr>
              <a:r>
                <a:rPr lang="en-US" sz="2000" b="1" kern="1200"/>
                <a:t>Accelerated research impact: </a:t>
              </a:r>
              <a:r>
                <a:rPr lang="en-US" sz="2000" kern="1200"/>
                <a:t>Actively Managed Portfolios will focus resources on critical areas, driving faster advancements in Veteran care</a:t>
              </a:r>
            </a:p>
          </p:txBody>
        </p:sp>
        <p:sp>
          <p:nvSpPr>
            <p:cNvPr id="31" name="Oval 30">
              <a:extLst>
                <a:ext uri="{FF2B5EF4-FFF2-40B4-BE49-F238E27FC236}">
                  <a16:creationId xmlns:a16="http://schemas.microsoft.com/office/drawing/2014/main" id="{A1EC2A61-8253-780E-0876-410BC93C326C}"/>
                </a:ext>
              </a:extLst>
            </p:cNvPr>
            <p:cNvSpPr/>
            <p:nvPr/>
          </p:nvSpPr>
          <p:spPr>
            <a:xfrm rot="2944658" flipV="1">
              <a:off x="841547" y="5102590"/>
              <a:ext cx="189269" cy="81898"/>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2" name="Freeform: Shape 31">
              <a:extLst>
                <a:ext uri="{FF2B5EF4-FFF2-40B4-BE49-F238E27FC236}">
                  <a16:creationId xmlns:a16="http://schemas.microsoft.com/office/drawing/2014/main" id="{05EAF576-A364-5E0C-B799-8EC14873F984}"/>
                </a:ext>
              </a:extLst>
            </p:cNvPr>
            <p:cNvSpPr/>
            <p:nvPr/>
          </p:nvSpPr>
          <p:spPr>
            <a:xfrm>
              <a:off x="1237200" y="3601111"/>
              <a:ext cx="10501439" cy="727821"/>
            </a:xfrm>
            <a:custGeom>
              <a:avLst/>
              <a:gdLst>
                <a:gd name="connsiteX0" fmla="*/ 0 w 10501439"/>
                <a:gd name="connsiteY0" fmla="*/ 0 h 727821"/>
                <a:gd name="connsiteX1" fmla="*/ 10501439 w 10501439"/>
                <a:gd name="connsiteY1" fmla="*/ 0 h 727821"/>
                <a:gd name="connsiteX2" fmla="*/ 10501439 w 10501439"/>
                <a:gd name="connsiteY2" fmla="*/ 727821 h 727821"/>
                <a:gd name="connsiteX3" fmla="*/ 0 w 10501439"/>
                <a:gd name="connsiteY3" fmla="*/ 727821 h 727821"/>
                <a:gd name="connsiteX4" fmla="*/ 0 w 10501439"/>
                <a:gd name="connsiteY4" fmla="*/ 0 h 727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01439" h="727821">
                  <a:moveTo>
                    <a:pt x="0" y="0"/>
                  </a:moveTo>
                  <a:lnTo>
                    <a:pt x="10501439" y="0"/>
                  </a:lnTo>
                  <a:lnTo>
                    <a:pt x="10501439" y="727821"/>
                  </a:lnTo>
                  <a:lnTo>
                    <a:pt x="0" y="727821"/>
                  </a:lnTo>
                  <a:lnTo>
                    <a:pt x="0" y="0"/>
                  </a:lnTo>
                  <a:close/>
                </a:path>
              </a:pathLst>
            </a:custGeom>
            <a:solidFill>
              <a:srgbClr val="1D4999"/>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77708" tIns="50800" rIns="50800" bIns="50800" numCol="1" spcCol="1270" anchor="ctr" anchorCtr="0">
              <a:noAutofit/>
            </a:bodyPr>
            <a:lstStyle/>
            <a:p>
              <a:pPr marL="0" lvl="0" indent="0" algn="l" defTabSz="889000">
                <a:lnSpc>
                  <a:spcPct val="90000"/>
                </a:lnSpc>
                <a:spcBef>
                  <a:spcPct val="0"/>
                </a:spcBef>
                <a:spcAft>
                  <a:spcPct val="35000"/>
                </a:spcAft>
                <a:buNone/>
              </a:pPr>
              <a:r>
                <a:rPr lang="en-US" sz="2000" b="1" kern="1200"/>
                <a:t>Continued breadth of support: </a:t>
              </a:r>
              <a:r>
                <a:rPr lang="en-US" sz="2000" kern="1200"/>
                <a:t>Broad Portfolios will maintain funding for a diverse range of research, including early-stage discovery, translational studies, and investigator development</a:t>
              </a:r>
            </a:p>
          </p:txBody>
        </p:sp>
        <p:sp>
          <p:nvSpPr>
            <p:cNvPr id="33" name="Oval 32">
              <a:extLst>
                <a:ext uri="{FF2B5EF4-FFF2-40B4-BE49-F238E27FC236}">
                  <a16:creationId xmlns:a16="http://schemas.microsoft.com/office/drawing/2014/main" id="{8FB7F8E0-2DB2-EE3E-3C60-CCA9B1A475F9}"/>
                </a:ext>
              </a:extLst>
            </p:cNvPr>
            <p:cNvSpPr/>
            <p:nvPr/>
          </p:nvSpPr>
          <p:spPr>
            <a:xfrm>
              <a:off x="782311" y="3510134"/>
              <a:ext cx="909776" cy="909776"/>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4" name="Freeform: Shape 33">
              <a:extLst>
                <a:ext uri="{FF2B5EF4-FFF2-40B4-BE49-F238E27FC236}">
                  <a16:creationId xmlns:a16="http://schemas.microsoft.com/office/drawing/2014/main" id="{3556049D-8DC3-F51A-4C97-B46268475791}"/>
                </a:ext>
              </a:extLst>
            </p:cNvPr>
            <p:cNvSpPr/>
            <p:nvPr/>
          </p:nvSpPr>
          <p:spPr>
            <a:xfrm>
              <a:off x="819923" y="4693032"/>
              <a:ext cx="10918715" cy="727821"/>
            </a:xfrm>
            <a:custGeom>
              <a:avLst/>
              <a:gdLst>
                <a:gd name="connsiteX0" fmla="*/ 0 w 10918715"/>
                <a:gd name="connsiteY0" fmla="*/ 0 h 727821"/>
                <a:gd name="connsiteX1" fmla="*/ 10918715 w 10918715"/>
                <a:gd name="connsiteY1" fmla="*/ 0 h 727821"/>
                <a:gd name="connsiteX2" fmla="*/ 10918715 w 10918715"/>
                <a:gd name="connsiteY2" fmla="*/ 727821 h 727821"/>
                <a:gd name="connsiteX3" fmla="*/ 0 w 10918715"/>
                <a:gd name="connsiteY3" fmla="*/ 727821 h 727821"/>
                <a:gd name="connsiteX4" fmla="*/ 0 w 10918715"/>
                <a:gd name="connsiteY4" fmla="*/ 0 h 7278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18715" h="727821">
                  <a:moveTo>
                    <a:pt x="0" y="0"/>
                  </a:moveTo>
                  <a:lnTo>
                    <a:pt x="10918715" y="0"/>
                  </a:lnTo>
                  <a:lnTo>
                    <a:pt x="10918715" y="727821"/>
                  </a:lnTo>
                  <a:lnTo>
                    <a:pt x="0" y="727821"/>
                  </a:lnTo>
                  <a:lnTo>
                    <a:pt x="0" y="0"/>
                  </a:lnTo>
                  <a:close/>
                </a:path>
              </a:pathLst>
            </a:custGeom>
            <a:solidFill>
              <a:srgbClr val="1D4999"/>
            </a:solidFill>
          </p:spPr>
          <p:style>
            <a:lnRef idx="2">
              <a:schemeClr val="lt2">
                <a:hueOff val="0"/>
                <a:satOff val="0"/>
                <a:lumOff val="0"/>
                <a:alphaOff val="0"/>
              </a:schemeClr>
            </a:lnRef>
            <a:fillRef idx="1">
              <a:schemeClr val="dk2">
                <a:hueOff val="0"/>
                <a:satOff val="0"/>
                <a:lumOff val="0"/>
                <a:alphaOff val="0"/>
              </a:schemeClr>
            </a:fillRef>
            <a:effectRef idx="0">
              <a:schemeClr val="dk2">
                <a:hueOff val="0"/>
                <a:satOff val="0"/>
                <a:lumOff val="0"/>
                <a:alphaOff val="0"/>
              </a:schemeClr>
            </a:effectRef>
            <a:fontRef idx="minor">
              <a:schemeClr val="lt1"/>
            </a:fontRef>
          </p:style>
          <p:txBody>
            <a:bodyPr spcFirstLastPara="0" vert="horz" wrap="square" lIns="577708" tIns="50800" rIns="50800" bIns="50800" numCol="1" spcCol="1270" anchor="ctr" anchorCtr="0">
              <a:noAutofit/>
            </a:bodyPr>
            <a:lstStyle/>
            <a:p>
              <a:pPr marL="0" lvl="0" indent="0" algn="l" defTabSz="889000">
                <a:lnSpc>
                  <a:spcPct val="90000"/>
                </a:lnSpc>
                <a:spcBef>
                  <a:spcPct val="0"/>
                </a:spcBef>
                <a:spcAft>
                  <a:spcPct val="35000"/>
                </a:spcAft>
                <a:buNone/>
              </a:pPr>
              <a:r>
                <a:rPr lang="en-US" sz="2000" b="1" kern="1200"/>
                <a:t>Enhanced investigator experience</a:t>
              </a:r>
              <a:r>
                <a:rPr lang="en-US" sz="2000" kern="1200"/>
                <a:t>: The new structure will provide streamlined support and resources to facilitate research and innovation</a:t>
              </a:r>
            </a:p>
          </p:txBody>
        </p:sp>
        <p:sp>
          <p:nvSpPr>
            <p:cNvPr id="35" name="Oval 34">
              <a:extLst>
                <a:ext uri="{FF2B5EF4-FFF2-40B4-BE49-F238E27FC236}">
                  <a16:creationId xmlns:a16="http://schemas.microsoft.com/office/drawing/2014/main" id="{38CEAEC4-5579-96B0-10D7-40924E733FEA}"/>
                </a:ext>
              </a:extLst>
            </p:cNvPr>
            <p:cNvSpPr/>
            <p:nvPr/>
          </p:nvSpPr>
          <p:spPr>
            <a:xfrm>
              <a:off x="365035" y="4602055"/>
              <a:ext cx="909776" cy="909776"/>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5" name="Slide Number Placeholder 4">
            <a:extLst>
              <a:ext uri="{FF2B5EF4-FFF2-40B4-BE49-F238E27FC236}">
                <a16:creationId xmlns:a16="http://schemas.microsoft.com/office/drawing/2014/main" id="{D0FE5C97-3287-4C27-1EFE-861319C3E9AA}"/>
              </a:ext>
            </a:extLst>
          </p:cNvPr>
          <p:cNvSpPr>
            <a:spLocks noGrp="1"/>
          </p:cNvSpPr>
          <p:nvPr>
            <p:ph type="sldNum" sz="quarter" idx="12"/>
          </p:nvPr>
        </p:nvSpPr>
        <p:spPr/>
        <p:txBody>
          <a:bodyPr/>
          <a:lstStyle/>
          <a:p>
            <a:fld id="{670A9334-4E67-F94F-A05E-0CE8B74A054E}" type="slidenum">
              <a:rPr lang="en-US" smtClean="0"/>
              <a:t>11</a:t>
            </a:fld>
            <a:endParaRPr lang="en-US"/>
          </a:p>
        </p:txBody>
      </p:sp>
      <p:pic>
        <p:nvPicPr>
          <p:cNvPr id="24" name="Picture 23">
            <a:extLst>
              <a:ext uri="{FF2B5EF4-FFF2-40B4-BE49-F238E27FC236}">
                <a16:creationId xmlns:a16="http://schemas.microsoft.com/office/drawing/2014/main" id="{E17B197C-E4D9-854C-9C5D-2769CA7696B1}"/>
              </a:ext>
            </a:extLst>
          </p:cNvPr>
          <p:cNvPicPr>
            <a:picLocks noChangeAspect="1"/>
          </p:cNvPicPr>
          <p:nvPr/>
        </p:nvPicPr>
        <p:blipFill rotWithShape="1">
          <a:blip r:embed="rId6">
            <a:duotone>
              <a:schemeClr val="accent1">
                <a:shade val="45000"/>
                <a:satMod val="135000"/>
              </a:schemeClr>
              <a:prstClr val="white"/>
            </a:duotone>
          </a:blip>
          <a:srcRect b="20186"/>
          <a:stretch/>
        </p:blipFill>
        <p:spPr>
          <a:xfrm>
            <a:off x="457213" y="1451114"/>
            <a:ext cx="772081" cy="616226"/>
          </a:xfrm>
          <a:prstGeom prst="rect">
            <a:avLst/>
          </a:prstGeom>
        </p:spPr>
      </p:pic>
      <p:sp>
        <p:nvSpPr>
          <p:cNvPr id="25" name="Oval 24">
            <a:extLst>
              <a:ext uri="{FF2B5EF4-FFF2-40B4-BE49-F238E27FC236}">
                <a16:creationId xmlns:a16="http://schemas.microsoft.com/office/drawing/2014/main" id="{8332C38A-7677-0087-BD0E-B82133340178}"/>
              </a:ext>
            </a:extLst>
          </p:cNvPr>
          <p:cNvSpPr/>
          <p:nvPr/>
        </p:nvSpPr>
        <p:spPr>
          <a:xfrm>
            <a:off x="774406" y="2415209"/>
            <a:ext cx="909776" cy="909776"/>
          </a:xfrm>
          <a:prstGeom prst="ellipse">
            <a:avLst/>
          </a:prstGeom>
        </p:spPr>
        <p:style>
          <a:lnRef idx="2">
            <a:schemeClr val="dk2">
              <a:hueOff val="0"/>
              <a:satOff val="0"/>
              <a:lumOff val="0"/>
              <a:alphaOff val="0"/>
            </a:schemeClr>
          </a:lnRef>
          <a:fillRef idx="1">
            <a:schemeClr val="lt2">
              <a:hueOff val="0"/>
              <a:satOff val="0"/>
              <a:lumOff val="0"/>
              <a:alphaOff val="0"/>
            </a:schemeClr>
          </a:fillRef>
          <a:effectRef idx="0">
            <a:schemeClr val="lt2">
              <a:hueOff val="0"/>
              <a:satOff val="0"/>
              <a:lumOff val="0"/>
              <a:alphaOff val="0"/>
            </a:schemeClr>
          </a:effectRef>
          <a:fontRef idx="minor">
            <a:schemeClr val="dk1">
              <a:hueOff val="0"/>
              <a:satOff val="0"/>
              <a:lumOff val="0"/>
              <a:alphaOff val="0"/>
            </a:schemeClr>
          </a:fontRef>
        </p:style>
        <p:txBody>
          <a:bodyPr/>
          <a:lstStyle/>
          <a:p>
            <a:endParaRPr lang="en-US"/>
          </a:p>
        </p:txBody>
      </p:sp>
      <p:pic>
        <p:nvPicPr>
          <p:cNvPr id="39" name="Picture 38">
            <a:extLst>
              <a:ext uri="{FF2B5EF4-FFF2-40B4-BE49-F238E27FC236}">
                <a16:creationId xmlns:a16="http://schemas.microsoft.com/office/drawing/2014/main" id="{F4CB06A6-7791-8C3C-2879-21BA0A72A871}"/>
              </a:ext>
            </a:extLst>
          </p:cNvPr>
          <p:cNvPicPr>
            <a:picLocks noChangeAspect="1"/>
          </p:cNvPicPr>
          <p:nvPr/>
        </p:nvPicPr>
        <p:blipFill rotWithShape="1">
          <a:blip r:embed="rId7">
            <a:duotone>
              <a:schemeClr val="accent1">
                <a:shade val="45000"/>
                <a:satMod val="135000"/>
              </a:schemeClr>
              <a:prstClr val="white"/>
            </a:duotone>
          </a:blip>
          <a:srcRect b="20126"/>
          <a:stretch/>
        </p:blipFill>
        <p:spPr>
          <a:xfrm>
            <a:off x="831273" y="2507485"/>
            <a:ext cx="805206" cy="643151"/>
          </a:xfrm>
          <a:prstGeom prst="rect">
            <a:avLst/>
          </a:prstGeom>
        </p:spPr>
      </p:pic>
      <p:pic>
        <p:nvPicPr>
          <p:cNvPr id="41" name="Picture 40">
            <a:extLst>
              <a:ext uri="{FF2B5EF4-FFF2-40B4-BE49-F238E27FC236}">
                <a16:creationId xmlns:a16="http://schemas.microsoft.com/office/drawing/2014/main" id="{403FEDA1-96A0-26FB-1AC8-85C764665E33}"/>
              </a:ext>
            </a:extLst>
          </p:cNvPr>
          <p:cNvPicPr>
            <a:picLocks noChangeAspect="1"/>
          </p:cNvPicPr>
          <p:nvPr/>
        </p:nvPicPr>
        <p:blipFill rotWithShape="1">
          <a:blip r:embed="rId8">
            <a:duotone>
              <a:schemeClr val="accent1">
                <a:shade val="45000"/>
                <a:satMod val="135000"/>
              </a:schemeClr>
              <a:prstClr val="white"/>
            </a:duotone>
          </a:blip>
          <a:srcRect b="13031"/>
          <a:stretch/>
        </p:blipFill>
        <p:spPr>
          <a:xfrm>
            <a:off x="843251" y="3646411"/>
            <a:ext cx="732483" cy="637033"/>
          </a:xfrm>
          <a:prstGeom prst="rect">
            <a:avLst/>
          </a:prstGeom>
        </p:spPr>
      </p:pic>
      <p:pic>
        <p:nvPicPr>
          <p:cNvPr id="43" name="Picture 42">
            <a:extLst>
              <a:ext uri="{FF2B5EF4-FFF2-40B4-BE49-F238E27FC236}">
                <a16:creationId xmlns:a16="http://schemas.microsoft.com/office/drawing/2014/main" id="{AC9203F8-ADFD-B480-4A10-C5CDF7526626}"/>
              </a:ext>
            </a:extLst>
          </p:cNvPr>
          <p:cNvPicPr>
            <a:picLocks noChangeAspect="1"/>
          </p:cNvPicPr>
          <p:nvPr/>
        </p:nvPicPr>
        <p:blipFill rotWithShape="1">
          <a:blip r:embed="rId9">
            <a:duotone>
              <a:schemeClr val="accent1">
                <a:shade val="45000"/>
                <a:satMod val="135000"/>
              </a:schemeClr>
              <a:prstClr val="white"/>
            </a:duotone>
          </a:blip>
          <a:srcRect b="14223"/>
          <a:stretch/>
        </p:blipFill>
        <p:spPr>
          <a:xfrm>
            <a:off x="453583" y="4730446"/>
            <a:ext cx="755380" cy="647938"/>
          </a:xfrm>
          <a:prstGeom prst="rect">
            <a:avLst/>
          </a:prstGeom>
        </p:spPr>
      </p:pic>
    </p:spTree>
    <p:extLst>
      <p:ext uri="{BB962C8B-B14F-4D97-AF65-F5344CB8AC3E}">
        <p14:creationId xmlns:p14="http://schemas.microsoft.com/office/powerpoint/2010/main" val="220930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24">
            <a:extLst>
              <a:ext uri="{FF2B5EF4-FFF2-40B4-BE49-F238E27FC236}">
                <a16:creationId xmlns:a16="http://schemas.microsoft.com/office/drawing/2014/main" id="{720E71C9-4D0B-2563-04B4-59ABC1ED1BCB}"/>
              </a:ext>
            </a:extLst>
          </p:cNvPr>
          <p:cNvSpPr txBox="1">
            <a:spLocks/>
          </p:cNvSpPr>
          <p:nvPr/>
        </p:nvSpPr>
        <p:spPr>
          <a:xfrm>
            <a:off x="169628" y="165363"/>
            <a:ext cx="11646010" cy="61838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none" spc="0" normalizeH="0" baseline="0" noProof="0" dirty="0">
                <a:ln>
                  <a:noFill/>
                </a:ln>
                <a:solidFill>
                  <a:prstClr val="white"/>
                </a:solidFill>
                <a:effectLst/>
                <a:uLnTx/>
                <a:uFillTx/>
                <a:latin typeface="Calibri Light" panose="020F0302020204030204"/>
                <a:ea typeface="+mj-ea"/>
                <a:cs typeface="+mj-cs"/>
              </a:rPr>
              <a:t>Scientific Review Groups have been assigned to the Broad Portfolios</a:t>
            </a:r>
          </a:p>
        </p:txBody>
      </p:sp>
      <p:graphicFrame>
        <p:nvGraphicFramePr>
          <p:cNvPr id="3" name="Table 2">
            <a:extLst>
              <a:ext uri="{FF2B5EF4-FFF2-40B4-BE49-F238E27FC236}">
                <a16:creationId xmlns:a16="http://schemas.microsoft.com/office/drawing/2014/main" id="{97E00992-6B27-BC9F-F810-B58C99B7E0F9}"/>
              </a:ext>
            </a:extLst>
          </p:cNvPr>
          <p:cNvGraphicFramePr>
            <a:graphicFrameLocks noGrp="1"/>
          </p:cNvGraphicFramePr>
          <p:nvPr/>
        </p:nvGraphicFramePr>
        <p:xfrm>
          <a:off x="84814" y="995523"/>
          <a:ext cx="12022372" cy="5036158"/>
        </p:xfrm>
        <a:graphic>
          <a:graphicData uri="http://schemas.openxmlformats.org/drawingml/2006/table">
            <a:tbl>
              <a:tblPr bandRow="1">
                <a:tableStyleId>{5C22544A-7EE6-4342-B048-85BDC9FD1C3A}</a:tableStyleId>
              </a:tblPr>
              <a:tblGrid>
                <a:gridCol w="4030500">
                  <a:extLst>
                    <a:ext uri="{9D8B030D-6E8A-4147-A177-3AD203B41FA5}">
                      <a16:colId xmlns:a16="http://schemas.microsoft.com/office/drawing/2014/main" val="548507500"/>
                    </a:ext>
                  </a:extLst>
                </a:gridCol>
                <a:gridCol w="2326329">
                  <a:extLst>
                    <a:ext uri="{9D8B030D-6E8A-4147-A177-3AD203B41FA5}">
                      <a16:colId xmlns:a16="http://schemas.microsoft.com/office/drawing/2014/main" val="1137218244"/>
                    </a:ext>
                  </a:extLst>
                </a:gridCol>
                <a:gridCol w="2173044">
                  <a:extLst>
                    <a:ext uri="{9D8B030D-6E8A-4147-A177-3AD203B41FA5}">
                      <a16:colId xmlns:a16="http://schemas.microsoft.com/office/drawing/2014/main" val="1536050370"/>
                    </a:ext>
                  </a:extLst>
                </a:gridCol>
                <a:gridCol w="3492499">
                  <a:extLst>
                    <a:ext uri="{9D8B030D-6E8A-4147-A177-3AD203B41FA5}">
                      <a16:colId xmlns:a16="http://schemas.microsoft.com/office/drawing/2014/main" val="321178729"/>
                    </a:ext>
                  </a:extLst>
                </a:gridCol>
              </a:tblGrid>
              <a:tr h="342238">
                <a:tc>
                  <a:txBody>
                    <a:bodyPr/>
                    <a:lstStyle/>
                    <a:p>
                      <a:pPr marL="0" algn="ctr" rtl="0" fontAlgn="t" latinLnBrk="0">
                        <a:spcBef>
                          <a:spcPts val="0"/>
                        </a:spcBef>
                        <a:spcAft>
                          <a:spcPts val="0"/>
                        </a:spcAft>
                      </a:pPr>
                      <a:r>
                        <a:rPr lang="en-US" sz="1600" b="1">
                          <a:solidFill>
                            <a:schemeClr val="tx1"/>
                          </a:solidFill>
                          <a:effectLst/>
                          <a:latin typeface="Calibri"/>
                        </a:rPr>
                        <a:t>Brain, Behavioral &amp; Mental  Health</a:t>
                      </a:r>
                      <a:endParaRPr lang="en-US" sz="1800">
                        <a:solidFill>
                          <a:schemeClr val="tx1"/>
                        </a:solidFill>
                        <a:effectLst/>
                        <a:latin typeface="Calibri"/>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4"/>
                    </a:solidFill>
                  </a:tcPr>
                </a:tc>
                <a:tc>
                  <a:txBody>
                    <a:bodyPr/>
                    <a:lstStyle/>
                    <a:p>
                      <a:pPr marL="0" algn="ctr" rtl="0" fontAlgn="t" latinLnBrk="0">
                        <a:spcBef>
                          <a:spcPts val="0"/>
                        </a:spcBef>
                        <a:spcAft>
                          <a:spcPts val="0"/>
                        </a:spcAft>
                      </a:pPr>
                      <a:r>
                        <a:rPr lang="en-US" sz="1600" b="1">
                          <a:solidFill>
                            <a:schemeClr val="tx1"/>
                          </a:solidFill>
                          <a:effectLst/>
                          <a:latin typeface="Calibri"/>
                        </a:rPr>
                        <a:t>Health Systems Research</a:t>
                      </a:r>
                      <a:endParaRPr lang="en-US" sz="1800">
                        <a:solidFill>
                          <a:schemeClr val="tx1"/>
                        </a:solidFill>
                        <a:effectLst/>
                        <a:latin typeface="Calibri"/>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4"/>
                    </a:solidFill>
                  </a:tcPr>
                </a:tc>
                <a:tc>
                  <a:txBody>
                    <a:bodyPr/>
                    <a:lstStyle/>
                    <a:p>
                      <a:pPr marL="0" algn="ctr" rtl="0" fontAlgn="t" latinLnBrk="0">
                        <a:spcBef>
                          <a:spcPts val="0"/>
                        </a:spcBef>
                        <a:spcAft>
                          <a:spcPts val="0"/>
                        </a:spcAft>
                      </a:pPr>
                      <a:r>
                        <a:rPr lang="en-US" sz="1600" b="1">
                          <a:solidFill>
                            <a:schemeClr val="tx1"/>
                          </a:solidFill>
                          <a:effectLst/>
                          <a:latin typeface="Calibri"/>
                        </a:rPr>
                        <a:t>Medical Health</a:t>
                      </a:r>
                      <a:endParaRPr lang="en-US" sz="1800">
                        <a:solidFill>
                          <a:schemeClr val="tx1"/>
                        </a:solidFill>
                        <a:effectLst/>
                        <a:latin typeface="Calibri"/>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4"/>
                    </a:solidFill>
                  </a:tcPr>
                </a:tc>
                <a:tc>
                  <a:txBody>
                    <a:bodyPr/>
                    <a:lstStyle/>
                    <a:p>
                      <a:pPr marL="0" algn="ctr" rtl="0" fontAlgn="t" latinLnBrk="0">
                        <a:spcBef>
                          <a:spcPts val="0"/>
                        </a:spcBef>
                        <a:spcAft>
                          <a:spcPts val="0"/>
                        </a:spcAft>
                      </a:pPr>
                      <a:r>
                        <a:rPr lang="en-US" sz="1600" b="1">
                          <a:solidFill>
                            <a:schemeClr val="tx1"/>
                          </a:solidFill>
                          <a:effectLst/>
                          <a:latin typeface="Calibri"/>
                        </a:rPr>
                        <a:t>Rehabilitation</a:t>
                      </a:r>
                      <a:endParaRPr lang="en-US" sz="1800">
                        <a:solidFill>
                          <a:schemeClr val="tx1"/>
                        </a:solidFill>
                        <a:effectLst/>
                        <a:latin typeface="Calibri"/>
                      </a:endParaRPr>
                    </a:p>
                  </a:txBody>
                  <a:tcP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5E0B4"/>
                    </a:solidFill>
                  </a:tcPr>
                </a:tc>
                <a:extLst>
                  <a:ext uri="{0D108BD9-81ED-4DB2-BD59-A6C34878D82A}">
                    <a16:rowId xmlns:a16="http://schemas.microsoft.com/office/drawing/2014/main" val="2297132431"/>
                  </a:ext>
                </a:extLst>
              </a:tr>
              <a:tr h="4470954">
                <a:tc>
                  <a:txBody>
                    <a:bodyPr/>
                    <a:lstStyle/>
                    <a:p>
                      <a:pPr marL="0" marR="0" lvl="0" indent="0" algn="l" rtl="0" fontAlgn="t" latinLnBrk="0">
                        <a:spcBef>
                          <a:spcPts val="0"/>
                        </a:spcBef>
                        <a:spcAft>
                          <a:spcPts val="600"/>
                        </a:spcAft>
                      </a:pPr>
                      <a:r>
                        <a:rPr lang="en-US" sz="1400" b="1">
                          <a:solidFill>
                            <a:schemeClr val="tx1"/>
                          </a:solidFill>
                          <a:effectLst/>
                          <a:latin typeface="+mn-lt"/>
                        </a:rPr>
                        <a:t>HSR4: </a:t>
                      </a:r>
                      <a:r>
                        <a:rPr lang="en-US" sz="1400">
                          <a:solidFill>
                            <a:schemeClr val="tx1"/>
                          </a:solidFill>
                          <a:effectLst/>
                          <a:latin typeface="+mn-lt"/>
                        </a:rPr>
                        <a:t>Mental and Behavioral Health</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MHBA: </a:t>
                      </a:r>
                      <a:r>
                        <a:rPr lang="en-US" sz="1400">
                          <a:solidFill>
                            <a:schemeClr val="tx1"/>
                          </a:solidFill>
                          <a:effectLst/>
                          <a:latin typeface="+mn-lt"/>
                        </a:rPr>
                        <a:t>Preclinical Mental Health</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MHBC: </a:t>
                      </a:r>
                      <a:r>
                        <a:rPr lang="en-US" sz="1400">
                          <a:solidFill>
                            <a:schemeClr val="tx1"/>
                          </a:solidFill>
                          <a:effectLst/>
                          <a:latin typeface="+mn-lt"/>
                        </a:rPr>
                        <a:t>Clinical Mental Health</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MHBP: </a:t>
                      </a:r>
                      <a:r>
                        <a:rPr lang="en-US" sz="1400">
                          <a:solidFill>
                            <a:schemeClr val="tx1"/>
                          </a:solidFill>
                          <a:effectLst/>
                          <a:latin typeface="+mn-lt"/>
                        </a:rPr>
                        <a:t>PTSD</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NURA: </a:t>
                      </a:r>
                      <a:r>
                        <a:rPr lang="en-US" sz="1400">
                          <a:solidFill>
                            <a:schemeClr val="tx1"/>
                          </a:solidFill>
                          <a:effectLst/>
                          <a:latin typeface="+mn-lt"/>
                        </a:rPr>
                        <a:t>Substance Abuse</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NURB: </a:t>
                      </a:r>
                      <a:r>
                        <a:rPr lang="en-US" sz="1400">
                          <a:solidFill>
                            <a:schemeClr val="tx1"/>
                          </a:solidFill>
                          <a:effectLst/>
                          <a:latin typeface="+mn-lt"/>
                        </a:rPr>
                        <a:t>Peripheral Neuropathy &amp; Epilepsy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NURC: </a:t>
                      </a:r>
                      <a:r>
                        <a:rPr lang="en-US" sz="1400">
                          <a:solidFill>
                            <a:schemeClr val="tx1"/>
                          </a:solidFill>
                          <a:effectLst/>
                          <a:latin typeface="+mn-lt"/>
                        </a:rPr>
                        <a:t>SCI &amp; TBI</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NURD: </a:t>
                      </a:r>
                      <a:r>
                        <a:rPr lang="en-US" sz="1400">
                          <a:solidFill>
                            <a:schemeClr val="tx1"/>
                          </a:solidFill>
                          <a:effectLst/>
                          <a:latin typeface="+mn-lt"/>
                        </a:rPr>
                        <a:t>Alzheimer’s Disease, Dementia, Aging Brain, Neurodegeneration and Cognitive Dysfunction</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NURE: </a:t>
                      </a:r>
                      <a:r>
                        <a:rPr lang="en-US" sz="1400">
                          <a:solidFill>
                            <a:schemeClr val="tx1"/>
                          </a:solidFill>
                          <a:effectLst/>
                          <a:latin typeface="+mn-lt"/>
                        </a:rPr>
                        <a:t>Movement Disorders, Parkinson’s, Huntington’s, ALS, Dystonia, Neurodegeneration</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NURF: </a:t>
                      </a:r>
                      <a:r>
                        <a:rPr lang="en-US" sz="1400">
                          <a:solidFill>
                            <a:schemeClr val="tx1"/>
                          </a:solidFill>
                          <a:effectLst/>
                          <a:latin typeface="+mn-lt"/>
                        </a:rPr>
                        <a:t>Sensory Dysfunction</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NURR: </a:t>
                      </a:r>
                      <a:r>
                        <a:rPr lang="en-US" sz="1400">
                          <a:solidFill>
                            <a:schemeClr val="tx1"/>
                          </a:solidFill>
                          <a:effectLst/>
                          <a:latin typeface="+mn-lt"/>
                        </a:rPr>
                        <a:t>Sleep</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NURP: </a:t>
                      </a:r>
                      <a:r>
                        <a:rPr lang="en-US" sz="1400">
                          <a:solidFill>
                            <a:schemeClr val="tx1"/>
                          </a:solidFill>
                          <a:effectLst/>
                          <a:latin typeface="+mn-lt"/>
                        </a:rPr>
                        <a:t>Pain</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RRD1/B:</a:t>
                      </a:r>
                      <a:r>
                        <a:rPr lang="en-US" sz="1400">
                          <a:solidFill>
                            <a:schemeClr val="tx1"/>
                          </a:solidFill>
                          <a:effectLst/>
                          <a:latin typeface="+mn-lt"/>
                        </a:rPr>
                        <a:t> Brain Health</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RRD4: </a:t>
                      </a:r>
                      <a:r>
                        <a:rPr lang="en-US" sz="1400">
                          <a:solidFill>
                            <a:schemeClr val="tx1"/>
                          </a:solidFill>
                          <a:effectLst/>
                          <a:latin typeface="+mn-lt"/>
                        </a:rPr>
                        <a:t>Behavioral Health &amp; Social Reintegration</a:t>
                      </a:r>
                      <a:endParaRPr lang="en-US" sz="1800">
                        <a:solidFill>
                          <a:schemeClr val="tx1"/>
                        </a:solidFill>
                        <a:effectLst/>
                        <a:latin typeface="+mn-lt"/>
                      </a:endParaRPr>
                    </a:p>
                  </a:txBody>
                  <a:tcPr>
                    <a:lnL w="12700" cap="flat" cmpd="sng" algn="ctr">
                      <a:solidFill>
                        <a:schemeClr val="tx1"/>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marL="0" lvl="0" indent="0" algn="l" rtl="0" fontAlgn="t" latinLnBrk="0">
                        <a:spcBef>
                          <a:spcPts val="0"/>
                        </a:spcBef>
                        <a:spcAft>
                          <a:spcPts val="600"/>
                        </a:spcAft>
                      </a:pPr>
                      <a:r>
                        <a:rPr lang="en-US" sz="1400" b="1">
                          <a:solidFill>
                            <a:schemeClr val="tx1"/>
                          </a:solidFill>
                          <a:effectLst/>
                          <a:latin typeface="+mn-lt"/>
                        </a:rPr>
                        <a:t>HSR1: </a:t>
                      </a:r>
                      <a:r>
                        <a:rPr lang="en-US" sz="1400">
                          <a:solidFill>
                            <a:schemeClr val="tx1"/>
                          </a:solidFill>
                          <a:effectLst/>
                          <a:latin typeface="+mn-lt"/>
                        </a:rPr>
                        <a:t>Health Care &amp; Clinical Management</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HSR2: </a:t>
                      </a:r>
                      <a:r>
                        <a:rPr lang="en-US" sz="1400">
                          <a:solidFill>
                            <a:schemeClr val="tx1"/>
                          </a:solidFill>
                          <a:effectLst/>
                          <a:latin typeface="+mn-lt"/>
                        </a:rPr>
                        <a:t>Behavioral, Social &amp; Cultural Determinants of Health</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HSR3: </a:t>
                      </a:r>
                      <a:r>
                        <a:rPr lang="en-US" sz="1400">
                          <a:solidFill>
                            <a:schemeClr val="tx1"/>
                          </a:solidFill>
                          <a:effectLst/>
                          <a:latin typeface="+mn-lt"/>
                        </a:rPr>
                        <a:t>Health Care Informatics</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HSR5: </a:t>
                      </a:r>
                      <a:r>
                        <a:rPr lang="en-US" sz="1400">
                          <a:solidFill>
                            <a:schemeClr val="tx1"/>
                          </a:solidFill>
                          <a:effectLst/>
                          <a:latin typeface="+mn-lt"/>
                        </a:rPr>
                        <a:t>Health Care System Organization &amp; Delivery and Women's Health</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HSR6: </a:t>
                      </a:r>
                      <a:r>
                        <a:rPr lang="en-US" sz="1400">
                          <a:solidFill>
                            <a:schemeClr val="tx1"/>
                          </a:solidFill>
                          <a:effectLst/>
                          <a:latin typeface="+mn-lt"/>
                        </a:rPr>
                        <a:t>Long Term Care &amp; Aging &amp; Support Services</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HSR7: </a:t>
                      </a:r>
                      <a:r>
                        <a:rPr lang="en-US" sz="1400">
                          <a:solidFill>
                            <a:schemeClr val="tx1"/>
                          </a:solidFill>
                          <a:effectLst/>
                          <a:latin typeface="+mn-lt"/>
                        </a:rPr>
                        <a:t>Special Emphasis Topics</a:t>
                      </a:r>
                      <a:endParaRPr lang="en-US" sz="1800">
                        <a:solidFill>
                          <a:schemeClr val="tx1"/>
                        </a:solidFill>
                        <a:effectLst/>
                        <a:latin typeface="+mn-lt"/>
                      </a:endParaRPr>
                    </a:p>
                    <a:p>
                      <a:pPr marL="0" lvl="0" indent="0" algn="l">
                        <a:spcBef>
                          <a:spcPts val="0"/>
                        </a:spcBef>
                        <a:spcAft>
                          <a:spcPts val="600"/>
                        </a:spcAft>
                        <a:buNone/>
                      </a:pPr>
                      <a:r>
                        <a:rPr lang="en-US" sz="1400" b="1" i="0" u="none" strike="noStrike" noProof="0">
                          <a:solidFill>
                            <a:schemeClr val="tx1"/>
                          </a:solidFill>
                          <a:effectLst/>
                          <a:latin typeface="+mn-lt"/>
                        </a:rPr>
                        <a:t>HSR8: </a:t>
                      </a:r>
                      <a:r>
                        <a:rPr lang="en-US" sz="1400" b="0" i="0" u="none" strike="noStrike" noProof="0">
                          <a:solidFill>
                            <a:schemeClr val="tx1"/>
                          </a:solidFill>
                          <a:effectLst/>
                          <a:latin typeface="+mn-lt"/>
                        </a:rPr>
                        <a:t>QUERI</a:t>
                      </a:r>
                      <a:endParaRPr lang="en-US">
                        <a:solidFill>
                          <a:schemeClr val="tx1"/>
                        </a:solidFill>
                        <a:latin typeface="+mn-lt"/>
                      </a:endParaRPr>
                    </a:p>
                    <a:p>
                      <a:pPr marL="0" lvl="0" indent="0" algn="l" rtl="0" fontAlgn="t" latinLnBrk="0">
                        <a:spcBef>
                          <a:spcPts val="0"/>
                        </a:spcBef>
                        <a:spcAft>
                          <a:spcPts val="600"/>
                        </a:spcAft>
                      </a:pPr>
                      <a:r>
                        <a:rPr lang="en-US" sz="1400" b="1">
                          <a:solidFill>
                            <a:schemeClr val="tx1"/>
                          </a:solidFill>
                          <a:effectLst/>
                          <a:latin typeface="+mn-lt"/>
                        </a:rPr>
                        <a:t>MRA0: </a:t>
                      </a:r>
                      <a:r>
                        <a:rPr lang="en-US" sz="1400">
                          <a:solidFill>
                            <a:schemeClr val="tx1"/>
                          </a:solidFill>
                          <a:effectLst/>
                          <a:latin typeface="+mn-lt"/>
                        </a:rPr>
                        <a:t>Career Development</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HQ5, HQ8: </a:t>
                      </a:r>
                      <a:r>
                        <a:rPr lang="en-US" sz="1400">
                          <a:solidFill>
                            <a:schemeClr val="tx1"/>
                          </a:solidFill>
                          <a:effectLst/>
                          <a:latin typeface="+mn-lt"/>
                        </a:rPr>
                        <a:t>QUERI</a:t>
                      </a:r>
                      <a:endParaRPr lang="en-US" sz="180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marL="0" lvl="0" indent="0" algn="l" rtl="0" fontAlgn="t" latinLnBrk="0">
                        <a:spcBef>
                          <a:spcPts val="0"/>
                        </a:spcBef>
                        <a:spcAft>
                          <a:spcPts val="600"/>
                        </a:spcAft>
                      </a:pPr>
                      <a:r>
                        <a:rPr lang="en-US" sz="1400" b="1">
                          <a:solidFill>
                            <a:schemeClr val="tx1"/>
                          </a:solidFill>
                          <a:effectLst/>
                          <a:latin typeface="+mn-lt"/>
                        </a:rPr>
                        <a:t>CARA/B: </a:t>
                      </a:r>
                      <a:r>
                        <a:rPr lang="en-US" sz="1400">
                          <a:solidFill>
                            <a:schemeClr val="tx1"/>
                          </a:solidFill>
                          <a:effectLst/>
                          <a:latin typeface="+mn-lt"/>
                        </a:rPr>
                        <a:t>Cardiology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CAMM: </a:t>
                      </a:r>
                      <a:r>
                        <a:rPr lang="en-US" sz="1400">
                          <a:solidFill>
                            <a:schemeClr val="tx1"/>
                          </a:solidFill>
                          <a:effectLst/>
                          <a:latin typeface="+mn-lt"/>
                        </a:rPr>
                        <a:t>Cellular &amp; Molecular Medicine, Geroscience</a:t>
                      </a:r>
                      <a:endParaRPr lang="en-US" sz="1800">
                        <a:solidFill>
                          <a:schemeClr val="tx1"/>
                        </a:solidFill>
                        <a:effectLst/>
                        <a:latin typeface="+mn-lt"/>
                      </a:endParaRPr>
                    </a:p>
                    <a:p>
                      <a:pPr marL="0" marR="0" lvl="0" indent="0" algn="l" rtl="0" fontAlgn="t" latinLnBrk="0">
                        <a:spcBef>
                          <a:spcPts val="0"/>
                        </a:spcBef>
                        <a:spcAft>
                          <a:spcPts val="600"/>
                        </a:spcAft>
                      </a:pPr>
                      <a:r>
                        <a:rPr lang="en-US" sz="1400" b="1" spc="0">
                          <a:solidFill>
                            <a:schemeClr val="tx1"/>
                          </a:solidFill>
                          <a:effectLst/>
                          <a:latin typeface="+mn-lt"/>
                        </a:rPr>
                        <a:t>ENDA: </a:t>
                      </a:r>
                      <a:r>
                        <a:rPr lang="en-US" sz="1400" spc="0">
                          <a:solidFill>
                            <a:schemeClr val="tx1"/>
                          </a:solidFill>
                          <a:effectLst/>
                          <a:latin typeface="+mn-lt"/>
                        </a:rPr>
                        <a:t>Endocrinology,</a:t>
                      </a:r>
                      <a:endParaRPr lang="en-US" sz="1800">
                        <a:solidFill>
                          <a:schemeClr val="tx1"/>
                        </a:solidFill>
                        <a:effectLst/>
                        <a:latin typeface="+mn-lt"/>
                      </a:endParaRPr>
                    </a:p>
                    <a:p>
                      <a:pPr marL="0" marR="0" lvl="0" indent="0" algn="l" rtl="0" fontAlgn="t" latinLnBrk="0">
                        <a:spcBef>
                          <a:spcPts val="0"/>
                        </a:spcBef>
                        <a:spcAft>
                          <a:spcPts val="600"/>
                        </a:spcAft>
                      </a:pPr>
                      <a:r>
                        <a:rPr lang="en-US" sz="1400" b="1" spc="0">
                          <a:solidFill>
                            <a:schemeClr val="tx1"/>
                          </a:solidFill>
                          <a:effectLst/>
                          <a:latin typeface="+mn-lt"/>
                        </a:rPr>
                        <a:t>ENDB:</a:t>
                      </a:r>
                      <a:r>
                        <a:rPr lang="en-US" sz="1400" spc="0">
                          <a:solidFill>
                            <a:schemeClr val="tx1"/>
                          </a:solidFill>
                          <a:effectLst/>
                          <a:latin typeface="+mn-lt"/>
                        </a:rPr>
                        <a:t> Frailty, musculoskeletal health</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GAST: </a:t>
                      </a:r>
                      <a:r>
                        <a:rPr lang="en-US" sz="1400">
                          <a:solidFill>
                            <a:schemeClr val="tx1"/>
                          </a:solidFill>
                          <a:effectLst/>
                          <a:latin typeface="+mn-lt"/>
                        </a:rPr>
                        <a:t>Gastroenterology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HEMA: </a:t>
                      </a:r>
                      <a:r>
                        <a:rPr lang="en-US" sz="1400">
                          <a:solidFill>
                            <a:schemeClr val="tx1"/>
                          </a:solidFill>
                          <a:effectLst/>
                          <a:latin typeface="+mn-lt"/>
                        </a:rPr>
                        <a:t>Hematology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IMMA: </a:t>
                      </a:r>
                      <a:r>
                        <a:rPr lang="en-US" sz="1400">
                          <a:solidFill>
                            <a:schemeClr val="tx1"/>
                          </a:solidFill>
                          <a:effectLst/>
                          <a:latin typeface="+mn-lt"/>
                        </a:rPr>
                        <a:t>Immunology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INFA/B: </a:t>
                      </a:r>
                      <a:r>
                        <a:rPr lang="en-US" sz="1400">
                          <a:solidFill>
                            <a:schemeClr val="tx1"/>
                          </a:solidFill>
                          <a:effectLst/>
                          <a:latin typeface="+mn-lt"/>
                        </a:rPr>
                        <a:t>Infectious Diseases</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NEPH: </a:t>
                      </a:r>
                      <a:r>
                        <a:rPr lang="en-US" sz="1400">
                          <a:solidFill>
                            <a:schemeClr val="tx1"/>
                          </a:solidFill>
                          <a:effectLst/>
                          <a:latin typeface="+mn-lt"/>
                        </a:rPr>
                        <a:t>Nephrology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ONCA/B/C/D/E: </a:t>
                      </a:r>
                      <a:r>
                        <a:rPr lang="en-US" sz="1400">
                          <a:solidFill>
                            <a:schemeClr val="tx1"/>
                          </a:solidFill>
                          <a:effectLst/>
                          <a:latin typeface="+mn-lt"/>
                        </a:rPr>
                        <a:t>Oncology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PULM: </a:t>
                      </a:r>
                      <a:r>
                        <a:rPr lang="en-US" sz="1400">
                          <a:solidFill>
                            <a:schemeClr val="tx1"/>
                          </a:solidFill>
                          <a:effectLst/>
                          <a:latin typeface="+mn-lt"/>
                        </a:rPr>
                        <a:t>Pulmonology</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SPLD: </a:t>
                      </a:r>
                      <a:r>
                        <a:rPr lang="en-US" sz="1400">
                          <a:solidFill>
                            <a:schemeClr val="tx1"/>
                          </a:solidFill>
                          <a:effectLst/>
                          <a:latin typeface="+mn-lt"/>
                        </a:rPr>
                        <a:t>GW</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SURG: </a:t>
                      </a:r>
                      <a:r>
                        <a:rPr lang="en-US" sz="1400">
                          <a:solidFill>
                            <a:schemeClr val="tx1"/>
                          </a:solidFill>
                          <a:effectLst/>
                          <a:latin typeface="+mn-lt"/>
                        </a:rPr>
                        <a:t>Surgery</a:t>
                      </a:r>
                      <a:endParaRPr lang="en-US" sz="1800">
                        <a:solidFill>
                          <a:schemeClr val="tx1"/>
                        </a:solidFill>
                        <a:effectLst/>
                        <a:latin typeface="+mn-lt"/>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tc>
                  <a:txBody>
                    <a:bodyPr/>
                    <a:lstStyle/>
                    <a:p>
                      <a:pPr marL="0" lvl="0" indent="0" algn="l" rtl="0" fontAlgn="t" latinLnBrk="0">
                        <a:spcBef>
                          <a:spcPts val="0"/>
                        </a:spcBef>
                        <a:spcAft>
                          <a:spcPts val="600"/>
                        </a:spcAft>
                      </a:pPr>
                      <a:r>
                        <a:rPr lang="en-US" sz="1400" b="1">
                          <a:solidFill>
                            <a:schemeClr val="tx1"/>
                          </a:solidFill>
                          <a:effectLst/>
                          <a:latin typeface="+mn-lt"/>
                        </a:rPr>
                        <a:t>RRDA: </a:t>
                      </a:r>
                      <a:r>
                        <a:rPr lang="en-US" sz="1400" b="0" i="0" u="none" strike="noStrike" noProof="0">
                          <a:solidFill>
                            <a:schemeClr val="tx1"/>
                          </a:solidFill>
                          <a:effectLst/>
                          <a:latin typeface="+mn-lt"/>
                        </a:rPr>
                        <a:t>Spinal Cord Injuries/Disorders &amp; Neuropathic Pain</a:t>
                      </a:r>
                      <a:endParaRPr lang="en-US" sz="1800" b="0" i="0" u="none" strike="noStrike" noProof="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RRD0: </a:t>
                      </a:r>
                      <a:r>
                        <a:rPr lang="en-US" sz="1400" b="0" i="0" u="none" strike="noStrike" noProof="0">
                          <a:solidFill>
                            <a:schemeClr val="tx1"/>
                          </a:solidFill>
                          <a:effectLst/>
                          <a:latin typeface="+mn-lt"/>
                        </a:rPr>
                        <a:t>Regenerative Rehabilitation Medicine</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RRD2: </a:t>
                      </a:r>
                      <a:r>
                        <a:rPr lang="en-US" sz="1400">
                          <a:solidFill>
                            <a:schemeClr val="tx1"/>
                          </a:solidFill>
                          <a:effectLst/>
                          <a:latin typeface="+mn-lt"/>
                        </a:rPr>
                        <a:t>Musculoskeletal Health &amp; Injury</a:t>
                      </a:r>
                      <a:endParaRPr lang="en-US" sz="1800">
                        <a:solidFill>
                          <a:schemeClr val="tx1"/>
                        </a:solidFill>
                        <a:effectLst/>
                        <a:latin typeface="+mn-lt"/>
                      </a:endParaRPr>
                    </a:p>
                    <a:p>
                      <a:pPr marL="0" marR="0" lvl="0" indent="0" algn="l" rtl="0" fontAlgn="t" latinLnBrk="0">
                        <a:spcBef>
                          <a:spcPts val="0"/>
                        </a:spcBef>
                        <a:spcAft>
                          <a:spcPts val="600"/>
                        </a:spcAft>
                      </a:pPr>
                      <a:r>
                        <a:rPr lang="en-US" sz="1400" b="1" spc="0">
                          <a:solidFill>
                            <a:schemeClr val="tx1"/>
                          </a:solidFill>
                          <a:effectLst/>
                          <a:latin typeface="+mn-lt"/>
                        </a:rPr>
                        <a:t>RRD3: </a:t>
                      </a:r>
                      <a:r>
                        <a:rPr lang="en-US" sz="1400" spc="0">
                          <a:solidFill>
                            <a:schemeClr val="tx1"/>
                          </a:solidFill>
                          <a:effectLst/>
                          <a:latin typeface="+mn-lt"/>
                        </a:rPr>
                        <a:t>Sensory Systems &amp; Communications Disorders</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RRD5: </a:t>
                      </a:r>
                      <a:r>
                        <a:rPr lang="en-US" sz="1400" b="0" i="0" u="none" strike="noStrike" noProof="0">
                          <a:solidFill>
                            <a:schemeClr val="tx1"/>
                          </a:solidFill>
                          <a:effectLst/>
                          <a:latin typeface="+mn-lt"/>
                        </a:rPr>
                        <a:t>Rehabilitation Engineering &amp; Prosthetics/Orthotics</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RRD6: </a:t>
                      </a:r>
                      <a:r>
                        <a:rPr lang="en-US" sz="1400">
                          <a:solidFill>
                            <a:schemeClr val="tx1"/>
                          </a:solidFill>
                          <a:effectLst/>
                          <a:latin typeface="+mn-lt"/>
                        </a:rPr>
                        <a:t>Chronic Medical Conditions &amp; Aging</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RRD7: </a:t>
                      </a:r>
                      <a:r>
                        <a:rPr lang="en-US" sz="1400">
                          <a:solidFill>
                            <a:schemeClr val="tx1"/>
                          </a:solidFill>
                          <a:effectLst/>
                          <a:latin typeface="+mn-lt"/>
                        </a:rPr>
                        <a:t>Research Career Scientist</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RRD8: </a:t>
                      </a:r>
                      <a:r>
                        <a:rPr lang="en-US" sz="1400">
                          <a:solidFill>
                            <a:schemeClr val="tx1"/>
                          </a:solidFill>
                          <a:effectLst/>
                          <a:latin typeface="+mn-lt"/>
                        </a:rPr>
                        <a:t>Career Development Program- Panel 1</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RRD9:</a:t>
                      </a:r>
                      <a:r>
                        <a:rPr lang="en-US" sz="1400">
                          <a:solidFill>
                            <a:schemeClr val="tx1"/>
                          </a:solidFill>
                          <a:effectLst/>
                          <a:latin typeface="+mn-lt"/>
                        </a:rPr>
                        <a:t> Career Development Program – Panel 2</a:t>
                      </a:r>
                      <a:endParaRPr lang="en-US" sz="1800">
                        <a:solidFill>
                          <a:schemeClr val="tx1"/>
                        </a:solidFill>
                        <a:effectLst/>
                        <a:latin typeface="+mn-lt"/>
                      </a:endParaRPr>
                    </a:p>
                    <a:p>
                      <a:pPr marL="0" lvl="0" indent="0" algn="l" rtl="0" fontAlgn="t" latinLnBrk="0">
                        <a:spcBef>
                          <a:spcPts val="0"/>
                        </a:spcBef>
                        <a:spcAft>
                          <a:spcPts val="600"/>
                        </a:spcAft>
                      </a:pPr>
                      <a:r>
                        <a:rPr lang="en-US" sz="1400" b="1">
                          <a:solidFill>
                            <a:schemeClr val="tx1"/>
                          </a:solidFill>
                          <a:effectLst/>
                          <a:latin typeface="+mn-lt"/>
                        </a:rPr>
                        <a:t>RRDC: </a:t>
                      </a:r>
                      <a:r>
                        <a:rPr lang="en-US" sz="1400">
                          <a:solidFill>
                            <a:schemeClr val="tx1"/>
                          </a:solidFill>
                          <a:effectLst/>
                          <a:latin typeface="+mn-lt"/>
                        </a:rPr>
                        <a:t>Centers/REAPs</a:t>
                      </a:r>
                    </a:p>
                    <a:p>
                      <a:pPr marL="0" lvl="0" indent="0" algn="l">
                        <a:spcBef>
                          <a:spcPts val="0"/>
                        </a:spcBef>
                        <a:spcAft>
                          <a:spcPts val="600"/>
                        </a:spcAft>
                        <a:buNone/>
                      </a:pPr>
                      <a:r>
                        <a:rPr lang="en-US" sz="1400" b="1" i="0" u="none" strike="noStrike" noProof="0">
                          <a:solidFill>
                            <a:schemeClr val="tx1"/>
                          </a:solidFill>
                          <a:effectLst/>
                          <a:latin typeface="+mn-lt"/>
                        </a:rPr>
                        <a:t>MRA1: </a:t>
                      </a:r>
                      <a:r>
                        <a:rPr lang="en-US" sz="1400" b="0" i="0" u="none" strike="noStrike" noProof="0">
                          <a:solidFill>
                            <a:schemeClr val="tx1"/>
                          </a:solidFill>
                          <a:effectLst/>
                          <a:latin typeface="+mn-lt"/>
                        </a:rPr>
                        <a:t>Mentored Physician and Clinical Psychologist Scientist Award in Alzheimer’s Disease and Related Dementias (MPCPS-ADRD)</a:t>
                      </a:r>
                      <a:endParaRPr lang="en-US">
                        <a:solidFill>
                          <a:schemeClr val="tx1"/>
                        </a:solidFill>
                        <a:latin typeface="+mn-lt"/>
                      </a:endParaRPr>
                    </a:p>
                  </a:txBody>
                  <a:tcPr>
                    <a:lnL w="12700" cap="flat" cmpd="sng" algn="ctr">
                      <a:solidFill>
                        <a:srgbClr val="FFFFFF"/>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3910418901"/>
                  </a:ext>
                </a:extLst>
              </a:tr>
            </a:tbl>
          </a:graphicData>
        </a:graphic>
      </p:graphicFrame>
      <p:sp>
        <p:nvSpPr>
          <p:cNvPr id="2" name="Slide Number Placeholder 2">
            <a:extLst>
              <a:ext uri="{FF2B5EF4-FFF2-40B4-BE49-F238E27FC236}">
                <a16:creationId xmlns:a16="http://schemas.microsoft.com/office/drawing/2014/main" id="{F10957CF-6352-ECCF-2C4D-463C9AE15A9F}"/>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12</a:t>
            </a:fld>
            <a:endParaRPr lang="en-US"/>
          </a:p>
        </p:txBody>
      </p:sp>
    </p:spTree>
    <p:extLst>
      <p:ext uri="{BB962C8B-B14F-4D97-AF65-F5344CB8AC3E}">
        <p14:creationId xmlns:p14="http://schemas.microsoft.com/office/powerpoint/2010/main" val="972780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C4B8E60-DA56-C7CD-7B50-F63E233AFB3C}"/>
              </a:ext>
            </a:extLst>
          </p:cNvPr>
          <p:cNvSpPr>
            <a:spLocks noGrp="1"/>
          </p:cNvSpPr>
          <p:nvPr>
            <p:ph type="title"/>
          </p:nvPr>
        </p:nvSpPr>
        <p:spPr/>
        <p:txBody>
          <a:bodyPr/>
          <a:lstStyle/>
          <a:p>
            <a:r>
              <a:rPr lang="en-US" dirty="0"/>
              <a:t>Shared Governance Structure</a:t>
            </a:r>
          </a:p>
        </p:txBody>
      </p:sp>
      <p:graphicFrame>
        <p:nvGraphicFramePr>
          <p:cNvPr id="8" name="Content Placeholder 7">
            <a:extLst>
              <a:ext uri="{FF2B5EF4-FFF2-40B4-BE49-F238E27FC236}">
                <a16:creationId xmlns:a16="http://schemas.microsoft.com/office/drawing/2014/main" id="{39956043-2C0A-2DB3-33A4-70662EFDC45A}"/>
              </a:ext>
            </a:extLst>
          </p:cNvPr>
          <p:cNvGraphicFramePr>
            <a:graphicFrameLocks noGrp="1"/>
          </p:cNvGraphicFramePr>
          <p:nvPr>
            <p:ph idx="1"/>
            <p:extLst>
              <p:ext uri="{D42A27DB-BD31-4B8C-83A1-F6EECF244321}">
                <p14:modId xmlns:p14="http://schemas.microsoft.com/office/powerpoint/2010/main" val="3941445409"/>
              </p:ext>
            </p:extLst>
          </p:nvPr>
        </p:nvGraphicFramePr>
        <p:xfrm>
          <a:off x="371474" y="1312837"/>
          <a:ext cx="11269145"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Slide Number Placeholder 4">
            <a:extLst>
              <a:ext uri="{FF2B5EF4-FFF2-40B4-BE49-F238E27FC236}">
                <a16:creationId xmlns:a16="http://schemas.microsoft.com/office/drawing/2014/main" id="{1B39CEAA-DA85-5246-4466-007180675502}"/>
              </a:ext>
            </a:extLst>
          </p:cNvPr>
          <p:cNvSpPr>
            <a:spLocks noGrp="1"/>
          </p:cNvSpPr>
          <p:nvPr>
            <p:ph type="sldNum" sz="quarter" idx="12"/>
          </p:nvPr>
        </p:nvSpPr>
        <p:spPr/>
        <p:txBody>
          <a:bodyPr/>
          <a:lstStyle/>
          <a:p>
            <a:fld id="{670A9334-4E67-F94F-A05E-0CE8B74A054E}" type="slidenum">
              <a:rPr lang="en-US" smtClean="0"/>
              <a:pPr/>
              <a:t>13</a:t>
            </a:fld>
            <a:endParaRPr lang="en-US"/>
          </a:p>
        </p:txBody>
      </p:sp>
      <p:sp>
        <p:nvSpPr>
          <p:cNvPr id="2" name="TextBox 1">
            <a:extLst>
              <a:ext uri="{FF2B5EF4-FFF2-40B4-BE49-F238E27FC236}">
                <a16:creationId xmlns:a16="http://schemas.microsoft.com/office/drawing/2014/main" id="{F15FFFB4-1B77-AE97-39BC-E5F6B21FA915}"/>
              </a:ext>
            </a:extLst>
          </p:cNvPr>
          <p:cNvSpPr txBox="1"/>
          <p:nvPr/>
        </p:nvSpPr>
        <p:spPr>
          <a:xfrm>
            <a:off x="778460" y="4215865"/>
            <a:ext cx="4850815" cy="584775"/>
          </a:xfrm>
          <a:prstGeom prst="rect">
            <a:avLst/>
          </a:prstGeom>
          <a:noFill/>
        </p:spPr>
        <p:txBody>
          <a:bodyPr wrap="none" rtlCol="0">
            <a:spAutoFit/>
          </a:bodyPr>
          <a:lstStyle/>
          <a:p>
            <a:r>
              <a:rPr lang="en-US" sz="3200" dirty="0"/>
              <a:t>Actively Managed Portfolios</a:t>
            </a:r>
          </a:p>
        </p:txBody>
      </p:sp>
      <p:sp>
        <p:nvSpPr>
          <p:cNvPr id="3" name="TextBox 2">
            <a:extLst>
              <a:ext uri="{FF2B5EF4-FFF2-40B4-BE49-F238E27FC236}">
                <a16:creationId xmlns:a16="http://schemas.microsoft.com/office/drawing/2014/main" id="{E4228D87-0DC8-32E8-25B9-19AA54077F9B}"/>
              </a:ext>
            </a:extLst>
          </p:cNvPr>
          <p:cNvSpPr txBox="1"/>
          <p:nvPr/>
        </p:nvSpPr>
        <p:spPr>
          <a:xfrm>
            <a:off x="7087937" y="4215865"/>
            <a:ext cx="2865528" cy="584775"/>
          </a:xfrm>
          <a:prstGeom prst="rect">
            <a:avLst/>
          </a:prstGeom>
          <a:noFill/>
        </p:spPr>
        <p:txBody>
          <a:bodyPr wrap="none" rtlCol="0">
            <a:spAutoFit/>
          </a:bodyPr>
          <a:lstStyle/>
          <a:p>
            <a:r>
              <a:rPr lang="en-US" sz="3200" dirty="0"/>
              <a:t>Broad Portfolios</a:t>
            </a:r>
          </a:p>
        </p:txBody>
      </p:sp>
      <p:sp>
        <p:nvSpPr>
          <p:cNvPr id="4" name="TextBox 3">
            <a:extLst>
              <a:ext uri="{FF2B5EF4-FFF2-40B4-BE49-F238E27FC236}">
                <a16:creationId xmlns:a16="http://schemas.microsoft.com/office/drawing/2014/main" id="{F807D5B9-65C2-717F-1F4B-3BC66BEF5343}"/>
              </a:ext>
            </a:extLst>
          </p:cNvPr>
          <p:cNvSpPr txBox="1"/>
          <p:nvPr/>
        </p:nvSpPr>
        <p:spPr>
          <a:xfrm>
            <a:off x="2274477" y="4714348"/>
            <a:ext cx="1858779" cy="369332"/>
          </a:xfrm>
          <a:prstGeom prst="rect">
            <a:avLst/>
          </a:prstGeom>
          <a:noFill/>
        </p:spPr>
        <p:txBody>
          <a:bodyPr wrap="none" rtlCol="0">
            <a:spAutoFit/>
          </a:bodyPr>
          <a:lstStyle/>
          <a:p>
            <a:r>
              <a:rPr lang="en-US" dirty="0"/>
              <a:t>Focused purviews</a:t>
            </a:r>
          </a:p>
        </p:txBody>
      </p:sp>
      <p:sp>
        <p:nvSpPr>
          <p:cNvPr id="9" name="TextBox 8">
            <a:extLst>
              <a:ext uri="{FF2B5EF4-FFF2-40B4-BE49-F238E27FC236}">
                <a16:creationId xmlns:a16="http://schemas.microsoft.com/office/drawing/2014/main" id="{301D9F06-5F94-5157-471D-77FA4A17F7B4}"/>
              </a:ext>
            </a:extLst>
          </p:cNvPr>
          <p:cNvSpPr txBox="1"/>
          <p:nvPr/>
        </p:nvSpPr>
        <p:spPr>
          <a:xfrm>
            <a:off x="7699001" y="4714294"/>
            <a:ext cx="1643399" cy="369332"/>
          </a:xfrm>
          <a:prstGeom prst="rect">
            <a:avLst/>
          </a:prstGeom>
          <a:noFill/>
        </p:spPr>
        <p:txBody>
          <a:bodyPr wrap="none" rtlCol="0">
            <a:spAutoFit/>
          </a:bodyPr>
          <a:lstStyle/>
          <a:p>
            <a:r>
              <a:rPr lang="en-US" dirty="0"/>
              <a:t>Broad purviews</a:t>
            </a:r>
          </a:p>
        </p:txBody>
      </p:sp>
      <p:sp>
        <p:nvSpPr>
          <p:cNvPr id="7" name="TextBox 6">
            <a:extLst>
              <a:ext uri="{FF2B5EF4-FFF2-40B4-BE49-F238E27FC236}">
                <a16:creationId xmlns:a16="http://schemas.microsoft.com/office/drawing/2014/main" id="{4A50A033-6D90-B0D4-36AB-C06F9966399F}"/>
              </a:ext>
            </a:extLst>
          </p:cNvPr>
          <p:cNvSpPr txBox="1"/>
          <p:nvPr/>
        </p:nvSpPr>
        <p:spPr>
          <a:xfrm>
            <a:off x="4343058" y="1517856"/>
            <a:ext cx="3325975" cy="830997"/>
          </a:xfrm>
          <a:prstGeom prst="rect">
            <a:avLst/>
          </a:prstGeom>
          <a:noFill/>
        </p:spPr>
        <p:txBody>
          <a:bodyPr wrap="none" rtlCol="0">
            <a:spAutoFit/>
          </a:bodyPr>
          <a:lstStyle/>
          <a:p>
            <a:r>
              <a:rPr lang="en-US" sz="3200" dirty="0"/>
              <a:t>Leadership Council</a:t>
            </a:r>
          </a:p>
          <a:p>
            <a:pPr algn="ctr"/>
            <a:r>
              <a:rPr lang="en-US" sz="1600" dirty="0"/>
              <a:t>Shared Governance</a:t>
            </a:r>
          </a:p>
        </p:txBody>
      </p:sp>
    </p:spTree>
    <p:extLst>
      <p:ext uri="{BB962C8B-B14F-4D97-AF65-F5344CB8AC3E}">
        <p14:creationId xmlns:p14="http://schemas.microsoft.com/office/powerpoint/2010/main" val="2896119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76DF13C-0B7C-01F1-2A08-ECE4E08E68CA}"/>
              </a:ext>
            </a:extLst>
          </p:cNvPr>
          <p:cNvSpPr>
            <a:spLocks noGrp="1"/>
          </p:cNvSpPr>
          <p:nvPr>
            <p:ph type="title"/>
          </p:nvPr>
        </p:nvSpPr>
        <p:spPr>
          <a:xfrm>
            <a:off x="739775" y="-269875"/>
            <a:ext cx="10515600" cy="1325563"/>
          </a:xfrm>
        </p:spPr>
        <p:txBody>
          <a:bodyPr/>
          <a:lstStyle/>
          <a:p>
            <a:r>
              <a:rPr lang="en-US" sz="3200"/>
              <a:t>ISRM Leadership Council</a:t>
            </a:r>
          </a:p>
        </p:txBody>
      </p:sp>
      <p:sp>
        <p:nvSpPr>
          <p:cNvPr id="11" name="Content Placeholder 10">
            <a:extLst>
              <a:ext uri="{FF2B5EF4-FFF2-40B4-BE49-F238E27FC236}">
                <a16:creationId xmlns:a16="http://schemas.microsoft.com/office/drawing/2014/main" id="{09EB36D2-D5EF-0190-6656-26CD9C3335DF}"/>
              </a:ext>
            </a:extLst>
          </p:cNvPr>
          <p:cNvSpPr>
            <a:spLocks noGrp="1"/>
          </p:cNvSpPr>
          <p:nvPr>
            <p:ph sz="quarter" idx="4"/>
          </p:nvPr>
        </p:nvSpPr>
        <p:spPr>
          <a:xfrm>
            <a:off x="6095999" y="1205706"/>
            <a:ext cx="5756031" cy="4433094"/>
          </a:xfrm>
        </p:spPr>
        <p:txBody>
          <a:bodyPr/>
          <a:lstStyle/>
          <a:p>
            <a:r>
              <a:rPr lang="en-US" b="1"/>
              <a:t>Structure:</a:t>
            </a:r>
          </a:p>
          <a:p>
            <a:pPr lvl="1"/>
            <a:r>
              <a:rPr lang="en-US"/>
              <a:t>DCRADO, Director of Research Integration, Director of Operations Portfolio Directors, Program Directors are voting members</a:t>
            </a:r>
          </a:p>
          <a:p>
            <a:pPr lvl="1"/>
            <a:r>
              <a:rPr lang="en-US"/>
              <a:t>Deputy Directors for BPs are non-voting members</a:t>
            </a:r>
          </a:p>
          <a:p>
            <a:r>
              <a:rPr lang="en-US" b="1"/>
              <a:t>Functions:</a:t>
            </a:r>
          </a:p>
          <a:p>
            <a:pPr lvl="1"/>
            <a:r>
              <a:rPr lang="en-US"/>
              <a:t>Oversight of portfolio activities</a:t>
            </a:r>
          </a:p>
          <a:p>
            <a:pPr lvl="1"/>
            <a:r>
              <a:rPr lang="en-US"/>
              <a:t>Promoting cross-portfolio communications</a:t>
            </a:r>
          </a:p>
          <a:p>
            <a:pPr lvl="1"/>
            <a:r>
              <a:rPr lang="en-US"/>
              <a:t>Communication with ORD leadership</a:t>
            </a:r>
          </a:p>
          <a:p>
            <a:pPr lvl="1"/>
            <a:endParaRPr lang="en-US"/>
          </a:p>
        </p:txBody>
      </p:sp>
      <p:graphicFrame>
        <p:nvGraphicFramePr>
          <p:cNvPr id="24" name="Content Placeholder 7">
            <a:extLst>
              <a:ext uri="{FF2B5EF4-FFF2-40B4-BE49-F238E27FC236}">
                <a16:creationId xmlns:a16="http://schemas.microsoft.com/office/drawing/2014/main" id="{8D85AFFF-CF3B-AE4A-6AF1-C4444BAE959E}"/>
              </a:ext>
            </a:extLst>
          </p:cNvPr>
          <p:cNvGraphicFramePr>
            <a:graphicFrameLocks noGrp="1"/>
          </p:cNvGraphicFramePr>
          <p:nvPr>
            <p:ph sz="half" idx="2"/>
          </p:nvPr>
        </p:nvGraphicFramePr>
        <p:xfrm>
          <a:off x="739775" y="1199057"/>
          <a:ext cx="4683872" cy="40363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2">
            <a:extLst>
              <a:ext uri="{FF2B5EF4-FFF2-40B4-BE49-F238E27FC236}">
                <a16:creationId xmlns:a16="http://schemas.microsoft.com/office/drawing/2014/main" id="{5C7EF5CD-AF2B-7A7E-6838-B247A640F2E1}"/>
              </a:ext>
            </a:extLst>
          </p:cNvPr>
          <p:cNvSpPr txBox="1">
            <a:spLocks/>
          </p:cNvSpPr>
          <p:nvPr/>
        </p:nvSpPr>
        <p:spPr>
          <a:xfrm>
            <a:off x="927474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14</a:t>
            </a:fld>
            <a:endParaRPr lang="en-US"/>
          </a:p>
        </p:txBody>
      </p:sp>
    </p:spTree>
    <p:extLst>
      <p:ext uri="{BB962C8B-B14F-4D97-AF65-F5344CB8AC3E}">
        <p14:creationId xmlns:p14="http://schemas.microsoft.com/office/powerpoint/2010/main" val="928673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BC412D-8C9A-5F39-497C-52FCDD7C685E}"/>
              </a:ext>
            </a:extLst>
          </p:cNvPr>
          <p:cNvSpPr>
            <a:spLocks noGrp="1"/>
          </p:cNvSpPr>
          <p:nvPr>
            <p:ph type="title"/>
          </p:nvPr>
        </p:nvSpPr>
        <p:spPr/>
        <p:txBody>
          <a:bodyPr/>
          <a:lstStyle/>
          <a:p>
            <a:r>
              <a:rPr lang="en-US"/>
              <a:t>Key Points</a:t>
            </a:r>
          </a:p>
        </p:txBody>
      </p:sp>
      <p:sp>
        <p:nvSpPr>
          <p:cNvPr id="7" name="Content Placeholder 6">
            <a:extLst>
              <a:ext uri="{FF2B5EF4-FFF2-40B4-BE49-F238E27FC236}">
                <a16:creationId xmlns:a16="http://schemas.microsoft.com/office/drawing/2014/main" id="{0E23C1A3-25AA-C6D9-C57A-C9388FFC9A70}"/>
              </a:ext>
            </a:extLst>
          </p:cNvPr>
          <p:cNvSpPr>
            <a:spLocks noGrp="1"/>
          </p:cNvSpPr>
          <p:nvPr>
            <p:ph idx="1"/>
          </p:nvPr>
        </p:nvSpPr>
        <p:spPr>
          <a:xfrm>
            <a:off x="1457701" y="1041192"/>
            <a:ext cx="10160000" cy="3203569"/>
          </a:xfrm>
        </p:spPr>
        <p:txBody>
          <a:bodyPr/>
          <a:lstStyle/>
          <a:p>
            <a:pPr marL="0" indent="0">
              <a:buNone/>
            </a:pPr>
            <a:endParaRPr lang="en-US"/>
          </a:p>
          <a:p>
            <a:pPr marL="0" indent="0">
              <a:buNone/>
            </a:pPr>
            <a:r>
              <a:rPr lang="en-US"/>
              <a:t>The current services will be replaced by portfolios of Veteran need.</a:t>
            </a:r>
          </a:p>
          <a:p>
            <a:pPr marL="0" indent="0">
              <a:buNone/>
            </a:pPr>
            <a:endParaRPr lang="en-US"/>
          </a:p>
          <a:p>
            <a:pPr marL="0" indent="0">
              <a:buNone/>
            </a:pPr>
            <a:r>
              <a:rPr lang="en-US"/>
              <a:t>Actively managed portfolios will provide funding to address specific areas of Veteran need.</a:t>
            </a:r>
          </a:p>
          <a:p>
            <a:pPr marL="0" indent="0">
              <a:buNone/>
            </a:pPr>
            <a:endParaRPr lang="en-US"/>
          </a:p>
          <a:p>
            <a:pPr marL="0" indent="0">
              <a:buNone/>
            </a:pPr>
            <a:r>
              <a:rPr lang="en-US"/>
              <a:t>Broad portfolios will continue to provide funding for a wide range of investigator-initiated</a:t>
            </a:r>
            <a:r>
              <a:rPr lang="en-US">
                <a:solidFill>
                  <a:srgbClr val="FF0000"/>
                </a:solidFill>
              </a:rPr>
              <a:t> </a:t>
            </a:r>
            <a:r>
              <a:rPr lang="en-US"/>
              <a:t>research from discovery to translation and also support the Career Development, Research Career Scientist, Centers, and Service Award programs.</a:t>
            </a:r>
          </a:p>
        </p:txBody>
      </p:sp>
      <p:sp>
        <p:nvSpPr>
          <p:cNvPr id="5" name="Slide Number Placeholder 4">
            <a:extLst>
              <a:ext uri="{FF2B5EF4-FFF2-40B4-BE49-F238E27FC236}">
                <a16:creationId xmlns:a16="http://schemas.microsoft.com/office/drawing/2014/main" id="{D0FE5C97-3287-4C27-1EFE-861319C3E9AA}"/>
              </a:ext>
            </a:extLst>
          </p:cNvPr>
          <p:cNvSpPr>
            <a:spLocks noGrp="1"/>
          </p:cNvSpPr>
          <p:nvPr>
            <p:ph type="sldNum" sz="quarter" idx="12"/>
          </p:nvPr>
        </p:nvSpPr>
        <p:spPr/>
        <p:txBody>
          <a:bodyPr/>
          <a:lstStyle/>
          <a:p>
            <a:fld id="{670A9334-4E67-F94F-A05E-0CE8B74A054E}" type="slidenum">
              <a:rPr lang="en-US" smtClean="0"/>
              <a:t>15</a:t>
            </a:fld>
            <a:endParaRPr lang="en-US"/>
          </a:p>
        </p:txBody>
      </p:sp>
      <p:grpSp>
        <p:nvGrpSpPr>
          <p:cNvPr id="15" name="Group 14">
            <a:extLst>
              <a:ext uri="{FF2B5EF4-FFF2-40B4-BE49-F238E27FC236}">
                <a16:creationId xmlns:a16="http://schemas.microsoft.com/office/drawing/2014/main" id="{1749F8D1-8182-BAA7-F4E6-7062DC7C7306}"/>
              </a:ext>
            </a:extLst>
          </p:cNvPr>
          <p:cNvGrpSpPr/>
          <p:nvPr/>
        </p:nvGrpSpPr>
        <p:grpSpPr>
          <a:xfrm>
            <a:off x="672715" y="1418713"/>
            <a:ext cx="640080" cy="640080"/>
            <a:chOff x="348343" y="1541417"/>
            <a:chExt cx="640080" cy="640080"/>
          </a:xfrm>
        </p:grpSpPr>
        <p:sp>
          <p:nvSpPr>
            <p:cNvPr id="12" name="Oval 11">
              <a:extLst>
                <a:ext uri="{FF2B5EF4-FFF2-40B4-BE49-F238E27FC236}">
                  <a16:creationId xmlns:a16="http://schemas.microsoft.com/office/drawing/2014/main" id="{7DB29B29-FC32-534D-08F2-23FAE05681D9}"/>
                </a:ext>
              </a:extLst>
            </p:cNvPr>
            <p:cNvSpPr/>
            <p:nvPr/>
          </p:nvSpPr>
          <p:spPr>
            <a:xfrm>
              <a:off x="348343" y="1541417"/>
              <a:ext cx="640080" cy="64008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descr="Metronome outline">
              <a:extLst>
                <a:ext uri="{FF2B5EF4-FFF2-40B4-BE49-F238E27FC236}">
                  <a16:creationId xmlns:a16="http://schemas.microsoft.com/office/drawing/2014/main" id="{376B5313-5E8F-9C64-F381-E8A2E1BFC8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4063" y="1587137"/>
              <a:ext cx="548640" cy="548640"/>
            </a:xfrm>
            <a:prstGeom prst="rect">
              <a:avLst/>
            </a:prstGeom>
          </p:spPr>
        </p:pic>
      </p:grpSp>
      <p:grpSp>
        <p:nvGrpSpPr>
          <p:cNvPr id="16" name="Group 15">
            <a:extLst>
              <a:ext uri="{FF2B5EF4-FFF2-40B4-BE49-F238E27FC236}">
                <a16:creationId xmlns:a16="http://schemas.microsoft.com/office/drawing/2014/main" id="{BB93B071-0012-6BAB-2D55-9C6AA01A033A}"/>
              </a:ext>
            </a:extLst>
          </p:cNvPr>
          <p:cNvGrpSpPr/>
          <p:nvPr/>
        </p:nvGrpSpPr>
        <p:grpSpPr>
          <a:xfrm>
            <a:off x="718435" y="2640570"/>
            <a:ext cx="640080" cy="640080"/>
            <a:chOff x="573133" y="2334558"/>
            <a:chExt cx="640080" cy="640080"/>
          </a:xfrm>
        </p:grpSpPr>
        <p:sp>
          <p:nvSpPr>
            <p:cNvPr id="13" name="Oval 12">
              <a:extLst>
                <a:ext uri="{FF2B5EF4-FFF2-40B4-BE49-F238E27FC236}">
                  <a16:creationId xmlns:a16="http://schemas.microsoft.com/office/drawing/2014/main" id="{44FDF621-941B-0901-7A33-14B5F615380E}"/>
                </a:ext>
              </a:extLst>
            </p:cNvPr>
            <p:cNvSpPr/>
            <p:nvPr/>
          </p:nvSpPr>
          <p:spPr>
            <a:xfrm>
              <a:off x="573133" y="2334558"/>
              <a:ext cx="640080" cy="64008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Money outline">
              <a:extLst>
                <a:ext uri="{FF2B5EF4-FFF2-40B4-BE49-F238E27FC236}">
                  <a16:creationId xmlns:a16="http://schemas.microsoft.com/office/drawing/2014/main" id="{C69CDE3A-900C-EA72-8DF4-09F63554E2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18853" y="2354151"/>
              <a:ext cx="548640" cy="548640"/>
            </a:xfrm>
            <a:prstGeom prst="rect">
              <a:avLst/>
            </a:prstGeom>
          </p:spPr>
        </p:pic>
      </p:grpSp>
      <p:grpSp>
        <p:nvGrpSpPr>
          <p:cNvPr id="17" name="Group 16">
            <a:extLst>
              <a:ext uri="{FF2B5EF4-FFF2-40B4-BE49-F238E27FC236}">
                <a16:creationId xmlns:a16="http://schemas.microsoft.com/office/drawing/2014/main" id="{56579D80-CA9B-8290-4447-A3F57C3CEEBA}"/>
              </a:ext>
            </a:extLst>
          </p:cNvPr>
          <p:cNvGrpSpPr/>
          <p:nvPr/>
        </p:nvGrpSpPr>
        <p:grpSpPr>
          <a:xfrm>
            <a:off x="672715" y="4061881"/>
            <a:ext cx="640080" cy="640080"/>
            <a:chOff x="653143" y="3517494"/>
            <a:chExt cx="640080" cy="640080"/>
          </a:xfrm>
        </p:grpSpPr>
        <p:sp>
          <p:nvSpPr>
            <p:cNvPr id="14" name="Oval 13">
              <a:extLst>
                <a:ext uri="{FF2B5EF4-FFF2-40B4-BE49-F238E27FC236}">
                  <a16:creationId xmlns:a16="http://schemas.microsoft.com/office/drawing/2014/main" id="{EF51AEBE-6FCB-63E5-A5CE-C68027925483}"/>
                </a:ext>
              </a:extLst>
            </p:cNvPr>
            <p:cNvSpPr/>
            <p:nvPr/>
          </p:nvSpPr>
          <p:spPr>
            <a:xfrm>
              <a:off x="653143" y="3517494"/>
              <a:ext cx="640080" cy="640080"/>
            </a:xfrm>
            <a:prstGeom prst="ellips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descr="Boardroom outline">
              <a:extLst>
                <a:ext uri="{FF2B5EF4-FFF2-40B4-BE49-F238E27FC236}">
                  <a16:creationId xmlns:a16="http://schemas.microsoft.com/office/drawing/2014/main" id="{C667FF5A-947E-F7CA-E2D1-25C878F189C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4103" y="3563214"/>
              <a:ext cx="548640" cy="548640"/>
            </a:xfrm>
            <a:prstGeom prst="rect">
              <a:avLst/>
            </a:prstGeom>
          </p:spPr>
        </p:pic>
      </p:grpSp>
    </p:spTree>
    <p:extLst>
      <p:ext uri="{BB962C8B-B14F-4D97-AF65-F5344CB8AC3E}">
        <p14:creationId xmlns:p14="http://schemas.microsoft.com/office/powerpoint/2010/main" val="16894393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EE6714A-48AE-C12C-BBA9-456A17EFDAF4}"/>
              </a:ext>
            </a:extLst>
          </p:cNvPr>
          <p:cNvSpPr>
            <a:spLocks noGrp="1"/>
          </p:cNvSpPr>
          <p:nvPr>
            <p:ph type="body" sz="quarter" idx="10"/>
          </p:nvPr>
        </p:nvSpPr>
        <p:spPr/>
        <p:txBody>
          <a:bodyPr/>
          <a:lstStyle/>
          <a:p>
            <a:r>
              <a:rPr lang="en-US" dirty="0"/>
              <a:t>What are the changes to the application review process?</a:t>
            </a:r>
          </a:p>
        </p:txBody>
      </p:sp>
      <p:sp>
        <p:nvSpPr>
          <p:cNvPr id="5" name="Slide Number Placeholder 4">
            <a:extLst>
              <a:ext uri="{FF2B5EF4-FFF2-40B4-BE49-F238E27FC236}">
                <a16:creationId xmlns:a16="http://schemas.microsoft.com/office/drawing/2014/main" id="{1CCA013A-7285-6B7E-14C6-AB7B1B7D6443}"/>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9C639-C7C7-9848-BE32-492A9B56F14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09307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1827506-97D1-9375-B743-C8477ED3BE40}"/>
              </a:ext>
            </a:extLst>
          </p:cNvPr>
          <p:cNvSpPr>
            <a:spLocks noGrp="1"/>
          </p:cNvSpPr>
          <p:nvPr>
            <p:ph type="title"/>
          </p:nvPr>
        </p:nvSpPr>
        <p:spPr/>
        <p:txBody>
          <a:bodyPr/>
          <a:lstStyle/>
          <a:p>
            <a:r>
              <a:rPr lang="en-US" sz="2800"/>
              <a:t>Issues with the Current Application process</a:t>
            </a:r>
            <a:endParaRPr lang="en-US" sz="2800" b="0"/>
          </a:p>
        </p:txBody>
      </p:sp>
      <p:sp>
        <p:nvSpPr>
          <p:cNvPr id="5" name="Slide Number Placeholder 4">
            <a:extLst>
              <a:ext uri="{FF2B5EF4-FFF2-40B4-BE49-F238E27FC236}">
                <a16:creationId xmlns:a16="http://schemas.microsoft.com/office/drawing/2014/main" id="{77929D9D-3A5A-1369-BA86-E04F8001A9A5}"/>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13" name="Table 12">
            <a:extLst>
              <a:ext uri="{FF2B5EF4-FFF2-40B4-BE49-F238E27FC236}">
                <a16:creationId xmlns:a16="http://schemas.microsoft.com/office/drawing/2014/main" id="{684AD5BC-A83D-6291-DAF4-59B363DF1026}"/>
              </a:ext>
            </a:extLst>
          </p:cNvPr>
          <p:cNvGraphicFramePr>
            <a:graphicFrameLocks noGrp="1"/>
          </p:cNvGraphicFramePr>
          <p:nvPr>
            <p:extLst>
              <p:ext uri="{D42A27DB-BD31-4B8C-83A1-F6EECF244321}">
                <p14:modId xmlns:p14="http://schemas.microsoft.com/office/powerpoint/2010/main" val="484421570"/>
              </p:ext>
            </p:extLst>
          </p:nvPr>
        </p:nvGraphicFramePr>
        <p:xfrm>
          <a:off x="1014698" y="1150559"/>
          <a:ext cx="10165964" cy="4560281"/>
        </p:xfrm>
        <a:graphic>
          <a:graphicData uri="http://schemas.openxmlformats.org/drawingml/2006/table">
            <a:tbl>
              <a:tblPr/>
              <a:tblGrid>
                <a:gridCol w="942817">
                  <a:extLst>
                    <a:ext uri="{9D8B030D-6E8A-4147-A177-3AD203B41FA5}">
                      <a16:colId xmlns:a16="http://schemas.microsoft.com/office/drawing/2014/main" val="2963516928"/>
                    </a:ext>
                  </a:extLst>
                </a:gridCol>
                <a:gridCol w="3644674">
                  <a:extLst>
                    <a:ext uri="{9D8B030D-6E8A-4147-A177-3AD203B41FA5}">
                      <a16:colId xmlns:a16="http://schemas.microsoft.com/office/drawing/2014/main" val="472389670"/>
                    </a:ext>
                  </a:extLst>
                </a:gridCol>
                <a:gridCol w="5578473">
                  <a:extLst>
                    <a:ext uri="{9D8B030D-6E8A-4147-A177-3AD203B41FA5}">
                      <a16:colId xmlns:a16="http://schemas.microsoft.com/office/drawing/2014/main" val="2202246077"/>
                    </a:ext>
                  </a:extLst>
                </a:gridCol>
              </a:tblGrid>
              <a:tr h="694460">
                <a:tc>
                  <a:txBody>
                    <a:bodyPr/>
                    <a:lstStyle/>
                    <a:p>
                      <a:pPr algn="l" rtl="0" fontAlgn="base"/>
                      <a:r>
                        <a:rPr lang="en-US" sz="1400" b="0" i="0">
                          <a:solidFill>
                            <a:schemeClr val="bg1"/>
                          </a:solidFill>
                          <a:effectLst/>
                          <a:latin typeface="+mn-lt"/>
                        </a:rPr>
                        <a:t>#</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rgbClr val="002F56"/>
                    </a:solidFill>
                  </a:tcPr>
                </a:tc>
                <a:tc>
                  <a:txBody>
                    <a:bodyPr/>
                    <a:lstStyle/>
                    <a:p>
                      <a:pPr marL="0" indent="0">
                        <a:buNone/>
                      </a:pPr>
                      <a:r>
                        <a:rPr lang="en-US" sz="1400" b="1">
                          <a:solidFill>
                            <a:schemeClr val="bg1"/>
                          </a:solidFill>
                          <a:latin typeface="+mn-lt"/>
                        </a:rPr>
                        <a:t>Current Issue</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rgbClr val="002F56"/>
                    </a:solidFill>
                  </a:tcPr>
                </a:tc>
                <a:tc>
                  <a:txBody>
                    <a:bodyPr/>
                    <a:lstStyle/>
                    <a:p>
                      <a:pPr algn="l" rtl="0" fontAlgn="base"/>
                      <a:r>
                        <a:rPr lang="en-US" sz="1400" b="1" i="0">
                          <a:solidFill>
                            <a:srgbClr val="FFFFFF"/>
                          </a:solidFill>
                          <a:effectLst/>
                          <a:latin typeface="+mn-lt"/>
                        </a:rPr>
                        <a:t>Anticipated Challenges in Portfolio Model</a:t>
                      </a:r>
                      <a:endParaRPr lang="en-US" sz="1400" b="0" i="0">
                        <a:solidFill>
                          <a:srgbClr val="000000"/>
                        </a:solidFill>
                        <a:effectLst/>
                        <a:latin typeface="+mn-lt"/>
                      </a:endParaRP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rgbClr val="002F56"/>
                    </a:solidFill>
                  </a:tcPr>
                </a:tc>
                <a:extLst>
                  <a:ext uri="{0D108BD9-81ED-4DB2-BD59-A6C34878D82A}">
                    <a16:rowId xmlns:a16="http://schemas.microsoft.com/office/drawing/2014/main" val="1046947501"/>
                  </a:ext>
                </a:extLst>
              </a:tr>
              <a:tr h="1412067">
                <a:tc>
                  <a:txBody>
                    <a:bodyPr/>
                    <a:lstStyle/>
                    <a:p>
                      <a:pPr algn="l" rtl="0" fontAlgn="base"/>
                      <a:r>
                        <a:rPr lang="en-US" sz="3200" b="1" i="0">
                          <a:solidFill>
                            <a:srgbClr val="000000"/>
                          </a:solidFill>
                          <a:effectLst/>
                          <a:latin typeface="+mn-lt"/>
                        </a:rPr>
                        <a:t>1</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rgbClr val="FFFFFF"/>
                    </a:solidFill>
                  </a:tcPr>
                </a:tc>
                <a:tc>
                  <a:txBody>
                    <a:bodyPr/>
                    <a:lstStyle/>
                    <a:p>
                      <a:pPr algn="l" rtl="0" fontAlgn="base">
                        <a:buFont typeface="Arial" panose="020B0604020202020204" pitchFamily="34" charset="0"/>
                        <a:buNone/>
                      </a:pPr>
                      <a:r>
                        <a:rPr lang="en-US" sz="1400" b="1" i="0">
                          <a:solidFill>
                            <a:srgbClr val="000000"/>
                          </a:solidFill>
                          <a:effectLst/>
                          <a:latin typeface="+mn-lt"/>
                        </a:rPr>
                        <a:t>Large Number of RFAs</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chemeClr val="bg1">
                        <a:lumMod val="95000"/>
                      </a:schemeClr>
                    </a:solidFill>
                  </a:tcPr>
                </a:tc>
                <a:tc>
                  <a:txBody>
                    <a:bodyPr/>
                    <a:lstStyle/>
                    <a:p>
                      <a:r>
                        <a:rPr lang="en-US" sz="1400" b="1">
                          <a:solidFill>
                            <a:srgbClr val="000000"/>
                          </a:solidFill>
                        </a:rPr>
                        <a:t>Additional Portfolios with their own RFAs could increase the number further. </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1109174"/>
                  </a:ext>
                </a:extLst>
              </a:tr>
              <a:tr h="1226877">
                <a:tc>
                  <a:txBody>
                    <a:bodyPr/>
                    <a:lstStyle/>
                    <a:p>
                      <a:pPr algn="l" rtl="0" fontAlgn="base"/>
                      <a:r>
                        <a:rPr lang="en-US" sz="3200" b="1" i="0">
                          <a:solidFill>
                            <a:srgbClr val="000000"/>
                          </a:solidFill>
                          <a:effectLst/>
                          <a:latin typeface="+mn-lt"/>
                        </a:rPr>
                        <a:t>2</a:t>
                      </a:r>
                      <a:endParaRPr lang="en-US" sz="3200" b="0" i="0">
                        <a:solidFill>
                          <a:srgbClr val="000000"/>
                        </a:solidFill>
                        <a:effectLst/>
                        <a:latin typeface="+mn-lt"/>
                      </a:endParaRP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rgbClr val="FFFFFF"/>
                    </a:solidFill>
                  </a:tcPr>
                </a:tc>
                <a:tc>
                  <a:txBody>
                    <a:bodyPr/>
                    <a:lstStyle/>
                    <a:p>
                      <a:pPr algn="l" rtl="0" fontAlgn="base">
                        <a:buFont typeface="Arial" panose="020B0604020202020204" pitchFamily="34" charset="0"/>
                        <a:buNone/>
                      </a:pPr>
                      <a:r>
                        <a:rPr lang="en-US" sz="1400" b="1" i="0">
                          <a:solidFill>
                            <a:srgbClr val="000000"/>
                          </a:solidFill>
                          <a:effectLst/>
                          <a:latin typeface="+mn-lt"/>
                        </a:rPr>
                        <a:t>Wide variation in application offerings and requirements</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chemeClr val="bg1">
                        <a:lumMod val="95000"/>
                      </a:schemeClr>
                    </a:solidFill>
                  </a:tcPr>
                </a:tc>
                <a:tc>
                  <a:txBody>
                    <a:bodyPr/>
                    <a:lstStyle/>
                    <a:p>
                      <a:r>
                        <a:rPr lang="en-US" sz="1400" b="1">
                          <a:solidFill>
                            <a:srgbClr val="000000"/>
                          </a:solidFill>
                        </a:rPr>
                        <a:t>Operations team reviewers that have sat within a unique Service now work across Portfolios. They will have difficulty in navigating each Portfolio’s different processes. </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4208848674"/>
                  </a:ext>
                </a:extLst>
              </a:tr>
              <a:tr h="1226877">
                <a:tc>
                  <a:txBody>
                    <a:bodyPr/>
                    <a:lstStyle/>
                    <a:p>
                      <a:pPr algn="l" rtl="0" fontAlgn="base"/>
                      <a:r>
                        <a:rPr lang="en-US" sz="3200" b="1" i="0">
                          <a:solidFill>
                            <a:srgbClr val="000000"/>
                          </a:solidFill>
                          <a:effectLst/>
                          <a:latin typeface="+mn-lt"/>
                        </a:rPr>
                        <a:t>3</a:t>
                      </a:r>
                      <a:endParaRPr lang="en-US" sz="3200" b="0" i="0">
                        <a:solidFill>
                          <a:srgbClr val="000000"/>
                        </a:solidFill>
                        <a:effectLst/>
                        <a:latin typeface="+mn-lt"/>
                      </a:endParaRP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dash"/>
                      <a:round/>
                      <a:headEnd type="none" w="med" len="med"/>
                      <a:tailEnd type="none" w="med" len="med"/>
                    </a:lnB>
                    <a:solidFill>
                      <a:srgbClr val="FFFFFF"/>
                    </a:solidFill>
                  </a:tcPr>
                </a:tc>
                <a:tc>
                  <a:txBody>
                    <a:bodyPr/>
                    <a:lstStyle/>
                    <a:p>
                      <a:pPr algn="l" rtl="0" fontAlgn="base">
                        <a:buFont typeface="Arial" panose="020B0604020202020204" pitchFamily="34" charset="0"/>
                        <a:buNone/>
                      </a:pPr>
                      <a:r>
                        <a:rPr lang="en-US" sz="1400" b="1" i="0">
                          <a:solidFill>
                            <a:srgbClr val="000000"/>
                          </a:solidFill>
                          <a:effectLst/>
                          <a:latin typeface="+mn-lt"/>
                        </a:rPr>
                        <a:t>Duplicative offerings</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dash"/>
                      <a:round/>
                      <a:headEnd type="none" w="med" len="med"/>
                      <a:tailEnd type="none" w="med" len="med"/>
                    </a:lnB>
                    <a:solidFill>
                      <a:schemeClr val="bg1">
                        <a:lumMod val="95000"/>
                      </a:schemeClr>
                    </a:solidFill>
                  </a:tcPr>
                </a:tc>
                <a:tc>
                  <a:txBody>
                    <a:bodyPr/>
                    <a:lstStyle/>
                    <a:p>
                      <a:pPr marL="0" marR="0" lvl="0" indent="0" algn="l" defTabSz="914400" rtl="0" eaLnBrk="1" fontAlgn="base" latinLnBrk="0" hangingPunct="1">
                        <a:lnSpc>
                          <a:spcPct val="100000"/>
                        </a:lnSpc>
                        <a:spcBef>
                          <a:spcPts val="0"/>
                        </a:spcBef>
                        <a:spcAft>
                          <a:spcPts val="0"/>
                        </a:spcAft>
                        <a:buClrTx/>
                        <a:buSzTx/>
                        <a:buFont typeface="Arial" panose="020B0604020202020204" pitchFamily="34" charset="0"/>
                        <a:buNone/>
                        <a:tabLst/>
                        <a:defRPr/>
                      </a:pPr>
                      <a:r>
                        <a:rPr lang="en-US" sz="1400" b="1">
                          <a:solidFill>
                            <a:schemeClr val="tx1"/>
                          </a:solidFill>
                        </a:rPr>
                        <a:t>If multiple Portfolios can fund similar projects, it will further silo efforts and reduce the ability to learn from findings. </a:t>
                      </a:r>
                    </a:p>
                  </a:txBody>
                  <a:tcPr marL="53065" marR="53065" marT="26533" marB="26533"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6350" cap="flat" cmpd="sng" algn="ctr">
                      <a:solidFill>
                        <a:srgbClr val="1D3D78"/>
                      </a:solidFill>
                      <a:prstDash val="solid"/>
                      <a:round/>
                      <a:headEnd type="none" w="med" len="med"/>
                      <a:tailEnd type="none" w="med" len="med"/>
                    </a:lnT>
                    <a:lnB w="6350" cap="flat" cmpd="sng" algn="ctr">
                      <a:solidFill>
                        <a:srgbClr val="1D3D78"/>
                      </a:solidFill>
                      <a:prstDash val="dash"/>
                      <a:round/>
                      <a:headEnd type="none" w="med" len="med"/>
                      <a:tailEnd type="none" w="med" len="med"/>
                    </a:lnB>
                    <a:solidFill>
                      <a:schemeClr val="bg1">
                        <a:lumMod val="95000"/>
                      </a:schemeClr>
                    </a:solidFill>
                  </a:tcPr>
                </a:tc>
                <a:extLst>
                  <a:ext uri="{0D108BD9-81ED-4DB2-BD59-A6C34878D82A}">
                    <a16:rowId xmlns:a16="http://schemas.microsoft.com/office/drawing/2014/main" val="383874465"/>
                  </a:ext>
                </a:extLst>
              </a:tr>
            </a:tbl>
          </a:graphicData>
        </a:graphic>
      </p:graphicFrame>
    </p:spTree>
    <p:extLst>
      <p:ext uri="{BB962C8B-B14F-4D97-AF65-F5344CB8AC3E}">
        <p14:creationId xmlns:p14="http://schemas.microsoft.com/office/powerpoint/2010/main" val="2144568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78EB2-A239-F362-C6FD-40DF6B33E64A}"/>
              </a:ext>
            </a:extLst>
          </p:cNvPr>
          <p:cNvSpPr>
            <a:spLocks noGrp="1"/>
          </p:cNvSpPr>
          <p:nvPr>
            <p:ph type="title"/>
          </p:nvPr>
        </p:nvSpPr>
        <p:spPr/>
        <p:txBody>
          <a:bodyPr/>
          <a:lstStyle/>
          <a:p>
            <a:r>
              <a:rPr lang="en-US"/>
              <a:t>Components to the Revised Application Review Process</a:t>
            </a:r>
          </a:p>
        </p:txBody>
      </p:sp>
      <p:sp>
        <p:nvSpPr>
          <p:cNvPr id="4" name="TextBox 3">
            <a:extLst>
              <a:ext uri="{FF2B5EF4-FFF2-40B4-BE49-F238E27FC236}">
                <a16:creationId xmlns:a16="http://schemas.microsoft.com/office/drawing/2014/main" id="{CC969ED9-3B42-6B97-86D6-33B5D8F46E70}"/>
              </a:ext>
            </a:extLst>
          </p:cNvPr>
          <p:cNvSpPr txBox="1"/>
          <p:nvPr/>
        </p:nvSpPr>
        <p:spPr>
          <a:xfrm>
            <a:off x="285750" y="967666"/>
            <a:ext cx="11328627"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a:ln>
                  <a:noFill/>
                </a:ln>
                <a:solidFill>
                  <a:prstClr val="black"/>
                </a:solidFill>
                <a:effectLst/>
                <a:uLnTx/>
                <a:uFillTx/>
                <a:latin typeface="Calibri" panose="020F0502020204030204"/>
                <a:ea typeface="+mn-ea"/>
                <a:cs typeface="+mn-cs"/>
              </a:rPr>
              <a:t>In order to address the issues we have seen in the current process and the challenges they cause for ORD, ISRM is </a:t>
            </a:r>
            <a:r>
              <a:rPr kumimoji="0" lang="en-US" sz="1600" b="0" i="1" u="none" strike="noStrike" kern="1200" cap="none" spc="0" normalizeH="0" baseline="0" noProof="0" err="1">
                <a:ln>
                  <a:noFill/>
                </a:ln>
                <a:solidFill>
                  <a:prstClr val="black"/>
                </a:solidFill>
                <a:effectLst/>
                <a:uLnTx/>
                <a:uFillTx/>
                <a:latin typeface="Calibri" panose="020F0502020204030204"/>
                <a:ea typeface="+mn-ea"/>
                <a:cs typeface="+mn-cs"/>
              </a:rPr>
              <a:t>propos</a:t>
            </a:r>
            <a:r>
              <a:rPr lang="en-US" sz="1600" i="1" err="1">
                <a:solidFill>
                  <a:prstClr val="black"/>
                </a:solidFill>
                <a:latin typeface="Calibri" panose="020F0502020204030204"/>
              </a:rPr>
              <a:t>ing</a:t>
            </a:r>
            <a:r>
              <a:rPr lang="en-US" sz="1600" i="1">
                <a:solidFill>
                  <a:prstClr val="black"/>
                </a:solidFill>
                <a:latin typeface="Calibri" panose="020F0502020204030204"/>
              </a:rPr>
              <a:t> a revision to the application review process that has</a:t>
            </a:r>
            <a:r>
              <a:rPr kumimoji="0" lang="en-US" sz="1600" b="0" i="1" u="none" strike="noStrike" kern="1200" cap="none" spc="0" normalizeH="0" baseline="0" noProof="0">
                <a:ln>
                  <a:noFill/>
                </a:ln>
                <a:solidFill>
                  <a:prstClr val="black"/>
                </a:solidFill>
                <a:effectLst/>
                <a:uLnTx/>
                <a:uFillTx/>
                <a:latin typeface="Calibri" panose="020F0502020204030204"/>
                <a:ea typeface="+mn-ea"/>
                <a:cs typeface="+mn-cs"/>
              </a:rPr>
              <a:t> 5 components.</a:t>
            </a:r>
          </a:p>
        </p:txBody>
      </p:sp>
      <p:sp>
        <p:nvSpPr>
          <p:cNvPr id="5" name="Rectangle 4">
            <a:extLst>
              <a:ext uri="{FF2B5EF4-FFF2-40B4-BE49-F238E27FC236}">
                <a16:creationId xmlns:a16="http://schemas.microsoft.com/office/drawing/2014/main" id="{DD2A87B0-ECD2-530D-6FE5-22A47A8BE495}"/>
              </a:ext>
            </a:extLst>
          </p:cNvPr>
          <p:cNvSpPr/>
          <p:nvPr/>
        </p:nvSpPr>
        <p:spPr>
          <a:xfrm>
            <a:off x="958302" y="1880488"/>
            <a:ext cx="10426342" cy="686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Cross-Portfolio RFAs</a:t>
            </a:r>
          </a:p>
        </p:txBody>
      </p:sp>
      <p:sp>
        <p:nvSpPr>
          <p:cNvPr id="6" name="Rectangle 5">
            <a:extLst>
              <a:ext uri="{FF2B5EF4-FFF2-40B4-BE49-F238E27FC236}">
                <a16:creationId xmlns:a16="http://schemas.microsoft.com/office/drawing/2014/main" id="{F93CF96B-B215-50F7-EA11-DEC66935B7FF}"/>
              </a:ext>
            </a:extLst>
          </p:cNvPr>
          <p:cNvSpPr/>
          <p:nvPr/>
        </p:nvSpPr>
        <p:spPr>
          <a:xfrm>
            <a:off x="963746" y="2733928"/>
            <a:ext cx="10375542" cy="686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Notices of Special Interest</a:t>
            </a:r>
          </a:p>
        </p:txBody>
      </p:sp>
      <p:sp>
        <p:nvSpPr>
          <p:cNvPr id="7" name="Rectangle 6">
            <a:extLst>
              <a:ext uri="{FF2B5EF4-FFF2-40B4-BE49-F238E27FC236}">
                <a16:creationId xmlns:a16="http://schemas.microsoft.com/office/drawing/2014/main" id="{340DE938-99E1-72D0-2893-F3B5911C2943}"/>
              </a:ext>
            </a:extLst>
          </p:cNvPr>
          <p:cNvSpPr/>
          <p:nvPr/>
        </p:nvSpPr>
        <p:spPr>
          <a:xfrm>
            <a:off x="959030" y="3683700"/>
            <a:ext cx="10426342" cy="686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RFA Standardization</a:t>
            </a:r>
          </a:p>
        </p:txBody>
      </p:sp>
      <p:sp>
        <p:nvSpPr>
          <p:cNvPr id="8" name="Rectangle 7">
            <a:extLst>
              <a:ext uri="{FF2B5EF4-FFF2-40B4-BE49-F238E27FC236}">
                <a16:creationId xmlns:a16="http://schemas.microsoft.com/office/drawing/2014/main" id="{49EF44CA-6D86-AB1B-6A01-7AE176AEBE3E}"/>
              </a:ext>
            </a:extLst>
          </p:cNvPr>
          <p:cNvSpPr/>
          <p:nvPr/>
        </p:nvSpPr>
        <p:spPr>
          <a:xfrm>
            <a:off x="964474" y="4557460"/>
            <a:ext cx="10375542" cy="68637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Calibri" panose="020F0502020204030204"/>
                <a:ea typeface="+mn-ea"/>
                <a:cs typeface="+mn-cs"/>
              </a:rPr>
              <a:t>Pre-Applications</a:t>
            </a:r>
          </a:p>
        </p:txBody>
      </p:sp>
      <p:pic>
        <p:nvPicPr>
          <p:cNvPr id="10" name="Graphic 9" descr="Badge 1 outline">
            <a:extLst>
              <a:ext uri="{FF2B5EF4-FFF2-40B4-BE49-F238E27FC236}">
                <a16:creationId xmlns:a16="http://schemas.microsoft.com/office/drawing/2014/main" id="{7C2C3374-B5A1-35D0-5DFC-E6E938840AC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3040" y="1844040"/>
            <a:ext cx="731520" cy="731520"/>
          </a:xfrm>
          <a:prstGeom prst="rect">
            <a:avLst/>
          </a:prstGeom>
        </p:spPr>
      </p:pic>
      <p:pic>
        <p:nvPicPr>
          <p:cNvPr id="11" name="Graphic 10" descr="Badge outline">
            <a:extLst>
              <a:ext uri="{FF2B5EF4-FFF2-40B4-BE49-F238E27FC236}">
                <a16:creationId xmlns:a16="http://schemas.microsoft.com/office/drawing/2014/main" id="{ADCE30F3-1420-E512-5CBC-86705CB1815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3675" y="2718435"/>
            <a:ext cx="731520" cy="731520"/>
          </a:xfrm>
          <a:prstGeom prst="rect">
            <a:avLst/>
          </a:prstGeom>
        </p:spPr>
      </p:pic>
      <p:pic>
        <p:nvPicPr>
          <p:cNvPr id="12" name="Graphic 11" descr="Badge 3 outline">
            <a:extLst>
              <a:ext uri="{FF2B5EF4-FFF2-40B4-BE49-F238E27FC236}">
                <a16:creationId xmlns:a16="http://schemas.microsoft.com/office/drawing/2014/main" id="{4B7DC489-05FD-7395-4202-9595DE9865B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4150" y="3668842"/>
            <a:ext cx="731520" cy="731520"/>
          </a:xfrm>
          <a:prstGeom prst="rect">
            <a:avLst/>
          </a:prstGeom>
        </p:spPr>
      </p:pic>
      <p:pic>
        <p:nvPicPr>
          <p:cNvPr id="13" name="Graphic 12" descr="Badge 4 outline">
            <a:extLst>
              <a:ext uri="{FF2B5EF4-FFF2-40B4-BE49-F238E27FC236}">
                <a16:creationId xmlns:a16="http://schemas.microsoft.com/office/drawing/2014/main" id="{AFD0FDC7-691B-D522-6AE4-865AF88BB6A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4785" y="4573717"/>
            <a:ext cx="731520" cy="731520"/>
          </a:xfrm>
          <a:prstGeom prst="rect">
            <a:avLst/>
          </a:prstGeom>
        </p:spPr>
      </p:pic>
    </p:spTree>
    <p:extLst>
      <p:ext uri="{BB962C8B-B14F-4D97-AF65-F5344CB8AC3E}">
        <p14:creationId xmlns:p14="http://schemas.microsoft.com/office/powerpoint/2010/main" val="19308067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D157DE5-36C5-B45B-A03F-1B37D508C472}"/>
              </a:ext>
            </a:extLst>
          </p:cNvPr>
          <p:cNvSpPr>
            <a:spLocks noGrp="1"/>
          </p:cNvSpPr>
          <p:nvPr>
            <p:ph type="title"/>
          </p:nvPr>
        </p:nvSpPr>
        <p:spPr/>
        <p:txBody>
          <a:bodyPr/>
          <a:lstStyle/>
          <a:p>
            <a:r>
              <a:rPr lang="en-US" dirty="0"/>
              <a:t>New Cross-Portfolio RFAs Posted 9/3</a:t>
            </a:r>
          </a:p>
        </p:txBody>
      </p:sp>
      <p:sp>
        <p:nvSpPr>
          <p:cNvPr id="18" name="Content Placeholder 7">
            <a:extLst>
              <a:ext uri="{FF2B5EF4-FFF2-40B4-BE49-F238E27FC236}">
                <a16:creationId xmlns:a16="http://schemas.microsoft.com/office/drawing/2014/main" id="{E08D225B-6146-6E18-756E-4E7EF26CEFCF}"/>
              </a:ext>
            </a:extLst>
          </p:cNvPr>
          <p:cNvSpPr txBox="1">
            <a:spLocks/>
          </p:cNvSpPr>
          <p:nvPr/>
        </p:nvSpPr>
        <p:spPr>
          <a:xfrm>
            <a:off x="427835" y="1836121"/>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Career Development Award 1 (IK1)</a:t>
            </a:r>
          </a:p>
        </p:txBody>
      </p:sp>
      <p:sp>
        <p:nvSpPr>
          <p:cNvPr id="19" name="TextBox 18">
            <a:extLst>
              <a:ext uri="{FF2B5EF4-FFF2-40B4-BE49-F238E27FC236}">
                <a16:creationId xmlns:a16="http://schemas.microsoft.com/office/drawing/2014/main" id="{76D17A3F-CE43-DC48-869D-57AEF55A7D36}"/>
              </a:ext>
            </a:extLst>
          </p:cNvPr>
          <p:cNvSpPr txBox="1"/>
          <p:nvPr/>
        </p:nvSpPr>
        <p:spPr>
          <a:xfrm>
            <a:off x="427834" y="1144533"/>
            <a:ext cx="5257800" cy="553998"/>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02F56"/>
                </a:solidFill>
                <a:effectLst/>
                <a:uLnTx/>
                <a:uFillTx/>
                <a:latin typeface="Calibri Light" panose="020F0302020204030204"/>
                <a:ea typeface="+mn-ea"/>
                <a:cs typeface="+mn-cs"/>
              </a:rPr>
              <a:t>RFAs</a:t>
            </a:r>
          </a:p>
        </p:txBody>
      </p:sp>
      <p:cxnSp>
        <p:nvCxnSpPr>
          <p:cNvPr id="20" name="Straight Connector 19">
            <a:extLst>
              <a:ext uri="{FF2B5EF4-FFF2-40B4-BE49-F238E27FC236}">
                <a16:creationId xmlns:a16="http://schemas.microsoft.com/office/drawing/2014/main" id="{A76A3BE1-FB6B-7880-24E9-EDE919E82E19}"/>
              </a:ext>
            </a:extLst>
          </p:cNvPr>
          <p:cNvCxnSpPr>
            <a:cxnSpLocks/>
          </p:cNvCxnSpPr>
          <p:nvPr/>
        </p:nvCxnSpPr>
        <p:spPr>
          <a:xfrm>
            <a:off x="427834" y="2203710"/>
            <a:ext cx="525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D10D89A-8E81-A6DF-CC65-CFEA6AEF29DE}"/>
              </a:ext>
            </a:extLst>
          </p:cNvPr>
          <p:cNvCxnSpPr>
            <a:cxnSpLocks/>
          </p:cNvCxnSpPr>
          <p:nvPr/>
        </p:nvCxnSpPr>
        <p:spPr>
          <a:xfrm>
            <a:off x="427834" y="1767326"/>
            <a:ext cx="11155680" cy="0"/>
          </a:xfrm>
          <a:prstGeom prst="line">
            <a:avLst/>
          </a:prstGeom>
          <a:ln w="1905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336365F-5180-D757-A03A-1E9CF5EF415A}"/>
              </a:ext>
            </a:extLst>
          </p:cNvPr>
          <p:cNvCxnSpPr>
            <a:cxnSpLocks/>
          </p:cNvCxnSpPr>
          <p:nvPr/>
        </p:nvCxnSpPr>
        <p:spPr>
          <a:xfrm>
            <a:off x="427834" y="2640094"/>
            <a:ext cx="525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Content Placeholder 7">
            <a:extLst>
              <a:ext uri="{FF2B5EF4-FFF2-40B4-BE49-F238E27FC236}">
                <a16:creationId xmlns:a16="http://schemas.microsoft.com/office/drawing/2014/main" id="{F53C8D5C-F99B-DFCC-1A30-567451DAF103}"/>
              </a:ext>
            </a:extLst>
          </p:cNvPr>
          <p:cNvSpPr txBox="1">
            <a:spLocks/>
          </p:cNvSpPr>
          <p:nvPr/>
        </p:nvSpPr>
        <p:spPr>
          <a:xfrm>
            <a:off x="427835" y="2272505"/>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Career Development Award 2 (IK2)</a:t>
            </a:r>
          </a:p>
        </p:txBody>
      </p:sp>
      <p:sp>
        <p:nvSpPr>
          <p:cNvPr id="24" name="Content Placeholder 7">
            <a:extLst>
              <a:ext uri="{FF2B5EF4-FFF2-40B4-BE49-F238E27FC236}">
                <a16:creationId xmlns:a16="http://schemas.microsoft.com/office/drawing/2014/main" id="{98007935-B498-56CD-AB42-8F93F9576592}"/>
              </a:ext>
            </a:extLst>
          </p:cNvPr>
          <p:cNvSpPr txBox="1">
            <a:spLocks/>
          </p:cNvSpPr>
          <p:nvPr/>
        </p:nvSpPr>
        <p:spPr>
          <a:xfrm>
            <a:off x="427835" y="2708889"/>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Research Career Scientist (IK6)</a:t>
            </a:r>
          </a:p>
        </p:txBody>
      </p:sp>
      <p:sp>
        <p:nvSpPr>
          <p:cNvPr id="25" name="Content Placeholder 7">
            <a:extLst>
              <a:ext uri="{FF2B5EF4-FFF2-40B4-BE49-F238E27FC236}">
                <a16:creationId xmlns:a16="http://schemas.microsoft.com/office/drawing/2014/main" id="{55EB9E43-8C76-F588-1659-C3D435CD4319}"/>
              </a:ext>
            </a:extLst>
          </p:cNvPr>
          <p:cNvSpPr txBox="1">
            <a:spLocks/>
          </p:cNvSpPr>
          <p:nvPr/>
        </p:nvSpPr>
        <p:spPr>
          <a:xfrm>
            <a:off x="427835" y="3581657"/>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Parent Merit Review – Clinical Trials (I01)</a:t>
            </a:r>
          </a:p>
        </p:txBody>
      </p:sp>
      <p:sp>
        <p:nvSpPr>
          <p:cNvPr id="28" name="Content Placeholder 7">
            <a:extLst>
              <a:ext uri="{FF2B5EF4-FFF2-40B4-BE49-F238E27FC236}">
                <a16:creationId xmlns:a16="http://schemas.microsoft.com/office/drawing/2014/main" id="{BE0FE744-53DA-AE73-3051-8D69C21D9ADC}"/>
              </a:ext>
            </a:extLst>
          </p:cNvPr>
          <p:cNvSpPr txBox="1">
            <a:spLocks/>
          </p:cNvSpPr>
          <p:nvPr/>
        </p:nvSpPr>
        <p:spPr>
          <a:xfrm>
            <a:off x="427834" y="4023841"/>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Parent Merit Review –Non-Clinical Trials (I01)</a:t>
            </a:r>
          </a:p>
        </p:txBody>
      </p:sp>
      <p:sp>
        <p:nvSpPr>
          <p:cNvPr id="29" name="Content Placeholder 7">
            <a:extLst>
              <a:ext uri="{FF2B5EF4-FFF2-40B4-BE49-F238E27FC236}">
                <a16:creationId xmlns:a16="http://schemas.microsoft.com/office/drawing/2014/main" id="{B266EAA5-02EC-1983-9A9E-55C468051D4F}"/>
              </a:ext>
            </a:extLst>
          </p:cNvPr>
          <p:cNvSpPr txBox="1">
            <a:spLocks/>
          </p:cNvSpPr>
          <p:nvPr/>
        </p:nvSpPr>
        <p:spPr>
          <a:xfrm>
            <a:off x="427834" y="3145273"/>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Pilot Research (I21)</a:t>
            </a:r>
          </a:p>
        </p:txBody>
      </p:sp>
      <p:cxnSp>
        <p:nvCxnSpPr>
          <p:cNvPr id="31" name="Straight Connector 30">
            <a:extLst>
              <a:ext uri="{FF2B5EF4-FFF2-40B4-BE49-F238E27FC236}">
                <a16:creationId xmlns:a16="http://schemas.microsoft.com/office/drawing/2014/main" id="{549B6FEC-7E17-7A05-C374-6C9A4FC335A6}"/>
              </a:ext>
            </a:extLst>
          </p:cNvPr>
          <p:cNvCxnSpPr>
            <a:cxnSpLocks/>
          </p:cNvCxnSpPr>
          <p:nvPr/>
        </p:nvCxnSpPr>
        <p:spPr>
          <a:xfrm>
            <a:off x="427834" y="3074170"/>
            <a:ext cx="525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20ABA12-AB65-8B7A-1444-321CD5B5A245}"/>
              </a:ext>
            </a:extLst>
          </p:cNvPr>
          <p:cNvCxnSpPr>
            <a:cxnSpLocks/>
          </p:cNvCxnSpPr>
          <p:nvPr/>
        </p:nvCxnSpPr>
        <p:spPr>
          <a:xfrm>
            <a:off x="427834" y="3509477"/>
            <a:ext cx="525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9E63D11-5732-3A89-48F3-C1ABC88DF933}"/>
              </a:ext>
            </a:extLst>
          </p:cNvPr>
          <p:cNvCxnSpPr>
            <a:cxnSpLocks/>
          </p:cNvCxnSpPr>
          <p:nvPr/>
        </p:nvCxnSpPr>
        <p:spPr>
          <a:xfrm>
            <a:off x="427834" y="3956559"/>
            <a:ext cx="525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CC1CAD3-ECA0-3F72-E799-A63BC1AAA078}"/>
              </a:ext>
            </a:extLst>
          </p:cNvPr>
          <p:cNvCxnSpPr>
            <a:cxnSpLocks/>
          </p:cNvCxnSpPr>
          <p:nvPr/>
        </p:nvCxnSpPr>
        <p:spPr>
          <a:xfrm>
            <a:off x="5818406" y="3956559"/>
            <a:ext cx="5669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Content Placeholder 7">
            <a:extLst>
              <a:ext uri="{FF2B5EF4-FFF2-40B4-BE49-F238E27FC236}">
                <a16:creationId xmlns:a16="http://schemas.microsoft.com/office/drawing/2014/main" id="{C079B33D-6CE6-0A76-1748-5DF61C96F2C9}"/>
              </a:ext>
            </a:extLst>
          </p:cNvPr>
          <p:cNvSpPr txBox="1">
            <a:spLocks/>
          </p:cNvSpPr>
          <p:nvPr/>
        </p:nvSpPr>
        <p:spPr>
          <a:xfrm>
            <a:off x="5733582" y="3596283"/>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Pre-Application – Parent Merit Clinical Trial (I01) </a:t>
            </a:r>
          </a:p>
        </p:txBody>
      </p:sp>
      <p:sp>
        <p:nvSpPr>
          <p:cNvPr id="44" name="Content Placeholder 7">
            <a:extLst>
              <a:ext uri="{FF2B5EF4-FFF2-40B4-BE49-F238E27FC236}">
                <a16:creationId xmlns:a16="http://schemas.microsoft.com/office/drawing/2014/main" id="{6037B1F1-296F-E709-CADC-5FC7460FA5AB}"/>
              </a:ext>
            </a:extLst>
          </p:cNvPr>
          <p:cNvSpPr txBox="1">
            <a:spLocks/>
          </p:cNvSpPr>
          <p:nvPr/>
        </p:nvSpPr>
        <p:spPr>
          <a:xfrm>
            <a:off x="5733582" y="3178443"/>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Pre-Application – Pilot (I21)</a:t>
            </a:r>
          </a:p>
        </p:txBody>
      </p:sp>
      <p:sp>
        <p:nvSpPr>
          <p:cNvPr id="45" name="Content Placeholder 7">
            <a:extLst>
              <a:ext uri="{FF2B5EF4-FFF2-40B4-BE49-F238E27FC236}">
                <a16:creationId xmlns:a16="http://schemas.microsoft.com/office/drawing/2014/main" id="{26F141F1-FD19-9E22-FDAB-036787CA00BF}"/>
              </a:ext>
            </a:extLst>
          </p:cNvPr>
          <p:cNvSpPr txBox="1">
            <a:spLocks/>
          </p:cNvSpPr>
          <p:nvPr/>
        </p:nvSpPr>
        <p:spPr>
          <a:xfrm>
            <a:off x="5733582" y="1984765"/>
            <a:ext cx="5849932"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Pre-Application – Career Development Award (IK1/IK2)</a:t>
            </a:r>
          </a:p>
        </p:txBody>
      </p:sp>
      <p:sp>
        <p:nvSpPr>
          <p:cNvPr id="46" name="Content Placeholder 7">
            <a:extLst>
              <a:ext uri="{FF2B5EF4-FFF2-40B4-BE49-F238E27FC236}">
                <a16:creationId xmlns:a16="http://schemas.microsoft.com/office/drawing/2014/main" id="{6FA19AA0-E96A-F5EE-AE17-629E2889F108}"/>
              </a:ext>
            </a:extLst>
          </p:cNvPr>
          <p:cNvSpPr txBox="1">
            <a:spLocks/>
          </p:cNvSpPr>
          <p:nvPr/>
        </p:nvSpPr>
        <p:spPr>
          <a:xfrm>
            <a:off x="5733582" y="2704273"/>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Pre-Application – Research Career Scientist (IK6)</a:t>
            </a:r>
          </a:p>
        </p:txBody>
      </p:sp>
      <p:sp>
        <p:nvSpPr>
          <p:cNvPr id="48" name="Content Placeholder 7">
            <a:extLst>
              <a:ext uri="{FF2B5EF4-FFF2-40B4-BE49-F238E27FC236}">
                <a16:creationId xmlns:a16="http://schemas.microsoft.com/office/drawing/2014/main" id="{541420FE-36D9-3821-FBFB-0DD451BB9353}"/>
              </a:ext>
            </a:extLst>
          </p:cNvPr>
          <p:cNvSpPr txBox="1">
            <a:spLocks/>
          </p:cNvSpPr>
          <p:nvPr/>
        </p:nvSpPr>
        <p:spPr>
          <a:xfrm>
            <a:off x="5733582" y="4070453"/>
            <a:ext cx="5951262"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Pre-Application – Parent Merit Non-Clinical Trials (I01)</a:t>
            </a:r>
          </a:p>
        </p:txBody>
      </p:sp>
      <p:cxnSp>
        <p:nvCxnSpPr>
          <p:cNvPr id="51" name="Straight Connector 50">
            <a:extLst>
              <a:ext uri="{FF2B5EF4-FFF2-40B4-BE49-F238E27FC236}">
                <a16:creationId xmlns:a16="http://schemas.microsoft.com/office/drawing/2014/main" id="{FD8C3487-A01C-967F-40DD-226F32998522}"/>
              </a:ext>
            </a:extLst>
          </p:cNvPr>
          <p:cNvCxnSpPr>
            <a:cxnSpLocks/>
          </p:cNvCxnSpPr>
          <p:nvPr/>
        </p:nvCxnSpPr>
        <p:spPr>
          <a:xfrm>
            <a:off x="5818406" y="4433425"/>
            <a:ext cx="5669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F9EC0E8-F694-56AB-C902-8D85912D6906}"/>
              </a:ext>
            </a:extLst>
          </p:cNvPr>
          <p:cNvCxnSpPr>
            <a:cxnSpLocks/>
          </p:cNvCxnSpPr>
          <p:nvPr/>
        </p:nvCxnSpPr>
        <p:spPr>
          <a:xfrm>
            <a:off x="5818406" y="3509477"/>
            <a:ext cx="5669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48B7220-998C-3B28-15C3-258BE0345896}"/>
              </a:ext>
            </a:extLst>
          </p:cNvPr>
          <p:cNvCxnSpPr>
            <a:cxnSpLocks/>
          </p:cNvCxnSpPr>
          <p:nvPr/>
        </p:nvCxnSpPr>
        <p:spPr>
          <a:xfrm>
            <a:off x="5818406" y="2640094"/>
            <a:ext cx="5669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E757F9C3-6F0A-3BBB-39C9-2415E6680168}"/>
              </a:ext>
            </a:extLst>
          </p:cNvPr>
          <p:cNvCxnSpPr>
            <a:cxnSpLocks/>
          </p:cNvCxnSpPr>
          <p:nvPr/>
        </p:nvCxnSpPr>
        <p:spPr>
          <a:xfrm>
            <a:off x="5818406" y="3074170"/>
            <a:ext cx="56692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F58C140A-F9E8-6313-5A18-2AC773A694B7}"/>
              </a:ext>
            </a:extLst>
          </p:cNvPr>
          <p:cNvCxnSpPr>
            <a:cxnSpLocks/>
          </p:cNvCxnSpPr>
          <p:nvPr/>
        </p:nvCxnSpPr>
        <p:spPr>
          <a:xfrm>
            <a:off x="427834" y="4433425"/>
            <a:ext cx="5257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Content Placeholder 7">
            <a:extLst>
              <a:ext uri="{FF2B5EF4-FFF2-40B4-BE49-F238E27FC236}">
                <a16:creationId xmlns:a16="http://schemas.microsoft.com/office/drawing/2014/main" id="{B5CE5904-81F6-1393-B68B-60601A839078}"/>
              </a:ext>
            </a:extLst>
          </p:cNvPr>
          <p:cNvSpPr txBox="1">
            <a:spLocks/>
          </p:cNvSpPr>
          <p:nvPr/>
        </p:nvSpPr>
        <p:spPr>
          <a:xfrm>
            <a:off x="427834" y="4454425"/>
            <a:ext cx="52578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CORE (I50)</a:t>
            </a:r>
          </a:p>
        </p:txBody>
      </p:sp>
      <p:sp>
        <p:nvSpPr>
          <p:cNvPr id="6" name="Content Placeholder 7">
            <a:extLst>
              <a:ext uri="{FF2B5EF4-FFF2-40B4-BE49-F238E27FC236}">
                <a16:creationId xmlns:a16="http://schemas.microsoft.com/office/drawing/2014/main" id="{90FB3315-1E0E-9F57-D19E-C8D89B6FD101}"/>
              </a:ext>
            </a:extLst>
          </p:cNvPr>
          <p:cNvSpPr txBox="1">
            <a:spLocks/>
          </p:cNvSpPr>
          <p:nvPr/>
        </p:nvSpPr>
        <p:spPr>
          <a:xfrm>
            <a:off x="5733582" y="4440222"/>
            <a:ext cx="5951262"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Pre-Application – CORE (I50)</a:t>
            </a:r>
          </a:p>
        </p:txBody>
      </p:sp>
      <p:sp>
        <p:nvSpPr>
          <p:cNvPr id="8" name="TextBox 7">
            <a:extLst>
              <a:ext uri="{FF2B5EF4-FFF2-40B4-BE49-F238E27FC236}">
                <a16:creationId xmlns:a16="http://schemas.microsoft.com/office/drawing/2014/main" id="{ADE70FEE-17BC-D2E9-FBAD-41261972E2FE}"/>
              </a:ext>
            </a:extLst>
          </p:cNvPr>
          <p:cNvSpPr txBox="1"/>
          <p:nvPr/>
        </p:nvSpPr>
        <p:spPr>
          <a:xfrm>
            <a:off x="5733582" y="1230344"/>
            <a:ext cx="5257800" cy="553998"/>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002F56"/>
                </a:solidFill>
                <a:effectLst/>
                <a:uLnTx/>
                <a:uFillTx/>
                <a:latin typeface="Calibri Light" panose="020F0302020204030204"/>
                <a:ea typeface="+mn-ea"/>
                <a:cs typeface="+mn-cs"/>
              </a:rPr>
              <a:t>Pre-Applications </a:t>
            </a:r>
          </a:p>
        </p:txBody>
      </p:sp>
    </p:spTree>
    <p:extLst>
      <p:ext uri="{BB962C8B-B14F-4D97-AF65-F5344CB8AC3E}">
        <p14:creationId xmlns:p14="http://schemas.microsoft.com/office/powerpoint/2010/main" val="26447564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4C751-FBFC-8F97-83D0-8985E4498DB5}"/>
              </a:ext>
            </a:extLst>
          </p:cNvPr>
          <p:cNvSpPr>
            <a:spLocks noGrp="1"/>
          </p:cNvSpPr>
          <p:nvPr>
            <p:ph type="title"/>
          </p:nvPr>
        </p:nvSpPr>
        <p:spPr/>
        <p:txBody>
          <a:bodyPr/>
          <a:lstStyle/>
          <a:p>
            <a:r>
              <a:rPr lang="en-US" dirty="0">
                <a:solidFill>
                  <a:prstClr val="white"/>
                </a:solidFill>
                <a:latin typeface="Calibri Light" panose="020F0302020204030204"/>
              </a:rPr>
              <a:t>Portfolio Notices of Special Interest Posted 9/3</a:t>
            </a:r>
            <a:endParaRPr lang="en-US" dirty="0"/>
          </a:p>
        </p:txBody>
      </p:sp>
      <p:sp>
        <p:nvSpPr>
          <p:cNvPr id="4" name="Slide Number Placeholder 3">
            <a:extLst>
              <a:ext uri="{FF2B5EF4-FFF2-40B4-BE49-F238E27FC236}">
                <a16:creationId xmlns:a16="http://schemas.microsoft.com/office/drawing/2014/main" id="{85549CE4-5433-7804-AE31-87153DBB2AD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2" name="Content Placeholder 7">
            <a:extLst>
              <a:ext uri="{FF2B5EF4-FFF2-40B4-BE49-F238E27FC236}">
                <a16:creationId xmlns:a16="http://schemas.microsoft.com/office/drawing/2014/main" id="{80DCFC11-45B3-1289-6193-302DB04DB848}"/>
              </a:ext>
            </a:extLst>
          </p:cNvPr>
          <p:cNvSpPr txBox="1">
            <a:spLocks/>
          </p:cNvSpPr>
          <p:nvPr/>
        </p:nvSpPr>
        <p:spPr>
          <a:xfrm>
            <a:off x="427835" y="1836121"/>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Brain, Behavior, and Mental Health Broad Portfolio</a:t>
            </a:r>
          </a:p>
        </p:txBody>
      </p:sp>
      <p:sp>
        <p:nvSpPr>
          <p:cNvPr id="14" name="TextBox 13">
            <a:extLst>
              <a:ext uri="{FF2B5EF4-FFF2-40B4-BE49-F238E27FC236}">
                <a16:creationId xmlns:a16="http://schemas.microsoft.com/office/drawing/2014/main" id="{3DB9BE1B-6DDF-EDA7-BC9E-122A3052C392}"/>
              </a:ext>
            </a:extLst>
          </p:cNvPr>
          <p:cNvSpPr txBox="1"/>
          <p:nvPr/>
        </p:nvSpPr>
        <p:spPr>
          <a:xfrm>
            <a:off x="427834" y="1144533"/>
            <a:ext cx="5486400" cy="52322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2F56"/>
                </a:solidFill>
                <a:effectLst/>
                <a:uLnTx/>
                <a:uFillTx/>
                <a:latin typeface="Calibri Light" panose="020F0302020204030204"/>
                <a:ea typeface="+mn-ea"/>
                <a:cs typeface="+mn-cs"/>
              </a:rPr>
              <a:t>Based upon Portfolio purviews</a:t>
            </a:r>
          </a:p>
        </p:txBody>
      </p:sp>
      <p:cxnSp>
        <p:nvCxnSpPr>
          <p:cNvPr id="17" name="Straight Connector 16">
            <a:extLst>
              <a:ext uri="{FF2B5EF4-FFF2-40B4-BE49-F238E27FC236}">
                <a16:creationId xmlns:a16="http://schemas.microsoft.com/office/drawing/2014/main" id="{8366256A-3040-4956-5BB3-6467F0F2CA30}"/>
              </a:ext>
            </a:extLst>
          </p:cNvPr>
          <p:cNvCxnSpPr>
            <a:cxnSpLocks/>
          </p:cNvCxnSpPr>
          <p:nvPr/>
        </p:nvCxnSpPr>
        <p:spPr>
          <a:xfrm>
            <a:off x="433337" y="2203710"/>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01A5B6F-6CD8-FD50-4C6E-9E4CE03F581A}"/>
              </a:ext>
            </a:extLst>
          </p:cNvPr>
          <p:cNvCxnSpPr>
            <a:cxnSpLocks/>
          </p:cNvCxnSpPr>
          <p:nvPr/>
        </p:nvCxnSpPr>
        <p:spPr>
          <a:xfrm>
            <a:off x="427834" y="1767326"/>
            <a:ext cx="5486400" cy="0"/>
          </a:xfrm>
          <a:prstGeom prst="line">
            <a:avLst/>
          </a:prstGeom>
          <a:ln w="1905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C36943E-DBA9-0C6E-F7C7-A9F0D8D3C037}"/>
              </a:ext>
            </a:extLst>
          </p:cNvPr>
          <p:cNvCxnSpPr>
            <a:cxnSpLocks/>
          </p:cNvCxnSpPr>
          <p:nvPr/>
        </p:nvCxnSpPr>
        <p:spPr>
          <a:xfrm>
            <a:off x="433337" y="2640094"/>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FDB80FA-C573-6420-B8D8-199376E9132E}"/>
              </a:ext>
            </a:extLst>
          </p:cNvPr>
          <p:cNvCxnSpPr>
            <a:cxnSpLocks/>
          </p:cNvCxnSpPr>
          <p:nvPr/>
        </p:nvCxnSpPr>
        <p:spPr>
          <a:xfrm>
            <a:off x="6139075" y="994378"/>
            <a:ext cx="0" cy="5029200"/>
          </a:xfrm>
          <a:prstGeom prst="line">
            <a:avLst/>
          </a:prstGeom>
        </p:spPr>
        <p:style>
          <a:lnRef idx="1">
            <a:schemeClr val="dk1"/>
          </a:lnRef>
          <a:fillRef idx="0">
            <a:schemeClr val="dk1"/>
          </a:fillRef>
          <a:effectRef idx="0">
            <a:schemeClr val="dk1"/>
          </a:effectRef>
          <a:fontRef idx="minor">
            <a:schemeClr val="tx1"/>
          </a:fontRef>
        </p:style>
      </p:cxnSp>
      <p:sp>
        <p:nvSpPr>
          <p:cNvPr id="24" name="Content Placeholder 7">
            <a:extLst>
              <a:ext uri="{FF2B5EF4-FFF2-40B4-BE49-F238E27FC236}">
                <a16:creationId xmlns:a16="http://schemas.microsoft.com/office/drawing/2014/main" id="{E1176C7D-AF65-AE1A-9053-C1F98545D720}"/>
              </a:ext>
            </a:extLst>
          </p:cNvPr>
          <p:cNvSpPr txBox="1">
            <a:spLocks/>
          </p:cNvSpPr>
          <p:nvPr/>
        </p:nvSpPr>
        <p:spPr>
          <a:xfrm>
            <a:off x="427835" y="2272505"/>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Health Systems Broad Portfolio</a:t>
            </a:r>
          </a:p>
        </p:txBody>
      </p:sp>
      <p:sp>
        <p:nvSpPr>
          <p:cNvPr id="25" name="Content Placeholder 7">
            <a:extLst>
              <a:ext uri="{FF2B5EF4-FFF2-40B4-BE49-F238E27FC236}">
                <a16:creationId xmlns:a16="http://schemas.microsoft.com/office/drawing/2014/main" id="{38598334-752C-C4C9-1A81-9ED0296EA66B}"/>
              </a:ext>
            </a:extLst>
          </p:cNvPr>
          <p:cNvSpPr txBox="1">
            <a:spLocks/>
          </p:cNvSpPr>
          <p:nvPr/>
        </p:nvSpPr>
        <p:spPr>
          <a:xfrm>
            <a:off x="427835" y="2708889"/>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Medical Health Broad Portfolio</a:t>
            </a:r>
          </a:p>
        </p:txBody>
      </p:sp>
      <p:sp>
        <p:nvSpPr>
          <p:cNvPr id="26" name="Content Placeholder 7">
            <a:extLst>
              <a:ext uri="{FF2B5EF4-FFF2-40B4-BE49-F238E27FC236}">
                <a16:creationId xmlns:a16="http://schemas.microsoft.com/office/drawing/2014/main" id="{9435EB31-387D-C921-15C0-2A2E3972671D}"/>
              </a:ext>
            </a:extLst>
          </p:cNvPr>
          <p:cNvSpPr txBox="1">
            <a:spLocks/>
          </p:cNvSpPr>
          <p:nvPr/>
        </p:nvSpPr>
        <p:spPr>
          <a:xfrm>
            <a:off x="427835" y="3581657"/>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Military Exposure Actively Managed Portfolio</a:t>
            </a:r>
          </a:p>
        </p:txBody>
      </p:sp>
      <p:sp>
        <p:nvSpPr>
          <p:cNvPr id="27" name="Content Placeholder 7">
            <a:extLst>
              <a:ext uri="{FF2B5EF4-FFF2-40B4-BE49-F238E27FC236}">
                <a16:creationId xmlns:a16="http://schemas.microsoft.com/office/drawing/2014/main" id="{6D8F6B06-B7CB-B87D-2E18-A836B964AF5E}"/>
              </a:ext>
            </a:extLst>
          </p:cNvPr>
          <p:cNvSpPr txBox="1">
            <a:spLocks/>
          </p:cNvSpPr>
          <p:nvPr/>
        </p:nvSpPr>
        <p:spPr>
          <a:xfrm>
            <a:off x="427835" y="4018041"/>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Pain / Opioid Use Actively Managed Portfolio</a:t>
            </a:r>
          </a:p>
        </p:txBody>
      </p:sp>
      <p:sp>
        <p:nvSpPr>
          <p:cNvPr id="28" name="Content Placeholder 7">
            <a:extLst>
              <a:ext uri="{FF2B5EF4-FFF2-40B4-BE49-F238E27FC236}">
                <a16:creationId xmlns:a16="http://schemas.microsoft.com/office/drawing/2014/main" id="{C3D93C10-AD24-A172-E4D6-598348B98F83}"/>
              </a:ext>
            </a:extLst>
          </p:cNvPr>
          <p:cNvSpPr txBox="1">
            <a:spLocks/>
          </p:cNvSpPr>
          <p:nvPr/>
        </p:nvSpPr>
        <p:spPr>
          <a:xfrm>
            <a:off x="427835" y="4454425"/>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Precision Oncology Actively Managed Portfolio</a:t>
            </a:r>
          </a:p>
        </p:txBody>
      </p:sp>
      <p:sp>
        <p:nvSpPr>
          <p:cNvPr id="29" name="Content Placeholder 7">
            <a:extLst>
              <a:ext uri="{FF2B5EF4-FFF2-40B4-BE49-F238E27FC236}">
                <a16:creationId xmlns:a16="http://schemas.microsoft.com/office/drawing/2014/main" id="{DB2DE66C-02A4-4F00-5CA7-2AB890B1A7A1}"/>
              </a:ext>
            </a:extLst>
          </p:cNvPr>
          <p:cNvSpPr txBox="1">
            <a:spLocks/>
          </p:cNvSpPr>
          <p:nvPr/>
        </p:nvSpPr>
        <p:spPr>
          <a:xfrm>
            <a:off x="427835" y="3145273"/>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Rehabilitation Broad Portfolio</a:t>
            </a:r>
          </a:p>
        </p:txBody>
      </p:sp>
      <p:sp>
        <p:nvSpPr>
          <p:cNvPr id="30" name="Content Placeholder 7">
            <a:extLst>
              <a:ext uri="{FF2B5EF4-FFF2-40B4-BE49-F238E27FC236}">
                <a16:creationId xmlns:a16="http://schemas.microsoft.com/office/drawing/2014/main" id="{75FF1CB9-C661-B81A-5A77-323E4DC512AB}"/>
              </a:ext>
            </a:extLst>
          </p:cNvPr>
          <p:cNvSpPr txBox="1">
            <a:spLocks/>
          </p:cNvSpPr>
          <p:nvPr/>
        </p:nvSpPr>
        <p:spPr>
          <a:xfrm>
            <a:off x="427835" y="4890809"/>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Suicide Prevention Actively Managed Portfolio</a:t>
            </a:r>
          </a:p>
        </p:txBody>
      </p:sp>
      <p:sp>
        <p:nvSpPr>
          <p:cNvPr id="31" name="Content Placeholder 7">
            <a:extLst>
              <a:ext uri="{FF2B5EF4-FFF2-40B4-BE49-F238E27FC236}">
                <a16:creationId xmlns:a16="http://schemas.microsoft.com/office/drawing/2014/main" id="{17B6ADBF-BB93-5A96-C64C-FA1B35463D17}"/>
              </a:ext>
            </a:extLst>
          </p:cNvPr>
          <p:cNvSpPr txBox="1">
            <a:spLocks/>
          </p:cNvSpPr>
          <p:nvPr/>
        </p:nvSpPr>
        <p:spPr>
          <a:xfrm>
            <a:off x="427835" y="5327197"/>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a:ln>
                  <a:noFill/>
                </a:ln>
                <a:solidFill>
                  <a:prstClr val="black"/>
                </a:solidFill>
                <a:effectLst/>
                <a:uLnTx/>
                <a:uFillTx/>
                <a:latin typeface="Calibri Light" panose="020F0302020204030204"/>
                <a:ea typeface="+mn-ea"/>
                <a:cs typeface="+mn-cs"/>
              </a:rPr>
              <a:t>Traumatic Brain Injury Actively Managed Portfolio</a:t>
            </a:r>
          </a:p>
        </p:txBody>
      </p:sp>
      <p:cxnSp>
        <p:nvCxnSpPr>
          <p:cNvPr id="32" name="Straight Connector 31">
            <a:extLst>
              <a:ext uri="{FF2B5EF4-FFF2-40B4-BE49-F238E27FC236}">
                <a16:creationId xmlns:a16="http://schemas.microsoft.com/office/drawing/2014/main" id="{985876CC-1A91-B653-4D2B-71218CC8B93E}"/>
              </a:ext>
            </a:extLst>
          </p:cNvPr>
          <p:cNvCxnSpPr>
            <a:cxnSpLocks/>
          </p:cNvCxnSpPr>
          <p:nvPr/>
        </p:nvCxnSpPr>
        <p:spPr>
          <a:xfrm>
            <a:off x="433337" y="3076478"/>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1E9E27A-05D3-93A0-FB39-D71B257DCD72}"/>
              </a:ext>
            </a:extLst>
          </p:cNvPr>
          <p:cNvCxnSpPr>
            <a:cxnSpLocks/>
          </p:cNvCxnSpPr>
          <p:nvPr/>
        </p:nvCxnSpPr>
        <p:spPr>
          <a:xfrm>
            <a:off x="433337" y="3512862"/>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C9C933F-D316-F27E-151D-2B0B9A2BE0C3}"/>
              </a:ext>
            </a:extLst>
          </p:cNvPr>
          <p:cNvCxnSpPr>
            <a:cxnSpLocks/>
          </p:cNvCxnSpPr>
          <p:nvPr/>
        </p:nvCxnSpPr>
        <p:spPr>
          <a:xfrm>
            <a:off x="433337" y="3949246"/>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D5B0633-717F-63F8-F84D-4F454515DA4E}"/>
              </a:ext>
            </a:extLst>
          </p:cNvPr>
          <p:cNvCxnSpPr>
            <a:cxnSpLocks/>
          </p:cNvCxnSpPr>
          <p:nvPr/>
        </p:nvCxnSpPr>
        <p:spPr>
          <a:xfrm>
            <a:off x="433337" y="4385630"/>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2E93D081-3614-A06B-6155-385FBD6E1C8C}"/>
              </a:ext>
            </a:extLst>
          </p:cNvPr>
          <p:cNvCxnSpPr>
            <a:cxnSpLocks/>
          </p:cNvCxnSpPr>
          <p:nvPr/>
        </p:nvCxnSpPr>
        <p:spPr>
          <a:xfrm>
            <a:off x="433337" y="4822014"/>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02B342E-E9B2-8496-31DE-EEFB9AE5FE87}"/>
              </a:ext>
            </a:extLst>
          </p:cNvPr>
          <p:cNvCxnSpPr>
            <a:cxnSpLocks/>
          </p:cNvCxnSpPr>
          <p:nvPr/>
        </p:nvCxnSpPr>
        <p:spPr>
          <a:xfrm>
            <a:off x="433337" y="5258398"/>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A05C9E41-5FA7-CD52-661E-3537E274B185}"/>
              </a:ext>
            </a:extLst>
          </p:cNvPr>
          <p:cNvSpPr txBox="1"/>
          <p:nvPr/>
        </p:nvSpPr>
        <p:spPr>
          <a:xfrm>
            <a:off x="6254889" y="1126679"/>
            <a:ext cx="5943593" cy="523220"/>
          </a:xfrm>
          <a:prstGeom prst="rect">
            <a:avLst/>
          </a:prstGeom>
          <a:noFill/>
          <a:ln>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02F56"/>
                </a:solidFill>
                <a:effectLst/>
                <a:uLnTx/>
                <a:uFillTx/>
                <a:latin typeface="Calibri Light" panose="020F0302020204030204"/>
                <a:ea typeface="+mn-ea"/>
                <a:cs typeface="+mn-cs"/>
              </a:rPr>
              <a:t>Critical Research Areas/Cross Portfolio</a:t>
            </a:r>
          </a:p>
        </p:txBody>
      </p:sp>
      <p:cxnSp>
        <p:nvCxnSpPr>
          <p:cNvPr id="68" name="Straight Connector 67">
            <a:extLst>
              <a:ext uri="{FF2B5EF4-FFF2-40B4-BE49-F238E27FC236}">
                <a16:creationId xmlns:a16="http://schemas.microsoft.com/office/drawing/2014/main" id="{B52FD9C9-07FA-DAEF-D8F7-7C6ABDABEC51}"/>
              </a:ext>
            </a:extLst>
          </p:cNvPr>
          <p:cNvCxnSpPr>
            <a:cxnSpLocks/>
          </p:cNvCxnSpPr>
          <p:nvPr/>
        </p:nvCxnSpPr>
        <p:spPr>
          <a:xfrm>
            <a:off x="6378216" y="2622240"/>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A2938A8E-35B4-B1A9-5333-3F781CBE6F32}"/>
              </a:ext>
            </a:extLst>
          </p:cNvPr>
          <p:cNvCxnSpPr>
            <a:cxnSpLocks/>
          </p:cNvCxnSpPr>
          <p:nvPr/>
        </p:nvCxnSpPr>
        <p:spPr>
          <a:xfrm>
            <a:off x="6378216" y="2185856"/>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968F7A57-8FBE-7DAC-83A8-F894F39A51A8}"/>
              </a:ext>
            </a:extLst>
          </p:cNvPr>
          <p:cNvCxnSpPr>
            <a:cxnSpLocks/>
          </p:cNvCxnSpPr>
          <p:nvPr/>
        </p:nvCxnSpPr>
        <p:spPr>
          <a:xfrm>
            <a:off x="6371435" y="1749472"/>
            <a:ext cx="5486400" cy="0"/>
          </a:xfrm>
          <a:prstGeom prst="line">
            <a:avLst/>
          </a:prstGeom>
          <a:ln w="19050">
            <a:solidFill>
              <a:schemeClr val="tx1"/>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69" name="Content Placeholder 7">
            <a:extLst>
              <a:ext uri="{FF2B5EF4-FFF2-40B4-BE49-F238E27FC236}">
                <a16:creationId xmlns:a16="http://schemas.microsoft.com/office/drawing/2014/main" id="{554D27FA-9C9C-F471-B9C5-11D0499B7759}"/>
              </a:ext>
            </a:extLst>
          </p:cNvPr>
          <p:cNvSpPr txBox="1">
            <a:spLocks/>
          </p:cNvSpPr>
          <p:nvPr/>
        </p:nvSpPr>
        <p:spPr>
          <a:xfrm>
            <a:off x="6358414" y="1789915"/>
            <a:ext cx="5076848"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Women’s Health</a:t>
            </a:r>
          </a:p>
        </p:txBody>
      </p:sp>
      <p:sp>
        <p:nvSpPr>
          <p:cNvPr id="70" name="Content Placeholder 7">
            <a:extLst>
              <a:ext uri="{FF2B5EF4-FFF2-40B4-BE49-F238E27FC236}">
                <a16:creationId xmlns:a16="http://schemas.microsoft.com/office/drawing/2014/main" id="{5E5E429A-39E0-B508-6B0E-F96F2359A154}"/>
              </a:ext>
            </a:extLst>
          </p:cNvPr>
          <p:cNvSpPr txBox="1">
            <a:spLocks/>
          </p:cNvSpPr>
          <p:nvPr/>
        </p:nvSpPr>
        <p:spPr>
          <a:xfrm>
            <a:off x="6358414" y="3127420"/>
            <a:ext cx="576359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Studies on Lethal Means Safety Approaches to Suicide Prevention  </a:t>
            </a:r>
          </a:p>
        </p:txBody>
      </p:sp>
      <p:cxnSp>
        <p:nvCxnSpPr>
          <p:cNvPr id="3" name="Straight Connector 2">
            <a:extLst>
              <a:ext uri="{FF2B5EF4-FFF2-40B4-BE49-F238E27FC236}">
                <a16:creationId xmlns:a16="http://schemas.microsoft.com/office/drawing/2014/main" id="{9D5F73DA-DEFD-7360-5638-DB1C9E03DDFB}"/>
              </a:ext>
            </a:extLst>
          </p:cNvPr>
          <p:cNvCxnSpPr>
            <a:cxnSpLocks/>
          </p:cNvCxnSpPr>
          <p:nvPr/>
        </p:nvCxnSpPr>
        <p:spPr>
          <a:xfrm>
            <a:off x="6371435" y="3076478"/>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Content Placeholder 7">
            <a:extLst>
              <a:ext uri="{FF2B5EF4-FFF2-40B4-BE49-F238E27FC236}">
                <a16:creationId xmlns:a16="http://schemas.microsoft.com/office/drawing/2014/main" id="{5E1C2095-1B9F-EEFC-57A9-4308EBA9771D}"/>
              </a:ext>
            </a:extLst>
          </p:cNvPr>
          <p:cNvSpPr txBox="1">
            <a:spLocks/>
          </p:cNvSpPr>
          <p:nvPr/>
        </p:nvSpPr>
        <p:spPr>
          <a:xfrm>
            <a:off x="6358414" y="2223960"/>
            <a:ext cx="5943599"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Durability of Rehabilitation Interventions for Veterans </a:t>
            </a:r>
          </a:p>
        </p:txBody>
      </p:sp>
      <p:sp>
        <p:nvSpPr>
          <p:cNvPr id="7" name="Content Placeholder 7">
            <a:extLst>
              <a:ext uri="{FF2B5EF4-FFF2-40B4-BE49-F238E27FC236}">
                <a16:creationId xmlns:a16="http://schemas.microsoft.com/office/drawing/2014/main" id="{563BBD5C-5380-2736-2D50-F3C75A5DFCE8}"/>
              </a:ext>
            </a:extLst>
          </p:cNvPr>
          <p:cNvSpPr txBox="1">
            <a:spLocks/>
          </p:cNvSpPr>
          <p:nvPr/>
        </p:nvSpPr>
        <p:spPr>
          <a:xfrm>
            <a:off x="6358414" y="2699211"/>
            <a:ext cx="5076848"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Chronic Effects of Neurotrauma</a:t>
            </a:r>
          </a:p>
        </p:txBody>
      </p:sp>
      <p:sp>
        <p:nvSpPr>
          <p:cNvPr id="5" name="Content Placeholder 7">
            <a:extLst>
              <a:ext uri="{FF2B5EF4-FFF2-40B4-BE49-F238E27FC236}">
                <a16:creationId xmlns:a16="http://schemas.microsoft.com/office/drawing/2014/main" id="{C5B4DC42-8723-9B2B-0B7C-D3D7E3443690}"/>
              </a:ext>
            </a:extLst>
          </p:cNvPr>
          <p:cNvSpPr txBox="1">
            <a:spLocks/>
          </p:cNvSpPr>
          <p:nvPr/>
        </p:nvSpPr>
        <p:spPr>
          <a:xfrm>
            <a:off x="434616" y="5738087"/>
            <a:ext cx="5943600" cy="29879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prstClr val="black"/>
                </a:solidFill>
                <a:effectLst/>
                <a:uLnTx/>
                <a:uFillTx/>
                <a:latin typeface="Calibri Light" panose="020F0302020204030204"/>
                <a:ea typeface="+mn-ea"/>
                <a:cs typeface="+mn-cs"/>
              </a:rPr>
              <a:t>Gulf War </a:t>
            </a:r>
          </a:p>
        </p:txBody>
      </p:sp>
      <p:cxnSp>
        <p:nvCxnSpPr>
          <p:cNvPr id="8" name="Straight Connector 7">
            <a:extLst>
              <a:ext uri="{FF2B5EF4-FFF2-40B4-BE49-F238E27FC236}">
                <a16:creationId xmlns:a16="http://schemas.microsoft.com/office/drawing/2014/main" id="{720BBFCC-9768-5B6F-E8AF-AFFF40931088}"/>
              </a:ext>
            </a:extLst>
          </p:cNvPr>
          <p:cNvCxnSpPr>
            <a:cxnSpLocks/>
          </p:cNvCxnSpPr>
          <p:nvPr/>
        </p:nvCxnSpPr>
        <p:spPr>
          <a:xfrm>
            <a:off x="423812" y="5658448"/>
            <a:ext cx="54864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3847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722C5D92-BC7E-5777-6594-C757BD5FC879}"/>
              </a:ext>
            </a:extLst>
          </p:cNvPr>
          <p:cNvSpPr>
            <a:spLocks noGrp="1"/>
          </p:cNvSpPr>
          <p:nvPr>
            <p:ph type="title"/>
          </p:nvPr>
        </p:nvSpPr>
        <p:spPr/>
        <p:txBody>
          <a:bodyPr>
            <a:normAutofit/>
          </a:bodyPr>
          <a:lstStyle/>
          <a:p>
            <a:r>
              <a:rPr lang="en-US" dirty="0"/>
              <a:t>ISRM Non-Clinician Investigator Eligibility</a:t>
            </a:r>
          </a:p>
        </p:txBody>
      </p:sp>
      <p:sp>
        <p:nvSpPr>
          <p:cNvPr id="3" name="Content Placeholder 2">
            <a:extLst>
              <a:ext uri="{FF2B5EF4-FFF2-40B4-BE49-F238E27FC236}">
                <a16:creationId xmlns:a16="http://schemas.microsoft.com/office/drawing/2014/main" id="{6F4B9500-C5CC-9E63-4A26-CF6F7E0D94E7}"/>
              </a:ext>
            </a:extLst>
          </p:cNvPr>
          <p:cNvSpPr>
            <a:spLocks noGrp="1"/>
          </p:cNvSpPr>
          <p:nvPr>
            <p:ph idx="1"/>
          </p:nvPr>
        </p:nvSpPr>
        <p:spPr>
          <a:xfrm>
            <a:off x="356819" y="1123910"/>
            <a:ext cx="11198148" cy="4739562"/>
          </a:xfrm>
        </p:spPr>
        <p:txBody>
          <a:bodyPr/>
          <a:lstStyle/>
          <a:p>
            <a:r>
              <a:rPr lang="en-US" dirty="0"/>
              <a:t>Career Development:</a:t>
            </a:r>
          </a:p>
          <a:p>
            <a:pPr lvl="1"/>
            <a:r>
              <a:rPr lang="en-US" dirty="0"/>
              <a:t>At least 5/8 VA employed at the time of funding</a:t>
            </a:r>
          </a:p>
          <a:p>
            <a:pPr lvl="1"/>
            <a:r>
              <a:rPr lang="en-US" dirty="0"/>
              <a:t>Research Career Scientist follows current requirements </a:t>
            </a:r>
          </a:p>
          <a:p>
            <a:r>
              <a:rPr lang="en-US" dirty="0"/>
              <a:t>Merit &amp; Pilot Awards</a:t>
            </a:r>
          </a:p>
          <a:p>
            <a:pPr lvl="1"/>
            <a:r>
              <a:rPr lang="en-US" dirty="0"/>
              <a:t>At least 5/8 VA employed at time of funding</a:t>
            </a:r>
          </a:p>
          <a:p>
            <a:pPr lvl="1"/>
            <a:r>
              <a:rPr lang="en-US" dirty="0"/>
              <a:t>VA or VA-leased space assigned to the investigator</a:t>
            </a:r>
          </a:p>
          <a:p>
            <a:pPr lvl="1"/>
            <a:r>
              <a:rPr lang="en-US" dirty="0"/>
              <a:t>Waivers can be requested from the portfolio and approved by the ISRM Leadership Council</a:t>
            </a:r>
          </a:p>
          <a:p>
            <a:pPr lvl="1"/>
            <a:r>
              <a:rPr lang="en-US" b="1" dirty="0"/>
              <a:t>New NCI pre-applications for Spring and Fall cycles only: </a:t>
            </a:r>
            <a:r>
              <a:rPr lang="en-US" dirty="0"/>
              <a:t>Cap</a:t>
            </a:r>
            <a:r>
              <a:rPr lang="en-US" b="1" dirty="0"/>
              <a:t> </a:t>
            </a:r>
            <a:r>
              <a:rPr lang="en-US" dirty="0"/>
              <a:t>of 2 per VA facility. Waiver required for an additional slot. Resubmissions of new NCI applications continue to count toward the facility cap. AMP Directors may propose investigators for waivers. Does not apply to new applications for CADE. </a:t>
            </a:r>
          </a:p>
          <a:p>
            <a:pPr lvl="1"/>
            <a:endParaRPr lang="en-US" dirty="0"/>
          </a:p>
          <a:p>
            <a:pPr lvl="1"/>
            <a:endParaRPr lang="en-US" dirty="0"/>
          </a:p>
          <a:p>
            <a:endParaRPr lang="en-US" dirty="0"/>
          </a:p>
          <a:p>
            <a:endParaRPr lang="en-US" dirty="0"/>
          </a:p>
        </p:txBody>
      </p:sp>
      <p:sp>
        <p:nvSpPr>
          <p:cNvPr id="4" name="Slide Number Placeholder 2">
            <a:extLst>
              <a:ext uri="{FF2B5EF4-FFF2-40B4-BE49-F238E27FC236}">
                <a16:creationId xmlns:a16="http://schemas.microsoft.com/office/drawing/2014/main" id="{836AB4DA-BD97-C83C-58C3-90EBD5EE219C}"/>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21</a:t>
            </a:fld>
            <a:endParaRPr lang="en-US"/>
          </a:p>
        </p:txBody>
      </p:sp>
    </p:spTree>
    <p:extLst>
      <p:ext uri="{BB962C8B-B14F-4D97-AF65-F5344CB8AC3E}">
        <p14:creationId xmlns:p14="http://schemas.microsoft.com/office/powerpoint/2010/main" val="3777509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DD950-5E24-1A5B-CC58-E1FB511343DA}"/>
              </a:ext>
            </a:extLst>
          </p:cNvPr>
          <p:cNvSpPr>
            <a:spLocks noGrp="1"/>
          </p:cNvSpPr>
          <p:nvPr>
            <p:ph type="title"/>
          </p:nvPr>
        </p:nvSpPr>
        <p:spPr/>
        <p:txBody>
          <a:bodyPr/>
          <a:lstStyle/>
          <a:p>
            <a:r>
              <a:rPr lang="en-US" dirty="0"/>
              <a:t>New Review Timeline</a:t>
            </a:r>
          </a:p>
        </p:txBody>
      </p:sp>
      <p:graphicFrame>
        <p:nvGraphicFramePr>
          <p:cNvPr id="3" name="Table 3">
            <a:extLst>
              <a:ext uri="{FF2B5EF4-FFF2-40B4-BE49-F238E27FC236}">
                <a16:creationId xmlns:a16="http://schemas.microsoft.com/office/drawing/2014/main" id="{A142F1D9-A554-41CA-1B0E-5964E4255E49}"/>
              </a:ext>
            </a:extLst>
          </p:cNvPr>
          <p:cNvGraphicFramePr>
            <a:graphicFrameLocks noGrp="1"/>
          </p:cNvGraphicFramePr>
          <p:nvPr/>
        </p:nvGraphicFramePr>
        <p:xfrm>
          <a:off x="691535" y="1353839"/>
          <a:ext cx="10808930" cy="4211320"/>
        </p:xfrm>
        <a:graphic>
          <a:graphicData uri="http://schemas.openxmlformats.org/drawingml/2006/table">
            <a:tbl>
              <a:tblPr firstRow="1" bandRow="1">
                <a:tableStyleId>{5C22544A-7EE6-4342-B048-85BDC9FD1C3A}</a:tableStyleId>
              </a:tblPr>
              <a:tblGrid>
                <a:gridCol w="2161786">
                  <a:extLst>
                    <a:ext uri="{9D8B030D-6E8A-4147-A177-3AD203B41FA5}">
                      <a16:colId xmlns:a16="http://schemas.microsoft.com/office/drawing/2014/main" val="171138908"/>
                    </a:ext>
                  </a:extLst>
                </a:gridCol>
                <a:gridCol w="2161786">
                  <a:extLst>
                    <a:ext uri="{9D8B030D-6E8A-4147-A177-3AD203B41FA5}">
                      <a16:colId xmlns:a16="http://schemas.microsoft.com/office/drawing/2014/main" val="2106107983"/>
                    </a:ext>
                  </a:extLst>
                </a:gridCol>
                <a:gridCol w="2161786">
                  <a:extLst>
                    <a:ext uri="{9D8B030D-6E8A-4147-A177-3AD203B41FA5}">
                      <a16:colId xmlns:a16="http://schemas.microsoft.com/office/drawing/2014/main" val="2962616494"/>
                    </a:ext>
                  </a:extLst>
                </a:gridCol>
                <a:gridCol w="2161786">
                  <a:extLst>
                    <a:ext uri="{9D8B030D-6E8A-4147-A177-3AD203B41FA5}">
                      <a16:colId xmlns:a16="http://schemas.microsoft.com/office/drawing/2014/main" val="435735647"/>
                    </a:ext>
                  </a:extLst>
                </a:gridCol>
                <a:gridCol w="2161786">
                  <a:extLst>
                    <a:ext uri="{9D8B030D-6E8A-4147-A177-3AD203B41FA5}">
                      <a16:colId xmlns:a16="http://schemas.microsoft.com/office/drawing/2014/main" val="1988275277"/>
                    </a:ext>
                  </a:extLst>
                </a:gridCol>
              </a:tblGrid>
              <a:tr h="370840">
                <a:tc>
                  <a:txBody>
                    <a:bodyPr/>
                    <a:lstStyle/>
                    <a:p>
                      <a:endParaRPr lang="en-US" dirty="0"/>
                    </a:p>
                  </a:txBody>
                  <a:tcPr>
                    <a:solidFill>
                      <a:srgbClr val="002F56"/>
                    </a:solidFill>
                  </a:tcPr>
                </a:tc>
                <a:tc>
                  <a:txBody>
                    <a:bodyPr/>
                    <a:lstStyle/>
                    <a:p>
                      <a:r>
                        <a:rPr lang="en-US" dirty="0"/>
                        <a:t>Winter</a:t>
                      </a:r>
                    </a:p>
                  </a:txBody>
                  <a:tcPr>
                    <a:solidFill>
                      <a:srgbClr val="002F56"/>
                    </a:solidFill>
                  </a:tcPr>
                </a:tc>
                <a:tc>
                  <a:txBody>
                    <a:bodyPr/>
                    <a:lstStyle/>
                    <a:p>
                      <a:r>
                        <a:rPr lang="en-US" dirty="0"/>
                        <a:t>Spring</a:t>
                      </a:r>
                    </a:p>
                  </a:txBody>
                  <a:tcPr>
                    <a:solidFill>
                      <a:schemeClr val="accent6">
                        <a:lumMod val="50000"/>
                      </a:schemeClr>
                    </a:solidFill>
                  </a:tcPr>
                </a:tc>
                <a:tc>
                  <a:txBody>
                    <a:bodyPr/>
                    <a:lstStyle/>
                    <a:p>
                      <a:r>
                        <a:rPr lang="en-US" dirty="0"/>
                        <a:t>Summer </a:t>
                      </a:r>
                    </a:p>
                  </a:txBody>
                  <a:tcPr>
                    <a:solidFill>
                      <a:srgbClr val="002060"/>
                    </a:solidFill>
                  </a:tcPr>
                </a:tc>
                <a:tc>
                  <a:txBody>
                    <a:bodyPr/>
                    <a:lstStyle/>
                    <a:p>
                      <a:r>
                        <a:rPr lang="en-US" dirty="0"/>
                        <a:t>Fall</a:t>
                      </a:r>
                    </a:p>
                  </a:txBody>
                  <a:tcPr>
                    <a:solidFill>
                      <a:schemeClr val="accent6">
                        <a:lumMod val="50000"/>
                      </a:schemeClr>
                    </a:solidFill>
                  </a:tcPr>
                </a:tc>
                <a:extLst>
                  <a:ext uri="{0D108BD9-81ED-4DB2-BD59-A6C34878D82A}">
                    <a16:rowId xmlns:a16="http://schemas.microsoft.com/office/drawing/2014/main" val="4282372112"/>
                  </a:ext>
                </a:extLst>
              </a:tr>
              <a:tr h="370840">
                <a:tc>
                  <a:txBody>
                    <a:bodyPr/>
                    <a:lstStyle/>
                    <a:p>
                      <a:r>
                        <a:rPr lang="en-US" b="1" dirty="0">
                          <a:solidFill>
                            <a:schemeClr val="bg1"/>
                          </a:solidFill>
                        </a:rPr>
                        <a:t>Site waivers for 2</a:t>
                      </a:r>
                      <a:r>
                        <a:rPr lang="en-US" b="1" baseline="30000" dirty="0">
                          <a:solidFill>
                            <a:schemeClr val="bg1"/>
                          </a:solidFill>
                        </a:rPr>
                        <a:t>nd</a:t>
                      </a:r>
                      <a:r>
                        <a:rPr lang="en-US" b="1" dirty="0">
                          <a:solidFill>
                            <a:schemeClr val="bg1"/>
                          </a:solidFill>
                        </a:rPr>
                        <a:t> new NCI slot</a:t>
                      </a:r>
                    </a:p>
                  </a:txBody>
                  <a:tcPr>
                    <a:solidFill>
                      <a:srgbClr val="002F56"/>
                    </a:solidFill>
                  </a:tcPr>
                </a:tc>
                <a:tc>
                  <a:txBody>
                    <a:bodyPr/>
                    <a:lstStyle/>
                    <a:p>
                      <a:r>
                        <a:rPr lang="en-US" dirty="0">
                          <a:solidFill>
                            <a:schemeClr val="tx1"/>
                          </a:solidFill>
                        </a:rPr>
                        <a:t>N/A</a:t>
                      </a:r>
                    </a:p>
                  </a:txBody>
                  <a:tcPr>
                    <a:solidFill>
                      <a:schemeClr val="accent1">
                        <a:lumMod val="40000"/>
                        <a:lumOff val="60000"/>
                      </a:schemeClr>
                    </a:solidFill>
                  </a:tcPr>
                </a:tc>
                <a:tc>
                  <a:txBody>
                    <a:bodyPr/>
                    <a:lstStyle/>
                    <a:p>
                      <a:r>
                        <a:rPr lang="en-US" dirty="0">
                          <a:solidFill>
                            <a:schemeClr val="tx1"/>
                          </a:solidFill>
                        </a:rPr>
                        <a:t>10/15</a:t>
                      </a:r>
                    </a:p>
                  </a:txBody>
                  <a:tcPr>
                    <a:solidFill>
                      <a:schemeClr val="accent6">
                        <a:lumMod val="40000"/>
                        <a:lumOff val="60000"/>
                      </a:schemeClr>
                    </a:solidFill>
                  </a:tcPr>
                </a:tc>
                <a:tc>
                  <a:txBody>
                    <a:bodyPr/>
                    <a:lstStyle/>
                    <a:p>
                      <a:r>
                        <a:rPr lang="en-US" dirty="0">
                          <a:solidFill>
                            <a:schemeClr val="tx1"/>
                          </a:solidFill>
                        </a:rPr>
                        <a:t>N/A</a:t>
                      </a:r>
                    </a:p>
                  </a:txBody>
                  <a:tcPr>
                    <a:solidFill>
                      <a:schemeClr val="accent1">
                        <a:lumMod val="40000"/>
                        <a:lumOff val="60000"/>
                      </a:schemeClr>
                    </a:solidFill>
                  </a:tcPr>
                </a:tc>
                <a:tc>
                  <a:txBody>
                    <a:bodyPr/>
                    <a:lstStyle/>
                    <a:p>
                      <a:r>
                        <a:rPr lang="en-US" dirty="0">
                          <a:solidFill>
                            <a:schemeClr val="tx1"/>
                          </a:solidFill>
                        </a:rPr>
                        <a:t>4/15</a:t>
                      </a:r>
                    </a:p>
                  </a:txBody>
                  <a:tcPr>
                    <a:solidFill>
                      <a:schemeClr val="accent6">
                        <a:lumMod val="40000"/>
                        <a:lumOff val="60000"/>
                      </a:schemeClr>
                    </a:solidFill>
                  </a:tcPr>
                </a:tc>
                <a:extLst>
                  <a:ext uri="{0D108BD9-81ED-4DB2-BD59-A6C34878D82A}">
                    <a16:rowId xmlns:a16="http://schemas.microsoft.com/office/drawing/2014/main" val="4182011994"/>
                  </a:ext>
                </a:extLst>
              </a:tr>
              <a:tr h="370840">
                <a:tc>
                  <a:txBody>
                    <a:bodyPr/>
                    <a:lstStyle/>
                    <a:p>
                      <a:r>
                        <a:rPr lang="en-US" b="1" dirty="0">
                          <a:solidFill>
                            <a:schemeClr val="bg1"/>
                          </a:solidFill>
                        </a:rPr>
                        <a:t>CT, CDA, TT Pre-apps due</a:t>
                      </a:r>
                    </a:p>
                  </a:txBody>
                  <a:tcPr>
                    <a:solidFill>
                      <a:srgbClr val="002F56"/>
                    </a:solidFill>
                  </a:tcPr>
                </a:tc>
                <a:tc>
                  <a:txBody>
                    <a:bodyPr/>
                    <a:lstStyle/>
                    <a:p>
                      <a:r>
                        <a:rPr lang="en-US" dirty="0">
                          <a:solidFill>
                            <a:schemeClr val="tx1"/>
                          </a:solidFill>
                        </a:rPr>
                        <a:t>8/1</a:t>
                      </a:r>
                    </a:p>
                  </a:txBody>
                  <a:tcPr>
                    <a:solidFill>
                      <a:schemeClr val="accent1">
                        <a:lumMod val="40000"/>
                        <a:lumOff val="60000"/>
                      </a:schemeClr>
                    </a:solidFill>
                  </a:tcPr>
                </a:tc>
                <a:tc>
                  <a:txBody>
                    <a:bodyPr/>
                    <a:lstStyle/>
                    <a:p>
                      <a:r>
                        <a:rPr lang="en-US" dirty="0">
                          <a:solidFill>
                            <a:schemeClr val="tx1"/>
                          </a:solidFill>
                        </a:rPr>
                        <a:t>11/1</a:t>
                      </a:r>
                    </a:p>
                  </a:txBody>
                  <a:tcPr>
                    <a:solidFill>
                      <a:schemeClr val="accent6">
                        <a:lumMod val="40000"/>
                        <a:lumOff val="60000"/>
                      </a:schemeClr>
                    </a:solidFill>
                  </a:tcPr>
                </a:tc>
                <a:tc>
                  <a:txBody>
                    <a:bodyPr/>
                    <a:lstStyle/>
                    <a:p>
                      <a:r>
                        <a:rPr lang="en-US" dirty="0">
                          <a:solidFill>
                            <a:schemeClr val="tx1"/>
                          </a:solidFill>
                        </a:rPr>
                        <a:t>2/1</a:t>
                      </a:r>
                    </a:p>
                  </a:txBody>
                  <a:tcPr>
                    <a:solidFill>
                      <a:schemeClr val="accent1">
                        <a:lumMod val="40000"/>
                        <a:lumOff val="60000"/>
                      </a:schemeClr>
                    </a:solidFill>
                  </a:tcPr>
                </a:tc>
                <a:tc>
                  <a:txBody>
                    <a:bodyPr/>
                    <a:lstStyle/>
                    <a:p>
                      <a:r>
                        <a:rPr lang="en-US" dirty="0">
                          <a:solidFill>
                            <a:schemeClr val="tx1"/>
                          </a:solidFill>
                        </a:rPr>
                        <a:t>5/1</a:t>
                      </a:r>
                    </a:p>
                  </a:txBody>
                  <a:tcPr>
                    <a:solidFill>
                      <a:schemeClr val="accent6">
                        <a:lumMod val="40000"/>
                        <a:lumOff val="60000"/>
                      </a:schemeClr>
                    </a:solidFill>
                  </a:tcPr>
                </a:tc>
                <a:extLst>
                  <a:ext uri="{0D108BD9-81ED-4DB2-BD59-A6C34878D82A}">
                    <a16:rowId xmlns:a16="http://schemas.microsoft.com/office/drawing/2014/main" val="1292088549"/>
                  </a:ext>
                </a:extLst>
              </a:tr>
              <a:tr h="370840">
                <a:tc>
                  <a:txBody>
                    <a:bodyPr/>
                    <a:lstStyle/>
                    <a:p>
                      <a:r>
                        <a:rPr lang="en-US" b="1" dirty="0">
                          <a:solidFill>
                            <a:schemeClr val="bg1"/>
                          </a:solidFill>
                        </a:rPr>
                        <a:t>MVP data use apps due</a:t>
                      </a:r>
                    </a:p>
                  </a:txBody>
                  <a:tcPr>
                    <a:solidFill>
                      <a:srgbClr val="002F56"/>
                    </a:solidFill>
                  </a:tcPr>
                </a:tc>
                <a:tc>
                  <a:txBody>
                    <a:bodyPr/>
                    <a:lstStyle/>
                    <a:p>
                      <a:r>
                        <a:rPr lang="en-US" dirty="0">
                          <a:solidFill>
                            <a:schemeClr val="tx1"/>
                          </a:solidFill>
                        </a:rPr>
                        <a:t>10/1</a:t>
                      </a:r>
                    </a:p>
                  </a:txBody>
                  <a:tcPr>
                    <a:solidFill>
                      <a:schemeClr val="accent1">
                        <a:lumMod val="40000"/>
                        <a:lumOff val="60000"/>
                      </a:schemeClr>
                    </a:solidFill>
                  </a:tcPr>
                </a:tc>
                <a:tc>
                  <a:txBody>
                    <a:bodyPr/>
                    <a:lstStyle/>
                    <a:p>
                      <a:r>
                        <a:rPr lang="en-US" dirty="0">
                          <a:solidFill>
                            <a:schemeClr val="tx1"/>
                          </a:solidFill>
                        </a:rPr>
                        <a:t>1/1</a:t>
                      </a:r>
                    </a:p>
                  </a:txBody>
                  <a:tcPr>
                    <a:solidFill>
                      <a:schemeClr val="accent6">
                        <a:lumMod val="40000"/>
                        <a:lumOff val="60000"/>
                      </a:schemeClr>
                    </a:solidFill>
                  </a:tcPr>
                </a:tc>
                <a:tc>
                  <a:txBody>
                    <a:bodyPr/>
                    <a:lstStyle/>
                    <a:p>
                      <a:r>
                        <a:rPr lang="en-US" dirty="0">
                          <a:solidFill>
                            <a:schemeClr val="tx1"/>
                          </a:solidFill>
                        </a:rPr>
                        <a:t>4/1</a:t>
                      </a:r>
                    </a:p>
                  </a:txBody>
                  <a:tcPr>
                    <a:solidFill>
                      <a:schemeClr val="accent1">
                        <a:lumMod val="40000"/>
                        <a:lumOff val="60000"/>
                      </a:schemeClr>
                    </a:solidFill>
                  </a:tcPr>
                </a:tc>
                <a:tc>
                  <a:txBody>
                    <a:bodyPr/>
                    <a:lstStyle/>
                    <a:p>
                      <a:r>
                        <a:rPr lang="en-US" dirty="0">
                          <a:solidFill>
                            <a:schemeClr val="tx1"/>
                          </a:solidFill>
                        </a:rPr>
                        <a:t>7/1</a:t>
                      </a:r>
                    </a:p>
                  </a:txBody>
                  <a:tcPr>
                    <a:solidFill>
                      <a:schemeClr val="accent6">
                        <a:lumMod val="40000"/>
                        <a:lumOff val="60000"/>
                      </a:schemeClr>
                    </a:solidFill>
                  </a:tcPr>
                </a:tc>
                <a:extLst>
                  <a:ext uri="{0D108BD9-81ED-4DB2-BD59-A6C34878D82A}">
                    <a16:rowId xmlns:a16="http://schemas.microsoft.com/office/drawing/2014/main" val="759622980"/>
                  </a:ext>
                </a:extLst>
              </a:tr>
              <a:tr h="370840">
                <a:tc>
                  <a:txBody>
                    <a:bodyPr/>
                    <a:lstStyle/>
                    <a:p>
                      <a:r>
                        <a:rPr lang="en-US" b="1" dirty="0">
                          <a:solidFill>
                            <a:schemeClr val="bg1"/>
                          </a:solidFill>
                        </a:rPr>
                        <a:t>Other Research Pre-apps due</a:t>
                      </a:r>
                    </a:p>
                  </a:txBody>
                  <a:tcPr>
                    <a:solidFill>
                      <a:srgbClr val="002F56"/>
                    </a:solidFill>
                  </a:tcPr>
                </a:tc>
                <a:tc>
                  <a:txBody>
                    <a:bodyPr/>
                    <a:lstStyle/>
                    <a:p>
                      <a:r>
                        <a:rPr lang="en-US" dirty="0">
                          <a:solidFill>
                            <a:schemeClr val="tx1"/>
                          </a:solidFill>
                        </a:rPr>
                        <a:t>11/1</a:t>
                      </a:r>
                    </a:p>
                  </a:txBody>
                  <a:tcPr>
                    <a:solidFill>
                      <a:schemeClr val="accent1">
                        <a:lumMod val="40000"/>
                        <a:lumOff val="60000"/>
                      </a:schemeClr>
                    </a:solidFill>
                  </a:tcPr>
                </a:tc>
                <a:tc>
                  <a:txBody>
                    <a:bodyPr/>
                    <a:lstStyle/>
                    <a:p>
                      <a:r>
                        <a:rPr lang="en-US" dirty="0">
                          <a:solidFill>
                            <a:schemeClr val="tx1"/>
                          </a:solidFill>
                        </a:rPr>
                        <a:t>2/1</a:t>
                      </a:r>
                    </a:p>
                  </a:txBody>
                  <a:tcPr>
                    <a:solidFill>
                      <a:schemeClr val="accent6">
                        <a:lumMod val="40000"/>
                        <a:lumOff val="60000"/>
                      </a:schemeClr>
                    </a:solidFill>
                  </a:tcPr>
                </a:tc>
                <a:tc>
                  <a:txBody>
                    <a:bodyPr/>
                    <a:lstStyle/>
                    <a:p>
                      <a:r>
                        <a:rPr lang="en-US" dirty="0">
                          <a:solidFill>
                            <a:schemeClr val="tx1"/>
                          </a:solidFill>
                        </a:rPr>
                        <a:t>5/1</a:t>
                      </a:r>
                    </a:p>
                  </a:txBody>
                  <a:tcPr>
                    <a:solidFill>
                      <a:schemeClr val="accent1">
                        <a:lumMod val="40000"/>
                        <a:lumOff val="60000"/>
                      </a:schemeClr>
                    </a:solidFill>
                  </a:tcPr>
                </a:tc>
                <a:tc>
                  <a:txBody>
                    <a:bodyPr/>
                    <a:lstStyle/>
                    <a:p>
                      <a:r>
                        <a:rPr lang="en-US" dirty="0">
                          <a:solidFill>
                            <a:schemeClr val="tx1"/>
                          </a:solidFill>
                        </a:rPr>
                        <a:t>8/1</a:t>
                      </a:r>
                    </a:p>
                  </a:txBody>
                  <a:tcPr>
                    <a:solidFill>
                      <a:schemeClr val="accent6">
                        <a:lumMod val="40000"/>
                        <a:lumOff val="60000"/>
                      </a:schemeClr>
                    </a:solidFill>
                  </a:tcPr>
                </a:tc>
                <a:extLst>
                  <a:ext uri="{0D108BD9-81ED-4DB2-BD59-A6C34878D82A}">
                    <a16:rowId xmlns:a16="http://schemas.microsoft.com/office/drawing/2014/main" val="3057588339"/>
                  </a:ext>
                </a:extLst>
              </a:tr>
              <a:tr h="370840">
                <a:tc>
                  <a:txBody>
                    <a:bodyPr/>
                    <a:lstStyle/>
                    <a:p>
                      <a:r>
                        <a:rPr lang="en-US" b="1" dirty="0">
                          <a:solidFill>
                            <a:schemeClr val="bg1"/>
                          </a:solidFill>
                        </a:rPr>
                        <a:t>DTTW deadline for full apps</a:t>
                      </a:r>
                    </a:p>
                  </a:txBody>
                  <a:tcPr>
                    <a:solidFill>
                      <a:srgbClr val="002F56"/>
                    </a:solidFill>
                  </a:tcPr>
                </a:tc>
                <a:tc>
                  <a:txBody>
                    <a:bodyPr/>
                    <a:lstStyle/>
                    <a:p>
                      <a:r>
                        <a:rPr lang="en-US" dirty="0">
                          <a:solidFill>
                            <a:schemeClr val="tx1"/>
                          </a:solidFill>
                        </a:rPr>
                        <a:t>12/8</a:t>
                      </a:r>
                    </a:p>
                  </a:txBody>
                  <a:tcPr>
                    <a:solidFill>
                      <a:schemeClr val="accent1">
                        <a:lumMod val="40000"/>
                        <a:lumOff val="60000"/>
                      </a:schemeClr>
                    </a:solidFill>
                  </a:tcPr>
                </a:tc>
                <a:tc>
                  <a:txBody>
                    <a:bodyPr/>
                    <a:lstStyle/>
                    <a:p>
                      <a:r>
                        <a:rPr lang="en-US" dirty="0">
                          <a:solidFill>
                            <a:schemeClr val="tx1"/>
                          </a:solidFill>
                        </a:rPr>
                        <a:t>3/8</a:t>
                      </a:r>
                    </a:p>
                  </a:txBody>
                  <a:tcPr>
                    <a:solidFill>
                      <a:schemeClr val="accent6">
                        <a:lumMod val="40000"/>
                        <a:lumOff val="60000"/>
                      </a:schemeClr>
                    </a:solidFill>
                  </a:tcPr>
                </a:tc>
                <a:tc>
                  <a:txBody>
                    <a:bodyPr/>
                    <a:lstStyle/>
                    <a:p>
                      <a:r>
                        <a:rPr lang="en-US" dirty="0">
                          <a:solidFill>
                            <a:schemeClr val="tx1"/>
                          </a:solidFill>
                        </a:rPr>
                        <a:t>6/8</a:t>
                      </a:r>
                    </a:p>
                  </a:txBody>
                  <a:tcPr>
                    <a:solidFill>
                      <a:schemeClr val="accent1">
                        <a:lumMod val="40000"/>
                        <a:lumOff val="60000"/>
                      </a:schemeClr>
                    </a:solidFill>
                  </a:tcPr>
                </a:tc>
                <a:tc>
                  <a:txBody>
                    <a:bodyPr/>
                    <a:lstStyle/>
                    <a:p>
                      <a:r>
                        <a:rPr lang="en-US" dirty="0">
                          <a:solidFill>
                            <a:schemeClr val="tx1"/>
                          </a:solidFill>
                        </a:rPr>
                        <a:t>9/8</a:t>
                      </a:r>
                    </a:p>
                  </a:txBody>
                  <a:tcPr>
                    <a:solidFill>
                      <a:schemeClr val="accent6">
                        <a:lumMod val="40000"/>
                        <a:lumOff val="60000"/>
                      </a:schemeClr>
                    </a:solidFill>
                  </a:tcPr>
                </a:tc>
                <a:extLst>
                  <a:ext uri="{0D108BD9-81ED-4DB2-BD59-A6C34878D82A}">
                    <a16:rowId xmlns:a16="http://schemas.microsoft.com/office/drawing/2014/main" val="745508022"/>
                  </a:ext>
                </a:extLst>
              </a:tr>
              <a:tr h="370840">
                <a:tc>
                  <a:txBody>
                    <a:bodyPr/>
                    <a:lstStyle/>
                    <a:p>
                      <a:r>
                        <a:rPr lang="en-US" b="1" dirty="0" err="1">
                          <a:solidFill>
                            <a:schemeClr val="bg1"/>
                          </a:solidFill>
                        </a:rPr>
                        <a:t>eRA</a:t>
                      </a:r>
                      <a:r>
                        <a:rPr lang="en-US" b="1" dirty="0">
                          <a:solidFill>
                            <a:schemeClr val="bg1"/>
                          </a:solidFill>
                        </a:rPr>
                        <a:t> closes to full apps</a:t>
                      </a:r>
                    </a:p>
                  </a:txBody>
                  <a:tcPr>
                    <a:solidFill>
                      <a:srgbClr val="002F56"/>
                    </a:solidFill>
                  </a:tcPr>
                </a:tc>
                <a:tc>
                  <a:txBody>
                    <a:bodyPr/>
                    <a:lstStyle/>
                    <a:p>
                      <a:r>
                        <a:rPr lang="en-US" dirty="0">
                          <a:solidFill>
                            <a:schemeClr val="tx1"/>
                          </a:solidFill>
                        </a:rPr>
                        <a:t>12/10</a:t>
                      </a:r>
                    </a:p>
                  </a:txBody>
                  <a:tcPr>
                    <a:solidFill>
                      <a:schemeClr val="accent1">
                        <a:lumMod val="40000"/>
                        <a:lumOff val="60000"/>
                      </a:schemeClr>
                    </a:solidFill>
                  </a:tcPr>
                </a:tc>
                <a:tc>
                  <a:txBody>
                    <a:bodyPr/>
                    <a:lstStyle/>
                    <a:p>
                      <a:r>
                        <a:rPr lang="en-US" dirty="0">
                          <a:solidFill>
                            <a:schemeClr val="tx1"/>
                          </a:solidFill>
                        </a:rPr>
                        <a:t>3/10</a:t>
                      </a:r>
                    </a:p>
                  </a:txBody>
                  <a:tcPr>
                    <a:solidFill>
                      <a:schemeClr val="accent6">
                        <a:lumMod val="40000"/>
                        <a:lumOff val="60000"/>
                      </a:schemeClr>
                    </a:solidFill>
                  </a:tcPr>
                </a:tc>
                <a:tc>
                  <a:txBody>
                    <a:bodyPr/>
                    <a:lstStyle/>
                    <a:p>
                      <a:r>
                        <a:rPr lang="en-US" dirty="0">
                          <a:solidFill>
                            <a:schemeClr val="tx1"/>
                          </a:solidFill>
                        </a:rPr>
                        <a:t>6/10</a:t>
                      </a:r>
                    </a:p>
                  </a:txBody>
                  <a:tcPr>
                    <a:solidFill>
                      <a:schemeClr val="accent1">
                        <a:lumMod val="40000"/>
                        <a:lumOff val="60000"/>
                      </a:schemeClr>
                    </a:solidFill>
                  </a:tcPr>
                </a:tc>
                <a:tc>
                  <a:txBody>
                    <a:bodyPr/>
                    <a:lstStyle/>
                    <a:p>
                      <a:r>
                        <a:rPr lang="en-US" dirty="0">
                          <a:solidFill>
                            <a:schemeClr val="tx1"/>
                          </a:solidFill>
                        </a:rPr>
                        <a:t>9/10</a:t>
                      </a:r>
                    </a:p>
                  </a:txBody>
                  <a:tcPr>
                    <a:solidFill>
                      <a:schemeClr val="accent6">
                        <a:lumMod val="40000"/>
                        <a:lumOff val="60000"/>
                      </a:schemeClr>
                    </a:solidFill>
                  </a:tcPr>
                </a:tc>
                <a:extLst>
                  <a:ext uri="{0D108BD9-81ED-4DB2-BD59-A6C34878D82A}">
                    <a16:rowId xmlns:a16="http://schemas.microsoft.com/office/drawing/2014/main" val="1816068202"/>
                  </a:ext>
                </a:extLst>
              </a:tr>
            </a:tbl>
          </a:graphicData>
        </a:graphic>
      </p:graphicFrame>
      <p:sp>
        <p:nvSpPr>
          <p:cNvPr id="4" name="Slide Number Placeholder 2">
            <a:extLst>
              <a:ext uri="{FF2B5EF4-FFF2-40B4-BE49-F238E27FC236}">
                <a16:creationId xmlns:a16="http://schemas.microsoft.com/office/drawing/2014/main" id="{A1A70C98-D325-E71D-ADFC-38E60CF22AA2}"/>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22</a:t>
            </a:fld>
            <a:endParaRPr lang="en-US"/>
          </a:p>
        </p:txBody>
      </p:sp>
    </p:spTree>
    <p:extLst>
      <p:ext uri="{BB962C8B-B14F-4D97-AF65-F5344CB8AC3E}">
        <p14:creationId xmlns:p14="http://schemas.microsoft.com/office/powerpoint/2010/main" val="26560739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722C5D92-BC7E-5777-6594-C757BD5FC879}"/>
              </a:ext>
            </a:extLst>
          </p:cNvPr>
          <p:cNvSpPr>
            <a:spLocks noGrp="1"/>
          </p:cNvSpPr>
          <p:nvPr>
            <p:ph type="title"/>
          </p:nvPr>
        </p:nvSpPr>
        <p:spPr/>
        <p:txBody>
          <a:bodyPr>
            <a:normAutofit/>
          </a:bodyPr>
          <a:lstStyle/>
          <a:p>
            <a:r>
              <a:rPr lang="en-US"/>
              <a:t>ISRM Pre-application RFA Timing</a:t>
            </a:r>
          </a:p>
        </p:txBody>
      </p:sp>
      <p:sp>
        <p:nvSpPr>
          <p:cNvPr id="3" name="Content Placeholder 2">
            <a:extLst>
              <a:ext uri="{FF2B5EF4-FFF2-40B4-BE49-F238E27FC236}">
                <a16:creationId xmlns:a16="http://schemas.microsoft.com/office/drawing/2014/main" id="{6F4B9500-C5CC-9E63-4A26-CF6F7E0D94E7}"/>
              </a:ext>
            </a:extLst>
          </p:cNvPr>
          <p:cNvSpPr>
            <a:spLocks noGrp="1"/>
          </p:cNvSpPr>
          <p:nvPr>
            <p:ph idx="1"/>
          </p:nvPr>
        </p:nvSpPr>
        <p:spPr>
          <a:xfrm>
            <a:off x="129827" y="1413576"/>
            <a:ext cx="11198148" cy="4588553"/>
          </a:xfrm>
        </p:spPr>
        <p:txBody>
          <a:bodyPr/>
          <a:lstStyle/>
          <a:p>
            <a:pPr lvl="1"/>
            <a:r>
              <a:rPr lang="en-US" sz="2800" dirty="0"/>
              <a:t>Clinical Trials, Career Development and Tech Transfer Development Awards</a:t>
            </a:r>
          </a:p>
          <a:p>
            <a:pPr lvl="2"/>
            <a:r>
              <a:rPr lang="en-US" sz="2400" dirty="0"/>
              <a:t>Pre-apps due 8/1, 11/1, 2/1, 5/1</a:t>
            </a:r>
          </a:p>
          <a:p>
            <a:pPr lvl="2"/>
            <a:r>
              <a:rPr lang="en-US" sz="2400" dirty="0"/>
              <a:t>Administrative + Technical review with feedback</a:t>
            </a:r>
          </a:p>
          <a:p>
            <a:pPr lvl="2"/>
            <a:r>
              <a:rPr lang="en-US" sz="2400" dirty="0"/>
              <a:t>Stations notified of concerns/disapprovals within four weeks of receipt</a:t>
            </a:r>
          </a:p>
          <a:p>
            <a:pPr lvl="2"/>
            <a:r>
              <a:rPr lang="en-US" sz="2400" dirty="0"/>
              <a:t>Exceptions needed for 8/1/24 deadlines </a:t>
            </a:r>
          </a:p>
          <a:p>
            <a:pPr lvl="1"/>
            <a:r>
              <a:rPr lang="en-US" sz="2800" dirty="0"/>
              <a:t>Other Research (Merits, Pilots…)</a:t>
            </a:r>
          </a:p>
          <a:p>
            <a:pPr lvl="2"/>
            <a:r>
              <a:rPr lang="en-US" sz="2400" dirty="0"/>
              <a:t>Pre-Apps due six weeks before full application due date</a:t>
            </a:r>
          </a:p>
          <a:p>
            <a:pPr lvl="2"/>
            <a:r>
              <a:rPr lang="en-US" sz="2400" dirty="0"/>
              <a:t>Administrative review with optional technical review and feedback</a:t>
            </a:r>
          </a:p>
          <a:p>
            <a:pPr lvl="2"/>
            <a:r>
              <a:rPr lang="en-US" sz="2400" dirty="0"/>
              <a:t>Stations notified of concerns/disapprovals within three weeks of receipt</a:t>
            </a:r>
          </a:p>
          <a:p>
            <a:pPr lvl="1"/>
            <a:endParaRPr lang="en-US" dirty="0"/>
          </a:p>
          <a:p>
            <a:endParaRPr lang="en-US" dirty="0"/>
          </a:p>
          <a:p>
            <a:endParaRPr lang="en-US" dirty="0"/>
          </a:p>
        </p:txBody>
      </p:sp>
      <p:sp>
        <p:nvSpPr>
          <p:cNvPr id="4" name="Slide Number Placeholder 2">
            <a:extLst>
              <a:ext uri="{FF2B5EF4-FFF2-40B4-BE49-F238E27FC236}">
                <a16:creationId xmlns:a16="http://schemas.microsoft.com/office/drawing/2014/main" id="{1B73DAA6-AB87-9B0F-044A-5AA687BB2CDB}"/>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23</a:t>
            </a:fld>
            <a:endParaRPr lang="en-US"/>
          </a:p>
        </p:txBody>
      </p:sp>
    </p:spTree>
    <p:extLst>
      <p:ext uri="{BB962C8B-B14F-4D97-AF65-F5344CB8AC3E}">
        <p14:creationId xmlns:p14="http://schemas.microsoft.com/office/powerpoint/2010/main" val="40035537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722C5D92-BC7E-5777-6594-C757BD5FC879}"/>
              </a:ext>
            </a:extLst>
          </p:cNvPr>
          <p:cNvSpPr>
            <a:spLocks noGrp="1"/>
          </p:cNvSpPr>
          <p:nvPr>
            <p:ph type="title"/>
          </p:nvPr>
        </p:nvSpPr>
        <p:spPr>
          <a:xfrm>
            <a:off x="285749" y="166266"/>
            <a:ext cx="11649075" cy="618385"/>
          </a:xfrm>
        </p:spPr>
        <p:txBody>
          <a:bodyPr>
            <a:normAutofit/>
          </a:bodyPr>
          <a:lstStyle/>
          <a:p>
            <a:r>
              <a:rPr lang="en-US" dirty="0"/>
              <a:t>RFA for Merit Award including an interventional clinical trial</a:t>
            </a:r>
          </a:p>
        </p:txBody>
      </p:sp>
      <p:sp>
        <p:nvSpPr>
          <p:cNvPr id="3" name="Content Placeholder 2">
            <a:extLst>
              <a:ext uri="{FF2B5EF4-FFF2-40B4-BE49-F238E27FC236}">
                <a16:creationId xmlns:a16="http://schemas.microsoft.com/office/drawing/2014/main" id="{6F4B9500-C5CC-9E63-4A26-CF6F7E0D94E7}"/>
              </a:ext>
            </a:extLst>
          </p:cNvPr>
          <p:cNvSpPr>
            <a:spLocks noGrp="1"/>
          </p:cNvSpPr>
          <p:nvPr>
            <p:ph idx="1"/>
          </p:nvPr>
        </p:nvSpPr>
        <p:spPr>
          <a:xfrm>
            <a:off x="738236" y="1079642"/>
            <a:ext cx="11649075" cy="4351338"/>
          </a:xfrm>
        </p:spPr>
        <p:txBody>
          <a:bodyPr/>
          <a:lstStyle/>
          <a:p>
            <a:r>
              <a:rPr lang="en-US" dirty="0"/>
              <a:t>One interventional clinical trial per PI unless ISRM LC grants waiver</a:t>
            </a:r>
          </a:p>
          <a:p>
            <a:r>
              <a:rPr lang="en-US" dirty="0"/>
              <a:t>Non-clinician PI salary, 3/8 allowed above the cap. Additional salary requirements must be taken from the research budget cap. </a:t>
            </a:r>
          </a:p>
          <a:p>
            <a:pPr marL="0" indent="0">
              <a:buNone/>
            </a:pPr>
            <a:endParaRPr lang="en-US" dirty="0"/>
          </a:p>
          <a:p>
            <a:endParaRPr lang="en-US" dirty="0"/>
          </a:p>
          <a:p>
            <a:endParaRPr lang="en-US" dirty="0"/>
          </a:p>
          <a:p>
            <a:endParaRPr lang="en-US" dirty="0"/>
          </a:p>
          <a:p>
            <a:endParaRPr lang="en-US" dirty="0"/>
          </a:p>
          <a:p>
            <a:endParaRPr lang="en-US" dirty="0"/>
          </a:p>
          <a:p>
            <a:r>
              <a:rPr lang="en-US" dirty="0"/>
              <a:t>Budget cap waivers approved by the ISRM Leadership Council</a:t>
            </a:r>
          </a:p>
          <a:p>
            <a:endParaRPr lang="en-US" dirty="0"/>
          </a:p>
          <a:p>
            <a:endParaRPr lang="en-US" dirty="0"/>
          </a:p>
        </p:txBody>
      </p:sp>
      <p:graphicFrame>
        <p:nvGraphicFramePr>
          <p:cNvPr id="4" name="Table 3">
            <a:extLst>
              <a:ext uri="{FF2B5EF4-FFF2-40B4-BE49-F238E27FC236}">
                <a16:creationId xmlns:a16="http://schemas.microsoft.com/office/drawing/2014/main" id="{9AE6FD54-623F-F067-9385-4D25D3DDBF2E}"/>
              </a:ext>
            </a:extLst>
          </p:cNvPr>
          <p:cNvGraphicFramePr>
            <a:graphicFrameLocks noGrp="1"/>
          </p:cNvGraphicFramePr>
          <p:nvPr>
            <p:extLst>
              <p:ext uri="{D42A27DB-BD31-4B8C-83A1-F6EECF244321}">
                <p14:modId xmlns:p14="http://schemas.microsoft.com/office/powerpoint/2010/main" val="3619045711"/>
              </p:ext>
            </p:extLst>
          </p:nvPr>
        </p:nvGraphicFramePr>
        <p:xfrm>
          <a:off x="1621410" y="2745909"/>
          <a:ext cx="7117239" cy="2359849"/>
        </p:xfrm>
        <a:graphic>
          <a:graphicData uri="http://schemas.openxmlformats.org/drawingml/2006/table">
            <a:tbl>
              <a:tblPr firstRow="1" firstCol="1" bandRow="1">
                <a:tableStyleId>{5C22544A-7EE6-4342-B048-85BDC9FD1C3A}</a:tableStyleId>
              </a:tblPr>
              <a:tblGrid>
                <a:gridCol w="970961">
                  <a:extLst>
                    <a:ext uri="{9D8B030D-6E8A-4147-A177-3AD203B41FA5}">
                      <a16:colId xmlns:a16="http://schemas.microsoft.com/office/drawing/2014/main" val="1857786438"/>
                    </a:ext>
                  </a:extLst>
                </a:gridCol>
                <a:gridCol w="2630079">
                  <a:extLst>
                    <a:ext uri="{9D8B030D-6E8A-4147-A177-3AD203B41FA5}">
                      <a16:colId xmlns:a16="http://schemas.microsoft.com/office/drawing/2014/main" val="2309165403"/>
                    </a:ext>
                  </a:extLst>
                </a:gridCol>
                <a:gridCol w="3516199">
                  <a:extLst>
                    <a:ext uri="{9D8B030D-6E8A-4147-A177-3AD203B41FA5}">
                      <a16:colId xmlns:a16="http://schemas.microsoft.com/office/drawing/2014/main" val="2082555121"/>
                    </a:ext>
                  </a:extLst>
                </a:gridCol>
              </a:tblGrid>
              <a:tr h="374363">
                <a:tc>
                  <a:txBody>
                    <a:bodyPr/>
                    <a:lstStyle/>
                    <a:p>
                      <a:pPr marL="0" marR="0" indent="0">
                        <a:spcBef>
                          <a:spcPts val="0"/>
                        </a:spcBef>
                        <a:spcAft>
                          <a:spcPts val="0"/>
                        </a:spcAft>
                        <a:tabLst>
                          <a:tab pos="171450" algn="l"/>
                        </a:tabLst>
                      </a:pPr>
                      <a:r>
                        <a:rPr lang="en-US" sz="1200" dirty="0">
                          <a:effectLst/>
                        </a:rPr>
                        <a:t>Budget Item</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0">
                        <a:spcBef>
                          <a:spcPts val="0"/>
                        </a:spcBef>
                        <a:spcAft>
                          <a:spcPts val="0"/>
                        </a:spcAft>
                        <a:tabLst>
                          <a:tab pos="171450" algn="l"/>
                        </a:tabLst>
                      </a:pPr>
                      <a:r>
                        <a:rPr lang="en-US" sz="1200" dirty="0">
                          <a:effectLst/>
                        </a:rPr>
                        <a:t>Limit for Single Site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0">
                        <a:spcBef>
                          <a:spcPts val="0"/>
                        </a:spcBef>
                        <a:spcAft>
                          <a:spcPts val="0"/>
                        </a:spcAft>
                        <a:tabLst>
                          <a:tab pos="171450" algn="l"/>
                        </a:tabLst>
                      </a:pPr>
                      <a:r>
                        <a:rPr lang="en-US" sz="1200" dirty="0">
                          <a:effectLst/>
                        </a:rPr>
                        <a:t>Limit for Multi-VAMC Sites*</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762873625"/>
                  </a:ext>
                </a:extLst>
              </a:tr>
              <a:tr h="936625">
                <a:tc>
                  <a:txBody>
                    <a:bodyPr/>
                    <a:lstStyle/>
                    <a:p>
                      <a:pPr marL="0" marR="0" indent="0">
                        <a:spcBef>
                          <a:spcPts val="0"/>
                        </a:spcBef>
                        <a:spcAft>
                          <a:spcPts val="0"/>
                        </a:spcAft>
                        <a:tabLst>
                          <a:tab pos="171450" algn="l"/>
                        </a:tabLst>
                      </a:pPr>
                      <a:r>
                        <a:rPr lang="en-US" sz="1200" dirty="0">
                          <a:effectLst/>
                        </a:rPr>
                        <a:t>Budget Cap</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91440" marR="0" lvl="0" indent="-91440">
                        <a:spcBef>
                          <a:spcPts val="0"/>
                        </a:spcBef>
                        <a:spcAft>
                          <a:spcPts val="0"/>
                        </a:spcAft>
                        <a:buFont typeface="Symbol" panose="05050102010706020507" pitchFamily="18" charset="2"/>
                        <a:buChar char=""/>
                        <a:tabLst>
                          <a:tab pos="171450" algn="l"/>
                        </a:tabLst>
                      </a:pPr>
                      <a:r>
                        <a:rPr lang="en-US" sz="1100" b="1" dirty="0">
                          <a:effectLst/>
                        </a:rPr>
                        <a:t>For two (2) years:  </a:t>
                      </a:r>
                      <a:r>
                        <a:rPr lang="en-US" sz="1100" dirty="0">
                          <a:effectLst/>
                        </a:rPr>
                        <a:t>$600,000</a:t>
                      </a:r>
                      <a:endParaRPr lang="en-US" sz="1000" dirty="0">
                        <a:effectLst/>
                      </a:endParaRPr>
                    </a:p>
                    <a:p>
                      <a:pPr marL="91440" marR="0" lvl="0" indent="-91440">
                        <a:spcBef>
                          <a:spcPts val="0"/>
                        </a:spcBef>
                        <a:spcAft>
                          <a:spcPts val="0"/>
                        </a:spcAft>
                        <a:buFont typeface="Symbol" panose="05050102010706020507" pitchFamily="18" charset="2"/>
                        <a:buChar char=""/>
                        <a:tabLst>
                          <a:tab pos="171450" algn="l"/>
                        </a:tabLst>
                      </a:pPr>
                      <a:r>
                        <a:rPr lang="en-US" sz="1100" b="1" dirty="0">
                          <a:effectLst/>
                        </a:rPr>
                        <a:t>For three (3) years: </a:t>
                      </a:r>
                      <a:r>
                        <a:rPr lang="en-US" sz="1100" dirty="0">
                          <a:effectLst/>
                        </a:rPr>
                        <a:t>$900,000</a:t>
                      </a:r>
                      <a:endParaRPr lang="en-US" sz="1000" dirty="0">
                        <a:effectLst/>
                      </a:endParaRPr>
                    </a:p>
                    <a:p>
                      <a:pPr marL="91440" marR="0" lvl="0" indent="-91440">
                        <a:spcBef>
                          <a:spcPts val="0"/>
                        </a:spcBef>
                        <a:spcAft>
                          <a:spcPts val="0"/>
                        </a:spcAft>
                        <a:buFont typeface="Symbol" panose="05050102010706020507" pitchFamily="18" charset="2"/>
                        <a:buChar char=""/>
                        <a:tabLst>
                          <a:tab pos="171450" algn="l"/>
                        </a:tabLst>
                      </a:pPr>
                      <a:r>
                        <a:rPr lang="en-US" sz="1100" b="1" dirty="0">
                          <a:effectLst/>
                        </a:rPr>
                        <a:t>For four (4) years: </a:t>
                      </a:r>
                      <a:r>
                        <a:rPr lang="en-US" sz="1100" dirty="0">
                          <a:effectLst/>
                        </a:rPr>
                        <a:t>$1,200,000</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0">
                        <a:spcBef>
                          <a:spcPts val="0"/>
                        </a:spcBef>
                        <a:spcAft>
                          <a:spcPts val="0"/>
                        </a:spcAft>
                        <a:tabLst>
                          <a:tab pos="171450" algn="l"/>
                        </a:tabLst>
                      </a:pPr>
                      <a:r>
                        <a:rPr lang="en-US" sz="1100" b="1" dirty="0">
                          <a:effectLst/>
                        </a:rPr>
                        <a:t>For a 2-site a total:</a:t>
                      </a:r>
                      <a:endParaRPr lang="en-US" sz="1000" b="1" dirty="0">
                        <a:effectLst/>
                      </a:endParaRPr>
                    </a:p>
                    <a:p>
                      <a:pPr marL="91440" marR="0" lvl="0" indent="-91440">
                        <a:spcBef>
                          <a:spcPts val="0"/>
                        </a:spcBef>
                        <a:spcAft>
                          <a:spcPts val="0"/>
                        </a:spcAft>
                        <a:buFont typeface="Symbol" panose="05050102010706020507" pitchFamily="18" charset="2"/>
                        <a:buChar char=""/>
                        <a:tabLst>
                          <a:tab pos="171450" algn="l"/>
                        </a:tabLst>
                      </a:pPr>
                      <a:r>
                        <a:rPr lang="en-US" sz="1100" dirty="0">
                          <a:effectLst/>
                        </a:rPr>
                        <a:t>For two (2) years, $600,000</a:t>
                      </a:r>
                      <a:endParaRPr lang="en-US" sz="1000" dirty="0">
                        <a:effectLst/>
                      </a:endParaRPr>
                    </a:p>
                    <a:p>
                      <a:pPr marL="91440" marR="0" lvl="0" indent="-91440">
                        <a:spcBef>
                          <a:spcPts val="0"/>
                        </a:spcBef>
                        <a:spcAft>
                          <a:spcPts val="0"/>
                        </a:spcAft>
                        <a:buFont typeface="Symbol" panose="05050102010706020507" pitchFamily="18" charset="2"/>
                        <a:buChar char=""/>
                        <a:tabLst>
                          <a:tab pos="171450" algn="l"/>
                        </a:tabLst>
                      </a:pPr>
                      <a:r>
                        <a:rPr lang="en-US" sz="1100" dirty="0">
                          <a:effectLst/>
                        </a:rPr>
                        <a:t>For three (3) years, $1,125,000</a:t>
                      </a:r>
                      <a:endParaRPr lang="en-US" sz="1000" dirty="0">
                        <a:effectLst/>
                      </a:endParaRPr>
                    </a:p>
                    <a:p>
                      <a:pPr marL="91440" marR="0" lvl="0" indent="-91440">
                        <a:spcBef>
                          <a:spcPts val="0"/>
                        </a:spcBef>
                        <a:spcAft>
                          <a:spcPts val="0"/>
                        </a:spcAft>
                        <a:buFont typeface="Symbol" panose="05050102010706020507" pitchFamily="18" charset="2"/>
                        <a:buChar char=""/>
                        <a:tabLst>
                          <a:tab pos="171450" algn="l"/>
                        </a:tabLst>
                      </a:pPr>
                      <a:r>
                        <a:rPr lang="en-US" sz="1100" dirty="0">
                          <a:effectLst/>
                        </a:rPr>
                        <a:t>For four (4) or five (5) years, $1,500,000</a:t>
                      </a:r>
                      <a:endParaRPr lang="en-US" sz="1000" dirty="0">
                        <a:effectLst/>
                      </a:endParaRPr>
                    </a:p>
                    <a:p>
                      <a:pPr marL="0" marR="0" indent="0">
                        <a:spcBef>
                          <a:spcPts val="0"/>
                        </a:spcBef>
                        <a:spcAft>
                          <a:spcPts val="0"/>
                        </a:spcAft>
                        <a:tabLst>
                          <a:tab pos="171450" algn="l"/>
                        </a:tabLst>
                      </a:pPr>
                      <a:r>
                        <a:rPr lang="en-US" sz="1100" b="1" dirty="0">
                          <a:effectLst/>
                        </a:rPr>
                        <a:t>For a 3 or more sites a total:</a:t>
                      </a:r>
                      <a:endParaRPr lang="en-US" sz="1000" b="1" dirty="0">
                        <a:effectLst/>
                      </a:endParaRPr>
                    </a:p>
                    <a:p>
                      <a:pPr marL="91440" marR="0" lvl="0" indent="-91440">
                        <a:spcBef>
                          <a:spcPts val="0"/>
                        </a:spcBef>
                        <a:spcAft>
                          <a:spcPts val="0"/>
                        </a:spcAft>
                        <a:buFont typeface="Symbol" panose="05050102010706020507" pitchFamily="18" charset="2"/>
                        <a:buChar char=""/>
                        <a:tabLst>
                          <a:tab pos="171450" algn="l"/>
                        </a:tabLst>
                      </a:pPr>
                      <a:r>
                        <a:rPr lang="en-US" sz="1100" dirty="0">
                          <a:effectLst/>
                        </a:rPr>
                        <a:t>Additional $100,000 per site per year for each additional site added to total budget cap</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8735460"/>
                  </a:ext>
                </a:extLst>
              </a:tr>
              <a:tr h="812006">
                <a:tc>
                  <a:txBody>
                    <a:bodyPr/>
                    <a:lstStyle/>
                    <a:p>
                      <a:pPr marL="0" marR="0" indent="0">
                        <a:spcBef>
                          <a:spcPts val="0"/>
                        </a:spcBef>
                        <a:spcAft>
                          <a:spcPts val="0"/>
                        </a:spcAft>
                        <a:tabLst>
                          <a:tab pos="171450" algn="l"/>
                        </a:tabLst>
                      </a:pPr>
                      <a:r>
                        <a:rPr lang="en-US" sz="1200" dirty="0">
                          <a:effectLst/>
                        </a:rPr>
                        <a:t>Duration</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0" algn="ctr">
                        <a:spcBef>
                          <a:spcPts val="0"/>
                        </a:spcBef>
                        <a:spcAft>
                          <a:spcPts val="0"/>
                        </a:spcAft>
                        <a:tabLst>
                          <a:tab pos="171450" algn="l"/>
                        </a:tabLst>
                      </a:pPr>
                      <a:r>
                        <a:rPr lang="en-US" sz="1100" dirty="0">
                          <a:effectLst/>
                        </a:rPr>
                        <a:t>Up to four (4) years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indent="0" algn="ctr">
                        <a:spcBef>
                          <a:spcPts val="0"/>
                        </a:spcBef>
                        <a:spcAft>
                          <a:spcPts val="0"/>
                        </a:spcAft>
                        <a:tabLst>
                          <a:tab pos="171450" algn="l"/>
                        </a:tabLst>
                      </a:pPr>
                      <a:r>
                        <a:rPr lang="en-US" sz="1100" dirty="0">
                          <a:effectLst/>
                        </a:rPr>
                        <a:t>Up to five (5) years</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15942160"/>
                  </a:ext>
                </a:extLst>
              </a:tr>
            </a:tbl>
          </a:graphicData>
        </a:graphic>
      </p:graphicFrame>
      <p:sp>
        <p:nvSpPr>
          <p:cNvPr id="5" name="Slide Number Placeholder 2">
            <a:extLst>
              <a:ext uri="{FF2B5EF4-FFF2-40B4-BE49-F238E27FC236}">
                <a16:creationId xmlns:a16="http://schemas.microsoft.com/office/drawing/2014/main" id="{FF85CEC9-5948-5B74-CEDA-1F8E974D81DD}"/>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24</a:t>
            </a:fld>
            <a:endParaRPr lang="en-US"/>
          </a:p>
        </p:txBody>
      </p:sp>
    </p:spTree>
    <p:extLst>
      <p:ext uri="{BB962C8B-B14F-4D97-AF65-F5344CB8AC3E}">
        <p14:creationId xmlns:p14="http://schemas.microsoft.com/office/powerpoint/2010/main" val="2926294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722C5D92-BC7E-5777-6594-C757BD5FC879}"/>
              </a:ext>
            </a:extLst>
          </p:cNvPr>
          <p:cNvSpPr>
            <a:spLocks noGrp="1"/>
          </p:cNvSpPr>
          <p:nvPr>
            <p:ph type="title"/>
          </p:nvPr>
        </p:nvSpPr>
        <p:spPr>
          <a:xfrm>
            <a:off x="285749" y="166266"/>
            <a:ext cx="11649075" cy="618385"/>
          </a:xfrm>
        </p:spPr>
        <p:txBody>
          <a:bodyPr>
            <a:normAutofit/>
          </a:bodyPr>
          <a:lstStyle/>
          <a:p>
            <a:r>
              <a:rPr lang="en-US" dirty="0"/>
              <a:t>RFA for Merit Award not including an interventional clinical trial</a:t>
            </a:r>
          </a:p>
        </p:txBody>
      </p:sp>
      <p:sp>
        <p:nvSpPr>
          <p:cNvPr id="3" name="Content Placeholder 2">
            <a:extLst>
              <a:ext uri="{FF2B5EF4-FFF2-40B4-BE49-F238E27FC236}">
                <a16:creationId xmlns:a16="http://schemas.microsoft.com/office/drawing/2014/main" id="{6F4B9500-C5CC-9E63-4A26-CF6F7E0D94E7}"/>
              </a:ext>
            </a:extLst>
          </p:cNvPr>
          <p:cNvSpPr>
            <a:spLocks noGrp="1"/>
          </p:cNvSpPr>
          <p:nvPr>
            <p:ph idx="1"/>
          </p:nvPr>
        </p:nvSpPr>
        <p:spPr>
          <a:xfrm>
            <a:off x="285749" y="1571112"/>
            <a:ext cx="11649075" cy="4351338"/>
          </a:xfrm>
        </p:spPr>
        <p:txBody>
          <a:bodyPr/>
          <a:lstStyle/>
          <a:p>
            <a:r>
              <a:rPr lang="en-US" dirty="0"/>
              <a:t>PI may receive funding for up to 3 Merit awards including 1 interventional clinical trial</a:t>
            </a:r>
          </a:p>
          <a:p>
            <a:r>
              <a:rPr lang="en-US" dirty="0"/>
              <a:t>Non-clinician PI salary, 3/8 allowed above the cap. Any additional salary requirements must be taken from the research award.</a:t>
            </a:r>
          </a:p>
          <a:p>
            <a:r>
              <a:rPr lang="en-US" dirty="0"/>
              <a:t>$200K per year cap for up to 4 years</a:t>
            </a:r>
          </a:p>
          <a:p>
            <a:r>
              <a:rPr lang="en-US" dirty="0"/>
              <a:t>Waivers approved by the ISRM Leadership Council </a:t>
            </a:r>
          </a:p>
          <a:p>
            <a:pPr lvl="1"/>
            <a:endParaRPr lang="en-US" dirty="0"/>
          </a:p>
          <a:p>
            <a:endParaRPr lang="en-US" dirty="0"/>
          </a:p>
        </p:txBody>
      </p:sp>
      <p:sp>
        <p:nvSpPr>
          <p:cNvPr id="4" name="Slide Number Placeholder 2">
            <a:extLst>
              <a:ext uri="{FF2B5EF4-FFF2-40B4-BE49-F238E27FC236}">
                <a16:creationId xmlns:a16="http://schemas.microsoft.com/office/drawing/2014/main" id="{015991DB-34FF-FBF0-2459-D6693FF307A0}"/>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25</a:t>
            </a:fld>
            <a:endParaRPr lang="en-US"/>
          </a:p>
        </p:txBody>
      </p:sp>
    </p:spTree>
    <p:extLst>
      <p:ext uri="{BB962C8B-B14F-4D97-AF65-F5344CB8AC3E}">
        <p14:creationId xmlns:p14="http://schemas.microsoft.com/office/powerpoint/2010/main" val="38558617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647EDB69-50AB-A971-D9E1-5408CA0717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71" imgH="473" progId="TCLayout.ActiveDocument.1">
                  <p:embed/>
                </p:oleObj>
              </mc:Choice>
              <mc:Fallback>
                <p:oleObj name="think-cell Slide" r:id="rId4" imgW="471" imgH="473" progId="TCLayout.ActiveDocument.1">
                  <p:embed/>
                  <p:pic>
                    <p:nvPicPr>
                      <p:cNvPr id="19" name="think-cell data - do not delete" hidden="1">
                        <a:extLst>
                          <a:ext uri="{FF2B5EF4-FFF2-40B4-BE49-F238E27FC236}">
                            <a16:creationId xmlns:a16="http://schemas.microsoft.com/office/drawing/2014/main" id="{647EDB69-50AB-A971-D9E1-5408CA0717E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85D7B18-1AFA-19BB-A159-02B1CDE24B34}"/>
              </a:ext>
            </a:extLst>
          </p:cNvPr>
          <p:cNvSpPr>
            <a:spLocks noGrp="1"/>
          </p:cNvSpPr>
          <p:nvPr>
            <p:ph type="title"/>
          </p:nvPr>
        </p:nvSpPr>
        <p:spPr>
          <a:xfrm>
            <a:off x="285749" y="200685"/>
            <a:ext cx="11555095" cy="535531"/>
          </a:xfrm>
        </p:spPr>
        <p:txBody>
          <a:bodyPr vert="horz">
            <a:spAutoFit/>
          </a:bodyPr>
          <a:lstStyle/>
          <a:p>
            <a:r>
              <a:rPr lang="en-US" sz="3200" dirty="0"/>
              <a:t>The revised research application process</a:t>
            </a:r>
          </a:p>
        </p:txBody>
      </p:sp>
      <p:sp>
        <p:nvSpPr>
          <p:cNvPr id="24" name="TextBox 23">
            <a:extLst>
              <a:ext uri="{FF2B5EF4-FFF2-40B4-BE49-F238E27FC236}">
                <a16:creationId xmlns:a16="http://schemas.microsoft.com/office/drawing/2014/main" id="{C366FDA2-314A-BD39-19BB-CDEB506DE06B}"/>
              </a:ext>
            </a:extLst>
          </p:cNvPr>
          <p:cNvSpPr txBox="1"/>
          <p:nvPr/>
        </p:nvSpPr>
        <p:spPr>
          <a:xfrm>
            <a:off x="255008" y="842232"/>
            <a:ext cx="2460760" cy="938719"/>
          </a:xfrm>
          <a:prstGeom prst="rect">
            <a:avLst/>
          </a:prstGeom>
          <a:noFill/>
          <a:ln>
            <a:noFill/>
            <a:prstDash val="dash"/>
          </a:ln>
        </p:spPr>
        <p:txBody>
          <a:bodyPr wrap="square" rtlCol="0">
            <a:spAutoFit/>
          </a:bodyPr>
          <a:lstStyle/>
          <a:p>
            <a:r>
              <a:rPr lang="en-US" sz="1100" b="1" u="sng"/>
              <a:t>Key</a:t>
            </a:r>
          </a:p>
          <a:p>
            <a:pPr marL="171450" indent="-171450">
              <a:buFont typeface="Arial" panose="020B0604020202020204" pitchFamily="34" charset="0"/>
              <a:buChar char="•"/>
            </a:pPr>
            <a:r>
              <a:rPr lang="en-US" sz="1100" i="1"/>
              <a:t>Portfolio actions</a:t>
            </a:r>
          </a:p>
          <a:p>
            <a:pPr marL="171450" indent="-171450">
              <a:buFont typeface="Arial" panose="020B0604020202020204" pitchFamily="34" charset="0"/>
              <a:buChar char="•"/>
            </a:pPr>
            <a:r>
              <a:rPr lang="en-US" sz="1100" i="1"/>
              <a:t>Investigator actions</a:t>
            </a:r>
          </a:p>
          <a:p>
            <a:pPr marL="171450" indent="-171450">
              <a:buFont typeface="Arial" panose="020B0604020202020204" pitchFamily="34" charset="0"/>
              <a:buChar char="•"/>
            </a:pPr>
            <a:r>
              <a:rPr lang="en-US" sz="1100" i="1"/>
              <a:t>Scientific Review Group (SRG) actions</a:t>
            </a:r>
          </a:p>
          <a:p>
            <a:pPr marL="171450" indent="-171450">
              <a:buFont typeface="Arial" panose="020B0604020202020204" pitchFamily="34" charset="0"/>
              <a:buChar char="•"/>
            </a:pPr>
            <a:r>
              <a:rPr lang="en-US" sz="1100" i="1"/>
              <a:t>ISRM Leadership Council actions </a:t>
            </a:r>
          </a:p>
        </p:txBody>
      </p:sp>
      <p:sp>
        <p:nvSpPr>
          <p:cNvPr id="25" name="Oval 24">
            <a:extLst>
              <a:ext uri="{FF2B5EF4-FFF2-40B4-BE49-F238E27FC236}">
                <a16:creationId xmlns:a16="http://schemas.microsoft.com/office/drawing/2014/main" id="{CE710E0D-BB35-AB82-7AE4-C87CFB692C8F}"/>
              </a:ext>
            </a:extLst>
          </p:cNvPr>
          <p:cNvSpPr/>
          <p:nvPr/>
        </p:nvSpPr>
        <p:spPr>
          <a:xfrm>
            <a:off x="323279" y="1093569"/>
            <a:ext cx="93343" cy="9144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257B2D6D-695C-676E-FDB8-55A8119AE3B8}"/>
              </a:ext>
            </a:extLst>
          </p:cNvPr>
          <p:cNvSpPr/>
          <p:nvPr/>
        </p:nvSpPr>
        <p:spPr>
          <a:xfrm>
            <a:off x="323279" y="1258865"/>
            <a:ext cx="93343" cy="91440"/>
          </a:xfrm>
          <a:prstGeom prst="ellipse">
            <a:avLst/>
          </a:prstGeom>
          <a:solidFill>
            <a:srgbClr val="DF661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2F60106A-158C-FE03-2F8A-B2726120CFF3}"/>
              </a:ext>
            </a:extLst>
          </p:cNvPr>
          <p:cNvSpPr/>
          <p:nvPr/>
        </p:nvSpPr>
        <p:spPr>
          <a:xfrm>
            <a:off x="323279" y="1417821"/>
            <a:ext cx="93343" cy="91440"/>
          </a:xfrm>
          <a:prstGeom prst="ellipse">
            <a:avLst/>
          </a:prstGeom>
          <a:solidFill>
            <a:schemeClr val="accent3">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DC567AC-0804-B3EA-7428-31750BDC8410}"/>
              </a:ext>
            </a:extLst>
          </p:cNvPr>
          <p:cNvSpPr/>
          <p:nvPr/>
        </p:nvSpPr>
        <p:spPr>
          <a:xfrm>
            <a:off x="255008" y="1887276"/>
            <a:ext cx="1363480" cy="82296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rPr>
              <a:t>Application request</a:t>
            </a:r>
          </a:p>
        </p:txBody>
      </p:sp>
      <p:sp>
        <p:nvSpPr>
          <p:cNvPr id="11" name="Arrow: Chevron 10">
            <a:extLst>
              <a:ext uri="{FF2B5EF4-FFF2-40B4-BE49-F238E27FC236}">
                <a16:creationId xmlns:a16="http://schemas.microsoft.com/office/drawing/2014/main" id="{FD2A9106-0B47-67D1-028E-48ED175EFC4D}"/>
              </a:ext>
            </a:extLst>
          </p:cNvPr>
          <p:cNvSpPr/>
          <p:nvPr/>
        </p:nvSpPr>
        <p:spPr>
          <a:xfrm>
            <a:off x="3053098" y="1887276"/>
            <a:ext cx="2371592" cy="822960"/>
          </a:xfrm>
          <a:prstGeom prst="chevron">
            <a:avLst>
              <a:gd name="adj" fmla="val 23767"/>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kumimoji="0" lang="en-US" sz="1100" b="1" i="0" u="none" strike="noStrike" kern="1200" cap="none" spc="0" normalizeH="0" baseline="0" noProof="0">
                <a:ln>
                  <a:noFill/>
                </a:ln>
                <a:solidFill>
                  <a:schemeClr val="bg1"/>
                </a:solidFill>
                <a:effectLst/>
                <a:uLnTx/>
                <a:uFillTx/>
                <a:latin typeface="Calibri" panose="020F0502020204030204"/>
                <a:ea typeface="+mn-ea"/>
                <a:cs typeface="+mn-cs"/>
              </a:rPr>
              <a:t>Portfolios release Notices of Special Interest</a:t>
            </a:r>
            <a:endParaRPr lang="en-US" sz="1100" b="1">
              <a:solidFill>
                <a:schemeClr val="bg1"/>
              </a:solidFill>
            </a:endParaRPr>
          </a:p>
        </p:txBody>
      </p:sp>
      <p:sp>
        <p:nvSpPr>
          <p:cNvPr id="12" name="Arrow: Chevron 11">
            <a:extLst>
              <a:ext uri="{FF2B5EF4-FFF2-40B4-BE49-F238E27FC236}">
                <a16:creationId xmlns:a16="http://schemas.microsoft.com/office/drawing/2014/main" id="{B1904600-636A-EF70-57DD-91F9D3636944}"/>
              </a:ext>
            </a:extLst>
          </p:cNvPr>
          <p:cNvSpPr/>
          <p:nvPr/>
        </p:nvSpPr>
        <p:spPr>
          <a:xfrm>
            <a:off x="5271035" y="1887276"/>
            <a:ext cx="2210178" cy="822960"/>
          </a:xfrm>
          <a:prstGeom prst="chevron">
            <a:avLst>
              <a:gd name="adj" fmla="val 2376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137160" rtlCol="0" anchor="ctr"/>
          <a:lstStyle/>
          <a:p>
            <a:pPr algn="ctr"/>
            <a:r>
              <a:rPr lang="en-US" sz="1100" b="1">
                <a:solidFill>
                  <a:schemeClr val="bg1"/>
                </a:solidFill>
              </a:rPr>
              <a:t>Each Portfolio requests a pre-application</a:t>
            </a:r>
          </a:p>
        </p:txBody>
      </p:sp>
      <p:sp>
        <p:nvSpPr>
          <p:cNvPr id="13" name="Arrow: Chevron 12">
            <a:extLst>
              <a:ext uri="{FF2B5EF4-FFF2-40B4-BE49-F238E27FC236}">
                <a16:creationId xmlns:a16="http://schemas.microsoft.com/office/drawing/2014/main" id="{8BD68E79-9E86-D71F-2C8F-ED5CF5F8F576}"/>
              </a:ext>
            </a:extLst>
          </p:cNvPr>
          <p:cNvSpPr/>
          <p:nvPr/>
        </p:nvSpPr>
        <p:spPr>
          <a:xfrm>
            <a:off x="7329365" y="1887276"/>
            <a:ext cx="1868693" cy="822960"/>
          </a:xfrm>
          <a:prstGeom prst="chevron">
            <a:avLst>
              <a:gd name="adj" fmla="val 23767"/>
            </a:avLst>
          </a:prstGeom>
          <a:solidFill>
            <a:srgbClr val="DF6613"/>
          </a:solidFill>
          <a:ln>
            <a:noFill/>
          </a:ln>
        </p:spPr>
        <p:style>
          <a:lnRef idx="2">
            <a:schemeClr val="accent1">
              <a:shade val="15000"/>
            </a:schemeClr>
          </a:lnRef>
          <a:fillRef idx="1">
            <a:schemeClr val="accent1"/>
          </a:fillRef>
          <a:effectRef idx="0">
            <a:schemeClr val="accent1"/>
          </a:effectRef>
          <a:fontRef idx="minor">
            <a:schemeClr val="lt1"/>
          </a:fontRef>
        </p:style>
        <p:txBody>
          <a:bodyPr lIns="137160" rtlCol="0" anchor="ctr"/>
          <a:lstStyle/>
          <a:p>
            <a:pPr algn="ctr"/>
            <a:r>
              <a:rPr lang="en-US" sz="1100" b="1" dirty="0">
                <a:solidFill>
                  <a:schemeClr val="bg1"/>
                </a:solidFill>
              </a:rPr>
              <a:t>Investigator submits </a:t>
            </a:r>
            <a:r>
              <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rPr>
              <a:t>pre-applications to RFA / NOSI pair requesting SRG</a:t>
            </a:r>
            <a:endParaRPr lang="en-US" sz="1100" b="1" dirty="0">
              <a:solidFill>
                <a:schemeClr val="tx1"/>
              </a:solidFill>
            </a:endParaRPr>
          </a:p>
        </p:txBody>
      </p:sp>
      <p:sp>
        <p:nvSpPr>
          <p:cNvPr id="7" name="Oval 6">
            <a:extLst>
              <a:ext uri="{FF2B5EF4-FFF2-40B4-BE49-F238E27FC236}">
                <a16:creationId xmlns:a16="http://schemas.microsoft.com/office/drawing/2014/main" id="{759B2CBD-F1F6-5D5E-4C68-68B46C9A53DA}"/>
              </a:ext>
            </a:extLst>
          </p:cNvPr>
          <p:cNvSpPr/>
          <p:nvPr/>
        </p:nvSpPr>
        <p:spPr>
          <a:xfrm>
            <a:off x="331298" y="1589471"/>
            <a:ext cx="93343" cy="91440"/>
          </a:xfrm>
          <a:prstGeom prst="ellipse">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Arrow: Chevron 20">
            <a:extLst>
              <a:ext uri="{FF2B5EF4-FFF2-40B4-BE49-F238E27FC236}">
                <a16:creationId xmlns:a16="http://schemas.microsoft.com/office/drawing/2014/main" id="{63D3A929-DD7F-6446-B590-7687592AABB1}"/>
              </a:ext>
            </a:extLst>
          </p:cNvPr>
          <p:cNvSpPr/>
          <p:nvPr/>
        </p:nvSpPr>
        <p:spPr>
          <a:xfrm>
            <a:off x="9046211" y="1887276"/>
            <a:ext cx="1868693" cy="822960"/>
          </a:xfrm>
          <a:prstGeom prst="chevron">
            <a:avLst>
              <a:gd name="adj" fmla="val 23767"/>
            </a:avLst>
          </a:prstGeom>
          <a:solidFill>
            <a:srgbClr val="DF6613"/>
          </a:solidFill>
          <a:ln>
            <a:noFill/>
          </a:ln>
        </p:spPr>
        <p:style>
          <a:lnRef idx="2">
            <a:schemeClr val="accent1">
              <a:shade val="15000"/>
            </a:schemeClr>
          </a:lnRef>
          <a:fillRef idx="1">
            <a:schemeClr val="accent1"/>
          </a:fillRef>
          <a:effectRef idx="0">
            <a:schemeClr val="accent1"/>
          </a:effectRef>
          <a:fontRef idx="minor">
            <a:schemeClr val="lt1"/>
          </a:fontRef>
        </p:style>
        <p:txBody>
          <a:bodyPr lIns="137160" rtlCol="0" anchor="ctr"/>
          <a:lstStyle/>
          <a:p>
            <a:pPr algn="ctr"/>
            <a:r>
              <a:rPr lang="en-US" sz="1100" b="1" dirty="0" err="1">
                <a:solidFill>
                  <a:schemeClr val="bg1"/>
                </a:solidFill>
              </a:rPr>
              <a:t>Upons</a:t>
            </a:r>
            <a:r>
              <a:rPr lang="en-US" sz="1100" b="1" dirty="0">
                <a:solidFill>
                  <a:schemeClr val="bg1"/>
                </a:solidFill>
              </a:rPr>
              <a:t> pre-app approval the investigator submits full application</a:t>
            </a:r>
            <a:endParaRPr kumimoji="0" lang="en-US" sz="1100" b="1"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1A79D60F-4493-1E52-EA01-8A581767B569}"/>
              </a:ext>
            </a:extLst>
          </p:cNvPr>
          <p:cNvSpPr/>
          <p:nvPr/>
        </p:nvSpPr>
        <p:spPr>
          <a:xfrm>
            <a:off x="255008" y="2949389"/>
            <a:ext cx="1363480" cy="82296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rPr>
              <a:t>Application review</a:t>
            </a:r>
          </a:p>
        </p:txBody>
      </p:sp>
      <p:sp>
        <p:nvSpPr>
          <p:cNvPr id="15" name="Arrow: Chevron 14">
            <a:extLst>
              <a:ext uri="{FF2B5EF4-FFF2-40B4-BE49-F238E27FC236}">
                <a16:creationId xmlns:a16="http://schemas.microsoft.com/office/drawing/2014/main" id="{451EC3A0-C70D-4C08-94C9-1A760CB163C9}"/>
              </a:ext>
            </a:extLst>
          </p:cNvPr>
          <p:cNvSpPr/>
          <p:nvPr/>
        </p:nvSpPr>
        <p:spPr>
          <a:xfrm>
            <a:off x="1400089" y="2949389"/>
            <a:ext cx="1810471" cy="822960"/>
          </a:xfrm>
          <a:prstGeom prst="chevron">
            <a:avLst>
              <a:gd name="adj" fmla="val 23767"/>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SRG reviews and scores application</a:t>
            </a:r>
          </a:p>
        </p:txBody>
      </p:sp>
      <p:sp>
        <p:nvSpPr>
          <p:cNvPr id="8" name="Rectangle 7">
            <a:extLst>
              <a:ext uri="{FF2B5EF4-FFF2-40B4-BE49-F238E27FC236}">
                <a16:creationId xmlns:a16="http://schemas.microsoft.com/office/drawing/2014/main" id="{19B7A668-9D00-41AA-0178-F9DBC49984F4}"/>
              </a:ext>
            </a:extLst>
          </p:cNvPr>
          <p:cNvSpPr/>
          <p:nvPr/>
        </p:nvSpPr>
        <p:spPr>
          <a:xfrm>
            <a:off x="255008" y="4011502"/>
            <a:ext cx="1363480" cy="82296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rPr>
              <a:t>Funding</a:t>
            </a:r>
          </a:p>
        </p:txBody>
      </p:sp>
      <p:sp>
        <p:nvSpPr>
          <p:cNvPr id="16" name="Arrow: Chevron 15">
            <a:extLst>
              <a:ext uri="{FF2B5EF4-FFF2-40B4-BE49-F238E27FC236}">
                <a16:creationId xmlns:a16="http://schemas.microsoft.com/office/drawing/2014/main" id="{4E838456-DB8E-3992-4997-2C6F5399837A}"/>
              </a:ext>
            </a:extLst>
          </p:cNvPr>
          <p:cNvSpPr/>
          <p:nvPr/>
        </p:nvSpPr>
        <p:spPr>
          <a:xfrm>
            <a:off x="1400089" y="4011502"/>
            <a:ext cx="1810471" cy="822960"/>
          </a:xfrm>
          <a:prstGeom prst="chevron">
            <a:avLst>
              <a:gd name="adj" fmla="val 237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Portfolios rank applications and submit to ISRM LC </a:t>
            </a:r>
          </a:p>
        </p:txBody>
      </p:sp>
      <p:sp>
        <p:nvSpPr>
          <p:cNvPr id="17" name="Arrow: Chevron 16">
            <a:extLst>
              <a:ext uri="{FF2B5EF4-FFF2-40B4-BE49-F238E27FC236}">
                <a16:creationId xmlns:a16="http://schemas.microsoft.com/office/drawing/2014/main" id="{EDC4B903-3D9D-CA92-6E6E-6FA8298B43F7}"/>
              </a:ext>
            </a:extLst>
          </p:cNvPr>
          <p:cNvSpPr/>
          <p:nvPr/>
        </p:nvSpPr>
        <p:spPr>
          <a:xfrm>
            <a:off x="3053098" y="4011502"/>
            <a:ext cx="2371592" cy="822960"/>
          </a:xfrm>
          <a:prstGeom prst="chevron">
            <a:avLst>
              <a:gd name="adj" fmla="val 23767"/>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algn="ctr"/>
            <a:r>
              <a:rPr lang="en-US" sz="1100" b="1" dirty="0">
                <a:solidFill>
                  <a:schemeClr val="bg1"/>
                </a:solidFill>
              </a:rPr>
              <a:t>ISRM Leadership Council reviews portfolio recommendations and provides approval</a:t>
            </a:r>
          </a:p>
        </p:txBody>
      </p:sp>
      <p:sp>
        <p:nvSpPr>
          <p:cNvPr id="18" name="Arrow: Chevron 17">
            <a:extLst>
              <a:ext uri="{FF2B5EF4-FFF2-40B4-BE49-F238E27FC236}">
                <a16:creationId xmlns:a16="http://schemas.microsoft.com/office/drawing/2014/main" id="{F53EB4C5-D1DE-8CAF-9012-854985A016CD}"/>
              </a:ext>
            </a:extLst>
          </p:cNvPr>
          <p:cNvSpPr/>
          <p:nvPr/>
        </p:nvSpPr>
        <p:spPr>
          <a:xfrm>
            <a:off x="5271035" y="4011502"/>
            <a:ext cx="2210178" cy="822960"/>
          </a:xfrm>
          <a:prstGeom prst="chevron">
            <a:avLst>
              <a:gd name="adj" fmla="val 23767"/>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201168" rtlCol="0" anchor="ctr"/>
          <a:lstStyle/>
          <a:p>
            <a:pPr algn="ctr"/>
            <a:r>
              <a:rPr lang="en-US" sz="1100" b="1" dirty="0">
                <a:solidFill>
                  <a:schemeClr val="bg1"/>
                </a:solidFill>
              </a:rPr>
              <a:t>Funding decisions sent to investigators</a:t>
            </a:r>
          </a:p>
        </p:txBody>
      </p:sp>
      <p:sp>
        <p:nvSpPr>
          <p:cNvPr id="9" name="Rectangle 8">
            <a:extLst>
              <a:ext uri="{FF2B5EF4-FFF2-40B4-BE49-F238E27FC236}">
                <a16:creationId xmlns:a16="http://schemas.microsoft.com/office/drawing/2014/main" id="{B5B1AF81-058B-945E-B15D-FF0B28AEAECB}"/>
              </a:ext>
            </a:extLst>
          </p:cNvPr>
          <p:cNvSpPr/>
          <p:nvPr/>
        </p:nvSpPr>
        <p:spPr>
          <a:xfrm>
            <a:off x="255008" y="5073615"/>
            <a:ext cx="1363480" cy="82296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rPr>
              <a:t>Research management</a:t>
            </a:r>
          </a:p>
        </p:txBody>
      </p:sp>
      <p:sp>
        <p:nvSpPr>
          <p:cNvPr id="20" name="Arrow: Chevron 19">
            <a:extLst>
              <a:ext uri="{FF2B5EF4-FFF2-40B4-BE49-F238E27FC236}">
                <a16:creationId xmlns:a16="http://schemas.microsoft.com/office/drawing/2014/main" id="{27FC2CAA-36E6-BA0E-1DEB-5205C971FC59}"/>
              </a:ext>
            </a:extLst>
          </p:cNvPr>
          <p:cNvSpPr/>
          <p:nvPr/>
        </p:nvSpPr>
        <p:spPr>
          <a:xfrm>
            <a:off x="1399221" y="5073615"/>
            <a:ext cx="1810471" cy="822960"/>
          </a:xfrm>
          <a:prstGeom prst="chevron">
            <a:avLst>
              <a:gd name="adj" fmla="val 23767"/>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SRG SPM manages funded applications with portfolio director</a:t>
            </a:r>
          </a:p>
        </p:txBody>
      </p:sp>
      <p:sp>
        <p:nvSpPr>
          <p:cNvPr id="59" name="Arrow: Down 58">
            <a:extLst>
              <a:ext uri="{FF2B5EF4-FFF2-40B4-BE49-F238E27FC236}">
                <a16:creationId xmlns:a16="http://schemas.microsoft.com/office/drawing/2014/main" id="{408835CF-F96D-C8D4-0659-C70F82B67C6E}"/>
              </a:ext>
            </a:extLst>
          </p:cNvPr>
          <p:cNvSpPr/>
          <p:nvPr/>
        </p:nvSpPr>
        <p:spPr>
          <a:xfrm>
            <a:off x="643406" y="2710236"/>
            <a:ext cx="490801" cy="239153"/>
          </a:xfrm>
          <a:prstGeom prst="downArrow">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Arrow: Down 59">
            <a:extLst>
              <a:ext uri="{FF2B5EF4-FFF2-40B4-BE49-F238E27FC236}">
                <a16:creationId xmlns:a16="http://schemas.microsoft.com/office/drawing/2014/main" id="{C2428724-EBB8-D3B3-50D3-3526221D0C68}"/>
              </a:ext>
            </a:extLst>
          </p:cNvPr>
          <p:cNvSpPr/>
          <p:nvPr/>
        </p:nvSpPr>
        <p:spPr>
          <a:xfrm>
            <a:off x="643406" y="3772349"/>
            <a:ext cx="490801" cy="239153"/>
          </a:xfrm>
          <a:prstGeom prst="downArrow">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5" name="Arrow: Down 64">
            <a:extLst>
              <a:ext uri="{FF2B5EF4-FFF2-40B4-BE49-F238E27FC236}">
                <a16:creationId xmlns:a16="http://schemas.microsoft.com/office/drawing/2014/main" id="{FAD7EB58-BF0E-84A1-C62C-487992074185}"/>
              </a:ext>
            </a:extLst>
          </p:cNvPr>
          <p:cNvSpPr/>
          <p:nvPr/>
        </p:nvSpPr>
        <p:spPr>
          <a:xfrm>
            <a:off x="643406" y="4834462"/>
            <a:ext cx="490801" cy="239153"/>
          </a:xfrm>
          <a:prstGeom prst="downArrow">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8" name="Arrow: Chevron 67">
            <a:extLst>
              <a:ext uri="{FF2B5EF4-FFF2-40B4-BE49-F238E27FC236}">
                <a16:creationId xmlns:a16="http://schemas.microsoft.com/office/drawing/2014/main" id="{270E5848-869C-43E5-B701-87D61D3E76D8}"/>
              </a:ext>
            </a:extLst>
          </p:cNvPr>
          <p:cNvSpPr/>
          <p:nvPr/>
        </p:nvSpPr>
        <p:spPr>
          <a:xfrm>
            <a:off x="1400088" y="1887276"/>
            <a:ext cx="1804857" cy="822960"/>
          </a:xfrm>
          <a:prstGeom prst="chevron">
            <a:avLst>
              <a:gd name="adj" fmla="val 23767"/>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182880" rtlCol="0" anchor="ctr"/>
          <a:lstStyle/>
          <a:p>
            <a:pPr algn="ctr"/>
            <a:r>
              <a:rPr lang="en-US" sz="1100" b="1">
                <a:solidFill>
                  <a:schemeClr val="bg1"/>
                </a:solidFill>
              </a:rPr>
              <a:t>Cross-portfolio RFAs posted</a:t>
            </a:r>
          </a:p>
        </p:txBody>
      </p:sp>
      <p:sp>
        <p:nvSpPr>
          <p:cNvPr id="69" name="Oval 68">
            <a:extLst>
              <a:ext uri="{FF2B5EF4-FFF2-40B4-BE49-F238E27FC236}">
                <a16:creationId xmlns:a16="http://schemas.microsoft.com/office/drawing/2014/main" id="{BCF514FC-0279-7585-8CDD-53BEC63CCB0C}"/>
              </a:ext>
            </a:extLst>
          </p:cNvPr>
          <p:cNvSpPr/>
          <p:nvPr/>
        </p:nvSpPr>
        <p:spPr>
          <a:xfrm>
            <a:off x="1519459" y="1928670"/>
            <a:ext cx="226461" cy="22646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1</a:t>
            </a:r>
          </a:p>
        </p:txBody>
      </p:sp>
      <p:sp>
        <p:nvSpPr>
          <p:cNvPr id="75" name="Oval 74">
            <a:extLst>
              <a:ext uri="{FF2B5EF4-FFF2-40B4-BE49-F238E27FC236}">
                <a16:creationId xmlns:a16="http://schemas.microsoft.com/office/drawing/2014/main" id="{142E1CB0-F167-0B23-9BED-F7EF2B1513FA}"/>
              </a:ext>
            </a:extLst>
          </p:cNvPr>
          <p:cNvSpPr/>
          <p:nvPr/>
        </p:nvSpPr>
        <p:spPr>
          <a:xfrm>
            <a:off x="3172469" y="1928670"/>
            <a:ext cx="226461" cy="22646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2</a:t>
            </a:r>
          </a:p>
        </p:txBody>
      </p:sp>
      <p:sp>
        <p:nvSpPr>
          <p:cNvPr id="77" name="Oval 76">
            <a:extLst>
              <a:ext uri="{FF2B5EF4-FFF2-40B4-BE49-F238E27FC236}">
                <a16:creationId xmlns:a16="http://schemas.microsoft.com/office/drawing/2014/main" id="{DC60D002-D9B8-C490-B91B-214D695FD5C4}"/>
              </a:ext>
            </a:extLst>
          </p:cNvPr>
          <p:cNvSpPr/>
          <p:nvPr/>
        </p:nvSpPr>
        <p:spPr>
          <a:xfrm>
            <a:off x="1519459" y="2985310"/>
            <a:ext cx="226461" cy="226461"/>
          </a:xfrm>
          <a:prstGeom prst="ellipse">
            <a:avLst/>
          </a:prstGeom>
          <a:solidFill>
            <a:srgbClr val="52525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6</a:t>
            </a:r>
          </a:p>
        </p:txBody>
      </p:sp>
      <p:sp>
        <p:nvSpPr>
          <p:cNvPr id="78" name="Oval 77">
            <a:extLst>
              <a:ext uri="{FF2B5EF4-FFF2-40B4-BE49-F238E27FC236}">
                <a16:creationId xmlns:a16="http://schemas.microsoft.com/office/drawing/2014/main" id="{6915A5BB-294E-19A5-CB52-080A0732B75D}"/>
              </a:ext>
            </a:extLst>
          </p:cNvPr>
          <p:cNvSpPr/>
          <p:nvPr/>
        </p:nvSpPr>
        <p:spPr>
          <a:xfrm>
            <a:off x="1519459" y="4052110"/>
            <a:ext cx="226461" cy="226461"/>
          </a:xfrm>
          <a:prstGeom prst="ellipse">
            <a:avLst/>
          </a:prstGeom>
          <a:solidFill>
            <a:srgbClr val="4472C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7</a:t>
            </a:r>
          </a:p>
        </p:txBody>
      </p:sp>
      <p:sp>
        <p:nvSpPr>
          <p:cNvPr id="79" name="Oval 78">
            <a:extLst>
              <a:ext uri="{FF2B5EF4-FFF2-40B4-BE49-F238E27FC236}">
                <a16:creationId xmlns:a16="http://schemas.microsoft.com/office/drawing/2014/main" id="{6645FA35-8A8F-EA6B-AA67-6778E5115D45}"/>
              </a:ext>
            </a:extLst>
          </p:cNvPr>
          <p:cNvSpPr/>
          <p:nvPr/>
        </p:nvSpPr>
        <p:spPr>
          <a:xfrm>
            <a:off x="1519459" y="5118910"/>
            <a:ext cx="226461" cy="226461"/>
          </a:xfrm>
          <a:prstGeom prst="ellipse">
            <a:avLst/>
          </a:prstGeom>
          <a:solidFill>
            <a:srgbClr val="52525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10</a:t>
            </a:r>
          </a:p>
        </p:txBody>
      </p:sp>
      <p:sp>
        <p:nvSpPr>
          <p:cNvPr id="82" name="Oval 81">
            <a:extLst>
              <a:ext uri="{FF2B5EF4-FFF2-40B4-BE49-F238E27FC236}">
                <a16:creationId xmlns:a16="http://schemas.microsoft.com/office/drawing/2014/main" id="{F123526D-2020-2965-B612-58DB4802ED0C}"/>
              </a:ext>
            </a:extLst>
          </p:cNvPr>
          <p:cNvSpPr/>
          <p:nvPr/>
        </p:nvSpPr>
        <p:spPr>
          <a:xfrm>
            <a:off x="5386058" y="1928670"/>
            <a:ext cx="226461" cy="226461"/>
          </a:xfrm>
          <a:prstGeom prst="ellipse">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3</a:t>
            </a:r>
          </a:p>
        </p:txBody>
      </p:sp>
      <p:sp>
        <p:nvSpPr>
          <p:cNvPr id="83" name="Oval 82">
            <a:extLst>
              <a:ext uri="{FF2B5EF4-FFF2-40B4-BE49-F238E27FC236}">
                <a16:creationId xmlns:a16="http://schemas.microsoft.com/office/drawing/2014/main" id="{A71E5A32-AE52-5848-FB10-DDB09B0D52E8}"/>
              </a:ext>
            </a:extLst>
          </p:cNvPr>
          <p:cNvSpPr/>
          <p:nvPr/>
        </p:nvSpPr>
        <p:spPr>
          <a:xfrm>
            <a:off x="7443651" y="1928670"/>
            <a:ext cx="226461" cy="226461"/>
          </a:xfrm>
          <a:prstGeom prst="ellipse">
            <a:avLst/>
          </a:prstGeom>
          <a:solidFill>
            <a:srgbClr val="DF661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4</a:t>
            </a:r>
          </a:p>
        </p:txBody>
      </p:sp>
      <p:sp>
        <p:nvSpPr>
          <p:cNvPr id="84" name="Oval 83">
            <a:extLst>
              <a:ext uri="{FF2B5EF4-FFF2-40B4-BE49-F238E27FC236}">
                <a16:creationId xmlns:a16="http://schemas.microsoft.com/office/drawing/2014/main" id="{0F39A17F-C6FE-9877-9A06-B5BDBF41FC5B}"/>
              </a:ext>
            </a:extLst>
          </p:cNvPr>
          <p:cNvSpPr/>
          <p:nvPr/>
        </p:nvSpPr>
        <p:spPr>
          <a:xfrm>
            <a:off x="3172468" y="4052110"/>
            <a:ext cx="226461" cy="226461"/>
          </a:xfrm>
          <a:prstGeom prst="ellipse">
            <a:avLst/>
          </a:prstGeom>
          <a:solidFill>
            <a:srgbClr val="20386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8</a:t>
            </a:r>
          </a:p>
        </p:txBody>
      </p:sp>
      <p:sp>
        <p:nvSpPr>
          <p:cNvPr id="85" name="Oval 84">
            <a:extLst>
              <a:ext uri="{FF2B5EF4-FFF2-40B4-BE49-F238E27FC236}">
                <a16:creationId xmlns:a16="http://schemas.microsoft.com/office/drawing/2014/main" id="{FA7903D5-6842-4220-06BF-DED72A52E51A}"/>
              </a:ext>
            </a:extLst>
          </p:cNvPr>
          <p:cNvSpPr/>
          <p:nvPr/>
        </p:nvSpPr>
        <p:spPr>
          <a:xfrm>
            <a:off x="5386058" y="4052110"/>
            <a:ext cx="226461" cy="226461"/>
          </a:xfrm>
          <a:prstGeom prst="ellipse">
            <a:avLst/>
          </a:prstGeom>
          <a:solidFill>
            <a:srgbClr val="52525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9</a:t>
            </a:r>
          </a:p>
        </p:txBody>
      </p:sp>
      <p:sp>
        <p:nvSpPr>
          <p:cNvPr id="86" name="Oval 85">
            <a:extLst>
              <a:ext uri="{FF2B5EF4-FFF2-40B4-BE49-F238E27FC236}">
                <a16:creationId xmlns:a16="http://schemas.microsoft.com/office/drawing/2014/main" id="{45226ACD-8EE8-EFF2-5869-D79200E9D81F}"/>
              </a:ext>
            </a:extLst>
          </p:cNvPr>
          <p:cNvSpPr/>
          <p:nvPr/>
        </p:nvSpPr>
        <p:spPr>
          <a:xfrm>
            <a:off x="9159427" y="1928670"/>
            <a:ext cx="226461" cy="226461"/>
          </a:xfrm>
          <a:prstGeom prst="ellipse">
            <a:avLst/>
          </a:prstGeom>
          <a:solidFill>
            <a:srgbClr val="DF661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100" b="1"/>
              <a:t>5</a:t>
            </a:r>
          </a:p>
        </p:txBody>
      </p:sp>
      <p:sp>
        <p:nvSpPr>
          <p:cNvPr id="6" name="Arrow: Chevron 5">
            <a:extLst>
              <a:ext uri="{FF2B5EF4-FFF2-40B4-BE49-F238E27FC236}">
                <a16:creationId xmlns:a16="http://schemas.microsoft.com/office/drawing/2014/main" id="{C8206BA7-9778-8D4F-80C8-52DFC3C0B431}"/>
              </a:ext>
            </a:extLst>
          </p:cNvPr>
          <p:cNvSpPr/>
          <p:nvPr/>
        </p:nvSpPr>
        <p:spPr>
          <a:xfrm>
            <a:off x="1400089" y="2949389"/>
            <a:ext cx="1804856" cy="822960"/>
          </a:xfrm>
          <a:prstGeom prst="chevron">
            <a:avLst>
              <a:gd name="adj" fmla="val 23767"/>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bg1"/>
                </a:solidFill>
              </a:rPr>
              <a:t>Service assigns application to appropriate SRG</a:t>
            </a:r>
          </a:p>
        </p:txBody>
      </p:sp>
      <p:sp>
        <p:nvSpPr>
          <p:cNvPr id="10" name="Arrow: Chevron 9">
            <a:extLst>
              <a:ext uri="{FF2B5EF4-FFF2-40B4-BE49-F238E27FC236}">
                <a16:creationId xmlns:a16="http://schemas.microsoft.com/office/drawing/2014/main" id="{789B783D-C1CB-BCDB-2AEE-6D3ACF839F26}"/>
              </a:ext>
            </a:extLst>
          </p:cNvPr>
          <p:cNvSpPr/>
          <p:nvPr/>
        </p:nvSpPr>
        <p:spPr>
          <a:xfrm>
            <a:off x="3048494" y="2949389"/>
            <a:ext cx="2371592" cy="822960"/>
          </a:xfrm>
          <a:prstGeom prst="chevron">
            <a:avLst>
              <a:gd name="adj" fmla="val 23767"/>
            </a:avLst>
          </a:prstGeom>
          <a:solidFill>
            <a:schemeClr val="accent3">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solidFill>
                  <a:schemeClr val="bg1"/>
                </a:solidFill>
              </a:rPr>
              <a:t>SRG reviews and scores application</a:t>
            </a:r>
          </a:p>
        </p:txBody>
      </p:sp>
      <p:sp>
        <p:nvSpPr>
          <p:cNvPr id="14" name="Slide Number Placeholder 2">
            <a:extLst>
              <a:ext uri="{FF2B5EF4-FFF2-40B4-BE49-F238E27FC236}">
                <a16:creationId xmlns:a16="http://schemas.microsoft.com/office/drawing/2014/main" id="{E31B9BD4-228E-5F33-CF85-843A4D1CDE66}"/>
              </a:ext>
            </a:extLst>
          </p:cNvPr>
          <p:cNvSpPr>
            <a:spLocks noGrp="1"/>
          </p:cNvSpPr>
          <p:nvPr>
            <p:ph type="sldNum" sz="quarter" idx="12"/>
          </p:nvPr>
        </p:nvSpPr>
        <p:spPr>
          <a:xfrm>
            <a:off x="9274743" y="6356350"/>
            <a:ext cx="2743200" cy="365125"/>
          </a:xfrm>
        </p:spPr>
        <p:txBody>
          <a:bodyPr/>
          <a:lstStyle/>
          <a:p>
            <a:fld id="{670A9334-4E67-F94F-A05E-0CE8B74A054E}" type="slidenum">
              <a:rPr lang="en-US" smtClean="0"/>
              <a:t>26</a:t>
            </a:fld>
            <a:endParaRPr lang="en-US"/>
          </a:p>
        </p:txBody>
      </p:sp>
    </p:spTree>
    <p:extLst>
      <p:ext uri="{BB962C8B-B14F-4D97-AF65-F5344CB8AC3E}">
        <p14:creationId xmlns:p14="http://schemas.microsoft.com/office/powerpoint/2010/main" val="4208734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76B55-F4D7-3943-2B77-EE3DE7387B67}"/>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25513B2F-E191-C856-B7FD-C4ADBB6E1B69}"/>
              </a:ext>
            </a:extLst>
          </p:cNvPr>
          <p:cNvSpPr>
            <a:spLocks noGrp="1"/>
          </p:cNvSpPr>
          <p:nvPr>
            <p:ph type="body" sz="quarter" idx="10"/>
          </p:nvPr>
        </p:nvSpPr>
        <p:spPr>
          <a:xfrm>
            <a:off x="955497" y="3705225"/>
            <a:ext cx="10591044" cy="1828800"/>
          </a:xfrm>
        </p:spPr>
        <p:txBody>
          <a:bodyPr vert="horz" lIns="91440" tIns="45720" rIns="91440" bIns="45720" rtlCol="0" anchor="t">
            <a:noAutofit/>
          </a:bodyPr>
          <a:lstStyle/>
          <a:p>
            <a:r>
              <a:rPr lang="en-US">
                <a:cs typeface="Calibri"/>
              </a:rPr>
              <a:t>Investigator View</a:t>
            </a:r>
          </a:p>
        </p:txBody>
      </p:sp>
      <p:sp>
        <p:nvSpPr>
          <p:cNvPr id="5" name="Slide Number Placeholder 4">
            <a:extLst>
              <a:ext uri="{FF2B5EF4-FFF2-40B4-BE49-F238E27FC236}">
                <a16:creationId xmlns:a16="http://schemas.microsoft.com/office/drawing/2014/main" id="{0AD3791F-C1AD-3FB3-608E-0C6DFB71FCAA}"/>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25097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5D7B18-1AFA-19BB-A159-02B1CDE24B34}"/>
              </a:ext>
            </a:extLst>
          </p:cNvPr>
          <p:cNvSpPr>
            <a:spLocks noGrp="1"/>
          </p:cNvSpPr>
          <p:nvPr>
            <p:ph type="title"/>
          </p:nvPr>
        </p:nvSpPr>
        <p:spPr/>
        <p:txBody>
          <a:bodyPr/>
          <a:lstStyle/>
          <a:p>
            <a:r>
              <a:rPr lang="en-US"/>
              <a:t>Summary of New Process for Investigators</a:t>
            </a:r>
            <a:endParaRPr lang="en-US">
              <a:cs typeface="Calibri Light"/>
            </a:endParaRPr>
          </a:p>
        </p:txBody>
      </p:sp>
      <p:sp>
        <p:nvSpPr>
          <p:cNvPr id="2" name="Slide Number Placeholder 1">
            <a:extLst>
              <a:ext uri="{FF2B5EF4-FFF2-40B4-BE49-F238E27FC236}">
                <a16:creationId xmlns:a16="http://schemas.microsoft.com/office/drawing/2014/main" id="{9F9D9441-7485-762C-2423-E5FAF2B17B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reeform: Shape 3">
            <a:extLst>
              <a:ext uri="{FF2B5EF4-FFF2-40B4-BE49-F238E27FC236}">
                <a16:creationId xmlns:a16="http://schemas.microsoft.com/office/drawing/2014/main" id="{624E7866-D60D-2A0F-7FA2-FD83B77308FB}"/>
              </a:ext>
            </a:extLst>
          </p:cNvPr>
          <p:cNvSpPr/>
          <p:nvPr/>
        </p:nvSpPr>
        <p:spPr>
          <a:xfrm>
            <a:off x="2371047" y="2877595"/>
            <a:ext cx="225562" cy="51394"/>
          </a:xfrm>
          <a:custGeom>
            <a:avLst/>
            <a:gdLst>
              <a:gd name="connsiteX0" fmla="*/ 0 w 401316"/>
              <a:gd name="connsiteY0" fmla="*/ 45720 h 91440"/>
              <a:gd name="connsiteX1" fmla="*/ 401316 w 401316"/>
              <a:gd name="connsiteY1" fmla="*/ 45720 h 91440"/>
            </a:gdLst>
            <a:ahLst/>
            <a:cxnLst>
              <a:cxn ang="0">
                <a:pos x="connsiteX0" y="connsiteY0"/>
              </a:cxn>
              <a:cxn ang="0">
                <a:pos x="connsiteX1" y="connsiteY1"/>
              </a:cxn>
            </a:cxnLst>
            <a:rect l="l" t="t" r="r" b="b"/>
            <a:pathLst>
              <a:path w="401316" h="91440">
                <a:moveTo>
                  <a:pt x="0" y="45720"/>
                </a:moveTo>
                <a:lnTo>
                  <a:pt x="401316" y="45720"/>
                </a:lnTo>
              </a:path>
            </a:pathLst>
          </a:custGeom>
          <a:noFill/>
          <a:ln>
            <a:solidFill>
              <a:schemeClr val="tx1"/>
            </a:solidFill>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2560" tIns="43560" rIns="202561" bIns="43561" numCol="1" spcCol="1270" anchor="ctr" anchorCtr="0">
            <a:noAutofit/>
          </a:bodyPr>
          <a:lstStyle/>
          <a:p>
            <a:pPr marL="0" marR="0" lvl="0" indent="0" algn="ctr" defTabSz="222250" rtl="0" eaLnBrk="1" fontAlgn="auto" latinLnBrk="0" hangingPunct="1">
              <a:lnSpc>
                <a:spcPct val="90000"/>
              </a:lnSpc>
              <a:spcBef>
                <a:spcPct val="0"/>
              </a:spcBef>
              <a:spcAft>
                <a:spcPct val="35000"/>
              </a:spcAft>
              <a:buClrTx/>
              <a:buSzTx/>
              <a:buFontTx/>
              <a:buNone/>
              <a:tabLst/>
              <a:defRPr/>
            </a:pPr>
            <a:endParaRPr kumimoji="0" lang="en-US" sz="5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C0A7E126-E139-8719-EDAB-BECDF7F3A1D2}"/>
              </a:ext>
            </a:extLst>
          </p:cNvPr>
          <p:cNvSpPr/>
          <p:nvPr/>
        </p:nvSpPr>
        <p:spPr>
          <a:xfrm>
            <a:off x="261815" y="2314226"/>
            <a:ext cx="1877897" cy="1355848"/>
          </a:xfrm>
          <a:custGeom>
            <a:avLst/>
            <a:gdLst>
              <a:gd name="connsiteX0" fmla="*/ 0 w 1877897"/>
              <a:gd name="connsiteY0" fmla="*/ 0 h 1126738"/>
              <a:gd name="connsiteX1" fmla="*/ 1877897 w 1877897"/>
              <a:gd name="connsiteY1" fmla="*/ 0 h 1126738"/>
              <a:gd name="connsiteX2" fmla="*/ 1877897 w 1877897"/>
              <a:gd name="connsiteY2" fmla="*/ 1126738 h 1126738"/>
              <a:gd name="connsiteX3" fmla="*/ 0 w 1877897"/>
              <a:gd name="connsiteY3" fmla="*/ 1126738 h 1126738"/>
              <a:gd name="connsiteX4" fmla="*/ 0 w 1877897"/>
              <a:gd name="connsiteY4" fmla="*/ 0 h 1126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897" h="1126738">
                <a:moveTo>
                  <a:pt x="0" y="0"/>
                </a:moveTo>
                <a:lnTo>
                  <a:pt x="1877897" y="0"/>
                </a:lnTo>
                <a:lnTo>
                  <a:pt x="1877897" y="1126738"/>
                </a:lnTo>
                <a:lnTo>
                  <a:pt x="0" y="1126738"/>
                </a:lnTo>
                <a:lnTo>
                  <a:pt x="0" y="0"/>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1120" tIns="71120" rIns="71120" bIns="7112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The investigator picks the Portfolio NOSI, RFA and SRG with the appropriate purviews for their proposed study.</a:t>
            </a:r>
          </a:p>
        </p:txBody>
      </p:sp>
      <p:sp>
        <p:nvSpPr>
          <p:cNvPr id="15" name="Freeform: Shape 14">
            <a:extLst>
              <a:ext uri="{FF2B5EF4-FFF2-40B4-BE49-F238E27FC236}">
                <a16:creationId xmlns:a16="http://schemas.microsoft.com/office/drawing/2014/main" id="{4BFFBF97-45F3-E477-03ED-4D7E8AAFADAE}"/>
              </a:ext>
            </a:extLst>
          </p:cNvPr>
          <p:cNvSpPr/>
          <p:nvPr/>
        </p:nvSpPr>
        <p:spPr>
          <a:xfrm>
            <a:off x="5934216" y="2877595"/>
            <a:ext cx="225562" cy="51394"/>
          </a:xfrm>
          <a:custGeom>
            <a:avLst/>
            <a:gdLst>
              <a:gd name="connsiteX0" fmla="*/ 0 w 401316"/>
              <a:gd name="connsiteY0" fmla="*/ 45720 h 91440"/>
              <a:gd name="connsiteX1" fmla="*/ 401316 w 401316"/>
              <a:gd name="connsiteY1" fmla="*/ 45720 h 91440"/>
            </a:gdLst>
            <a:ahLst/>
            <a:cxnLst>
              <a:cxn ang="0">
                <a:pos x="connsiteX0" y="connsiteY0"/>
              </a:cxn>
              <a:cxn ang="0">
                <a:pos x="connsiteX1" y="connsiteY1"/>
              </a:cxn>
            </a:cxnLst>
            <a:rect l="l" t="t" r="r" b="b"/>
            <a:pathLst>
              <a:path w="401316" h="91440">
                <a:moveTo>
                  <a:pt x="0" y="45720"/>
                </a:moveTo>
                <a:lnTo>
                  <a:pt x="401316" y="45720"/>
                </a:lnTo>
              </a:path>
            </a:pathLst>
          </a:custGeom>
          <a:noFill/>
          <a:ln>
            <a:solidFill>
              <a:schemeClr val="tx1"/>
            </a:solidFill>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2560" tIns="43560" rIns="202561" bIns="43561" numCol="1" spcCol="1270" anchor="ctr" anchorCtr="0">
            <a:noAutofit/>
          </a:bodyPr>
          <a:lstStyle/>
          <a:p>
            <a:pPr marL="0" marR="0" lvl="0" indent="0" algn="ctr" defTabSz="222250" rtl="0" eaLnBrk="1" fontAlgn="auto" latinLnBrk="0" hangingPunct="1">
              <a:lnSpc>
                <a:spcPct val="90000"/>
              </a:lnSpc>
              <a:spcBef>
                <a:spcPct val="0"/>
              </a:spcBef>
              <a:spcAft>
                <a:spcPct val="35000"/>
              </a:spcAft>
              <a:buClrTx/>
              <a:buSzTx/>
              <a:buFontTx/>
              <a:buNone/>
              <a:tabLst/>
              <a:defRPr/>
            </a:pPr>
            <a:endParaRPr kumimoji="0" lang="en-US" sz="5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B2747B0-9B55-49C6-4807-C5493ADA901B}"/>
              </a:ext>
            </a:extLst>
          </p:cNvPr>
          <p:cNvSpPr/>
          <p:nvPr/>
        </p:nvSpPr>
        <p:spPr>
          <a:xfrm>
            <a:off x="2827944" y="2314226"/>
            <a:ext cx="2874937" cy="1355848"/>
          </a:xfrm>
          <a:custGeom>
            <a:avLst/>
            <a:gdLst>
              <a:gd name="connsiteX0" fmla="*/ 0 w 1877897"/>
              <a:gd name="connsiteY0" fmla="*/ 0 h 1126738"/>
              <a:gd name="connsiteX1" fmla="*/ 1877897 w 1877897"/>
              <a:gd name="connsiteY1" fmla="*/ 0 h 1126738"/>
              <a:gd name="connsiteX2" fmla="*/ 1877897 w 1877897"/>
              <a:gd name="connsiteY2" fmla="*/ 1126738 h 1126738"/>
              <a:gd name="connsiteX3" fmla="*/ 0 w 1877897"/>
              <a:gd name="connsiteY3" fmla="*/ 1126738 h 1126738"/>
              <a:gd name="connsiteX4" fmla="*/ 0 w 1877897"/>
              <a:gd name="connsiteY4" fmla="*/ 0 h 1126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897" h="1126738">
                <a:moveTo>
                  <a:pt x="0" y="0"/>
                </a:moveTo>
                <a:lnTo>
                  <a:pt x="1877897" y="0"/>
                </a:lnTo>
                <a:lnTo>
                  <a:pt x="1877897" y="1126738"/>
                </a:lnTo>
                <a:lnTo>
                  <a:pt x="0" y="1126738"/>
                </a:lnTo>
                <a:lnTo>
                  <a:pt x="0" y="0"/>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1120" tIns="71120" rIns="71120" bIns="7112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Complete the standardized pre-application providing basic project information and the requested portfolio NOSI </a:t>
            </a:r>
            <a:r>
              <a:rPr kumimoji="0" lang="en-US" sz="1600" b="0" i="0" u="none" strike="noStrike" kern="1200" cap="none" spc="0" normalizeH="0" noProof="0" dirty="0">
                <a:ln>
                  <a:noFill/>
                </a:ln>
                <a:solidFill>
                  <a:prstClr val="black"/>
                </a:solidFill>
                <a:effectLst/>
                <a:uLnTx/>
                <a:uFillTx/>
                <a:latin typeface="Calibri" panose="020F0502020204030204"/>
                <a:ea typeface="+mn-ea"/>
                <a:cs typeface="+mn-cs"/>
              </a:rPr>
              <a:t>and </a:t>
            </a: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SRG and submit.</a:t>
            </a:r>
            <a:endParaRPr kumimoji="0" lang="en-US" sz="1600" b="0" i="1"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Shape 16">
            <a:extLst>
              <a:ext uri="{FF2B5EF4-FFF2-40B4-BE49-F238E27FC236}">
                <a16:creationId xmlns:a16="http://schemas.microsoft.com/office/drawing/2014/main" id="{828EF272-94D9-32DF-958C-3DBFA2ACDF39}"/>
              </a:ext>
            </a:extLst>
          </p:cNvPr>
          <p:cNvSpPr/>
          <p:nvPr/>
        </p:nvSpPr>
        <p:spPr>
          <a:xfrm>
            <a:off x="8906508" y="2877595"/>
            <a:ext cx="225562" cy="51394"/>
          </a:xfrm>
          <a:custGeom>
            <a:avLst/>
            <a:gdLst>
              <a:gd name="connsiteX0" fmla="*/ 0 w 401316"/>
              <a:gd name="connsiteY0" fmla="*/ 45720 h 91440"/>
              <a:gd name="connsiteX1" fmla="*/ 401316 w 401316"/>
              <a:gd name="connsiteY1" fmla="*/ 45720 h 91440"/>
            </a:gdLst>
            <a:ahLst/>
            <a:cxnLst>
              <a:cxn ang="0">
                <a:pos x="connsiteX0" y="connsiteY0"/>
              </a:cxn>
              <a:cxn ang="0">
                <a:pos x="connsiteX1" y="connsiteY1"/>
              </a:cxn>
            </a:cxnLst>
            <a:rect l="l" t="t" r="r" b="b"/>
            <a:pathLst>
              <a:path w="401316" h="91440">
                <a:moveTo>
                  <a:pt x="0" y="45720"/>
                </a:moveTo>
                <a:lnTo>
                  <a:pt x="401316" y="45720"/>
                </a:lnTo>
              </a:path>
            </a:pathLst>
          </a:custGeom>
          <a:noFill/>
          <a:ln>
            <a:solidFill>
              <a:schemeClr val="tx1"/>
            </a:solidFill>
            <a:tailEnd type="arrow"/>
          </a:ln>
        </p:spPr>
        <p:style>
          <a:lnRef idx="1">
            <a:schemeClr val="accent1">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2560" tIns="43560" rIns="202561" bIns="43561" numCol="1" spcCol="1270" anchor="ctr" anchorCtr="0">
            <a:noAutofit/>
          </a:bodyPr>
          <a:lstStyle/>
          <a:p>
            <a:pPr marL="0" marR="0" lvl="0" indent="0" algn="ctr" defTabSz="222250" rtl="0" eaLnBrk="1" fontAlgn="auto" latinLnBrk="0" hangingPunct="1">
              <a:lnSpc>
                <a:spcPct val="90000"/>
              </a:lnSpc>
              <a:spcBef>
                <a:spcPct val="0"/>
              </a:spcBef>
              <a:spcAft>
                <a:spcPct val="35000"/>
              </a:spcAft>
              <a:buClrTx/>
              <a:buSzTx/>
              <a:buFontTx/>
              <a:buNone/>
              <a:tabLst/>
              <a:defRPr/>
            </a:pPr>
            <a:endParaRPr kumimoji="0" lang="en-US" sz="500" b="0" i="0" u="none" strike="noStrike" kern="1200" cap="none" spc="0" normalizeH="0" baseline="0" noProof="0">
              <a:ln>
                <a:noFill/>
              </a:ln>
              <a:solidFill>
                <a:prstClr val="black">
                  <a:hueOff val="0"/>
                  <a:satOff val="0"/>
                  <a:lumOff val="0"/>
                  <a:alphaOff val="0"/>
                </a:prstClr>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B087277B-9091-96CD-235C-2DFCB421A028}"/>
              </a:ext>
            </a:extLst>
          </p:cNvPr>
          <p:cNvSpPr/>
          <p:nvPr/>
        </p:nvSpPr>
        <p:spPr>
          <a:xfrm>
            <a:off x="6391113" y="2314226"/>
            <a:ext cx="2284060" cy="1355848"/>
          </a:xfrm>
          <a:custGeom>
            <a:avLst/>
            <a:gdLst>
              <a:gd name="connsiteX0" fmla="*/ 0 w 1877897"/>
              <a:gd name="connsiteY0" fmla="*/ 0 h 1126738"/>
              <a:gd name="connsiteX1" fmla="*/ 1877897 w 1877897"/>
              <a:gd name="connsiteY1" fmla="*/ 0 h 1126738"/>
              <a:gd name="connsiteX2" fmla="*/ 1877897 w 1877897"/>
              <a:gd name="connsiteY2" fmla="*/ 1126738 h 1126738"/>
              <a:gd name="connsiteX3" fmla="*/ 0 w 1877897"/>
              <a:gd name="connsiteY3" fmla="*/ 1126738 h 1126738"/>
              <a:gd name="connsiteX4" fmla="*/ 0 w 1877897"/>
              <a:gd name="connsiteY4" fmla="*/ 0 h 1126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897" h="1126738">
                <a:moveTo>
                  <a:pt x="0" y="0"/>
                </a:moveTo>
                <a:lnTo>
                  <a:pt x="1877897" y="0"/>
                </a:lnTo>
                <a:lnTo>
                  <a:pt x="1877897" y="1126738"/>
                </a:lnTo>
                <a:lnTo>
                  <a:pt x="0" y="1126738"/>
                </a:lnTo>
                <a:lnTo>
                  <a:pt x="0" y="0"/>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1120" tIns="71120" rIns="71120" bIns="7112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Upon approval, submit a full application through the ORD-Wide RFA including the approval letter which indicates the NOSI being responded to and the assigned SRG.</a:t>
            </a:r>
          </a:p>
        </p:txBody>
      </p:sp>
      <p:sp>
        <p:nvSpPr>
          <p:cNvPr id="19" name="Freeform: Shape 18">
            <a:extLst>
              <a:ext uri="{FF2B5EF4-FFF2-40B4-BE49-F238E27FC236}">
                <a16:creationId xmlns:a16="http://schemas.microsoft.com/office/drawing/2014/main" id="{AF75705E-4099-D1B5-4CF1-DE8DFBDC3E0A}"/>
              </a:ext>
            </a:extLst>
          </p:cNvPr>
          <p:cNvSpPr/>
          <p:nvPr/>
        </p:nvSpPr>
        <p:spPr>
          <a:xfrm>
            <a:off x="9363405" y="2205366"/>
            <a:ext cx="2627743" cy="1355848"/>
          </a:xfrm>
          <a:custGeom>
            <a:avLst/>
            <a:gdLst>
              <a:gd name="connsiteX0" fmla="*/ 0 w 1877897"/>
              <a:gd name="connsiteY0" fmla="*/ 0 h 1126738"/>
              <a:gd name="connsiteX1" fmla="*/ 1877897 w 1877897"/>
              <a:gd name="connsiteY1" fmla="*/ 0 h 1126738"/>
              <a:gd name="connsiteX2" fmla="*/ 1877897 w 1877897"/>
              <a:gd name="connsiteY2" fmla="*/ 1126738 h 1126738"/>
              <a:gd name="connsiteX3" fmla="*/ 0 w 1877897"/>
              <a:gd name="connsiteY3" fmla="*/ 1126738 h 1126738"/>
              <a:gd name="connsiteX4" fmla="*/ 0 w 1877897"/>
              <a:gd name="connsiteY4" fmla="*/ 0 h 11267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77897" h="1126738">
                <a:moveTo>
                  <a:pt x="0" y="0"/>
                </a:moveTo>
                <a:lnTo>
                  <a:pt x="1877897" y="0"/>
                </a:lnTo>
                <a:lnTo>
                  <a:pt x="1877897" y="1126738"/>
                </a:lnTo>
                <a:lnTo>
                  <a:pt x="0" y="1126738"/>
                </a:lnTo>
                <a:lnTo>
                  <a:pt x="0" y="0"/>
                </a:lnTo>
                <a:close/>
              </a:path>
            </a:pathLst>
          </a:custGeom>
          <a:no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1120" tIns="71120" rIns="71120" bIns="71120" numCol="1" spcCol="1270" anchor="t"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prstClr val="black"/>
                </a:solidFill>
                <a:effectLst/>
                <a:uLnTx/>
                <a:uFillTx/>
                <a:latin typeface="Calibri" panose="020F0502020204030204"/>
                <a:ea typeface="+mn-ea"/>
                <a:cs typeface="+mn-cs"/>
              </a:rPr>
              <a:t>The investigator receives scores and summary statement and an intent-to fund (if applicable).</a:t>
            </a:r>
          </a:p>
        </p:txBody>
      </p:sp>
      <p:pic>
        <p:nvPicPr>
          <p:cNvPr id="26" name="Graphic 25" descr="Badge 3 outline">
            <a:extLst>
              <a:ext uri="{FF2B5EF4-FFF2-40B4-BE49-F238E27FC236}">
                <a16:creationId xmlns:a16="http://schemas.microsoft.com/office/drawing/2014/main" id="{1F8113B5-063C-B54D-03A3-D7177CBCE2F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26665" y="1442905"/>
            <a:ext cx="608036" cy="608036"/>
          </a:xfrm>
          <a:prstGeom prst="rect">
            <a:avLst/>
          </a:prstGeom>
        </p:spPr>
      </p:pic>
      <p:pic>
        <p:nvPicPr>
          <p:cNvPr id="27" name="Graphic 26" descr="Badge outline">
            <a:extLst>
              <a:ext uri="{FF2B5EF4-FFF2-40B4-BE49-F238E27FC236}">
                <a16:creationId xmlns:a16="http://schemas.microsoft.com/office/drawing/2014/main" id="{F03C0C5B-844E-7421-A21D-107D468B56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128620" y="1442905"/>
            <a:ext cx="608036" cy="608036"/>
          </a:xfrm>
          <a:prstGeom prst="rect">
            <a:avLst/>
          </a:prstGeom>
        </p:spPr>
      </p:pic>
      <p:pic>
        <p:nvPicPr>
          <p:cNvPr id="28" name="Graphic 27" descr="Badge 4 outline">
            <a:extLst>
              <a:ext uri="{FF2B5EF4-FFF2-40B4-BE49-F238E27FC236}">
                <a16:creationId xmlns:a16="http://schemas.microsoft.com/office/drawing/2014/main" id="{11DCD33E-99C2-A8EC-4DAA-6E4D84B822C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519016" y="1442906"/>
            <a:ext cx="608036" cy="608036"/>
          </a:xfrm>
          <a:prstGeom prst="rect">
            <a:avLst/>
          </a:prstGeom>
        </p:spPr>
      </p:pic>
      <p:sp>
        <p:nvSpPr>
          <p:cNvPr id="30" name="TextBox 29">
            <a:extLst>
              <a:ext uri="{FF2B5EF4-FFF2-40B4-BE49-F238E27FC236}">
                <a16:creationId xmlns:a16="http://schemas.microsoft.com/office/drawing/2014/main" id="{F8BD1DB2-DB5E-0039-FD83-AB5E9E9B1051}"/>
              </a:ext>
            </a:extLst>
          </p:cNvPr>
          <p:cNvSpPr txBox="1"/>
          <p:nvPr/>
        </p:nvSpPr>
        <p:spPr>
          <a:xfrm>
            <a:off x="537566" y="1468227"/>
            <a:ext cx="1676614"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panose="020F0502020204030204"/>
                <a:ea typeface="+mn-ea"/>
                <a:cs typeface="+mn-cs"/>
              </a:rPr>
              <a:t>Align on Portfolio &amp; SRG Scope</a:t>
            </a:r>
          </a:p>
        </p:txBody>
      </p:sp>
      <p:sp>
        <p:nvSpPr>
          <p:cNvPr id="31" name="TextBox 30">
            <a:extLst>
              <a:ext uri="{FF2B5EF4-FFF2-40B4-BE49-F238E27FC236}">
                <a16:creationId xmlns:a16="http://schemas.microsoft.com/office/drawing/2014/main" id="{B2E9CA7C-0FE7-6317-14A2-0E0BBCC20F7A}"/>
              </a:ext>
            </a:extLst>
          </p:cNvPr>
          <p:cNvSpPr txBox="1"/>
          <p:nvPr/>
        </p:nvSpPr>
        <p:spPr>
          <a:xfrm>
            <a:off x="9975509" y="1468227"/>
            <a:ext cx="1704066"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panose="020F0502020204030204"/>
                <a:ea typeface="+mn-ea"/>
                <a:cs typeface="+mn-cs"/>
              </a:rPr>
              <a:t>Receive Funding Decision</a:t>
            </a:r>
          </a:p>
        </p:txBody>
      </p:sp>
      <p:sp>
        <p:nvSpPr>
          <p:cNvPr id="33" name="TextBox 32">
            <a:extLst>
              <a:ext uri="{FF2B5EF4-FFF2-40B4-BE49-F238E27FC236}">
                <a16:creationId xmlns:a16="http://schemas.microsoft.com/office/drawing/2014/main" id="{69566398-DBC2-FF2D-4F31-2FF0BB045D45}"/>
              </a:ext>
            </a:extLst>
          </p:cNvPr>
          <p:cNvSpPr txBox="1"/>
          <p:nvPr/>
        </p:nvSpPr>
        <p:spPr>
          <a:xfrm>
            <a:off x="3624613" y="1468227"/>
            <a:ext cx="152438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panose="020F0502020204030204"/>
                <a:ea typeface="+mn-ea"/>
                <a:cs typeface="+mn-cs"/>
              </a:rPr>
              <a:t>Pre-Application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panose="020F0502020204030204"/>
                <a:ea typeface="+mn-ea"/>
                <a:cs typeface="+mn-cs"/>
              </a:rPr>
              <a:t>Submission</a:t>
            </a:r>
          </a:p>
        </p:txBody>
      </p:sp>
      <p:sp>
        <p:nvSpPr>
          <p:cNvPr id="34" name="TextBox 33">
            <a:extLst>
              <a:ext uri="{FF2B5EF4-FFF2-40B4-BE49-F238E27FC236}">
                <a16:creationId xmlns:a16="http://schemas.microsoft.com/office/drawing/2014/main" id="{D756F97B-B209-9DAC-F547-B09E860DA905}"/>
              </a:ext>
            </a:extLst>
          </p:cNvPr>
          <p:cNvSpPr txBox="1"/>
          <p:nvPr/>
        </p:nvSpPr>
        <p:spPr>
          <a:xfrm>
            <a:off x="6801051" y="1468227"/>
            <a:ext cx="1524389"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panose="020F0502020204030204"/>
                <a:ea typeface="+mn-ea"/>
                <a:cs typeface="+mn-cs"/>
              </a:rPr>
              <a:t>Application Submission</a:t>
            </a:r>
          </a:p>
        </p:txBody>
      </p:sp>
      <p:pic>
        <p:nvPicPr>
          <p:cNvPr id="35" name="Graphic 34" descr="Badge 1 outline">
            <a:extLst>
              <a:ext uri="{FF2B5EF4-FFF2-40B4-BE49-F238E27FC236}">
                <a16:creationId xmlns:a16="http://schemas.microsoft.com/office/drawing/2014/main" id="{22E0E9D0-FC0F-66C4-3BE1-A0BADDCBBFE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7608" y="1472343"/>
            <a:ext cx="549161" cy="549161"/>
          </a:xfrm>
          <a:prstGeom prst="rect">
            <a:avLst/>
          </a:prstGeom>
        </p:spPr>
      </p:pic>
    </p:spTree>
    <p:extLst>
      <p:ext uri="{BB962C8B-B14F-4D97-AF65-F5344CB8AC3E}">
        <p14:creationId xmlns:p14="http://schemas.microsoft.com/office/powerpoint/2010/main" val="21865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fade">
                                      <p:cBhvr>
                                        <p:cTn id="10" dur="500"/>
                                        <p:tgtEl>
                                          <p:spTgt spid="3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par>
                                <p:cTn id="25" presetID="10"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500"/>
                                        <p:tgtEl>
                                          <p:spTgt spid="1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fade">
                                      <p:cBhvr>
                                        <p:cTn id="35" dur="500"/>
                                        <p:tgtEl>
                                          <p:spTgt spid="1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Effect transition="in" filter="fade">
                                      <p:cBhvr>
                                        <p:cTn id="38" dur="500"/>
                                        <p:tgtEl>
                                          <p:spTgt spid="34"/>
                                        </p:tgtEl>
                                      </p:cBhvr>
                                    </p:animEffect>
                                  </p:childTnLst>
                                </p:cTn>
                              </p:par>
                              <p:par>
                                <p:cTn id="39" presetID="10" presetClass="entr" presetSubtype="0" fill="hold"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50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fade">
                                      <p:cBhvr>
                                        <p:cTn id="52" dur="500"/>
                                        <p:tgtEl>
                                          <p:spTgt spid="2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15" grpId="0" animBg="1"/>
      <p:bldP spid="16" grpId="0"/>
      <p:bldP spid="17" grpId="0" animBg="1"/>
      <p:bldP spid="18" grpId="0"/>
      <p:bldP spid="19" grpId="0"/>
      <p:bldP spid="30" grpId="0"/>
      <p:bldP spid="31" grpId="0"/>
      <p:bldP spid="33" grpId="0"/>
      <p:bldP spid="3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5D7B18-1AFA-19BB-A159-02B1CDE24B34}"/>
              </a:ext>
            </a:extLst>
          </p:cNvPr>
          <p:cNvSpPr>
            <a:spLocks noGrp="1"/>
          </p:cNvSpPr>
          <p:nvPr>
            <p:ph type="title"/>
          </p:nvPr>
        </p:nvSpPr>
        <p:spPr>
          <a:xfrm>
            <a:off x="390524" y="97245"/>
            <a:ext cx="11242675" cy="680223"/>
          </a:xfrm>
        </p:spPr>
        <p:txBody>
          <a:bodyPr/>
          <a:lstStyle/>
          <a:p>
            <a:r>
              <a:rPr lang="en-US" sz="3200"/>
              <a:t>Takeaways on Application Review Process Revisions for Investigators</a:t>
            </a:r>
          </a:p>
        </p:txBody>
      </p:sp>
      <p:sp>
        <p:nvSpPr>
          <p:cNvPr id="4" name="Content Placeholder 3">
            <a:extLst>
              <a:ext uri="{FF2B5EF4-FFF2-40B4-BE49-F238E27FC236}">
                <a16:creationId xmlns:a16="http://schemas.microsoft.com/office/drawing/2014/main" id="{30A97AF6-7014-08E5-E4BA-88EFD84FE8EF}"/>
              </a:ext>
            </a:extLst>
          </p:cNvPr>
          <p:cNvSpPr>
            <a:spLocks noGrp="1"/>
          </p:cNvSpPr>
          <p:nvPr>
            <p:ph sz="half" idx="1"/>
          </p:nvPr>
        </p:nvSpPr>
        <p:spPr>
          <a:xfrm>
            <a:off x="319595" y="1532392"/>
            <a:ext cx="11499365" cy="4351338"/>
          </a:xfrm>
        </p:spPr>
        <p:txBody>
          <a:bodyPr/>
          <a:lstStyle/>
          <a:p>
            <a:r>
              <a:rPr lang="en-US" sz="2400" dirty="0"/>
              <a:t>Funding opportunities are organized by the type of research proposed.</a:t>
            </a:r>
          </a:p>
          <a:p>
            <a:r>
              <a:rPr lang="en-US" sz="2400" dirty="0"/>
              <a:t>Accepted Pre-Applications are required prior to any full application submission for most applications.</a:t>
            </a:r>
          </a:p>
          <a:p>
            <a:r>
              <a:rPr lang="en-US" sz="2400" dirty="0"/>
              <a:t>Pre-applications are submitted to the cross-portfolio pre-application RFAs (I02).</a:t>
            </a:r>
          </a:p>
          <a:p>
            <a:r>
              <a:rPr lang="en-US" sz="2400" dirty="0"/>
              <a:t>The scientific review groups review for all Portfolios (not just a single Service).</a:t>
            </a:r>
          </a:p>
          <a:p>
            <a:r>
              <a:rPr lang="en-US" sz="2400" dirty="0"/>
              <a:t>Scored proposals will be ranked in the Portfolio funding meeting.</a:t>
            </a:r>
          </a:p>
          <a:p>
            <a:r>
              <a:rPr lang="en-US" sz="2400" dirty="0"/>
              <a:t>The ranked applications will go to the ISRM Leadership Council which will set the pay line for the round.</a:t>
            </a:r>
          </a:p>
          <a:p>
            <a:r>
              <a:rPr lang="en-US" sz="2400" dirty="0"/>
              <a:t>Funded projects will be managed by the SPM who managed the review working with the director of the Portfolio to which it was submitted.</a:t>
            </a:r>
          </a:p>
        </p:txBody>
      </p:sp>
      <p:sp>
        <p:nvSpPr>
          <p:cNvPr id="2" name="Slide Number Placeholder 1">
            <a:extLst>
              <a:ext uri="{FF2B5EF4-FFF2-40B4-BE49-F238E27FC236}">
                <a16:creationId xmlns:a16="http://schemas.microsoft.com/office/drawing/2014/main" id="{9F9D9441-7485-762C-2423-E5FAF2B17B5F}"/>
              </a:ext>
            </a:extLst>
          </p:cNvPr>
          <p:cNvSpPr>
            <a:spLocks noGrp="1"/>
          </p:cNvSpPr>
          <p:nvPr>
            <p:ph type="sldNum" sz="quarter" idx="12"/>
          </p:nvPr>
        </p:nvSpPr>
        <p:spPr>
          <a:xfrm>
            <a:off x="8610600" y="6260822"/>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ADC738DB-B1CC-6335-0FDD-FFAEEE375663}"/>
              </a:ext>
            </a:extLst>
          </p:cNvPr>
          <p:cNvSpPr txBox="1"/>
          <p:nvPr/>
        </p:nvSpPr>
        <p:spPr>
          <a:xfrm>
            <a:off x="4225904" y="1009095"/>
            <a:ext cx="3107184" cy="510778"/>
          </a:xfrm>
          <a:prstGeom prst="roundRect">
            <a:avLst/>
          </a:prstGeom>
          <a:solidFill>
            <a:srgbClr val="167B57"/>
          </a:solidFill>
          <a:ln>
            <a:solidFill>
              <a:schemeClr val="accent1"/>
            </a:solid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What has changed   </a:t>
            </a:r>
          </a:p>
        </p:txBody>
      </p:sp>
      <p:sp>
        <p:nvSpPr>
          <p:cNvPr id="15" name="Oval 14">
            <a:extLst>
              <a:ext uri="{FF2B5EF4-FFF2-40B4-BE49-F238E27FC236}">
                <a16:creationId xmlns:a16="http://schemas.microsoft.com/office/drawing/2014/main" id="{77417D42-E110-8CB5-BFF6-0AFF6B7875F1}"/>
              </a:ext>
            </a:extLst>
          </p:cNvPr>
          <p:cNvSpPr/>
          <p:nvPr/>
        </p:nvSpPr>
        <p:spPr>
          <a:xfrm>
            <a:off x="3955135" y="993967"/>
            <a:ext cx="541538" cy="541034"/>
          </a:xfrm>
          <a:prstGeom prst="ellipse">
            <a:avLst/>
          </a:prstGeom>
          <a:solidFill>
            <a:srgbClr val="167B5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77551E3C-6ACC-0059-291E-902D97D02E5E}"/>
              </a:ext>
            </a:extLst>
          </p:cNvPr>
          <p:cNvSpPr/>
          <p:nvPr/>
        </p:nvSpPr>
        <p:spPr>
          <a:xfrm>
            <a:off x="4043912" y="1068074"/>
            <a:ext cx="363984" cy="305722"/>
          </a:xfrm>
          <a:prstGeom prst="triangl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lide Number Placeholder 2">
            <a:extLst>
              <a:ext uri="{FF2B5EF4-FFF2-40B4-BE49-F238E27FC236}">
                <a16:creationId xmlns:a16="http://schemas.microsoft.com/office/drawing/2014/main" id="{29A23CB8-3BD2-180A-90BC-4CAEA85F53C3}"/>
              </a:ext>
            </a:extLst>
          </p:cNvPr>
          <p:cNvSpPr txBox="1">
            <a:spLocks/>
          </p:cNvSpPr>
          <p:nvPr/>
        </p:nvSpPr>
        <p:spPr>
          <a:xfrm>
            <a:off x="927474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29</a:t>
            </a:fld>
            <a:endParaRPr lang="en-US"/>
          </a:p>
        </p:txBody>
      </p:sp>
    </p:spTree>
    <p:extLst>
      <p:ext uri="{BB962C8B-B14F-4D97-AF65-F5344CB8AC3E}">
        <p14:creationId xmlns:p14="http://schemas.microsoft.com/office/powerpoint/2010/main" val="1081761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85D7B18-1AFA-19BB-A159-02B1CDE24B34}"/>
              </a:ext>
            </a:extLst>
          </p:cNvPr>
          <p:cNvSpPr>
            <a:spLocks noGrp="1"/>
          </p:cNvSpPr>
          <p:nvPr>
            <p:ph type="title"/>
          </p:nvPr>
        </p:nvSpPr>
        <p:spPr>
          <a:xfrm>
            <a:off x="390524" y="97245"/>
            <a:ext cx="11242675" cy="680223"/>
          </a:xfrm>
        </p:spPr>
        <p:txBody>
          <a:bodyPr/>
          <a:lstStyle/>
          <a:p>
            <a:r>
              <a:rPr lang="en-US" sz="3200"/>
              <a:t>Takeaways on Application Review Process Revisions for Investigators</a:t>
            </a:r>
          </a:p>
        </p:txBody>
      </p:sp>
      <p:sp>
        <p:nvSpPr>
          <p:cNvPr id="8" name="Content Placeholder 7">
            <a:extLst>
              <a:ext uri="{FF2B5EF4-FFF2-40B4-BE49-F238E27FC236}">
                <a16:creationId xmlns:a16="http://schemas.microsoft.com/office/drawing/2014/main" id="{D4A0EA81-C2CF-AEF5-D358-3D055BEBA475}"/>
              </a:ext>
            </a:extLst>
          </p:cNvPr>
          <p:cNvSpPr>
            <a:spLocks noGrp="1"/>
          </p:cNvSpPr>
          <p:nvPr>
            <p:ph sz="half" idx="2"/>
          </p:nvPr>
        </p:nvSpPr>
        <p:spPr>
          <a:xfrm>
            <a:off x="204716" y="1627928"/>
            <a:ext cx="11858329" cy="4351338"/>
          </a:xfrm>
        </p:spPr>
        <p:txBody>
          <a:bodyPr/>
          <a:lstStyle/>
          <a:p>
            <a:r>
              <a:rPr lang="en-US" sz="2400"/>
              <a:t>RFAs are posted and applications are submitted through Grants.gov and </a:t>
            </a:r>
            <a:r>
              <a:rPr lang="en-US" sz="2400" err="1"/>
              <a:t>eRA</a:t>
            </a:r>
            <a:r>
              <a:rPr lang="en-US" sz="2400"/>
              <a:t> Commons.</a:t>
            </a:r>
          </a:p>
          <a:p>
            <a:r>
              <a:rPr lang="en-US" sz="2400"/>
              <a:t>ORD-wide RFAs will still support the full range of research activities and disciplines.</a:t>
            </a:r>
          </a:p>
          <a:p>
            <a:r>
              <a:rPr lang="en-US" sz="2400"/>
              <a:t>The purview of scientific review groups (SRGs) and timing of SRG meetings (every 6 months).</a:t>
            </a:r>
          </a:p>
          <a:p>
            <a:r>
              <a:rPr lang="en-US" sz="2400"/>
              <a:t>The Scientific Portfolio Managers who manage the SRGs have not changed.</a:t>
            </a:r>
          </a:p>
          <a:p>
            <a:r>
              <a:rPr lang="en-US" sz="2400"/>
              <a:t>Review by a specific scientific review group can be requested.</a:t>
            </a:r>
          </a:p>
          <a:p>
            <a:r>
              <a:rPr lang="en-US" sz="2400"/>
              <a:t>Applications not funded may be resubmitted no more than 2 times (-A1 and -A2).</a:t>
            </a:r>
          </a:p>
          <a:p>
            <a:r>
              <a:rPr lang="en-US" sz="2400"/>
              <a:t>Once a decision has been made about an application, a notice of intent to fund or not to fund will be sent. </a:t>
            </a:r>
          </a:p>
          <a:p>
            <a:r>
              <a:rPr lang="en-US" sz="2400"/>
              <a:t>PIs with approved applications will be required to complete just-in-time requirements.</a:t>
            </a:r>
          </a:p>
          <a:p>
            <a:r>
              <a:rPr lang="en-US" sz="2400"/>
              <a:t>If funded, the SPM who managed the review of the application will manage your project. </a:t>
            </a:r>
          </a:p>
        </p:txBody>
      </p:sp>
      <p:sp>
        <p:nvSpPr>
          <p:cNvPr id="2" name="Slide Number Placeholder 1">
            <a:extLst>
              <a:ext uri="{FF2B5EF4-FFF2-40B4-BE49-F238E27FC236}">
                <a16:creationId xmlns:a16="http://schemas.microsoft.com/office/drawing/2014/main" id="{9F9D9441-7485-762C-2423-E5FAF2B17B5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21BAA8DF-BAA4-8F78-6DED-34C4E4F285A3}"/>
              </a:ext>
            </a:extLst>
          </p:cNvPr>
          <p:cNvSpPr txBox="1"/>
          <p:nvPr/>
        </p:nvSpPr>
        <p:spPr>
          <a:xfrm>
            <a:off x="4225904" y="1036391"/>
            <a:ext cx="3544888" cy="510778"/>
          </a:xfrm>
          <a:prstGeom prst="roundRect">
            <a:avLst/>
          </a:prstGeom>
          <a:solidFill>
            <a:srgbClr val="167B57"/>
          </a:solidFill>
          <a:ln>
            <a:solidFill>
              <a:schemeClr val="accent1"/>
            </a:solidFill>
          </a:ln>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white"/>
                </a:solidFill>
                <a:effectLst/>
                <a:uLnTx/>
                <a:uFillTx/>
                <a:latin typeface="Calibri" panose="020F0502020204030204"/>
                <a:ea typeface="+mn-ea"/>
                <a:cs typeface="+mn-cs"/>
              </a:rPr>
              <a:t>What has NOT changed   </a:t>
            </a:r>
          </a:p>
        </p:txBody>
      </p:sp>
      <p:sp>
        <p:nvSpPr>
          <p:cNvPr id="16" name="Oval 15">
            <a:extLst>
              <a:ext uri="{FF2B5EF4-FFF2-40B4-BE49-F238E27FC236}">
                <a16:creationId xmlns:a16="http://schemas.microsoft.com/office/drawing/2014/main" id="{5420C778-4322-6FCA-9B32-1C9E71FE35E2}"/>
              </a:ext>
            </a:extLst>
          </p:cNvPr>
          <p:cNvSpPr/>
          <p:nvPr/>
        </p:nvSpPr>
        <p:spPr>
          <a:xfrm>
            <a:off x="3955134" y="1019783"/>
            <a:ext cx="541538" cy="541034"/>
          </a:xfrm>
          <a:prstGeom prst="ellipse">
            <a:avLst/>
          </a:prstGeom>
          <a:solidFill>
            <a:srgbClr val="167B57"/>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Equals 16">
            <a:extLst>
              <a:ext uri="{FF2B5EF4-FFF2-40B4-BE49-F238E27FC236}">
                <a16:creationId xmlns:a16="http://schemas.microsoft.com/office/drawing/2014/main" id="{87823B68-9523-95CC-6D45-139D4AB1222F}"/>
              </a:ext>
            </a:extLst>
          </p:cNvPr>
          <p:cNvSpPr/>
          <p:nvPr/>
        </p:nvSpPr>
        <p:spPr>
          <a:xfrm>
            <a:off x="4030594" y="1131827"/>
            <a:ext cx="390617" cy="289649"/>
          </a:xfrm>
          <a:prstGeom prst="mathEqual">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Slide Number Placeholder 2">
            <a:extLst>
              <a:ext uri="{FF2B5EF4-FFF2-40B4-BE49-F238E27FC236}">
                <a16:creationId xmlns:a16="http://schemas.microsoft.com/office/drawing/2014/main" id="{BFE73FBA-3058-4210-4AA5-38EBBAA8760F}"/>
              </a:ext>
            </a:extLst>
          </p:cNvPr>
          <p:cNvSpPr txBox="1">
            <a:spLocks/>
          </p:cNvSpPr>
          <p:nvPr/>
        </p:nvSpPr>
        <p:spPr>
          <a:xfrm>
            <a:off x="9274743"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0A9334-4E67-F94F-A05E-0CE8B74A054E}" type="slidenum">
              <a:rPr lang="en-US" smtClean="0"/>
              <a:pPr/>
              <a:t>30</a:t>
            </a:fld>
            <a:endParaRPr lang="en-US"/>
          </a:p>
        </p:txBody>
      </p:sp>
    </p:spTree>
    <p:extLst>
      <p:ext uri="{BB962C8B-B14F-4D97-AF65-F5344CB8AC3E}">
        <p14:creationId xmlns:p14="http://schemas.microsoft.com/office/powerpoint/2010/main" val="2861931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EE6714A-48AE-C12C-BBA9-456A17EFDAF4}"/>
              </a:ext>
            </a:extLst>
          </p:cNvPr>
          <p:cNvSpPr>
            <a:spLocks noGrp="1"/>
          </p:cNvSpPr>
          <p:nvPr>
            <p:ph type="body" sz="quarter" idx="10"/>
          </p:nvPr>
        </p:nvSpPr>
        <p:spPr/>
        <p:txBody>
          <a:bodyPr/>
          <a:lstStyle/>
          <a:p>
            <a:r>
              <a:rPr lang="en-US" dirty="0"/>
              <a:t>What are the Changes to the Funding Decision Process?</a:t>
            </a:r>
          </a:p>
        </p:txBody>
      </p:sp>
      <p:sp>
        <p:nvSpPr>
          <p:cNvPr id="5" name="Slide Number Placeholder 4">
            <a:extLst>
              <a:ext uri="{FF2B5EF4-FFF2-40B4-BE49-F238E27FC236}">
                <a16:creationId xmlns:a16="http://schemas.microsoft.com/office/drawing/2014/main" id="{1CCA013A-7285-6B7E-14C6-AB7B1B7D6443}"/>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9C639-C7C7-9848-BE32-492A9B56F14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11122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E881DD-5F27-E868-CC2E-55949D695875}"/>
              </a:ext>
            </a:extLst>
          </p:cNvPr>
          <p:cNvSpPr>
            <a:spLocks noGrp="1"/>
          </p:cNvSpPr>
          <p:nvPr>
            <p:ph type="title"/>
          </p:nvPr>
        </p:nvSpPr>
        <p:spPr/>
        <p:txBody>
          <a:bodyPr/>
          <a:lstStyle/>
          <a:p>
            <a:r>
              <a:rPr lang="en-US"/>
              <a:t>Portfolio Funding Process</a:t>
            </a:r>
          </a:p>
        </p:txBody>
      </p:sp>
      <p:sp>
        <p:nvSpPr>
          <p:cNvPr id="7" name="Content Placeholder 6">
            <a:extLst>
              <a:ext uri="{FF2B5EF4-FFF2-40B4-BE49-F238E27FC236}">
                <a16:creationId xmlns:a16="http://schemas.microsoft.com/office/drawing/2014/main" id="{F18664A8-E865-4204-8882-64FFE9B41E9F}"/>
              </a:ext>
            </a:extLst>
          </p:cNvPr>
          <p:cNvSpPr>
            <a:spLocks noGrp="1"/>
          </p:cNvSpPr>
          <p:nvPr>
            <p:ph idx="1"/>
          </p:nvPr>
        </p:nvSpPr>
        <p:spPr>
          <a:xfrm>
            <a:off x="462916" y="1217928"/>
            <a:ext cx="10515600" cy="4351338"/>
          </a:xfrm>
        </p:spPr>
        <p:txBody>
          <a:bodyPr/>
          <a:lstStyle/>
          <a:p>
            <a:r>
              <a:rPr lang="en-US" sz="3200"/>
              <a:t>The budget for each portfolio is determined by the ISRM Leadership Council at the beginning of each fiscal year.</a:t>
            </a:r>
          </a:p>
          <a:p>
            <a:endParaRPr lang="en-US" sz="3200"/>
          </a:p>
          <a:p>
            <a:pPr lvl="1"/>
            <a:r>
              <a:rPr lang="en-US" sz="2800"/>
              <a:t>Value of projects from end of the prior fiscal year</a:t>
            </a:r>
          </a:p>
          <a:p>
            <a:pPr marL="457200" lvl="1" indent="0">
              <a:buNone/>
            </a:pPr>
            <a:r>
              <a:rPr lang="en-US" sz="2800"/>
              <a:t>				       +</a:t>
            </a:r>
          </a:p>
          <a:p>
            <a:pPr lvl="1"/>
            <a:r>
              <a:rPr lang="en-US" sz="2800"/>
              <a:t>Additional specific funding provided in ORD budget</a:t>
            </a:r>
          </a:p>
          <a:p>
            <a:pPr lvl="1"/>
            <a:endParaRPr lang="en-US" sz="2800"/>
          </a:p>
          <a:p>
            <a:r>
              <a:rPr lang="en-US" sz="3200"/>
              <a:t>The ISRM LC has the authority to transfer funds between portfolios during the fiscal year if required. </a:t>
            </a:r>
          </a:p>
          <a:p>
            <a:endParaRPr lang="en-US"/>
          </a:p>
        </p:txBody>
      </p:sp>
      <p:sp>
        <p:nvSpPr>
          <p:cNvPr id="5" name="Slide Number Placeholder 4">
            <a:extLst>
              <a:ext uri="{FF2B5EF4-FFF2-40B4-BE49-F238E27FC236}">
                <a16:creationId xmlns:a16="http://schemas.microsoft.com/office/drawing/2014/main" id="{BA26DDC3-3123-BC78-4F14-EB1BD24E32AC}"/>
              </a:ext>
            </a:extLst>
          </p:cNvPr>
          <p:cNvSpPr>
            <a:spLocks noGrp="1"/>
          </p:cNvSpPr>
          <p:nvPr>
            <p:ph type="sldNum" sz="quarter" idx="12"/>
          </p:nvPr>
        </p:nvSpPr>
        <p:spPr/>
        <p:txBody>
          <a:bodyPr/>
          <a:lstStyle/>
          <a:p>
            <a:fld id="{670A9334-4E67-F94F-A05E-0CE8B74A054E}" type="slidenum">
              <a:rPr lang="en-US" smtClean="0"/>
              <a:pPr/>
              <a:t>32</a:t>
            </a:fld>
            <a:endParaRPr lang="en-US"/>
          </a:p>
        </p:txBody>
      </p:sp>
    </p:spTree>
    <p:extLst>
      <p:ext uri="{BB962C8B-B14F-4D97-AF65-F5344CB8AC3E}">
        <p14:creationId xmlns:p14="http://schemas.microsoft.com/office/powerpoint/2010/main" val="27372924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AE881DD-5F27-E868-CC2E-55949D695875}"/>
              </a:ext>
            </a:extLst>
          </p:cNvPr>
          <p:cNvSpPr>
            <a:spLocks noGrp="1"/>
          </p:cNvSpPr>
          <p:nvPr>
            <p:ph type="title"/>
          </p:nvPr>
        </p:nvSpPr>
        <p:spPr/>
        <p:txBody>
          <a:bodyPr/>
          <a:lstStyle/>
          <a:p>
            <a:r>
              <a:rPr lang="en-US"/>
              <a:t>Project Funding Process</a:t>
            </a:r>
          </a:p>
        </p:txBody>
      </p:sp>
      <p:sp>
        <p:nvSpPr>
          <p:cNvPr id="7" name="Content Placeholder 6">
            <a:extLst>
              <a:ext uri="{FF2B5EF4-FFF2-40B4-BE49-F238E27FC236}">
                <a16:creationId xmlns:a16="http://schemas.microsoft.com/office/drawing/2014/main" id="{F18664A8-E865-4204-8882-64FFE9B41E9F}"/>
              </a:ext>
            </a:extLst>
          </p:cNvPr>
          <p:cNvSpPr>
            <a:spLocks noGrp="1"/>
          </p:cNvSpPr>
          <p:nvPr>
            <p:ph idx="1"/>
          </p:nvPr>
        </p:nvSpPr>
        <p:spPr>
          <a:xfrm>
            <a:off x="449852" y="1087301"/>
            <a:ext cx="11319782" cy="4351338"/>
          </a:xfrm>
        </p:spPr>
        <p:txBody>
          <a:bodyPr/>
          <a:lstStyle/>
          <a:p>
            <a:r>
              <a:rPr lang="en-US" dirty="0"/>
              <a:t>Applications for funding will be reviewed in either the standing scientific review groups or the special review groups. </a:t>
            </a:r>
          </a:p>
          <a:p>
            <a:endParaRPr lang="en-US" dirty="0"/>
          </a:p>
          <a:p>
            <a:r>
              <a:rPr lang="en-US" dirty="0"/>
              <a:t>Portfolios will hold funding ranking meetings for each review cycle.</a:t>
            </a:r>
          </a:p>
          <a:p>
            <a:endParaRPr lang="en-US" dirty="0"/>
          </a:p>
          <a:p>
            <a:r>
              <a:rPr lang="en-US" dirty="0"/>
              <a:t>Ranked lists will be submitted for approval to the Leadership Council.</a:t>
            </a:r>
          </a:p>
          <a:p>
            <a:endParaRPr lang="en-US" dirty="0"/>
          </a:p>
          <a:p>
            <a:r>
              <a:rPr lang="en-US" dirty="0"/>
              <a:t>Deviations from the established “pay line” will require approval. </a:t>
            </a:r>
          </a:p>
          <a:p>
            <a:endParaRPr lang="en-US" dirty="0"/>
          </a:p>
        </p:txBody>
      </p:sp>
      <p:sp>
        <p:nvSpPr>
          <p:cNvPr id="5" name="Slide Number Placeholder 4">
            <a:extLst>
              <a:ext uri="{FF2B5EF4-FFF2-40B4-BE49-F238E27FC236}">
                <a16:creationId xmlns:a16="http://schemas.microsoft.com/office/drawing/2014/main" id="{BA26DDC3-3123-BC78-4F14-EB1BD24E32AC}"/>
              </a:ext>
            </a:extLst>
          </p:cNvPr>
          <p:cNvSpPr>
            <a:spLocks noGrp="1"/>
          </p:cNvSpPr>
          <p:nvPr>
            <p:ph type="sldNum" sz="quarter" idx="12"/>
          </p:nvPr>
        </p:nvSpPr>
        <p:spPr/>
        <p:txBody>
          <a:bodyPr/>
          <a:lstStyle/>
          <a:p>
            <a:fld id="{670A9334-4E67-F94F-A05E-0CE8B74A054E}" type="slidenum">
              <a:rPr lang="en-US" smtClean="0"/>
              <a:pPr/>
              <a:t>33</a:t>
            </a:fld>
            <a:endParaRPr lang="en-US"/>
          </a:p>
        </p:txBody>
      </p:sp>
    </p:spTree>
    <p:extLst>
      <p:ext uri="{BB962C8B-B14F-4D97-AF65-F5344CB8AC3E}">
        <p14:creationId xmlns:p14="http://schemas.microsoft.com/office/powerpoint/2010/main" val="2380453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EE6714A-48AE-C12C-BBA9-456A17EFDAF4}"/>
              </a:ext>
            </a:extLst>
          </p:cNvPr>
          <p:cNvSpPr>
            <a:spLocks noGrp="1"/>
          </p:cNvSpPr>
          <p:nvPr>
            <p:ph type="body" sz="quarter" idx="10"/>
          </p:nvPr>
        </p:nvSpPr>
        <p:spPr/>
        <p:txBody>
          <a:bodyPr/>
          <a:lstStyle/>
          <a:p>
            <a:r>
              <a:rPr lang="en-US" dirty="0"/>
              <a:t>What is the New Application Review Timeline?  </a:t>
            </a:r>
          </a:p>
        </p:txBody>
      </p:sp>
      <p:sp>
        <p:nvSpPr>
          <p:cNvPr id="5" name="Slide Number Placeholder 4">
            <a:extLst>
              <a:ext uri="{FF2B5EF4-FFF2-40B4-BE49-F238E27FC236}">
                <a16:creationId xmlns:a16="http://schemas.microsoft.com/office/drawing/2014/main" id="{1CCA013A-7285-6B7E-14C6-AB7B1B7D6443}"/>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9C639-C7C7-9848-BE32-492A9B56F14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4358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97514-C575-CEBC-14F9-88E333754764}"/>
              </a:ext>
            </a:extLst>
          </p:cNvPr>
          <p:cNvSpPr>
            <a:spLocks noGrp="1"/>
          </p:cNvSpPr>
          <p:nvPr>
            <p:ph type="title"/>
          </p:nvPr>
        </p:nvSpPr>
        <p:spPr/>
        <p:txBody>
          <a:bodyPr/>
          <a:lstStyle/>
          <a:p>
            <a:r>
              <a:rPr lang="en-US" sz="2800"/>
              <a:t>Key Components to the Revised Application Review Transition Timeline</a:t>
            </a:r>
          </a:p>
        </p:txBody>
      </p:sp>
      <p:sp>
        <p:nvSpPr>
          <p:cNvPr id="4" name="Content Placeholder 3">
            <a:extLst>
              <a:ext uri="{FF2B5EF4-FFF2-40B4-BE49-F238E27FC236}">
                <a16:creationId xmlns:a16="http://schemas.microsoft.com/office/drawing/2014/main" id="{EA38B0DB-19EA-F724-B52E-C8895237E1AA}"/>
              </a:ext>
            </a:extLst>
          </p:cNvPr>
          <p:cNvSpPr>
            <a:spLocks noGrp="1"/>
          </p:cNvSpPr>
          <p:nvPr>
            <p:ph idx="4294967295"/>
          </p:nvPr>
        </p:nvSpPr>
        <p:spPr>
          <a:xfrm>
            <a:off x="390524" y="950913"/>
            <a:ext cx="11189429" cy="4635500"/>
          </a:xfrm>
        </p:spPr>
        <p:txBody>
          <a:bodyPr/>
          <a:lstStyle/>
          <a:p>
            <a:pPr marL="0" indent="0">
              <a:buNone/>
            </a:pPr>
            <a:r>
              <a:rPr lang="en-US" sz="2000" b="1" u="sng" dirty="0"/>
              <a:t>Staying the same:</a:t>
            </a:r>
          </a:p>
          <a:p>
            <a:pPr marL="0" indent="0">
              <a:buNone/>
            </a:pPr>
            <a:r>
              <a:rPr lang="en-US" sz="2000" dirty="0"/>
              <a:t>Due dates for </a:t>
            </a:r>
            <a:r>
              <a:rPr lang="en-US" sz="2000" b="1" dirty="0"/>
              <a:t>pre-applications, full applications, reviews, and</a:t>
            </a:r>
            <a:r>
              <a:rPr lang="en-US" sz="2000" b="1" dirty="0">
                <a:solidFill>
                  <a:srgbClr val="FF0000"/>
                </a:solidFill>
              </a:rPr>
              <a:t> </a:t>
            </a:r>
            <a:r>
              <a:rPr lang="en-US" sz="2000" b="1" dirty="0"/>
              <a:t>margin meetings</a:t>
            </a:r>
            <a:r>
              <a:rPr lang="en-US" sz="2000" dirty="0"/>
              <a:t> will </a:t>
            </a:r>
            <a:r>
              <a:rPr lang="en-US" sz="2000" b="1" dirty="0"/>
              <a:t>remain</a:t>
            </a:r>
            <a:r>
              <a:rPr lang="en-US" sz="2000" dirty="0"/>
              <a:t> on the </a:t>
            </a:r>
            <a:r>
              <a:rPr lang="en-US" sz="2000" b="1" dirty="0"/>
              <a:t>same cycle </a:t>
            </a:r>
            <a:r>
              <a:rPr lang="en-US" sz="2000" dirty="0"/>
              <a:t>as we transition from Services to Portfolios</a:t>
            </a:r>
          </a:p>
          <a:p>
            <a:r>
              <a:rPr lang="en-US" sz="1800" dirty="0"/>
              <a:t>SRGs that were originally in </a:t>
            </a:r>
            <a:r>
              <a:rPr lang="en-US" sz="1800" b="1" dirty="0"/>
              <a:t>HSRD</a:t>
            </a:r>
            <a:r>
              <a:rPr lang="en-US" sz="1800" dirty="0"/>
              <a:t> (</a:t>
            </a:r>
            <a:r>
              <a:rPr lang="en-US" sz="1800" i="1" dirty="0"/>
              <a:t>to become HSR Broad Portfolio</a:t>
            </a:r>
            <a:r>
              <a:rPr lang="en-US" sz="1800" dirty="0"/>
              <a:t>) and </a:t>
            </a:r>
            <a:r>
              <a:rPr lang="en-US" sz="1800" b="1" dirty="0"/>
              <a:t>RRD</a:t>
            </a:r>
            <a:r>
              <a:rPr lang="en-US" sz="1800" dirty="0"/>
              <a:t> (</a:t>
            </a:r>
            <a:r>
              <a:rPr lang="en-US" sz="1800" i="1" dirty="0"/>
              <a:t>to become RRD Broad Portfolio</a:t>
            </a:r>
            <a:r>
              <a:rPr lang="en-US" sz="1800" dirty="0"/>
              <a:t>) will remain Summer/Winter</a:t>
            </a:r>
          </a:p>
          <a:p>
            <a:r>
              <a:rPr lang="en-US" sz="1800" dirty="0"/>
              <a:t>SRGs that were originally in </a:t>
            </a:r>
            <a:r>
              <a:rPr lang="en-US" sz="1800" b="1" dirty="0"/>
              <a:t>BLRD</a:t>
            </a:r>
            <a:r>
              <a:rPr lang="en-US" sz="1800" dirty="0"/>
              <a:t> (</a:t>
            </a:r>
            <a:r>
              <a:rPr lang="en-US" sz="1800" i="1" dirty="0"/>
              <a:t>to become MHA Broad Portfolio</a:t>
            </a:r>
            <a:r>
              <a:rPr lang="en-US" sz="1800" dirty="0"/>
              <a:t>) and </a:t>
            </a:r>
            <a:r>
              <a:rPr lang="en-US" sz="1800" b="1" dirty="0"/>
              <a:t>CSRD</a:t>
            </a:r>
            <a:r>
              <a:rPr lang="en-US" sz="1800" dirty="0"/>
              <a:t> </a:t>
            </a:r>
            <a:r>
              <a:rPr lang="en-US" sz="1800" i="1" dirty="0"/>
              <a:t>(to become BBMH Broad Portfolio</a:t>
            </a:r>
            <a:r>
              <a:rPr lang="en-US" sz="1800" dirty="0"/>
              <a:t>) will remain Spring/Fall</a:t>
            </a:r>
          </a:p>
          <a:p>
            <a:pPr lvl="1"/>
            <a:r>
              <a:rPr lang="en-US" sz="1400" dirty="0"/>
              <a:t>January ‘25 – Final “Service” Margin meetings for BL and CS to conclude application cycle</a:t>
            </a:r>
          </a:p>
          <a:p>
            <a:pPr marL="0" indent="0">
              <a:buNone/>
            </a:pPr>
            <a:endParaRPr lang="en-US" sz="900" u="sng" dirty="0"/>
          </a:p>
          <a:p>
            <a:pPr marL="0" indent="0">
              <a:buNone/>
            </a:pPr>
            <a:r>
              <a:rPr lang="en-US" sz="2000" b="1" u="sng" dirty="0"/>
              <a:t>Changing:</a:t>
            </a:r>
          </a:p>
          <a:p>
            <a:pPr marL="0" indent="0">
              <a:buNone/>
            </a:pPr>
            <a:r>
              <a:rPr lang="en-US" sz="2000" b="1" dirty="0"/>
              <a:t>August ’24 </a:t>
            </a:r>
            <a:r>
              <a:rPr lang="en-US" sz="2000" dirty="0"/>
              <a:t>will be the </a:t>
            </a:r>
            <a:r>
              <a:rPr lang="en-US" sz="2000" b="1" dirty="0"/>
              <a:t>launch date for new ORD-Wide RFAs,</a:t>
            </a:r>
            <a:r>
              <a:rPr lang="en-US" sz="2000" dirty="0"/>
              <a:t> </a:t>
            </a:r>
            <a:r>
              <a:rPr lang="en-US" sz="2000" b="1" dirty="0"/>
              <a:t>Portfolio Pre-Applications</a:t>
            </a:r>
            <a:r>
              <a:rPr lang="en-US" sz="2000" dirty="0"/>
              <a:t> , and </a:t>
            </a:r>
            <a:r>
              <a:rPr lang="en-US" sz="2000" b="1" dirty="0"/>
              <a:t>Notices of Special Interest</a:t>
            </a:r>
          </a:p>
          <a:p>
            <a:r>
              <a:rPr lang="en-US" sz="1800" dirty="0"/>
              <a:t>HSRD and RRD RFAs will be taken down in August ’24</a:t>
            </a:r>
          </a:p>
          <a:p>
            <a:r>
              <a:rPr lang="en-US" sz="1800" dirty="0"/>
              <a:t>BLRD and CSRD RFAs will be taken down in September ‘24</a:t>
            </a:r>
            <a:endParaRPr lang="en-US" sz="2400" dirty="0"/>
          </a:p>
          <a:p>
            <a:pPr marL="457200" indent="-457200">
              <a:buFont typeface="+mj-lt"/>
              <a:buAutoNum type="arabicPeriod"/>
            </a:pPr>
            <a:endParaRPr lang="en-US" sz="2000" b="1" dirty="0"/>
          </a:p>
          <a:p>
            <a:pPr marL="0" indent="0">
              <a:buNone/>
            </a:pPr>
            <a:endParaRPr lang="en-US" sz="2400" dirty="0"/>
          </a:p>
        </p:txBody>
      </p:sp>
      <p:sp>
        <p:nvSpPr>
          <p:cNvPr id="3" name="Slide Number Placeholder 2">
            <a:extLst>
              <a:ext uri="{FF2B5EF4-FFF2-40B4-BE49-F238E27FC236}">
                <a16:creationId xmlns:a16="http://schemas.microsoft.com/office/drawing/2014/main" id="{E3C8A58A-689B-6368-3B22-A2D97DB91B3F}"/>
              </a:ext>
            </a:extLst>
          </p:cNvPr>
          <p:cNvSpPr>
            <a:spLocks noGrp="1"/>
          </p:cNvSpPr>
          <p:nvPr>
            <p:ph type="sldNum" sz="quarter" idx="4294967295"/>
          </p:nvPr>
        </p:nvSpPr>
        <p:spPr>
          <a:xfrm>
            <a:off x="94488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9196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98580-430B-53A3-A26F-C01AE145658D}"/>
              </a:ext>
            </a:extLst>
          </p:cNvPr>
          <p:cNvSpPr>
            <a:spLocks noGrp="1"/>
          </p:cNvSpPr>
          <p:nvPr>
            <p:ph type="title"/>
          </p:nvPr>
        </p:nvSpPr>
        <p:spPr/>
        <p:txBody>
          <a:bodyPr/>
          <a:lstStyle/>
          <a:p>
            <a:r>
              <a:rPr lang="en-US"/>
              <a:t>Conclusion</a:t>
            </a:r>
          </a:p>
        </p:txBody>
      </p:sp>
      <p:sp>
        <p:nvSpPr>
          <p:cNvPr id="3" name="TextBox 2">
            <a:extLst>
              <a:ext uri="{FF2B5EF4-FFF2-40B4-BE49-F238E27FC236}">
                <a16:creationId xmlns:a16="http://schemas.microsoft.com/office/drawing/2014/main" id="{22821B65-E465-7DEA-B680-989236C3E2A5}"/>
              </a:ext>
            </a:extLst>
          </p:cNvPr>
          <p:cNvSpPr txBox="1"/>
          <p:nvPr/>
        </p:nvSpPr>
        <p:spPr>
          <a:xfrm>
            <a:off x="477520" y="1164461"/>
            <a:ext cx="10963695" cy="5632311"/>
          </a:xfrm>
          <a:prstGeom prst="rect">
            <a:avLst/>
          </a:prstGeom>
          <a:noFill/>
        </p:spPr>
        <p:txBody>
          <a:bodyPr wrap="square" rtlCol="0">
            <a:spAutoFit/>
          </a:bodyPr>
          <a:lstStyle/>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i="0" dirty="0">
                <a:solidFill>
                  <a:srgbClr val="242424"/>
                </a:solidFill>
                <a:effectLst/>
                <a:latin typeface="Calibri" panose="020F0502020204030204" pitchFamily="34" charset="0"/>
              </a:rPr>
              <a:t>On October 1, 2024, ISRM will transition from four Services to nine Portfolios.</a:t>
            </a: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solidFill>
                  <a:srgbClr val="242424"/>
                </a:solidFill>
                <a:latin typeface="Calibri" panose="020F0502020204030204" pitchFamily="34" charset="0"/>
              </a:rPr>
              <a:t>Service RFAs will be replaced by cross-portfolio RFAs and portfolio Notices of Special Interest</a:t>
            </a:r>
          </a:p>
          <a:p>
            <a:pPr marL="571500" lvl="0" indent="-571500">
              <a:buFont typeface="Arial" panose="020B0604020202020204" pitchFamily="34" charset="0"/>
              <a:buChar char="•"/>
              <a:defRPr/>
            </a:pPr>
            <a:r>
              <a:rPr lang="en-US" sz="3600" dirty="0">
                <a:solidFill>
                  <a:srgbClr val="242424"/>
                </a:solidFill>
                <a:latin typeface="Calibri" panose="020F0502020204030204" pitchFamily="34" charset="0"/>
              </a:rPr>
              <a:t>Peer-review panels (SRGs and SMRBs) will remain the same.</a:t>
            </a:r>
          </a:p>
          <a:p>
            <a:pPr marL="571500" lvl="0" indent="-571500">
              <a:buFont typeface="Arial" panose="020B0604020202020204" pitchFamily="34" charset="0"/>
              <a:buChar char="•"/>
              <a:defRPr/>
            </a:pPr>
            <a:r>
              <a:rPr lang="en-US" sz="3600" i="0" dirty="0">
                <a:solidFill>
                  <a:srgbClr val="242424"/>
                </a:solidFill>
                <a:effectLst/>
                <a:latin typeface="Calibri" panose="020F0502020204030204" pitchFamily="34" charset="0"/>
              </a:rPr>
              <a:t>Portfolio funding recommendations will be reviewed by the ISRM Leadership Council which wil</a:t>
            </a:r>
            <a:r>
              <a:rPr lang="en-US" sz="3600" dirty="0">
                <a:solidFill>
                  <a:srgbClr val="242424"/>
                </a:solidFill>
                <a:latin typeface="Calibri" panose="020F0502020204030204" pitchFamily="34" charset="0"/>
              </a:rPr>
              <a:t>l have representation from all portfolios.</a:t>
            </a:r>
            <a:endParaRPr lang="en-US" sz="3600" i="0" dirty="0">
              <a:solidFill>
                <a:srgbClr val="242424"/>
              </a:solidFill>
              <a:effectLst/>
              <a:latin typeface="Calibri" panose="020F0502020204030204" pitchFamily="34" charset="0"/>
            </a:endParaRPr>
          </a:p>
          <a:p>
            <a:pPr marL="571500" marR="0" lvl="0" indent="-5715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3600" dirty="0">
              <a:solidFill>
                <a:srgbClr val="242424"/>
              </a:solidFill>
              <a:latin typeface="Calibri" panose="020F0502020204030204" pitchFamily="34" charset="0"/>
            </a:endParaRPr>
          </a:p>
        </p:txBody>
      </p:sp>
    </p:spTree>
    <p:extLst>
      <p:ext uri="{BB962C8B-B14F-4D97-AF65-F5344CB8AC3E}">
        <p14:creationId xmlns:p14="http://schemas.microsoft.com/office/powerpoint/2010/main" val="27065146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ED9AD-FC04-78F7-E115-EEAB593BDBC5}"/>
              </a:ext>
            </a:extLst>
          </p:cNvPr>
          <p:cNvSpPr>
            <a:spLocks noGrp="1"/>
          </p:cNvSpPr>
          <p:nvPr>
            <p:ph type="title"/>
          </p:nvPr>
        </p:nvSpPr>
        <p:spPr/>
        <p:txBody>
          <a:bodyPr/>
          <a:lstStyle/>
          <a:p>
            <a:r>
              <a:rPr lang="en-US"/>
              <a:t>Q&amp;A</a:t>
            </a:r>
          </a:p>
        </p:txBody>
      </p:sp>
      <p:pic>
        <p:nvPicPr>
          <p:cNvPr id="7" name="Content Placeholder 6" descr="Question Mark with solid fill">
            <a:extLst>
              <a:ext uri="{FF2B5EF4-FFF2-40B4-BE49-F238E27FC236}">
                <a16:creationId xmlns:a16="http://schemas.microsoft.com/office/drawing/2014/main" id="{793C93C9-A379-DDA1-ECC9-96C131250A3C}"/>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519574" y="2377440"/>
            <a:ext cx="2103120" cy="2103120"/>
          </a:xfrm>
        </p:spPr>
      </p:pic>
      <p:sp>
        <p:nvSpPr>
          <p:cNvPr id="4" name="Slide Number Placeholder 3">
            <a:extLst>
              <a:ext uri="{FF2B5EF4-FFF2-40B4-BE49-F238E27FC236}">
                <a16:creationId xmlns:a16="http://schemas.microsoft.com/office/drawing/2014/main" id="{A7EAA687-9D52-5989-4215-A45B929164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2ECF520-4B20-FA9A-4B7A-C3ACB1039ED1}"/>
              </a:ext>
            </a:extLst>
          </p:cNvPr>
          <p:cNvSpPr txBox="1"/>
          <p:nvPr/>
        </p:nvSpPr>
        <p:spPr>
          <a:xfrm>
            <a:off x="2622694" y="3167390"/>
            <a:ext cx="8446417" cy="523220"/>
          </a:xfrm>
          <a:prstGeom prst="rect">
            <a:avLst/>
          </a:prstGeom>
          <a:noFill/>
        </p:spPr>
        <p:txBody>
          <a:bodyPr wrap="square" rtlCol="0" anchor="ctr">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1" u="none" strike="noStrike" kern="1200" cap="none" spc="0" normalizeH="0" baseline="0" noProof="0">
                <a:ln>
                  <a:noFill/>
                </a:ln>
                <a:solidFill>
                  <a:prstClr val="black"/>
                </a:solidFill>
                <a:effectLst/>
                <a:uLnTx/>
                <a:uFillTx/>
                <a:latin typeface="Calibri" panose="020F0502020204030204"/>
                <a:ea typeface="+mn-ea"/>
                <a:cs typeface="+mn-cs"/>
              </a:rPr>
              <a:t> Questions? Email Christopher.Bever@va.gov</a:t>
            </a:r>
          </a:p>
        </p:txBody>
      </p:sp>
    </p:spTree>
    <p:extLst>
      <p:ext uri="{BB962C8B-B14F-4D97-AF65-F5344CB8AC3E}">
        <p14:creationId xmlns:p14="http://schemas.microsoft.com/office/powerpoint/2010/main" val="725947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EE6714A-48AE-C12C-BBA9-456A17EFDAF4}"/>
              </a:ext>
            </a:extLst>
          </p:cNvPr>
          <p:cNvSpPr>
            <a:spLocks noGrp="1"/>
          </p:cNvSpPr>
          <p:nvPr>
            <p:ph type="body" sz="quarter" idx="10"/>
          </p:nvPr>
        </p:nvSpPr>
        <p:spPr/>
        <p:txBody>
          <a:bodyPr vert="horz" lIns="91440" tIns="45720" rIns="91440" bIns="45720" rtlCol="0" anchor="t">
            <a:noAutofit/>
          </a:bodyPr>
          <a:lstStyle/>
          <a:p>
            <a:r>
              <a:rPr lang="en-US" dirty="0"/>
              <a:t>Appendix: Detailed Transition Timeline</a:t>
            </a:r>
          </a:p>
        </p:txBody>
      </p:sp>
      <p:sp>
        <p:nvSpPr>
          <p:cNvPr id="5" name="Slide Number Placeholder 4">
            <a:extLst>
              <a:ext uri="{FF2B5EF4-FFF2-40B4-BE49-F238E27FC236}">
                <a16:creationId xmlns:a16="http://schemas.microsoft.com/office/drawing/2014/main" id="{1CCA013A-7285-6B7E-14C6-AB7B1B7D6443}"/>
              </a:ext>
            </a:extLst>
          </p:cNvPr>
          <p:cNvSpPr>
            <a:spLocks noGrp="1"/>
          </p:cNvSpPr>
          <p:nvPr>
            <p:ph type="sldNum" sz="quarter" idx="4294967295"/>
          </p:nvPr>
        </p:nvSpPr>
        <p:spPr>
          <a:xfrm>
            <a:off x="94488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E09C639-C7C7-9848-BE32-492A9B56F14C}"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1753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4855AF9D-93D2-8BFF-4B2B-C2892FDDE563}"/>
              </a:ext>
            </a:extLst>
          </p:cNvPr>
          <p:cNvSpPr txBox="1"/>
          <p:nvPr/>
        </p:nvSpPr>
        <p:spPr>
          <a:xfrm>
            <a:off x="365967" y="1036827"/>
            <a:ext cx="989341"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65" marR="0" lvl="0" indent="-171465" algn="ctr"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(BL)</a:t>
            </a:r>
          </a:p>
        </p:txBody>
      </p:sp>
      <p:sp>
        <p:nvSpPr>
          <p:cNvPr id="5" name="TextBox 6">
            <a:extLst>
              <a:ext uri="{FF2B5EF4-FFF2-40B4-BE49-F238E27FC236}">
                <a16:creationId xmlns:a16="http://schemas.microsoft.com/office/drawing/2014/main" id="{67A6982E-36AD-64DE-E966-D24BDFE8FB7A}"/>
              </a:ext>
            </a:extLst>
          </p:cNvPr>
          <p:cNvSpPr txBox="1"/>
          <p:nvPr/>
        </p:nvSpPr>
        <p:spPr>
          <a:xfrm>
            <a:off x="2212817" y="1018705"/>
            <a:ext cx="114450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(BL)</a:t>
            </a:r>
          </a:p>
        </p:txBody>
      </p:sp>
      <p:sp>
        <p:nvSpPr>
          <p:cNvPr id="6" name="TextBox 7">
            <a:extLst>
              <a:ext uri="{FF2B5EF4-FFF2-40B4-BE49-F238E27FC236}">
                <a16:creationId xmlns:a16="http://schemas.microsoft.com/office/drawing/2014/main" id="{6DA5DC95-AC7A-D882-F27B-BEAD88509C77}"/>
              </a:ext>
            </a:extLst>
          </p:cNvPr>
          <p:cNvSpPr txBox="1"/>
          <p:nvPr/>
        </p:nvSpPr>
        <p:spPr>
          <a:xfrm>
            <a:off x="4203929" y="978195"/>
            <a:ext cx="917470"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LOIs,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Waivers submission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(BL)</a:t>
            </a:r>
          </a:p>
        </p:txBody>
      </p:sp>
      <p:sp>
        <p:nvSpPr>
          <p:cNvPr id="7" name="TextBox 8">
            <a:extLst>
              <a:ext uri="{FF2B5EF4-FFF2-40B4-BE49-F238E27FC236}">
                <a16:creationId xmlns:a16="http://schemas.microsoft.com/office/drawing/2014/main" id="{2C091837-4AA6-9F67-E68D-5235EDB97048}"/>
              </a:ext>
            </a:extLst>
          </p:cNvPr>
          <p:cNvSpPr txBox="1"/>
          <p:nvPr/>
        </p:nvSpPr>
        <p:spPr>
          <a:xfrm>
            <a:off x="8151308" y="994959"/>
            <a:ext cx="902939" cy="127727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Full apps submission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(BL)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Take down BL RFAs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5927C3D0-F845-0D0F-7742-D7E2D5278533}"/>
              </a:ext>
            </a:extLst>
          </p:cNvPr>
          <p:cNvSpPr/>
          <p:nvPr/>
        </p:nvSpPr>
        <p:spPr>
          <a:xfrm>
            <a:off x="10088148" y="601713"/>
            <a:ext cx="914400" cy="3523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mn-cs"/>
              </a:rPr>
              <a:t>Nov ‘24</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CA5B6924-2C28-F14D-96AF-7D4EB0AA4583}"/>
              </a:ext>
            </a:extLst>
          </p:cNvPr>
          <p:cNvSpPr/>
          <p:nvPr/>
        </p:nvSpPr>
        <p:spPr>
          <a:xfrm>
            <a:off x="11064213" y="601648"/>
            <a:ext cx="914400" cy="3523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mn-cs"/>
              </a:rPr>
              <a:t>Dec ‘24</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08D2E41-5436-865D-E411-7C8D509E6E59}"/>
              </a:ext>
            </a:extLst>
          </p:cNvPr>
          <p:cNvSpPr/>
          <p:nvPr/>
        </p:nvSpPr>
        <p:spPr>
          <a:xfrm>
            <a:off x="375651" y="621717"/>
            <a:ext cx="914400" cy="343633"/>
          </a:xfrm>
          <a:prstGeom prst="rect">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Jan '24</a:t>
            </a:r>
          </a:p>
        </p:txBody>
      </p:sp>
      <p:sp>
        <p:nvSpPr>
          <p:cNvPr id="11" name="Rectangle 10">
            <a:extLst>
              <a:ext uri="{FF2B5EF4-FFF2-40B4-BE49-F238E27FC236}">
                <a16:creationId xmlns:a16="http://schemas.microsoft.com/office/drawing/2014/main" id="{5DFB90B1-D573-F038-7E39-F11BCE0F09E6}"/>
              </a:ext>
            </a:extLst>
          </p:cNvPr>
          <p:cNvSpPr/>
          <p:nvPr/>
        </p:nvSpPr>
        <p:spPr>
          <a:xfrm>
            <a:off x="1361340" y="621860"/>
            <a:ext cx="914400" cy="343419"/>
          </a:xfrm>
          <a:prstGeom prst="rect">
            <a:avLst/>
          </a:prstGeom>
          <a:solidFill>
            <a:srgbClr val="E7E6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Feb '24</a:t>
            </a:r>
          </a:p>
        </p:txBody>
      </p:sp>
      <p:sp>
        <p:nvSpPr>
          <p:cNvPr id="12" name="Rectangle 11">
            <a:extLst>
              <a:ext uri="{FF2B5EF4-FFF2-40B4-BE49-F238E27FC236}">
                <a16:creationId xmlns:a16="http://schemas.microsoft.com/office/drawing/2014/main" id="{5B15A350-5295-7C00-F07B-E47B3B89EE7C}"/>
              </a:ext>
            </a:extLst>
          </p:cNvPr>
          <p:cNvSpPr/>
          <p:nvPr/>
        </p:nvSpPr>
        <p:spPr>
          <a:xfrm>
            <a:off x="2327776" y="621788"/>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Mar '24</a:t>
            </a:r>
          </a:p>
        </p:txBody>
      </p:sp>
      <p:sp>
        <p:nvSpPr>
          <p:cNvPr id="13" name="Rectangle 12">
            <a:extLst>
              <a:ext uri="{FF2B5EF4-FFF2-40B4-BE49-F238E27FC236}">
                <a16:creationId xmlns:a16="http://schemas.microsoft.com/office/drawing/2014/main" id="{6D9C88F4-2A8E-11CB-A5BC-907B15A1A26A}"/>
              </a:ext>
            </a:extLst>
          </p:cNvPr>
          <p:cNvSpPr/>
          <p:nvPr/>
        </p:nvSpPr>
        <p:spPr>
          <a:xfrm>
            <a:off x="3313462" y="621860"/>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Apr'24</a:t>
            </a:r>
          </a:p>
        </p:txBody>
      </p:sp>
      <p:sp>
        <p:nvSpPr>
          <p:cNvPr id="14" name="Rectangle 13">
            <a:extLst>
              <a:ext uri="{FF2B5EF4-FFF2-40B4-BE49-F238E27FC236}">
                <a16:creationId xmlns:a16="http://schemas.microsoft.com/office/drawing/2014/main" id="{4B09CCD3-0E2F-2574-671A-498514BA35CB}"/>
              </a:ext>
            </a:extLst>
          </p:cNvPr>
          <p:cNvSpPr/>
          <p:nvPr/>
        </p:nvSpPr>
        <p:spPr>
          <a:xfrm>
            <a:off x="4279899" y="621789"/>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May'24</a:t>
            </a:r>
          </a:p>
        </p:txBody>
      </p:sp>
      <p:sp>
        <p:nvSpPr>
          <p:cNvPr id="15" name="Rectangle 14">
            <a:extLst>
              <a:ext uri="{FF2B5EF4-FFF2-40B4-BE49-F238E27FC236}">
                <a16:creationId xmlns:a16="http://schemas.microsoft.com/office/drawing/2014/main" id="{3B6A3FBF-7467-F0FE-31D1-EED94E148512}"/>
              </a:ext>
            </a:extLst>
          </p:cNvPr>
          <p:cNvSpPr/>
          <p:nvPr/>
        </p:nvSpPr>
        <p:spPr>
          <a:xfrm>
            <a:off x="5255961" y="621717"/>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Jun '24</a:t>
            </a:r>
          </a:p>
        </p:txBody>
      </p:sp>
      <p:sp>
        <p:nvSpPr>
          <p:cNvPr id="16" name="Rectangle 15">
            <a:extLst>
              <a:ext uri="{FF2B5EF4-FFF2-40B4-BE49-F238E27FC236}">
                <a16:creationId xmlns:a16="http://schemas.microsoft.com/office/drawing/2014/main" id="{AE3E7936-8DE5-7FB2-5A62-4CC98E0A8365}"/>
              </a:ext>
            </a:extLst>
          </p:cNvPr>
          <p:cNvSpPr/>
          <p:nvPr/>
        </p:nvSpPr>
        <p:spPr>
          <a:xfrm>
            <a:off x="6232024" y="610757"/>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Jul '24</a:t>
            </a:r>
          </a:p>
        </p:txBody>
      </p:sp>
      <p:sp>
        <p:nvSpPr>
          <p:cNvPr id="17" name="Rectangle 16">
            <a:extLst>
              <a:ext uri="{FF2B5EF4-FFF2-40B4-BE49-F238E27FC236}">
                <a16:creationId xmlns:a16="http://schemas.microsoft.com/office/drawing/2014/main" id="{160EC97E-579E-3923-356A-67FBCC0F7455}"/>
              </a:ext>
            </a:extLst>
          </p:cNvPr>
          <p:cNvSpPr/>
          <p:nvPr/>
        </p:nvSpPr>
        <p:spPr>
          <a:xfrm>
            <a:off x="7188837" y="610686"/>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Aug'24</a:t>
            </a:r>
          </a:p>
        </p:txBody>
      </p:sp>
      <p:sp>
        <p:nvSpPr>
          <p:cNvPr id="18" name="Rectangle 17">
            <a:extLst>
              <a:ext uri="{FF2B5EF4-FFF2-40B4-BE49-F238E27FC236}">
                <a16:creationId xmlns:a16="http://schemas.microsoft.com/office/drawing/2014/main" id="{7612BF08-C9AD-8EFB-DEC5-E799F06E084D}"/>
              </a:ext>
            </a:extLst>
          </p:cNvPr>
          <p:cNvSpPr/>
          <p:nvPr/>
        </p:nvSpPr>
        <p:spPr>
          <a:xfrm>
            <a:off x="8155271" y="610614"/>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Sep'24</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B06A2A15-1D73-B245-1F02-F191D28404B8}"/>
              </a:ext>
            </a:extLst>
          </p:cNvPr>
          <p:cNvSpPr/>
          <p:nvPr/>
        </p:nvSpPr>
        <p:spPr>
          <a:xfrm rot="-5400000">
            <a:off x="-440518" y="1542076"/>
            <a:ext cx="1329162" cy="283809"/>
          </a:xfrm>
          <a:prstGeom prst="rect">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BLRD to MHA</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21" name="TextBox 7">
            <a:extLst>
              <a:ext uri="{FF2B5EF4-FFF2-40B4-BE49-F238E27FC236}">
                <a16:creationId xmlns:a16="http://schemas.microsoft.com/office/drawing/2014/main" id="{178E9219-08E9-A90E-1FC0-F3A074FFD5D8}"/>
              </a:ext>
            </a:extLst>
          </p:cNvPr>
          <p:cNvSpPr txBox="1"/>
          <p:nvPr/>
        </p:nvSpPr>
        <p:spPr>
          <a:xfrm>
            <a:off x="5250875" y="991107"/>
            <a:ext cx="759197"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(BL)</a:t>
            </a:r>
          </a:p>
        </p:txBody>
      </p:sp>
      <p:sp>
        <p:nvSpPr>
          <p:cNvPr id="30" name="Rectangle 29">
            <a:extLst>
              <a:ext uri="{FF2B5EF4-FFF2-40B4-BE49-F238E27FC236}">
                <a16:creationId xmlns:a16="http://schemas.microsoft.com/office/drawing/2014/main" id="{50D7E6D4-5B50-4DE6-F17B-FB31F50FC6F5}"/>
              </a:ext>
            </a:extLst>
          </p:cNvPr>
          <p:cNvSpPr/>
          <p:nvPr/>
        </p:nvSpPr>
        <p:spPr>
          <a:xfrm>
            <a:off x="9112086" y="610613"/>
            <a:ext cx="914400" cy="3434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Oct ‘24</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A9307C4B-84FE-0C78-EEE7-31904EE4964B}"/>
              </a:ext>
            </a:extLst>
          </p:cNvPr>
          <p:cNvSpPr/>
          <p:nvPr/>
        </p:nvSpPr>
        <p:spPr>
          <a:xfrm rot="-5400000">
            <a:off x="-434145" y="4400780"/>
            <a:ext cx="1329162" cy="28381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Calibri"/>
                <a:cs typeface="Calibri"/>
              </a:rPr>
              <a:t>HSRD to HSR</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32" name="Rectangle 31">
            <a:extLst>
              <a:ext uri="{FF2B5EF4-FFF2-40B4-BE49-F238E27FC236}">
                <a16:creationId xmlns:a16="http://schemas.microsoft.com/office/drawing/2014/main" id="{D71D30FE-D097-141F-169D-8348138B1245}"/>
              </a:ext>
            </a:extLst>
          </p:cNvPr>
          <p:cNvSpPr/>
          <p:nvPr/>
        </p:nvSpPr>
        <p:spPr>
          <a:xfrm rot="-5400000">
            <a:off x="-457780" y="2975708"/>
            <a:ext cx="1363689" cy="283812"/>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Calibri"/>
                <a:cs typeface="Calibri"/>
              </a:rPr>
              <a:t>CSRD to BBMH</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33" name="Rectangle 32">
            <a:extLst>
              <a:ext uri="{FF2B5EF4-FFF2-40B4-BE49-F238E27FC236}">
                <a16:creationId xmlns:a16="http://schemas.microsoft.com/office/drawing/2014/main" id="{E1AA8955-0F05-1D78-7D4B-D6D1F02C0137}"/>
              </a:ext>
            </a:extLst>
          </p:cNvPr>
          <p:cNvSpPr/>
          <p:nvPr/>
        </p:nvSpPr>
        <p:spPr>
          <a:xfrm rot="-5400000">
            <a:off x="-522234" y="5913098"/>
            <a:ext cx="1487237" cy="277438"/>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Light" panose="020F0302020204030204" pitchFamily="34" charset="0"/>
                <a:ea typeface="+mn-ea"/>
                <a:cs typeface="+mn-cs"/>
              </a:rPr>
              <a:t>RRD to RS</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43" name="TextBox 7">
            <a:extLst>
              <a:ext uri="{FF2B5EF4-FFF2-40B4-BE49-F238E27FC236}">
                <a16:creationId xmlns:a16="http://schemas.microsoft.com/office/drawing/2014/main" id="{364BBD38-7113-776F-2995-2980FD7D1ED2}"/>
              </a:ext>
            </a:extLst>
          </p:cNvPr>
          <p:cNvSpPr txBox="1"/>
          <p:nvPr/>
        </p:nvSpPr>
        <p:spPr>
          <a:xfrm>
            <a:off x="6113040" y="994959"/>
            <a:ext cx="1174718"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(BL)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 ISRM RFAs; Post portfolio pre-app RFAs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NOSIs</a:t>
            </a:r>
          </a:p>
        </p:txBody>
      </p:sp>
      <p:sp>
        <p:nvSpPr>
          <p:cNvPr id="46" name="TextBox 7">
            <a:extLst>
              <a:ext uri="{FF2B5EF4-FFF2-40B4-BE49-F238E27FC236}">
                <a16:creationId xmlns:a16="http://schemas.microsoft.com/office/drawing/2014/main" id="{421DDEE7-4121-C651-9E54-8AF1B955441B}"/>
              </a:ext>
            </a:extLst>
          </p:cNvPr>
          <p:cNvSpPr txBox="1"/>
          <p:nvPr/>
        </p:nvSpPr>
        <p:spPr>
          <a:xfrm>
            <a:off x="10127730" y="1000499"/>
            <a:ext cx="759197" cy="127727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(BL)</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Pre-apps, Waivers due (MHA)</a:t>
            </a:r>
          </a:p>
        </p:txBody>
      </p:sp>
      <p:sp>
        <p:nvSpPr>
          <p:cNvPr id="47" name="TextBox 7">
            <a:extLst>
              <a:ext uri="{FF2B5EF4-FFF2-40B4-BE49-F238E27FC236}">
                <a16:creationId xmlns:a16="http://schemas.microsoft.com/office/drawing/2014/main" id="{E0A7921B-C498-3AC2-F869-1C82C08976AD}"/>
              </a:ext>
            </a:extLst>
          </p:cNvPr>
          <p:cNvSpPr txBox="1"/>
          <p:nvPr/>
        </p:nvSpPr>
        <p:spPr>
          <a:xfrm>
            <a:off x="11114382" y="1023332"/>
            <a:ext cx="759197"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(BL)</a:t>
            </a:r>
          </a:p>
        </p:txBody>
      </p:sp>
      <p:sp>
        <p:nvSpPr>
          <p:cNvPr id="48" name="TextBox 5">
            <a:extLst>
              <a:ext uri="{FF2B5EF4-FFF2-40B4-BE49-F238E27FC236}">
                <a16:creationId xmlns:a16="http://schemas.microsoft.com/office/drawing/2014/main" id="{8303F036-4BC4-3FFB-77EA-9E8605CFF265}"/>
              </a:ext>
            </a:extLst>
          </p:cNvPr>
          <p:cNvSpPr txBox="1"/>
          <p:nvPr/>
        </p:nvSpPr>
        <p:spPr>
          <a:xfrm>
            <a:off x="442503" y="2453586"/>
            <a:ext cx="782802"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65" marR="0" lvl="0" indent="-171465" algn="ctr"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(CS)</a:t>
            </a:r>
          </a:p>
        </p:txBody>
      </p:sp>
      <p:sp>
        <p:nvSpPr>
          <p:cNvPr id="49" name="TextBox 6">
            <a:extLst>
              <a:ext uri="{FF2B5EF4-FFF2-40B4-BE49-F238E27FC236}">
                <a16:creationId xmlns:a16="http://schemas.microsoft.com/office/drawing/2014/main" id="{4B1C7083-1839-1791-CBFB-60521BC73C6D}"/>
              </a:ext>
            </a:extLst>
          </p:cNvPr>
          <p:cNvSpPr txBox="1"/>
          <p:nvPr/>
        </p:nvSpPr>
        <p:spPr>
          <a:xfrm>
            <a:off x="2228392" y="2435464"/>
            <a:ext cx="114450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(CS)</a:t>
            </a:r>
          </a:p>
        </p:txBody>
      </p:sp>
      <p:sp>
        <p:nvSpPr>
          <p:cNvPr id="50" name="TextBox 7">
            <a:extLst>
              <a:ext uri="{FF2B5EF4-FFF2-40B4-BE49-F238E27FC236}">
                <a16:creationId xmlns:a16="http://schemas.microsoft.com/office/drawing/2014/main" id="{90D59981-0BF4-56F9-C88C-99C7250CEE88}"/>
              </a:ext>
            </a:extLst>
          </p:cNvPr>
          <p:cNvSpPr txBox="1"/>
          <p:nvPr/>
        </p:nvSpPr>
        <p:spPr>
          <a:xfrm>
            <a:off x="4280464" y="2394954"/>
            <a:ext cx="917470"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LOIs,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Waivers submission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(CS)</a:t>
            </a:r>
          </a:p>
        </p:txBody>
      </p:sp>
      <p:sp>
        <p:nvSpPr>
          <p:cNvPr id="51" name="TextBox 8">
            <a:extLst>
              <a:ext uri="{FF2B5EF4-FFF2-40B4-BE49-F238E27FC236}">
                <a16:creationId xmlns:a16="http://schemas.microsoft.com/office/drawing/2014/main" id="{87BE915D-2214-4C44-1821-F75070EB50D9}"/>
              </a:ext>
            </a:extLst>
          </p:cNvPr>
          <p:cNvSpPr txBox="1"/>
          <p:nvPr/>
        </p:nvSpPr>
        <p:spPr>
          <a:xfrm>
            <a:off x="8081539" y="2411718"/>
            <a:ext cx="902939" cy="127727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Full apps submission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(CS)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Take down BL RFAs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Box 7">
            <a:extLst>
              <a:ext uri="{FF2B5EF4-FFF2-40B4-BE49-F238E27FC236}">
                <a16:creationId xmlns:a16="http://schemas.microsoft.com/office/drawing/2014/main" id="{DE827686-574F-224A-9521-BEFDED28F6DD}"/>
              </a:ext>
            </a:extLst>
          </p:cNvPr>
          <p:cNvSpPr txBox="1"/>
          <p:nvPr/>
        </p:nvSpPr>
        <p:spPr>
          <a:xfrm>
            <a:off x="5327410" y="2407866"/>
            <a:ext cx="759197"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(CS)</a:t>
            </a:r>
          </a:p>
        </p:txBody>
      </p:sp>
      <p:sp>
        <p:nvSpPr>
          <p:cNvPr id="53" name="TextBox 7">
            <a:extLst>
              <a:ext uri="{FF2B5EF4-FFF2-40B4-BE49-F238E27FC236}">
                <a16:creationId xmlns:a16="http://schemas.microsoft.com/office/drawing/2014/main" id="{A488E3B5-660B-1BC0-5CD2-BCB2FD78F527}"/>
              </a:ext>
            </a:extLst>
          </p:cNvPr>
          <p:cNvSpPr txBox="1"/>
          <p:nvPr/>
        </p:nvSpPr>
        <p:spPr>
          <a:xfrm>
            <a:off x="6107278" y="2411718"/>
            <a:ext cx="1195199"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(CS)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 ISRM RFAs; Post portfolio pre-app RFAs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NOSIs</a:t>
            </a:r>
          </a:p>
        </p:txBody>
      </p:sp>
      <p:sp>
        <p:nvSpPr>
          <p:cNvPr id="54" name="TextBox 7">
            <a:extLst>
              <a:ext uri="{FF2B5EF4-FFF2-40B4-BE49-F238E27FC236}">
                <a16:creationId xmlns:a16="http://schemas.microsoft.com/office/drawing/2014/main" id="{34C27E8B-98F1-C1DC-3427-FBF5F367ABBD}"/>
              </a:ext>
            </a:extLst>
          </p:cNvPr>
          <p:cNvSpPr txBox="1"/>
          <p:nvPr/>
        </p:nvSpPr>
        <p:spPr>
          <a:xfrm>
            <a:off x="10204265" y="2417258"/>
            <a:ext cx="759197" cy="127727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(CS)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Pre-apps, Waivers due (BBMH)</a:t>
            </a:r>
          </a:p>
        </p:txBody>
      </p:sp>
      <p:sp>
        <p:nvSpPr>
          <p:cNvPr id="55" name="TextBox 7">
            <a:extLst>
              <a:ext uri="{FF2B5EF4-FFF2-40B4-BE49-F238E27FC236}">
                <a16:creationId xmlns:a16="http://schemas.microsoft.com/office/drawing/2014/main" id="{0E32ED6D-A600-929C-2E79-FE9C451EA8AB}"/>
              </a:ext>
            </a:extLst>
          </p:cNvPr>
          <p:cNvSpPr txBox="1"/>
          <p:nvPr/>
        </p:nvSpPr>
        <p:spPr>
          <a:xfrm>
            <a:off x="11136053" y="2440091"/>
            <a:ext cx="759197"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(CS)</a:t>
            </a:r>
          </a:p>
        </p:txBody>
      </p:sp>
      <p:sp>
        <p:nvSpPr>
          <p:cNvPr id="56" name="TextBox 5">
            <a:extLst>
              <a:ext uri="{FF2B5EF4-FFF2-40B4-BE49-F238E27FC236}">
                <a16:creationId xmlns:a16="http://schemas.microsoft.com/office/drawing/2014/main" id="{926694A5-6C78-D03D-9F8A-0C5A377EAB90}"/>
              </a:ext>
            </a:extLst>
          </p:cNvPr>
          <p:cNvSpPr txBox="1"/>
          <p:nvPr/>
        </p:nvSpPr>
        <p:spPr>
          <a:xfrm>
            <a:off x="3337978" y="4037050"/>
            <a:ext cx="804628"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(HS)</a:t>
            </a:r>
          </a:p>
        </p:txBody>
      </p:sp>
      <p:sp>
        <p:nvSpPr>
          <p:cNvPr id="57" name="TextBox 6">
            <a:extLst>
              <a:ext uri="{FF2B5EF4-FFF2-40B4-BE49-F238E27FC236}">
                <a16:creationId xmlns:a16="http://schemas.microsoft.com/office/drawing/2014/main" id="{FE0095D1-480F-2030-9A49-0F5DFA8F2807}"/>
              </a:ext>
            </a:extLst>
          </p:cNvPr>
          <p:cNvSpPr txBox="1"/>
          <p:nvPr/>
        </p:nvSpPr>
        <p:spPr>
          <a:xfrm>
            <a:off x="2211460" y="3996068"/>
            <a:ext cx="114450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(HS);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Post HS RFAs</a:t>
            </a:r>
          </a:p>
        </p:txBody>
      </p:sp>
      <p:sp>
        <p:nvSpPr>
          <p:cNvPr id="58" name="TextBox 7">
            <a:extLst>
              <a:ext uri="{FF2B5EF4-FFF2-40B4-BE49-F238E27FC236}">
                <a16:creationId xmlns:a16="http://schemas.microsoft.com/office/drawing/2014/main" id="{71A0A555-AEBE-58F3-B099-E1C9F94D19B1}"/>
              </a:ext>
            </a:extLst>
          </p:cNvPr>
          <p:cNvSpPr txBox="1"/>
          <p:nvPr/>
        </p:nvSpPr>
        <p:spPr>
          <a:xfrm>
            <a:off x="4314332" y="3955558"/>
            <a:ext cx="917470" cy="7694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LOIs, ITSs, Waivers submission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(HS)</a:t>
            </a:r>
          </a:p>
        </p:txBody>
      </p:sp>
      <p:sp>
        <p:nvSpPr>
          <p:cNvPr id="59" name="TextBox 8">
            <a:extLst>
              <a:ext uri="{FF2B5EF4-FFF2-40B4-BE49-F238E27FC236}">
                <a16:creationId xmlns:a16="http://schemas.microsoft.com/office/drawing/2014/main" id="{16349514-7D31-F89C-9E1E-7FCE10836277}"/>
              </a:ext>
            </a:extLst>
          </p:cNvPr>
          <p:cNvSpPr txBox="1"/>
          <p:nvPr/>
        </p:nvSpPr>
        <p:spPr>
          <a:xfrm>
            <a:off x="9124506" y="3997239"/>
            <a:ext cx="902939"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(HS)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Box 7">
            <a:extLst>
              <a:ext uri="{FF2B5EF4-FFF2-40B4-BE49-F238E27FC236}">
                <a16:creationId xmlns:a16="http://schemas.microsoft.com/office/drawing/2014/main" id="{D9DB577C-8155-697D-8464-CEBEC71305E5}"/>
              </a:ext>
            </a:extLst>
          </p:cNvPr>
          <p:cNvSpPr txBox="1"/>
          <p:nvPr/>
        </p:nvSpPr>
        <p:spPr>
          <a:xfrm>
            <a:off x="5228270" y="3968470"/>
            <a:ext cx="892206"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(HS)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Take down HS RFAs</a:t>
            </a:r>
          </a:p>
        </p:txBody>
      </p:sp>
      <p:sp>
        <p:nvSpPr>
          <p:cNvPr id="61" name="TextBox 7">
            <a:extLst>
              <a:ext uri="{FF2B5EF4-FFF2-40B4-BE49-F238E27FC236}">
                <a16:creationId xmlns:a16="http://schemas.microsoft.com/office/drawing/2014/main" id="{46BF3FD9-5E57-807A-E5F2-1CD420EC5DE4}"/>
              </a:ext>
            </a:extLst>
          </p:cNvPr>
          <p:cNvSpPr txBox="1"/>
          <p:nvPr/>
        </p:nvSpPr>
        <p:spPr>
          <a:xfrm>
            <a:off x="6139453" y="3972322"/>
            <a:ext cx="1129581" cy="7694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 ISRM RFAs; Post portfolio pre-app RFAs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NOSIs</a:t>
            </a:r>
          </a:p>
        </p:txBody>
      </p:sp>
      <p:sp>
        <p:nvSpPr>
          <p:cNvPr id="62" name="TextBox 7">
            <a:extLst>
              <a:ext uri="{FF2B5EF4-FFF2-40B4-BE49-F238E27FC236}">
                <a16:creationId xmlns:a16="http://schemas.microsoft.com/office/drawing/2014/main" id="{A33C29BC-4858-2608-9491-2A25FAC4B215}"/>
              </a:ext>
            </a:extLst>
          </p:cNvPr>
          <p:cNvSpPr txBox="1"/>
          <p:nvPr/>
        </p:nvSpPr>
        <p:spPr>
          <a:xfrm>
            <a:off x="10238133" y="3977862"/>
            <a:ext cx="759197"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Pre-apps, Waivers due (HSR)</a:t>
            </a:r>
          </a:p>
        </p:txBody>
      </p:sp>
      <p:sp>
        <p:nvSpPr>
          <p:cNvPr id="63" name="TextBox 7">
            <a:extLst>
              <a:ext uri="{FF2B5EF4-FFF2-40B4-BE49-F238E27FC236}">
                <a16:creationId xmlns:a16="http://schemas.microsoft.com/office/drawing/2014/main" id="{F20B0948-5944-95EB-B830-763156FA09A6}"/>
              </a:ext>
            </a:extLst>
          </p:cNvPr>
          <p:cNvSpPr txBox="1"/>
          <p:nvPr/>
        </p:nvSpPr>
        <p:spPr>
          <a:xfrm>
            <a:off x="11072385" y="3991551"/>
            <a:ext cx="97012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64" name="TextBox 7">
            <a:extLst>
              <a:ext uri="{FF2B5EF4-FFF2-40B4-BE49-F238E27FC236}">
                <a16:creationId xmlns:a16="http://schemas.microsoft.com/office/drawing/2014/main" id="{357D960E-5689-1EA9-4633-B72588621229}"/>
              </a:ext>
            </a:extLst>
          </p:cNvPr>
          <p:cNvSpPr txBox="1"/>
          <p:nvPr/>
        </p:nvSpPr>
        <p:spPr>
          <a:xfrm>
            <a:off x="7293957" y="4023113"/>
            <a:ext cx="759197"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(HS)</a:t>
            </a:r>
          </a:p>
        </p:txBody>
      </p:sp>
      <p:sp>
        <p:nvSpPr>
          <p:cNvPr id="65" name="TextBox 5">
            <a:extLst>
              <a:ext uri="{FF2B5EF4-FFF2-40B4-BE49-F238E27FC236}">
                <a16:creationId xmlns:a16="http://schemas.microsoft.com/office/drawing/2014/main" id="{977A5A6D-B64B-9B43-F20F-E0CED172E791}"/>
              </a:ext>
            </a:extLst>
          </p:cNvPr>
          <p:cNvSpPr txBox="1"/>
          <p:nvPr/>
        </p:nvSpPr>
        <p:spPr>
          <a:xfrm>
            <a:off x="3337978" y="5520457"/>
            <a:ext cx="764640"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SPiRE</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review (RD)</a:t>
            </a:r>
          </a:p>
        </p:txBody>
      </p:sp>
      <p:sp>
        <p:nvSpPr>
          <p:cNvPr id="66" name="TextBox 6">
            <a:extLst>
              <a:ext uri="{FF2B5EF4-FFF2-40B4-BE49-F238E27FC236}">
                <a16:creationId xmlns:a16="http://schemas.microsoft.com/office/drawing/2014/main" id="{B1FBE433-B851-AE22-E560-DF0DC334C945}"/>
              </a:ext>
            </a:extLst>
          </p:cNvPr>
          <p:cNvSpPr txBox="1"/>
          <p:nvPr/>
        </p:nvSpPr>
        <p:spPr>
          <a:xfrm>
            <a:off x="2211460" y="5479475"/>
            <a:ext cx="1144504" cy="93871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SPiRE</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full app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(RD)</a:t>
            </a:r>
          </a:p>
        </p:txBody>
      </p:sp>
      <p:sp>
        <p:nvSpPr>
          <p:cNvPr id="67" name="TextBox 7">
            <a:extLst>
              <a:ext uri="{FF2B5EF4-FFF2-40B4-BE49-F238E27FC236}">
                <a16:creationId xmlns:a16="http://schemas.microsoft.com/office/drawing/2014/main" id="{31FD4B86-0EA4-EB76-D45E-CA92A0D43C84}"/>
              </a:ext>
            </a:extLst>
          </p:cNvPr>
          <p:cNvSpPr txBox="1"/>
          <p:nvPr/>
        </p:nvSpPr>
        <p:spPr>
          <a:xfrm>
            <a:off x="4314332" y="5438965"/>
            <a:ext cx="917470"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Pre-Apps, Waivers submission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(RD)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TextBox 8">
            <a:extLst>
              <a:ext uri="{FF2B5EF4-FFF2-40B4-BE49-F238E27FC236}">
                <a16:creationId xmlns:a16="http://schemas.microsoft.com/office/drawing/2014/main" id="{B852DF99-8F65-FC8F-789F-4D298CAF8286}"/>
              </a:ext>
            </a:extLst>
          </p:cNvPr>
          <p:cNvSpPr txBox="1"/>
          <p:nvPr/>
        </p:nvSpPr>
        <p:spPr>
          <a:xfrm>
            <a:off x="9124506" y="5480646"/>
            <a:ext cx="902939"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Review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SPiREs</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(RD)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TextBox 7">
            <a:extLst>
              <a:ext uri="{FF2B5EF4-FFF2-40B4-BE49-F238E27FC236}">
                <a16:creationId xmlns:a16="http://schemas.microsoft.com/office/drawing/2014/main" id="{E09D49D5-1AE5-B44D-069C-49349A931003}"/>
              </a:ext>
            </a:extLst>
          </p:cNvPr>
          <p:cNvSpPr txBox="1"/>
          <p:nvPr/>
        </p:nvSpPr>
        <p:spPr>
          <a:xfrm>
            <a:off x="10238133" y="5461269"/>
            <a:ext cx="759197"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Pre-apps, Waivers due (RS)</a:t>
            </a:r>
          </a:p>
        </p:txBody>
      </p:sp>
      <p:sp>
        <p:nvSpPr>
          <p:cNvPr id="70" name="TextBox 7">
            <a:extLst>
              <a:ext uri="{FF2B5EF4-FFF2-40B4-BE49-F238E27FC236}">
                <a16:creationId xmlns:a16="http://schemas.microsoft.com/office/drawing/2014/main" id="{146C5767-F0E7-F3FB-B9AC-1527108483BC}"/>
              </a:ext>
            </a:extLst>
          </p:cNvPr>
          <p:cNvSpPr txBox="1"/>
          <p:nvPr/>
        </p:nvSpPr>
        <p:spPr>
          <a:xfrm>
            <a:off x="11078481" y="5465814"/>
            <a:ext cx="93941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(RS)</a:t>
            </a:r>
          </a:p>
        </p:txBody>
      </p:sp>
      <p:sp>
        <p:nvSpPr>
          <p:cNvPr id="71" name="TextBox 7">
            <a:extLst>
              <a:ext uri="{FF2B5EF4-FFF2-40B4-BE49-F238E27FC236}">
                <a16:creationId xmlns:a16="http://schemas.microsoft.com/office/drawing/2014/main" id="{CBA8F6A3-4B0B-F7F9-7F2D-19E658E8568E}"/>
              </a:ext>
            </a:extLst>
          </p:cNvPr>
          <p:cNvSpPr txBox="1"/>
          <p:nvPr/>
        </p:nvSpPr>
        <p:spPr>
          <a:xfrm>
            <a:off x="7227224" y="5435400"/>
            <a:ext cx="893135" cy="127727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SPiRE</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pre-apps, waivers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SRGs meet (RD)</a:t>
            </a:r>
          </a:p>
        </p:txBody>
      </p:sp>
      <p:sp>
        <p:nvSpPr>
          <p:cNvPr id="72" name="TextBox 6">
            <a:extLst>
              <a:ext uri="{FF2B5EF4-FFF2-40B4-BE49-F238E27FC236}">
                <a16:creationId xmlns:a16="http://schemas.microsoft.com/office/drawing/2014/main" id="{3D044EDA-3FEF-CD93-26C7-CBE3168475B4}"/>
              </a:ext>
            </a:extLst>
          </p:cNvPr>
          <p:cNvSpPr txBox="1"/>
          <p:nvPr/>
        </p:nvSpPr>
        <p:spPr>
          <a:xfrm>
            <a:off x="1208989" y="5466043"/>
            <a:ext cx="1144504"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SPiRE</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pre-app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waiver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a:t>
            </a:r>
          </a:p>
          <a:p>
            <a:pPr marL="171450" marR="0" lvl="0" indent="-171450" algn="ctr"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SRGs meet (RD)</a:t>
            </a:r>
          </a:p>
        </p:txBody>
      </p:sp>
      <p:sp>
        <p:nvSpPr>
          <p:cNvPr id="73" name="TextBox 7">
            <a:extLst>
              <a:ext uri="{FF2B5EF4-FFF2-40B4-BE49-F238E27FC236}">
                <a16:creationId xmlns:a16="http://schemas.microsoft.com/office/drawing/2014/main" id="{9D935A59-1144-9F30-A30A-3E53C69D713C}"/>
              </a:ext>
            </a:extLst>
          </p:cNvPr>
          <p:cNvSpPr txBox="1"/>
          <p:nvPr/>
        </p:nvSpPr>
        <p:spPr>
          <a:xfrm>
            <a:off x="5239603" y="5432434"/>
            <a:ext cx="917470" cy="127727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(RD);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Take down RD RFAs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TextBox 7">
            <a:extLst>
              <a:ext uri="{FF2B5EF4-FFF2-40B4-BE49-F238E27FC236}">
                <a16:creationId xmlns:a16="http://schemas.microsoft.com/office/drawing/2014/main" id="{38A911F5-D91F-4D29-A82E-60D1685ABF20}"/>
              </a:ext>
            </a:extLst>
          </p:cNvPr>
          <p:cNvSpPr txBox="1"/>
          <p:nvPr/>
        </p:nvSpPr>
        <p:spPr>
          <a:xfrm>
            <a:off x="6138784" y="5442173"/>
            <a:ext cx="1111961" cy="7694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 ISRM RFAs; Post portfolio pre-app RFAs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NOSIs</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Box 8">
            <a:extLst>
              <a:ext uri="{FF2B5EF4-FFF2-40B4-BE49-F238E27FC236}">
                <a16:creationId xmlns:a16="http://schemas.microsoft.com/office/drawing/2014/main" id="{E7FDBC58-32D7-4C2D-2C21-DFDF11241249}"/>
              </a:ext>
            </a:extLst>
          </p:cNvPr>
          <p:cNvSpPr txBox="1"/>
          <p:nvPr/>
        </p:nvSpPr>
        <p:spPr>
          <a:xfrm>
            <a:off x="8204284" y="5449372"/>
            <a:ext cx="902939" cy="1277273"/>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SPiRE</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full app submission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Take down </a:t>
            </a:r>
            <a:r>
              <a:rPr kumimoji="0" lang="en-US" sz="1100" b="1" i="0" u="none" strike="noStrike" kern="1200" cap="none" spc="0" normalizeH="0" baseline="0" noProof="0" err="1">
                <a:ln>
                  <a:noFill/>
                </a:ln>
                <a:solidFill>
                  <a:prstClr val="black"/>
                </a:solidFill>
                <a:effectLst/>
                <a:uLnTx/>
                <a:uFillTx/>
                <a:latin typeface="Calibri" panose="020F0502020204030204"/>
                <a:ea typeface="+mn-ea"/>
                <a:cs typeface="+mn-cs"/>
              </a:rPr>
              <a:t>SPiRE</a:t>
            </a:r>
            <a:r>
              <a:rPr kumimoji="0" lang="en-US" sz="1100" b="1" i="0" u="none" strike="noStrike" kern="1200" cap="none" spc="0" normalizeH="0" baseline="0" noProof="0">
                <a:ln>
                  <a:noFill/>
                </a:ln>
                <a:solidFill>
                  <a:prstClr val="black"/>
                </a:solidFill>
                <a:effectLst/>
                <a:uLnTx/>
                <a:uFillTx/>
                <a:latin typeface="Calibri" panose="020F0502020204030204"/>
                <a:ea typeface="+mn-ea"/>
                <a:cs typeface="+mn-cs"/>
              </a:rPr>
              <a:t> RFA</a:t>
            </a:r>
          </a:p>
        </p:txBody>
      </p:sp>
      <p:cxnSp>
        <p:nvCxnSpPr>
          <p:cNvPr id="77" name="Straight Connector 76">
            <a:extLst>
              <a:ext uri="{FF2B5EF4-FFF2-40B4-BE49-F238E27FC236}">
                <a16:creationId xmlns:a16="http://schemas.microsoft.com/office/drawing/2014/main" id="{5BCF0CFA-2FE9-9B6E-8DC8-18AD62DA4F1D}"/>
              </a:ext>
            </a:extLst>
          </p:cNvPr>
          <p:cNvCxnSpPr>
            <a:cxnSpLocks/>
          </p:cNvCxnSpPr>
          <p:nvPr/>
        </p:nvCxnSpPr>
        <p:spPr>
          <a:xfrm flipV="1">
            <a:off x="513388" y="2335562"/>
            <a:ext cx="11251892" cy="1823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9A51ACB-A76C-2EC5-77CC-4960F91F8835}"/>
              </a:ext>
            </a:extLst>
          </p:cNvPr>
          <p:cNvCxnSpPr>
            <a:cxnSpLocks/>
          </p:cNvCxnSpPr>
          <p:nvPr/>
        </p:nvCxnSpPr>
        <p:spPr>
          <a:xfrm flipV="1">
            <a:off x="513389" y="3796401"/>
            <a:ext cx="11352371" cy="3859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F41487C-5A60-35A6-E061-F81214127CD1}"/>
              </a:ext>
            </a:extLst>
          </p:cNvPr>
          <p:cNvCxnSpPr>
            <a:cxnSpLocks/>
          </p:cNvCxnSpPr>
          <p:nvPr/>
        </p:nvCxnSpPr>
        <p:spPr>
          <a:xfrm flipV="1">
            <a:off x="494175" y="5259158"/>
            <a:ext cx="11352371" cy="3859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BD71AC5-B512-C5BA-7BD5-4E3304C2B9AF}"/>
              </a:ext>
            </a:extLst>
          </p:cNvPr>
          <p:cNvCxnSpPr/>
          <p:nvPr/>
        </p:nvCxnSpPr>
        <p:spPr>
          <a:xfrm>
            <a:off x="1335771" y="1045257"/>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FC530C5-AC59-B595-37E3-5F74AE28A228}"/>
              </a:ext>
            </a:extLst>
          </p:cNvPr>
          <p:cNvCxnSpPr/>
          <p:nvPr/>
        </p:nvCxnSpPr>
        <p:spPr>
          <a:xfrm>
            <a:off x="2291727" y="1055281"/>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936EAB7-E839-0B44-D979-26A0ED8F34BB}"/>
              </a:ext>
            </a:extLst>
          </p:cNvPr>
          <p:cNvCxnSpPr/>
          <p:nvPr/>
        </p:nvCxnSpPr>
        <p:spPr>
          <a:xfrm>
            <a:off x="3311161" y="1029739"/>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755B75F-4F16-2BE2-06BC-FE51B6963809}"/>
              </a:ext>
            </a:extLst>
          </p:cNvPr>
          <p:cNvCxnSpPr/>
          <p:nvPr/>
        </p:nvCxnSpPr>
        <p:spPr>
          <a:xfrm>
            <a:off x="4227862" y="1018705"/>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35713AB-94ED-9466-B95E-0156BA0ABA91}"/>
              </a:ext>
            </a:extLst>
          </p:cNvPr>
          <p:cNvCxnSpPr/>
          <p:nvPr/>
        </p:nvCxnSpPr>
        <p:spPr>
          <a:xfrm>
            <a:off x="5221983" y="1000499"/>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4E057DF-CABF-AFBF-8067-889FE5F5B069}"/>
              </a:ext>
            </a:extLst>
          </p:cNvPr>
          <p:cNvCxnSpPr/>
          <p:nvPr/>
        </p:nvCxnSpPr>
        <p:spPr>
          <a:xfrm>
            <a:off x="6184225" y="1055281"/>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DB77BB7-A86A-A3F9-98D3-A6DC3C03AD6E}"/>
              </a:ext>
            </a:extLst>
          </p:cNvPr>
          <p:cNvCxnSpPr/>
          <p:nvPr/>
        </p:nvCxnSpPr>
        <p:spPr>
          <a:xfrm>
            <a:off x="7212195" y="1016906"/>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74C9E7A-9EEA-9ECB-9320-AFEA9E9A6EAD}"/>
              </a:ext>
            </a:extLst>
          </p:cNvPr>
          <p:cNvCxnSpPr/>
          <p:nvPr/>
        </p:nvCxnSpPr>
        <p:spPr>
          <a:xfrm>
            <a:off x="8128368" y="1043951"/>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8C5408C-18C5-9E0B-3592-57E7FC53699D}"/>
              </a:ext>
            </a:extLst>
          </p:cNvPr>
          <p:cNvCxnSpPr/>
          <p:nvPr/>
        </p:nvCxnSpPr>
        <p:spPr>
          <a:xfrm>
            <a:off x="9091497" y="1007117"/>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E48251D2-3C55-7FE3-12D3-1FF307C6E7EF}"/>
              </a:ext>
            </a:extLst>
          </p:cNvPr>
          <p:cNvCxnSpPr/>
          <p:nvPr/>
        </p:nvCxnSpPr>
        <p:spPr>
          <a:xfrm>
            <a:off x="10042473" y="1023332"/>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B39E318-6E03-C36E-42FA-F5E09307BB59}"/>
              </a:ext>
            </a:extLst>
          </p:cNvPr>
          <p:cNvCxnSpPr/>
          <p:nvPr/>
        </p:nvCxnSpPr>
        <p:spPr>
          <a:xfrm>
            <a:off x="11052768" y="1023332"/>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79CF7375-BEF7-F171-7E64-5B1B0476BC51}"/>
              </a:ext>
            </a:extLst>
          </p:cNvPr>
          <p:cNvSpPr txBox="1"/>
          <p:nvPr/>
        </p:nvSpPr>
        <p:spPr>
          <a:xfrm>
            <a:off x="388918" y="140493"/>
            <a:ext cx="62280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ISRM Application Review Transition Timeline FY24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aphicFrame>
        <p:nvGraphicFramePr>
          <p:cNvPr id="100" name="Table 99">
            <a:extLst>
              <a:ext uri="{FF2B5EF4-FFF2-40B4-BE49-F238E27FC236}">
                <a16:creationId xmlns:a16="http://schemas.microsoft.com/office/drawing/2014/main" id="{C72FF993-4E24-36EB-3C8C-4E5B35EFC00B}"/>
              </a:ext>
            </a:extLst>
          </p:cNvPr>
          <p:cNvGraphicFramePr>
            <a:graphicFrameLocks noGrp="1"/>
          </p:cNvGraphicFramePr>
          <p:nvPr/>
        </p:nvGraphicFramePr>
        <p:xfrm>
          <a:off x="9054247" y="134034"/>
          <a:ext cx="2941693" cy="365760"/>
        </p:xfrm>
        <a:graphic>
          <a:graphicData uri="http://schemas.openxmlformats.org/drawingml/2006/table">
            <a:tbl>
              <a:tblPr firstRow="1" bandRow="1">
                <a:tableStyleId>{5940675A-B579-460E-94D1-54222C63F5DA}</a:tableStyleId>
              </a:tblPr>
              <a:tblGrid>
                <a:gridCol w="509821">
                  <a:extLst>
                    <a:ext uri="{9D8B030D-6E8A-4147-A177-3AD203B41FA5}">
                      <a16:colId xmlns:a16="http://schemas.microsoft.com/office/drawing/2014/main" val="137942564"/>
                    </a:ext>
                  </a:extLst>
                </a:gridCol>
                <a:gridCol w="2431872">
                  <a:extLst>
                    <a:ext uri="{9D8B030D-6E8A-4147-A177-3AD203B41FA5}">
                      <a16:colId xmlns:a16="http://schemas.microsoft.com/office/drawing/2014/main" val="1833421283"/>
                    </a:ext>
                  </a:extLst>
                </a:gridCol>
              </a:tblGrid>
              <a:tr h="0">
                <a:tc>
                  <a:txBody>
                    <a:bodyPr/>
                    <a:lstStyle/>
                    <a:p>
                      <a:r>
                        <a:rPr lang="en-US" sz="1100" b="1">
                          <a:solidFill>
                            <a:schemeClr val="bg1"/>
                          </a:solidFill>
                        </a:rPr>
                        <a:t>Key</a:t>
                      </a:r>
                    </a:p>
                  </a:txBody>
                  <a:tcPr anchor="c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Black Text = Current Services Based Review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rgbClr val="FF0000"/>
                          </a:solidFill>
                        </a:rPr>
                        <a:t>Red Text = New Portfolio Based Review</a:t>
                      </a:r>
                    </a:p>
                  </a:txBody>
                  <a:tcPr/>
                </a:tc>
                <a:extLst>
                  <a:ext uri="{0D108BD9-81ED-4DB2-BD59-A6C34878D82A}">
                    <a16:rowId xmlns:a16="http://schemas.microsoft.com/office/drawing/2014/main" val="4215697517"/>
                  </a:ext>
                </a:extLst>
              </a:tr>
            </a:tbl>
          </a:graphicData>
        </a:graphic>
      </p:graphicFrame>
    </p:spTree>
    <p:extLst>
      <p:ext uri="{BB962C8B-B14F-4D97-AF65-F5344CB8AC3E}">
        <p14:creationId xmlns:p14="http://schemas.microsoft.com/office/powerpoint/2010/main" val="11634093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5">
            <a:extLst>
              <a:ext uri="{FF2B5EF4-FFF2-40B4-BE49-F238E27FC236}">
                <a16:creationId xmlns:a16="http://schemas.microsoft.com/office/drawing/2014/main" id="{4855AF9D-93D2-8BFF-4B2B-C2892FDDE563}"/>
              </a:ext>
            </a:extLst>
          </p:cNvPr>
          <p:cNvSpPr txBox="1"/>
          <p:nvPr/>
        </p:nvSpPr>
        <p:spPr>
          <a:xfrm>
            <a:off x="365967" y="1036827"/>
            <a:ext cx="989341"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A1/A2 Pre-Apps Deadline</a:t>
            </a:r>
          </a:p>
        </p:txBody>
      </p:sp>
      <p:sp>
        <p:nvSpPr>
          <p:cNvPr id="5" name="TextBox 6">
            <a:extLst>
              <a:ext uri="{FF2B5EF4-FFF2-40B4-BE49-F238E27FC236}">
                <a16:creationId xmlns:a16="http://schemas.microsoft.com/office/drawing/2014/main" id="{67A6982E-36AD-64DE-E966-D24BDFE8FB7A}"/>
              </a:ext>
            </a:extLst>
          </p:cNvPr>
          <p:cNvSpPr txBox="1"/>
          <p:nvPr/>
        </p:nvSpPr>
        <p:spPr>
          <a:xfrm>
            <a:off x="2212817" y="1018705"/>
            <a:ext cx="114450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 (MHA)</a:t>
            </a:r>
          </a:p>
        </p:txBody>
      </p:sp>
      <p:sp>
        <p:nvSpPr>
          <p:cNvPr id="7" name="TextBox 8">
            <a:extLst>
              <a:ext uri="{FF2B5EF4-FFF2-40B4-BE49-F238E27FC236}">
                <a16:creationId xmlns:a16="http://schemas.microsoft.com/office/drawing/2014/main" id="{2C091837-4AA6-9F67-E68D-5235EDB97048}"/>
              </a:ext>
            </a:extLst>
          </p:cNvPr>
          <p:cNvSpPr txBox="1"/>
          <p:nvPr/>
        </p:nvSpPr>
        <p:spPr>
          <a:xfrm>
            <a:off x="8151308" y="994959"/>
            <a:ext cx="902939"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 (MHA)</a:t>
            </a:r>
          </a:p>
        </p:txBody>
      </p:sp>
      <p:sp>
        <p:nvSpPr>
          <p:cNvPr id="8" name="Rectangle 7">
            <a:extLst>
              <a:ext uri="{FF2B5EF4-FFF2-40B4-BE49-F238E27FC236}">
                <a16:creationId xmlns:a16="http://schemas.microsoft.com/office/drawing/2014/main" id="{5927C3D0-F845-0D0F-7742-D7E2D5278533}"/>
              </a:ext>
            </a:extLst>
          </p:cNvPr>
          <p:cNvSpPr/>
          <p:nvPr/>
        </p:nvSpPr>
        <p:spPr>
          <a:xfrm>
            <a:off x="10088148" y="601713"/>
            <a:ext cx="914400" cy="3523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mn-cs"/>
              </a:rPr>
              <a:t>Nov ‘25</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CA5B6924-2C28-F14D-96AF-7D4EB0AA4583}"/>
              </a:ext>
            </a:extLst>
          </p:cNvPr>
          <p:cNvSpPr/>
          <p:nvPr/>
        </p:nvSpPr>
        <p:spPr>
          <a:xfrm>
            <a:off x="11064213" y="601648"/>
            <a:ext cx="914400" cy="35238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mn-ea"/>
                <a:cs typeface="+mn-cs"/>
              </a:rPr>
              <a:t>Dec ‘25</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08D2E41-5436-865D-E411-7C8D509E6E59}"/>
              </a:ext>
            </a:extLst>
          </p:cNvPr>
          <p:cNvSpPr/>
          <p:nvPr/>
        </p:nvSpPr>
        <p:spPr>
          <a:xfrm>
            <a:off x="375651" y="621717"/>
            <a:ext cx="914400" cy="343633"/>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Jan ‘25</a:t>
            </a:r>
          </a:p>
        </p:txBody>
      </p:sp>
      <p:sp>
        <p:nvSpPr>
          <p:cNvPr id="11" name="Rectangle 10">
            <a:extLst>
              <a:ext uri="{FF2B5EF4-FFF2-40B4-BE49-F238E27FC236}">
                <a16:creationId xmlns:a16="http://schemas.microsoft.com/office/drawing/2014/main" id="{5DFB90B1-D573-F038-7E39-F11BCE0F09E6}"/>
              </a:ext>
            </a:extLst>
          </p:cNvPr>
          <p:cNvSpPr/>
          <p:nvPr/>
        </p:nvSpPr>
        <p:spPr>
          <a:xfrm>
            <a:off x="1361340" y="621860"/>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Feb ‘25</a:t>
            </a:r>
          </a:p>
        </p:txBody>
      </p:sp>
      <p:sp>
        <p:nvSpPr>
          <p:cNvPr id="12" name="Rectangle 11">
            <a:extLst>
              <a:ext uri="{FF2B5EF4-FFF2-40B4-BE49-F238E27FC236}">
                <a16:creationId xmlns:a16="http://schemas.microsoft.com/office/drawing/2014/main" id="{5B15A350-5295-7C00-F07B-E47B3B89EE7C}"/>
              </a:ext>
            </a:extLst>
          </p:cNvPr>
          <p:cNvSpPr/>
          <p:nvPr/>
        </p:nvSpPr>
        <p:spPr>
          <a:xfrm>
            <a:off x="2327776" y="621788"/>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Mar ‘25</a:t>
            </a:r>
          </a:p>
        </p:txBody>
      </p:sp>
      <p:sp>
        <p:nvSpPr>
          <p:cNvPr id="13" name="Rectangle 12">
            <a:extLst>
              <a:ext uri="{FF2B5EF4-FFF2-40B4-BE49-F238E27FC236}">
                <a16:creationId xmlns:a16="http://schemas.microsoft.com/office/drawing/2014/main" id="{6D9C88F4-2A8E-11CB-A5BC-907B15A1A26A}"/>
              </a:ext>
            </a:extLst>
          </p:cNvPr>
          <p:cNvSpPr/>
          <p:nvPr/>
        </p:nvSpPr>
        <p:spPr>
          <a:xfrm>
            <a:off x="3313462" y="621860"/>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Apr’25</a:t>
            </a:r>
          </a:p>
        </p:txBody>
      </p:sp>
      <p:sp>
        <p:nvSpPr>
          <p:cNvPr id="14" name="Rectangle 13">
            <a:extLst>
              <a:ext uri="{FF2B5EF4-FFF2-40B4-BE49-F238E27FC236}">
                <a16:creationId xmlns:a16="http://schemas.microsoft.com/office/drawing/2014/main" id="{4B09CCD3-0E2F-2574-671A-498514BA35CB}"/>
              </a:ext>
            </a:extLst>
          </p:cNvPr>
          <p:cNvSpPr/>
          <p:nvPr/>
        </p:nvSpPr>
        <p:spPr>
          <a:xfrm>
            <a:off x="4279899" y="621789"/>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May’25</a:t>
            </a:r>
          </a:p>
        </p:txBody>
      </p:sp>
      <p:sp>
        <p:nvSpPr>
          <p:cNvPr id="15" name="Rectangle 14">
            <a:extLst>
              <a:ext uri="{FF2B5EF4-FFF2-40B4-BE49-F238E27FC236}">
                <a16:creationId xmlns:a16="http://schemas.microsoft.com/office/drawing/2014/main" id="{3B6A3FBF-7467-F0FE-31D1-EED94E148512}"/>
              </a:ext>
            </a:extLst>
          </p:cNvPr>
          <p:cNvSpPr/>
          <p:nvPr/>
        </p:nvSpPr>
        <p:spPr>
          <a:xfrm>
            <a:off x="5255961" y="621717"/>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Jun ‘25</a:t>
            </a:r>
          </a:p>
        </p:txBody>
      </p:sp>
      <p:sp>
        <p:nvSpPr>
          <p:cNvPr id="16" name="Rectangle 15">
            <a:extLst>
              <a:ext uri="{FF2B5EF4-FFF2-40B4-BE49-F238E27FC236}">
                <a16:creationId xmlns:a16="http://schemas.microsoft.com/office/drawing/2014/main" id="{AE3E7936-8DE5-7FB2-5A62-4CC98E0A8365}"/>
              </a:ext>
            </a:extLst>
          </p:cNvPr>
          <p:cNvSpPr/>
          <p:nvPr/>
        </p:nvSpPr>
        <p:spPr>
          <a:xfrm>
            <a:off x="6232024" y="610757"/>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Jul ‘25</a:t>
            </a:r>
          </a:p>
        </p:txBody>
      </p:sp>
      <p:sp>
        <p:nvSpPr>
          <p:cNvPr id="17" name="Rectangle 16">
            <a:extLst>
              <a:ext uri="{FF2B5EF4-FFF2-40B4-BE49-F238E27FC236}">
                <a16:creationId xmlns:a16="http://schemas.microsoft.com/office/drawing/2014/main" id="{160EC97E-579E-3923-356A-67FBCC0F7455}"/>
              </a:ext>
            </a:extLst>
          </p:cNvPr>
          <p:cNvSpPr/>
          <p:nvPr/>
        </p:nvSpPr>
        <p:spPr>
          <a:xfrm>
            <a:off x="7188837" y="610686"/>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Aug’25</a:t>
            </a:r>
          </a:p>
        </p:txBody>
      </p:sp>
      <p:sp>
        <p:nvSpPr>
          <p:cNvPr id="18" name="Rectangle 17">
            <a:extLst>
              <a:ext uri="{FF2B5EF4-FFF2-40B4-BE49-F238E27FC236}">
                <a16:creationId xmlns:a16="http://schemas.microsoft.com/office/drawing/2014/main" id="{7612BF08-C9AD-8EFB-DEC5-E799F06E084D}"/>
              </a:ext>
            </a:extLst>
          </p:cNvPr>
          <p:cNvSpPr/>
          <p:nvPr/>
        </p:nvSpPr>
        <p:spPr>
          <a:xfrm>
            <a:off x="8155271" y="610614"/>
            <a:ext cx="914400" cy="343419"/>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Sep’25</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B06A2A15-1D73-B245-1F02-F191D28404B8}"/>
              </a:ext>
            </a:extLst>
          </p:cNvPr>
          <p:cNvSpPr/>
          <p:nvPr/>
        </p:nvSpPr>
        <p:spPr>
          <a:xfrm rot="-5400000">
            <a:off x="-440518" y="1542076"/>
            <a:ext cx="1329162" cy="283809"/>
          </a:xfrm>
          <a:prstGeom prst="rect">
            <a:avLst/>
          </a:prstGeom>
          <a:solidFill>
            <a:schemeClr val="accent5">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mn-ea"/>
                <a:cs typeface="+mn-cs"/>
              </a:rPr>
              <a:t>BLRD to MHA</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21" name="TextBox 7">
            <a:extLst>
              <a:ext uri="{FF2B5EF4-FFF2-40B4-BE49-F238E27FC236}">
                <a16:creationId xmlns:a16="http://schemas.microsoft.com/office/drawing/2014/main" id="{178E9219-08E9-A90E-1FC0-F3A074FFD5D8}"/>
              </a:ext>
            </a:extLst>
          </p:cNvPr>
          <p:cNvSpPr txBox="1"/>
          <p:nvPr/>
        </p:nvSpPr>
        <p:spPr>
          <a:xfrm>
            <a:off x="5250875" y="991107"/>
            <a:ext cx="902939"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SRGs meet (MHA)</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solidFill>
                <a:srgbClr val="FF0000"/>
              </a:solidFill>
              <a:latin typeface="Calibri" panose="020F0502020204030204"/>
            </a:endParaRPr>
          </a:p>
          <a:p>
            <a:pPr algn="ct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Post/Update NOSIs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50D7E6D4-5B50-4DE6-F17B-FB31F50FC6F5}"/>
              </a:ext>
            </a:extLst>
          </p:cNvPr>
          <p:cNvSpPr/>
          <p:nvPr/>
        </p:nvSpPr>
        <p:spPr>
          <a:xfrm>
            <a:off x="9112086" y="610613"/>
            <a:ext cx="914400" cy="34341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Calibri" panose="020F0502020204030204"/>
                <a:ea typeface="Calibri"/>
                <a:cs typeface="Calibri"/>
              </a:rPr>
              <a:t>Oct ‘25</a:t>
            </a: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A9307C4B-84FE-0C78-EEE7-31904EE4964B}"/>
              </a:ext>
            </a:extLst>
          </p:cNvPr>
          <p:cNvSpPr/>
          <p:nvPr/>
        </p:nvSpPr>
        <p:spPr>
          <a:xfrm rot="-5400000">
            <a:off x="-434145" y="4400780"/>
            <a:ext cx="1329162" cy="283810"/>
          </a:xfrm>
          <a:prstGeom prst="rect">
            <a:avLst/>
          </a:prstGeom>
          <a:solidFill>
            <a:srgbClr val="C0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Calibri"/>
                <a:cs typeface="Calibri"/>
              </a:rPr>
              <a:t>HSRD to HSR</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32" name="Rectangle 31">
            <a:extLst>
              <a:ext uri="{FF2B5EF4-FFF2-40B4-BE49-F238E27FC236}">
                <a16:creationId xmlns:a16="http://schemas.microsoft.com/office/drawing/2014/main" id="{D71D30FE-D097-141F-169D-8348138B1245}"/>
              </a:ext>
            </a:extLst>
          </p:cNvPr>
          <p:cNvSpPr/>
          <p:nvPr/>
        </p:nvSpPr>
        <p:spPr>
          <a:xfrm rot="-5400000">
            <a:off x="-457780" y="2975708"/>
            <a:ext cx="1363689" cy="283812"/>
          </a:xfrm>
          <a:prstGeom prst="rect">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panose="020F0502020204030204"/>
                <a:ea typeface="Calibri"/>
                <a:cs typeface="Calibri"/>
              </a:rPr>
              <a:t>CSRD to BBMH</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33" name="Rectangle 32">
            <a:extLst>
              <a:ext uri="{FF2B5EF4-FFF2-40B4-BE49-F238E27FC236}">
                <a16:creationId xmlns:a16="http://schemas.microsoft.com/office/drawing/2014/main" id="{E1AA8955-0F05-1D78-7D4B-D6D1F02C0137}"/>
              </a:ext>
            </a:extLst>
          </p:cNvPr>
          <p:cNvSpPr/>
          <p:nvPr/>
        </p:nvSpPr>
        <p:spPr>
          <a:xfrm rot="-5400000">
            <a:off x="-522234" y="5913098"/>
            <a:ext cx="1487237" cy="277438"/>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Calibri Light" panose="020F0302020204030204" pitchFamily="34" charset="0"/>
                <a:ea typeface="+mn-ea"/>
                <a:cs typeface="+mn-cs"/>
              </a:rPr>
              <a:t>RRD to RS</a:t>
            </a:r>
            <a:endParaRPr kumimoji="0" lang="en-US" sz="1800" b="1" i="0" u="none" strike="noStrike" kern="1200" cap="none" spc="0" normalizeH="0" baseline="0" noProof="0">
              <a:ln>
                <a:noFill/>
              </a:ln>
              <a:solidFill>
                <a:prstClr val="white"/>
              </a:solidFill>
              <a:effectLst/>
              <a:uLnTx/>
              <a:uFillTx/>
              <a:latin typeface="Calibri" panose="020F0502020204030204"/>
              <a:ea typeface="Calibri"/>
              <a:cs typeface="Calibri"/>
            </a:endParaRPr>
          </a:p>
        </p:txBody>
      </p:sp>
      <p:sp>
        <p:nvSpPr>
          <p:cNvPr id="43" name="TextBox 7">
            <a:extLst>
              <a:ext uri="{FF2B5EF4-FFF2-40B4-BE49-F238E27FC236}">
                <a16:creationId xmlns:a16="http://schemas.microsoft.com/office/drawing/2014/main" id="{364BBD38-7113-776F-2995-2980FD7D1ED2}"/>
              </a:ext>
            </a:extLst>
          </p:cNvPr>
          <p:cNvSpPr txBox="1"/>
          <p:nvPr/>
        </p:nvSpPr>
        <p:spPr>
          <a:xfrm>
            <a:off x="6113040" y="994959"/>
            <a:ext cx="1174718"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Funding ranking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(MHA)</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solidFill>
                <a:srgbClr val="FF0000"/>
              </a:solidFill>
              <a:latin typeface="Calibri" panose="020F0502020204030204"/>
            </a:endParaRPr>
          </a:p>
        </p:txBody>
      </p:sp>
      <p:sp>
        <p:nvSpPr>
          <p:cNvPr id="46" name="TextBox 7">
            <a:extLst>
              <a:ext uri="{FF2B5EF4-FFF2-40B4-BE49-F238E27FC236}">
                <a16:creationId xmlns:a16="http://schemas.microsoft.com/office/drawing/2014/main" id="{421DDEE7-4121-C651-9E54-8AF1B955441B}"/>
              </a:ext>
            </a:extLst>
          </p:cNvPr>
          <p:cNvSpPr txBox="1"/>
          <p:nvPr/>
        </p:nvSpPr>
        <p:spPr>
          <a:xfrm>
            <a:off x="10127730" y="1000499"/>
            <a:ext cx="759197"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(MHA);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LOIs, Wavers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(MHA)</a:t>
            </a:r>
          </a:p>
        </p:txBody>
      </p:sp>
      <p:sp>
        <p:nvSpPr>
          <p:cNvPr id="47" name="TextBox 7">
            <a:extLst>
              <a:ext uri="{FF2B5EF4-FFF2-40B4-BE49-F238E27FC236}">
                <a16:creationId xmlns:a16="http://schemas.microsoft.com/office/drawing/2014/main" id="{E0A7921B-C498-3AC2-F869-1C82C08976AD}"/>
              </a:ext>
            </a:extLst>
          </p:cNvPr>
          <p:cNvSpPr txBox="1"/>
          <p:nvPr/>
        </p:nvSpPr>
        <p:spPr>
          <a:xfrm>
            <a:off x="11114382" y="1023332"/>
            <a:ext cx="759197"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(MHA)</a:t>
            </a:r>
          </a:p>
        </p:txBody>
      </p:sp>
      <p:sp>
        <p:nvSpPr>
          <p:cNvPr id="56" name="TextBox 5">
            <a:extLst>
              <a:ext uri="{FF2B5EF4-FFF2-40B4-BE49-F238E27FC236}">
                <a16:creationId xmlns:a16="http://schemas.microsoft.com/office/drawing/2014/main" id="{926694A5-6C78-D03D-9F8A-0C5A377EAB90}"/>
              </a:ext>
            </a:extLst>
          </p:cNvPr>
          <p:cNvSpPr txBox="1"/>
          <p:nvPr/>
        </p:nvSpPr>
        <p:spPr>
          <a:xfrm>
            <a:off x="3337978" y="4037050"/>
            <a:ext cx="804628" cy="7694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Funding ranking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57" name="TextBox 6">
            <a:extLst>
              <a:ext uri="{FF2B5EF4-FFF2-40B4-BE49-F238E27FC236}">
                <a16:creationId xmlns:a16="http://schemas.microsoft.com/office/drawing/2014/main" id="{FE0095D1-480F-2030-9A49-0F5DFA8F2807}"/>
              </a:ext>
            </a:extLst>
          </p:cNvPr>
          <p:cNvSpPr txBox="1"/>
          <p:nvPr/>
        </p:nvSpPr>
        <p:spPr>
          <a:xfrm>
            <a:off x="2211460" y="3996068"/>
            <a:ext cx="1144504"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SRGs meet (HSR),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Post/Update NOSIs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58" name="TextBox 7">
            <a:extLst>
              <a:ext uri="{FF2B5EF4-FFF2-40B4-BE49-F238E27FC236}">
                <a16:creationId xmlns:a16="http://schemas.microsoft.com/office/drawing/2014/main" id="{71A0A555-AEBE-58F3-B099-E1C9F94D19B1}"/>
              </a:ext>
            </a:extLst>
          </p:cNvPr>
          <p:cNvSpPr txBox="1"/>
          <p:nvPr/>
        </p:nvSpPr>
        <p:spPr>
          <a:xfrm>
            <a:off x="4314332" y="3955558"/>
            <a:ext cx="917470" cy="7694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Pre-apps, Waivers submission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59" name="TextBox 8">
            <a:extLst>
              <a:ext uri="{FF2B5EF4-FFF2-40B4-BE49-F238E27FC236}">
                <a16:creationId xmlns:a16="http://schemas.microsoft.com/office/drawing/2014/main" id="{16349514-7D31-F89C-9E1E-7FCE10836277}"/>
              </a:ext>
            </a:extLst>
          </p:cNvPr>
          <p:cNvSpPr txBox="1"/>
          <p:nvPr/>
        </p:nvSpPr>
        <p:spPr>
          <a:xfrm>
            <a:off x="9124506" y="3997239"/>
            <a:ext cx="902939"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Funding ranking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60" name="TextBox 7">
            <a:extLst>
              <a:ext uri="{FF2B5EF4-FFF2-40B4-BE49-F238E27FC236}">
                <a16:creationId xmlns:a16="http://schemas.microsoft.com/office/drawing/2014/main" id="{D9DB577C-8155-697D-8464-CEBEC71305E5}"/>
              </a:ext>
            </a:extLst>
          </p:cNvPr>
          <p:cNvSpPr txBox="1"/>
          <p:nvPr/>
        </p:nvSpPr>
        <p:spPr>
          <a:xfrm>
            <a:off x="5228270" y="3968470"/>
            <a:ext cx="892206"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62" name="TextBox 7">
            <a:extLst>
              <a:ext uri="{FF2B5EF4-FFF2-40B4-BE49-F238E27FC236}">
                <a16:creationId xmlns:a16="http://schemas.microsoft.com/office/drawing/2014/main" id="{A33C29BC-4858-2608-9491-2A25FAC4B215}"/>
              </a:ext>
            </a:extLst>
          </p:cNvPr>
          <p:cNvSpPr txBox="1"/>
          <p:nvPr/>
        </p:nvSpPr>
        <p:spPr>
          <a:xfrm>
            <a:off x="10238133" y="3977862"/>
            <a:ext cx="759197" cy="93871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Pre-apps, ITSs, Waivers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63" name="TextBox 7">
            <a:extLst>
              <a:ext uri="{FF2B5EF4-FFF2-40B4-BE49-F238E27FC236}">
                <a16:creationId xmlns:a16="http://schemas.microsoft.com/office/drawing/2014/main" id="{F20B0948-5944-95EB-B830-763156FA09A6}"/>
              </a:ext>
            </a:extLst>
          </p:cNvPr>
          <p:cNvSpPr txBox="1"/>
          <p:nvPr/>
        </p:nvSpPr>
        <p:spPr>
          <a:xfrm>
            <a:off x="11072385" y="3991551"/>
            <a:ext cx="97012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64" name="TextBox 7">
            <a:extLst>
              <a:ext uri="{FF2B5EF4-FFF2-40B4-BE49-F238E27FC236}">
                <a16:creationId xmlns:a16="http://schemas.microsoft.com/office/drawing/2014/main" id="{357D960E-5689-1EA9-4633-B72588621229}"/>
              </a:ext>
            </a:extLst>
          </p:cNvPr>
          <p:cNvSpPr txBox="1"/>
          <p:nvPr/>
        </p:nvSpPr>
        <p:spPr>
          <a:xfrm>
            <a:off x="7293957" y="4023113"/>
            <a:ext cx="759197"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mtngs</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(HSR)</a:t>
            </a:r>
          </a:p>
        </p:txBody>
      </p:sp>
      <p:sp>
        <p:nvSpPr>
          <p:cNvPr id="67" name="TextBox 7">
            <a:extLst>
              <a:ext uri="{FF2B5EF4-FFF2-40B4-BE49-F238E27FC236}">
                <a16:creationId xmlns:a16="http://schemas.microsoft.com/office/drawing/2014/main" id="{31FD4B86-0EA4-EB76-D45E-CA92A0D43C84}"/>
              </a:ext>
            </a:extLst>
          </p:cNvPr>
          <p:cNvSpPr txBox="1"/>
          <p:nvPr/>
        </p:nvSpPr>
        <p:spPr>
          <a:xfrm>
            <a:off x="4314332" y="5438965"/>
            <a:ext cx="917470"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Margin (RS); Pre-Apps, waivers submission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8" name="TextBox 8">
            <a:extLst>
              <a:ext uri="{FF2B5EF4-FFF2-40B4-BE49-F238E27FC236}">
                <a16:creationId xmlns:a16="http://schemas.microsoft.com/office/drawing/2014/main" id="{B852DF99-8F65-FC8F-789F-4D298CAF8286}"/>
              </a:ext>
            </a:extLst>
          </p:cNvPr>
          <p:cNvSpPr txBox="1"/>
          <p:nvPr/>
        </p:nvSpPr>
        <p:spPr>
          <a:xfrm>
            <a:off x="9124506" y="5480646"/>
            <a:ext cx="902939" cy="93871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Funding ranking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(RS)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69" name="TextBox 7">
            <a:extLst>
              <a:ext uri="{FF2B5EF4-FFF2-40B4-BE49-F238E27FC236}">
                <a16:creationId xmlns:a16="http://schemas.microsoft.com/office/drawing/2014/main" id="{E09D49D5-1AE5-B44D-069C-49349A931003}"/>
              </a:ext>
            </a:extLst>
          </p:cNvPr>
          <p:cNvSpPr txBox="1"/>
          <p:nvPr/>
        </p:nvSpPr>
        <p:spPr>
          <a:xfrm>
            <a:off x="10238133" y="5461269"/>
            <a:ext cx="759197" cy="7694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Pre-apps, ITSs, Waivers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(RS)</a:t>
            </a:r>
          </a:p>
        </p:txBody>
      </p:sp>
      <p:sp>
        <p:nvSpPr>
          <p:cNvPr id="70" name="TextBox 7">
            <a:extLst>
              <a:ext uri="{FF2B5EF4-FFF2-40B4-BE49-F238E27FC236}">
                <a16:creationId xmlns:a16="http://schemas.microsoft.com/office/drawing/2014/main" id="{146C5767-F0E7-F3FB-B9AC-1527108483BC}"/>
              </a:ext>
            </a:extLst>
          </p:cNvPr>
          <p:cNvSpPr txBox="1"/>
          <p:nvPr/>
        </p:nvSpPr>
        <p:spPr>
          <a:xfrm>
            <a:off x="11078481" y="5465814"/>
            <a:ext cx="93941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(RS)</a:t>
            </a:r>
          </a:p>
        </p:txBody>
      </p:sp>
      <p:sp>
        <p:nvSpPr>
          <p:cNvPr id="71" name="TextBox 7">
            <a:extLst>
              <a:ext uri="{FF2B5EF4-FFF2-40B4-BE49-F238E27FC236}">
                <a16:creationId xmlns:a16="http://schemas.microsoft.com/office/drawing/2014/main" id="{CBA8F6A3-4B0B-F7F9-7F2D-19E658E8568E}"/>
              </a:ext>
            </a:extLst>
          </p:cNvPr>
          <p:cNvSpPr txBox="1"/>
          <p:nvPr/>
        </p:nvSpPr>
        <p:spPr>
          <a:xfrm>
            <a:off x="7227224" y="5435400"/>
            <a:ext cx="893135"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mtngs (RS)</a:t>
            </a:r>
          </a:p>
        </p:txBody>
      </p:sp>
      <p:sp>
        <p:nvSpPr>
          <p:cNvPr id="72" name="TextBox 6">
            <a:extLst>
              <a:ext uri="{FF2B5EF4-FFF2-40B4-BE49-F238E27FC236}">
                <a16:creationId xmlns:a16="http://schemas.microsoft.com/office/drawing/2014/main" id="{3D044EDA-3FEF-CD93-26C7-CBE3168475B4}"/>
              </a:ext>
            </a:extLst>
          </p:cNvPr>
          <p:cNvSpPr txBox="1"/>
          <p:nvPr/>
        </p:nvSpPr>
        <p:spPr>
          <a:xfrm>
            <a:off x="1245933" y="5466043"/>
            <a:ext cx="1144504" cy="261610"/>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SRGs meet (RS)</a:t>
            </a:r>
          </a:p>
        </p:txBody>
      </p:sp>
      <p:sp>
        <p:nvSpPr>
          <p:cNvPr id="73" name="TextBox 7">
            <a:extLst>
              <a:ext uri="{FF2B5EF4-FFF2-40B4-BE49-F238E27FC236}">
                <a16:creationId xmlns:a16="http://schemas.microsoft.com/office/drawing/2014/main" id="{9D935A59-1144-9F30-A30A-3E53C69D713C}"/>
              </a:ext>
            </a:extLst>
          </p:cNvPr>
          <p:cNvSpPr txBox="1"/>
          <p:nvPr/>
        </p:nvSpPr>
        <p:spPr>
          <a:xfrm>
            <a:off x="5239603" y="5432434"/>
            <a:ext cx="917470"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 (RS)</a:t>
            </a:r>
          </a:p>
        </p:txBody>
      </p:sp>
      <p:cxnSp>
        <p:nvCxnSpPr>
          <p:cNvPr id="77" name="Straight Connector 76">
            <a:extLst>
              <a:ext uri="{FF2B5EF4-FFF2-40B4-BE49-F238E27FC236}">
                <a16:creationId xmlns:a16="http://schemas.microsoft.com/office/drawing/2014/main" id="{5BCF0CFA-2FE9-9B6E-8DC8-18AD62DA4F1D}"/>
              </a:ext>
            </a:extLst>
          </p:cNvPr>
          <p:cNvCxnSpPr>
            <a:cxnSpLocks/>
          </p:cNvCxnSpPr>
          <p:nvPr/>
        </p:nvCxnSpPr>
        <p:spPr>
          <a:xfrm flipV="1">
            <a:off x="513388" y="2335562"/>
            <a:ext cx="11251892" cy="1823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9A51ACB-A76C-2EC5-77CC-4960F91F8835}"/>
              </a:ext>
            </a:extLst>
          </p:cNvPr>
          <p:cNvCxnSpPr>
            <a:cxnSpLocks/>
          </p:cNvCxnSpPr>
          <p:nvPr/>
        </p:nvCxnSpPr>
        <p:spPr>
          <a:xfrm flipV="1">
            <a:off x="513389" y="3796401"/>
            <a:ext cx="11352371" cy="3859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6F41487C-5A60-35A6-E061-F81214127CD1}"/>
              </a:ext>
            </a:extLst>
          </p:cNvPr>
          <p:cNvCxnSpPr>
            <a:cxnSpLocks/>
          </p:cNvCxnSpPr>
          <p:nvPr/>
        </p:nvCxnSpPr>
        <p:spPr>
          <a:xfrm flipV="1">
            <a:off x="494175" y="5259158"/>
            <a:ext cx="11352371" cy="38596"/>
          </a:xfrm>
          <a:prstGeom prst="line">
            <a:avLst/>
          </a:prstGeom>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BD71AC5-B512-C5BA-7BD5-4E3304C2B9AF}"/>
              </a:ext>
            </a:extLst>
          </p:cNvPr>
          <p:cNvCxnSpPr/>
          <p:nvPr/>
        </p:nvCxnSpPr>
        <p:spPr>
          <a:xfrm>
            <a:off x="1335771" y="1045257"/>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7FC530C5-AC59-B595-37E3-5F74AE28A228}"/>
              </a:ext>
            </a:extLst>
          </p:cNvPr>
          <p:cNvCxnSpPr/>
          <p:nvPr/>
        </p:nvCxnSpPr>
        <p:spPr>
          <a:xfrm>
            <a:off x="2291727" y="1055281"/>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B936EAB7-E839-0B44-D979-26A0ED8F34BB}"/>
              </a:ext>
            </a:extLst>
          </p:cNvPr>
          <p:cNvCxnSpPr/>
          <p:nvPr/>
        </p:nvCxnSpPr>
        <p:spPr>
          <a:xfrm>
            <a:off x="3311161" y="1029739"/>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755B75F-4F16-2BE2-06BC-FE51B6963809}"/>
              </a:ext>
            </a:extLst>
          </p:cNvPr>
          <p:cNvCxnSpPr/>
          <p:nvPr/>
        </p:nvCxnSpPr>
        <p:spPr>
          <a:xfrm>
            <a:off x="4227862" y="1018705"/>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35713AB-94ED-9466-B95E-0156BA0ABA91}"/>
              </a:ext>
            </a:extLst>
          </p:cNvPr>
          <p:cNvCxnSpPr/>
          <p:nvPr/>
        </p:nvCxnSpPr>
        <p:spPr>
          <a:xfrm>
            <a:off x="5221983" y="1000499"/>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94E057DF-CABF-AFBF-8067-889FE5F5B069}"/>
              </a:ext>
            </a:extLst>
          </p:cNvPr>
          <p:cNvCxnSpPr/>
          <p:nvPr/>
        </p:nvCxnSpPr>
        <p:spPr>
          <a:xfrm>
            <a:off x="6184225" y="1055281"/>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2DB77BB7-A86A-A3F9-98D3-A6DC3C03AD6E}"/>
              </a:ext>
            </a:extLst>
          </p:cNvPr>
          <p:cNvCxnSpPr/>
          <p:nvPr/>
        </p:nvCxnSpPr>
        <p:spPr>
          <a:xfrm>
            <a:off x="7212195" y="1016906"/>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74C9E7A-9EEA-9ECB-9320-AFEA9E9A6EAD}"/>
              </a:ext>
            </a:extLst>
          </p:cNvPr>
          <p:cNvCxnSpPr/>
          <p:nvPr/>
        </p:nvCxnSpPr>
        <p:spPr>
          <a:xfrm>
            <a:off x="8128368" y="1043951"/>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8C5408C-18C5-9E0B-3592-57E7FC53699D}"/>
              </a:ext>
            </a:extLst>
          </p:cNvPr>
          <p:cNvCxnSpPr/>
          <p:nvPr/>
        </p:nvCxnSpPr>
        <p:spPr>
          <a:xfrm>
            <a:off x="9091497" y="1007117"/>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E48251D2-3C55-7FE3-12D3-1FF307C6E7EF}"/>
              </a:ext>
            </a:extLst>
          </p:cNvPr>
          <p:cNvCxnSpPr/>
          <p:nvPr/>
        </p:nvCxnSpPr>
        <p:spPr>
          <a:xfrm>
            <a:off x="10042473" y="1023332"/>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B39E318-6E03-C36E-42FA-F5E09307BB59}"/>
              </a:ext>
            </a:extLst>
          </p:cNvPr>
          <p:cNvCxnSpPr/>
          <p:nvPr/>
        </p:nvCxnSpPr>
        <p:spPr>
          <a:xfrm>
            <a:off x="11052768" y="1023332"/>
            <a:ext cx="0" cy="5714484"/>
          </a:xfrm>
          <a:prstGeom prst="line">
            <a:avLst/>
          </a:prstGeom>
          <a:ln w="19050">
            <a:solidFill>
              <a:schemeClr val="bg2">
                <a:lumMod val="9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79CF7375-BEF7-F171-7E64-5B1B0476BC51}"/>
              </a:ext>
            </a:extLst>
          </p:cNvPr>
          <p:cNvSpPr txBox="1"/>
          <p:nvPr/>
        </p:nvSpPr>
        <p:spPr>
          <a:xfrm>
            <a:off x="388918" y="140493"/>
            <a:ext cx="622808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ISRM Application Review Transition Timeline FY25 </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Box 5">
            <a:extLst>
              <a:ext uri="{FF2B5EF4-FFF2-40B4-BE49-F238E27FC236}">
                <a16:creationId xmlns:a16="http://schemas.microsoft.com/office/drawing/2014/main" id="{E8D30A7B-43BE-7097-27A7-9DE91653A6E6}"/>
              </a:ext>
            </a:extLst>
          </p:cNvPr>
          <p:cNvSpPr txBox="1"/>
          <p:nvPr/>
        </p:nvSpPr>
        <p:spPr>
          <a:xfrm>
            <a:off x="365967" y="2507521"/>
            <a:ext cx="989341"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A1/A2 Pre-Apps Deadline</a:t>
            </a:r>
          </a:p>
        </p:txBody>
      </p:sp>
      <p:sp>
        <p:nvSpPr>
          <p:cNvPr id="23" name="TextBox 6">
            <a:extLst>
              <a:ext uri="{FF2B5EF4-FFF2-40B4-BE49-F238E27FC236}">
                <a16:creationId xmlns:a16="http://schemas.microsoft.com/office/drawing/2014/main" id="{D82E53AB-598D-6FF5-7313-95ED18F108E0}"/>
              </a:ext>
            </a:extLst>
          </p:cNvPr>
          <p:cNvSpPr txBox="1"/>
          <p:nvPr/>
        </p:nvSpPr>
        <p:spPr>
          <a:xfrm>
            <a:off x="2212817" y="2628545"/>
            <a:ext cx="1144504" cy="60016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 (BBMH)</a:t>
            </a:r>
          </a:p>
        </p:txBody>
      </p:sp>
      <p:sp>
        <p:nvSpPr>
          <p:cNvPr id="25" name="TextBox 8">
            <a:extLst>
              <a:ext uri="{FF2B5EF4-FFF2-40B4-BE49-F238E27FC236}">
                <a16:creationId xmlns:a16="http://schemas.microsoft.com/office/drawing/2014/main" id="{89D47202-C2D3-AE4F-6050-34710D0362A4}"/>
              </a:ext>
            </a:extLst>
          </p:cNvPr>
          <p:cNvSpPr txBox="1"/>
          <p:nvPr/>
        </p:nvSpPr>
        <p:spPr>
          <a:xfrm>
            <a:off x="8151308" y="2604799"/>
            <a:ext cx="902939" cy="769441"/>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Full App Submission </a:t>
            </a:r>
            <a:r>
              <a:rPr kumimoji="0" lang="en-US" sz="1100" b="1"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1" i="0" u="none" strike="noStrike" kern="1200" cap="none" spc="0" normalizeH="0" baseline="0" noProof="0">
                <a:ln>
                  <a:noFill/>
                </a:ln>
                <a:solidFill>
                  <a:srgbClr val="FF0000"/>
                </a:solidFill>
                <a:effectLst/>
                <a:uLnTx/>
                <a:uFillTx/>
                <a:latin typeface="Calibri" panose="020F0502020204030204"/>
                <a:ea typeface="+mn-ea"/>
                <a:cs typeface="+mn-cs"/>
              </a:rPr>
              <a:t> (BBMH)</a:t>
            </a:r>
          </a:p>
        </p:txBody>
      </p:sp>
      <p:sp>
        <p:nvSpPr>
          <p:cNvPr id="26" name="TextBox 7">
            <a:extLst>
              <a:ext uri="{FF2B5EF4-FFF2-40B4-BE49-F238E27FC236}">
                <a16:creationId xmlns:a16="http://schemas.microsoft.com/office/drawing/2014/main" id="{5126B0EC-8981-3611-8DDC-4EA3DA826C8F}"/>
              </a:ext>
            </a:extLst>
          </p:cNvPr>
          <p:cNvSpPr txBox="1"/>
          <p:nvPr/>
        </p:nvSpPr>
        <p:spPr>
          <a:xfrm>
            <a:off x="5250875" y="2600947"/>
            <a:ext cx="913733"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SRGs meet (BBMH)</a:t>
            </a:r>
          </a:p>
          <a:p>
            <a:pPr algn="ct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a:p>
            <a:pPr algn="ct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Post/Update NOSIs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endParaRPr>
          </a:p>
        </p:txBody>
      </p:sp>
      <p:sp>
        <p:nvSpPr>
          <p:cNvPr id="27" name="TextBox 7">
            <a:extLst>
              <a:ext uri="{FF2B5EF4-FFF2-40B4-BE49-F238E27FC236}">
                <a16:creationId xmlns:a16="http://schemas.microsoft.com/office/drawing/2014/main" id="{B23B8F8F-C358-C144-1B68-36397222C2E7}"/>
              </a:ext>
            </a:extLst>
          </p:cNvPr>
          <p:cNvSpPr txBox="1"/>
          <p:nvPr/>
        </p:nvSpPr>
        <p:spPr>
          <a:xfrm>
            <a:off x="6113040" y="2604799"/>
            <a:ext cx="1174718"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Funding ranking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(BBMH)</a:t>
            </a:r>
          </a:p>
        </p:txBody>
      </p:sp>
      <p:sp>
        <p:nvSpPr>
          <p:cNvPr id="28" name="TextBox 7">
            <a:extLst>
              <a:ext uri="{FF2B5EF4-FFF2-40B4-BE49-F238E27FC236}">
                <a16:creationId xmlns:a16="http://schemas.microsoft.com/office/drawing/2014/main" id="{6ED0F0BF-6AD0-29ED-85FE-66739DAB362E}"/>
              </a:ext>
            </a:extLst>
          </p:cNvPr>
          <p:cNvSpPr txBox="1"/>
          <p:nvPr/>
        </p:nvSpPr>
        <p:spPr>
          <a:xfrm>
            <a:off x="10127730" y="2570583"/>
            <a:ext cx="759197"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(BBMH);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LOIs, Wavers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(BBMH)</a:t>
            </a:r>
          </a:p>
        </p:txBody>
      </p:sp>
      <p:sp>
        <p:nvSpPr>
          <p:cNvPr id="29" name="TextBox 7">
            <a:extLst>
              <a:ext uri="{FF2B5EF4-FFF2-40B4-BE49-F238E27FC236}">
                <a16:creationId xmlns:a16="http://schemas.microsoft.com/office/drawing/2014/main" id="{C9D67350-0FAC-E01D-378D-0FE592E7896A}"/>
              </a:ext>
            </a:extLst>
          </p:cNvPr>
          <p:cNvSpPr txBox="1"/>
          <p:nvPr/>
        </p:nvSpPr>
        <p:spPr>
          <a:xfrm>
            <a:off x="11114382" y="2633172"/>
            <a:ext cx="759197"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(BBMH)</a:t>
            </a:r>
          </a:p>
        </p:txBody>
      </p:sp>
      <p:graphicFrame>
        <p:nvGraphicFramePr>
          <p:cNvPr id="2" name="Table 1">
            <a:extLst>
              <a:ext uri="{FF2B5EF4-FFF2-40B4-BE49-F238E27FC236}">
                <a16:creationId xmlns:a16="http://schemas.microsoft.com/office/drawing/2014/main" id="{B62329E0-3E6F-52EE-80ED-E35AC541D904}"/>
              </a:ext>
            </a:extLst>
          </p:cNvPr>
          <p:cNvGraphicFramePr>
            <a:graphicFrameLocks noGrp="1"/>
          </p:cNvGraphicFramePr>
          <p:nvPr/>
        </p:nvGraphicFramePr>
        <p:xfrm>
          <a:off x="9054247" y="134034"/>
          <a:ext cx="2941693" cy="365760"/>
        </p:xfrm>
        <a:graphic>
          <a:graphicData uri="http://schemas.openxmlformats.org/drawingml/2006/table">
            <a:tbl>
              <a:tblPr firstRow="1" bandRow="1">
                <a:tableStyleId>{5940675A-B579-460E-94D1-54222C63F5DA}</a:tableStyleId>
              </a:tblPr>
              <a:tblGrid>
                <a:gridCol w="509821">
                  <a:extLst>
                    <a:ext uri="{9D8B030D-6E8A-4147-A177-3AD203B41FA5}">
                      <a16:colId xmlns:a16="http://schemas.microsoft.com/office/drawing/2014/main" val="137942564"/>
                    </a:ext>
                  </a:extLst>
                </a:gridCol>
                <a:gridCol w="2431872">
                  <a:extLst>
                    <a:ext uri="{9D8B030D-6E8A-4147-A177-3AD203B41FA5}">
                      <a16:colId xmlns:a16="http://schemas.microsoft.com/office/drawing/2014/main" val="1833421283"/>
                    </a:ext>
                  </a:extLst>
                </a:gridCol>
              </a:tblGrid>
              <a:tr h="0">
                <a:tc>
                  <a:txBody>
                    <a:bodyPr/>
                    <a:lstStyle/>
                    <a:p>
                      <a:r>
                        <a:rPr lang="en-US" sz="1100" b="1">
                          <a:solidFill>
                            <a:schemeClr val="bg1"/>
                          </a:solidFill>
                        </a:rPr>
                        <a:t>Key</a:t>
                      </a:r>
                    </a:p>
                  </a:txBody>
                  <a:tcPr anchor="ctr">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a:t>Black Text = Current Services Based Review</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a:solidFill>
                            <a:srgbClr val="FF0000"/>
                          </a:solidFill>
                        </a:rPr>
                        <a:t>Red Text = New Portfolio Based Review</a:t>
                      </a:r>
                    </a:p>
                  </a:txBody>
                  <a:tcPr/>
                </a:tc>
                <a:extLst>
                  <a:ext uri="{0D108BD9-81ED-4DB2-BD59-A6C34878D82A}">
                    <a16:rowId xmlns:a16="http://schemas.microsoft.com/office/drawing/2014/main" val="4215697517"/>
                  </a:ext>
                </a:extLst>
              </a:tr>
            </a:tbl>
          </a:graphicData>
        </a:graphic>
      </p:graphicFrame>
      <p:sp>
        <p:nvSpPr>
          <p:cNvPr id="3" name="TextBox 5">
            <a:extLst>
              <a:ext uri="{FF2B5EF4-FFF2-40B4-BE49-F238E27FC236}">
                <a16:creationId xmlns:a16="http://schemas.microsoft.com/office/drawing/2014/main" id="{E1C169FF-6395-B4DC-8824-FDA8AA5DA1B4}"/>
              </a:ext>
            </a:extLst>
          </p:cNvPr>
          <p:cNvSpPr txBox="1"/>
          <p:nvPr/>
        </p:nvSpPr>
        <p:spPr>
          <a:xfrm>
            <a:off x="429717" y="1771577"/>
            <a:ext cx="865296"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(BL)</a:t>
            </a:r>
          </a:p>
        </p:txBody>
      </p:sp>
      <p:sp>
        <p:nvSpPr>
          <p:cNvPr id="20" name="TextBox 5">
            <a:extLst>
              <a:ext uri="{FF2B5EF4-FFF2-40B4-BE49-F238E27FC236}">
                <a16:creationId xmlns:a16="http://schemas.microsoft.com/office/drawing/2014/main" id="{84995896-0CBB-0316-0074-4551AB71D82F}"/>
              </a:ext>
            </a:extLst>
          </p:cNvPr>
          <p:cNvSpPr txBox="1"/>
          <p:nvPr/>
        </p:nvSpPr>
        <p:spPr>
          <a:xfrm>
            <a:off x="469175" y="3224117"/>
            <a:ext cx="782802" cy="430887"/>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Margin </a:t>
            </a:r>
            <a:r>
              <a:rPr kumimoji="0" lang="en-US" sz="1100" b="0" i="0" u="none" strike="noStrike" kern="1200" cap="none" spc="0" normalizeH="0" baseline="0" noProof="0" err="1">
                <a:ln>
                  <a:noFill/>
                </a:ln>
                <a:solidFill>
                  <a:prstClr val="black"/>
                </a:solidFill>
                <a:effectLst/>
                <a:uLnTx/>
                <a:uFillTx/>
                <a:latin typeface="Calibri" panose="020F0502020204030204"/>
                <a:ea typeface="+mn-ea"/>
                <a:cs typeface="+mn-cs"/>
              </a:rPr>
              <a:t>mtng</a:t>
            </a:r>
            <a:r>
              <a:rPr kumimoji="0" lang="en-US" sz="1100" b="0" i="0" u="none" strike="noStrike" kern="1200" cap="none" spc="0" normalizeH="0" baseline="0" noProof="0">
                <a:ln>
                  <a:noFill/>
                </a:ln>
                <a:solidFill>
                  <a:prstClr val="black"/>
                </a:solidFill>
                <a:effectLst/>
                <a:uLnTx/>
                <a:uFillTx/>
                <a:latin typeface="Calibri" panose="020F0502020204030204"/>
                <a:ea typeface="+mn-ea"/>
                <a:cs typeface="+mn-cs"/>
              </a:rPr>
              <a:t> (CS)</a:t>
            </a:r>
          </a:p>
        </p:txBody>
      </p:sp>
      <p:sp>
        <p:nvSpPr>
          <p:cNvPr id="34" name="TextBox 7">
            <a:extLst>
              <a:ext uri="{FF2B5EF4-FFF2-40B4-BE49-F238E27FC236}">
                <a16:creationId xmlns:a16="http://schemas.microsoft.com/office/drawing/2014/main" id="{C54F5F89-E7D8-F51A-0E0C-ACA6073EE827}"/>
              </a:ext>
            </a:extLst>
          </p:cNvPr>
          <p:cNvSpPr txBox="1"/>
          <p:nvPr/>
        </p:nvSpPr>
        <p:spPr>
          <a:xfrm>
            <a:off x="4354322" y="1000499"/>
            <a:ext cx="759197"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(MHA);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LOIs, Wavers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(MHA)</a:t>
            </a:r>
          </a:p>
        </p:txBody>
      </p:sp>
      <p:sp>
        <p:nvSpPr>
          <p:cNvPr id="35" name="TextBox 7">
            <a:extLst>
              <a:ext uri="{FF2B5EF4-FFF2-40B4-BE49-F238E27FC236}">
                <a16:creationId xmlns:a16="http://schemas.microsoft.com/office/drawing/2014/main" id="{625EC278-5029-2420-7321-2119DEFB2548}"/>
              </a:ext>
            </a:extLst>
          </p:cNvPr>
          <p:cNvSpPr txBox="1"/>
          <p:nvPr/>
        </p:nvSpPr>
        <p:spPr>
          <a:xfrm>
            <a:off x="4345324" y="2570583"/>
            <a:ext cx="759197"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Review (BBMH);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LOIs, Wavers </a:t>
            </a:r>
            <a:r>
              <a:rPr kumimoji="0" lang="en-US" sz="1100" b="0" i="0" u="none" strike="noStrike" kern="1200" cap="none" spc="0" normalizeH="0" baseline="0" noProof="0" err="1">
                <a:ln>
                  <a:noFill/>
                </a:ln>
                <a:solidFill>
                  <a:srgbClr val="FF0000"/>
                </a:solidFill>
                <a:effectLst/>
                <a:uLnTx/>
                <a:uFillTx/>
                <a:latin typeface="Calibri" panose="020F0502020204030204"/>
                <a:ea typeface="+mn-ea"/>
                <a:cs typeface="+mn-cs"/>
              </a:rPr>
              <a:t>ddln</a:t>
            </a: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 (BBMH)</a:t>
            </a:r>
          </a:p>
        </p:txBody>
      </p:sp>
      <p:sp>
        <p:nvSpPr>
          <p:cNvPr id="37" name="TextBox 6">
            <a:extLst>
              <a:ext uri="{FF2B5EF4-FFF2-40B4-BE49-F238E27FC236}">
                <a16:creationId xmlns:a16="http://schemas.microsoft.com/office/drawing/2014/main" id="{4E6E10D2-06F9-E084-F350-69A4F924C4CC}"/>
              </a:ext>
            </a:extLst>
          </p:cNvPr>
          <p:cNvSpPr txBox="1"/>
          <p:nvPr/>
        </p:nvSpPr>
        <p:spPr>
          <a:xfrm>
            <a:off x="2305572" y="5466043"/>
            <a:ext cx="936604" cy="1107996"/>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Post/Update NOSIs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100">
              <a:solidFill>
                <a:srgbClr val="FF0000"/>
              </a:solidFill>
              <a:latin typeface="Calibri" panose="020F050202020403020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0000"/>
                </a:solidFill>
                <a:effectLst/>
                <a:uLnTx/>
                <a:uFillTx/>
                <a:latin typeface="Calibri" panose="020F0502020204030204"/>
                <a:ea typeface="+mn-ea"/>
                <a:cs typeface="+mn-cs"/>
              </a:rPr>
              <a:t>Funding Ranking Meeting (RS)</a:t>
            </a:r>
          </a:p>
        </p:txBody>
      </p:sp>
    </p:spTree>
    <p:extLst>
      <p:ext uri="{BB962C8B-B14F-4D97-AF65-F5344CB8AC3E}">
        <p14:creationId xmlns:p14="http://schemas.microsoft.com/office/powerpoint/2010/main" val="238152305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6cd991bf-f022-4378-96e7-2c338aeb3f5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VA Template">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99"/>
        </a:solidFill>
        <a:ln w="9525" cap="flat" cmpd="sng" algn="ctr">
          <a:solidFill>
            <a:srgbClr val="858585">
              <a:lumMod val="100000"/>
            </a:srgbClr>
          </a:solidFill>
          <a:prstDash val="solid"/>
          <a:miter lim="800000"/>
          <a:headEnd type="none" w="med" len="med"/>
          <a:tailEnd type="none" w="med" len="med"/>
        </a:ln>
      </a:spPr>
      <a:bodyPr rtlCol="0" anchor="t"/>
      <a:lstStyle>
        <a:defPPr marL="0" marR="0" indent="0" algn="l" defTabSz="914400" rtl="0" eaLnBrk="1" fontAlgn="auto" latinLnBrk="0" hangingPunct="1">
          <a:lnSpc>
            <a:spcPct val="100000"/>
          </a:lnSpc>
          <a:spcBef>
            <a:spcPts val="0"/>
          </a:spcBef>
          <a:spcAft>
            <a:spcPts val="0"/>
          </a:spcAft>
          <a:buClrTx/>
          <a:buSzTx/>
          <a:buFontTx/>
          <a:buNone/>
          <a:tabLst/>
          <a:defRPr kumimoji="0" sz="1200" b="1" i="0" u="none" strike="noStrike" kern="1200" cap="none" spc="0" normalizeH="0" baseline="0" noProof="0" dirty="0">
            <a:ln>
              <a:noFill/>
            </a:ln>
            <a:solidFill>
              <a:srgbClr val="000000"/>
            </a:solidFill>
            <a:effectLst/>
            <a:uLnTx/>
            <a:uFillTx/>
            <a:latin typeface="Calibri" panose="020F0502020204030204"/>
            <a:ea typeface="+mn-ea"/>
            <a:cs typeface="+mn-cs"/>
          </a:defRPr>
        </a:defPPr>
      </a:lstStyle>
      <a:style>
        <a:lnRef idx="2">
          <a:schemeClr val="accent1">
            <a:shade val="50000"/>
          </a:schemeClr>
        </a:lnRef>
        <a:fillRef idx="1">
          <a:schemeClr val="accent1"/>
        </a:fillRef>
        <a:effectRef idx="0">
          <a:schemeClr val="accent1"/>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5_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6fd99b86-a2da-47ef-ab26-55e7009dfe6e" xsi:nil="true"/>
    <lcf76f155ced4ddcb4097134ff3c332f xmlns="46ade7e5-a61b-41ef-8b65-1672892065de">
      <Terms xmlns="http://schemas.microsoft.com/office/infopath/2007/PartnerControls"/>
    </lcf76f155ced4ddcb4097134ff3c332f>
    <DocumentType xmlns="46ade7e5-a61b-41ef-8b65-1672892065de">Presentations and Other Documents</DocumentType>
    <Topic xmlns="46ade7e5-a61b-41ef-8b65-1672892065de">Enterprise Transformation</Topic>
    <PageReference xmlns="46ade7e5-a61b-41ef-8b65-1672892065d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35F822E-553C-4F33-9735-509FDAB12DF0}">
  <ds:schemaRefs>
    <ds:schemaRef ds:uri="http://schemas.microsoft.com/sharepoint/v3/contenttype/forms"/>
  </ds:schemaRefs>
</ds:datastoreItem>
</file>

<file path=customXml/itemProps2.xml><?xml version="1.0" encoding="utf-8"?>
<ds:datastoreItem xmlns:ds="http://schemas.openxmlformats.org/officeDocument/2006/customXml" ds:itemID="{9F734BBA-1397-4795-9DBE-E6FDD1241024}">
  <ds:schemaRefs>
    <ds:schemaRef ds:uri="50f0e209-8335-4762-bc61-35d878d3e9d9"/>
    <ds:schemaRef ds:uri="6aa70152-e7f0-4492-8b74-233e905943d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0C64F2D7-F8F9-4CF3-BF95-A4749151F320}"/>
</file>

<file path=docProps/app.xml><?xml version="1.0" encoding="utf-8"?>
<Properties xmlns="http://schemas.openxmlformats.org/officeDocument/2006/extended-properties" xmlns:vt="http://schemas.openxmlformats.org/officeDocument/2006/docPropsVTypes">
  <Template>office theme</Template>
  <TotalTime>8008</TotalTime>
  <Words>5435</Words>
  <Application>Microsoft Office PowerPoint</Application>
  <PresentationFormat>Widescreen</PresentationFormat>
  <Paragraphs>716</Paragraphs>
  <Slides>40</Slides>
  <Notes>24</Notes>
  <HiddenSlides>0</HiddenSlides>
  <MMClips>0</MMClips>
  <ScaleCrop>false</ScaleCrop>
  <HeadingPairs>
    <vt:vector size="8" baseType="variant">
      <vt:variant>
        <vt:lpstr>Fonts Used</vt:lpstr>
      </vt:variant>
      <vt:variant>
        <vt:i4>6</vt:i4>
      </vt:variant>
      <vt:variant>
        <vt:lpstr>Theme</vt:lpstr>
      </vt:variant>
      <vt:variant>
        <vt:i4>7</vt:i4>
      </vt:variant>
      <vt:variant>
        <vt:lpstr>Embedded OLE Servers</vt:lpstr>
      </vt:variant>
      <vt:variant>
        <vt:i4>1</vt:i4>
      </vt:variant>
      <vt:variant>
        <vt:lpstr>Slide Titles</vt:lpstr>
      </vt:variant>
      <vt:variant>
        <vt:i4>40</vt:i4>
      </vt:variant>
    </vt:vector>
  </HeadingPairs>
  <TitlesOfParts>
    <vt:vector size="54" baseType="lpstr">
      <vt:lpstr>Arial</vt:lpstr>
      <vt:lpstr>Calibri</vt:lpstr>
      <vt:lpstr>Calibri Light</vt:lpstr>
      <vt:lpstr>Georgia</vt:lpstr>
      <vt:lpstr>Symbol</vt:lpstr>
      <vt:lpstr>Wingdings</vt:lpstr>
      <vt:lpstr>VA Template</vt:lpstr>
      <vt:lpstr>3_VA Template</vt:lpstr>
      <vt:lpstr>2_VA Template</vt:lpstr>
      <vt:lpstr>4_VA Template</vt:lpstr>
      <vt:lpstr>Office Theme</vt:lpstr>
      <vt:lpstr>1_VA Template</vt:lpstr>
      <vt:lpstr>5_VA Template</vt:lpstr>
      <vt:lpstr>think-cell Slide</vt:lpstr>
      <vt:lpstr>Follow up on Changes to the VA Intramural Research Award Program</vt:lpstr>
      <vt:lpstr>Agenda</vt:lpstr>
      <vt:lpstr>PowerPoint Presentation</vt:lpstr>
      <vt:lpstr>ORD is celebrating its 100-year anniversary! </vt:lpstr>
      <vt:lpstr>PowerPoint Presentation</vt:lpstr>
      <vt:lpstr>PowerPoint Presentation</vt:lpstr>
      <vt:lpstr>PowerPoint Presentation</vt:lpstr>
      <vt:lpstr>PowerPoint Presentation</vt:lpstr>
      <vt:lpstr>How the service-based structure addresses Veteran needs</vt:lpstr>
      <vt:lpstr>Where we are going</vt:lpstr>
      <vt:lpstr>Transitioning from Services to Portfolios provides several key benefits </vt:lpstr>
      <vt:lpstr>PowerPoint Presentation</vt:lpstr>
      <vt:lpstr>Shared Governance Structure</vt:lpstr>
      <vt:lpstr>ISRM Leadership Council</vt:lpstr>
      <vt:lpstr>Key Points</vt:lpstr>
      <vt:lpstr>PowerPoint Presentation</vt:lpstr>
      <vt:lpstr>Issues with the Current Application process</vt:lpstr>
      <vt:lpstr>Components to the Revised Application Review Process</vt:lpstr>
      <vt:lpstr>New Cross-Portfolio RFAs Posted 9/3</vt:lpstr>
      <vt:lpstr>Portfolio Notices of Special Interest Posted 9/3</vt:lpstr>
      <vt:lpstr>ISRM Non-Clinician Investigator Eligibility</vt:lpstr>
      <vt:lpstr>New Review Timeline</vt:lpstr>
      <vt:lpstr>ISRM Pre-application RFA Timing</vt:lpstr>
      <vt:lpstr>RFA for Merit Award including an interventional clinical trial</vt:lpstr>
      <vt:lpstr>RFA for Merit Award not including an interventional clinical trial</vt:lpstr>
      <vt:lpstr>The revised research application process</vt:lpstr>
      <vt:lpstr>PowerPoint Presentation</vt:lpstr>
      <vt:lpstr>Summary of New Process for Investigators</vt:lpstr>
      <vt:lpstr>Takeaways on Application Review Process Revisions for Investigators</vt:lpstr>
      <vt:lpstr>Takeaways on Application Review Process Revisions for Investigators</vt:lpstr>
      <vt:lpstr>PowerPoint Presentation</vt:lpstr>
      <vt:lpstr>Portfolio Funding Process</vt:lpstr>
      <vt:lpstr>Project Funding Process</vt:lpstr>
      <vt:lpstr>PowerPoint Presentation</vt:lpstr>
      <vt:lpstr>Key Components to the Revised Application Review Transition Timeline</vt:lpstr>
      <vt:lpstr>Conclusion</vt:lpstr>
      <vt:lpstr>Q&amp;A</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 Presentation--VA Intramural Research Award Program</dc:title>
  <dc:creator>Blake Adams</dc:creator>
  <cp:lastModifiedBy>Caroline Mwonga</cp:lastModifiedBy>
  <cp:revision>9</cp:revision>
  <dcterms:created xsi:type="dcterms:W3CDTF">2024-02-15T20:51:28Z</dcterms:created>
  <dcterms:modified xsi:type="dcterms:W3CDTF">2024-09-11T20:28:18Z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0x010100F670CDE65625E449B41BBE9E2A9D6E5A</vt:lpwstr>
  </property>
  <property fmtid="{D5CDD505-2E9C-101B-9397-08002B2CF9AE}" pid="3" name="MSIP_Label_7f97ea9d-daff-4c91-a4f1-55d953dbb0fc_Enabled">
    <vt:lpwstr>true</vt:lpwstr>
  </property>
  <property fmtid="{D5CDD505-2E9C-101B-9397-08002B2CF9AE}" pid="4" name="MSIP_Label_7f97ea9d-daff-4c91-a4f1-55d953dbb0fc_SetDate">
    <vt:lpwstr>2024-02-15T20:52:33Z</vt:lpwstr>
  </property>
  <property fmtid="{D5CDD505-2E9C-101B-9397-08002B2CF9AE}" pid="5" name="MSIP_Label_7f97ea9d-daff-4c91-a4f1-55d953dbb0fc_Method">
    <vt:lpwstr>Standard</vt:lpwstr>
  </property>
  <property fmtid="{D5CDD505-2E9C-101B-9397-08002B2CF9AE}" pid="6" name="MSIP_Label_7f97ea9d-daff-4c91-a4f1-55d953dbb0fc_Name">
    <vt:lpwstr>Public</vt:lpwstr>
  </property>
  <property fmtid="{D5CDD505-2E9C-101B-9397-08002B2CF9AE}" pid="7" name="MSIP_Label_7f97ea9d-daff-4c91-a4f1-55d953dbb0fc_SiteId">
    <vt:lpwstr>58196b33-812d-4eb0-ad27-fc2dd9de53eb</vt:lpwstr>
  </property>
  <property fmtid="{D5CDD505-2E9C-101B-9397-08002B2CF9AE}" pid="8" name="MSIP_Label_7f97ea9d-daff-4c91-a4f1-55d953dbb0fc_ActionId">
    <vt:lpwstr>1310a3d1-7dfd-49d7-965f-44454bc02e97</vt:lpwstr>
  </property>
  <property fmtid="{D5CDD505-2E9C-101B-9397-08002B2CF9AE}" pid="9" name="MSIP_Label_7f97ea9d-daff-4c91-a4f1-55d953dbb0fc_ContentBits">
    <vt:lpwstr>0</vt:lpwstr>
  </property>
  <property fmtid="{D5CDD505-2E9C-101B-9397-08002B2CF9AE}" pid="10" name="MediaServiceImageTags">
    <vt:lpwstr/>
  </property>
  <property fmtid="{D5CDD505-2E9C-101B-9397-08002B2CF9AE}" pid="11" name="ComplianceAssetId">
    <vt:lpwstr/>
  </property>
  <property fmtid="{D5CDD505-2E9C-101B-9397-08002B2CF9AE}" pid="12" name="_ExtendedDescription">
    <vt:lpwstr/>
  </property>
  <property fmtid="{D5CDD505-2E9C-101B-9397-08002B2CF9AE}" pid="13" name="TriggerFlowInfo">
    <vt:lpwstr/>
  </property>
</Properties>
</file>