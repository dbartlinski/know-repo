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8" r:id="rId5"/>
    <p:sldMasterId id="2147483671" r:id="rId6"/>
    <p:sldMasterId id="2147483674" r:id="rId7"/>
  </p:sldMasterIdLst>
  <p:notesMasterIdLst>
    <p:notesMasterId r:id="rId14"/>
  </p:notesMasterIdLst>
  <p:sldIdLst>
    <p:sldId id="992" r:id="rId8"/>
    <p:sldId id="2147482510" r:id="rId9"/>
    <p:sldId id="1012" r:id="rId10"/>
    <p:sldId id="2147482512" r:id="rId11"/>
    <p:sldId id="2147482511" r:id="rId12"/>
    <p:sldId id="101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2E850E-48E4-093B-2BF7-EC7A09D4FF2F}" name="Johnson, Angela J. (titan Alpha Llc)" initials="JAJ(AL" userId="S::Angela.Johnson908@va.gov::16c244ed-6f79-4920-85a5-9174b198539b" providerId="AD"/>
  <p188:author id="{2960A333-B8E9-96A2-20B0-01E6707ED5B9}" name="Wiechers, Ilse R. (she/her/hers)" initials="W(" userId="S::ilse.wiechers@va.gov::f8aff30e-04e6-4941-bcf4-6f1736383c11" providerId="AD"/>
  <p188:author id="{66EC395F-2F34-6066-C7E3-BAC20BAC8DD2}" name="Tenhula, Wendy" initials="TW" userId="S::wendy.tenhula@va.gov::2516237c-d134-48ae-980f-0c75f510b772" providerId="AD"/>
  <p188:author id="{9F5682BC-4FA1-BEE2-ED69-A406058017D0}" name="Young, Geri E. (VACO)" initials="Y(" userId="S::geri.young@va.gov::d7a5eefc-1666-4c1a-bf85-6735b7b4d222" providerId="AD"/>
  <p188:author id="{CCF883C3-1622-BFC9-6414-947DBCF1E45A}" name="Rodriguez, Cristina" initials="RC" userId="S::Cristina.Rodriguez2@va.gov::7c1140cb-abfd-4f14-99ba-b4c58be7a52a" providerId="AD"/>
  <p188:author id="{B7D95FD6-B3B1-FCCB-5F17-8124D586FF66}" name="Wiechers, Ilse R. (she/her/hers)" initials="WIR(" userId="S::Ilse.Wiechers@va.gov::f8aff30e-04e6-4941-bcf4-6f1736383c11" providerId="AD"/>
  <p188:author id="{27B277D6-FFBB-0D9B-C5CA-F93AF5BC286A}" name="Young, Geri E. (VACO)" initials="YGE(" userId="S::Geri.Young@va.gov::d7a5eefc-1666-4c1a-bf85-6735b7b4d222" providerId="AD"/>
  <p188:author id="{5BC52EE1-CF85-12FB-E501-8D330831A9DA}" name="Rodriguez, Cristina" initials="RC" userId="S::cristina.rodriguez2@va.gov::7c1140cb-abfd-4f14-99ba-b4c58be7a52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0E45C7-B1B8-42BE-892B-A278D6492BC0}" v="78" dt="2024-07-10T17:02:25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95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10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941C3-EB25-42B4-A927-CBCBEF624D70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37499-FD43-4582-914B-78B9909C4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1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F5B39-4F48-40B6-B479-1B1D0F6EA3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00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b="1" kern="1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Studies Under Review / In Planning are not public domain; however are as follows: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200" kern="1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MDMA: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6 studies at 5 sites  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Psilocybin: 2 studies at 3 sites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37499-FD43-4582-914B-78B9909C43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9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52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9250441" y="64002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83F1FA-211D-3044-9E35-958DFBC26156}" type="slidenum">
              <a:rPr lang="en-US" sz="1200" smtClean="0">
                <a:solidFill>
                  <a:prstClr val="white"/>
                </a:solidFill>
              </a:rPr>
              <a:pPr/>
              <a:t>‹#›</a:t>
            </a:fld>
            <a:endParaRPr lang="en-US" sz="12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44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61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00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7" y="273142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857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6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59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94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3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445"/>
            <a:ext cx="28448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445"/>
            <a:ext cx="38608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pPr defTabSz="457200"/>
            <a:r>
              <a:rPr lang="en-US">
                <a:solidFill>
                  <a:srgbClr val="000000"/>
                </a:solidFill>
              </a:rPr>
              <a:t>Working Draft, Pre-Decisional, Deliberative Documet - Internal VA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30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73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732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445"/>
            <a:ext cx="28448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445"/>
            <a:ext cx="38608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pPr defTabSz="457200"/>
            <a:r>
              <a:rPr lang="en-US">
                <a:solidFill>
                  <a:srgbClr val="000000"/>
                </a:solidFill>
              </a:rPr>
              <a:t>Working Draft, Pre-Decisional, Deliberative Documet - Internal VA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67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18CBF1-9F7E-F8D6-87E0-4BCF2684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2AC68-131E-12D5-4B54-FC3F2D59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70B62-CB61-6655-B7C7-A6E91AD8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3FED-D44E-4119-B1B2-B4C16AA7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3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388777"/>
              </p:ext>
            </p:extLst>
          </p:nvPr>
        </p:nvGraphicFramePr>
        <p:xfrm>
          <a:off x="2119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0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34670" y="2591311"/>
            <a:ext cx="7928345" cy="190525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95115" y="4803731"/>
            <a:ext cx="7968015" cy="450535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Date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9250441" y="64002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83F1FA-211D-3044-9E35-958DFBC26156}" type="slidenum">
              <a:rPr lang="en-US" sz="1200" smtClean="0">
                <a:solidFill>
                  <a:prstClr val="white"/>
                </a:solidFill>
              </a:rPr>
              <a:pPr/>
              <a:t>‹#›</a:t>
            </a:fld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376955"/>
            <a:ext cx="12192000" cy="148113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2" name="Picture 11" descr="3. VA-PRIMARY-HORIZONTAL-WHITE-VECTOR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687904"/>
            <a:ext cx="5181600" cy="86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6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1118021"/>
              </p:ext>
            </p:extLst>
          </p:nvPr>
        </p:nvGraphicFramePr>
        <p:xfrm>
          <a:off x="2119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0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1"/>
            <a:ext cx="10972800" cy="528796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95"/>
            <a:ext cx="12192000" cy="6857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31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0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34670" y="2591311"/>
            <a:ext cx="7928345" cy="190525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95115" y="4803731"/>
            <a:ext cx="7968015" cy="450535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Date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9250441" y="64002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83F1FA-211D-3044-9E35-958DFBC26156}" type="slidenum">
              <a:rPr lang="en-US" sz="1200" smtClean="0">
                <a:solidFill>
                  <a:prstClr val="white"/>
                </a:solidFill>
              </a:rPr>
              <a:pPr/>
              <a:t>‹#›</a:t>
            </a:fld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376955"/>
            <a:ext cx="12192000" cy="148113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2" name="Picture 11" descr="3. VA-PRIMARY-HORIZONTAL-WHITE-VECTOR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687904"/>
            <a:ext cx="5181600" cy="86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68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0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1"/>
            <a:ext cx="10972800" cy="528796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95"/>
            <a:ext cx="12192000" cy="6857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315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1"/>
            <a:ext cx="10972800" cy="528805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4878344-ACF8-4BEF-825F-4772DDDDA8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9204F5-7AC6-408C-A152-31535124CA61}"/>
              </a:ext>
            </a:extLst>
          </p:cNvPr>
          <p:cNvSpPr txBox="1">
            <a:spLocks/>
          </p:cNvSpPr>
          <p:nvPr userDrawn="1"/>
        </p:nvSpPr>
        <p:spPr>
          <a:xfrm>
            <a:off x="3362327" y="6313573"/>
            <a:ext cx="5467351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Draft - Pre-Decisional Deliberative Document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Internal VA Use Only</a:t>
            </a:r>
          </a:p>
        </p:txBody>
      </p:sp>
    </p:spTree>
    <p:extLst>
      <p:ext uri="{BB962C8B-B14F-4D97-AF65-F5344CB8AC3E}">
        <p14:creationId xmlns:p14="http://schemas.microsoft.com/office/powerpoint/2010/main" val="3733819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152"/>
            <a:ext cx="10363200" cy="198424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00" y="4191000"/>
            <a:ext cx="8534400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Presentation for:</a:t>
            </a:r>
          </a:p>
          <a:p>
            <a:pPr algn="l">
              <a:spcBef>
                <a:spcPts val="0"/>
              </a:spcBef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algn="l">
              <a:spcBef>
                <a:spcPts val="0"/>
              </a:spcBef>
            </a:pP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Date of briefing:</a:t>
            </a:r>
          </a:p>
          <a:p>
            <a:endParaRPr lang="en-US"/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1146628" y="457200"/>
            <a:ext cx="10363200" cy="1054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VETERANS HEALTH ADMINISTRATION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57200"/>
            <a:r>
              <a:rPr lang="it-IT"/>
              <a:t>Draft - Pre-Decisional Deliberative Document </a:t>
            </a:r>
          </a:p>
          <a:p>
            <a:pPr defTabSz="457200"/>
            <a:r>
              <a:rPr lang="it-IT"/>
              <a:t>Internal VA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3EDED-BB09-C948-C473-CE0E8C37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0440" y="6400232"/>
            <a:ext cx="2844800" cy="365125"/>
          </a:xfrm>
        </p:spPr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27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45720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99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18CBF1-9F7E-F8D6-87E0-4BCF2684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2AC68-131E-12D5-4B54-FC3F2D59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70B62-CB61-6655-B7C7-A6E91AD8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3FED-D44E-4119-B1B2-B4C16AA71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6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heme" Target="../theme/theme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tags" Target="../tags/tag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0681"/>
            <a:ext cx="12192000" cy="73183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9" name="Picture 8" descr="3. VA-PRIMARY-HORIZONTAL-WHITE-VECTOR2.png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965" y="6271501"/>
            <a:ext cx="2946400" cy="49198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441" y="64002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defTabSz="457200"/>
            <a:fld id="{D983F1FA-211D-3044-9E35-958DFBC26156}" type="slidenum">
              <a:rPr lang="en-US" smtClean="0">
                <a:solidFill>
                  <a:prstClr val="white"/>
                </a:solidFill>
              </a:rPr>
              <a:pPr defTabSz="4572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7" name="Picture 2" descr="C:\Users\vacoGrovem\AppData\Local\Microsoft\Windows\Temporary Internet Files\Content.Outlook\83QVOJUE\CHOOSE-VA-rev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172200"/>
            <a:ext cx="2716744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73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9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81743501"/>
              </p:ext>
            </p:extLst>
          </p:nvPr>
        </p:nvGraphicFramePr>
        <p:xfrm>
          <a:off x="2119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9" y="1590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6140681"/>
            <a:ext cx="12192000" cy="731839"/>
            <a:chOff x="0" y="6126163"/>
            <a:chExt cx="9144000" cy="731838"/>
          </a:xfrm>
        </p:grpSpPr>
        <p:sp>
          <p:nvSpPr>
            <p:cNvPr id="8" name="Rectangle 7"/>
            <p:cNvSpPr/>
            <p:nvPr/>
          </p:nvSpPr>
          <p:spPr>
            <a:xfrm>
              <a:off x="0" y="6126163"/>
              <a:ext cx="9144000" cy="73183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800">
                <a:solidFill>
                  <a:prstClr val="white"/>
                </a:solidFill>
              </a:endParaRPr>
            </a:p>
          </p:txBody>
        </p:sp>
        <p:pic>
          <p:nvPicPr>
            <p:cNvPr id="9" name="Picture 8" descr="3. VA-PRIMARY-HORIZONTAL-WHITE-VECTOR2.pn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0974" y="6256892"/>
              <a:ext cx="2209800" cy="491986"/>
            </a:xfrm>
            <a:prstGeom prst="rect">
              <a:avLst/>
            </a:prstGeom>
          </p:spPr>
        </p:pic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441" y="64002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defTabSz="457200"/>
            <a:fld id="{D983F1FA-211D-3044-9E35-958DFBC26156}" type="slidenum">
              <a:rPr lang="en-US" smtClean="0">
                <a:solidFill>
                  <a:prstClr val="white"/>
                </a:solidFill>
              </a:rPr>
              <a:pPr defTabSz="4572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10" name="Picture 2" descr="C:\Users\vacoGrovem\AppData\Local\Microsoft\Windows\Temporary Internet Files\Content.Outlook\83QVOJUE\CHOOSE-VA-rev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172200"/>
            <a:ext cx="2716744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98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2119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9" y="1590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6140681"/>
            <a:ext cx="12192000" cy="731839"/>
            <a:chOff x="0" y="6126163"/>
            <a:chExt cx="9144000" cy="731838"/>
          </a:xfrm>
        </p:grpSpPr>
        <p:sp>
          <p:nvSpPr>
            <p:cNvPr id="8" name="Rectangle 7"/>
            <p:cNvSpPr/>
            <p:nvPr/>
          </p:nvSpPr>
          <p:spPr>
            <a:xfrm>
              <a:off x="0" y="6126163"/>
              <a:ext cx="9144000" cy="73183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800">
                <a:solidFill>
                  <a:prstClr val="white"/>
                </a:solidFill>
              </a:endParaRPr>
            </a:p>
          </p:txBody>
        </p:sp>
        <p:pic>
          <p:nvPicPr>
            <p:cNvPr id="9" name="Picture 8" descr="3. VA-PRIMARY-HORIZONTAL-WHITE-VECTOR2.pn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0974" y="6256892"/>
              <a:ext cx="2209800" cy="491986"/>
            </a:xfrm>
            <a:prstGeom prst="rect">
              <a:avLst/>
            </a:prstGeom>
          </p:spPr>
        </p:pic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441" y="64002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defTabSz="457200"/>
            <a:fld id="{D983F1FA-211D-3044-9E35-958DFBC26156}" type="slidenum">
              <a:rPr lang="en-US" smtClean="0">
                <a:solidFill>
                  <a:prstClr val="white"/>
                </a:solidFill>
              </a:rPr>
              <a:pPr defTabSz="4572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10" name="Picture 2" descr="C:\Users\vacoGrovem\AppData\Local\Microsoft\Windows\Temporary Internet Files\Content.Outlook\83QVOJUE\CHOOSE-VA-rev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172200"/>
            <a:ext cx="2716744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98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440" y="640023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4878344-ACF8-4BEF-825F-4772DDDDA8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B0E75AE8-1987-4F87-A9C8-402254443EF5}"/>
              </a:ext>
            </a:extLst>
          </p:cNvPr>
          <p:cNvSpPr txBox="1">
            <a:spLocks/>
          </p:cNvSpPr>
          <p:nvPr userDrawn="1"/>
        </p:nvSpPr>
        <p:spPr>
          <a:xfrm>
            <a:off x="3362327" y="6313573"/>
            <a:ext cx="5467351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Draft - Pre-Decisional Deliberative Document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Internal VA Use Only</a:t>
            </a:r>
          </a:p>
        </p:txBody>
      </p:sp>
    </p:spTree>
    <p:extLst>
      <p:ext uri="{BB962C8B-B14F-4D97-AF65-F5344CB8AC3E}">
        <p14:creationId xmlns:p14="http://schemas.microsoft.com/office/powerpoint/2010/main" val="130752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209800" y="1905000"/>
            <a:ext cx="7772400" cy="1371600"/>
          </a:xfrm>
        </p:spPr>
        <p:txBody>
          <a:bodyPr>
            <a:normAutofit/>
          </a:bodyPr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Update on Psychedelic Assisted Treatment for Mental Health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2307" y="4283978"/>
            <a:ext cx="8763000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Presentation for: USH Small Group</a:t>
            </a:r>
          </a:p>
          <a:p>
            <a:pPr algn="l"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Presented by: Ilse Wiechers &amp; Wendy Tenhula</a:t>
            </a:r>
          </a:p>
          <a:p>
            <a:pPr algn="l">
              <a:spcBef>
                <a:spcPts val="0"/>
              </a:spcBef>
            </a:pPr>
            <a:r>
              <a:rPr lang="en-US" sz="2400" dirty="0">
                <a:latin typeface="Arial"/>
                <a:cs typeface="Arial"/>
              </a:rPr>
              <a:t>Date of briefing: 07/24/2024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83971" y="457200"/>
            <a:ext cx="7772400" cy="1054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sz="3200">
                <a:solidFill>
                  <a:srgbClr val="000000"/>
                </a:solidFill>
              </a:rPr>
              <a:t>VETERANS HEALTH ADMINISTRATION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F30262-5A4E-A406-D859-0B691E4F2003}"/>
              </a:ext>
            </a:extLst>
          </p:cNvPr>
          <p:cNvSpPr txBox="1"/>
          <p:nvPr/>
        </p:nvSpPr>
        <p:spPr>
          <a:xfrm>
            <a:off x="3523376" y="6321104"/>
            <a:ext cx="4639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it-IT" sz="1200">
                <a:solidFill>
                  <a:schemeClr val="bg1"/>
                </a:solidFill>
              </a:rPr>
              <a:t>Draft - Pre-Decisional Deliberative Document</a:t>
            </a:r>
          </a:p>
          <a:p>
            <a:pPr algn="ctr" rtl="0"/>
            <a:r>
              <a:rPr lang="it-IT" sz="1200">
                <a:solidFill>
                  <a:schemeClr val="bg1"/>
                </a:solidFill>
              </a:rPr>
              <a:t>Internal VA Use Only</a:t>
            </a:r>
          </a:p>
        </p:txBody>
      </p:sp>
    </p:spTree>
    <p:extLst>
      <p:ext uri="{BB962C8B-B14F-4D97-AF65-F5344CB8AC3E}">
        <p14:creationId xmlns:p14="http://schemas.microsoft.com/office/powerpoint/2010/main" val="406768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5FFD9C-6881-D0EB-A764-AC570EEC3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568" y="0"/>
            <a:ext cx="12194568" cy="1336224"/>
          </a:xfrm>
          <a:prstGeom prst="rect">
            <a:avLst/>
          </a:prstGeom>
          <a:gradFill flip="none" rotWithShape="1">
            <a:gsLst>
              <a:gs pos="42000">
                <a:srgbClr val="666699"/>
              </a:gs>
              <a:gs pos="78000">
                <a:srgbClr val="949CBC"/>
              </a:gs>
              <a:gs pos="99000">
                <a:srgbClr val="C2D1DE"/>
              </a:gs>
            </a:gsLst>
            <a:lin ang="0" scaled="1"/>
            <a:tileRect/>
          </a:gradFill>
          <a:ln w="3175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itle 56">
            <a:extLst>
              <a:ext uri="{FF2B5EF4-FFF2-40B4-BE49-F238E27FC236}">
                <a16:creationId xmlns:a16="http://schemas.microsoft.com/office/drawing/2014/main" id="{655FBA69-D491-9681-F618-8C11EB45A31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19001" y="140690"/>
            <a:ext cx="10076466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Readiness to Launch VA Psychedelic Assisted Therapy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40689E-4848-A0FE-9915-C2750340F11E}"/>
              </a:ext>
            </a:extLst>
          </p:cNvPr>
          <p:cNvSpPr txBox="1"/>
          <p:nvPr/>
        </p:nvSpPr>
        <p:spPr>
          <a:xfrm>
            <a:off x="228548" y="669322"/>
            <a:ext cx="11876973" cy="369332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Five phases must occur before VA can begin providing MDMA-AT in clinical care settings*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E97F8B-E112-29FB-21B7-A8E9400E2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23" y="3970914"/>
            <a:ext cx="12194567" cy="289678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3F3F3"/>
              </a:gs>
              <a:gs pos="100000">
                <a:srgbClr val="E6E6E6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15395DA2-0BDC-D46E-8240-584C8A6F7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98" t="4971" r="36462" b="20691"/>
          <a:stretch/>
        </p:blipFill>
        <p:spPr>
          <a:xfrm>
            <a:off x="8205843" y="285747"/>
            <a:ext cx="3998264" cy="6576871"/>
          </a:xfrm>
          <a:prstGeom prst="rect">
            <a:avLst/>
          </a:prstGeom>
          <a:effectLst/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681DE607-5BF6-9F84-C446-6D5153E62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32157" y="-3784"/>
            <a:ext cx="2651964" cy="6865568"/>
          </a:xfrm>
          <a:prstGeom prst="rect">
            <a:avLst/>
          </a:prstGeom>
          <a:gradFill flip="none" rotWithShape="1">
            <a:gsLst>
              <a:gs pos="23000">
                <a:srgbClr val="CFB4E6">
                  <a:alpha val="0"/>
                </a:srgbClr>
              </a:gs>
              <a:gs pos="100000">
                <a:schemeClr val="tx2">
                  <a:lumMod val="20000"/>
                  <a:lumOff val="80000"/>
                  <a:alpha val="3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3" descr="The graphic shows seven boxes which outline each phase required to take place if FDA approves MDMA-AT.">
            <a:extLst>
              <a:ext uri="{FF2B5EF4-FFF2-40B4-BE49-F238E27FC236}">
                <a16:creationId xmlns:a16="http://schemas.microsoft.com/office/drawing/2014/main" id="{7A53DD44-EC3E-057C-9E1E-F578EB181F86}"/>
              </a:ext>
            </a:extLst>
          </p:cNvPr>
          <p:cNvGrpSpPr/>
          <p:nvPr/>
        </p:nvGrpSpPr>
        <p:grpSpPr>
          <a:xfrm>
            <a:off x="244154" y="1613208"/>
            <a:ext cx="11414170" cy="3240313"/>
            <a:chOff x="244154" y="1613208"/>
            <a:chExt cx="11414170" cy="3240313"/>
          </a:xfrm>
        </p:grpSpPr>
        <p:grpSp>
          <p:nvGrpSpPr>
            <p:cNvPr id="46" name="Group 45" descr="The graphic shows seven boxes which outline each event required to take place if FDA approves MDMA-AT.">
              <a:extLst>
                <a:ext uri="{FF2B5EF4-FFF2-40B4-BE49-F238E27FC236}">
                  <a16:creationId xmlns:a16="http://schemas.microsoft.com/office/drawing/2014/main" id="{034723EC-7E06-D252-E2DC-62BE530F4491}"/>
                </a:ext>
              </a:extLst>
            </p:cNvPr>
            <p:cNvGrpSpPr/>
            <p:nvPr/>
          </p:nvGrpSpPr>
          <p:grpSpPr>
            <a:xfrm>
              <a:off x="244154" y="1613208"/>
              <a:ext cx="9611792" cy="3240313"/>
              <a:chOff x="561327" y="794241"/>
              <a:chExt cx="9611792" cy="3240313"/>
            </a:xfrm>
            <a:effectLst/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748701AF-37EA-2E71-F409-797CC98748DC}"/>
                  </a:ext>
                </a:extLst>
              </p:cNvPr>
              <p:cNvGrpSpPr/>
              <p:nvPr/>
            </p:nvGrpSpPr>
            <p:grpSpPr>
              <a:xfrm>
                <a:off x="3700080" y="816616"/>
                <a:ext cx="1467000" cy="2494610"/>
                <a:chOff x="3607703" y="1620912"/>
                <a:chExt cx="1467000" cy="2494610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0D2EAEBB-2B01-7678-8DC9-5A1E8A0C5FC8}"/>
                    </a:ext>
                  </a:extLst>
                </p:cNvPr>
                <p:cNvGrpSpPr/>
                <p:nvPr/>
              </p:nvGrpSpPr>
              <p:grpSpPr>
                <a:xfrm>
                  <a:off x="3607703" y="1634097"/>
                  <a:ext cx="1461302" cy="2481425"/>
                  <a:chOff x="-4855" y="4304639"/>
                  <a:chExt cx="1898743" cy="2052951"/>
                </a:xfrm>
              </p:grpSpPr>
              <p:sp>
                <p:nvSpPr>
                  <p:cNvPr id="29" name="Arrow: Right 12">
                    <a:extLst>
                      <a:ext uri="{FF2B5EF4-FFF2-40B4-BE49-F238E27FC236}">
                        <a16:creationId xmlns:a16="http://schemas.microsoft.com/office/drawing/2014/main" id="{DA01EF9E-62AB-F7FA-0B87-810877B089FB}"/>
                      </a:ext>
                    </a:extLst>
                  </p:cNvPr>
                  <p:cNvSpPr/>
                  <p:nvPr/>
                </p:nvSpPr>
                <p:spPr>
                  <a:xfrm>
                    <a:off x="-4855" y="4679126"/>
                    <a:ext cx="1898743" cy="167846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50800" dist="38100" dir="2700000" algn="tl" rotWithShape="0">
                      <a:prstClr val="black">
                        <a:alpha val="11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Arrow: Right 12">
                    <a:extLst>
                      <a:ext uri="{FF2B5EF4-FFF2-40B4-BE49-F238E27FC236}">
                        <a16:creationId xmlns:a16="http://schemas.microsoft.com/office/drawing/2014/main" id="{3284688D-78D6-ABB0-F819-2769BF649784}"/>
                      </a:ext>
                    </a:extLst>
                  </p:cNvPr>
                  <p:cNvSpPr/>
                  <p:nvPr/>
                </p:nvSpPr>
                <p:spPr>
                  <a:xfrm>
                    <a:off x="27087" y="4304639"/>
                    <a:ext cx="1866801" cy="375936"/>
                  </a:xfrm>
                  <a:prstGeom prst="rect">
                    <a:avLst/>
                  </a:prstGeom>
                  <a:solidFill>
                    <a:schemeClr val="accent4"/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BA27F48-1C77-B07D-E64E-08368D9F2F5D}"/>
                      </a:ext>
                    </a:extLst>
                  </p:cNvPr>
                  <p:cNvSpPr txBox="1"/>
                  <p:nvPr/>
                </p:nvSpPr>
                <p:spPr>
                  <a:xfrm>
                    <a:off x="2492" y="4655450"/>
                    <a:ext cx="1814092" cy="165256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Communicate 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detailed-level</a:t>
                    </a: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 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VA plan 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Prepare for implementation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  <a:p>
                    <a:pPr marL="171450" marR="0" lvl="0" indent="-17145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 typeface="Wingdings" panose="05000000000000000000" pitchFamily="2" charset="2"/>
                      <a:buChar char="ü"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Training protocols</a:t>
                    </a:r>
                  </a:p>
                  <a:p>
                    <a:pPr marL="171450" marR="0" lvl="0" indent="-17145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 typeface="Wingdings" panose="05000000000000000000" pitchFamily="2" charset="2"/>
                      <a:buChar char="ü"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Certified healthcare setting criteria</a:t>
                    </a:r>
                  </a:p>
                </p:txBody>
              </p:sp>
            </p:grp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1BC79FA-D56E-C93E-C10B-2D2A31B734B6}"/>
                    </a:ext>
                  </a:extLst>
                </p:cNvPr>
                <p:cNvSpPr txBox="1"/>
                <p:nvPr/>
              </p:nvSpPr>
              <p:spPr>
                <a:xfrm>
                  <a:off x="3878384" y="1620912"/>
                  <a:ext cx="1196319" cy="4801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7112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Manufacturer</a:t>
                  </a:r>
                  <a:r>
                    <a:rPr kumimoji="0" 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</a:t>
                  </a:r>
                  <a: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Guidance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C7534AC-2956-ADD1-C8D6-74AB3F4CD9F8}"/>
                    </a:ext>
                  </a:extLst>
                </p:cNvPr>
                <p:cNvSpPr txBox="1"/>
                <p:nvPr/>
              </p:nvSpPr>
              <p:spPr>
                <a:xfrm>
                  <a:off x="3689963" y="1655721"/>
                  <a:ext cx="181774" cy="4369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7112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D4195D06-5809-FEF6-E4A6-786E6BAB941A}"/>
                  </a:ext>
                </a:extLst>
              </p:cNvPr>
              <p:cNvGrpSpPr/>
              <p:nvPr/>
            </p:nvGrpSpPr>
            <p:grpSpPr>
              <a:xfrm>
                <a:off x="561327" y="794241"/>
                <a:ext cx="9611792" cy="3240313"/>
                <a:chOff x="561327" y="794241"/>
                <a:chExt cx="9611792" cy="3240313"/>
              </a:xfrm>
            </p:grpSpPr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9FD8C2C5-80CA-AC91-E5B4-D3972FF529DC}"/>
                    </a:ext>
                  </a:extLst>
                </p:cNvPr>
                <p:cNvGrpSpPr/>
                <p:nvPr/>
              </p:nvGrpSpPr>
              <p:grpSpPr>
                <a:xfrm>
                  <a:off x="561327" y="1445732"/>
                  <a:ext cx="1537147" cy="2483562"/>
                  <a:chOff x="163164" y="935998"/>
                  <a:chExt cx="1537147" cy="1886772"/>
                </a:xfrm>
              </p:grpSpPr>
              <p:sp>
                <p:nvSpPr>
                  <p:cNvPr id="14" name="Arrow: Right 12">
                    <a:extLst>
                      <a:ext uri="{FF2B5EF4-FFF2-40B4-BE49-F238E27FC236}">
                        <a16:creationId xmlns:a16="http://schemas.microsoft.com/office/drawing/2014/main" id="{7B735538-91D0-69C8-0DEB-77FD421C59BD}"/>
                      </a:ext>
                    </a:extLst>
                  </p:cNvPr>
                  <p:cNvSpPr/>
                  <p:nvPr/>
                </p:nvSpPr>
                <p:spPr>
                  <a:xfrm>
                    <a:off x="211876" y="1279858"/>
                    <a:ext cx="1423148" cy="1542912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50800" dist="38100" dir="2700000" algn="tl" rotWithShape="0">
                      <a:prstClr val="black">
                        <a:alpha val="11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" name="Arrow: Right 12">
                    <a:extLst>
                      <a:ext uri="{FF2B5EF4-FFF2-40B4-BE49-F238E27FC236}">
                        <a16:creationId xmlns:a16="http://schemas.microsoft.com/office/drawing/2014/main" id="{9E621BC3-33D3-28A9-AEC0-E7E66FDC29E9}"/>
                      </a:ext>
                    </a:extLst>
                  </p:cNvPr>
                  <p:cNvSpPr/>
                  <p:nvPr/>
                </p:nvSpPr>
                <p:spPr>
                  <a:xfrm>
                    <a:off x="211877" y="935998"/>
                    <a:ext cx="1423148" cy="346599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C37A1C48-D453-EA4F-DD2E-BFF568AF5B8D}"/>
                      </a:ext>
                    </a:extLst>
                  </p:cNvPr>
                  <p:cNvSpPr txBox="1"/>
                  <p:nvPr/>
                </p:nvSpPr>
                <p:spPr>
                  <a:xfrm>
                    <a:off x="163164" y="1280826"/>
                    <a:ext cx="1537147" cy="140291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1218987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Establish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high-level implementation plan including 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  <a:p>
                    <a:pPr marL="171450" marR="0" lvl="0" indent="-17145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 typeface="Wingdings" panose="05000000000000000000" pitchFamily="2" charset="2"/>
                      <a:buChar char="ü"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Research strategy</a:t>
                    </a:r>
                  </a:p>
                  <a:p>
                    <a:pPr marL="171450" marR="0" lvl="0" indent="-17145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 typeface="Wingdings" panose="05000000000000000000" pitchFamily="2" charset="2"/>
                      <a:buChar char="ü"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Safety criteria</a:t>
                    </a:r>
                  </a:p>
                  <a:p>
                    <a:pPr marL="171450" marR="0" lvl="0" indent="-17145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 typeface="Wingdings" panose="05000000000000000000" pitchFamily="2" charset="2"/>
                      <a:buChar char="ü"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Training plan</a:t>
                    </a:r>
                  </a:p>
                  <a:p>
                    <a:pPr marL="171450" marR="0" lvl="0" indent="-17145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 typeface="Wingdings" panose="05000000000000000000" pitchFamily="2" charset="2"/>
                      <a:buChar char="ü"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Phased roll-out plan</a:t>
                    </a:r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6970AC6E-45C2-870A-AB5C-ED0FDDAB8EBB}"/>
                      </a:ext>
                    </a:extLst>
                  </p:cNvPr>
                  <p:cNvSpPr txBox="1"/>
                  <p:nvPr/>
                </p:nvSpPr>
                <p:spPr>
                  <a:xfrm>
                    <a:off x="210595" y="953404"/>
                    <a:ext cx="1424430" cy="327347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t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/>
                        <a:ea typeface="Open Sans"/>
                        <a:cs typeface="Open Sans"/>
                      </a:rPr>
                      <a:t>Planning for FDA Decision</a:t>
                    </a:r>
                    <a:endPara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2" name="Group 121">
                  <a:extLst>
                    <a:ext uri="{FF2B5EF4-FFF2-40B4-BE49-F238E27FC236}">
                      <a16:creationId xmlns:a16="http://schemas.microsoft.com/office/drawing/2014/main" id="{3D672452-B819-D2A8-D029-C841A3EE2547}"/>
                    </a:ext>
                  </a:extLst>
                </p:cNvPr>
                <p:cNvGrpSpPr/>
                <p:nvPr/>
              </p:nvGrpSpPr>
              <p:grpSpPr>
                <a:xfrm>
                  <a:off x="2136403" y="816616"/>
                  <a:ext cx="1531924" cy="2491299"/>
                  <a:chOff x="1766363" y="501742"/>
                  <a:chExt cx="1531924" cy="1973352"/>
                </a:xfrm>
              </p:grpSpPr>
              <p:sp>
                <p:nvSpPr>
                  <p:cNvPr id="15" name="Arrow: Right 12">
                    <a:extLst>
                      <a:ext uri="{FF2B5EF4-FFF2-40B4-BE49-F238E27FC236}">
                        <a16:creationId xmlns:a16="http://schemas.microsoft.com/office/drawing/2014/main" id="{7BB79CC7-1015-0A6F-C8AD-899A394107E6}"/>
                      </a:ext>
                    </a:extLst>
                  </p:cNvPr>
                  <p:cNvSpPr/>
                  <p:nvPr/>
                </p:nvSpPr>
                <p:spPr>
                  <a:xfrm>
                    <a:off x="1825864" y="856747"/>
                    <a:ext cx="1412922" cy="1618347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50800" dist="38100" dir="2700000" algn="tl" rotWithShape="0">
                      <a:prstClr val="black">
                        <a:alpha val="11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" name="Arrow: Right 12">
                    <a:extLst>
                      <a:ext uri="{FF2B5EF4-FFF2-40B4-BE49-F238E27FC236}">
                        <a16:creationId xmlns:a16="http://schemas.microsoft.com/office/drawing/2014/main" id="{4322290E-34AE-A051-0286-728939CD77A7}"/>
                      </a:ext>
                    </a:extLst>
                  </p:cNvPr>
                  <p:cNvSpPr/>
                  <p:nvPr/>
                </p:nvSpPr>
                <p:spPr>
                  <a:xfrm>
                    <a:off x="1817154" y="501742"/>
                    <a:ext cx="1416774" cy="361378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121898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BA4386F-0182-AF38-C3CD-B07C07379E8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6363" y="864163"/>
                    <a:ext cx="1531924" cy="16041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Communicate 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high-level</a:t>
                    </a: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 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VA strategy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 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Refine implementation plan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  <a:p>
                    <a:pPr marL="171450" marR="0" lvl="0" indent="-17145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 typeface="Wingdings" panose="05000000000000000000" pitchFamily="2" charset="2"/>
                      <a:buChar char="ü"/>
                      <a:tabLst/>
                      <a:defRPr/>
                    </a:pPr>
                    <a:r>
                      <a: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Risk Evaluation and Mitigation Strategies (REMS)</a:t>
                    </a:r>
                  </a:p>
                  <a:p>
                    <a:pPr marL="171450" marR="0" lvl="0" indent="-17145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 typeface="Wingdings" panose="05000000000000000000" pitchFamily="2" charset="2"/>
                      <a:buChar char="ü"/>
                      <a:tabLst/>
                      <a:defRPr/>
                    </a:pPr>
                    <a:r>
                      <a: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Label Requirements</a:t>
                    </a: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F198A053-5ABE-3C0A-59FD-91D41EA1A6CF}"/>
                      </a:ext>
                    </a:extLst>
                  </p:cNvPr>
                  <p:cNvSpPr txBox="1"/>
                  <p:nvPr/>
                </p:nvSpPr>
                <p:spPr>
                  <a:xfrm>
                    <a:off x="2051798" y="581684"/>
                    <a:ext cx="1182130" cy="207221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t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rPr>
                      <a:t>FDA Decision</a:t>
                    </a:r>
                    <a:endPara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81EF158-96B2-B19F-BE13-2781E1B0A8D8}"/>
                      </a:ext>
                    </a:extLst>
                  </p:cNvPr>
                  <p:cNvSpPr txBox="1"/>
                  <p:nvPr/>
                </p:nvSpPr>
                <p:spPr>
                  <a:xfrm>
                    <a:off x="1878842" y="517285"/>
                    <a:ext cx="181774" cy="3364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E3454B72-55E7-49ED-F509-E0C0E1EA7842}"/>
                    </a:ext>
                  </a:extLst>
                </p:cNvPr>
                <p:cNvGrpSpPr/>
                <p:nvPr/>
              </p:nvGrpSpPr>
              <p:grpSpPr>
                <a:xfrm>
                  <a:off x="5274940" y="828032"/>
                  <a:ext cx="1718356" cy="2490823"/>
                  <a:chOff x="4787069" y="421730"/>
                  <a:chExt cx="1734643" cy="2490823"/>
                </a:xfrm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39289878-9BA0-77BC-5A7E-8E0E4F0B460A}"/>
                      </a:ext>
                    </a:extLst>
                  </p:cNvPr>
                  <p:cNvGrpSpPr/>
                  <p:nvPr/>
                </p:nvGrpSpPr>
                <p:grpSpPr>
                  <a:xfrm>
                    <a:off x="4787069" y="421730"/>
                    <a:ext cx="1628284" cy="2490823"/>
                    <a:chOff x="3206093" y="4053540"/>
                    <a:chExt cx="1628284" cy="2490823"/>
                  </a:xfrm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D902F981-22C8-0F74-204F-22C8797A03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29005" y="4053540"/>
                      <a:ext cx="1605372" cy="2490823"/>
                      <a:chOff x="3229005" y="4053540"/>
                      <a:chExt cx="1605372" cy="2490823"/>
                    </a:xfrm>
                  </p:grpSpPr>
                  <p:sp>
                    <p:nvSpPr>
                      <p:cNvPr id="26" name="Arrow: Right 12">
                        <a:extLst>
                          <a:ext uri="{FF2B5EF4-FFF2-40B4-BE49-F238E27FC236}">
                            <a16:creationId xmlns:a16="http://schemas.microsoft.com/office/drawing/2014/main" id="{1AB86DD6-5D46-43E6-B147-A432002150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30763" y="4490443"/>
                        <a:ext cx="1603421" cy="20539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 cap="flat" cmpd="sng" algn="ctr">
                        <a:noFill/>
                        <a:prstDash val="solid"/>
                      </a:ln>
                      <a:effectLst>
                        <a:outerShdw blurRad="50800" dist="38100" dir="2700000" algn="tl" rotWithShape="0">
                          <a:prstClr val="black">
                            <a:alpha val="11000"/>
                          </a:prstClr>
                        </a:outerShdw>
                      </a:effectLst>
                    </p:spPr>
                    <p:txBody>
                      <a:bodyPr rtlCol="0" anchor="ctr"/>
                      <a:lstStyle/>
                      <a:p>
                        <a:pPr marL="0" marR="0" lvl="0" indent="0" algn="ctr" defTabSz="1218987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IN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7" name="Arrow: Right 12">
                        <a:extLst>
                          <a:ext uri="{FF2B5EF4-FFF2-40B4-BE49-F238E27FC236}">
                            <a16:creationId xmlns:a16="http://schemas.microsoft.com/office/drawing/2014/main" id="{AB13D939-21E6-C987-487A-737B33EA3D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29005" y="4053540"/>
                        <a:ext cx="1605372" cy="451343"/>
                      </a:xfrm>
                      <a:prstGeom prst="rect">
                        <a:avLst/>
                      </a:prstGeom>
                      <a:solidFill>
                        <a:srgbClr val="ACCEC0"/>
                      </a:soli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1218987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IN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E5709668-9BCA-D330-799E-53A2E1EEF7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06093" y="4511129"/>
                      <a:ext cx="1502152" cy="18451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Communicate 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medium-level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 strategy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Refine implementation plan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Drug moved to different schedule</a:t>
                      </a:r>
                    </a:p>
                    <a:p>
                      <a:pPr marL="171450" marR="0" lvl="0" indent="-17145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Possible additional controls</a:t>
                      </a:r>
                    </a:p>
                  </p:txBody>
                </p:sp>
              </p:grpSp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7F69DDD9-1075-F71A-BF44-142788F6CE66}"/>
                      </a:ext>
                    </a:extLst>
                  </p:cNvPr>
                  <p:cNvSpPr txBox="1"/>
                  <p:nvPr/>
                </p:nvSpPr>
                <p:spPr>
                  <a:xfrm>
                    <a:off x="4992378" y="471681"/>
                    <a:ext cx="1529334" cy="3970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rPr>
                      <a:t>DEA Guidance </a:t>
                    </a:r>
                  </a:p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rPr>
                      <a:t>&amp; State Reschedule</a:t>
                    </a:r>
                  </a:p>
                </p:txBody>
              </p:sp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50D37167-7332-540E-BD2D-0F5A039AE54E}"/>
                      </a:ext>
                    </a:extLst>
                  </p:cNvPr>
                  <p:cNvSpPr txBox="1"/>
                  <p:nvPr/>
                </p:nvSpPr>
                <p:spPr>
                  <a:xfrm>
                    <a:off x="4843776" y="451240"/>
                    <a:ext cx="200896" cy="4369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3</a:t>
                    </a: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E6AC74FE-BD0E-1DEE-78ED-E0F85EA75FD5}"/>
                    </a:ext>
                  </a:extLst>
                </p:cNvPr>
                <p:cNvGrpSpPr/>
                <p:nvPr/>
              </p:nvGrpSpPr>
              <p:grpSpPr>
                <a:xfrm>
                  <a:off x="6968354" y="829202"/>
                  <a:ext cx="1465944" cy="2489653"/>
                  <a:chOff x="6503796" y="521699"/>
                  <a:chExt cx="1465944" cy="2489653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4A1CB618-D987-FA33-3021-95FC0761562D}"/>
                      </a:ext>
                    </a:extLst>
                  </p:cNvPr>
                  <p:cNvGrpSpPr/>
                  <p:nvPr/>
                </p:nvGrpSpPr>
                <p:grpSpPr>
                  <a:xfrm>
                    <a:off x="6503796" y="521699"/>
                    <a:ext cx="1465944" cy="2489653"/>
                    <a:chOff x="9289466" y="994800"/>
                    <a:chExt cx="2195558" cy="2489653"/>
                  </a:xfrm>
                </p:grpSpPr>
                <p:sp>
                  <p:nvSpPr>
                    <p:cNvPr id="20" name="Arrow: Right 12">
                      <a:extLst>
                        <a:ext uri="{FF2B5EF4-FFF2-40B4-BE49-F238E27FC236}">
                          <a16:creationId xmlns:a16="http://schemas.microsoft.com/office/drawing/2014/main" id="{68C34B0D-108E-D83B-E4C7-4312FD3D25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3545" y="1365508"/>
                      <a:ext cx="2121479" cy="211894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5400" cap="flat" cmpd="sng" algn="ctr">
                      <a:noFill/>
                      <a:prstDash val="solid"/>
                    </a:ln>
                    <a:effectLst>
                      <a:outerShdw blurRad="50800" dist="38100" dir="2700000" algn="tl" rotWithShape="0">
                        <a:prstClr val="black">
                          <a:alpha val="11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" name="Arrow: Right 12">
                      <a:extLst>
                        <a:ext uri="{FF2B5EF4-FFF2-40B4-BE49-F238E27FC236}">
                          <a16:creationId xmlns:a16="http://schemas.microsoft.com/office/drawing/2014/main" id="{E8FDB5A6-D0A8-201B-8498-7655B1F59F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3539" y="994800"/>
                      <a:ext cx="2121477" cy="446285"/>
                    </a:xfrm>
                    <a:prstGeom prst="rect">
                      <a:avLst/>
                    </a:prstGeom>
                    <a:solidFill>
                      <a:srgbClr val="9BBBB2"/>
                    </a:soli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39B0C8F8-19FD-4BAE-642F-0E98EC325E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89466" y="1449440"/>
                      <a:ext cx="2185486" cy="19974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 anchor="t">
                      <a:spAutoFit/>
                    </a:bodyPr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Communicate </a:t>
                      </a:r>
                      <a:r>
                        <a:rPr kumimoji="0" lang="en-US" sz="11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medium-level</a:t>
                      </a: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 strategy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Refine implementation plan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Safety monitoring processes created</a:t>
                      </a:r>
                    </a:p>
                    <a:p>
                      <a:pPr marL="171450" marR="0" lvl="0" indent="-17145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Added to VA Formulary</a:t>
                      </a:r>
                    </a:p>
                  </p:txBody>
                </p:sp>
              </p:grp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317B315F-BBE4-4BBC-555B-EC8867E1E646}"/>
                      </a:ext>
                    </a:extLst>
                  </p:cNvPr>
                  <p:cNvSpPr txBox="1"/>
                  <p:nvPr/>
                </p:nvSpPr>
                <p:spPr>
                  <a:xfrm>
                    <a:off x="6753247" y="568124"/>
                    <a:ext cx="1212423" cy="397032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t">
                    <a:spAutoFit/>
                  </a:bodyPr>
                  <a:lstStyle/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rPr>
                      <a:t>VA PBM Process</a:t>
                    </a:r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E8813CC9-041B-5D76-06A4-088A6FC2B435}"/>
                      </a:ext>
                    </a:extLst>
                  </p:cNvPr>
                  <p:cNvSpPr txBox="1"/>
                  <p:nvPr/>
                </p:nvSpPr>
                <p:spPr>
                  <a:xfrm>
                    <a:off x="6600414" y="547469"/>
                    <a:ext cx="156255" cy="4369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4</a:t>
                    </a:r>
                  </a:p>
                </p:txBody>
              </p:sp>
            </p:grp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54DF09F2-400E-ED5C-E851-3CE4A3D99BAC}"/>
                    </a:ext>
                  </a:extLst>
                </p:cNvPr>
                <p:cNvGrpSpPr/>
                <p:nvPr/>
              </p:nvGrpSpPr>
              <p:grpSpPr>
                <a:xfrm>
                  <a:off x="8515172" y="794241"/>
                  <a:ext cx="1657947" cy="2505628"/>
                  <a:chOff x="8836433" y="1622442"/>
                  <a:chExt cx="1657947" cy="2505628"/>
                </a:xfrm>
              </p:grpSpPr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8B465FFC-D292-BEF1-8197-F178CDF61A1F}"/>
                      </a:ext>
                    </a:extLst>
                  </p:cNvPr>
                  <p:cNvGrpSpPr/>
                  <p:nvPr/>
                </p:nvGrpSpPr>
                <p:grpSpPr>
                  <a:xfrm>
                    <a:off x="8836433" y="1657031"/>
                    <a:ext cx="1608468" cy="2471039"/>
                    <a:chOff x="4292108" y="4187460"/>
                    <a:chExt cx="2089976" cy="2044354"/>
                  </a:xfrm>
                </p:grpSpPr>
                <p:sp>
                  <p:nvSpPr>
                    <p:cNvPr id="43" name="Arrow: Right 12">
                      <a:extLst>
                        <a:ext uri="{FF2B5EF4-FFF2-40B4-BE49-F238E27FC236}">
                          <a16:creationId xmlns:a16="http://schemas.microsoft.com/office/drawing/2014/main" id="{AD8BAF9F-D2CB-13E6-3D89-8FB2CA99F2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03431" y="4563394"/>
                      <a:ext cx="2019290" cy="16684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5400" cap="flat" cmpd="sng" algn="ctr">
                      <a:noFill/>
                      <a:prstDash val="solid"/>
                    </a:ln>
                    <a:effectLst>
                      <a:outerShdw blurRad="50800" dist="38100" dir="2700000" algn="tl" rotWithShape="0">
                        <a:prstClr val="black">
                          <a:alpha val="11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" name="Arrow: Right 12">
                      <a:extLst>
                        <a:ext uri="{FF2B5EF4-FFF2-40B4-BE49-F238E27FC236}">
                          <a16:creationId xmlns:a16="http://schemas.microsoft.com/office/drawing/2014/main" id="{20399B26-D123-2E64-C28B-4BF6EAFBAF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02151" y="4187460"/>
                      <a:ext cx="2020566" cy="381021"/>
                    </a:xfrm>
                    <a:prstGeom prst="rect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2DAFEE94-2A6D-FAB3-3F1A-C446806B73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2108" y="4548240"/>
                      <a:ext cx="2089976" cy="159144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Communicate readiness 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Final preparation for implementation</a:t>
                      </a:r>
                    </a:p>
                    <a:p>
                      <a:pPr marL="171450" marR="0" lvl="0" indent="-17145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Training</a:t>
                      </a:r>
                    </a:p>
                    <a:p>
                      <a:pPr marL="171450" marR="0" lvl="0" indent="-17145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Site walk-through</a:t>
                      </a:r>
                    </a:p>
                    <a:p>
                      <a:pPr marL="171450" marR="0" lvl="0" indent="-17145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Readiness checklist</a:t>
                      </a:r>
                    </a:p>
                    <a:p>
                      <a:pPr marL="171450" marR="0" lvl="0" indent="-17145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Site review</a:t>
                      </a:r>
                    </a:p>
                    <a:p>
                      <a:pPr marL="171450" marR="0" lvl="0" indent="-171450" algn="l" defTabSz="7112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Phased roll-out plan</a:t>
                      </a:r>
                    </a:p>
                  </p:txBody>
                </p:sp>
              </p:grpSp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5EEDBA0D-4163-3699-F3DB-A7EAF8FB0ADB}"/>
                      </a:ext>
                    </a:extLst>
                  </p:cNvPr>
                  <p:cNvSpPr txBox="1"/>
                  <p:nvPr/>
                </p:nvSpPr>
                <p:spPr>
                  <a:xfrm>
                    <a:off x="9029742" y="1622442"/>
                    <a:ext cx="1464638" cy="54938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Readiness Verification &amp; Final Prep to Launch</a:t>
                    </a:r>
                  </a:p>
                </p:txBody>
              </p:sp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7BF68D73-DF3F-98CF-D50E-4648DD4B3265}"/>
                      </a:ext>
                    </a:extLst>
                  </p:cNvPr>
                  <p:cNvSpPr txBox="1"/>
                  <p:nvPr/>
                </p:nvSpPr>
                <p:spPr>
                  <a:xfrm>
                    <a:off x="8893992" y="1677441"/>
                    <a:ext cx="181774" cy="4247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5</a:t>
                    </a:r>
                  </a:p>
                </p:txBody>
              </p:sp>
            </p:grpSp>
            <p:sp>
              <p:nvSpPr>
                <p:cNvPr id="34" name="Arrow: Right 12">
                  <a:extLst>
                    <a:ext uri="{FF2B5EF4-FFF2-40B4-BE49-F238E27FC236}">
                      <a16:creationId xmlns:a16="http://schemas.microsoft.com/office/drawing/2014/main" id="{8B60BB96-D16C-2A7E-A940-7DB54C5FFEC9}"/>
                    </a:ext>
                  </a:extLst>
                </p:cNvPr>
                <p:cNvSpPr/>
                <p:nvPr/>
              </p:nvSpPr>
              <p:spPr>
                <a:xfrm>
                  <a:off x="2187194" y="3336177"/>
                  <a:ext cx="1427370" cy="58865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l" defTabSz="1218987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Timing: </a:t>
                  </a: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Potentially expected August 2024</a:t>
                  </a:r>
                  <a:endParaRPr kumimoji="0" lang="en-IN" sz="11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" name="Arrow: Right 12">
                  <a:extLst>
                    <a:ext uri="{FF2B5EF4-FFF2-40B4-BE49-F238E27FC236}">
                      <a16:creationId xmlns:a16="http://schemas.microsoft.com/office/drawing/2014/main" id="{57CF886F-936F-34EB-2E14-FA93552B14A7}"/>
                    </a:ext>
                  </a:extLst>
                </p:cNvPr>
                <p:cNvSpPr/>
                <p:nvPr/>
              </p:nvSpPr>
              <p:spPr>
                <a:xfrm>
                  <a:off x="5297637" y="3346668"/>
                  <a:ext cx="1590107" cy="68788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l" defTabSz="1218987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Timing</a:t>
                  </a: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: 90 day window for DEA guidance, then states will reschedule</a:t>
                  </a:r>
                  <a:endPara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Arrow: Right 12">
                  <a:extLst>
                    <a:ext uri="{FF2B5EF4-FFF2-40B4-BE49-F238E27FC236}">
                      <a16:creationId xmlns:a16="http://schemas.microsoft.com/office/drawing/2014/main" id="{26778D24-2571-98C2-F0E0-4BAC1A164A8A}"/>
                    </a:ext>
                  </a:extLst>
                </p:cNvPr>
                <p:cNvSpPr/>
                <p:nvPr/>
              </p:nvSpPr>
              <p:spPr>
                <a:xfrm>
                  <a:off x="7006524" y="3350516"/>
                  <a:ext cx="1434827" cy="571318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l" defTabSz="1218987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Timing: </a:t>
                  </a: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90 day window after DEA guidance</a:t>
                  </a:r>
                  <a:endPara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Arrow: Right 12">
                  <a:extLst>
                    <a:ext uri="{FF2B5EF4-FFF2-40B4-BE49-F238E27FC236}">
                      <a16:creationId xmlns:a16="http://schemas.microsoft.com/office/drawing/2014/main" id="{FB4A330A-6CC3-733F-5086-8DD0A9EC286C}"/>
                    </a:ext>
                  </a:extLst>
                </p:cNvPr>
                <p:cNvSpPr/>
                <p:nvPr/>
              </p:nvSpPr>
              <p:spPr>
                <a:xfrm>
                  <a:off x="3699816" y="3348006"/>
                  <a:ext cx="1434827" cy="586576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l" defTabSz="1218987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Timing:</a:t>
                  </a: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 0-60 day window after FDA decision</a:t>
                  </a:r>
                  <a:endPara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Arrow: Right 12">
                  <a:extLst>
                    <a:ext uri="{FF2B5EF4-FFF2-40B4-BE49-F238E27FC236}">
                      <a16:creationId xmlns:a16="http://schemas.microsoft.com/office/drawing/2014/main" id="{2A713FB1-1DB6-9804-23F1-BDD1F41BB12D}"/>
                    </a:ext>
                  </a:extLst>
                </p:cNvPr>
                <p:cNvSpPr/>
                <p:nvPr/>
              </p:nvSpPr>
              <p:spPr>
                <a:xfrm>
                  <a:off x="8521397" y="3337494"/>
                  <a:ext cx="1544711" cy="5917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t"/>
                <a:lstStyle/>
                <a:p>
                  <a:pPr marL="0" marR="0" lvl="0" indent="0" algn="l" defTabSz="1218987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Timing: </a:t>
                  </a: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30-60 day window after step 4</a:t>
                  </a:r>
                  <a:endParaRPr kumimoji="0" lang="en-IN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0" name="Arrow: Right 12">
              <a:extLst>
                <a:ext uri="{FF2B5EF4-FFF2-40B4-BE49-F238E27FC236}">
                  <a16:creationId xmlns:a16="http://schemas.microsoft.com/office/drawing/2014/main" id="{684229D2-3823-32FE-ECB0-C5B738BF3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72548" y="2703035"/>
              <a:ext cx="1608469" cy="2057287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50800" dist="38100" algn="l" rotWithShape="0">
                <a:prstClr val="black">
                  <a:alpha val="11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9" name="Arrow: Right 12">
              <a:extLst>
                <a:ext uri="{FF2B5EF4-FFF2-40B4-BE49-F238E27FC236}">
                  <a16:creationId xmlns:a16="http://schemas.microsoft.com/office/drawing/2014/main" id="{64DE3BD2-E40C-FF1E-B561-9EB10E49D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71288" y="2267190"/>
              <a:ext cx="1608468" cy="441745"/>
            </a:xfrm>
            <a:prstGeom prst="rect">
              <a:avLst/>
            </a:prstGeom>
            <a:solidFill>
              <a:srgbClr val="B29FD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D65D580-4107-670B-F1A0-9A80DCECB64E}"/>
                </a:ext>
              </a:extLst>
            </p:cNvPr>
            <p:cNvSpPr txBox="1"/>
            <p:nvPr/>
          </p:nvSpPr>
          <p:spPr>
            <a:xfrm>
              <a:off x="9970005" y="2372023"/>
              <a:ext cx="1609751" cy="244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Launch &amp; Beyond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F9EEB6D-16EA-4AA6-4E9A-54F253619681}"/>
                </a:ext>
              </a:extLst>
            </p:cNvPr>
            <p:cNvSpPr txBox="1"/>
            <p:nvPr/>
          </p:nvSpPr>
          <p:spPr>
            <a:xfrm>
              <a:off x="9993990" y="2809353"/>
              <a:ext cx="1664334" cy="19220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Communicate VA MDMA-AT Launch</a:t>
              </a:r>
            </a:p>
            <a:p>
              <a:pPr marL="171450" marR="0" lvl="0" indent="-17145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Begin phased launch at initial sites</a:t>
              </a:r>
            </a:p>
            <a:p>
              <a:pPr marL="171450" marR="0" lvl="0" indent="-17145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Progressively expand services to more VA facilities based on need, safety, site readiness, and drug availability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508F2003-2B13-079B-ADE9-EB9EA7747101}"/>
              </a:ext>
            </a:extLst>
          </p:cNvPr>
          <p:cNvSpPr txBox="1"/>
          <p:nvPr/>
        </p:nvSpPr>
        <p:spPr>
          <a:xfrm>
            <a:off x="239460" y="5439317"/>
            <a:ext cx="134794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7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Sequence of Phases</a:t>
            </a:r>
          </a:p>
        </p:txBody>
      </p:sp>
      <p:grpSp>
        <p:nvGrpSpPr>
          <p:cNvPr id="5" name="Group 4" descr="The timeline in this graphic shows in sequence when each event occurs by coordinating a timeline with the numbered events in the picture above">
            <a:extLst>
              <a:ext uri="{FF2B5EF4-FFF2-40B4-BE49-F238E27FC236}">
                <a16:creationId xmlns:a16="http://schemas.microsoft.com/office/drawing/2014/main" id="{0969E202-F48B-80DE-1296-65E4B5084C24}"/>
              </a:ext>
            </a:extLst>
          </p:cNvPr>
          <p:cNvGrpSpPr/>
          <p:nvPr/>
        </p:nvGrpSpPr>
        <p:grpSpPr>
          <a:xfrm>
            <a:off x="1621549" y="5070784"/>
            <a:ext cx="10494885" cy="1417904"/>
            <a:chOff x="1621549" y="5070784"/>
            <a:chExt cx="10494885" cy="1417904"/>
          </a:xfrm>
        </p:grpSpPr>
        <p:grpSp>
          <p:nvGrpSpPr>
            <p:cNvPr id="78" name="Group 77" descr="The timeline in this graphic shows in sequence when each event occurs by coordinating a timeline with the numbered events in the picture above">
              <a:extLst>
                <a:ext uri="{FF2B5EF4-FFF2-40B4-BE49-F238E27FC236}">
                  <a16:creationId xmlns:a16="http://schemas.microsoft.com/office/drawing/2014/main" id="{CC991613-270D-E45E-906A-56AFF33B53D4}"/>
                </a:ext>
              </a:extLst>
            </p:cNvPr>
            <p:cNvGrpSpPr/>
            <p:nvPr/>
          </p:nvGrpSpPr>
          <p:grpSpPr>
            <a:xfrm>
              <a:off x="1621549" y="5070784"/>
              <a:ext cx="10494885" cy="1417904"/>
              <a:chOff x="1809559" y="4922078"/>
              <a:chExt cx="10494885" cy="1417904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FFCE5E2D-502C-5E92-2373-1701429A545C}"/>
                  </a:ext>
                </a:extLst>
              </p:cNvPr>
              <p:cNvGrpSpPr/>
              <p:nvPr/>
            </p:nvGrpSpPr>
            <p:grpSpPr>
              <a:xfrm>
                <a:off x="6201035" y="5309637"/>
                <a:ext cx="1811355" cy="344628"/>
                <a:chOff x="3356620" y="3095726"/>
                <a:chExt cx="1808129" cy="34462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D84D8734-77B8-6501-5B99-90BB6084F0B5}"/>
                    </a:ext>
                  </a:extLst>
                </p:cNvPr>
                <p:cNvGrpSpPr/>
                <p:nvPr/>
              </p:nvGrpSpPr>
              <p:grpSpPr>
                <a:xfrm>
                  <a:off x="3356620" y="3095726"/>
                  <a:ext cx="1808129" cy="337352"/>
                  <a:chOff x="2902818" y="3327566"/>
                  <a:chExt cx="1808129" cy="337352"/>
                </a:xfrm>
              </p:grpSpPr>
              <p:sp>
                <p:nvSpPr>
                  <p:cNvPr id="114" name="Rectangle 113">
                    <a:extLst>
                      <a:ext uri="{FF2B5EF4-FFF2-40B4-BE49-F238E27FC236}">
                        <a16:creationId xmlns:a16="http://schemas.microsoft.com/office/drawing/2014/main" id="{3639B906-BE99-9017-CBE2-44423E6FB3B5}"/>
                      </a:ext>
                    </a:extLst>
                  </p:cNvPr>
                  <p:cNvSpPr/>
                  <p:nvPr/>
                </p:nvSpPr>
                <p:spPr>
                  <a:xfrm>
                    <a:off x="3160256" y="3442129"/>
                    <a:ext cx="1550691" cy="142890"/>
                  </a:xfrm>
                  <a:prstGeom prst="rect">
                    <a:avLst/>
                  </a:prstGeom>
                  <a:solidFill>
                    <a:srgbClr val="9BBBB2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11000"/>
                      </a:srgb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A6273827-D78B-3E44-DD4C-49FF58BE1836}"/>
                      </a:ext>
                    </a:extLst>
                  </p:cNvPr>
                  <p:cNvSpPr/>
                  <p:nvPr/>
                </p:nvSpPr>
                <p:spPr>
                  <a:xfrm>
                    <a:off x="2902818" y="3327566"/>
                    <a:ext cx="346229" cy="337352"/>
                  </a:xfrm>
                  <a:prstGeom prst="ellipse">
                    <a:avLst/>
                  </a:prstGeom>
                  <a:solidFill>
                    <a:srgbClr val="9BBBB2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11000"/>
                      </a:srgbClr>
                    </a:outerShdw>
                  </a:effectLst>
                </p:spPr>
                <p:style>
                  <a:lnRef idx="1">
                    <a:schemeClr val="dk1"/>
                  </a:lnRef>
                  <a:fillRef idx="3">
                    <a:schemeClr val="dk1"/>
                  </a:fillRef>
                  <a:effectRef idx="2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BC5242-4BF5-12F1-7D1F-032FAE765260}"/>
                    </a:ext>
                  </a:extLst>
                </p:cNvPr>
                <p:cNvSpPr txBox="1"/>
                <p:nvPr/>
              </p:nvSpPr>
              <p:spPr>
                <a:xfrm>
                  <a:off x="3399113" y="3098722"/>
                  <a:ext cx="242455" cy="3416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7112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8B906E24-9A34-8000-2D9D-2E478E23E201}"/>
                  </a:ext>
                </a:extLst>
              </p:cNvPr>
              <p:cNvGrpSpPr/>
              <p:nvPr/>
            </p:nvGrpSpPr>
            <p:grpSpPr>
              <a:xfrm>
                <a:off x="8051253" y="5309389"/>
                <a:ext cx="2002091" cy="348254"/>
                <a:chOff x="2190790" y="3098565"/>
                <a:chExt cx="2030907" cy="348254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69CBAE6F-5180-1E0B-EE3A-AA0DDC803357}"/>
                    </a:ext>
                  </a:extLst>
                </p:cNvPr>
                <p:cNvGrpSpPr/>
                <p:nvPr/>
              </p:nvGrpSpPr>
              <p:grpSpPr>
                <a:xfrm>
                  <a:off x="2190790" y="3098565"/>
                  <a:ext cx="2030907" cy="337352"/>
                  <a:chOff x="1736988" y="3330405"/>
                  <a:chExt cx="2030907" cy="337352"/>
                </a:xfrm>
              </p:grpSpPr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3C4A33E0-F111-16A6-0798-D79568A105CE}"/>
                      </a:ext>
                    </a:extLst>
                  </p:cNvPr>
                  <p:cNvSpPr/>
                  <p:nvPr/>
                </p:nvSpPr>
                <p:spPr>
                  <a:xfrm>
                    <a:off x="1994420" y="3436938"/>
                    <a:ext cx="1773475" cy="150920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11000"/>
                      </a:srgb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9D219DBB-E0DD-E3AA-DF38-D06848156445}"/>
                      </a:ext>
                    </a:extLst>
                  </p:cNvPr>
                  <p:cNvSpPr/>
                  <p:nvPr/>
                </p:nvSpPr>
                <p:spPr>
                  <a:xfrm>
                    <a:off x="1736988" y="3330405"/>
                    <a:ext cx="346228" cy="337352"/>
                  </a:xfrm>
                  <a:prstGeom prst="ellipse">
                    <a:avLst/>
                  </a:prstGeom>
                  <a:solidFill>
                    <a:srgbClr val="00628E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11000"/>
                      </a:srgbClr>
                    </a:outerShdw>
                  </a:effectLst>
                </p:spPr>
                <p:style>
                  <a:lnRef idx="1">
                    <a:schemeClr val="dk1"/>
                  </a:lnRef>
                  <a:fillRef idx="3">
                    <a:schemeClr val="dk1"/>
                  </a:fillRef>
                  <a:effectRef idx="2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7A34C024-CF8A-DA29-6889-9ADE5ACF9E58}"/>
                    </a:ext>
                  </a:extLst>
                </p:cNvPr>
                <p:cNvSpPr txBox="1"/>
                <p:nvPr/>
              </p:nvSpPr>
              <p:spPr>
                <a:xfrm>
                  <a:off x="2242314" y="3105187"/>
                  <a:ext cx="242455" cy="3416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7112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5</a:t>
                  </a:r>
                </a:p>
              </p:txBody>
            </p:sp>
          </p:grp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BB741207-4515-F386-5E2D-6123E7013B22}"/>
                  </a:ext>
                </a:extLst>
              </p:cNvPr>
              <p:cNvSpPr txBox="1"/>
              <p:nvPr/>
            </p:nvSpPr>
            <p:spPr>
              <a:xfrm>
                <a:off x="8367471" y="5524374"/>
                <a:ext cx="1866906" cy="81560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spcAft>
                    <a:spcPts val="1200"/>
                  </a:spcAft>
                  <a:defRPr>
                    <a:solidFill>
                      <a:srgbClr val="000000"/>
                    </a:solidFill>
                    <a:latin typeface="Calibri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Earliest Launch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February 2025</a:t>
                </a: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CC8664DE-C104-0C53-92A1-F5542E796EC9}"/>
                  </a:ext>
                </a:extLst>
              </p:cNvPr>
              <p:cNvGrpSpPr/>
              <p:nvPr/>
            </p:nvGrpSpPr>
            <p:grpSpPr>
              <a:xfrm>
                <a:off x="1809559" y="4922078"/>
                <a:ext cx="10494885" cy="1390061"/>
                <a:chOff x="1739047" y="4949010"/>
                <a:chExt cx="10494885" cy="1390061"/>
              </a:xfrm>
            </p:grpSpPr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40EA8D50-9188-F254-CF59-190E29CD9D25}"/>
                    </a:ext>
                  </a:extLst>
                </p:cNvPr>
                <p:cNvGrpSpPr/>
                <p:nvPr/>
              </p:nvGrpSpPr>
              <p:grpSpPr>
                <a:xfrm>
                  <a:off x="1856074" y="4949010"/>
                  <a:ext cx="1976398" cy="345724"/>
                  <a:chOff x="527744" y="3110490"/>
                  <a:chExt cx="2004843" cy="345724"/>
                </a:xfrm>
              </p:grpSpPr>
              <p:grpSp>
                <p:nvGrpSpPr>
                  <p:cNvPr id="97" name="Group 96">
                    <a:extLst>
                      <a:ext uri="{FF2B5EF4-FFF2-40B4-BE49-F238E27FC236}">
                        <a16:creationId xmlns:a16="http://schemas.microsoft.com/office/drawing/2014/main" id="{5EA95F07-1A2A-AC02-C8F4-C67DAC67659F}"/>
                      </a:ext>
                    </a:extLst>
                  </p:cNvPr>
                  <p:cNvGrpSpPr/>
                  <p:nvPr/>
                </p:nvGrpSpPr>
                <p:grpSpPr>
                  <a:xfrm>
                    <a:off x="527744" y="3110490"/>
                    <a:ext cx="2004843" cy="337352"/>
                    <a:chOff x="73942" y="3342330"/>
                    <a:chExt cx="2004843" cy="337352"/>
                  </a:xfrm>
                </p:grpSpPr>
                <p:sp>
                  <p:nvSpPr>
                    <p:cNvPr id="99" name="Rectangle 98">
                      <a:extLst>
                        <a:ext uri="{FF2B5EF4-FFF2-40B4-BE49-F238E27FC236}">
                          <a16:creationId xmlns:a16="http://schemas.microsoft.com/office/drawing/2014/main" id="{41E3975C-C2A2-1590-247F-59632A61C8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1393" y="3448863"/>
                      <a:ext cx="1747392" cy="150920"/>
                    </a:xfrm>
                    <a:prstGeom prst="rect">
                      <a:avLst/>
                    </a:prstGeom>
                    <a:solidFill>
                      <a:srgbClr val="FABF9D"/>
                    </a:soli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11000"/>
                        </a:srgbClr>
                      </a:outerShdw>
                    </a:effectLst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" name="Oval 99">
                      <a:extLst>
                        <a:ext uri="{FF2B5EF4-FFF2-40B4-BE49-F238E27FC236}">
                          <a16:creationId xmlns:a16="http://schemas.microsoft.com/office/drawing/2014/main" id="{8C6A1F49-A52E-2935-45AC-0D36FB765A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42" y="3342330"/>
                      <a:ext cx="346229" cy="337352"/>
                    </a:xfrm>
                    <a:prstGeom prst="ellipse">
                      <a:avLst/>
                    </a:prstGeom>
                    <a:solidFill>
                      <a:srgbClr val="FABF9D"/>
                    </a:soli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11000"/>
                        </a:srgbClr>
                      </a:outerShdw>
                    </a:effectLst>
                  </p:spPr>
                  <p:style>
                    <a:lnRef idx="1">
                      <a:schemeClr val="dk1"/>
                    </a:lnRef>
                    <a:fillRef idx="3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4FFED7D5-7EEB-7ADB-221D-19F3FFE6B00F}"/>
                      </a:ext>
                    </a:extLst>
                  </p:cNvPr>
                  <p:cNvSpPr txBox="1"/>
                  <p:nvPr/>
                </p:nvSpPr>
                <p:spPr>
                  <a:xfrm>
                    <a:off x="579630" y="3114582"/>
                    <a:ext cx="242455" cy="3416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BA655663-1F49-D289-7248-8C4A603EAEAB}"/>
                    </a:ext>
                  </a:extLst>
                </p:cNvPr>
                <p:cNvGrpSpPr/>
                <p:nvPr/>
              </p:nvGrpSpPr>
              <p:grpSpPr>
                <a:xfrm>
                  <a:off x="4473443" y="5335189"/>
                  <a:ext cx="1615031" cy="349372"/>
                  <a:chOff x="1720926" y="3479148"/>
                  <a:chExt cx="1638275" cy="349372"/>
                </a:xfrm>
              </p:grpSpPr>
              <p:grpSp>
                <p:nvGrpSpPr>
                  <p:cNvPr id="102" name="Group 101">
                    <a:extLst>
                      <a:ext uri="{FF2B5EF4-FFF2-40B4-BE49-F238E27FC236}">
                        <a16:creationId xmlns:a16="http://schemas.microsoft.com/office/drawing/2014/main" id="{A03F4F55-C15C-AA15-D34C-55177CF9675F}"/>
                      </a:ext>
                    </a:extLst>
                  </p:cNvPr>
                  <p:cNvGrpSpPr/>
                  <p:nvPr/>
                </p:nvGrpSpPr>
                <p:grpSpPr>
                  <a:xfrm>
                    <a:off x="1720926" y="3479148"/>
                    <a:ext cx="1638275" cy="337352"/>
                    <a:chOff x="1267124" y="3710988"/>
                    <a:chExt cx="1638275" cy="337352"/>
                  </a:xfrm>
                </p:grpSpPr>
                <p:sp>
                  <p:nvSpPr>
                    <p:cNvPr id="104" name="Rectangle 103">
                      <a:extLst>
                        <a:ext uri="{FF2B5EF4-FFF2-40B4-BE49-F238E27FC236}">
                          <a16:creationId xmlns:a16="http://schemas.microsoft.com/office/drawing/2014/main" id="{4C5DE256-28D1-D653-59C7-D62FB839F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4574" y="3817521"/>
                      <a:ext cx="1380825" cy="150920"/>
                    </a:xfrm>
                    <a:prstGeom prst="rect">
                      <a:avLst/>
                    </a:prstGeom>
                    <a:solidFill>
                      <a:srgbClr val="ACCEC0"/>
                    </a:soli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11000"/>
                        </a:srgbClr>
                      </a:outerShdw>
                    </a:effectLst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" name="Oval 104">
                      <a:extLst>
                        <a:ext uri="{FF2B5EF4-FFF2-40B4-BE49-F238E27FC236}">
                          <a16:creationId xmlns:a16="http://schemas.microsoft.com/office/drawing/2014/main" id="{54EA41B7-06A3-0D72-C445-4B7BE53382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67124" y="3710988"/>
                      <a:ext cx="346229" cy="337352"/>
                    </a:xfrm>
                    <a:prstGeom prst="ellipse">
                      <a:avLst/>
                    </a:prstGeom>
                    <a:solidFill>
                      <a:srgbClr val="ACCEC0"/>
                    </a:soli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11000"/>
                        </a:srgbClr>
                      </a:outerShdw>
                    </a:effectLst>
                  </p:spPr>
                  <p:style>
                    <a:lnRef idx="1">
                      <a:schemeClr val="dk1"/>
                    </a:lnRef>
                    <a:fillRef idx="3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4E281B5F-BB7F-B52F-DCD5-45F37B928E89}"/>
                      </a:ext>
                    </a:extLst>
                  </p:cNvPr>
                  <p:cNvSpPr txBox="1"/>
                  <p:nvPr/>
                </p:nvSpPr>
                <p:spPr>
                  <a:xfrm>
                    <a:off x="1778719" y="3486888"/>
                    <a:ext cx="242455" cy="3416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7112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3</a:t>
                    </a: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4DAC283F-CFC0-F8AE-9F51-CA99E950D08C}"/>
                    </a:ext>
                  </a:extLst>
                </p:cNvPr>
                <p:cNvGrpSpPr/>
                <p:nvPr/>
              </p:nvGrpSpPr>
              <p:grpSpPr>
                <a:xfrm>
                  <a:off x="1760559" y="5347811"/>
                  <a:ext cx="10473373" cy="991260"/>
                  <a:chOff x="1760559" y="5347811"/>
                  <a:chExt cx="10473373" cy="991260"/>
                </a:xfrm>
              </p:grpSpPr>
              <p:sp>
                <p:nvSpPr>
                  <p:cNvPr id="6" name="Arrow: Left 5">
                    <a:extLst>
                      <a:ext uri="{FF2B5EF4-FFF2-40B4-BE49-F238E27FC236}">
                        <a16:creationId xmlns:a16="http://schemas.microsoft.com/office/drawing/2014/main" id="{F701C4F0-1406-1868-BEDB-DB76E5BEFA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021103" y="5793000"/>
                    <a:ext cx="2185884" cy="356876"/>
                  </a:xfrm>
                  <a:prstGeom prst="leftArrow">
                    <a:avLst/>
                  </a:prstGeom>
                  <a:solidFill>
                    <a:srgbClr val="B29FD1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11000"/>
                      </a:srgb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81C6DADA-444E-AE0B-FA05-ADA391892ED6}"/>
                      </a:ext>
                    </a:extLst>
                  </p:cNvPr>
                  <p:cNvGrpSpPr/>
                  <p:nvPr/>
                </p:nvGrpSpPr>
                <p:grpSpPr>
                  <a:xfrm>
                    <a:off x="1760559" y="5417454"/>
                    <a:ext cx="8295625" cy="921617"/>
                    <a:chOff x="2049128" y="5700849"/>
                    <a:chExt cx="8415021" cy="921617"/>
                  </a:xfrm>
                </p:grpSpPr>
                <p:sp>
                  <p:nvSpPr>
                    <p:cNvPr id="3" name="Rectangle 2">
                      <a:extLst>
                        <a:ext uri="{FF2B5EF4-FFF2-40B4-BE49-F238E27FC236}">
                          <a16:creationId xmlns:a16="http://schemas.microsoft.com/office/drawing/2014/main" id="{C9440497-CC89-DEA0-D561-4EB8F6D5E9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49128" y="6165498"/>
                      <a:ext cx="8361507" cy="180616"/>
                    </a:xfrm>
                    <a:prstGeom prst="rect">
                      <a:avLst/>
                    </a:prstGeom>
                    <a:gradFill flip="none" rotWithShape="1">
                      <a:gsLst>
                        <a:gs pos="85000">
                          <a:srgbClr val="00628E"/>
                        </a:gs>
                        <a:gs pos="67000">
                          <a:srgbClr val="5698A7"/>
                        </a:gs>
                        <a:gs pos="34000">
                          <a:srgbClr val="ACCEC0"/>
                        </a:gs>
                        <a:gs pos="43000">
                          <a:srgbClr val="9BBBB2"/>
                        </a:gs>
                        <a:gs pos="27000">
                          <a:srgbClr val="EAB99D"/>
                        </a:gs>
                        <a:gs pos="0">
                          <a:srgbClr val="F7955B"/>
                        </a:gs>
                        <a:gs pos="100000">
                          <a:srgbClr val="666699"/>
                        </a:gs>
                      </a:gsLst>
                      <a:lin ang="0" scaled="1"/>
                      <a:tileRect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12000"/>
                        </a:srgbClr>
                      </a:outerShdw>
                    </a:effectLst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A27A14E3-D7C0-DD59-D21E-4F9771772B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80251" y="5700849"/>
                      <a:ext cx="83898" cy="921617"/>
                    </a:xfrm>
                    <a:prstGeom prst="rect">
                      <a:avLst/>
                    </a:prstGeom>
                    <a:solidFill>
                      <a:srgbClr val="666699"/>
                    </a:soli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10000"/>
                        </a:srgbClr>
                      </a:outerShdw>
                    </a:effectLst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82BCDCB3-6F4E-FD37-0A77-98C2F644288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48048" y="5347811"/>
                    <a:ext cx="2185884" cy="58477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t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1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VA is ready to see</a:t>
                    </a:r>
                    <a:b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</a:br>
                    <a:r>
                      <a: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rPr>
                      <a:t>the first patient!</a:t>
                    </a:r>
                  </a:p>
                </p:txBody>
              </p:sp>
            </p:grp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799A248-3B47-C6FC-6D6D-813ECB10C449}"/>
                    </a:ext>
                  </a:extLst>
                </p:cNvPr>
                <p:cNvSpPr/>
                <p:nvPr/>
              </p:nvSpPr>
              <p:spPr>
                <a:xfrm>
                  <a:off x="1739047" y="5279124"/>
                  <a:ext cx="85787" cy="788622"/>
                </a:xfrm>
                <a:prstGeom prst="rect">
                  <a:avLst/>
                </a:prstGeom>
                <a:gradFill flip="none" rotWithShape="1">
                  <a:gsLst>
                    <a:gs pos="49000">
                      <a:srgbClr val="F7955B"/>
                    </a:gs>
                    <a:gs pos="100000">
                      <a:srgbClr val="FABF9D"/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11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0321B70-3CF8-0D44-109A-0995A660F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80169" y="5572152"/>
              <a:ext cx="2148944" cy="1509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5641640-FE4A-C479-133A-19BB6A076AC5}"/>
                </a:ext>
              </a:extLst>
            </p:cNvPr>
            <p:cNvSpPr/>
            <p:nvPr/>
          </p:nvSpPr>
          <p:spPr>
            <a:xfrm>
              <a:off x="1967072" y="5458291"/>
              <a:ext cx="341317" cy="3373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BB71753-DFD0-9C6C-EB37-CD2F2393972B}"/>
                </a:ext>
              </a:extLst>
            </p:cNvPr>
            <p:cNvSpPr txBox="1"/>
            <p:nvPr/>
          </p:nvSpPr>
          <p:spPr>
            <a:xfrm>
              <a:off x="2018222" y="5462383"/>
              <a:ext cx="239015" cy="341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8B2E80-5445-CF29-DF96-DCCE473FCB4C}"/>
              </a:ext>
            </a:extLst>
          </p:cNvPr>
          <p:cNvSpPr txBox="1">
            <a:spLocks/>
          </p:cNvSpPr>
          <p:nvPr/>
        </p:nvSpPr>
        <p:spPr>
          <a:xfrm>
            <a:off x="0" y="6581201"/>
            <a:ext cx="121945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DRAFT – Internal VA Use Only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48D7C4-4986-A5E7-FAFC-1AAD6FE84B51}"/>
              </a:ext>
            </a:extLst>
          </p:cNvPr>
          <p:cNvSpPr txBox="1"/>
          <p:nvPr/>
        </p:nvSpPr>
        <p:spPr>
          <a:xfrm>
            <a:off x="7879" y="6518169"/>
            <a:ext cx="7642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*Timeline reflects FDA approval. Without approval, the timeline ends at Step 1</a:t>
            </a:r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99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F0A31C-C922-C0A4-11C2-19362B57B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33157"/>
            <a:ext cx="10972800" cy="53879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IPT Updates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Drs. Wiechers and Tenhula participated in a CMS Grand Rounds panel on 7/9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15Ops memo announcing IPT released 7/10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Re-scheduled training session to 7/23 with Lykos for IPT members to enhance understanding of treatment modality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Arial"/>
                <a:cs typeface="Arial"/>
              </a:rPr>
              <a:t>Executive Steering Committee planning Face-to-Face for 8/27-8/28 to accelerate work following FDA decision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Lykos Therapeutics Updates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Lykos is revising treatment manual and training materials with anticipated finalization date in the fall (after REMS and label requirements released)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Lykos is preparing for a commercial launch anticipated in early 2025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dirty="0">
                <a:latin typeface="Arial"/>
                <a:cs typeface="Arial"/>
              </a:rPr>
              <a:t>Agreement to customize training program for VHA providers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67D82-A18C-1989-2FC9-32E79BD9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3F1FA-211D-3044-9E35-958DFBC261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BF5579-6444-D894-D22D-2223A14A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Psychedelic Assisted Therapy Updates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9A1ED-CC8A-C975-B995-4E40737A334F}"/>
              </a:ext>
            </a:extLst>
          </p:cNvPr>
          <p:cNvSpPr txBox="1"/>
          <p:nvPr/>
        </p:nvSpPr>
        <p:spPr>
          <a:xfrm>
            <a:off x="3523376" y="6321104"/>
            <a:ext cx="4639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Draft - Pre-Decisional Deliberative Document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Internal VA Use Only</a:t>
            </a:r>
          </a:p>
        </p:txBody>
      </p:sp>
    </p:spTree>
    <p:extLst>
      <p:ext uri="{BB962C8B-B14F-4D97-AF65-F5344CB8AC3E}">
        <p14:creationId xmlns:p14="http://schemas.microsoft.com/office/powerpoint/2010/main" val="277722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B5C84-2B60-5697-F722-6FD5604E0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198" y="730986"/>
            <a:ext cx="11527604" cy="904253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kern="100" dirty="0"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There are multiple studies funded by external sources being conducted with Veteran participants at VA Medical </a:t>
            </a:r>
            <a:r>
              <a:rPr lang="en-US" kern="1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</a:t>
            </a:r>
            <a:r>
              <a:rPr lang="en-US" kern="100" dirty="0"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enters.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3D2A4C-8972-05C2-F382-0772461E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4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F5A52C-1531-3B66-A093-49612E5D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>
                <a:latin typeface="Arial" panose="020B0604020202020204" pitchFamily="34" charset="0"/>
                <a:cs typeface="Arial" panose="020B0604020202020204" pitchFamily="34" charset="0"/>
              </a:rPr>
              <a:t>Current Psychedelics Research in VA (Externally Funded)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5AB49-650B-F4DD-C1CB-685C30792564}"/>
              </a:ext>
            </a:extLst>
          </p:cNvPr>
          <p:cNvSpPr txBox="1"/>
          <p:nvPr/>
        </p:nvSpPr>
        <p:spPr>
          <a:xfrm>
            <a:off x="10633916" y="5866403"/>
            <a:ext cx="1495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*As of 6/11/2024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1D8BB86-C093-5553-015C-E26B6F297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805479"/>
              </p:ext>
            </p:extLst>
          </p:nvPr>
        </p:nvGraphicFramePr>
        <p:xfrm>
          <a:off x="810378" y="1647701"/>
          <a:ext cx="10571243" cy="4206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21390">
                  <a:extLst>
                    <a:ext uri="{9D8B030D-6E8A-4147-A177-3AD203B41FA5}">
                      <a16:colId xmlns:a16="http://schemas.microsoft.com/office/drawing/2014/main" val="2888348463"/>
                    </a:ext>
                  </a:extLst>
                </a:gridCol>
                <a:gridCol w="1899312">
                  <a:extLst>
                    <a:ext uri="{9D8B030D-6E8A-4147-A177-3AD203B41FA5}">
                      <a16:colId xmlns:a16="http://schemas.microsoft.com/office/drawing/2014/main" val="4080605586"/>
                    </a:ext>
                  </a:extLst>
                </a:gridCol>
                <a:gridCol w="2116847">
                  <a:extLst>
                    <a:ext uri="{9D8B030D-6E8A-4147-A177-3AD203B41FA5}">
                      <a16:colId xmlns:a16="http://schemas.microsoft.com/office/drawing/2014/main" val="4056437337"/>
                    </a:ext>
                  </a:extLst>
                </a:gridCol>
                <a:gridCol w="2116847">
                  <a:extLst>
                    <a:ext uri="{9D8B030D-6E8A-4147-A177-3AD203B41FA5}">
                      <a16:colId xmlns:a16="http://schemas.microsoft.com/office/drawing/2014/main" val="2640006869"/>
                    </a:ext>
                  </a:extLst>
                </a:gridCol>
                <a:gridCol w="2116847">
                  <a:extLst>
                    <a:ext uri="{9D8B030D-6E8A-4147-A177-3AD203B41FA5}">
                      <a16:colId xmlns:a16="http://schemas.microsoft.com/office/drawing/2014/main" val="1721358320"/>
                    </a:ext>
                  </a:extLst>
                </a:gridCol>
              </a:tblGrid>
              <a:tr h="302487">
                <a:tc rowSpan="2">
                  <a:txBody>
                    <a:bodyPr/>
                    <a:lstStyle/>
                    <a:p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Psilocybin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723343"/>
                  </a:ext>
                </a:extLst>
              </a:tr>
              <a:tr h="302487">
                <a:tc vMerge="1">
                  <a:txBody>
                    <a:bodyPr/>
                    <a:lstStyle/>
                    <a:p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111003"/>
                  </a:ext>
                </a:extLst>
              </a:tr>
              <a:tr h="3024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Albany, 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382732"/>
                  </a:ext>
                </a:extLst>
              </a:tr>
              <a:tr h="3024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Bronx, 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843065"/>
                  </a:ext>
                </a:extLst>
              </a:tr>
              <a:tr h="3303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Loma Linda, 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262618"/>
                  </a:ext>
                </a:extLst>
              </a:tr>
              <a:tr h="3303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 Angeles, 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165137"/>
                  </a:ext>
                </a:extLst>
              </a:tr>
              <a:tr h="3024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Palo Alto, 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400440"/>
                  </a:ext>
                </a:extLst>
              </a:tr>
              <a:tr h="3024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Portland, 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837264"/>
                  </a:ext>
                </a:extLst>
              </a:tr>
              <a:tr h="3024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 Diego, 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019869"/>
                  </a:ext>
                </a:extLst>
              </a:tr>
              <a:tr h="3303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 Francisco, 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818808"/>
                  </a:ext>
                </a:extLst>
              </a:tr>
              <a:tr h="3024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Phoenix, AZ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623003"/>
                  </a:ext>
                </a:extLst>
              </a:tr>
              <a:tr h="330387"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West Haven, 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86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26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2EF82A-8574-F980-13BC-216E4DDA9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783" y="899034"/>
            <a:ext cx="11252433" cy="5287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Arial"/>
                <a:cs typeface="Arial"/>
              </a:rPr>
              <a:t>First deadline for submission of pre-applications closed 4/1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21 of 31 pre-applications accepted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Arial"/>
                <a:cs typeface="Arial"/>
              </a:rPr>
              <a:t>6 submissions accepted for first deadline for scientific proposals; anticipate more submissions at next deadline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Arial"/>
                <a:cs typeface="Arial"/>
              </a:rPr>
              <a:t>Announcement of funding decisions will occur on a rolling basis, beginning in late August/early September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 staff will work with Principal Investigators to accelerate start-up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99185-C2A5-A043-C6BE-CBB31D88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5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3A691D-AE96-14CE-4E41-F1C22255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latin typeface="Arial"/>
                <a:cs typeface="Arial"/>
              </a:rPr>
              <a:t>Launch of VA Funded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661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2EF82A-8574-F980-13BC-216E4DDA9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783" y="865643"/>
            <a:ext cx="11252433" cy="43433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VHA Psychedelic Assisted Therapy IPT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Sequester to accelerate review/adoption of REMS/label requirements 8/27-8/28 in DC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Continue providing monthly updates to VA as part of Departmental strategic initiative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>
                <a:latin typeface="Arial"/>
                <a:cs typeface="Arial"/>
              </a:rPr>
              <a:t>Continue engagement with Lykos team to support roll out of MDMA-AT (if approved)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>
                <a:latin typeface="Arial"/>
                <a:cs typeface="Arial"/>
              </a:rPr>
              <a:t>Stand up Community Care Workstream to progress on deliverables to establish a community care pathway for MDMA-AT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>
                <a:latin typeface="Arial"/>
                <a:cs typeface="Arial"/>
              </a:rPr>
              <a:t>Produce draft eligibility criteria and prioritization plan for VA enrollment in MDMA-AT treatment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>
                <a:latin typeface="Arial"/>
                <a:cs typeface="Arial"/>
              </a:rPr>
              <a:t>Identify potential lead implementation sites for initial roll 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99185-C2A5-A043-C6BE-CBB31D88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F1FA-211D-3044-9E35-958DFBC26156}" type="slidenum">
              <a:rPr lang="en-US" smtClean="0">
                <a:solidFill>
                  <a:prstClr val="white"/>
                </a:solidFill>
              </a:rPr>
              <a:pPr/>
              <a:t>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3A691D-AE96-14CE-4E41-F1C22255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8736701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Office Theme">
  <a:themeElements>
    <a:clrScheme name="myVA">
      <a:dk1>
        <a:srgbClr val="000000"/>
      </a:dk1>
      <a:lt1>
        <a:sysClr val="window" lastClr="FFFFFF"/>
      </a:lt1>
      <a:dk2>
        <a:srgbClr val="003F72"/>
      </a:dk2>
      <a:lt2>
        <a:srgbClr val="EEECE1"/>
      </a:lt2>
      <a:accent1>
        <a:srgbClr val="C62630"/>
      </a:accent1>
      <a:accent2>
        <a:srgbClr val="0083BE"/>
      </a:accent2>
      <a:accent3>
        <a:srgbClr val="F3CF45"/>
      </a:accent3>
      <a:accent4>
        <a:srgbClr val="F7955B"/>
      </a:accent4>
      <a:accent5>
        <a:srgbClr val="839097"/>
      </a:accent5>
      <a:accent6>
        <a:srgbClr val="DCDDDE"/>
      </a:accent6>
      <a:hlink>
        <a:srgbClr val="C2B48F"/>
      </a:hlink>
      <a:folHlink>
        <a:srgbClr val="A3A86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9_Office Theme">
  <a:themeElements>
    <a:clrScheme name="myVA">
      <a:dk1>
        <a:srgbClr val="000000"/>
      </a:dk1>
      <a:lt1>
        <a:sysClr val="window" lastClr="FFFFFF"/>
      </a:lt1>
      <a:dk2>
        <a:srgbClr val="003F72"/>
      </a:dk2>
      <a:lt2>
        <a:srgbClr val="EEECE1"/>
      </a:lt2>
      <a:accent1>
        <a:srgbClr val="C62630"/>
      </a:accent1>
      <a:accent2>
        <a:srgbClr val="0083BE"/>
      </a:accent2>
      <a:accent3>
        <a:srgbClr val="F3CF45"/>
      </a:accent3>
      <a:accent4>
        <a:srgbClr val="F7955B"/>
      </a:accent4>
      <a:accent5>
        <a:srgbClr val="839097"/>
      </a:accent5>
      <a:accent6>
        <a:srgbClr val="DCDDDE"/>
      </a:accent6>
      <a:hlink>
        <a:srgbClr val="C2B48F"/>
      </a:hlink>
      <a:folHlink>
        <a:srgbClr val="A3A86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9_Office Theme">
  <a:themeElements>
    <a:clrScheme name="myVA">
      <a:dk1>
        <a:srgbClr val="000000"/>
      </a:dk1>
      <a:lt1>
        <a:sysClr val="window" lastClr="FFFFFF"/>
      </a:lt1>
      <a:dk2>
        <a:srgbClr val="003F72"/>
      </a:dk2>
      <a:lt2>
        <a:srgbClr val="EEECE1"/>
      </a:lt2>
      <a:accent1>
        <a:srgbClr val="C62630"/>
      </a:accent1>
      <a:accent2>
        <a:srgbClr val="0083BE"/>
      </a:accent2>
      <a:accent3>
        <a:srgbClr val="F3CF45"/>
      </a:accent3>
      <a:accent4>
        <a:srgbClr val="F7955B"/>
      </a:accent4>
      <a:accent5>
        <a:srgbClr val="839097"/>
      </a:accent5>
      <a:accent6>
        <a:srgbClr val="DCDDDE"/>
      </a:accent6>
      <a:hlink>
        <a:srgbClr val="C2B48F"/>
      </a:hlink>
      <a:folHlink>
        <a:srgbClr val="A3A86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3_Office Theme">
  <a:themeElements>
    <a:clrScheme name="myVA">
      <a:dk1>
        <a:srgbClr val="000000"/>
      </a:dk1>
      <a:lt1>
        <a:sysClr val="window" lastClr="FFFFFF"/>
      </a:lt1>
      <a:dk2>
        <a:srgbClr val="003F72"/>
      </a:dk2>
      <a:lt2>
        <a:srgbClr val="EEECE1"/>
      </a:lt2>
      <a:accent1>
        <a:srgbClr val="C62630"/>
      </a:accent1>
      <a:accent2>
        <a:srgbClr val="0083BE"/>
      </a:accent2>
      <a:accent3>
        <a:srgbClr val="F3CF45"/>
      </a:accent3>
      <a:accent4>
        <a:srgbClr val="F7955B"/>
      </a:accent4>
      <a:accent5>
        <a:srgbClr val="839097"/>
      </a:accent5>
      <a:accent6>
        <a:srgbClr val="DCDDDE"/>
      </a:accent6>
      <a:hlink>
        <a:srgbClr val="C2B48F"/>
      </a:hlink>
      <a:folHlink>
        <a:srgbClr val="A3A86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Type xmlns="46ade7e5-a61b-41ef-8b65-1672892065de">Briefing Papers and Congressional Responses</DocumentType>
    <Topic xmlns="46ade7e5-a61b-41ef-8b65-1672892065de">Psychedelics</Topic>
    <TaxCatchAll xmlns="6fd99b86-a2da-47ef-ab26-55e7009dfe6e" xsi:nil="true"/>
    <lcf76f155ced4ddcb4097134ff3c332f xmlns="46ade7e5-a61b-41ef-8b65-1672892065de">
      <Terms xmlns="http://schemas.microsoft.com/office/infopath/2007/PartnerControls"/>
    </lcf76f155ced4ddcb4097134ff3c332f>
    <PageReference xmlns="46ade7e5-a61b-41ef-8b65-1672892065d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70CDE65625E449B41BBE9E2A9D6E5A" ma:contentTypeVersion="14" ma:contentTypeDescription="Create a new document." ma:contentTypeScope="" ma:versionID="8b6d79dcc5f754c7cfb59536e3674b4c">
  <xsd:schema xmlns:xsd="http://www.w3.org/2001/XMLSchema" xmlns:xs="http://www.w3.org/2001/XMLSchema" xmlns:p="http://schemas.microsoft.com/office/2006/metadata/properties" xmlns:ns2="46ade7e5-a61b-41ef-8b65-1672892065de" xmlns:ns3="6fd99b86-a2da-47ef-ab26-55e7009dfe6e" targetNamespace="http://schemas.microsoft.com/office/2006/metadata/properties" ma:root="true" ma:fieldsID="64eb71bd406154cbfd68acd3ef293514" ns2:_="" ns3:_="">
    <xsd:import namespace="46ade7e5-a61b-41ef-8b65-1672892065de"/>
    <xsd:import namespace="6fd99b86-a2da-47ef-ab26-55e7009dfe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Topic"/>
                <xsd:element ref="ns2:DocumentType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PageReferenc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de7e5-a61b-41ef-8b65-1672892065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opic" ma:index="12" ma:displayName="Topic" ma:format="Dropdown" ma:internalName="Topic">
      <xsd:simpleType>
        <xsd:restriction base="dms:Choice">
          <xsd:enumeration value="Animal Research"/>
          <xsd:enumeration value="Artificial Intelligence (AI)"/>
          <xsd:enumeration value="Budget"/>
          <xsd:enumeration value="Cannabis"/>
          <xsd:enumeration value="Centers"/>
          <xsd:enumeration value="Clinical Trials"/>
          <xsd:enumeration value="Community Care"/>
          <xsd:enumeration value="Congress"/>
          <xsd:enumeration value="COVID"/>
          <xsd:enumeration value="Enterprise Transformation"/>
          <xsd:enumeration value="General ORD"/>
          <xsd:enumeration value="Mental Health"/>
          <xsd:enumeration value="Mortality Data"/>
          <xsd:enumeration value="MVP"/>
          <xsd:enumeration value="NRAC"/>
          <xsd:enumeration value="Precision Oncology"/>
          <xsd:enumeration value="Psychedelics"/>
          <xsd:enumeration value="Rural Health"/>
          <xsd:enumeration value="Spinal Cord Injury (SCI)"/>
          <xsd:enumeration value="Suicide Prevention"/>
          <xsd:enumeration value="Traumatic Brain Injury (TBI)"/>
          <xsd:enumeration value="Technology Transfer Program"/>
          <xsd:enumeration value="Toxic Exposure - MERP"/>
          <xsd:enumeration value="VA Secretary"/>
          <xsd:enumeration value="VHA USH"/>
          <xsd:enumeration value="Women’s Health – Maternity and Infertility"/>
        </xsd:restriction>
      </xsd:simpleType>
    </xsd:element>
    <xsd:element name="DocumentType" ma:index="13" ma:displayName="Document Type" ma:format="Dropdown" ma:internalName="DocumentType">
      <xsd:simpleType>
        <xsd:restriction base="dms:Choice">
          <xsd:enumeration value="Briefing Papers - Congress"/>
          <xsd:enumeration value="Briefing Papers - VA-VHA"/>
          <xsd:enumeration value="Briefing Papers - Other"/>
          <xsd:enumeration value="Budget Justification"/>
          <xsd:enumeration value="GAO"/>
          <xsd:enumeration value="Mandated Congressional Reports"/>
          <xsd:enumeration value="News Articles"/>
          <xsd:enumeration value="Press Releases"/>
          <xsd:enumeration value="Publications-Studies"/>
          <xsd:enumeration value="RFA"/>
          <xsd:enumeration value="RFI - Congress"/>
          <xsd:enumeration value="Slide Presentations"/>
          <xsd:enumeration value="Talking Points - Congress"/>
          <xsd:enumeration value="Testimony - Congress Speeches"/>
          <xsd:enumeration value="Talking Points - VA-VHA"/>
          <xsd:enumeration value="Talking Points - Other"/>
          <xsd:enumeration value="Other-Misc Documents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0ac6538-d41a-4f9a-bd67-5f7ae81a6d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PageReference" ma:index="21" nillable="true" ma:displayName="Page Reference" ma:description="provide a page reference for longer documents" ma:format="Dropdown" ma:internalName="PageReferenc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d99b86-a2da-47ef-ab26-55e7009dfe6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736d572-348b-4845-bc48-0c7ae7dc85c2}" ma:internalName="TaxCatchAll" ma:showField="CatchAllData" ma:web="6fd99b86-a2da-47ef-ab26-55e7009dfe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8CAA49-5187-4CC6-8516-97A4C44F06FA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635d6996-da14-40ae-8c37-cfc396fc992f"/>
    <ds:schemaRef ds:uri="http://schemas.microsoft.com/office/2006/documentManagement/types"/>
    <ds:schemaRef ds:uri="http://schemas.microsoft.com/office/infopath/2007/PartnerControls"/>
    <ds:schemaRef ds:uri="e73c86d7-3aea-4ec8-b83f-58a61214ad7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7415090-2678-4363-B617-5CF8FD2664E7}"/>
</file>

<file path=customXml/itemProps3.xml><?xml version="1.0" encoding="utf-8"?>
<ds:datastoreItem xmlns:ds="http://schemas.openxmlformats.org/officeDocument/2006/customXml" ds:itemID="{67CD317E-0557-4E6F-83FB-8AC595B646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95f1b23-abaf-45ee-821d-b7ab251ab3bf}" enabled="0" method="" siteId="{e95f1b23-abaf-45ee-821d-b7ab251ab3b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7277</TotalTime>
  <Words>706</Words>
  <Application>Microsoft Office PowerPoint</Application>
  <PresentationFormat>Widescreen</PresentationFormat>
  <Paragraphs>182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Wingdings</vt:lpstr>
      <vt:lpstr>3_Office Theme</vt:lpstr>
      <vt:lpstr>39_Office Theme</vt:lpstr>
      <vt:lpstr>39_Office Theme</vt:lpstr>
      <vt:lpstr>13_Office Theme</vt:lpstr>
      <vt:lpstr>think-cell Slide</vt:lpstr>
      <vt:lpstr>Update on Psychedelic Assisted Treatment for Mental Health</vt:lpstr>
      <vt:lpstr>Readiness to Launch VA Psychedelic Assisted Therapy</vt:lpstr>
      <vt:lpstr>Psychedelic Assisted Therapy Updates</vt:lpstr>
      <vt:lpstr>Current Psychedelics Research in VA (Externally Funded)</vt:lpstr>
      <vt:lpstr>Launch of VA Funded Research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7-24-24: VHA Briefing for USH Small Group: Update on Psychedelic Assisted Treatment for Mental Health</dc:title>
  <dc:creator>Wiechers, Ilse R. (she/her/hers)</dc:creator>
  <cp:lastModifiedBy>Young, Geri E. (VACO)</cp:lastModifiedBy>
  <cp:revision>125</cp:revision>
  <dcterms:created xsi:type="dcterms:W3CDTF">2023-07-25T14:44:00Z</dcterms:created>
  <dcterms:modified xsi:type="dcterms:W3CDTF">2024-07-19T12:58:24Z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0x010100F670CDE65625E449B41BBE9E2A9D6E5A</vt:lpwstr>
  </property>
  <property fmtid="{D5CDD505-2E9C-101B-9397-08002B2CF9AE}" pid="3" name="MediaServiceImageTags">
    <vt:lpwstr/>
  </property>
</Properties>
</file>