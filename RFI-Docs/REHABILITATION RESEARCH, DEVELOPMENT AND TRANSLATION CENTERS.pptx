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3.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4.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5.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5" r:id="rId5"/>
    <p:sldMasterId id="2147483701" r:id="rId6"/>
    <p:sldMasterId id="2147483726" r:id="rId7"/>
    <p:sldMasterId id="2147483738" r:id="rId8"/>
  </p:sldMasterIdLst>
  <p:notesMasterIdLst>
    <p:notesMasterId r:id="rId20"/>
  </p:notesMasterIdLst>
  <p:sldIdLst>
    <p:sldId id="256" r:id="rId9"/>
    <p:sldId id="2134806373" r:id="rId10"/>
    <p:sldId id="2147479587" r:id="rId11"/>
    <p:sldId id="2147479616" r:id="rId12"/>
    <p:sldId id="2134806382" r:id="rId13"/>
    <p:sldId id="2147479617" r:id="rId14"/>
    <p:sldId id="2147479615" r:id="rId15"/>
    <p:sldId id="2147479581" r:id="rId16"/>
    <p:sldId id="2147479590" r:id="rId17"/>
    <p:sldId id="2147479613" r:id="rId18"/>
    <p:sldId id="214747959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D1983E-B331-46DD-A85D-9B193961DD04}" v="1" dt="2024-11-20T15:31:41.2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84606" autoAdjust="0"/>
  </p:normalViewPr>
  <p:slideViewPr>
    <p:cSldViewPr snapToGrid="0">
      <p:cViewPr varScale="1">
        <p:scale>
          <a:sx n="96" d="100"/>
          <a:sy n="96" d="100"/>
        </p:scale>
        <p:origin x="103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27A3A7-9F55-4346-A464-4FB331F1CBAC}" type="datetimeFigureOut">
              <a:rPr lang="en-US" smtClean="0"/>
              <a:t>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EE0ACC-5D8A-436C-A2FD-4684099F62D6}" type="slidenum">
              <a:rPr lang="en-US" smtClean="0"/>
              <a:t>‹#›</a:t>
            </a:fld>
            <a:endParaRPr lang="en-US"/>
          </a:p>
        </p:txBody>
      </p:sp>
    </p:spTree>
    <p:extLst>
      <p:ext uri="{BB962C8B-B14F-4D97-AF65-F5344CB8AC3E}">
        <p14:creationId xmlns:p14="http://schemas.microsoft.com/office/powerpoint/2010/main" val="3873038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centerforneuro.org/communication-and-mobility/"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RRD research occurs across the country as illustrated in purple. The </a:t>
            </a:r>
            <a:r>
              <a:rPr lang="en-US" dirty="0" err="1"/>
              <a:t>pindrops</a:t>
            </a:r>
            <a:r>
              <a:rPr lang="en-US" dirty="0"/>
              <a:t> you see represent our RRD Centers, which serve as hubs and </a:t>
            </a:r>
            <a:r>
              <a:rPr lang="en-US" b="1" dirty="0"/>
              <a:t>Collectively they Address Rehabilitation Needs to Improve Function and Independence. </a:t>
            </a:r>
            <a:r>
              <a:rPr lang="en-US" sz="1200" dirty="0">
                <a:solidFill>
                  <a:srgbClr val="000000"/>
                </a:solidFill>
              </a:rPr>
              <a:t>Each Center addresses unique/distinct Veteran Rehabilitation needs under their Mission</a:t>
            </a:r>
          </a:p>
          <a:p>
            <a:pPr marL="171450" indent="-171450">
              <a:lnSpc>
                <a:spcPct val="170000"/>
              </a:lnSpc>
              <a:buFont typeface="Arial" panose="020B0604020202020204" pitchFamily="34" charset="0"/>
              <a:buChar char="•"/>
            </a:pPr>
            <a:r>
              <a:rPr lang="en-US" sz="1200" dirty="0">
                <a:solidFill>
                  <a:srgbClr val="000000"/>
                </a:solidFill>
              </a:rPr>
              <a:t>Center Leadership –includes VA Clinician and interdisciplinary teams.  </a:t>
            </a:r>
            <a:endParaRPr lang="en-US" sz="1200" b="0" i="0" u="none" strike="noStrike" baseline="0" dirty="0">
              <a:solidFill>
                <a:srgbClr val="000000"/>
              </a:solidFill>
            </a:endParaRPr>
          </a:p>
          <a:p>
            <a:pPr marL="171450" indent="-171450">
              <a:lnSpc>
                <a:spcPct val="170000"/>
              </a:lnSpc>
              <a:buFont typeface="Arial" panose="020B0604020202020204" pitchFamily="34" charset="0"/>
              <a:buChar char="•"/>
            </a:pPr>
            <a:r>
              <a:rPr lang="en-US" sz="1200" dirty="0">
                <a:solidFill>
                  <a:srgbClr val="000000"/>
                </a:solidFill>
              </a:rPr>
              <a:t>Many of these Centers pursue patents – </a:t>
            </a:r>
          </a:p>
          <a:p>
            <a:pPr marL="171450" indent="-171450">
              <a:lnSpc>
                <a:spcPct val="170000"/>
              </a:lnSpc>
              <a:buFont typeface="Arial" panose="020B0604020202020204" pitchFamily="34" charset="0"/>
              <a:buChar char="•"/>
            </a:pPr>
            <a:r>
              <a:rPr lang="en-US" sz="1200" b="0" i="0" u="none" strike="noStrike" baseline="0" dirty="0">
                <a:solidFill>
                  <a:srgbClr val="000000"/>
                </a:solidFill>
              </a:rPr>
              <a:t>Effective dissemination plan of research findings to stakeholders </a:t>
            </a:r>
          </a:p>
          <a:p>
            <a:pPr marL="171450" indent="-171450">
              <a:lnSpc>
                <a:spcPct val="170000"/>
              </a:lnSpc>
              <a:buFont typeface="Arial" panose="020B0604020202020204" pitchFamily="34" charset="0"/>
              <a:buChar char="•"/>
            </a:pPr>
            <a:r>
              <a:rPr lang="en-US" sz="1200" b="0" i="0" u="none" strike="noStrike" baseline="0" dirty="0">
                <a:solidFill>
                  <a:srgbClr val="000000"/>
                </a:solidFill>
              </a:rPr>
              <a:t>Strong training plan for new/early stage investigators; goal to support them along a </a:t>
            </a:r>
            <a:r>
              <a:rPr lang="en-US" sz="1200" dirty="0">
                <a:solidFill>
                  <a:srgbClr val="000000"/>
                </a:solidFill>
              </a:rPr>
              <a:t>research </a:t>
            </a:r>
            <a:r>
              <a:rPr lang="en-US" sz="1200" b="0" i="0" u="none" strike="noStrike" baseline="0" dirty="0">
                <a:solidFill>
                  <a:srgbClr val="000000"/>
                </a:solidFill>
              </a:rPr>
              <a:t>career pathway</a:t>
            </a:r>
          </a:p>
          <a:p>
            <a:pPr marL="0" indent="0">
              <a:lnSpc>
                <a:spcPct val="170000"/>
              </a:lnSpc>
              <a:buFont typeface="Arial" panose="020B0604020202020204" pitchFamily="34" charset="0"/>
              <a:buNone/>
            </a:pPr>
            <a:r>
              <a:rPr lang="en-US" sz="1200" b="0" i="0" u="none" strike="noStrike" baseline="0" dirty="0">
                <a:solidFill>
                  <a:srgbClr val="000000"/>
                </a:solidFill>
              </a:rPr>
              <a:t>I am not going to highlight a few key studies from these Centers, but I encourage you to visit the ORD website to learn more about the mission, active awards, and publications from each!</a:t>
            </a:r>
          </a:p>
          <a:p>
            <a:endParaRPr lang="en-US" dirty="0"/>
          </a:p>
          <a:p>
            <a:endParaRPr lang="en-US" dirty="0"/>
          </a:p>
          <a:p>
            <a:endParaRPr lang="en-US" dirty="0"/>
          </a:p>
          <a:p>
            <a:pPr marL="171450" indent="-171450">
              <a:buFont typeface="Arial" panose="020B0604020202020204" pitchFamily="34" charset="0"/>
              <a:buChar char="•"/>
            </a:pPr>
            <a:r>
              <a:rPr lang="en-US" dirty="0"/>
              <a:t>Hearing Loss</a:t>
            </a:r>
          </a:p>
          <a:p>
            <a:pPr marL="171450" indent="-171450">
              <a:buFont typeface="Arial" panose="020B0604020202020204" pitchFamily="34" charset="0"/>
              <a:buChar char="•"/>
            </a:pPr>
            <a:r>
              <a:rPr lang="en-US" dirty="0"/>
              <a:t>Tinnitus</a:t>
            </a:r>
          </a:p>
          <a:p>
            <a:pPr marL="171450" indent="-171450">
              <a:buFont typeface="Arial" panose="020B0604020202020204" pitchFamily="34" charset="0"/>
              <a:buChar char="•"/>
            </a:pPr>
            <a:r>
              <a:rPr lang="en-US" dirty="0"/>
              <a:t>Vestibular Dysfunction </a:t>
            </a:r>
          </a:p>
          <a:p>
            <a:pPr marL="171450" indent="-171450">
              <a:buFont typeface="Arial" panose="020B0604020202020204" pitchFamily="34" charset="0"/>
              <a:buChar char="•"/>
            </a:pPr>
            <a:r>
              <a:rPr lang="en-US" dirty="0"/>
              <a:t>Vision Loss</a:t>
            </a:r>
          </a:p>
          <a:p>
            <a:pPr marL="171450" indent="-171450">
              <a:buFont typeface="Arial" panose="020B0604020202020204" pitchFamily="34" charset="0"/>
              <a:buChar char="•"/>
            </a:pPr>
            <a:r>
              <a:rPr lang="en-US" dirty="0"/>
              <a:t>Traumatic Brain Injury</a:t>
            </a:r>
          </a:p>
          <a:p>
            <a:pPr marL="171450" indent="-171450">
              <a:buFont typeface="Arial" panose="020B0604020202020204" pitchFamily="34" charset="0"/>
              <a:buChar char="•"/>
            </a:pPr>
            <a:r>
              <a:rPr lang="en-US" dirty="0"/>
              <a:t>PTSD/Stress Disorders</a:t>
            </a:r>
          </a:p>
          <a:p>
            <a:pPr marL="171450" indent="-171450">
              <a:buFont typeface="Arial" panose="020B0604020202020204" pitchFamily="34" charset="0"/>
              <a:buChar char="•"/>
            </a:pPr>
            <a:r>
              <a:rPr lang="en-US" dirty="0"/>
              <a:t>Behavioral Health/Mental Health/Brain Health Conditions  </a:t>
            </a:r>
          </a:p>
          <a:p>
            <a:pPr marL="171450" indent="-171450">
              <a:buFont typeface="Arial" panose="020B0604020202020204" pitchFamily="34" charset="0"/>
              <a:buChar char="•"/>
            </a:pPr>
            <a:r>
              <a:rPr lang="en-US" dirty="0"/>
              <a:t>Homelessness/Integration</a:t>
            </a:r>
          </a:p>
          <a:p>
            <a:pPr marL="171450" indent="-171450">
              <a:buFont typeface="Arial" panose="020B0604020202020204" pitchFamily="34" charset="0"/>
              <a:buChar char="•"/>
            </a:pPr>
            <a:r>
              <a:rPr lang="en-US" dirty="0"/>
              <a:t>Needs of Women Veterans</a:t>
            </a:r>
          </a:p>
          <a:p>
            <a:pPr marL="171450" indent="-171450">
              <a:buFont typeface="Arial" panose="020B0604020202020204" pitchFamily="34" charset="0"/>
              <a:buChar char="•"/>
            </a:pPr>
            <a:r>
              <a:rPr lang="en-US" dirty="0"/>
              <a:t>Pain</a:t>
            </a:r>
          </a:p>
          <a:p>
            <a:pPr marL="171450" indent="-171450">
              <a:buFont typeface="Arial" panose="020B0604020202020204" pitchFamily="34" charset="0"/>
              <a:buChar char="•"/>
            </a:pPr>
            <a:r>
              <a:rPr lang="en-US" dirty="0"/>
              <a:t>Limb Loss</a:t>
            </a:r>
          </a:p>
          <a:p>
            <a:pPr marL="171450" indent="-171450">
              <a:buFont typeface="Arial" panose="020B0604020202020204" pitchFamily="34" charset="0"/>
              <a:buChar char="•"/>
            </a:pPr>
            <a:r>
              <a:rPr lang="en-US" dirty="0"/>
              <a:t>Musculoskeletal Disorders </a:t>
            </a:r>
          </a:p>
          <a:p>
            <a:pPr marL="171450" indent="-171450">
              <a:buFont typeface="Arial" panose="020B0604020202020204" pitchFamily="34" charset="0"/>
              <a:buChar char="•"/>
            </a:pPr>
            <a:r>
              <a:rPr lang="en-US" dirty="0"/>
              <a:t>Traditional &amp; Neural Prosthetics</a:t>
            </a:r>
          </a:p>
          <a:p>
            <a:pPr marL="171450" indent="-171450">
              <a:buFont typeface="Arial" panose="020B0604020202020204" pitchFamily="34" charset="0"/>
              <a:buChar char="•"/>
            </a:pPr>
            <a:r>
              <a:rPr lang="en-US" dirty="0"/>
              <a:t>Brain Computer Interface/Brain Machine Interface</a:t>
            </a:r>
          </a:p>
          <a:p>
            <a:pPr marL="171450" indent="-171450">
              <a:buFont typeface="Arial" panose="020B0604020202020204" pitchFamily="34" charset="0"/>
              <a:buChar char="•"/>
            </a:pPr>
            <a:r>
              <a:rPr lang="en-US" dirty="0"/>
              <a:t>Wheeled Mobility</a:t>
            </a:r>
          </a:p>
          <a:p>
            <a:pPr marL="171450" indent="-171450">
              <a:buFont typeface="Arial" panose="020B0604020202020204" pitchFamily="34" charset="0"/>
              <a:buChar char="•"/>
            </a:pPr>
            <a:r>
              <a:rPr lang="en-US" dirty="0"/>
              <a:t>Robotics</a:t>
            </a:r>
          </a:p>
          <a:p>
            <a:pPr marL="171450" indent="-171450">
              <a:buFont typeface="Arial" panose="020B0604020202020204" pitchFamily="34" charset="0"/>
              <a:buChar char="•"/>
            </a:pPr>
            <a:r>
              <a:rPr lang="en-US" dirty="0"/>
              <a:t>Electrical stimulation</a:t>
            </a:r>
          </a:p>
          <a:p>
            <a:pPr marL="171450" indent="-171450">
              <a:buFont typeface="Arial" panose="020B0604020202020204" pitchFamily="34" charset="0"/>
              <a:buChar char="•"/>
            </a:pPr>
            <a:r>
              <a:rPr lang="en-US" dirty="0"/>
              <a:t>Spinal Cord Injury/Disorder</a:t>
            </a:r>
          </a:p>
          <a:p>
            <a:pPr marL="171450" indent="-171450">
              <a:buFont typeface="Arial" panose="020B0604020202020204" pitchFamily="34" charset="0"/>
              <a:buChar char="•"/>
            </a:pPr>
            <a:r>
              <a:rPr lang="en-US" dirty="0"/>
              <a:t>Neurological Conditions </a:t>
            </a:r>
          </a:p>
          <a:p>
            <a:pPr marL="171450" indent="-171450">
              <a:buFont typeface="Arial" panose="020B0604020202020204" pitchFamily="34" charset="0"/>
              <a:buChar char="•"/>
            </a:pPr>
            <a:r>
              <a:rPr lang="en-US" dirty="0"/>
              <a:t>Suicide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888940-0BDE-4EF9-9DC5-0F26836377A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2970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36193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41920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IN an exciting study coming from the Advanced Platform Technology Center (APTC) – Cleveland , Dr. Dustin Tyler is…..”Enabling Sensation to Touch via Prosthetic Limbs”</a:t>
            </a:r>
          </a:p>
          <a:p>
            <a:pPr marL="0" indent="0">
              <a:buFont typeface="Arial" panose="020B0604020202020204" pitchFamily="34" charset="0"/>
              <a:buNone/>
            </a:pPr>
            <a:endParaRPr lang="en-US" dirty="0"/>
          </a:p>
          <a:p>
            <a:pPr marL="0" indent="0">
              <a:buFont typeface="Arial" panose="020B0604020202020204" pitchFamily="34" charset="0"/>
              <a:buNone/>
            </a:pPr>
            <a:r>
              <a:rPr lang="en-US" dirty="0" err="1"/>
              <a:t>Neuroprosthetics</a:t>
            </a:r>
            <a:r>
              <a:rPr lang="en-US" dirty="0"/>
              <a:t>, also known as brain-computer interfaces work by creating a connection between the brain and a computer. It does require surgical impanation of small neural sensor connecting to the nerve. This enables neural prostheses and assistive devices to move, hear, see and touch using the power of thought alone. </a:t>
            </a:r>
          </a:p>
          <a:p>
            <a:pPr marL="0" indent="0">
              <a:buFont typeface="Arial" panose="020B0604020202020204" pitchFamily="34" charset="0"/>
              <a:buNone/>
            </a:pPr>
            <a:endParaRPr lang="en-US" b="1" dirty="0"/>
          </a:p>
          <a:p>
            <a:pPr marL="0" indent="0">
              <a:buFont typeface="Arial" panose="020B0604020202020204" pitchFamily="34" charset="0"/>
              <a:buNone/>
            </a:pPr>
            <a:r>
              <a:rPr lang="en-US" b="1" dirty="0"/>
              <a:t> Next steps: </a:t>
            </a:r>
          </a:p>
          <a:p>
            <a:pPr marL="171450" indent="-171450">
              <a:buFont typeface="Arial" panose="020B0604020202020204" pitchFamily="34" charset="0"/>
              <a:buChar char="•"/>
            </a:pPr>
            <a:r>
              <a:rPr lang="en-US" dirty="0"/>
              <a:t>Research at the center is also looking </a:t>
            </a:r>
            <a:r>
              <a:rPr lang="en-US" b="1" dirty="0"/>
              <a:t>at perception of natural touch for lower limb/foot </a:t>
            </a:r>
            <a:r>
              <a:rPr lang="en-US" b="0" dirty="0"/>
              <a:t>. </a:t>
            </a:r>
          </a:p>
          <a:p>
            <a:pPr marL="171450" indent="-171450">
              <a:buFont typeface="Arial" panose="020B0604020202020204" pitchFamily="34" charset="0"/>
              <a:buChar char="•"/>
            </a:pPr>
            <a:r>
              <a:rPr lang="en-US" dirty="0"/>
              <a:t>Another line of neural interface research may include not prosthetic at all. Specifically, investigators are helping Veterans with SCI; in this case the brain impulses are routed through a computer to implants that are in an individual’s own arm. These muscles fire - stimulating movement. </a:t>
            </a:r>
          </a:p>
          <a:p>
            <a:pPr marL="0" indent="0">
              <a:buFont typeface="Arial" panose="020B0604020202020204" pitchFamily="34" charset="0"/>
              <a:buNone/>
            </a:pPr>
            <a:r>
              <a:rPr lang="en-US" dirty="0"/>
              <a:t>This research is still in the clinical trial phase, but how </a:t>
            </a:r>
            <a:r>
              <a:rPr lang="en-US" dirty="0" err="1"/>
              <a:t>Neurally</a:t>
            </a:r>
            <a:r>
              <a:rPr lang="en-US" dirty="0"/>
              <a:t> Integrated Prosthesis are developed with the Veteran’s unique preferences and goals is a space for occupational therapy to contribute, especially how these technologies could be enhanced to consider future Home and Community Use.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0" marR="0" lvl="0" indent="0" algn="l" defTabSz="257175" rtl="0" eaLnBrk="1" fontAlgn="base" latinLnBrk="0" hangingPunct="1">
              <a:lnSpc>
                <a:spcPct val="100000"/>
              </a:lnSpc>
              <a:spcBef>
                <a:spcPts val="400"/>
              </a:spcBef>
              <a:spcAft>
                <a:spcPts val="600"/>
              </a:spcAft>
              <a:buClrTx/>
              <a:buSz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E45F22-8F1A-4A3B-B688-4DDE58E7A9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0049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57175" rtl="0" eaLnBrk="1" fontAlgn="base" latinLnBrk="0" hangingPunct="1">
              <a:spcBef>
                <a:spcPts val="400"/>
              </a:spcBef>
              <a:spcAft>
                <a:spcPts val="60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Center for </a:t>
            </a:r>
            <a:r>
              <a:rPr kumimoji="0" lang="en-US" sz="1800" b="1" i="0" u="none" strike="noStrike" kern="120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Neurorestoration</a:t>
            </a: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&amp; Neurotechnology (</a:t>
            </a:r>
            <a:r>
              <a:rPr kumimoji="0" lang="en-US" sz="1800" b="1" i="0" u="none" strike="noStrike" kern="120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CfNN</a:t>
            </a: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lang="en-US" b="1" dirty="0">
                <a:solidFill>
                  <a:srgbClr val="000000"/>
                </a:solidFill>
                <a:latin typeface="Calibri" panose="020F0502020204030204" pitchFamily="34" charset="0"/>
                <a:cs typeface="Calibri" panose="020F0502020204030204" pitchFamily="34" charset="0"/>
              </a:rPr>
              <a:t> out of the Providence VA, is Directed by Drs.  Hochberg, and Greenberg, and seeks to translate </a:t>
            </a:r>
            <a:r>
              <a:rPr lang="en-US" b="1" dirty="0" err="1">
                <a:solidFill>
                  <a:srgbClr val="000000"/>
                </a:solidFill>
                <a:latin typeface="Calibri" panose="020F0502020204030204" pitchFamily="34" charset="0"/>
                <a:cs typeface="Calibri" panose="020F0502020204030204" pitchFamily="34" charset="0"/>
              </a:rPr>
              <a:t>neuotechnology</a:t>
            </a:r>
            <a:r>
              <a:rPr lang="en-US" b="1" dirty="0">
                <a:solidFill>
                  <a:srgbClr val="000000"/>
                </a:solidFill>
                <a:latin typeface="Calibri" panose="020F0502020204030204" pitchFamily="34" charset="0"/>
                <a:cs typeface="Calibri" panose="020F0502020204030204" pitchFamily="34" charset="0"/>
              </a:rPr>
              <a:t> to restore lost function. </a:t>
            </a:r>
          </a:p>
          <a:p>
            <a:pPr marL="0" marR="0" lvl="0" indent="0" algn="l" defTabSz="257175" rtl="0" eaLnBrk="1" fontAlgn="base" latinLnBrk="0" hangingPunct="1">
              <a:spcBef>
                <a:spcPts val="400"/>
              </a:spcBef>
              <a:spcAft>
                <a:spcPts val="600"/>
              </a:spcAft>
              <a:buClrTx/>
              <a:buSzTx/>
              <a:buFont typeface="Arial" panose="020B0604020202020204" pitchFamily="34" charset="0"/>
              <a:buNone/>
              <a:tabLst/>
              <a:defRPr/>
            </a:pPr>
            <a:endParaRPr lang="en-US" b="1" dirty="0">
              <a:solidFill>
                <a:srgbClr val="000000"/>
              </a:solidFill>
              <a:latin typeface="Calibri" panose="020F0502020204030204" pitchFamily="34" charset="0"/>
              <a:cs typeface="Calibri" panose="020F0502020204030204" pitchFamily="34" charset="0"/>
            </a:endParaRPr>
          </a:p>
          <a:p>
            <a:pPr marL="0" indent="0" defTabSz="257175" eaLnBrk="1" hangingPunct="1">
              <a:spcBef>
                <a:spcPts val="400"/>
              </a:spcBef>
              <a:spcAft>
                <a:spcPts val="600"/>
              </a:spcAft>
              <a:buNone/>
              <a:defRPr/>
            </a:pPr>
            <a:r>
              <a:rPr lang="en-US" sz="1800" b="0" dirty="0">
                <a:latin typeface="Calibri" panose="020F0502020204030204" pitchFamily="34" charset="0"/>
                <a:cs typeface="Calibri" panose="020F0502020204030204" pitchFamily="34" charset="0"/>
              </a:rPr>
              <a:t>The </a:t>
            </a:r>
            <a:r>
              <a:rPr lang="en-US" sz="1800" b="0" dirty="0" err="1">
                <a:latin typeface="Calibri" panose="020F0502020204030204" pitchFamily="34" charset="0"/>
                <a:cs typeface="Calibri" panose="020F0502020204030204" pitchFamily="34" charset="0"/>
              </a:rPr>
              <a:t>BrainGate</a:t>
            </a:r>
            <a:r>
              <a:rPr lang="en-US" sz="1800" b="0" dirty="0">
                <a:latin typeface="Calibri" panose="020F0502020204030204" pitchFamily="34" charset="0"/>
                <a:cs typeface="Calibri" panose="020F0502020204030204" pitchFamily="34" charset="0"/>
              </a:rPr>
              <a:t> System is neural interface system that could help retore independence of people with paralysis; For example, clinical trial participants with paralysis are able to control assistive devices just by thinking about the action they want to initiate. While this is still in the trial stage, this technology hold promise for restoring communication mobility and independence for Veterans with tetraplegia, ALS, etc. </a:t>
            </a:r>
          </a:p>
          <a:p>
            <a:pPr marL="0" indent="0" defTabSz="257175" eaLnBrk="1" hangingPunct="1">
              <a:spcBef>
                <a:spcPts val="400"/>
              </a:spcBef>
              <a:spcAft>
                <a:spcPts val="600"/>
              </a:spcAft>
              <a:buNone/>
              <a:defRPr/>
            </a:pPr>
            <a:endParaRPr lang="en-US" sz="1800" b="0" dirty="0">
              <a:latin typeface="Calibri" panose="020F0502020204030204" pitchFamily="34" charset="0"/>
              <a:cs typeface="Calibri" panose="020F0502020204030204" pitchFamily="34" charset="0"/>
            </a:endParaRPr>
          </a:p>
          <a:p>
            <a:pPr marL="0" indent="0" defTabSz="257175" eaLnBrk="1" hangingPunct="1">
              <a:spcBef>
                <a:spcPts val="400"/>
              </a:spcBef>
              <a:spcAft>
                <a:spcPts val="600"/>
              </a:spcAft>
              <a:buNone/>
              <a:defRPr/>
            </a:pPr>
            <a:endParaRPr lang="en-US" sz="1800" b="0" dirty="0">
              <a:latin typeface="Calibri" panose="020F0502020204030204" pitchFamily="34" charset="0"/>
              <a:cs typeface="Calibri" panose="020F0502020204030204" pitchFamily="34" charset="0"/>
            </a:endParaRPr>
          </a:p>
          <a:p>
            <a:r>
              <a:rPr lang="en-US" sz="1800" b="1" dirty="0">
                <a:latin typeface="Calibri" panose="020F0502020204030204" pitchFamily="34" charset="0"/>
                <a:cs typeface="Calibri" panose="020F0502020204030204" pitchFamily="34" charset="0"/>
              </a:rPr>
              <a:t>Communication</a:t>
            </a:r>
            <a:r>
              <a:rPr lang="en-US" sz="1800" dirty="0">
                <a:latin typeface="Calibri" panose="020F0502020204030204" pitchFamily="34" charset="0"/>
                <a:cs typeface="Calibri" panose="020F0502020204030204" pitchFamily="34" charset="0"/>
              </a:rPr>
              <a:t>: Individuals with paralysis or loss of speech</a:t>
            </a:r>
          </a:p>
          <a:p>
            <a:pPr lvl="1"/>
            <a:r>
              <a:rPr lang="en-US" dirty="0">
                <a:latin typeface="Calibri" panose="020F0502020204030204" pitchFamily="34" charset="0"/>
                <a:cs typeface="Calibri" panose="020F0502020204030204" pitchFamily="34" charset="0"/>
              </a:rPr>
              <a:t>To restore communication by translating brain activity directly into commands </a:t>
            </a:r>
          </a:p>
          <a:p>
            <a:pPr marL="457200" lvl="1" indent="0">
              <a:buNone/>
            </a:pPr>
            <a:r>
              <a:rPr lang="en-US" dirty="0">
                <a:latin typeface="Calibri" panose="020F0502020204030204" pitchFamily="34" charset="0"/>
                <a:cs typeface="Calibri" panose="020F0502020204030204" pitchFamily="34" charset="0"/>
              </a:rPr>
              <a:t>      for assistive devices to enable computer interaction, onscreen typing, and speech synthesis</a:t>
            </a:r>
          </a:p>
          <a:p>
            <a:r>
              <a:rPr lang="en-US" sz="1800" b="1" dirty="0">
                <a:latin typeface="Calibri" panose="020F0502020204030204" pitchFamily="34" charset="0"/>
                <a:cs typeface="Calibri" panose="020F0502020204030204" pitchFamily="34" charset="0"/>
              </a:rPr>
              <a:t>Mobility</a:t>
            </a:r>
            <a:r>
              <a:rPr lang="en-US" sz="1800" dirty="0">
                <a:latin typeface="Calibri" panose="020F0502020204030204" pitchFamily="34" charset="0"/>
                <a:cs typeface="Calibri" panose="020F0502020204030204" pitchFamily="34" charset="0"/>
              </a:rPr>
              <a:t>: Recovering functional arm movement and/or grasping is a high priority for individuals with tetraplegia. </a:t>
            </a:r>
          </a:p>
          <a:p>
            <a:pPr lvl="1"/>
            <a:r>
              <a:rPr lang="en-US" dirty="0">
                <a:latin typeface="Calibri" panose="020F0502020204030204" pitchFamily="34" charset="0"/>
                <a:cs typeface="Calibri" panose="020F0502020204030204" pitchFamily="34" charset="0"/>
              </a:rPr>
              <a:t>To enable those with paralysis to harness brain activity associated with attempted movements </a:t>
            </a:r>
          </a:p>
          <a:p>
            <a:pPr lvl="1"/>
            <a:r>
              <a:rPr lang="en-US" dirty="0">
                <a:latin typeface="Calibri" panose="020F0502020204030204" pitchFamily="34" charset="0"/>
                <a:cs typeface="Calibri" panose="020F0502020204030204" pitchFamily="34" charset="0"/>
              </a:rPr>
              <a:t>To directly command reach and grasp movements of assistive robotics, advanced prosthetic arms, or even their own paralyzed arm and hand</a:t>
            </a:r>
          </a:p>
          <a:p>
            <a:pPr marL="0" indent="0">
              <a:buNone/>
            </a:pPr>
            <a:r>
              <a:rPr lang="en-US" sz="1800" dirty="0">
                <a:latin typeface="Calibri" panose="020F0502020204030204" pitchFamily="34" charset="0"/>
                <a:cs typeface="Calibri" panose="020F0502020204030204" pitchFamily="34" charset="0"/>
              </a:rPr>
              <a:t>	 </a:t>
            </a:r>
            <a:r>
              <a:rPr lang="en-US" sz="1800" dirty="0">
                <a:solidFill>
                  <a:srgbClr val="000000"/>
                </a:solidFill>
                <a:latin typeface="Calibri" panose="020F0502020204030204" pitchFamily="34" charset="0"/>
                <a:cs typeface="Calibri" panose="020F0502020204030204" pitchFamily="34" charset="0"/>
              </a:rPr>
              <a:t>(Leads L. Hochberg, J. </a:t>
            </a:r>
            <a:r>
              <a:rPr lang="en-US" sz="1800" dirty="0" err="1">
                <a:solidFill>
                  <a:srgbClr val="000000"/>
                </a:solidFill>
                <a:latin typeface="Calibri" panose="020F0502020204030204" pitchFamily="34" charset="0"/>
                <a:cs typeface="Calibri" panose="020F0502020204030204" pitchFamily="34" charset="0"/>
              </a:rPr>
              <a:t>Simeral</a:t>
            </a:r>
            <a:r>
              <a:rPr lang="en-US" sz="1800" dirty="0">
                <a:solidFill>
                  <a:srgbClr val="000000"/>
                </a:solidFill>
                <a:latin typeface="Calibri" panose="020F0502020204030204" pitchFamily="34" charset="0"/>
                <a:cs typeface="Calibri" panose="020F0502020204030204" pitchFamily="34" charset="0"/>
              </a:rPr>
              <a:t>,  Providence  VA)</a:t>
            </a:r>
            <a:endParaRPr lang="en-US" sz="1800" dirty="0">
              <a:latin typeface="Calibri" panose="020F0502020204030204" pitchFamily="34" charset="0"/>
              <a:cs typeface="Calibri" panose="020F0502020204030204" pitchFamily="34" charset="0"/>
            </a:endParaRPr>
          </a:p>
          <a:p>
            <a:pPr marL="0" marR="0" lvl="0" indent="0" algn="l" defTabSz="257175" rtl="0" eaLnBrk="1" fontAlgn="base" latinLnBrk="0" hangingPunct="1">
              <a:spcBef>
                <a:spcPts val="400"/>
              </a:spcBef>
              <a:spcAft>
                <a:spcPts val="600"/>
              </a:spcAft>
              <a:buClrTx/>
              <a:buSzTx/>
              <a:buFont typeface="Arial" panose="020B0604020202020204" pitchFamily="34" charset="0"/>
              <a:buNone/>
              <a:tabLst/>
              <a:defRPr/>
            </a:pPr>
            <a:endParaRPr lang="en-US" b="1" dirty="0">
              <a:solidFill>
                <a:srgbClr val="000000"/>
              </a:solidFill>
              <a:latin typeface="Calibri" panose="020F0502020204030204" pitchFamily="34" charset="0"/>
              <a:cs typeface="Calibri" panose="020F0502020204030204" pitchFamily="34" charset="0"/>
            </a:endParaRPr>
          </a:p>
          <a:p>
            <a:pPr marL="0" marR="0" lvl="0" indent="0" algn="l" defTabSz="257175" rtl="0" eaLnBrk="1" fontAlgn="base" latinLnBrk="0" hangingPunct="1">
              <a:spcBef>
                <a:spcPts val="400"/>
              </a:spcBef>
              <a:spcAft>
                <a:spcPts val="600"/>
              </a:spcAft>
              <a:buClrTx/>
              <a:buSzTx/>
              <a:buFont typeface="Arial" panose="020B0604020202020204" pitchFamily="34" charset="0"/>
              <a:buNone/>
              <a:tabLst/>
              <a:defRPr/>
            </a:pPr>
            <a:r>
              <a:rPr lang="en-US" b="1" dirty="0">
                <a:solidFill>
                  <a:srgbClr val="000000"/>
                </a:solidFill>
                <a:latin typeface="Calibri" panose="020F0502020204030204" pitchFamily="34" charset="0"/>
                <a:cs typeface="Calibri" panose="020F0502020204030204" pitchFamily="34" charset="0"/>
              </a:rPr>
              <a:t>https://www.brown.edu/news/2023-01-13/braingate-safety</a:t>
            </a:r>
          </a:p>
          <a:p>
            <a:pPr marL="0" marR="0" lvl="0" indent="0" algn="l" defTabSz="257175" rtl="0" eaLnBrk="1" fontAlgn="base" latinLnBrk="0" hangingPunct="1">
              <a:spcBef>
                <a:spcPts val="400"/>
              </a:spcBef>
              <a:spcAft>
                <a:spcPts val="600"/>
              </a:spcAft>
              <a:buClrTx/>
              <a:buSzTx/>
              <a:buFont typeface="Arial" panose="020B0604020202020204" pitchFamily="34" charset="0"/>
              <a:buNone/>
              <a:tabLst/>
              <a:defRPr/>
            </a:pPr>
            <a:endParaRPr lang="en-US" b="1" dirty="0">
              <a:solidFill>
                <a:srgbClr val="000000"/>
              </a:solidFill>
              <a:latin typeface="Calibri" panose="020F0502020204030204" pitchFamily="34" charset="0"/>
              <a:cs typeface="Calibri" panose="020F0502020204030204" pitchFamily="34" charset="0"/>
            </a:endParaRPr>
          </a:p>
          <a:p>
            <a:pPr marL="0" marR="0" lvl="0" indent="0" algn="l" defTabSz="257175" rtl="0" eaLnBrk="1" fontAlgn="base" latinLnBrk="0" hangingPunct="1">
              <a:spcBef>
                <a:spcPts val="400"/>
              </a:spcBef>
              <a:spcAft>
                <a:spcPts val="600"/>
              </a:spcAft>
              <a:buClrTx/>
              <a:buSzTx/>
              <a:buFont typeface="Arial" panose="020B0604020202020204" pitchFamily="34" charset="0"/>
              <a:buNone/>
              <a:tabLst/>
              <a:defRPr/>
            </a:pPr>
            <a:endParaRPr lang="en-US" b="1" dirty="0">
              <a:solidFill>
                <a:srgbClr val="000000"/>
              </a:solidFill>
              <a:latin typeface="Calibri" panose="020F0502020204030204" pitchFamily="34" charset="0"/>
              <a:cs typeface="Calibri" panose="020F0502020204030204" pitchFamily="34" charset="0"/>
            </a:endParaRPr>
          </a:p>
          <a:p>
            <a:pPr marL="0" marR="0" lvl="0" indent="0" algn="l" defTabSz="257175" rtl="0" eaLnBrk="1" fontAlgn="base" latinLnBrk="0" hangingPunct="1">
              <a:spcBef>
                <a:spcPts val="400"/>
              </a:spcBef>
              <a:spcAft>
                <a:spcPts val="600"/>
              </a:spcAft>
              <a:buClrTx/>
              <a:buSzTx/>
              <a:buFont typeface="Arial" panose="020B0604020202020204" pitchFamily="34" charset="0"/>
              <a:buNone/>
              <a:tabLst/>
              <a:defRPr/>
            </a:pPr>
            <a:endParaRPr lang="en-US" b="1" dirty="0">
              <a:solidFill>
                <a:srgbClr val="000000"/>
              </a:solidFill>
              <a:latin typeface="Calibri" panose="020F0502020204030204" pitchFamily="34" charset="0"/>
              <a:cs typeface="Calibri" panose="020F0502020204030204" pitchFamily="34" charset="0"/>
            </a:endParaRPr>
          </a:p>
          <a:p>
            <a:pPr marL="0" marR="0" lvl="0" indent="0" algn="l" defTabSz="257175" rtl="0" eaLnBrk="1" fontAlgn="base" latinLnBrk="0" hangingPunct="1">
              <a:spcBef>
                <a:spcPts val="400"/>
              </a:spcBef>
              <a:spcAft>
                <a:spcPts val="600"/>
              </a:spcAft>
              <a:buClrTx/>
              <a:buSzTx/>
              <a:buFont typeface="Arial" panose="020B0604020202020204" pitchFamily="34" charset="0"/>
              <a:buNone/>
              <a:tabLst/>
              <a:defRPr/>
            </a:pPr>
            <a:r>
              <a:rPr lang="en-US" b="1" dirty="0">
                <a:solidFill>
                  <a:srgbClr val="000000"/>
                </a:solidFill>
                <a:latin typeface="Calibri" panose="020F0502020204030204" pitchFamily="34" charset="0"/>
                <a:cs typeface="Calibri" panose="020F0502020204030204" pitchFamily="34" charset="0"/>
              </a:rPr>
              <a:t>RESEARCH STREAMS</a:t>
            </a:r>
          </a:p>
          <a:p>
            <a:pPr marL="285750" marR="0" lvl="0" indent="-285750" algn="l" defTabSz="257175" rtl="0" eaLnBrk="1" fontAlgn="base" latinLnBrk="0" hangingPunct="1">
              <a:spcBef>
                <a:spcPts val="400"/>
              </a:spcBef>
              <a:spcAft>
                <a:spcPts val="60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Restoring Communication &amp; Mobility to Improve Independence &amp; Interactions via                                                                             </a:t>
            </a:r>
          </a:p>
          <a:p>
            <a:pPr marL="0" marR="0" lvl="0" indent="0" algn="l" defTabSz="257175" rtl="0" eaLnBrk="1" fontAlgn="base" latinLnBrk="0" hangingPunct="1">
              <a:spcBef>
                <a:spcPts val="400"/>
              </a:spcBef>
              <a:spcAft>
                <a:spcPts val="600"/>
              </a:spcAft>
              <a:buClrTx/>
              <a:buSzTx/>
              <a:buFont typeface="Arial" panose="020B0604020202020204" pitchFamily="34" charset="0"/>
              <a:buNone/>
              <a:tabLst/>
              <a:defRPr/>
            </a:pPr>
            <a:r>
              <a:rPr lang="en-US" b="1" dirty="0">
                <a:solidFill>
                  <a:srgbClr val="000000"/>
                </a:solidFill>
                <a:latin typeface="Calibri" panose="020F0502020204030204" pitchFamily="34" charset="0"/>
                <a:cs typeface="Calibri" panose="020F0502020204030204" pitchFamily="34" charset="0"/>
              </a:rPr>
              <a:t>  </a:t>
            </a: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Brain-Computer Interface (BCI) </a:t>
            </a:r>
            <a:r>
              <a:rPr kumimoji="0" lang="en-US" sz="1800" b="1" i="0" u="none" strike="noStrike" kern="120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BrainGate</a:t>
            </a: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System</a:t>
            </a:r>
          </a:p>
          <a:p>
            <a:pPr marL="742950" lvl="1" indent="-285750" defTabSz="257175" fontAlgn="base">
              <a:spcBef>
                <a:spcPts val="400"/>
              </a:spcBef>
              <a:spcAft>
                <a:spcPts val="600"/>
              </a:spcAft>
              <a:buFont typeface="Arial" panose="020B0604020202020204" pitchFamily="34" charset="0"/>
              <a:buChar char="•"/>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Communication</a:t>
            </a: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Individuals with paralysis or loss of speech</a:t>
            </a:r>
          </a:p>
          <a:p>
            <a:pPr marL="800100" lvl="1" indent="-342900" eaLnBrk="0" fontAlgn="base" hangingPunct="0">
              <a:lnSpc>
                <a:spcPct val="150000"/>
              </a:lnSpc>
              <a:spcBef>
                <a:spcPts val="400"/>
              </a:spcBef>
              <a:spcAft>
                <a:spcPct val="0"/>
              </a:spcAft>
              <a:buFont typeface="Arial" panose="020B0604020202020204" pitchFamily="34" charset="0"/>
              <a:buChar char="•"/>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To restore communication by translating brain activity directly into commands for assistive devices                                              to enable computer interaction, onscreen typing, and speech synthesis</a:t>
            </a:r>
          </a:p>
          <a:p>
            <a:pPr marL="800100" lvl="1" indent="-342900" eaLnBrk="0" fontAlgn="base" hangingPunct="0">
              <a:lnSpc>
                <a:spcPct val="150000"/>
              </a:lnSpc>
              <a:spcBef>
                <a:spcPts val="400"/>
              </a:spcBef>
              <a:spcAft>
                <a:spcPct val="0"/>
              </a:spcAft>
              <a:buFont typeface="Arial" panose="020B0604020202020204" pitchFamily="34" charset="0"/>
              <a:buChar char="•"/>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Text from thoughts could give patients (e.g., ALS) a voice</a:t>
            </a:r>
          </a:p>
          <a:p>
            <a:pPr marL="800100" lvl="1" indent="-342900" eaLnBrk="0" fontAlgn="base" hangingPunct="0">
              <a:lnSpc>
                <a:spcPct val="150000"/>
              </a:lnSpc>
              <a:spcBef>
                <a:spcPts val="400"/>
              </a:spcBef>
              <a:spcAft>
                <a:spcPct val="0"/>
              </a:spcAft>
              <a:buFont typeface="Arial" panose="020B0604020202020204" pitchFamily="34" charset="0"/>
              <a:buChar char="•"/>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Leads L. Hochberg, J. </a:t>
            </a:r>
            <a:r>
              <a:rPr kumimoji="0" lang="en-US" b="0" i="0" u="none" strike="noStrike" kern="120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Simeral</a:t>
            </a:r>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800100" lvl="1" indent="-342900" eaLnBrk="0" fontAlgn="base" hangingPunct="0">
              <a:lnSpc>
                <a:spcPct val="150000"/>
              </a:lnSpc>
              <a:spcBef>
                <a:spcPts val="400"/>
              </a:spcBef>
              <a:spcAft>
                <a:spcPct val="0"/>
              </a:spcAft>
              <a:buFont typeface="Arial" panose="020B0604020202020204" pitchFamily="34" charset="0"/>
              <a:buChar char="•"/>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3"/>
              </a:rPr>
              <a:t>https://centerforneuro.org/communication-and-mobility/</a:t>
            </a:r>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800100" lvl="1" indent="-342900" eaLnBrk="0" fontAlgn="base" hangingPunct="0">
              <a:lnSpc>
                <a:spcPct val="150000"/>
              </a:lnSpc>
              <a:spcBef>
                <a:spcPts val="400"/>
              </a:spcBef>
              <a:spcAft>
                <a:spcPct val="0"/>
              </a:spcAft>
              <a:buFont typeface="Arial" panose="020B0604020202020204" pitchFamily="34" charset="0"/>
              <a:buChar char="•"/>
              <a:defRPr/>
            </a:pPr>
            <a:r>
              <a:rPr lang="en-US" b="1" dirty="0">
                <a:solidFill>
                  <a:srgbClr val="000000"/>
                </a:solidFill>
                <a:latin typeface="Calibri" panose="020F0502020204030204" pitchFamily="34" charset="0"/>
                <a:cs typeface="Calibri" panose="020F0502020204030204" pitchFamily="34" charset="0"/>
              </a:rPr>
              <a:t>Text from thoughts could give Veterans (e.g., ALS, SCI) a voice</a:t>
            </a:r>
          </a:p>
          <a:p>
            <a:pPr marL="800100" lvl="1" indent="-342900" eaLnBrk="0" fontAlgn="base" hangingPunct="0">
              <a:lnSpc>
                <a:spcPct val="150000"/>
              </a:lnSpc>
              <a:spcBef>
                <a:spcPts val="400"/>
              </a:spcBef>
              <a:spcAft>
                <a:spcPct val="0"/>
              </a:spcAft>
              <a:buFont typeface="Arial" panose="020B0604020202020204" pitchFamily="34" charset="0"/>
              <a:buChar char="•"/>
              <a:defRPr/>
            </a:pPr>
            <a:endParaRPr lang="en-US" b="1" dirty="0">
              <a:solidFill>
                <a:srgbClr val="000000"/>
              </a:solidFill>
              <a:latin typeface="Calibri" panose="020F0502020204030204" pitchFamily="34" charset="0"/>
              <a:cs typeface="Calibri" panose="020F0502020204030204" pitchFamily="34" charset="0"/>
            </a:endParaRPr>
          </a:p>
          <a:p>
            <a:pPr marL="457200" lvl="1" indent="0" eaLnBrk="0" fontAlgn="base" hangingPunct="0">
              <a:lnSpc>
                <a:spcPct val="150000"/>
              </a:lnSpc>
              <a:spcBef>
                <a:spcPts val="400"/>
              </a:spcBef>
              <a:spcAft>
                <a:spcPct val="0"/>
              </a:spcAft>
              <a:buFont typeface="Arial" panose="020B0604020202020204" pitchFamily="34" charset="0"/>
              <a:buNone/>
              <a:defRPr/>
            </a:pPr>
            <a:r>
              <a:rPr lang="en-US" b="1" dirty="0">
                <a:solidFill>
                  <a:srgbClr val="000000"/>
                </a:solidFill>
                <a:latin typeface="Calibri" panose="020F0502020204030204" pitchFamily="34" charset="0"/>
                <a:cs typeface="Calibri" panose="020F0502020204030204" pitchFamily="34" charset="0"/>
              </a:rPr>
              <a:t>Recovering functional arm movement and/or grasping is a high priority for individuals with tetraplegia. The </a:t>
            </a:r>
            <a:r>
              <a:rPr lang="en-US" b="1" dirty="0" err="1">
                <a:solidFill>
                  <a:srgbClr val="000000"/>
                </a:solidFill>
                <a:latin typeface="Calibri" panose="020F0502020204030204" pitchFamily="34" charset="0"/>
                <a:cs typeface="Calibri" panose="020F0502020204030204" pitchFamily="34" charset="0"/>
              </a:rPr>
              <a:t>BrainGate</a:t>
            </a:r>
            <a:r>
              <a:rPr lang="en-US" b="1" dirty="0">
                <a:solidFill>
                  <a:srgbClr val="000000"/>
                </a:solidFill>
                <a:latin typeface="Calibri" panose="020F0502020204030204" pitchFamily="34" charset="0"/>
                <a:cs typeface="Calibri" panose="020F0502020204030204" pitchFamily="34" charset="0"/>
              </a:rPr>
              <a:t> neural interface is being developed to enable Veterans and others with paralysis to harness the brain activity associated with attempted movements to directly command reach and grasp movements of assistive robotics, advanced prosthetic arms, or even their own paralyzed arm and hand. Investigators: Leigh Hochberg, MD, PhD and John </a:t>
            </a:r>
            <a:r>
              <a:rPr lang="en-US" b="1" dirty="0" err="1">
                <a:solidFill>
                  <a:srgbClr val="000000"/>
                </a:solidFill>
                <a:latin typeface="Calibri" panose="020F0502020204030204" pitchFamily="34" charset="0"/>
                <a:cs typeface="Calibri" panose="020F0502020204030204" pitchFamily="34" charset="0"/>
              </a:rPr>
              <a:t>Simeral</a:t>
            </a:r>
            <a:r>
              <a:rPr lang="en-US" b="1" dirty="0">
                <a:solidFill>
                  <a:srgbClr val="000000"/>
                </a:solidFill>
                <a:latin typeface="Calibri" panose="020F0502020204030204" pitchFamily="34" charset="0"/>
                <a:cs typeface="Calibri" panose="020F0502020204030204" pitchFamily="34" charset="0"/>
              </a:rPr>
              <a:t>, PhD</a:t>
            </a:r>
          </a:p>
          <a:p>
            <a:pPr marL="0" marR="0" lvl="0" indent="0" algn="l" defTabSz="257175" rtl="0" eaLnBrk="1" fontAlgn="base" latinLnBrk="0" hangingPunct="1">
              <a:spcBef>
                <a:spcPts val="400"/>
              </a:spcBef>
              <a:spcAft>
                <a:spcPts val="600"/>
              </a:spcAft>
              <a:buClrTx/>
              <a:buSzTx/>
              <a:buFont typeface="Arial" panose="020B0604020202020204" pitchFamily="34" charset="0"/>
              <a:buNone/>
              <a:tabLst/>
              <a:defRPr/>
            </a:pPr>
            <a:r>
              <a:rPr lang="en-US" b="1" dirty="0">
                <a:solidFill>
                  <a:srgbClr val="000000"/>
                </a:solidFill>
                <a:latin typeface="Calibri" panose="020F0502020204030204" pitchFamily="34" charset="0"/>
                <a:cs typeface="Calibri" panose="020F0502020204030204" pitchFamily="34" charset="0"/>
              </a:rPr>
              <a:t>harness the brain activity associated with attempted movements to directly command reach and grasp movements of assistive robotics, advanced prosthetic arms, or even their own paralyzed arm and hand.</a:t>
            </a:r>
          </a:p>
          <a:p>
            <a:pPr marL="0" marR="0" lvl="0" indent="0" algn="l" defTabSz="257175" rtl="0" eaLnBrk="1" fontAlgn="base" latinLnBrk="0" hangingPunct="1">
              <a:spcBef>
                <a:spcPts val="400"/>
              </a:spcBef>
              <a:spcAft>
                <a:spcPts val="600"/>
              </a:spcAft>
              <a:buClrTx/>
              <a:buSzTx/>
              <a:buFont typeface="Arial" panose="020B0604020202020204" pitchFamily="34" charset="0"/>
              <a:buNone/>
              <a:tabLst/>
              <a:defRPr/>
            </a:pPr>
            <a:endParaRPr lang="en-US" b="1" dirty="0">
              <a:solidFill>
                <a:srgbClr val="000000"/>
              </a:solidFill>
              <a:latin typeface="Calibri" panose="020F0502020204030204" pitchFamily="34" charset="0"/>
              <a:cs typeface="Calibri" panose="020F0502020204030204" pitchFamily="34" charset="0"/>
            </a:endParaRPr>
          </a:p>
          <a:p>
            <a:pPr marL="171450" marR="0" lvl="0" indent="-171450" algn="l" defTabSz="257175" rtl="0" eaLnBrk="1" fontAlgn="base" latinLnBrk="0" hangingPunct="1">
              <a:spcBef>
                <a:spcPts val="400"/>
              </a:spcBef>
              <a:spcAft>
                <a:spcPts val="600"/>
              </a:spcAft>
              <a:buClrTx/>
              <a:buSzTx/>
              <a:buFont typeface="Arial" panose="020B0604020202020204" pitchFamily="34" charset="0"/>
              <a:buChar char="•"/>
              <a:tabLst/>
              <a:defRPr/>
            </a:pPr>
            <a:r>
              <a:rPr lang="en-US" b="1" dirty="0">
                <a:solidFill>
                  <a:srgbClr val="000000"/>
                </a:solidFill>
                <a:latin typeface="Calibri" panose="020F0502020204030204" pitchFamily="34" charset="0"/>
                <a:cs typeface="Calibri" panose="020F0502020204030204" pitchFamily="34" charset="0"/>
              </a:rPr>
              <a:t>Dr. David </a:t>
            </a:r>
            <a:r>
              <a:rPr lang="en-US" b="1" dirty="0" err="1">
                <a:solidFill>
                  <a:srgbClr val="000000"/>
                </a:solidFill>
                <a:latin typeface="Calibri" panose="020F0502020204030204" pitchFamily="34" charset="0"/>
                <a:cs typeface="Calibri" panose="020F0502020204030204" pitchFamily="34" charset="0"/>
              </a:rPr>
              <a:t>Borton</a:t>
            </a:r>
            <a:r>
              <a:rPr lang="en-US" b="1" dirty="0">
                <a:solidFill>
                  <a:srgbClr val="000000"/>
                </a:solidFill>
                <a:latin typeface="Calibri" panose="020F0502020204030204" pitchFamily="34" charset="0"/>
                <a:cs typeface="Calibri" panose="020F0502020204030204" pitchFamily="34" charset="0"/>
              </a:rPr>
              <a:t> leads work devoted to improving function for persons with SCI. The </a:t>
            </a:r>
            <a:r>
              <a:rPr lang="en-US" b="1" dirty="0" err="1">
                <a:solidFill>
                  <a:srgbClr val="000000"/>
                </a:solidFill>
                <a:latin typeface="Calibri" panose="020F0502020204030204" pitchFamily="34" charset="0"/>
                <a:cs typeface="Calibri" panose="020F0502020204030204" pitchFamily="34" charset="0"/>
              </a:rPr>
              <a:t>Intellident</a:t>
            </a:r>
            <a:r>
              <a:rPr lang="en-US" b="1" dirty="0">
                <a:solidFill>
                  <a:srgbClr val="000000"/>
                </a:solidFill>
                <a:latin typeface="Calibri" panose="020F0502020204030204" pitchFamily="34" charset="0"/>
                <a:cs typeface="Calibri" panose="020F0502020204030204" pitchFamily="34" charset="0"/>
              </a:rPr>
              <a:t> </a:t>
            </a:r>
            <a:r>
              <a:rPr lang="en-US" b="1" dirty="0" err="1">
                <a:solidFill>
                  <a:srgbClr val="000000"/>
                </a:solidFill>
                <a:latin typeface="Calibri" panose="020F0502020204030204" pitchFamily="34" charset="0"/>
                <a:cs typeface="Calibri" panose="020F0502020204030204" pitchFamily="34" charset="0"/>
              </a:rPr>
              <a:t>Spince</a:t>
            </a:r>
            <a:r>
              <a:rPr lang="en-US" b="1" dirty="0">
                <a:solidFill>
                  <a:srgbClr val="000000"/>
                </a:solidFill>
                <a:latin typeface="Calibri" panose="020F0502020204030204" pitchFamily="34" charset="0"/>
                <a:cs typeface="Calibri" panose="020F0502020204030204" pitchFamily="34" charset="0"/>
              </a:rPr>
              <a:t> Interface clinical trial </a:t>
            </a:r>
            <a:r>
              <a:rPr lang="en-US" b="1" dirty="0" err="1">
                <a:solidFill>
                  <a:srgbClr val="000000"/>
                </a:solidFill>
                <a:latin typeface="Calibri" panose="020F0502020204030204" pitchFamily="34" charset="0"/>
                <a:cs typeface="Calibri" panose="020F0502020204030204" pitchFamily="34" charset="0"/>
              </a:rPr>
              <a:t>aimsed</a:t>
            </a:r>
            <a:r>
              <a:rPr lang="en-US" b="1" dirty="0">
                <a:solidFill>
                  <a:srgbClr val="000000"/>
                </a:solidFill>
                <a:latin typeface="Calibri" panose="020F0502020204030204" pitchFamily="34" charset="0"/>
                <a:cs typeface="Calibri" panose="020F0502020204030204" pitchFamily="34" charset="0"/>
              </a:rPr>
              <a:t> at </a:t>
            </a:r>
            <a:r>
              <a:rPr lang="en-US" b="1" dirty="0" err="1">
                <a:solidFill>
                  <a:srgbClr val="000000"/>
                </a:solidFill>
                <a:latin typeface="Calibri" panose="020F0502020204030204" pitchFamily="34" charset="0"/>
                <a:cs typeface="Calibri" panose="020F0502020204030204" pitchFamily="34" charset="0"/>
              </a:rPr>
              <a:t>restormg</a:t>
            </a:r>
            <a:r>
              <a:rPr lang="en-US" b="1" dirty="0">
                <a:solidFill>
                  <a:srgbClr val="000000"/>
                </a:solidFill>
                <a:latin typeface="Calibri" panose="020F0502020204030204" pitchFamily="34" charset="0"/>
                <a:cs typeface="Calibri" panose="020F0502020204030204" pitchFamily="34" charset="0"/>
              </a:rPr>
              <a:t> limb motion, sensation and bladder control in Veterans who suffered SCI. The </a:t>
            </a:r>
            <a:r>
              <a:rPr lang="en-US" b="1" dirty="0" err="1">
                <a:solidFill>
                  <a:srgbClr val="000000"/>
                </a:solidFill>
                <a:latin typeface="Calibri" panose="020F0502020204030204" pitchFamily="34" charset="0"/>
                <a:cs typeface="Calibri" panose="020F0502020204030204" pitchFamily="34" charset="0"/>
              </a:rPr>
              <a:t>proejt</a:t>
            </a:r>
            <a:r>
              <a:rPr lang="en-US" b="1" dirty="0">
                <a:solidFill>
                  <a:srgbClr val="000000"/>
                </a:solidFill>
                <a:latin typeface="Calibri" panose="020F0502020204030204" pitchFamily="34" charset="0"/>
                <a:cs typeface="Calibri" panose="020F0502020204030204" pitchFamily="34" charset="0"/>
              </a:rPr>
              <a:t> is working to </a:t>
            </a:r>
            <a:r>
              <a:rPr lang="en-US" b="1" dirty="0" err="1">
                <a:solidFill>
                  <a:srgbClr val="000000"/>
                </a:solidFill>
                <a:latin typeface="Calibri" panose="020F0502020204030204" pitchFamily="34" charset="0"/>
                <a:cs typeface="Calibri" panose="020F0502020204030204" pitchFamily="34" charset="0"/>
              </a:rPr>
              <a:t>deisn</a:t>
            </a:r>
            <a:r>
              <a:rPr lang="en-US" b="1" dirty="0">
                <a:solidFill>
                  <a:srgbClr val="000000"/>
                </a:solidFill>
                <a:latin typeface="Calibri" panose="020F0502020204030204" pitchFamily="34" charset="0"/>
                <a:cs typeface="Calibri" panose="020F0502020204030204" pitchFamily="34" charset="0"/>
              </a:rPr>
              <a:t> a brain spine interface that </a:t>
            </a:r>
            <a:r>
              <a:rPr lang="en-US" b="1" dirty="0" err="1">
                <a:solidFill>
                  <a:srgbClr val="000000"/>
                </a:solidFill>
                <a:latin typeface="Calibri" panose="020F0502020204030204" pitchFamily="34" charset="0"/>
                <a:cs typeface="Calibri" panose="020F0502020204030204" pitchFamily="34" charset="0"/>
              </a:rPr>
              <a:t>canhelp</a:t>
            </a:r>
            <a:r>
              <a:rPr lang="en-US" b="1" dirty="0">
                <a:solidFill>
                  <a:srgbClr val="000000"/>
                </a:solidFill>
                <a:latin typeface="Calibri" panose="020F0502020204030204" pitchFamily="34" charset="0"/>
                <a:cs typeface="Calibri" panose="020F0502020204030204" pitchFamily="34" charset="0"/>
              </a:rPr>
              <a:t> to response </a:t>
            </a:r>
            <a:r>
              <a:rPr lang="en-US" b="1" dirty="0" err="1">
                <a:solidFill>
                  <a:srgbClr val="000000"/>
                </a:solidFill>
                <a:latin typeface="Calibri" panose="020F0502020204030204" pitchFamily="34" charset="0"/>
                <a:cs typeface="Calibri" panose="020F0502020204030204" pitchFamily="34" charset="0"/>
              </a:rPr>
              <a:t>walkin</a:t>
            </a:r>
            <a:r>
              <a:rPr lang="en-US" b="1" dirty="0">
                <a:solidFill>
                  <a:srgbClr val="000000"/>
                </a:solidFill>
                <a:latin typeface="Calibri" panose="020F0502020204030204" pitchFamily="34" charset="0"/>
                <a:cs typeface="Calibri" panose="020F0502020204030204" pitchFamily="34" charset="0"/>
              </a:rPr>
              <a:t> in people with lower limb pr; </a:t>
            </a:r>
          </a:p>
          <a:p>
            <a:pPr marL="171450" marR="0" lvl="0" indent="-171450" algn="l" defTabSz="257175" rtl="0" eaLnBrk="1" fontAlgn="base" latinLnBrk="0" hangingPunct="1">
              <a:spcBef>
                <a:spcPts val="400"/>
              </a:spcBef>
              <a:spcAft>
                <a:spcPts val="600"/>
              </a:spcAft>
              <a:buClrTx/>
              <a:buSzTx/>
              <a:buFont typeface="Arial" panose="020B0604020202020204" pitchFamily="34" charset="0"/>
              <a:buChar char="•"/>
              <a:tabLst/>
              <a:defRPr/>
            </a:pPr>
            <a:r>
              <a:rPr lang="en-US" b="1" dirty="0">
                <a:solidFill>
                  <a:srgbClr val="000000"/>
                </a:solidFill>
                <a:latin typeface="Calibri" panose="020F0502020204030204" pitchFamily="34" charset="0"/>
                <a:cs typeface="Calibri" panose="020F0502020204030204" pitchFamily="34" charset="0"/>
              </a:rPr>
              <a:t>Project includes OT collaborators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E45F22-8F1A-4A3B-B688-4DDE58E7A9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4317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Work conducted at the Rehabilitation &amp; Engineering Center for Optimizing Veteran Engagement &amp; Reintegration (RECOVER), Minneapolis VA, </a:t>
            </a:r>
            <a:r>
              <a:rPr lang="en-US" b="0" dirty="0"/>
              <a:t>developed a new ankle-foot prosthesis system that will allow Veterans with amputations to choose any footwear with heel heights up to 4 inches, and to be able to easily switch between these footwear without needing to change the alignment of their prosthesis. This option will be useful for both men and women to more fully integrate into their lives after amputation (e.g. different heel heights for sports and other activities). This work was celebrated at the 2023 White House Demo Day, which showcase innovations in science. This event was attended by congressional staff and President Biden.</a:t>
            </a:r>
          </a:p>
          <a:p>
            <a:endParaRPr lang="en-US" b="1" dirty="0"/>
          </a:p>
          <a:p>
            <a:r>
              <a:rPr lang="en-US" b="1" dirty="0"/>
              <a:t>Artificial Digit Replacements Sized for Women Veterans with Individual Digit Loss</a:t>
            </a:r>
          </a:p>
          <a:p>
            <a:r>
              <a:rPr lang="en-US" b="0" dirty="0"/>
              <a:t>The Point Digit is a heavy-duty, passive articulating prosthetic finger designed to be both lightweight and strong, using a novel ratcheting mechanism to lock into 11 unique positions of flexion. This technology provides an effective and durable solution for many upper limb amputees with finger loss and ensure their ability to enjoy their work, family, and life to the fullest.</a:t>
            </a:r>
          </a:p>
          <a:p>
            <a:endParaRPr lang="en-US" b="1" dirty="0"/>
          </a:p>
          <a:p>
            <a:endParaRPr lang="en-US" b="1" dirty="0"/>
          </a:p>
          <a:p>
            <a:endParaRPr lang="en-US" b="1" dirty="0"/>
          </a:p>
          <a:p>
            <a:r>
              <a:rPr lang="en-US" b="1" dirty="0"/>
              <a:t>Nearly 2 million Americans living with limb loss (Ziegler-Graham et al, 2008),. The vast majority of prosthetic feet are aligned for a specific heel height shoe, with a potentially de-stabilizing effect on gait if the user decides to wear footwear with different heel heights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E45F22-8F1A-4A3B-B688-4DDE58E7A9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8727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So far, my research examples mainly illustrated engineering and prosthetic advancements, </a:t>
            </a:r>
            <a:r>
              <a:rPr lang="en-US" b="0" dirty="0"/>
              <a:t>but I recognize that rehabilitation research is so much larger than this, as is the space that occupational therapy can contribute. For example, occupational therapists have been included in behavioral health and vocational r/social reintegration in VA homeless programs since 2008.  OTs have unique perspectives and skills to support these individuals. </a:t>
            </a:r>
          </a:p>
          <a:p>
            <a:endParaRPr lang="en-US" b="0" dirty="0"/>
          </a:p>
          <a:p>
            <a:r>
              <a:rPr lang="en-US" b="1" dirty="0"/>
              <a:t>We know that people experiencing homelessness: </a:t>
            </a:r>
          </a:p>
          <a:p>
            <a:pPr marL="171450" indent="-171450">
              <a:buFont typeface="Arial" panose="020B0604020202020204" pitchFamily="34" charset="0"/>
              <a:buChar char="•"/>
            </a:pPr>
            <a:r>
              <a:rPr lang="en-US" dirty="0"/>
              <a:t>Have higher rates of mental health, traumatic brain injury, and substance use disorders than the general population (Stubbs et al., 2019).  </a:t>
            </a:r>
          </a:p>
          <a:p>
            <a:pPr marL="171450" indent="-171450">
              <a:buFont typeface="Arial" panose="020B0604020202020204" pitchFamily="34" charset="0"/>
              <a:buChar char="•"/>
            </a:pPr>
            <a:r>
              <a:rPr lang="en-US" dirty="0"/>
              <a:t>Have higher rates of geriatric and physical health conditions 20–30 years earlier than their housed counterparts (Fazel et al., 2014).  In fact, a recent VA study of more than 88,000 Veterans showed those experiencing housing instability were 53% more likely to have Alzheimer’s disease or related dementia diagnosis</a:t>
            </a:r>
          </a:p>
          <a:p>
            <a:r>
              <a:rPr lang="en-US" dirty="0"/>
              <a:t>To address these challenges, </a:t>
            </a:r>
            <a:r>
              <a:rPr lang="en-US" b="1" dirty="0"/>
              <a:t>the </a:t>
            </a:r>
            <a:r>
              <a:rPr lang="en-US" b="1" dirty="0" err="1"/>
              <a:t>THRIVe</a:t>
            </a:r>
            <a:r>
              <a:rPr lang="en-US" b="1" dirty="0"/>
              <a:t> Center </a:t>
            </a:r>
            <a:r>
              <a:rPr lang="en-US" dirty="0"/>
              <a:t>(Toward Homeless Recovery and Integration in Veterans), in LA fills a critical gap --the neglected problem of community integration for Veterans </a:t>
            </a:r>
            <a:r>
              <a:rPr lang="en-US" b="1" dirty="0"/>
              <a:t>after housing has been attained</a:t>
            </a:r>
            <a:r>
              <a:rPr lang="en-US" dirty="0"/>
              <a:t>.  This Center is led by Dr. Michael Green. </a:t>
            </a:r>
          </a:p>
          <a:p>
            <a:endParaRPr lang="en-US" dirty="0"/>
          </a:p>
          <a:p>
            <a:endParaRPr lang="en-US" dirty="0"/>
          </a:p>
          <a:p>
            <a:r>
              <a:rPr lang="en-US" dirty="0"/>
              <a:t>Read more at: https://www.stripes.com/veterans/2022-03-14/veterans-affairs-homeless-los-angeles-tiny-shelters-funding-5341053.html?utm</a:t>
            </a:r>
          </a:p>
          <a:p>
            <a:r>
              <a:rPr lang="en-US" dirty="0"/>
              <a:t>Source - Stars and Stripes</a:t>
            </a:r>
          </a:p>
          <a:p>
            <a:endParaRPr lang="en-US" dirty="0"/>
          </a:p>
          <a:p>
            <a:r>
              <a:rPr lang="en-US" dirty="0"/>
              <a:t>https://www.stripes.com/veterans/2022-03-14/veterans-affairs-homeless-los-angeles-tiny-shelters-funding-5341053.html?utm</a:t>
            </a:r>
          </a:p>
          <a:p>
            <a:r>
              <a:rPr lang="en-US" dirty="0"/>
              <a:t> https://www.research.va.gov/currents/0222-Help-beyond-housing.cfm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E45F22-8F1A-4A3B-B688-4DDE58E7A9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5227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3.bin"/></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4.emf"/></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4.e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4.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3.bin"/></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4.emf"/></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5.xml"/><Relationship Id="rId1" Type="http://schemas.openxmlformats.org/officeDocument/2006/relationships/tags" Target="../tags/tag18.xml"/><Relationship Id="rId5" Type="http://schemas.openxmlformats.org/officeDocument/2006/relationships/image" Target="../media/image17.png"/><Relationship Id="rId4" Type="http://schemas.openxmlformats.org/officeDocument/2006/relationships/image" Target="../media/image15.emf"/></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5.xml"/><Relationship Id="rId1" Type="http://schemas.openxmlformats.org/officeDocument/2006/relationships/tags" Target="../tags/tag19.xml"/><Relationship Id="rId4" Type="http://schemas.openxmlformats.org/officeDocument/2006/relationships/image" Target="../media/image15.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70A9334-4E67-F94F-A05E-0CE8B74A054E}" type="slidenum">
              <a:rPr lang="en-US" smtClean="0"/>
              <a:pPr/>
              <a:t>‹#›</a:t>
            </a:fld>
            <a:endParaRPr lang="en-US" dirty="0"/>
          </a:p>
        </p:txBody>
      </p:sp>
    </p:spTree>
    <p:extLst>
      <p:ext uri="{BB962C8B-B14F-4D97-AF65-F5344CB8AC3E}">
        <p14:creationId xmlns:p14="http://schemas.microsoft.com/office/powerpoint/2010/main" val="66603195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extLst>
              <p:ext uri="{D42A27DB-BD31-4B8C-83A1-F6EECF244321}">
                <p14:modId xmlns:p14="http://schemas.microsoft.com/office/powerpoint/2010/main" val="30337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2/5/2025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dirty="0"/>
          </a:p>
        </p:txBody>
      </p:sp>
    </p:spTree>
    <p:extLst>
      <p:ext uri="{BB962C8B-B14F-4D97-AF65-F5344CB8AC3E}">
        <p14:creationId xmlns:p14="http://schemas.microsoft.com/office/powerpoint/2010/main" val="176828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dirty="0"/>
          </a:p>
        </p:txBody>
      </p:sp>
      <p:cxnSp>
        <p:nvCxnSpPr>
          <p:cNvPr id="7" name="Straight Connector 6" descr="&quot;&quot;">
            <a:extLst>
              <a:ext uri="{FF2B5EF4-FFF2-40B4-BE49-F238E27FC236}">
                <a16:creationId xmlns:a16="http://schemas.microsoft.com/office/drawing/2014/main" id="{BEAC91FE-22FD-4E6A-87EB-4B75B31CDEB8}"/>
              </a:ext>
            </a:extLst>
          </p:cNvPr>
          <p:cNvCxnSpPr/>
          <p:nvPr userDrawn="1"/>
        </p:nvCxnSpPr>
        <p:spPr>
          <a:xfrm>
            <a:off x="831851" y="3571876"/>
            <a:ext cx="10515600" cy="0"/>
          </a:xfrm>
          <a:prstGeom prst="line">
            <a:avLst/>
          </a:prstGeom>
          <a:ln>
            <a:solidFill>
              <a:srgbClr val="003F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3285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70A9334-4E67-F94F-A05E-0CE8B74A054E}" type="slidenum">
              <a:rPr lang="en-US" smtClean="0"/>
              <a:pPr/>
              <a:t>‹#›</a:t>
            </a:fld>
            <a:endParaRPr lang="en-US" dirty="0"/>
          </a:p>
        </p:txBody>
      </p:sp>
    </p:spTree>
    <p:extLst>
      <p:ext uri="{BB962C8B-B14F-4D97-AF65-F5344CB8AC3E}">
        <p14:creationId xmlns:p14="http://schemas.microsoft.com/office/powerpoint/2010/main" val="282327727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70A9334-4E67-F94F-A05E-0CE8B74A054E}" type="slidenum">
              <a:rPr lang="en-US" smtClean="0"/>
              <a:t>‹#›</a:t>
            </a:fld>
            <a:endParaRPr lang="en-US" dirty="0"/>
          </a:p>
        </p:txBody>
      </p:sp>
    </p:spTree>
    <p:extLst>
      <p:ext uri="{BB962C8B-B14F-4D97-AF65-F5344CB8AC3E}">
        <p14:creationId xmlns:p14="http://schemas.microsoft.com/office/powerpoint/2010/main" val="1741402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70A9334-4E67-F94F-A05E-0CE8B74A054E}" type="slidenum">
              <a:rPr lang="en-US" smtClean="0"/>
              <a:t>‹#›</a:t>
            </a:fld>
            <a:endParaRPr lang="en-US" dirty="0"/>
          </a:p>
        </p:txBody>
      </p:sp>
    </p:spTree>
    <p:extLst>
      <p:ext uri="{BB962C8B-B14F-4D97-AF65-F5344CB8AC3E}">
        <p14:creationId xmlns:p14="http://schemas.microsoft.com/office/powerpoint/2010/main" val="3005002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70A9334-4E67-F94F-A05E-0CE8B74A054E}" type="slidenum">
              <a:rPr lang="en-US" smtClean="0"/>
              <a:pPr/>
              <a:t>‹#›</a:t>
            </a:fld>
            <a:endParaRPr lang="en-US" dirty="0"/>
          </a:p>
        </p:txBody>
      </p:sp>
    </p:spTree>
    <p:extLst>
      <p:ext uri="{BB962C8B-B14F-4D97-AF65-F5344CB8AC3E}">
        <p14:creationId xmlns:p14="http://schemas.microsoft.com/office/powerpoint/2010/main" val="320435379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70A9334-4E67-F94F-A05E-0CE8B74A054E}" type="slidenum">
              <a:rPr lang="en-US" smtClean="0"/>
              <a:pPr/>
              <a:t>‹#›</a:t>
            </a:fld>
            <a:endParaRPr lang="en-US" dirty="0"/>
          </a:p>
        </p:txBody>
      </p:sp>
    </p:spTree>
    <p:extLst>
      <p:ext uri="{BB962C8B-B14F-4D97-AF65-F5344CB8AC3E}">
        <p14:creationId xmlns:p14="http://schemas.microsoft.com/office/powerpoint/2010/main" val="117438900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70A9334-4E67-F94F-A05E-0CE8B74A054E}" type="slidenum">
              <a:rPr lang="en-US" smtClean="0"/>
              <a:pPr/>
              <a:t>‹#›</a:t>
            </a:fld>
            <a:endParaRPr lang="en-US" dirty="0"/>
          </a:p>
        </p:txBody>
      </p:sp>
    </p:spTree>
    <p:extLst>
      <p:ext uri="{BB962C8B-B14F-4D97-AF65-F5344CB8AC3E}">
        <p14:creationId xmlns:p14="http://schemas.microsoft.com/office/powerpoint/2010/main" val="3050801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70A9334-4E67-F94F-A05E-0CE8B74A054E}" type="slidenum">
              <a:rPr lang="en-US" smtClean="0"/>
              <a:pPr/>
              <a:t>‹#›</a:t>
            </a:fld>
            <a:endParaRPr lang="en-US" dirty="0"/>
          </a:p>
        </p:txBody>
      </p:sp>
    </p:spTree>
    <p:extLst>
      <p:ext uri="{BB962C8B-B14F-4D97-AF65-F5344CB8AC3E}">
        <p14:creationId xmlns:p14="http://schemas.microsoft.com/office/powerpoint/2010/main" val="264474575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70A9334-4E67-F94F-A05E-0CE8B74A054E}" type="slidenum">
              <a:rPr lang="en-US" smtClean="0"/>
              <a:pPr/>
              <a:t>‹#›</a:t>
            </a:fld>
            <a:endParaRPr lang="en-US" dirty="0"/>
          </a:p>
        </p:txBody>
      </p:sp>
    </p:spTree>
    <p:extLst>
      <p:ext uri="{BB962C8B-B14F-4D97-AF65-F5344CB8AC3E}">
        <p14:creationId xmlns:p14="http://schemas.microsoft.com/office/powerpoint/2010/main" val="328516611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dirty="0"/>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2931225906"/>
      </p:ext>
    </p:extLst>
  </p:cSld>
  <p:clrMapOvr>
    <a:masterClrMapping/>
  </p:clrMapOvr>
  <p:extLst>
    <p:ext uri="{DCECCB84-F9BA-43D5-87BE-67443E8EF086}">
      <p15:sldGuideLst xmlns:p15="http://schemas.microsoft.com/office/powerpoint/2012/main">
        <p15:guide id="1" orient="horz" pos="3984">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w/ Alt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0" y="1133857"/>
            <a:ext cx="10515600" cy="4818857"/>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D912DB-CF58-2B44-B78F-FA5C3CCFF15B}"/>
              </a:ext>
            </a:extLst>
          </p:cNvPr>
          <p:cNvSpPr>
            <a:spLocks noGrp="1"/>
          </p:cNvSpPr>
          <p:nvPr>
            <p:ph type="body" sz="quarter" idx="13" hasCustomPrompt="1"/>
          </p:nvPr>
        </p:nvSpPr>
        <p:spPr>
          <a:xfrm>
            <a:off x="-3383279" y="982664"/>
            <a:ext cx="3108113" cy="5064125"/>
          </a:xfrm>
        </p:spPr>
        <p:txBody>
          <a:bodyPr/>
          <a:lstStyle>
            <a:lvl1pPr>
              <a:defRPr/>
            </a:lvl1pPr>
          </a:lstStyle>
          <a:p>
            <a:pPr lvl="0"/>
            <a:r>
              <a:rPr lang="en-US"/>
              <a:t>Insert alt text for complex graphic</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dirty="0"/>
          </a:p>
        </p:txBody>
      </p:sp>
    </p:spTree>
    <p:extLst>
      <p:ext uri="{BB962C8B-B14F-4D97-AF65-F5344CB8AC3E}">
        <p14:creationId xmlns:p14="http://schemas.microsoft.com/office/powerpoint/2010/main" val="42189926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wo content holders vertica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0" y="1133857"/>
            <a:ext cx="10515600" cy="2076935"/>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09A16403-64DA-D349-9AAF-2952A411FC8C}"/>
              </a:ext>
            </a:extLst>
          </p:cNvPr>
          <p:cNvSpPr>
            <a:spLocks noGrp="1"/>
          </p:cNvSpPr>
          <p:nvPr>
            <p:ph idx="13"/>
          </p:nvPr>
        </p:nvSpPr>
        <p:spPr>
          <a:xfrm>
            <a:off x="838200" y="3523766"/>
            <a:ext cx="10515600" cy="2076935"/>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dirty="0"/>
          </a:p>
        </p:txBody>
      </p:sp>
    </p:spTree>
    <p:extLst>
      <p:ext uri="{BB962C8B-B14F-4D97-AF65-F5344CB8AC3E}">
        <p14:creationId xmlns:p14="http://schemas.microsoft.com/office/powerpoint/2010/main" val="32658017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and Sidebar Call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2" y="1133856"/>
            <a:ext cx="6878781" cy="4830526"/>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13EDEFD9-BFED-434F-8D05-9CA4431F495F}"/>
              </a:ext>
            </a:extLst>
          </p:cNvPr>
          <p:cNvCxnSpPr/>
          <p:nvPr userDrawn="1"/>
        </p:nvCxnSpPr>
        <p:spPr>
          <a:xfrm>
            <a:off x="7790688" y="1133856"/>
            <a:ext cx="0" cy="4830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6710610B-BCCF-034B-B401-A7C2A95FDABD}"/>
              </a:ext>
            </a:extLst>
          </p:cNvPr>
          <p:cNvSpPr>
            <a:spLocks noGrp="1"/>
          </p:cNvSpPr>
          <p:nvPr>
            <p:ph idx="13"/>
          </p:nvPr>
        </p:nvSpPr>
        <p:spPr>
          <a:xfrm>
            <a:off x="7854696" y="1133857"/>
            <a:ext cx="3499104" cy="2586089"/>
          </a:xfrm>
        </p:spPr>
        <p:txBody>
          <a:bodyPr/>
          <a:lstStyle>
            <a:lvl1pPr marL="0" indent="0">
              <a:lnSpc>
                <a:spcPct val="110000"/>
              </a:lnSpc>
              <a:buNone/>
              <a:defRPr/>
            </a:lvl1pPr>
          </a:lstStyle>
          <a:p>
            <a:pPr lvl="0"/>
            <a:r>
              <a:rPr lang="en-US"/>
              <a:t>Edit Master text styles</a:t>
            </a:r>
          </a:p>
        </p:txBody>
      </p:sp>
      <p:sp>
        <p:nvSpPr>
          <p:cNvPr id="8" name="Content Placeholder 2">
            <a:extLst>
              <a:ext uri="{FF2B5EF4-FFF2-40B4-BE49-F238E27FC236}">
                <a16:creationId xmlns:a16="http://schemas.microsoft.com/office/drawing/2014/main" id="{11EE1AA3-98A0-E149-81B7-A4FC8FBABDDB}"/>
              </a:ext>
            </a:extLst>
          </p:cNvPr>
          <p:cNvSpPr>
            <a:spLocks noGrp="1"/>
          </p:cNvSpPr>
          <p:nvPr>
            <p:ph idx="14"/>
          </p:nvPr>
        </p:nvSpPr>
        <p:spPr>
          <a:xfrm>
            <a:off x="7854697" y="3719946"/>
            <a:ext cx="3499104" cy="2244437"/>
          </a:xfrm>
        </p:spPr>
        <p:txBody>
          <a:bodyPr/>
          <a:lstStyle>
            <a:lvl1pPr marL="0" indent="0">
              <a:lnSpc>
                <a:spcPct val="110000"/>
              </a:lnSpc>
              <a:buNone/>
              <a:defRPr/>
            </a:lvl1pPr>
          </a:lstStyle>
          <a:p>
            <a:pPr lvl="0"/>
            <a:r>
              <a:rPr lang="en-US"/>
              <a:t>Edit Master text styles</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dirty="0"/>
          </a:p>
        </p:txBody>
      </p:sp>
    </p:spTree>
    <p:extLst>
      <p:ext uri="{BB962C8B-B14F-4D97-AF65-F5344CB8AC3E}">
        <p14:creationId xmlns:p14="http://schemas.microsoft.com/office/powerpoint/2010/main" val="22004495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and Two Supporting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2" y="1133856"/>
            <a:ext cx="4438649" cy="4830526"/>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6710610B-BCCF-034B-B401-A7C2A95FDABD}"/>
              </a:ext>
            </a:extLst>
          </p:cNvPr>
          <p:cNvSpPr>
            <a:spLocks noGrp="1"/>
          </p:cNvSpPr>
          <p:nvPr>
            <p:ph idx="13"/>
          </p:nvPr>
        </p:nvSpPr>
        <p:spPr>
          <a:xfrm>
            <a:off x="5486400" y="1133857"/>
            <a:ext cx="5867400" cy="2586089"/>
          </a:xfrm>
        </p:spPr>
        <p:txBody>
          <a:bodyPr/>
          <a:lstStyle>
            <a:lvl1pPr marL="0" indent="0">
              <a:lnSpc>
                <a:spcPct val="110000"/>
              </a:lnSpc>
              <a:buNone/>
              <a:defRPr/>
            </a:lvl1pPr>
          </a:lstStyle>
          <a:p>
            <a:pPr lvl="0"/>
            <a:r>
              <a:rPr lang="en-US"/>
              <a:t>Edit Master text styles</a:t>
            </a:r>
          </a:p>
        </p:txBody>
      </p:sp>
      <p:sp>
        <p:nvSpPr>
          <p:cNvPr id="8" name="Content Placeholder 2">
            <a:extLst>
              <a:ext uri="{FF2B5EF4-FFF2-40B4-BE49-F238E27FC236}">
                <a16:creationId xmlns:a16="http://schemas.microsoft.com/office/drawing/2014/main" id="{11EE1AA3-98A0-E149-81B7-A4FC8FBABDDB}"/>
              </a:ext>
            </a:extLst>
          </p:cNvPr>
          <p:cNvSpPr>
            <a:spLocks noGrp="1"/>
          </p:cNvSpPr>
          <p:nvPr>
            <p:ph idx="14"/>
          </p:nvPr>
        </p:nvSpPr>
        <p:spPr>
          <a:xfrm>
            <a:off x="5486401" y="3719946"/>
            <a:ext cx="5867401" cy="2244437"/>
          </a:xfrm>
        </p:spPr>
        <p:txBody>
          <a:bodyPr/>
          <a:lstStyle>
            <a:lvl1pPr marL="0" indent="0">
              <a:lnSpc>
                <a:spcPct val="110000"/>
              </a:lnSpc>
              <a:buNone/>
              <a:defRPr/>
            </a:lvl1pPr>
          </a:lstStyle>
          <a:p>
            <a:pPr lvl="0"/>
            <a:r>
              <a:rPr lang="en-US"/>
              <a:t>Edit Master text styles</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dirty="0"/>
          </a:p>
        </p:txBody>
      </p:sp>
    </p:spTree>
    <p:extLst>
      <p:ext uri="{BB962C8B-B14F-4D97-AF65-F5344CB8AC3E}">
        <p14:creationId xmlns:p14="http://schemas.microsoft.com/office/powerpoint/2010/main" val="30465709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and Three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1"/>
          <p:cNvSpPr>
            <a:spLocks noGrp="1"/>
          </p:cNvSpPr>
          <p:nvPr>
            <p:ph idx="1"/>
          </p:nvPr>
        </p:nvSpPr>
        <p:spPr>
          <a:xfrm>
            <a:off x="838201" y="1133856"/>
            <a:ext cx="10515599" cy="1858726"/>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6710610B-BCCF-034B-B401-A7C2A95FDABD}"/>
              </a:ext>
            </a:extLst>
          </p:cNvPr>
          <p:cNvSpPr>
            <a:spLocks noGrp="1"/>
          </p:cNvSpPr>
          <p:nvPr>
            <p:ph idx="13"/>
          </p:nvPr>
        </p:nvSpPr>
        <p:spPr>
          <a:xfrm>
            <a:off x="838200" y="3087348"/>
            <a:ext cx="3413760" cy="1391135"/>
          </a:xfrm>
        </p:spPr>
        <p:txBody>
          <a:bodyPr/>
          <a:lstStyle>
            <a:lvl1pPr marL="0" indent="0">
              <a:lnSpc>
                <a:spcPct val="110000"/>
              </a:lnSpc>
              <a:buNone/>
              <a:defRPr/>
            </a:lvl1pPr>
          </a:lstStyle>
          <a:p>
            <a:pPr lvl="0"/>
            <a:r>
              <a:rPr lang="en-US"/>
              <a:t>Edit Master text styles</a:t>
            </a:r>
          </a:p>
        </p:txBody>
      </p:sp>
      <p:sp>
        <p:nvSpPr>
          <p:cNvPr id="9" name="Content Placeholder 2b">
            <a:extLst>
              <a:ext uri="{FF2B5EF4-FFF2-40B4-BE49-F238E27FC236}">
                <a16:creationId xmlns:a16="http://schemas.microsoft.com/office/drawing/2014/main" id="{7ADB0280-2725-5348-9620-05FFA815C35A}"/>
              </a:ext>
            </a:extLst>
          </p:cNvPr>
          <p:cNvSpPr>
            <a:spLocks noGrp="1"/>
          </p:cNvSpPr>
          <p:nvPr>
            <p:ph idx="15"/>
          </p:nvPr>
        </p:nvSpPr>
        <p:spPr>
          <a:xfrm>
            <a:off x="838200" y="4573248"/>
            <a:ext cx="3413760" cy="1388641"/>
          </a:xfrm>
        </p:spPr>
        <p:txBody>
          <a:bodyPr/>
          <a:lstStyle>
            <a:lvl1pPr marL="0" indent="0">
              <a:lnSpc>
                <a:spcPct val="110000"/>
              </a:lnSpc>
              <a:buNone/>
              <a:defRPr/>
            </a:lvl1pPr>
          </a:lstStyle>
          <a:p>
            <a:pPr lvl="0"/>
            <a:r>
              <a:rPr lang="en-US"/>
              <a:t>Edit Master text styles</a:t>
            </a:r>
          </a:p>
        </p:txBody>
      </p:sp>
      <p:sp>
        <p:nvSpPr>
          <p:cNvPr id="8" name="Content Placeholder 3">
            <a:extLst>
              <a:ext uri="{FF2B5EF4-FFF2-40B4-BE49-F238E27FC236}">
                <a16:creationId xmlns:a16="http://schemas.microsoft.com/office/drawing/2014/main" id="{11EE1AA3-98A0-E149-81B7-A4FC8FBABDDB}"/>
              </a:ext>
            </a:extLst>
          </p:cNvPr>
          <p:cNvSpPr>
            <a:spLocks noGrp="1"/>
          </p:cNvSpPr>
          <p:nvPr>
            <p:ph idx="14"/>
          </p:nvPr>
        </p:nvSpPr>
        <p:spPr>
          <a:xfrm>
            <a:off x="4389119" y="3088594"/>
            <a:ext cx="3413760" cy="1389888"/>
          </a:xfrm>
        </p:spPr>
        <p:txBody>
          <a:bodyPr/>
          <a:lstStyle>
            <a:lvl1pPr marL="0" indent="0">
              <a:lnSpc>
                <a:spcPct val="110000"/>
              </a:lnSpc>
              <a:buNone/>
              <a:defRPr/>
            </a:lvl1pPr>
          </a:lstStyle>
          <a:p>
            <a:pPr lvl="0"/>
            <a:r>
              <a:rPr lang="en-US"/>
              <a:t>Edit Master text styles</a:t>
            </a:r>
          </a:p>
        </p:txBody>
      </p:sp>
      <p:sp>
        <p:nvSpPr>
          <p:cNvPr id="13" name="Content Placeholder 3b">
            <a:extLst>
              <a:ext uri="{FF2B5EF4-FFF2-40B4-BE49-F238E27FC236}">
                <a16:creationId xmlns:a16="http://schemas.microsoft.com/office/drawing/2014/main" id="{C41BE50D-B3FE-114C-BA57-58A4DEA04B56}"/>
              </a:ext>
            </a:extLst>
          </p:cNvPr>
          <p:cNvSpPr>
            <a:spLocks noGrp="1"/>
          </p:cNvSpPr>
          <p:nvPr>
            <p:ph idx="16"/>
          </p:nvPr>
        </p:nvSpPr>
        <p:spPr>
          <a:xfrm>
            <a:off x="4389119" y="4574494"/>
            <a:ext cx="3413760" cy="1389888"/>
          </a:xfrm>
        </p:spPr>
        <p:txBody>
          <a:bodyPr/>
          <a:lstStyle>
            <a:lvl1pPr marL="0" indent="0">
              <a:lnSpc>
                <a:spcPct val="110000"/>
              </a:lnSpc>
              <a:buNone/>
              <a:defRPr/>
            </a:lvl1pPr>
          </a:lstStyle>
          <a:p>
            <a:pPr lvl="0"/>
            <a:r>
              <a:rPr lang="en-US"/>
              <a:t>Edit Master text styles</a:t>
            </a:r>
          </a:p>
        </p:txBody>
      </p:sp>
      <p:sp>
        <p:nvSpPr>
          <p:cNvPr id="14" name="Content Placeholder 4">
            <a:extLst>
              <a:ext uri="{FF2B5EF4-FFF2-40B4-BE49-F238E27FC236}">
                <a16:creationId xmlns:a16="http://schemas.microsoft.com/office/drawing/2014/main" id="{255A5921-CC24-C744-992F-90BB2C7F7737}"/>
              </a:ext>
            </a:extLst>
          </p:cNvPr>
          <p:cNvSpPr>
            <a:spLocks noGrp="1"/>
          </p:cNvSpPr>
          <p:nvPr>
            <p:ph idx="17"/>
          </p:nvPr>
        </p:nvSpPr>
        <p:spPr>
          <a:xfrm>
            <a:off x="7940039" y="3089841"/>
            <a:ext cx="3413760" cy="1389888"/>
          </a:xfrm>
        </p:spPr>
        <p:txBody>
          <a:bodyPr/>
          <a:lstStyle>
            <a:lvl1pPr marL="0" indent="0">
              <a:lnSpc>
                <a:spcPct val="110000"/>
              </a:lnSpc>
              <a:buNone/>
              <a:defRPr/>
            </a:lvl1pPr>
          </a:lstStyle>
          <a:p>
            <a:pPr lvl="0"/>
            <a:r>
              <a:rPr lang="en-US"/>
              <a:t>Edit Master text styles</a:t>
            </a:r>
          </a:p>
        </p:txBody>
      </p:sp>
      <p:sp>
        <p:nvSpPr>
          <p:cNvPr id="15" name="Content Placeholder 4b">
            <a:extLst>
              <a:ext uri="{FF2B5EF4-FFF2-40B4-BE49-F238E27FC236}">
                <a16:creationId xmlns:a16="http://schemas.microsoft.com/office/drawing/2014/main" id="{1F9DC565-F7CD-4D49-BBFE-54E017FCDBC7}"/>
              </a:ext>
            </a:extLst>
          </p:cNvPr>
          <p:cNvSpPr>
            <a:spLocks noGrp="1"/>
          </p:cNvSpPr>
          <p:nvPr>
            <p:ph idx="18"/>
          </p:nvPr>
        </p:nvSpPr>
        <p:spPr>
          <a:xfrm>
            <a:off x="7940039" y="4573247"/>
            <a:ext cx="3413760" cy="1389888"/>
          </a:xfrm>
        </p:spPr>
        <p:txBody>
          <a:bodyPr/>
          <a:lstStyle>
            <a:lvl1pPr marL="0" indent="0">
              <a:lnSpc>
                <a:spcPct val="110000"/>
              </a:lnSpc>
              <a:buNone/>
              <a:defRPr/>
            </a:lvl1pPr>
          </a:lstStyle>
          <a:p>
            <a:pPr lvl="0"/>
            <a:r>
              <a:rPr lang="en-US"/>
              <a:t>Edit Master text styles</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dirty="0"/>
          </a:p>
        </p:txBody>
      </p:sp>
    </p:spTree>
    <p:extLst>
      <p:ext uri="{BB962C8B-B14F-4D97-AF65-F5344CB8AC3E}">
        <p14:creationId xmlns:p14="http://schemas.microsoft.com/office/powerpoint/2010/main" val="37883295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Header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9B824-BC4D-BC4E-8F89-78915197848F}"/>
              </a:ext>
            </a:extLst>
          </p:cNvPr>
          <p:cNvSpPr>
            <a:spLocks noGrp="1"/>
          </p:cNvSpPr>
          <p:nvPr>
            <p:ph type="title" hasCustomPrompt="1"/>
          </p:nvPr>
        </p:nvSpPr>
        <p:spPr>
          <a:xfrm>
            <a:off x="838200" y="118873"/>
            <a:ext cx="10515600" cy="752929"/>
          </a:xfrm>
        </p:spPr>
        <p:txBody>
          <a:bodyPr/>
          <a:lstStyle>
            <a:lvl1pPr>
              <a:defRPr/>
            </a:lvl1pPr>
          </a:lstStyle>
          <a:p>
            <a:r>
              <a:rPr lang="en-US"/>
              <a:t>Click to edit master title style</a:t>
            </a:r>
          </a:p>
        </p:txBody>
      </p:sp>
      <p:sp>
        <p:nvSpPr>
          <p:cNvPr id="6" name="Text Placeholder 2">
            <a:extLst>
              <a:ext uri="{FF2B5EF4-FFF2-40B4-BE49-F238E27FC236}">
                <a16:creationId xmlns:a16="http://schemas.microsoft.com/office/drawing/2014/main" id="{D126D2C3-64E2-7440-99AC-F8DC77F0E964}"/>
              </a:ext>
            </a:extLst>
          </p:cNvPr>
          <p:cNvSpPr>
            <a:spLocks noGrp="1"/>
          </p:cNvSpPr>
          <p:nvPr>
            <p:ph type="body" idx="1" hasCustomPrompt="1"/>
          </p:nvPr>
        </p:nvSpPr>
        <p:spPr>
          <a:xfrm>
            <a:off x="839789" y="1137442"/>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7" name="Content Placeholder 2">
            <a:extLst>
              <a:ext uri="{FF2B5EF4-FFF2-40B4-BE49-F238E27FC236}">
                <a16:creationId xmlns:a16="http://schemas.microsoft.com/office/drawing/2014/main" id="{33D4B0C3-AED5-1149-A608-D92E5AF5417A}"/>
              </a:ext>
            </a:extLst>
          </p:cNvPr>
          <p:cNvSpPr>
            <a:spLocks noGrp="1"/>
          </p:cNvSpPr>
          <p:nvPr>
            <p:ph idx="11"/>
          </p:nvPr>
        </p:nvSpPr>
        <p:spPr>
          <a:xfrm>
            <a:off x="838200" y="1641764"/>
            <a:ext cx="10515600" cy="4281993"/>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4A79C999-42AF-3D4F-A523-E1CD40483976}"/>
              </a:ext>
            </a:extLst>
          </p:cNvPr>
          <p:cNvSpPr>
            <a:spLocks noGrp="1"/>
          </p:cNvSpPr>
          <p:nvPr>
            <p:ph type="sldNum" sz="quarter" idx="10"/>
          </p:nvPr>
        </p:nvSpPr>
        <p:spPr/>
        <p:txBody>
          <a:bodyPr/>
          <a:lstStyle/>
          <a:p>
            <a:fld id="{670A9334-4E67-F94F-A05E-0CE8B74A054E}" type="slidenum">
              <a:rPr lang="en-US" smtClean="0"/>
              <a:t>‹#›</a:t>
            </a:fld>
            <a:endParaRPr lang="en-US" dirty="0"/>
          </a:p>
        </p:txBody>
      </p:sp>
    </p:spTree>
    <p:extLst>
      <p:ext uri="{BB962C8B-B14F-4D97-AF65-F5344CB8AC3E}">
        <p14:creationId xmlns:p14="http://schemas.microsoft.com/office/powerpoint/2010/main" val="9319386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Two subheadings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9B824-BC4D-BC4E-8F89-78915197848F}"/>
              </a:ext>
            </a:extLst>
          </p:cNvPr>
          <p:cNvSpPr>
            <a:spLocks noGrp="1"/>
          </p:cNvSpPr>
          <p:nvPr>
            <p:ph type="title" hasCustomPrompt="1"/>
          </p:nvPr>
        </p:nvSpPr>
        <p:spPr>
          <a:xfrm>
            <a:off x="838200" y="118873"/>
            <a:ext cx="10515600" cy="752929"/>
          </a:xfrm>
        </p:spPr>
        <p:txBody>
          <a:bodyPr/>
          <a:lstStyle>
            <a:lvl1pPr>
              <a:defRPr/>
            </a:lvl1pPr>
          </a:lstStyle>
          <a:p>
            <a:r>
              <a:rPr lang="en-US"/>
              <a:t>Click to edit master title style</a:t>
            </a:r>
          </a:p>
        </p:txBody>
      </p:sp>
      <p:sp>
        <p:nvSpPr>
          <p:cNvPr id="6" name="Text Placeholder 2">
            <a:extLst>
              <a:ext uri="{FF2B5EF4-FFF2-40B4-BE49-F238E27FC236}">
                <a16:creationId xmlns:a16="http://schemas.microsoft.com/office/drawing/2014/main" id="{D126D2C3-64E2-7440-99AC-F8DC77F0E964}"/>
              </a:ext>
            </a:extLst>
          </p:cNvPr>
          <p:cNvSpPr>
            <a:spLocks noGrp="1"/>
          </p:cNvSpPr>
          <p:nvPr>
            <p:ph type="body" idx="1" hasCustomPrompt="1"/>
          </p:nvPr>
        </p:nvSpPr>
        <p:spPr>
          <a:xfrm>
            <a:off x="839789" y="1137442"/>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7" name="Content Placeholder 2">
            <a:extLst>
              <a:ext uri="{FF2B5EF4-FFF2-40B4-BE49-F238E27FC236}">
                <a16:creationId xmlns:a16="http://schemas.microsoft.com/office/drawing/2014/main" id="{33D4B0C3-AED5-1149-A608-D92E5AF5417A}"/>
              </a:ext>
            </a:extLst>
          </p:cNvPr>
          <p:cNvSpPr>
            <a:spLocks noGrp="1"/>
          </p:cNvSpPr>
          <p:nvPr>
            <p:ph idx="11"/>
          </p:nvPr>
        </p:nvSpPr>
        <p:spPr>
          <a:xfrm>
            <a:off x="838200" y="1641765"/>
            <a:ext cx="10515600" cy="1735281"/>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902669C5-C031-0949-BCEF-538915E07FD2}"/>
              </a:ext>
            </a:extLst>
          </p:cNvPr>
          <p:cNvSpPr>
            <a:spLocks noGrp="1"/>
          </p:cNvSpPr>
          <p:nvPr>
            <p:ph type="body" idx="12" hasCustomPrompt="1"/>
          </p:nvPr>
        </p:nvSpPr>
        <p:spPr>
          <a:xfrm>
            <a:off x="839789" y="3589697"/>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9" name="Content Placeholder 2">
            <a:extLst>
              <a:ext uri="{FF2B5EF4-FFF2-40B4-BE49-F238E27FC236}">
                <a16:creationId xmlns:a16="http://schemas.microsoft.com/office/drawing/2014/main" id="{85809810-9DB7-E84D-9C39-5D795F1B7EEB}"/>
              </a:ext>
            </a:extLst>
          </p:cNvPr>
          <p:cNvSpPr>
            <a:spLocks noGrp="1"/>
          </p:cNvSpPr>
          <p:nvPr>
            <p:ph idx="13"/>
          </p:nvPr>
        </p:nvSpPr>
        <p:spPr>
          <a:xfrm>
            <a:off x="838200" y="4094020"/>
            <a:ext cx="10515600" cy="1735281"/>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4A79C999-42AF-3D4F-A523-E1CD40483976}"/>
              </a:ext>
            </a:extLst>
          </p:cNvPr>
          <p:cNvSpPr>
            <a:spLocks noGrp="1"/>
          </p:cNvSpPr>
          <p:nvPr>
            <p:ph type="sldNum" sz="quarter" idx="10"/>
          </p:nvPr>
        </p:nvSpPr>
        <p:spPr/>
        <p:txBody>
          <a:bodyPr/>
          <a:lstStyle/>
          <a:p>
            <a:fld id="{670A9334-4E67-F94F-A05E-0CE8B74A054E}" type="slidenum">
              <a:rPr lang="en-US" smtClean="0"/>
              <a:t>‹#›</a:t>
            </a:fld>
            <a:endParaRPr lang="en-US" dirty="0"/>
          </a:p>
        </p:txBody>
      </p:sp>
    </p:spTree>
    <p:extLst>
      <p:ext uri="{BB962C8B-B14F-4D97-AF65-F5344CB8AC3E}">
        <p14:creationId xmlns:p14="http://schemas.microsoft.com/office/powerpoint/2010/main" val="18678730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wo Columns Horizonta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600"/>
            </a:lvl1pPr>
          </a:lstStyle>
          <a:p>
            <a:r>
              <a:rPr lang="en-US"/>
              <a:t>Click to edit master title style</a:t>
            </a:r>
          </a:p>
        </p:txBody>
      </p:sp>
      <p:sp>
        <p:nvSpPr>
          <p:cNvPr id="3" name="Content Placeholder 2"/>
          <p:cNvSpPr>
            <a:spLocks noGrp="1"/>
          </p:cNvSpPr>
          <p:nvPr>
            <p:ph sz="half" idx="1"/>
          </p:nvPr>
        </p:nvSpPr>
        <p:spPr>
          <a:xfrm>
            <a:off x="838200" y="1079501"/>
            <a:ext cx="5181600" cy="4831442"/>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079501"/>
            <a:ext cx="5181600" cy="4831443"/>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670A9334-4E67-F94F-A05E-0CE8B74A054E}" type="slidenum">
              <a:rPr lang="en-US" smtClean="0"/>
              <a:t>‹#›</a:t>
            </a:fld>
            <a:endParaRPr lang="en-US" dirty="0"/>
          </a:p>
        </p:txBody>
      </p:sp>
    </p:spTree>
    <p:extLst>
      <p:ext uri="{BB962C8B-B14F-4D97-AF65-F5344CB8AC3E}">
        <p14:creationId xmlns:p14="http://schemas.microsoft.com/office/powerpoint/2010/main" val="20054217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three content holder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9743"/>
            <a:ext cx="10515600" cy="752929"/>
          </a:xfrm>
        </p:spPr>
        <p:txBody>
          <a:bodyPr/>
          <a:lstStyle/>
          <a:p>
            <a:r>
              <a:rPr lang="en-US"/>
              <a:t>Click to edit master title style</a:t>
            </a:r>
          </a:p>
        </p:txBody>
      </p:sp>
      <p:sp>
        <p:nvSpPr>
          <p:cNvPr id="4" name="Content Placeholder 1">
            <a:extLst>
              <a:ext uri="{FF2B5EF4-FFF2-40B4-BE49-F238E27FC236}">
                <a16:creationId xmlns:a16="http://schemas.microsoft.com/office/drawing/2014/main" id="{2EBA3E1E-B72D-5841-BE68-B0030368BE0B}"/>
              </a:ext>
            </a:extLst>
          </p:cNvPr>
          <p:cNvSpPr>
            <a:spLocks noGrp="1"/>
          </p:cNvSpPr>
          <p:nvPr>
            <p:ph sz="quarter" idx="13"/>
          </p:nvPr>
        </p:nvSpPr>
        <p:spPr>
          <a:xfrm>
            <a:off x="838200" y="1058864"/>
            <a:ext cx="5471584" cy="211747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72D7FA09-D982-8A4E-B298-316DB9B05D14}"/>
              </a:ext>
            </a:extLst>
          </p:cNvPr>
          <p:cNvSpPr>
            <a:spLocks noGrp="1"/>
          </p:cNvSpPr>
          <p:nvPr>
            <p:ph sz="quarter" idx="14"/>
          </p:nvPr>
        </p:nvSpPr>
        <p:spPr>
          <a:xfrm>
            <a:off x="838200" y="3401011"/>
            <a:ext cx="5471584" cy="253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5DDD0237-E847-CA45-B519-10F5341252AA}"/>
              </a:ext>
            </a:extLst>
          </p:cNvPr>
          <p:cNvSpPr>
            <a:spLocks noGrp="1"/>
          </p:cNvSpPr>
          <p:nvPr>
            <p:ph sz="quarter" idx="15"/>
          </p:nvPr>
        </p:nvSpPr>
        <p:spPr>
          <a:xfrm>
            <a:off x="6485021" y="1058864"/>
            <a:ext cx="5471584" cy="48773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2"/>
          </p:nvPr>
        </p:nvSpPr>
        <p:spPr/>
        <p:txBody>
          <a:bodyPr/>
          <a:lstStyle/>
          <a:p>
            <a:fld id="{670A9334-4E67-F94F-A05E-0CE8B74A054E}" type="slidenum">
              <a:rPr lang="en-US" smtClean="0"/>
              <a:t>‹#›</a:t>
            </a:fld>
            <a:endParaRPr lang="en-US" dirty="0"/>
          </a:p>
        </p:txBody>
      </p:sp>
    </p:spTree>
    <p:extLst>
      <p:ext uri="{BB962C8B-B14F-4D97-AF65-F5344CB8AC3E}">
        <p14:creationId xmlns:p14="http://schemas.microsoft.com/office/powerpoint/2010/main" val="37001620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Arrow two third">
    <p:bg>
      <p:bgPr>
        <a:gradFill flip="none" rotWithShape="1">
          <a:gsLst>
            <a:gs pos="0">
              <a:srgbClr val="002F56"/>
            </a:gs>
            <a:gs pos="100000">
              <a:srgbClr val="00488A"/>
            </a:gs>
          </a:gsLst>
          <a:lin ang="81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948290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52" imgH="355" progId="TCLayout.ActiveDocument.1">
                  <p:embed/>
                </p:oleObj>
              </mc:Choice>
              <mc:Fallback>
                <p:oleObj name="think-cell Slide" r:id="rId4" imgW="352" imgH="355"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00529B"/>
                </a:solidFill>
                <a:latin typeface="+mn-lt"/>
                <a:sym typeface="+mj-lt"/>
              </a:defRPr>
            </a:lvl1pPr>
          </a:lstStyle>
          <a:p>
            <a:pPr lvl="0"/>
            <a:r>
              <a:rPr lang="en-US"/>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dirty="0">
                <a:solidFill>
                  <a:schemeClr val="bg1"/>
                </a:solidFill>
                <a:latin typeface="+mn-lt"/>
                <a:sym typeface="Trebuchet MS" panose="020B0603020202020204" pitchFamily="34" charset="0"/>
              </a:rPr>
              <a:t>20230809_ISRM_ SC Deck vS.pptx</a:t>
            </a:r>
          </a:p>
        </p:txBody>
      </p:sp>
      <p:pic>
        <p:nvPicPr>
          <p:cNvPr id="16" name="Picture 15"/>
          <p:cNvPicPr>
            <a:picLocks noChangeAspect="1" noChangeArrowheads="1"/>
          </p:cNvPicPr>
          <p:nvPr userDrawn="1"/>
        </p:nvPicPr>
        <p:blipFill>
          <a:blip r:embed="rId6">
            <a:extLst>
              <a:ext uri="{28A0092B-C50C-407E-A947-70E740481C1C}">
                <a14:useLocalDpi xmlns:a14="http://schemas.microsoft.com/office/drawing/2010/main"/>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2206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Section Break">
    <p:bg>
      <p:bgPr>
        <a:solidFill>
          <a:srgbClr val="002F56"/>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DE3D11B-5FAF-4A20-BC91-DC09E07A8D6B}"/>
              </a:ext>
            </a:extLst>
          </p:cNvPr>
          <p:cNvCxnSpPr>
            <a:cxnSpLocks/>
          </p:cNvCxnSpPr>
          <p:nvPr userDrawn="1"/>
        </p:nvCxnSpPr>
        <p:spPr>
          <a:xfrm>
            <a:off x="955497" y="3705225"/>
            <a:ext cx="1123650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8EFF66FB-DCA5-48F3-A735-3BE74D09ACD8}"/>
              </a:ext>
            </a:extLst>
          </p:cNvPr>
          <p:cNvSpPr>
            <a:spLocks noGrp="1"/>
          </p:cNvSpPr>
          <p:nvPr>
            <p:ph type="body" sz="quarter" idx="10"/>
          </p:nvPr>
        </p:nvSpPr>
        <p:spPr>
          <a:xfrm>
            <a:off x="955497" y="3705225"/>
            <a:ext cx="9144000" cy="1828800"/>
          </a:xfrm>
        </p:spPr>
        <p:txBody>
          <a:bodyPr/>
          <a:lstStyle>
            <a:lvl1pPr marL="0" indent="0">
              <a:buNone/>
              <a:defRPr sz="40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7518799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lvl1pPr>
              <a:defRPr sz="2400"/>
            </a:lvl1pPr>
          </a:lstStyle>
          <a:p>
            <a:r>
              <a:rPr lang="en-US"/>
              <a:t>Click to edit Master title style</a:t>
            </a:r>
          </a:p>
        </p:txBody>
      </p:sp>
      <p:sp>
        <p:nvSpPr>
          <p:cNvPr id="3" name="Content Placeholder 2"/>
          <p:cNvSpPr>
            <a:spLocks noGrp="1"/>
          </p:cNvSpPr>
          <p:nvPr>
            <p:ph idx="1"/>
          </p:nvPr>
        </p:nvSpPr>
        <p:spPr>
          <a:xfrm>
            <a:off x="285750" y="1062518"/>
            <a:ext cx="10515600" cy="4287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02051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6"/>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a:xfrm>
            <a:off x="9293994" y="6356352"/>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6407834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182" indent="0" algn="ctr">
              <a:buNone/>
              <a:defRPr sz="2000"/>
            </a:lvl2pPr>
            <a:lvl3pPr marL="914363" indent="0" algn="ctr">
              <a:buNone/>
              <a:defRPr sz="1800"/>
            </a:lvl3pPr>
            <a:lvl4pPr marL="1371545" indent="0" algn="ctr">
              <a:buNone/>
              <a:defRPr sz="1600"/>
            </a:lvl4pPr>
            <a:lvl5pPr marL="1828727" indent="0" algn="ctr">
              <a:buNone/>
              <a:defRPr sz="1600"/>
            </a:lvl5pPr>
            <a:lvl6pPr marL="2285909" indent="0" algn="ctr">
              <a:buNone/>
              <a:defRPr sz="1600"/>
            </a:lvl6pPr>
            <a:lvl7pPr marL="2743090" indent="0" algn="ctr">
              <a:buNone/>
              <a:defRPr sz="1600"/>
            </a:lvl7pPr>
            <a:lvl8pPr marL="3200272" indent="0" algn="ctr">
              <a:buNone/>
              <a:defRPr sz="1600"/>
            </a:lvl8pPr>
            <a:lvl9pPr marL="3657454"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3207855031"/>
      </p:ext>
    </p:extLst>
  </p:cSld>
  <p:clrMapOvr>
    <a:masterClrMapping/>
  </p:clrMapOvr>
  <p:extLst>
    <p:ext uri="{DCECCB84-F9BA-43D5-87BE-67443E8EF086}">
      <p15:sldGuideLst xmlns:p15="http://schemas.microsoft.com/office/powerpoint/2012/main">
        <p15:guide id="1" orient="horz" pos="3984">
          <p15:clr>
            <a:srgbClr val="FBAE40"/>
          </p15:clr>
        </p15:guide>
        <p15:guide id="2" pos="320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E2E7A7-A876-6AD4-5A17-4C809EC94665}"/>
              </a:ext>
            </a:extLst>
          </p:cNvPr>
          <p:cNvSpPr>
            <a:spLocks noGrp="1"/>
          </p:cNvSpPr>
          <p:nvPr>
            <p:ph type="dt" sz="half" idx="10"/>
          </p:nvPr>
        </p:nvSpPr>
        <p:spPr/>
        <p:txBody>
          <a:bodyPr/>
          <a:lstStyle/>
          <a:p>
            <a:fld id="{C633F186-FB2C-4ABD-A910-CC39FDE09F4E}" type="datetimeFigureOut">
              <a:rPr lang="en-US" smtClean="0"/>
              <a:t>2/5/2025</a:t>
            </a:fld>
            <a:endParaRPr lang="en-US"/>
          </a:p>
        </p:txBody>
      </p:sp>
      <p:sp>
        <p:nvSpPr>
          <p:cNvPr id="3" name="Footer Placeholder 2">
            <a:extLst>
              <a:ext uri="{FF2B5EF4-FFF2-40B4-BE49-F238E27FC236}">
                <a16:creationId xmlns:a16="http://schemas.microsoft.com/office/drawing/2014/main" id="{F87D9F87-A213-4B51-D0D0-66E78A59E2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B307AB-940B-F5A6-6723-4B843A2A6ABE}"/>
              </a:ext>
            </a:extLst>
          </p:cNvPr>
          <p:cNvSpPr>
            <a:spLocks noGrp="1"/>
          </p:cNvSpPr>
          <p:nvPr>
            <p:ph type="sldNum" sz="quarter" idx="12"/>
          </p:nvPr>
        </p:nvSpPr>
        <p:spPr/>
        <p:txBody>
          <a:bodyPr/>
          <a:lstStyle/>
          <a:p>
            <a:fld id="{FBB93BEC-F996-4DE6-8713-A3BAFBDAE062}" type="slidenum">
              <a:rPr lang="en-US" smtClean="0"/>
              <a:t>‹#›</a:t>
            </a:fld>
            <a:endParaRPr lang="en-US"/>
          </a:p>
        </p:txBody>
      </p:sp>
    </p:spTree>
    <p:extLst>
      <p:ext uri="{BB962C8B-B14F-4D97-AF65-F5344CB8AC3E}">
        <p14:creationId xmlns:p14="http://schemas.microsoft.com/office/powerpoint/2010/main" val="17670808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defTabSz="914363">
              <a:defRPr/>
            </a:pPr>
            <a:endParaRPr lang="en-US">
              <a:solidFill>
                <a:prstClr val="black">
                  <a:tint val="75000"/>
                </a:prstClr>
              </a:solidFill>
            </a:endParaRPr>
          </a:p>
        </p:txBody>
      </p:sp>
      <p:sp>
        <p:nvSpPr>
          <p:cNvPr id="4" name="Slide Number Placeholder 3"/>
          <p:cNvSpPr>
            <a:spLocks noGrp="1"/>
          </p:cNvSpPr>
          <p:nvPr>
            <p:ph type="sldNum" sz="quarter" idx="12"/>
          </p:nvPr>
        </p:nvSpPr>
        <p:spPr>
          <a:xfrm>
            <a:off x="9361370" y="6356352"/>
            <a:ext cx="2743200" cy="365125"/>
          </a:xfrm>
        </p:spPr>
        <p:txBody>
          <a:bodyPr/>
          <a:lstStyle/>
          <a:p>
            <a:pPr defTabSz="914363">
              <a:defRPr/>
            </a:pPr>
            <a:fld id="{670A9334-4E67-F94F-A05E-0CE8B74A054E}" type="slidenum">
              <a:rPr lang="en-US" smtClean="0">
                <a:solidFill>
                  <a:prstClr val="black">
                    <a:tint val="75000"/>
                  </a:prstClr>
                </a:solidFill>
              </a:rPr>
              <a:pPr defTabSz="914363">
                <a:defRPr/>
              </a:pPr>
              <a:t>‹#›</a:t>
            </a:fld>
            <a:endParaRPr lang="en-US">
              <a:solidFill>
                <a:prstClr val="black">
                  <a:tint val="75000"/>
                </a:prstClr>
              </a:solidFill>
            </a:endParaRPr>
          </a:p>
        </p:txBody>
      </p:sp>
    </p:spTree>
    <p:extLst>
      <p:ext uri="{BB962C8B-B14F-4D97-AF65-F5344CB8AC3E}">
        <p14:creationId xmlns:p14="http://schemas.microsoft.com/office/powerpoint/2010/main" val="1977241703"/>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9274743" y="6356352"/>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3296057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Blank_no_bottom_ba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Rectangle 5">
            <a:extLst>
              <a:ext uri="{FF2B5EF4-FFF2-40B4-BE49-F238E27FC236}">
                <a16:creationId xmlns:a16="http://schemas.microsoft.com/office/drawing/2014/main" id="{EE0F0B21-0107-480B-A6FF-33E8F92913BC}"/>
              </a:ext>
            </a:extLst>
          </p:cNvPr>
          <p:cNvSpPr/>
          <p:nvPr userDrawn="1"/>
        </p:nvSpPr>
        <p:spPr>
          <a:xfrm>
            <a:off x="1" y="6131279"/>
            <a:ext cx="12191994" cy="745011"/>
          </a:xfrm>
          <a:prstGeom prst="rect">
            <a:avLst/>
          </a:prstGeom>
          <a:solidFill>
            <a:schemeClr val="bg1"/>
          </a:solidFill>
          <a:ln w="5501">
            <a:noFill/>
          </a:ln>
        </p:spPr>
        <p:style>
          <a:lnRef idx="2">
            <a:schemeClr val="accent1">
              <a:shade val="50000"/>
            </a:schemeClr>
          </a:lnRef>
          <a:fillRef idx="1">
            <a:schemeClr val="accent1"/>
          </a:fillRef>
          <a:effectRef idx="0">
            <a:schemeClr val="accent1"/>
          </a:effectRef>
          <a:fontRef idx="minor">
            <a:schemeClr val="lt1"/>
          </a:fontRef>
        </p:style>
        <p:txBody>
          <a:bodyPr lIns="79210" tIns="39605" rIns="79210" bIns="39605" rtlCol="0" anchor="t"/>
          <a:lstStyle/>
          <a:p>
            <a:pPr marL="91436" marR="0" lvl="0" indent="-91436" algn="l" defTabSz="914363" rtl="0" eaLnBrk="1" fontAlgn="auto" latinLnBrk="0" hangingPunct="1">
              <a:lnSpc>
                <a:spcPct val="100000"/>
              </a:lnSpc>
              <a:spcBef>
                <a:spcPts val="100"/>
              </a:spcBef>
              <a:spcAft>
                <a:spcPts val="100"/>
              </a:spcAft>
              <a:buClrTx/>
              <a:buSzTx/>
              <a:buFont typeface="Arial" panose="020B0604020202020204" pitchFamily="34" charset="0"/>
              <a:buChar char="•"/>
              <a:tabLst/>
              <a:defRPr/>
            </a:pPr>
            <a:endParaRPr lang="en-US" sz="1200" u="sng">
              <a:solidFill>
                <a:srgbClr val="C55A11"/>
              </a:solidFill>
              <a:latin typeface="Calibri" panose="020F0502020204030204"/>
            </a:endParaRPr>
          </a:p>
        </p:txBody>
      </p:sp>
    </p:spTree>
    <p:extLst>
      <p:ext uri="{BB962C8B-B14F-4D97-AF65-F5344CB8AC3E}">
        <p14:creationId xmlns:p14="http://schemas.microsoft.com/office/powerpoint/2010/main" val="5932731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rgbClr val="002F56"/>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DE3D11B-5FAF-4A20-BC91-DC09E07A8D6B}"/>
              </a:ext>
            </a:extLst>
          </p:cNvPr>
          <p:cNvCxnSpPr>
            <a:cxnSpLocks/>
          </p:cNvCxnSpPr>
          <p:nvPr userDrawn="1"/>
        </p:nvCxnSpPr>
        <p:spPr>
          <a:xfrm>
            <a:off x="955498" y="3705225"/>
            <a:ext cx="1123650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8EFF66FB-DCA5-48F3-A735-3BE74D09ACD8}"/>
              </a:ext>
            </a:extLst>
          </p:cNvPr>
          <p:cNvSpPr>
            <a:spLocks noGrp="1"/>
          </p:cNvSpPr>
          <p:nvPr>
            <p:ph type="body" sz="quarter" idx="10"/>
          </p:nvPr>
        </p:nvSpPr>
        <p:spPr>
          <a:xfrm>
            <a:off x="955497" y="3705225"/>
            <a:ext cx="9144000" cy="1828800"/>
          </a:xfrm>
        </p:spPr>
        <p:txBody>
          <a:bodyPr/>
          <a:lstStyle>
            <a:lvl1pPr marL="0" indent="0">
              <a:buNone/>
              <a:defRPr sz="40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9627467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610600" y="6356360"/>
            <a:ext cx="2743200" cy="365125"/>
          </a:xfrm>
          <a:prstGeom prst="rect">
            <a:avLst/>
          </a:prstGeom>
        </p:spPr>
        <p:txBody>
          <a:bodyPr/>
          <a:lstStyle/>
          <a:p>
            <a:fld id="{FE09C639-C7C7-9848-BE32-492A9B56F14C}" type="slidenum">
              <a:rPr lang="en-US" smtClean="0"/>
              <a:t>‹#›</a:t>
            </a:fld>
            <a:endParaRPr lang="en-US"/>
          </a:p>
        </p:txBody>
      </p:sp>
      <p:grpSp>
        <p:nvGrpSpPr>
          <p:cNvPr id="15" name="Group 14">
            <a:extLst>
              <a:ext uri="{FF2B5EF4-FFF2-40B4-BE49-F238E27FC236}">
                <a16:creationId xmlns:a16="http://schemas.microsoft.com/office/drawing/2014/main" id="{D9B18402-97FF-41B9-A0F8-4E70EA1A736C}"/>
              </a:ext>
            </a:extLst>
          </p:cNvPr>
          <p:cNvGrpSpPr/>
          <p:nvPr userDrawn="1"/>
        </p:nvGrpSpPr>
        <p:grpSpPr>
          <a:xfrm>
            <a:off x="-4064" y="1311866"/>
            <a:ext cx="12196064" cy="46732"/>
            <a:chOff x="-4064" y="1396390"/>
            <a:chExt cx="12196064" cy="46732"/>
          </a:xfrm>
        </p:grpSpPr>
        <p:grpSp>
          <p:nvGrpSpPr>
            <p:cNvPr id="16" name="Group 15">
              <a:extLst>
                <a:ext uri="{FF2B5EF4-FFF2-40B4-BE49-F238E27FC236}">
                  <a16:creationId xmlns:a16="http://schemas.microsoft.com/office/drawing/2014/main" id="{4671C90E-ED8C-45B3-B185-2E5880B693E9}"/>
                </a:ext>
              </a:extLst>
            </p:cNvPr>
            <p:cNvGrpSpPr/>
            <p:nvPr userDrawn="1"/>
          </p:nvGrpSpPr>
          <p:grpSpPr>
            <a:xfrm>
              <a:off x="-4064" y="1396390"/>
              <a:ext cx="12196064" cy="15240"/>
              <a:chOff x="-3048" y="1344168"/>
              <a:chExt cx="9147048" cy="15240"/>
            </a:xfrm>
          </p:grpSpPr>
          <p:cxnSp>
            <p:nvCxnSpPr>
              <p:cNvPr id="20" name="Straight Connector 19">
                <a:extLst>
                  <a:ext uri="{FF2B5EF4-FFF2-40B4-BE49-F238E27FC236}">
                    <a16:creationId xmlns:a16="http://schemas.microsoft.com/office/drawing/2014/main" id="{38645419-0FA9-4759-8636-09E75908B383}"/>
                  </a:ext>
                </a:extLst>
              </p:cNvPr>
              <p:cNvCxnSpPr/>
              <p:nvPr userDrawn="1"/>
            </p:nvCxnSpPr>
            <p:spPr>
              <a:xfrm>
                <a:off x="0" y="1344168"/>
                <a:ext cx="9144000" cy="0"/>
              </a:xfrm>
              <a:prstGeom prst="line">
                <a:avLst/>
              </a:prstGeom>
              <a:ln w="15875">
                <a:solidFill>
                  <a:srgbClr val="1D3D78"/>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4768868-C34C-4707-B36D-C1BD9643BC90}"/>
                  </a:ext>
                </a:extLst>
              </p:cNvPr>
              <p:cNvCxnSpPr/>
              <p:nvPr userDrawn="1"/>
            </p:nvCxnSpPr>
            <p:spPr>
              <a:xfrm>
                <a:off x="-3048" y="1359408"/>
                <a:ext cx="9144000" cy="0"/>
              </a:xfrm>
              <a:prstGeom prst="line">
                <a:avLst/>
              </a:prstGeom>
              <a:ln w="15875">
                <a:solidFill>
                  <a:srgbClr val="1D3D78"/>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9977A6D1-9034-4A80-B59D-5FCB6FF47B77}"/>
                </a:ext>
              </a:extLst>
            </p:cNvPr>
            <p:cNvGrpSpPr/>
            <p:nvPr userDrawn="1"/>
          </p:nvGrpSpPr>
          <p:grpSpPr>
            <a:xfrm>
              <a:off x="-4064" y="1427882"/>
              <a:ext cx="12196064" cy="15240"/>
              <a:chOff x="-3048" y="1344168"/>
              <a:chExt cx="9147048" cy="15240"/>
            </a:xfrm>
          </p:grpSpPr>
          <p:cxnSp>
            <p:nvCxnSpPr>
              <p:cNvPr id="18" name="Straight Connector 17">
                <a:extLst>
                  <a:ext uri="{FF2B5EF4-FFF2-40B4-BE49-F238E27FC236}">
                    <a16:creationId xmlns:a16="http://schemas.microsoft.com/office/drawing/2014/main" id="{7B94AB9B-8BC2-4FC5-AAE3-94E7776FAB76}"/>
                  </a:ext>
                </a:extLst>
              </p:cNvPr>
              <p:cNvCxnSpPr/>
              <p:nvPr userDrawn="1"/>
            </p:nvCxnSpPr>
            <p:spPr>
              <a:xfrm>
                <a:off x="0" y="1344168"/>
                <a:ext cx="9144000" cy="0"/>
              </a:xfrm>
              <a:prstGeom prst="line">
                <a:avLst/>
              </a:prstGeom>
              <a:ln w="15875">
                <a:solidFill>
                  <a:srgbClr val="167B57"/>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2C1DE8E-F8BE-4FC7-BEC4-06C4F168A5CE}"/>
                  </a:ext>
                </a:extLst>
              </p:cNvPr>
              <p:cNvCxnSpPr/>
              <p:nvPr userDrawn="1"/>
            </p:nvCxnSpPr>
            <p:spPr>
              <a:xfrm>
                <a:off x="-3048" y="1359408"/>
                <a:ext cx="9144000" cy="0"/>
              </a:xfrm>
              <a:prstGeom prst="line">
                <a:avLst/>
              </a:prstGeom>
              <a:ln w="15875">
                <a:solidFill>
                  <a:srgbClr val="167B57"/>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5395463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400738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C71FE-F79C-46FE-B31D-207784C0EA9C}"/>
              </a:ext>
            </a:extLst>
          </p:cNvPr>
          <p:cNvSpPr>
            <a:spLocks noGrp="1"/>
          </p:cNvSpPr>
          <p:nvPr>
            <p:ph type="title"/>
          </p:nvPr>
        </p:nvSpPr>
        <p:spPr>
          <a:xfrm>
            <a:off x="831850"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71315D-ECBC-DC65-0034-65387586F049}"/>
              </a:ext>
            </a:extLst>
          </p:cNvPr>
          <p:cNvSpPr>
            <a:spLocks noGrp="1"/>
          </p:cNvSpPr>
          <p:nvPr>
            <p:ph type="body" idx="1"/>
          </p:nvPr>
        </p:nvSpPr>
        <p:spPr>
          <a:xfrm>
            <a:off x="831850" y="4589465"/>
            <a:ext cx="10515600" cy="1500187"/>
          </a:xfrm>
        </p:spPr>
        <p:txBody>
          <a:bodyPr/>
          <a:lstStyle>
            <a:lvl1pPr marL="0" indent="0">
              <a:buNone/>
              <a:defRPr sz="2400">
                <a:solidFill>
                  <a:schemeClr val="tx1">
                    <a:tint val="75000"/>
                  </a:schemeClr>
                </a:solidFill>
              </a:defRPr>
            </a:lvl1pPr>
            <a:lvl2pPr marL="457182" indent="0">
              <a:buNone/>
              <a:defRPr sz="2000">
                <a:solidFill>
                  <a:schemeClr val="tx1">
                    <a:tint val="75000"/>
                  </a:schemeClr>
                </a:solidFill>
              </a:defRPr>
            </a:lvl2pPr>
            <a:lvl3pPr marL="914363" indent="0">
              <a:buNone/>
              <a:defRPr sz="1800">
                <a:solidFill>
                  <a:schemeClr val="tx1">
                    <a:tint val="75000"/>
                  </a:schemeClr>
                </a:solidFill>
              </a:defRPr>
            </a:lvl3pPr>
            <a:lvl4pPr marL="1371545" indent="0">
              <a:buNone/>
              <a:defRPr sz="1600">
                <a:solidFill>
                  <a:schemeClr val="tx1">
                    <a:tint val="75000"/>
                  </a:schemeClr>
                </a:solidFill>
              </a:defRPr>
            </a:lvl4pPr>
            <a:lvl5pPr marL="1828727" indent="0">
              <a:buNone/>
              <a:defRPr sz="1600">
                <a:solidFill>
                  <a:schemeClr val="tx1">
                    <a:tint val="75000"/>
                  </a:schemeClr>
                </a:solidFill>
              </a:defRPr>
            </a:lvl5pPr>
            <a:lvl6pPr marL="2285909" indent="0">
              <a:buNone/>
              <a:defRPr sz="1600">
                <a:solidFill>
                  <a:schemeClr val="tx1">
                    <a:tint val="75000"/>
                  </a:schemeClr>
                </a:solidFill>
              </a:defRPr>
            </a:lvl6pPr>
            <a:lvl7pPr marL="2743090" indent="0">
              <a:buNone/>
              <a:defRPr sz="1600">
                <a:solidFill>
                  <a:schemeClr val="tx1">
                    <a:tint val="75000"/>
                  </a:schemeClr>
                </a:solidFill>
              </a:defRPr>
            </a:lvl7pPr>
            <a:lvl8pPr marL="3200272" indent="0">
              <a:buNone/>
              <a:defRPr sz="1600">
                <a:solidFill>
                  <a:schemeClr val="tx1">
                    <a:tint val="75000"/>
                  </a:schemeClr>
                </a:solidFill>
              </a:defRPr>
            </a:lvl8pPr>
            <a:lvl9pPr marL="3657454"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86BA62-18E8-6558-303A-9AFDB2F3F19F}"/>
              </a:ext>
            </a:extLst>
          </p:cNvPr>
          <p:cNvSpPr>
            <a:spLocks noGrp="1"/>
          </p:cNvSpPr>
          <p:nvPr>
            <p:ph type="dt" sz="half" idx="10"/>
          </p:nvPr>
        </p:nvSpPr>
        <p:spPr/>
        <p:txBody>
          <a:bodyPr/>
          <a:lstStyle/>
          <a:p>
            <a:fld id="{C633F186-FB2C-4ABD-A910-CC39FDE09F4E}" type="datetimeFigureOut">
              <a:rPr lang="en-US" smtClean="0"/>
              <a:t>2/5/2025</a:t>
            </a:fld>
            <a:endParaRPr lang="en-US"/>
          </a:p>
        </p:txBody>
      </p:sp>
      <p:sp>
        <p:nvSpPr>
          <p:cNvPr id="5" name="Footer Placeholder 4">
            <a:extLst>
              <a:ext uri="{FF2B5EF4-FFF2-40B4-BE49-F238E27FC236}">
                <a16:creationId xmlns:a16="http://schemas.microsoft.com/office/drawing/2014/main" id="{B464D01A-1BA7-02AF-8885-0763CEF257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B55AA4-D22B-E5DB-2770-73A2309BADAF}"/>
              </a:ext>
            </a:extLst>
          </p:cNvPr>
          <p:cNvSpPr>
            <a:spLocks noGrp="1"/>
          </p:cNvSpPr>
          <p:nvPr>
            <p:ph type="sldNum" sz="quarter" idx="12"/>
          </p:nvPr>
        </p:nvSpPr>
        <p:spPr/>
        <p:txBody>
          <a:bodyPr/>
          <a:lstStyle/>
          <a:p>
            <a:fld id="{FBB93BEC-F996-4DE6-8713-A3BAFBDAE062}" type="slidenum">
              <a:rPr lang="en-US" smtClean="0"/>
              <a:t>‹#›</a:t>
            </a:fld>
            <a:endParaRPr lang="en-US"/>
          </a:p>
        </p:txBody>
      </p:sp>
    </p:spTree>
    <p:extLst>
      <p:ext uri="{BB962C8B-B14F-4D97-AF65-F5344CB8AC3E}">
        <p14:creationId xmlns:p14="http://schemas.microsoft.com/office/powerpoint/2010/main" val="32804274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5"/>
            <a:ext cx="10515600" cy="1500187"/>
          </a:xfrm>
        </p:spPr>
        <p:txBody>
          <a:bodyPr/>
          <a:lstStyle>
            <a:lvl1pPr marL="0" indent="0">
              <a:buNone/>
              <a:defRPr sz="2400">
                <a:solidFill>
                  <a:schemeClr val="tx1">
                    <a:tint val="75000"/>
                  </a:schemeClr>
                </a:solidFill>
              </a:defRPr>
            </a:lvl1pPr>
            <a:lvl2pPr marL="457182" indent="0">
              <a:buNone/>
              <a:defRPr sz="2000">
                <a:solidFill>
                  <a:schemeClr val="tx1">
                    <a:tint val="75000"/>
                  </a:schemeClr>
                </a:solidFill>
              </a:defRPr>
            </a:lvl2pPr>
            <a:lvl3pPr marL="914363" indent="0">
              <a:buNone/>
              <a:defRPr sz="1800">
                <a:solidFill>
                  <a:schemeClr val="tx1">
                    <a:tint val="75000"/>
                  </a:schemeClr>
                </a:solidFill>
              </a:defRPr>
            </a:lvl3pPr>
            <a:lvl4pPr marL="1371545" indent="0">
              <a:buNone/>
              <a:defRPr sz="1600">
                <a:solidFill>
                  <a:schemeClr val="tx1">
                    <a:tint val="75000"/>
                  </a:schemeClr>
                </a:solidFill>
              </a:defRPr>
            </a:lvl4pPr>
            <a:lvl5pPr marL="1828727" indent="0">
              <a:buNone/>
              <a:defRPr sz="1600">
                <a:solidFill>
                  <a:schemeClr val="tx1">
                    <a:tint val="75000"/>
                  </a:schemeClr>
                </a:solidFill>
              </a:defRPr>
            </a:lvl5pPr>
            <a:lvl6pPr marL="2285909" indent="0">
              <a:buNone/>
              <a:defRPr sz="1600">
                <a:solidFill>
                  <a:schemeClr val="tx1">
                    <a:tint val="75000"/>
                  </a:schemeClr>
                </a:solidFill>
              </a:defRPr>
            </a:lvl6pPr>
            <a:lvl7pPr marL="2743090" indent="0">
              <a:buNone/>
              <a:defRPr sz="1600">
                <a:solidFill>
                  <a:schemeClr val="tx1">
                    <a:tint val="75000"/>
                  </a:schemeClr>
                </a:solidFill>
              </a:defRPr>
            </a:lvl7pPr>
            <a:lvl8pPr marL="3200272" indent="0">
              <a:buNone/>
              <a:defRPr sz="1600">
                <a:solidFill>
                  <a:schemeClr val="tx1">
                    <a:tint val="75000"/>
                  </a:schemeClr>
                </a:solidFill>
              </a:defRPr>
            </a:lvl8pPr>
            <a:lvl9pPr marL="3657454"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cxnSp>
        <p:nvCxnSpPr>
          <p:cNvPr id="7" name="Straight Connector 6" descr="&quot;&quot;">
            <a:extLst>
              <a:ext uri="{FF2B5EF4-FFF2-40B4-BE49-F238E27FC236}">
                <a16:creationId xmlns:a16="http://schemas.microsoft.com/office/drawing/2014/main" id="{BEAC91FE-22FD-4E6A-87EB-4B75B31CDEB8}"/>
              </a:ext>
            </a:extLst>
          </p:cNvPr>
          <p:cNvCxnSpPr/>
          <p:nvPr userDrawn="1"/>
        </p:nvCxnSpPr>
        <p:spPr>
          <a:xfrm>
            <a:off x="831851" y="3571876"/>
            <a:ext cx="10515600" cy="0"/>
          </a:xfrm>
          <a:prstGeom prst="line">
            <a:avLst/>
          </a:prstGeom>
          <a:ln>
            <a:solidFill>
              <a:srgbClr val="003F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63959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6"/>
            <a:ext cx="10515600" cy="618385"/>
          </a:xfrm>
        </p:spPr>
        <p:txBody>
          <a:bodyPr vert="horz"/>
          <a:lstStyle>
            <a:lvl1pPr>
              <a:defRPr sz="2400"/>
            </a:lvl1pPr>
          </a:lstStyle>
          <a:p>
            <a:r>
              <a:rPr lang="en-US"/>
              <a:t>Click to edit Master title style</a:t>
            </a:r>
          </a:p>
        </p:txBody>
      </p:sp>
      <p:sp>
        <p:nvSpPr>
          <p:cNvPr id="3" name="Content Placeholder 2"/>
          <p:cNvSpPr>
            <a:spLocks noGrp="1"/>
          </p:cNvSpPr>
          <p:nvPr>
            <p:ph idx="1"/>
          </p:nvPr>
        </p:nvSpPr>
        <p:spPr>
          <a:xfrm>
            <a:off x="285750" y="1062520"/>
            <a:ext cx="10515600" cy="4287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16134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227513" y="255721"/>
            <a:ext cx="3736975" cy="325923"/>
          </a:xfrm>
        </p:spPr>
        <p:txBody>
          <a:bodyPr lIns="0" tIns="0" rIns="0" bIns="0"/>
          <a:lstStyle>
            <a:lvl1pPr>
              <a:defRPr sz="2118"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877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2/5/2025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4897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cSld name="2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FF0C9-A759-41CD-91B1-9887B3481B2D}"/>
              </a:ext>
            </a:extLst>
          </p:cNvPr>
          <p:cNvSpPr>
            <a:spLocks noGrp="1"/>
          </p:cNvSpPr>
          <p:nvPr>
            <p:ph type="title"/>
          </p:nvPr>
        </p:nvSpPr>
        <p:spPr>
          <a:xfrm>
            <a:off x="831850"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1BB956-B822-4E72-8D4C-5B8C85528228}"/>
              </a:ext>
            </a:extLst>
          </p:cNvPr>
          <p:cNvSpPr>
            <a:spLocks noGrp="1"/>
          </p:cNvSpPr>
          <p:nvPr>
            <p:ph type="body" idx="1"/>
          </p:nvPr>
        </p:nvSpPr>
        <p:spPr>
          <a:xfrm>
            <a:off x="831850" y="4589465"/>
            <a:ext cx="10515600" cy="1500187"/>
          </a:xfrm>
        </p:spPr>
        <p:txBody>
          <a:bodyPr/>
          <a:lstStyle>
            <a:lvl1pPr marL="0" indent="0">
              <a:buNone/>
              <a:defRPr sz="2400">
                <a:solidFill>
                  <a:schemeClr val="tx1">
                    <a:tint val="75000"/>
                  </a:schemeClr>
                </a:solidFill>
              </a:defRPr>
            </a:lvl1pPr>
            <a:lvl2pPr marL="457182" indent="0">
              <a:buNone/>
              <a:defRPr sz="2000">
                <a:solidFill>
                  <a:schemeClr val="tx1">
                    <a:tint val="75000"/>
                  </a:schemeClr>
                </a:solidFill>
              </a:defRPr>
            </a:lvl2pPr>
            <a:lvl3pPr marL="914363" indent="0">
              <a:buNone/>
              <a:defRPr sz="1800">
                <a:solidFill>
                  <a:schemeClr val="tx1">
                    <a:tint val="75000"/>
                  </a:schemeClr>
                </a:solidFill>
              </a:defRPr>
            </a:lvl3pPr>
            <a:lvl4pPr marL="1371545" indent="0">
              <a:buNone/>
              <a:defRPr sz="1600">
                <a:solidFill>
                  <a:schemeClr val="tx1">
                    <a:tint val="75000"/>
                  </a:schemeClr>
                </a:solidFill>
              </a:defRPr>
            </a:lvl4pPr>
            <a:lvl5pPr marL="1828727" indent="0">
              <a:buNone/>
              <a:defRPr sz="1600">
                <a:solidFill>
                  <a:schemeClr val="tx1">
                    <a:tint val="75000"/>
                  </a:schemeClr>
                </a:solidFill>
              </a:defRPr>
            </a:lvl5pPr>
            <a:lvl6pPr marL="2285909" indent="0">
              <a:buNone/>
              <a:defRPr sz="1600">
                <a:solidFill>
                  <a:schemeClr val="tx1">
                    <a:tint val="75000"/>
                  </a:schemeClr>
                </a:solidFill>
              </a:defRPr>
            </a:lvl6pPr>
            <a:lvl7pPr marL="2743090" indent="0">
              <a:buNone/>
              <a:defRPr sz="1600">
                <a:solidFill>
                  <a:schemeClr val="tx1">
                    <a:tint val="75000"/>
                  </a:schemeClr>
                </a:solidFill>
              </a:defRPr>
            </a:lvl7pPr>
            <a:lvl8pPr marL="3200272" indent="0">
              <a:buNone/>
              <a:defRPr sz="1600">
                <a:solidFill>
                  <a:schemeClr val="tx1">
                    <a:tint val="75000"/>
                  </a:schemeClr>
                </a:solidFill>
              </a:defRPr>
            </a:lvl8pPr>
            <a:lvl9pPr marL="3657454"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61775036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D8619-F8A8-A1A3-3617-4E6C697D4B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5C8E82-8585-6685-58AC-ECED9FA660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056DCA-6BF0-3FCB-F526-EA76185323FC}"/>
              </a:ext>
            </a:extLst>
          </p:cNvPr>
          <p:cNvSpPr>
            <a:spLocks noGrp="1"/>
          </p:cNvSpPr>
          <p:nvPr>
            <p:ph type="dt" sz="half" idx="10"/>
          </p:nvPr>
        </p:nvSpPr>
        <p:spPr/>
        <p:txBody>
          <a:bodyPr/>
          <a:lstStyle/>
          <a:p>
            <a:fld id="{CC40F86B-C326-4D3B-8F75-25D803C9900F}" type="datetimeFigureOut">
              <a:rPr lang="en-US" smtClean="0"/>
              <a:t>2/5/2025</a:t>
            </a:fld>
            <a:endParaRPr lang="en-US"/>
          </a:p>
        </p:txBody>
      </p:sp>
      <p:sp>
        <p:nvSpPr>
          <p:cNvPr id="5" name="Footer Placeholder 4">
            <a:extLst>
              <a:ext uri="{FF2B5EF4-FFF2-40B4-BE49-F238E27FC236}">
                <a16:creationId xmlns:a16="http://schemas.microsoft.com/office/drawing/2014/main" id="{60AED924-EC09-620D-1BE9-CAB5D9D29C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23BD7B-DE7F-F169-4965-3D5D3D8D172F}"/>
              </a:ext>
            </a:extLst>
          </p:cNvPr>
          <p:cNvSpPr>
            <a:spLocks noGrp="1"/>
          </p:cNvSpPr>
          <p:nvPr>
            <p:ph type="sldNum" sz="quarter" idx="12"/>
          </p:nvPr>
        </p:nvSpPr>
        <p:spPr/>
        <p:txBody>
          <a:bodyPr/>
          <a:lstStyle/>
          <a:p>
            <a:fld id="{1E4F28D7-EC91-4E41-995B-140ECF03D505}" type="slidenum">
              <a:rPr lang="en-US" smtClean="0"/>
              <a:t>‹#›</a:t>
            </a:fld>
            <a:endParaRPr lang="en-US"/>
          </a:p>
        </p:txBody>
      </p:sp>
    </p:spTree>
    <p:extLst>
      <p:ext uri="{BB962C8B-B14F-4D97-AF65-F5344CB8AC3E}">
        <p14:creationId xmlns:p14="http://schemas.microsoft.com/office/powerpoint/2010/main" val="38849803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3CA6498-A901-4CAD-A6BC-7879089EC359}" type="datetime1">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263235824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extLst>
              <p:ext uri="{D42A27DB-BD31-4B8C-83A1-F6EECF244321}">
                <p14:modId xmlns:p14="http://schemas.microsoft.com/office/powerpoint/2010/main" val="30337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4B97A1-15D8-4418-A27A-2703CF16F219}" type="datetime1">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6198579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A54E2B-493D-489C-B0E5-D57D665F64F5}" type="datetime1">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cxnSp>
        <p:nvCxnSpPr>
          <p:cNvPr id="7" name="Straight Connector 6" descr="&quot;&quot;">
            <a:extLst>
              <a:ext uri="{FF2B5EF4-FFF2-40B4-BE49-F238E27FC236}">
                <a16:creationId xmlns:a16="http://schemas.microsoft.com/office/drawing/2014/main" id="{BEAC91FE-22FD-4E6A-87EB-4B75B31CDEB8}"/>
              </a:ext>
            </a:extLst>
          </p:cNvPr>
          <p:cNvCxnSpPr/>
          <p:nvPr userDrawn="1"/>
        </p:nvCxnSpPr>
        <p:spPr>
          <a:xfrm>
            <a:off x="831851" y="3571876"/>
            <a:ext cx="10515600" cy="0"/>
          </a:xfrm>
          <a:prstGeom prst="line">
            <a:avLst/>
          </a:prstGeom>
          <a:ln>
            <a:solidFill>
              <a:srgbClr val="003F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438578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CAE6C55-8FCF-4AF9-94CD-DD3B0239DB6C}" type="datetime1">
              <a:rPr lang="en-US" smtClean="0"/>
              <a:t>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27110515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DF0AB35-0E3D-4786-A63B-B64BFA536526}" type="datetime1">
              <a:rPr lang="en-US" smtClean="0"/>
              <a:t>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3314398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3F8E13E-E289-4570-A79A-EEBCCFCB3BE7}" type="datetime1">
              <a:rPr lang="en-US" smtClean="0"/>
              <a:t>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7864452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476C3E-88F1-4712-8ACB-C760E8A55743}" type="datetime1">
              <a:rPr lang="en-US" smtClean="0"/>
              <a:t>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307372794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727327-3921-48FE-A7CA-E068FD088C73}" type="datetime1">
              <a:rPr lang="en-US" smtClean="0"/>
              <a:t>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220405053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E2CDCB6-A2E1-4424-8003-B0E75C8FAD83}" type="datetime1">
              <a:rPr lang="en-US" smtClean="0"/>
              <a:t>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18153088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54562D-1A89-4B80-BCC3-833A26A6DD27}" type="datetime1">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14865018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948D11-34E3-40F4-BEC7-B427A8C4F354}" type="datetime1">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pPr/>
              <a:t>‹#›</a:t>
            </a:fld>
            <a:endParaRPr lang="en-US"/>
          </a:p>
        </p:txBody>
      </p:sp>
    </p:spTree>
    <p:extLst>
      <p:ext uri="{BB962C8B-B14F-4D97-AF65-F5344CB8AC3E}">
        <p14:creationId xmlns:p14="http://schemas.microsoft.com/office/powerpoint/2010/main" val="8421841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2550711788"/>
      </p:ext>
    </p:extLst>
  </p:cSld>
  <p:clrMapOvr>
    <a:masterClrMapping/>
  </p:clrMapOvr>
  <p:extLst>
    <p:ext uri="{DCECCB84-F9BA-43D5-87BE-67443E8EF086}">
      <p15:sldGuideLst xmlns:p15="http://schemas.microsoft.com/office/powerpoint/2012/main">
        <p15:guide id="1" orient="horz" pos="3984">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Content w/ Alt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0" y="1133857"/>
            <a:ext cx="10515600" cy="4818857"/>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D912DB-CF58-2B44-B78F-FA5C3CCFF15B}"/>
              </a:ext>
            </a:extLst>
          </p:cNvPr>
          <p:cNvSpPr>
            <a:spLocks noGrp="1"/>
          </p:cNvSpPr>
          <p:nvPr>
            <p:ph type="body" sz="quarter" idx="13" hasCustomPrompt="1"/>
          </p:nvPr>
        </p:nvSpPr>
        <p:spPr>
          <a:xfrm>
            <a:off x="-3383279" y="982664"/>
            <a:ext cx="3108113" cy="5064125"/>
          </a:xfrm>
        </p:spPr>
        <p:txBody>
          <a:bodyPr/>
          <a:lstStyle>
            <a:lvl1pPr>
              <a:defRPr/>
            </a:lvl1pPr>
          </a:lstStyle>
          <a:p>
            <a:pPr lvl="0"/>
            <a:r>
              <a:rPr lang="en-US"/>
              <a:t>Insert alt text for complex graphic</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26549839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two content holders vertica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0" y="1133857"/>
            <a:ext cx="10515600" cy="2076935"/>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09A16403-64DA-D349-9AAF-2952A411FC8C}"/>
              </a:ext>
            </a:extLst>
          </p:cNvPr>
          <p:cNvSpPr>
            <a:spLocks noGrp="1"/>
          </p:cNvSpPr>
          <p:nvPr>
            <p:ph idx="13"/>
          </p:nvPr>
        </p:nvSpPr>
        <p:spPr>
          <a:xfrm>
            <a:off x="838200" y="3523766"/>
            <a:ext cx="10515600" cy="2076935"/>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41296197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Content, and Sidebar Call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2" y="1133856"/>
            <a:ext cx="6878781" cy="4830526"/>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13EDEFD9-BFED-434F-8D05-9CA4431F495F}"/>
              </a:ext>
            </a:extLst>
          </p:cNvPr>
          <p:cNvCxnSpPr/>
          <p:nvPr userDrawn="1"/>
        </p:nvCxnSpPr>
        <p:spPr>
          <a:xfrm>
            <a:off x="7790688" y="1133856"/>
            <a:ext cx="0" cy="483052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6710610B-BCCF-034B-B401-A7C2A95FDABD}"/>
              </a:ext>
            </a:extLst>
          </p:cNvPr>
          <p:cNvSpPr>
            <a:spLocks noGrp="1"/>
          </p:cNvSpPr>
          <p:nvPr>
            <p:ph idx="13"/>
          </p:nvPr>
        </p:nvSpPr>
        <p:spPr>
          <a:xfrm>
            <a:off x="7854696" y="1133857"/>
            <a:ext cx="3499104" cy="2586089"/>
          </a:xfrm>
        </p:spPr>
        <p:txBody>
          <a:bodyPr/>
          <a:lstStyle>
            <a:lvl1pPr marL="0" indent="0">
              <a:lnSpc>
                <a:spcPct val="110000"/>
              </a:lnSpc>
              <a:buNone/>
              <a:defRPr/>
            </a:lvl1pPr>
          </a:lstStyle>
          <a:p>
            <a:pPr lvl="0"/>
            <a:r>
              <a:rPr lang="en-US"/>
              <a:t>Edit Master text styles</a:t>
            </a:r>
          </a:p>
        </p:txBody>
      </p:sp>
      <p:sp>
        <p:nvSpPr>
          <p:cNvPr id="8" name="Content Placeholder 2">
            <a:extLst>
              <a:ext uri="{FF2B5EF4-FFF2-40B4-BE49-F238E27FC236}">
                <a16:creationId xmlns:a16="http://schemas.microsoft.com/office/drawing/2014/main" id="{11EE1AA3-98A0-E149-81B7-A4FC8FBABDDB}"/>
              </a:ext>
            </a:extLst>
          </p:cNvPr>
          <p:cNvSpPr>
            <a:spLocks noGrp="1"/>
          </p:cNvSpPr>
          <p:nvPr>
            <p:ph idx="14"/>
          </p:nvPr>
        </p:nvSpPr>
        <p:spPr>
          <a:xfrm>
            <a:off x="7854697" y="3719946"/>
            <a:ext cx="3499104" cy="2244437"/>
          </a:xfrm>
        </p:spPr>
        <p:txBody>
          <a:bodyPr/>
          <a:lstStyle>
            <a:lvl1pPr marL="0" indent="0">
              <a:lnSpc>
                <a:spcPct val="110000"/>
              </a:lnSpc>
              <a:buNone/>
              <a:defRPr/>
            </a:lvl1pPr>
          </a:lstStyle>
          <a:p>
            <a:pPr lvl="0"/>
            <a:r>
              <a:rPr lang="en-US"/>
              <a:t>Edit Master text styles</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0111615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Content, and Two Supporting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2"/>
          <p:cNvSpPr>
            <a:spLocks noGrp="1"/>
          </p:cNvSpPr>
          <p:nvPr>
            <p:ph idx="1"/>
          </p:nvPr>
        </p:nvSpPr>
        <p:spPr>
          <a:xfrm>
            <a:off x="838202" y="1133856"/>
            <a:ext cx="4438649" cy="4830526"/>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6710610B-BCCF-034B-B401-A7C2A95FDABD}"/>
              </a:ext>
            </a:extLst>
          </p:cNvPr>
          <p:cNvSpPr>
            <a:spLocks noGrp="1"/>
          </p:cNvSpPr>
          <p:nvPr>
            <p:ph idx="13"/>
          </p:nvPr>
        </p:nvSpPr>
        <p:spPr>
          <a:xfrm>
            <a:off x="5486400" y="1133857"/>
            <a:ext cx="5867400" cy="2586089"/>
          </a:xfrm>
        </p:spPr>
        <p:txBody>
          <a:bodyPr/>
          <a:lstStyle>
            <a:lvl1pPr marL="0" indent="0">
              <a:lnSpc>
                <a:spcPct val="110000"/>
              </a:lnSpc>
              <a:buNone/>
              <a:defRPr/>
            </a:lvl1pPr>
          </a:lstStyle>
          <a:p>
            <a:pPr lvl="0"/>
            <a:r>
              <a:rPr lang="en-US"/>
              <a:t>Edit Master text styles</a:t>
            </a:r>
          </a:p>
        </p:txBody>
      </p:sp>
      <p:sp>
        <p:nvSpPr>
          <p:cNvPr id="8" name="Content Placeholder 2">
            <a:extLst>
              <a:ext uri="{FF2B5EF4-FFF2-40B4-BE49-F238E27FC236}">
                <a16:creationId xmlns:a16="http://schemas.microsoft.com/office/drawing/2014/main" id="{11EE1AA3-98A0-E149-81B7-A4FC8FBABDDB}"/>
              </a:ext>
            </a:extLst>
          </p:cNvPr>
          <p:cNvSpPr>
            <a:spLocks noGrp="1"/>
          </p:cNvSpPr>
          <p:nvPr>
            <p:ph idx="14"/>
          </p:nvPr>
        </p:nvSpPr>
        <p:spPr>
          <a:xfrm>
            <a:off x="5486401" y="3719946"/>
            <a:ext cx="5867401" cy="2244437"/>
          </a:xfrm>
        </p:spPr>
        <p:txBody>
          <a:bodyPr/>
          <a:lstStyle>
            <a:lvl1pPr marL="0" indent="0">
              <a:lnSpc>
                <a:spcPct val="110000"/>
              </a:lnSpc>
              <a:buNone/>
              <a:defRPr/>
            </a:lvl1pPr>
          </a:lstStyle>
          <a:p>
            <a:pPr lvl="0"/>
            <a:r>
              <a:rPr lang="en-US"/>
              <a:t>Edit Master text styles</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12089197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Content, and Three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8873"/>
            <a:ext cx="10515600" cy="752929"/>
          </a:xfrm>
        </p:spPr>
        <p:txBody>
          <a:bodyPr/>
          <a:lstStyle/>
          <a:p>
            <a:r>
              <a:rPr lang="en-US"/>
              <a:t>Click to edit master title style</a:t>
            </a:r>
          </a:p>
        </p:txBody>
      </p:sp>
      <p:sp>
        <p:nvSpPr>
          <p:cNvPr id="3" name="Content Placeholder 1"/>
          <p:cNvSpPr>
            <a:spLocks noGrp="1"/>
          </p:cNvSpPr>
          <p:nvPr>
            <p:ph idx="1"/>
          </p:nvPr>
        </p:nvSpPr>
        <p:spPr>
          <a:xfrm>
            <a:off x="838201" y="1133856"/>
            <a:ext cx="10515599" cy="1858726"/>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6710610B-BCCF-034B-B401-A7C2A95FDABD}"/>
              </a:ext>
            </a:extLst>
          </p:cNvPr>
          <p:cNvSpPr>
            <a:spLocks noGrp="1"/>
          </p:cNvSpPr>
          <p:nvPr>
            <p:ph idx="13"/>
          </p:nvPr>
        </p:nvSpPr>
        <p:spPr>
          <a:xfrm>
            <a:off x="838200" y="3087348"/>
            <a:ext cx="3413760" cy="1391135"/>
          </a:xfrm>
        </p:spPr>
        <p:txBody>
          <a:bodyPr/>
          <a:lstStyle>
            <a:lvl1pPr marL="0" indent="0">
              <a:lnSpc>
                <a:spcPct val="110000"/>
              </a:lnSpc>
              <a:buNone/>
              <a:defRPr/>
            </a:lvl1pPr>
          </a:lstStyle>
          <a:p>
            <a:pPr lvl="0"/>
            <a:r>
              <a:rPr lang="en-US"/>
              <a:t>Edit Master text styles</a:t>
            </a:r>
          </a:p>
        </p:txBody>
      </p:sp>
      <p:sp>
        <p:nvSpPr>
          <p:cNvPr id="9" name="Content Placeholder 2b">
            <a:extLst>
              <a:ext uri="{FF2B5EF4-FFF2-40B4-BE49-F238E27FC236}">
                <a16:creationId xmlns:a16="http://schemas.microsoft.com/office/drawing/2014/main" id="{7ADB0280-2725-5348-9620-05FFA815C35A}"/>
              </a:ext>
            </a:extLst>
          </p:cNvPr>
          <p:cNvSpPr>
            <a:spLocks noGrp="1"/>
          </p:cNvSpPr>
          <p:nvPr>
            <p:ph idx="15"/>
          </p:nvPr>
        </p:nvSpPr>
        <p:spPr>
          <a:xfrm>
            <a:off x="838200" y="4573248"/>
            <a:ext cx="3413760" cy="1388641"/>
          </a:xfrm>
        </p:spPr>
        <p:txBody>
          <a:bodyPr/>
          <a:lstStyle>
            <a:lvl1pPr marL="0" indent="0">
              <a:lnSpc>
                <a:spcPct val="110000"/>
              </a:lnSpc>
              <a:buNone/>
              <a:defRPr/>
            </a:lvl1pPr>
          </a:lstStyle>
          <a:p>
            <a:pPr lvl="0"/>
            <a:r>
              <a:rPr lang="en-US"/>
              <a:t>Edit Master text styles</a:t>
            </a:r>
          </a:p>
        </p:txBody>
      </p:sp>
      <p:sp>
        <p:nvSpPr>
          <p:cNvPr id="8" name="Content Placeholder 3">
            <a:extLst>
              <a:ext uri="{FF2B5EF4-FFF2-40B4-BE49-F238E27FC236}">
                <a16:creationId xmlns:a16="http://schemas.microsoft.com/office/drawing/2014/main" id="{11EE1AA3-98A0-E149-81B7-A4FC8FBABDDB}"/>
              </a:ext>
            </a:extLst>
          </p:cNvPr>
          <p:cNvSpPr>
            <a:spLocks noGrp="1"/>
          </p:cNvSpPr>
          <p:nvPr>
            <p:ph idx="14"/>
          </p:nvPr>
        </p:nvSpPr>
        <p:spPr>
          <a:xfrm>
            <a:off x="4389119" y="3088594"/>
            <a:ext cx="3413760" cy="1389888"/>
          </a:xfrm>
        </p:spPr>
        <p:txBody>
          <a:bodyPr/>
          <a:lstStyle>
            <a:lvl1pPr marL="0" indent="0">
              <a:lnSpc>
                <a:spcPct val="110000"/>
              </a:lnSpc>
              <a:buNone/>
              <a:defRPr/>
            </a:lvl1pPr>
          </a:lstStyle>
          <a:p>
            <a:pPr lvl="0"/>
            <a:r>
              <a:rPr lang="en-US"/>
              <a:t>Edit Master text styles</a:t>
            </a:r>
          </a:p>
        </p:txBody>
      </p:sp>
      <p:sp>
        <p:nvSpPr>
          <p:cNvPr id="13" name="Content Placeholder 3b">
            <a:extLst>
              <a:ext uri="{FF2B5EF4-FFF2-40B4-BE49-F238E27FC236}">
                <a16:creationId xmlns:a16="http://schemas.microsoft.com/office/drawing/2014/main" id="{C41BE50D-B3FE-114C-BA57-58A4DEA04B56}"/>
              </a:ext>
            </a:extLst>
          </p:cNvPr>
          <p:cNvSpPr>
            <a:spLocks noGrp="1"/>
          </p:cNvSpPr>
          <p:nvPr>
            <p:ph idx="16"/>
          </p:nvPr>
        </p:nvSpPr>
        <p:spPr>
          <a:xfrm>
            <a:off x="4389119" y="4574494"/>
            <a:ext cx="3413760" cy="1389888"/>
          </a:xfrm>
        </p:spPr>
        <p:txBody>
          <a:bodyPr/>
          <a:lstStyle>
            <a:lvl1pPr marL="0" indent="0">
              <a:lnSpc>
                <a:spcPct val="110000"/>
              </a:lnSpc>
              <a:buNone/>
              <a:defRPr/>
            </a:lvl1pPr>
          </a:lstStyle>
          <a:p>
            <a:pPr lvl="0"/>
            <a:r>
              <a:rPr lang="en-US"/>
              <a:t>Edit Master text styles</a:t>
            </a:r>
          </a:p>
        </p:txBody>
      </p:sp>
      <p:sp>
        <p:nvSpPr>
          <p:cNvPr id="14" name="Content Placeholder 4">
            <a:extLst>
              <a:ext uri="{FF2B5EF4-FFF2-40B4-BE49-F238E27FC236}">
                <a16:creationId xmlns:a16="http://schemas.microsoft.com/office/drawing/2014/main" id="{255A5921-CC24-C744-992F-90BB2C7F7737}"/>
              </a:ext>
            </a:extLst>
          </p:cNvPr>
          <p:cNvSpPr>
            <a:spLocks noGrp="1"/>
          </p:cNvSpPr>
          <p:nvPr>
            <p:ph idx="17"/>
          </p:nvPr>
        </p:nvSpPr>
        <p:spPr>
          <a:xfrm>
            <a:off x="7940039" y="3089841"/>
            <a:ext cx="3413760" cy="1389888"/>
          </a:xfrm>
        </p:spPr>
        <p:txBody>
          <a:bodyPr/>
          <a:lstStyle>
            <a:lvl1pPr marL="0" indent="0">
              <a:lnSpc>
                <a:spcPct val="110000"/>
              </a:lnSpc>
              <a:buNone/>
              <a:defRPr/>
            </a:lvl1pPr>
          </a:lstStyle>
          <a:p>
            <a:pPr lvl="0"/>
            <a:r>
              <a:rPr lang="en-US"/>
              <a:t>Edit Master text styles</a:t>
            </a:r>
          </a:p>
        </p:txBody>
      </p:sp>
      <p:sp>
        <p:nvSpPr>
          <p:cNvPr id="15" name="Content Placeholder 4b">
            <a:extLst>
              <a:ext uri="{FF2B5EF4-FFF2-40B4-BE49-F238E27FC236}">
                <a16:creationId xmlns:a16="http://schemas.microsoft.com/office/drawing/2014/main" id="{1F9DC565-F7CD-4D49-BBFE-54E017FCDBC7}"/>
              </a:ext>
            </a:extLst>
          </p:cNvPr>
          <p:cNvSpPr>
            <a:spLocks noGrp="1"/>
          </p:cNvSpPr>
          <p:nvPr>
            <p:ph idx="18"/>
          </p:nvPr>
        </p:nvSpPr>
        <p:spPr>
          <a:xfrm>
            <a:off x="7940039" y="4573247"/>
            <a:ext cx="3413760" cy="1389888"/>
          </a:xfrm>
        </p:spPr>
        <p:txBody>
          <a:bodyPr/>
          <a:lstStyle>
            <a:lvl1pPr marL="0" indent="0">
              <a:lnSpc>
                <a:spcPct val="110000"/>
              </a:lnSpc>
              <a:buNone/>
              <a:defRPr/>
            </a:lvl1pPr>
          </a:lstStyle>
          <a:p>
            <a:pPr lvl="0"/>
            <a:r>
              <a:rPr lang="en-US"/>
              <a:t>Edit Master text styles</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5908710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Header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9B824-BC4D-BC4E-8F89-78915197848F}"/>
              </a:ext>
            </a:extLst>
          </p:cNvPr>
          <p:cNvSpPr>
            <a:spLocks noGrp="1"/>
          </p:cNvSpPr>
          <p:nvPr>
            <p:ph type="title" hasCustomPrompt="1"/>
          </p:nvPr>
        </p:nvSpPr>
        <p:spPr>
          <a:xfrm>
            <a:off x="838200" y="118873"/>
            <a:ext cx="10515600" cy="752929"/>
          </a:xfrm>
        </p:spPr>
        <p:txBody>
          <a:bodyPr/>
          <a:lstStyle>
            <a:lvl1pPr>
              <a:defRPr/>
            </a:lvl1pPr>
          </a:lstStyle>
          <a:p>
            <a:r>
              <a:rPr lang="en-US"/>
              <a:t>Click to edit master title style</a:t>
            </a:r>
          </a:p>
        </p:txBody>
      </p:sp>
      <p:sp>
        <p:nvSpPr>
          <p:cNvPr id="6" name="Text Placeholder 2">
            <a:extLst>
              <a:ext uri="{FF2B5EF4-FFF2-40B4-BE49-F238E27FC236}">
                <a16:creationId xmlns:a16="http://schemas.microsoft.com/office/drawing/2014/main" id="{D126D2C3-64E2-7440-99AC-F8DC77F0E964}"/>
              </a:ext>
            </a:extLst>
          </p:cNvPr>
          <p:cNvSpPr>
            <a:spLocks noGrp="1"/>
          </p:cNvSpPr>
          <p:nvPr>
            <p:ph type="body" idx="1" hasCustomPrompt="1"/>
          </p:nvPr>
        </p:nvSpPr>
        <p:spPr>
          <a:xfrm>
            <a:off x="839789" y="1137442"/>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7" name="Content Placeholder 2">
            <a:extLst>
              <a:ext uri="{FF2B5EF4-FFF2-40B4-BE49-F238E27FC236}">
                <a16:creationId xmlns:a16="http://schemas.microsoft.com/office/drawing/2014/main" id="{33D4B0C3-AED5-1149-A608-D92E5AF5417A}"/>
              </a:ext>
            </a:extLst>
          </p:cNvPr>
          <p:cNvSpPr>
            <a:spLocks noGrp="1"/>
          </p:cNvSpPr>
          <p:nvPr>
            <p:ph idx="11"/>
          </p:nvPr>
        </p:nvSpPr>
        <p:spPr>
          <a:xfrm>
            <a:off x="838200" y="1641764"/>
            <a:ext cx="10515600" cy="4281993"/>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4A79C999-42AF-3D4F-A523-E1CD40483976}"/>
              </a:ext>
            </a:extLst>
          </p:cNvPr>
          <p:cNvSpPr>
            <a:spLocks noGrp="1"/>
          </p:cNvSpPr>
          <p:nvPr>
            <p:ph type="sldNum" sz="quarter" idx="10"/>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110714158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Two subheadings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9B824-BC4D-BC4E-8F89-78915197848F}"/>
              </a:ext>
            </a:extLst>
          </p:cNvPr>
          <p:cNvSpPr>
            <a:spLocks noGrp="1"/>
          </p:cNvSpPr>
          <p:nvPr>
            <p:ph type="title" hasCustomPrompt="1"/>
          </p:nvPr>
        </p:nvSpPr>
        <p:spPr>
          <a:xfrm>
            <a:off x="838200" y="118873"/>
            <a:ext cx="10515600" cy="752929"/>
          </a:xfrm>
        </p:spPr>
        <p:txBody>
          <a:bodyPr/>
          <a:lstStyle>
            <a:lvl1pPr>
              <a:defRPr/>
            </a:lvl1pPr>
          </a:lstStyle>
          <a:p>
            <a:r>
              <a:rPr lang="en-US"/>
              <a:t>Click to edit master title style</a:t>
            </a:r>
          </a:p>
        </p:txBody>
      </p:sp>
      <p:sp>
        <p:nvSpPr>
          <p:cNvPr id="6" name="Text Placeholder 2">
            <a:extLst>
              <a:ext uri="{FF2B5EF4-FFF2-40B4-BE49-F238E27FC236}">
                <a16:creationId xmlns:a16="http://schemas.microsoft.com/office/drawing/2014/main" id="{D126D2C3-64E2-7440-99AC-F8DC77F0E964}"/>
              </a:ext>
            </a:extLst>
          </p:cNvPr>
          <p:cNvSpPr>
            <a:spLocks noGrp="1"/>
          </p:cNvSpPr>
          <p:nvPr>
            <p:ph type="body" idx="1" hasCustomPrompt="1"/>
          </p:nvPr>
        </p:nvSpPr>
        <p:spPr>
          <a:xfrm>
            <a:off x="839789" y="1137442"/>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7" name="Content Placeholder 2">
            <a:extLst>
              <a:ext uri="{FF2B5EF4-FFF2-40B4-BE49-F238E27FC236}">
                <a16:creationId xmlns:a16="http://schemas.microsoft.com/office/drawing/2014/main" id="{33D4B0C3-AED5-1149-A608-D92E5AF5417A}"/>
              </a:ext>
            </a:extLst>
          </p:cNvPr>
          <p:cNvSpPr>
            <a:spLocks noGrp="1"/>
          </p:cNvSpPr>
          <p:nvPr>
            <p:ph idx="11"/>
          </p:nvPr>
        </p:nvSpPr>
        <p:spPr>
          <a:xfrm>
            <a:off x="838200" y="1641765"/>
            <a:ext cx="10515600" cy="1735281"/>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902669C5-C031-0949-BCEF-538915E07FD2}"/>
              </a:ext>
            </a:extLst>
          </p:cNvPr>
          <p:cNvSpPr>
            <a:spLocks noGrp="1"/>
          </p:cNvSpPr>
          <p:nvPr>
            <p:ph type="body" idx="12" hasCustomPrompt="1"/>
          </p:nvPr>
        </p:nvSpPr>
        <p:spPr>
          <a:xfrm>
            <a:off x="839789" y="3589697"/>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9" name="Content Placeholder 2">
            <a:extLst>
              <a:ext uri="{FF2B5EF4-FFF2-40B4-BE49-F238E27FC236}">
                <a16:creationId xmlns:a16="http://schemas.microsoft.com/office/drawing/2014/main" id="{85809810-9DB7-E84D-9C39-5D795F1B7EEB}"/>
              </a:ext>
            </a:extLst>
          </p:cNvPr>
          <p:cNvSpPr>
            <a:spLocks noGrp="1"/>
          </p:cNvSpPr>
          <p:nvPr>
            <p:ph idx="13"/>
          </p:nvPr>
        </p:nvSpPr>
        <p:spPr>
          <a:xfrm>
            <a:off x="838200" y="4094020"/>
            <a:ext cx="10515600" cy="1735281"/>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4A79C999-42AF-3D4F-A523-E1CD40483976}"/>
              </a:ext>
            </a:extLst>
          </p:cNvPr>
          <p:cNvSpPr>
            <a:spLocks noGrp="1"/>
          </p:cNvSpPr>
          <p:nvPr>
            <p:ph type="sldNum" sz="quarter" idx="10"/>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88814910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nd Two Columns Horizonta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600"/>
            </a:lvl1pPr>
          </a:lstStyle>
          <a:p>
            <a:r>
              <a:rPr lang="en-US"/>
              <a:t>Click to edit master title style</a:t>
            </a:r>
          </a:p>
        </p:txBody>
      </p:sp>
      <p:sp>
        <p:nvSpPr>
          <p:cNvPr id="3" name="Content Placeholder 2"/>
          <p:cNvSpPr>
            <a:spLocks noGrp="1"/>
          </p:cNvSpPr>
          <p:nvPr>
            <p:ph sz="half" idx="1"/>
          </p:nvPr>
        </p:nvSpPr>
        <p:spPr>
          <a:xfrm>
            <a:off x="838200" y="1079501"/>
            <a:ext cx="5181600" cy="4831442"/>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079501"/>
            <a:ext cx="5181600" cy="4831443"/>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7892303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nd three content holder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19743"/>
            <a:ext cx="10515600" cy="752929"/>
          </a:xfrm>
        </p:spPr>
        <p:txBody>
          <a:bodyPr/>
          <a:lstStyle/>
          <a:p>
            <a:r>
              <a:rPr lang="en-US"/>
              <a:t>Click to edit master title style</a:t>
            </a:r>
          </a:p>
        </p:txBody>
      </p:sp>
      <p:sp>
        <p:nvSpPr>
          <p:cNvPr id="4" name="Content Placeholder 1">
            <a:extLst>
              <a:ext uri="{FF2B5EF4-FFF2-40B4-BE49-F238E27FC236}">
                <a16:creationId xmlns:a16="http://schemas.microsoft.com/office/drawing/2014/main" id="{2EBA3E1E-B72D-5841-BE68-B0030368BE0B}"/>
              </a:ext>
            </a:extLst>
          </p:cNvPr>
          <p:cNvSpPr>
            <a:spLocks noGrp="1"/>
          </p:cNvSpPr>
          <p:nvPr>
            <p:ph sz="quarter" idx="13"/>
          </p:nvPr>
        </p:nvSpPr>
        <p:spPr>
          <a:xfrm>
            <a:off x="838200" y="1058864"/>
            <a:ext cx="5471584" cy="211747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72D7FA09-D982-8A4E-B298-316DB9B05D14}"/>
              </a:ext>
            </a:extLst>
          </p:cNvPr>
          <p:cNvSpPr>
            <a:spLocks noGrp="1"/>
          </p:cNvSpPr>
          <p:nvPr>
            <p:ph sz="quarter" idx="14"/>
          </p:nvPr>
        </p:nvSpPr>
        <p:spPr>
          <a:xfrm>
            <a:off x="838200" y="3401011"/>
            <a:ext cx="5471584" cy="253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5DDD0237-E847-CA45-B519-10F5341252AA}"/>
              </a:ext>
            </a:extLst>
          </p:cNvPr>
          <p:cNvSpPr>
            <a:spLocks noGrp="1"/>
          </p:cNvSpPr>
          <p:nvPr>
            <p:ph sz="quarter" idx="15"/>
          </p:nvPr>
        </p:nvSpPr>
        <p:spPr>
          <a:xfrm>
            <a:off x="6485021" y="1058864"/>
            <a:ext cx="5471584" cy="48773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05028042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Arrow two third">
    <p:bg>
      <p:bgPr>
        <a:gradFill flip="none" rotWithShape="1">
          <a:gsLst>
            <a:gs pos="0">
              <a:srgbClr val="002F56"/>
            </a:gs>
            <a:gs pos="100000">
              <a:srgbClr val="00488A"/>
            </a:gs>
          </a:gsLst>
          <a:lin ang="81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948290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52" imgH="355" progId="TCLayout.ActiveDocument.1">
                  <p:embed/>
                </p:oleObj>
              </mc:Choice>
              <mc:Fallback>
                <p:oleObj name="think-cell Slide" r:id="rId4" imgW="352" imgH="355"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2018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00529B"/>
                </a:solidFill>
                <a:latin typeface="+mn-lt"/>
                <a:sym typeface="+mj-lt"/>
              </a:defRPr>
            </a:lvl1pPr>
          </a:lstStyle>
          <a:p>
            <a:pPr lvl="0"/>
            <a:r>
              <a:rPr lang="en-US"/>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20230809_ISRM_ SC Deck vS.pptx</a:t>
            </a:r>
          </a:p>
        </p:txBody>
      </p:sp>
      <p:pic>
        <p:nvPicPr>
          <p:cNvPr id="16" name="Picture 15"/>
          <p:cNvPicPr>
            <a:picLocks noChangeAspect="1" noChangeArrowheads="1"/>
          </p:cNvPicPr>
          <p:nvPr userDrawn="1"/>
        </p:nvPicPr>
        <p:blipFill>
          <a:blip r:embed="rId6">
            <a:extLst>
              <a:ext uri="{28A0092B-C50C-407E-A947-70E740481C1C}">
                <a14:useLocalDpi xmlns:a14="http://schemas.microsoft.com/office/drawing/2010/main"/>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28611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Section Break">
    <p:bg>
      <p:bgPr>
        <a:solidFill>
          <a:srgbClr val="002F56"/>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DE3D11B-5FAF-4A20-BC91-DC09E07A8D6B}"/>
              </a:ext>
            </a:extLst>
          </p:cNvPr>
          <p:cNvCxnSpPr>
            <a:cxnSpLocks/>
          </p:cNvCxnSpPr>
          <p:nvPr userDrawn="1"/>
        </p:nvCxnSpPr>
        <p:spPr>
          <a:xfrm>
            <a:off x="955497" y="3705225"/>
            <a:ext cx="1123650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8EFF66FB-DCA5-48F3-A735-3BE74D09ACD8}"/>
              </a:ext>
            </a:extLst>
          </p:cNvPr>
          <p:cNvSpPr>
            <a:spLocks noGrp="1"/>
          </p:cNvSpPr>
          <p:nvPr>
            <p:ph type="body" sz="quarter" idx="10"/>
          </p:nvPr>
        </p:nvSpPr>
        <p:spPr>
          <a:xfrm>
            <a:off x="955497" y="3705225"/>
            <a:ext cx="9144000" cy="1828800"/>
          </a:xfrm>
        </p:spPr>
        <p:txBody>
          <a:bodyPr/>
          <a:lstStyle>
            <a:lvl1pPr marL="0" indent="0">
              <a:buNone/>
              <a:defRPr sz="40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7473697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lvl1pPr>
              <a:defRPr sz="2400"/>
            </a:lvl1pPr>
          </a:lstStyle>
          <a:p>
            <a:r>
              <a:rPr lang="en-US"/>
              <a:t>Click to edit Master title style</a:t>
            </a:r>
          </a:p>
        </p:txBody>
      </p:sp>
      <p:sp>
        <p:nvSpPr>
          <p:cNvPr id="3" name="Content Placeholder 2"/>
          <p:cNvSpPr>
            <a:spLocks noGrp="1"/>
          </p:cNvSpPr>
          <p:nvPr>
            <p:ph idx="1"/>
          </p:nvPr>
        </p:nvSpPr>
        <p:spPr>
          <a:xfrm>
            <a:off x="285750" y="1062518"/>
            <a:ext cx="10515600" cy="4287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292994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1" descr="NewPPcover.jpg"/>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bwMode="auto">
          <a:xfrm>
            <a:off x="609599" y="0"/>
            <a:ext cx="1110547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965512" y="3974308"/>
            <a:ext cx="10363200" cy="730127"/>
          </a:xfrm>
        </p:spPr>
        <p:txBody>
          <a:bodyPr>
            <a:normAutofit/>
          </a:bodyPr>
          <a:lstStyle>
            <a:lvl1pPr algn="l">
              <a:defRPr sz="2000" b="1">
                <a:latin typeface="Calibri"/>
                <a:cs typeface="Calibri"/>
              </a:defRPr>
            </a:lvl1pPr>
          </a:lstStyle>
          <a:p>
            <a:r>
              <a:rPr lang="en-US"/>
              <a:t>Click to edit Master title style</a:t>
            </a:r>
            <a:endParaRPr lang="en-US" dirty="0"/>
          </a:p>
        </p:txBody>
      </p:sp>
      <p:sp>
        <p:nvSpPr>
          <p:cNvPr id="3" name="Subtitle 2"/>
          <p:cNvSpPr>
            <a:spLocks noGrp="1"/>
          </p:cNvSpPr>
          <p:nvPr>
            <p:ph type="subTitle" idx="1"/>
          </p:nvPr>
        </p:nvSpPr>
        <p:spPr>
          <a:xfrm>
            <a:off x="990600" y="4800600"/>
            <a:ext cx="10338112" cy="914813"/>
          </a:xfrm>
        </p:spPr>
        <p:txBody>
          <a:bodyPr>
            <a:noAutofit/>
          </a:bodyPr>
          <a:lstStyle>
            <a:lvl1pPr marL="0" indent="0" algn="l">
              <a:buNone/>
              <a:defRPr sz="1600">
                <a:solidFill>
                  <a:srgbClr val="FFFFFF"/>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8" name="Picture 2">
            <a:extLst>
              <a:ext uri="{FF2B5EF4-FFF2-40B4-BE49-F238E27FC236}">
                <a16:creationId xmlns:a16="http://schemas.microsoft.com/office/drawing/2014/main" id="{47CA2351-8CA6-4F6D-BAF2-5CF71D84348E}"/>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598833" y="6087798"/>
            <a:ext cx="3831167" cy="745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862228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184988"/>
            <a:ext cx="10972800" cy="49411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2831884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normAutofit/>
          </a:bodyPr>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963084" y="1194319"/>
            <a:ext cx="10363200" cy="3212582"/>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84405659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84988"/>
            <a:ext cx="5384800" cy="4941175"/>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184988"/>
            <a:ext cx="5384800" cy="4941175"/>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427053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268963"/>
            <a:ext cx="5386917" cy="1103176"/>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372139"/>
            <a:ext cx="5386917" cy="3706052"/>
          </a:xfrm>
        </p:spPr>
        <p:txBody>
          <a:bodyPr>
            <a:normAutofit/>
          </a:bodyPr>
          <a:lstStyle>
            <a:lvl1pPr>
              <a:defRPr sz="1600"/>
            </a:lvl1pPr>
            <a:lvl2pPr>
              <a:defRPr sz="1600"/>
            </a:lvl2pPr>
            <a:lvl3pPr>
              <a:defRPr sz="1600"/>
            </a:lvl3pPr>
            <a:lvl4pPr>
              <a:defRPr sz="1800"/>
            </a:lvl4pPr>
            <a:lvl5pPr>
              <a:defRPr sz="18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p:nvPr>
        </p:nvSpPr>
        <p:spPr>
          <a:xfrm>
            <a:off x="6193368" y="1268963"/>
            <a:ext cx="5389033" cy="1103176"/>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372139"/>
            <a:ext cx="5389033" cy="3706052"/>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99898604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4790599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716961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222311"/>
            <a:ext cx="6815667" cy="4903852"/>
          </a:xfrm>
        </p:spPr>
        <p:txBody>
          <a:bodyPr>
            <a:normAutofit/>
          </a:bodyPr>
          <a:lstStyle>
            <a:lvl1pPr>
              <a:defRPr sz="1800"/>
            </a:lvl1pPr>
            <a:lvl2pPr>
              <a:defRPr sz="18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p:txBody>
      </p:sp>
      <p:sp>
        <p:nvSpPr>
          <p:cNvPr id="4" name="Text Placeholder 3"/>
          <p:cNvSpPr>
            <a:spLocks noGrp="1"/>
          </p:cNvSpPr>
          <p:nvPr>
            <p:ph type="body" sz="half" idx="2"/>
          </p:nvPr>
        </p:nvSpPr>
        <p:spPr>
          <a:xfrm>
            <a:off x="609601" y="1222310"/>
            <a:ext cx="4011084" cy="4903852"/>
          </a:xfrm>
          <a:solidFill>
            <a:srgbClr val="FFFFFF"/>
          </a:solidFill>
          <a:ln>
            <a:solidFill>
              <a:srgbClr val="BFBFBF"/>
            </a:solidFill>
          </a:ln>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0301277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389717" y="1259634"/>
            <a:ext cx="7315200" cy="385623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290700"/>
            <a:ext cx="7315200" cy="61356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5907403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350786225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BodyPg_2lineHeader">
    <p:spTree>
      <p:nvGrpSpPr>
        <p:cNvPr id="1" name=""/>
        <p:cNvGrpSpPr/>
        <p:nvPr/>
      </p:nvGrpSpPr>
      <p:grpSpPr>
        <a:xfrm>
          <a:off x="0" y="0"/>
          <a:ext cx="0" cy="0"/>
          <a:chOff x="0" y="0"/>
          <a:chExt cx="0" cy="0"/>
        </a:xfrm>
      </p:grpSpPr>
      <p:sp>
        <p:nvSpPr>
          <p:cNvPr id="3" name="TextBox 2"/>
          <p:cNvSpPr txBox="1">
            <a:spLocks noChangeArrowheads="1"/>
          </p:cNvSpPr>
          <p:nvPr userDrawn="1"/>
        </p:nvSpPr>
        <p:spPr bwMode="auto">
          <a:xfrm>
            <a:off x="6307667" y="6559551"/>
            <a:ext cx="5469467" cy="276225"/>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defRPr>
            </a:lvl9pPr>
          </a:lstStyle>
          <a:p>
            <a:pPr algn="r" defTabSz="457200" eaLnBrk="1" fontAlgn="base" hangingPunct="1">
              <a:spcBef>
                <a:spcPct val="0"/>
              </a:spcBef>
              <a:spcAft>
                <a:spcPct val="0"/>
              </a:spcAft>
              <a:defRPr/>
            </a:pPr>
            <a:r>
              <a:rPr lang="en-US" sz="1200" dirty="0">
                <a:solidFill>
                  <a:prstClr val="white"/>
                </a:solidFill>
                <a:latin typeface="Myriad Pro"/>
                <a:ea typeface="MS PGothic" pitchFamily="34" charset="-128"/>
                <a:cs typeface="Myriad Pro"/>
              </a:rPr>
              <a:t>VHA Office of Informatics and Analytics</a:t>
            </a:r>
          </a:p>
        </p:txBody>
      </p:sp>
      <p:sp>
        <p:nvSpPr>
          <p:cNvPr id="22" name="Text Placeholder 11"/>
          <p:cNvSpPr>
            <a:spLocks noGrp="1"/>
          </p:cNvSpPr>
          <p:nvPr>
            <p:ph type="body" sz="quarter" idx="11"/>
          </p:nvPr>
        </p:nvSpPr>
        <p:spPr>
          <a:xfrm>
            <a:off x="609600" y="1114424"/>
            <a:ext cx="10972800" cy="5108575"/>
          </a:xfrm>
        </p:spPr>
        <p:txBody>
          <a:bodyPr/>
          <a:lstStyle>
            <a:lvl1pPr marL="283464" indent="-283464">
              <a:lnSpc>
                <a:spcPct val="100000"/>
              </a:lnSpc>
              <a:spcBef>
                <a:spcPts val="600"/>
              </a:spcBef>
              <a:buClr>
                <a:schemeClr val="accent6"/>
              </a:buClr>
              <a:buFont typeface="Wingdings" charset="2"/>
              <a:buChar char="§"/>
              <a:defRPr sz="2800" b="0" i="0">
                <a:latin typeface="+mn-lt"/>
                <a:cs typeface="Century Old Style"/>
              </a:defRPr>
            </a:lvl1pPr>
            <a:lvl2pPr marL="457200" indent="-283464">
              <a:lnSpc>
                <a:spcPct val="100000"/>
              </a:lnSpc>
              <a:spcBef>
                <a:spcPts val="625"/>
              </a:spcBef>
              <a:buClr>
                <a:schemeClr val="accent6"/>
              </a:buClr>
              <a:buFont typeface="Wingdings" charset="2"/>
              <a:buChar char="§"/>
              <a:defRPr sz="2600" b="0" i="0">
                <a:latin typeface="+mn-lt"/>
                <a:cs typeface="Century Old Style"/>
              </a:defRPr>
            </a:lvl2pPr>
            <a:lvl3pPr marL="685800" indent="-283464">
              <a:lnSpc>
                <a:spcPct val="100000"/>
              </a:lnSpc>
              <a:spcBef>
                <a:spcPts val="500"/>
              </a:spcBef>
              <a:buClr>
                <a:schemeClr val="accent6"/>
              </a:buClr>
              <a:buFont typeface="Wingdings" charset="2"/>
              <a:buChar char="§"/>
              <a:defRPr sz="2400" b="0" i="0">
                <a:latin typeface="+mn-lt"/>
                <a:cs typeface="Century Old Style"/>
              </a:defRPr>
            </a:lvl3pPr>
            <a:lvl4pPr marL="914400" indent="-283464">
              <a:lnSpc>
                <a:spcPct val="100000"/>
              </a:lnSpc>
              <a:spcBef>
                <a:spcPts val="400"/>
              </a:spcBef>
              <a:buClr>
                <a:schemeClr val="accent6"/>
              </a:buClr>
              <a:buFont typeface="Wingdings" charset="2"/>
              <a:buChar char="§"/>
              <a:defRPr sz="2200" b="0" i="0" baseline="0">
                <a:latin typeface="+mn-lt"/>
                <a:cs typeface="Century Old Style"/>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62618868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aphicFrame>
        <p:nvGraphicFramePr>
          <p:cNvPr id="4" name="Object 10" hidden="1">
            <a:extLst>
              <a:ext uri="{FF2B5EF4-FFF2-40B4-BE49-F238E27FC236}">
                <a16:creationId xmlns:a16="http://schemas.microsoft.com/office/drawing/2014/main" id="{ABD285C9-18CD-4250-9DA6-3090256102C8}"/>
              </a:ext>
            </a:extLst>
          </p:cNvPr>
          <p:cNvGraphicFramePr>
            <a:graphicFrameLocks noChangeAspect="1"/>
          </p:cNvGraphicFramePr>
          <p:nvPr userDrawn="1">
            <p:custDataLst>
              <p:tags r:id="rId1"/>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 name="Object 10" hidden="1">
                        <a:extLst>
                          <a:ext uri="{FF2B5EF4-FFF2-40B4-BE49-F238E27FC236}">
                            <a16:creationId xmlns:a16="http://schemas.microsoft.com/office/drawing/2014/main" id="{ABD285C9-18CD-4250-9DA6-3090256102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Slide Number Placeholder 5">
            <a:extLst>
              <a:ext uri="{FF2B5EF4-FFF2-40B4-BE49-F238E27FC236}">
                <a16:creationId xmlns:a16="http://schemas.microsoft.com/office/drawing/2014/main" id="{91B51AD5-EC2B-44B3-9715-40A421F15EAB}"/>
              </a:ext>
            </a:extLst>
          </p:cNvPr>
          <p:cNvSpPr txBox="1">
            <a:spLocks/>
          </p:cNvSpPr>
          <p:nvPr userDrawn="1"/>
        </p:nvSpPr>
        <p:spPr>
          <a:xfrm>
            <a:off x="9249833" y="6400801"/>
            <a:ext cx="2844800" cy="365125"/>
          </a:xfrm>
          <a:prstGeom prst="rect">
            <a:avLst/>
          </a:prstGeom>
        </p:spPr>
        <p:txBody>
          <a:bodyPr anchor="ctr"/>
          <a:lstStyle>
            <a:lvl1pPr defTabSz="457200">
              <a:defRPr>
                <a:solidFill>
                  <a:schemeClr val="tx1"/>
                </a:solidFill>
                <a:latin typeface="Calibri" panose="020F0502020204030204" pitchFamily="34" charset="0"/>
                <a:cs typeface="Arial" panose="020B0604020202020204" pitchFamily="34" charset="0"/>
              </a:defRPr>
            </a:lvl1pPr>
            <a:lvl2pPr marL="742950" indent="-285750" defTabSz="457200">
              <a:defRPr>
                <a:solidFill>
                  <a:schemeClr val="tx1"/>
                </a:solidFill>
                <a:latin typeface="Calibri" panose="020F0502020204030204" pitchFamily="34" charset="0"/>
                <a:cs typeface="Arial" panose="020B0604020202020204" pitchFamily="34" charset="0"/>
              </a:defRPr>
            </a:lvl2pPr>
            <a:lvl3pPr marL="1143000" indent="-228600" defTabSz="457200">
              <a:defRPr>
                <a:solidFill>
                  <a:schemeClr val="tx1"/>
                </a:solidFill>
                <a:latin typeface="Calibri" panose="020F0502020204030204" pitchFamily="34" charset="0"/>
                <a:cs typeface="Arial" panose="020B0604020202020204" pitchFamily="34" charset="0"/>
              </a:defRPr>
            </a:lvl3pPr>
            <a:lvl4pPr marL="1600200" indent="-228600" defTabSz="457200">
              <a:defRPr>
                <a:solidFill>
                  <a:schemeClr val="tx1"/>
                </a:solidFill>
                <a:latin typeface="Calibri" panose="020F0502020204030204" pitchFamily="34" charset="0"/>
                <a:cs typeface="Arial" panose="020B0604020202020204" pitchFamily="34" charset="0"/>
              </a:defRPr>
            </a:lvl4pPr>
            <a:lvl5pPr marL="2057400" indent="-228600" defTabSz="457200">
              <a:defRPr>
                <a:solidFill>
                  <a:schemeClr val="tx1"/>
                </a:solidFill>
                <a:latin typeface="Calibri" panose="020F050202020403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r" eaLnBrk="1" hangingPunct="1"/>
            <a:fld id="{82D0A409-3A92-418E-BFE1-DACD13121E69}" type="slidenum">
              <a:rPr lang="en-US" altLang="en-US" sz="1200">
                <a:solidFill>
                  <a:srgbClr val="FFFFFF"/>
                </a:solidFill>
              </a:rPr>
              <a:pPr algn="r" eaLnBrk="1" hangingPunct="1"/>
              <a:t>‹#›</a:t>
            </a:fld>
            <a:endParaRPr lang="en-US" altLang="en-US" sz="1200">
              <a:solidFill>
                <a:srgbClr val="FFFFFF"/>
              </a:solidFill>
            </a:endParaRPr>
          </a:p>
        </p:txBody>
      </p:sp>
      <p:sp>
        <p:nvSpPr>
          <p:cNvPr id="6" name="Rectangle 5">
            <a:extLst>
              <a:ext uri="{FF2B5EF4-FFF2-40B4-BE49-F238E27FC236}">
                <a16:creationId xmlns:a16="http://schemas.microsoft.com/office/drawing/2014/main" id="{39D9CB70-880A-498A-B7D5-B994115A3906}"/>
              </a:ext>
            </a:extLst>
          </p:cNvPr>
          <p:cNvSpPr/>
          <p:nvPr userDrawn="1"/>
        </p:nvSpPr>
        <p:spPr>
          <a:xfrm>
            <a:off x="0" y="5376864"/>
            <a:ext cx="12192000" cy="1481137"/>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dirty="0">
              <a:solidFill>
                <a:prstClr val="white"/>
              </a:solidFill>
            </a:endParaRPr>
          </a:p>
        </p:txBody>
      </p:sp>
      <p:pic>
        <p:nvPicPr>
          <p:cNvPr id="7" name="Picture 13">
            <a:extLst>
              <a:ext uri="{FF2B5EF4-FFF2-40B4-BE49-F238E27FC236}">
                <a16:creationId xmlns:a16="http://schemas.microsoft.com/office/drawing/2014/main" id="{3D179514-E189-4959-84A1-B6CE43B69FF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6096000" y="5688014"/>
            <a:ext cx="5181600"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934670" y="2591311"/>
            <a:ext cx="7928345" cy="1905255"/>
          </a:xfrm>
        </p:spPr>
        <p:txBody>
          <a:bodyPr/>
          <a:lstStyle>
            <a:lvl1pPr algn="l">
              <a:defRPr>
                <a:solidFill>
                  <a:schemeClr val="accent2"/>
                </a:solidFill>
              </a:defRPr>
            </a:lvl1pPr>
          </a:lstStyle>
          <a:p>
            <a:r>
              <a:rPr lang="en-US"/>
              <a:t>Click to edit Master title style</a:t>
            </a:r>
          </a:p>
        </p:txBody>
      </p:sp>
      <p:sp>
        <p:nvSpPr>
          <p:cNvPr id="3" name="Subtitle 2"/>
          <p:cNvSpPr>
            <a:spLocks noGrp="1"/>
          </p:cNvSpPr>
          <p:nvPr>
            <p:ph type="subTitle" idx="1"/>
          </p:nvPr>
        </p:nvSpPr>
        <p:spPr>
          <a:xfrm>
            <a:off x="3895115" y="4803731"/>
            <a:ext cx="7968015" cy="450535"/>
          </a:xfrm>
        </p:spPr>
        <p:txBody>
          <a:bodyPr/>
          <a:lstStyle>
            <a:lvl1pPr marL="0" indent="0" algn="l">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48193237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4" name="Object 10" hidden="1">
            <a:extLst>
              <a:ext uri="{FF2B5EF4-FFF2-40B4-BE49-F238E27FC236}">
                <a16:creationId xmlns:a16="http://schemas.microsoft.com/office/drawing/2014/main" id="{AECDBA7A-06D1-40CB-9517-2396A723CB3D}"/>
              </a:ext>
            </a:extLst>
          </p:cNvPr>
          <p:cNvGraphicFramePr>
            <a:graphicFrameLocks noChangeAspect="1"/>
          </p:cNvGraphicFramePr>
          <p:nvPr userDrawn="1">
            <p:custDataLst>
              <p:tags r:id="rId1"/>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 name="Object 10" hidden="1">
                        <a:extLst>
                          <a:ext uri="{FF2B5EF4-FFF2-40B4-BE49-F238E27FC236}">
                            <a16:creationId xmlns:a16="http://schemas.microsoft.com/office/drawing/2014/main" id="{AECDBA7A-06D1-40CB-9517-2396A723CB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4">
            <a:extLst>
              <a:ext uri="{FF2B5EF4-FFF2-40B4-BE49-F238E27FC236}">
                <a16:creationId xmlns:a16="http://schemas.microsoft.com/office/drawing/2014/main" id="{B5B7C706-E5EA-4FE1-B578-5DE7025B6817}"/>
              </a:ext>
            </a:extLst>
          </p:cNvPr>
          <p:cNvSpPr/>
          <p:nvPr userDrawn="1"/>
        </p:nvSpPr>
        <p:spPr>
          <a:xfrm>
            <a:off x="0" y="0"/>
            <a:ext cx="12192000" cy="685800"/>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sz="1800" dirty="0">
              <a:solidFill>
                <a:prstClr val="white"/>
              </a:solidFill>
            </a:endParaRPr>
          </a:p>
        </p:txBody>
      </p:sp>
      <p:sp>
        <p:nvSpPr>
          <p:cNvPr id="3" name="Content Placeholder 2"/>
          <p:cNvSpPr>
            <a:spLocks noGrp="1"/>
          </p:cNvSpPr>
          <p:nvPr>
            <p:ph idx="1"/>
          </p:nvPr>
        </p:nvSpPr>
        <p:spPr>
          <a:xfrm>
            <a:off x="609600" y="838201"/>
            <a:ext cx="10972800" cy="5287964"/>
          </a:xfrm>
        </p:spPr>
        <p:txBody>
          <a:bodyPr>
            <a:normAutofit/>
          </a:bodyPr>
          <a:lstStyle>
            <a:lvl1pPr>
              <a:defRPr sz="2000"/>
            </a:lvl1pPr>
            <a:lvl2pPr>
              <a:defRPr sz="1800"/>
            </a:lvl2pPr>
            <a:lvl3pPr>
              <a:defRPr sz="1600"/>
            </a:lvl3pPr>
            <a:lvl4pPr>
              <a:defRPr sz="14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p:cNvSpPr>
            <a:spLocks noGrp="1"/>
          </p:cNvSpPr>
          <p:nvPr>
            <p:ph type="title"/>
          </p:nvPr>
        </p:nvSpPr>
        <p:spPr>
          <a:xfrm>
            <a:off x="0" y="0"/>
            <a:ext cx="12192000" cy="685800"/>
          </a:xfrm>
        </p:spPr>
        <p:txBody>
          <a:bodyPr>
            <a:noAutofit/>
          </a:bodyPr>
          <a:lstStyle>
            <a:lvl1pPr>
              <a:defRPr sz="3200" b="1">
                <a:solidFill>
                  <a:schemeClr val="bg1"/>
                </a:solidFill>
              </a:defRPr>
            </a:lvl1pPr>
          </a:lstStyle>
          <a:p>
            <a:r>
              <a:rPr lang="en-US" dirty="0"/>
              <a:t>Click to edit Master title style</a:t>
            </a:r>
          </a:p>
        </p:txBody>
      </p:sp>
      <p:sp>
        <p:nvSpPr>
          <p:cNvPr id="6" name="Slide Number Placeholder 5">
            <a:extLst>
              <a:ext uri="{FF2B5EF4-FFF2-40B4-BE49-F238E27FC236}">
                <a16:creationId xmlns:a16="http://schemas.microsoft.com/office/drawing/2014/main" id="{AC861A5F-F13F-463F-B288-CA3AAA8F7AFE}"/>
              </a:ext>
            </a:extLst>
          </p:cNvPr>
          <p:cNvSpPr>
            <a:spLocks noGrp="1"/>
          </p:cNvSpPr>
          <p:nvPr>
            <p:ph type="sldNum" sz="quarter" idx="10"/>
          </p:nvPr>
        </p:nvSpPr>
        <p:spPr/>
        <p:txBody>
          <a:bodyPr/>
          <a:lstStyle>
            <a:lvl1pPr defTabSz="914400">
              <a:defRPr/>
            </a:lvl1pPr>
          </a:lstStyle>
          <a:p>
            <a:fld id="{7C667F95-838D-4A12-B27D-AD651FC37B20}" type="slidenum">
              <a:rPr lang="en-US" altLang="en-US"/>
              <a:pPr/>
              <a:t>‹#›</a:t>
            </a:fld>
            <a:endParaRPr lang="en-US" altLang="en-US"/>
          </a:p>
        </p:txBody>
      </p:sp>
    </p:spTree>
    <p:extLst>
      <p:ext uri="{BB962C8B-B14F-4D97-AF65-F5344CB8AC3E}">
        <p14:creationId xmlns:p14="http://schemas.microsoft.com/office/powerpoint/2010/main" val="3170634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 Id="rId30"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tags" Target="../tags/tag8.xml"/><Relationship Id="rId3" Type="http://schemas.openxmlformats.org/officeDocument/2006/relationships/slideLayout" Target="../slideLayouts/slideLayout27.xml"/><Relationship Id="rId21" Type="http://schemas.openxmlformats.org/officeDocument/2006/relationships/image" Target="../media/image8.png"/><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tags" Target="../tags/tag7.xml"/><Relationship Id="rId2" Type="http://schemas.openxmlformats.org/officeDocument/2006/relationships/slideLayout" Target="../slideLayouts/slideLayout26.xml"/><Relationship Id="rId16" Type="http://schemas.openxmlformats.org/officeDocument/2006/relationships/theme" Target="../theme/theme2.xml"/><Relationship Id="rId20" Type="http://schemas.openxmlformats.org/officeDocument/2006/relationships/image" Target="../media/image1.emf"/><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19" Type="http://schemas.openxmlformats.org/officeDocument/2006/relationships/oleObject" Target="../embeddings/oleObject5.bin"/><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image" Target="../media/image9.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tags" Target="../tags/tag11.xml"/><Relationship Id="rId3" Type="http://schemas.openxmlformats.org/officeDocument/2006/relationships/slideLayout" Target="../slideLayouts/slideLayout42.xml"/><Relationship Id="rId21" Type="http://schemas.openxmlformats.org/officeDocument/2006/relationships/slideLayout" Target="../slideLayouts/slideLayout60.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theme" Target="../theme/theme3.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slideLayout" Target="../slideLayouts/slideLayout59.xml"/><Relationship Id="rId29" Type="http://schemas.openxmlformats.org/officeDocument/2006/relationships/image" Target="../media/image1.emf"/><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oleObject" Target="../embeddings/oleObject1.bin"/><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image" Target="../media/image3.png"/><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tags" Target="../tags/tag12.xml"/><Relationship Id="rId30"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image" Target="../media/image11.png"/><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theme" Target="../theme/theme4.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5" Type="http://schemas.openxmlformats.org/officeDocument/2006/relationships/image" Target="../media/image13.jpeg"/><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image" Target="../media/image12.jpe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heme" Target="../theme/theme5.xml"/><Relationship Id="rId7" Type="http://schemas.openxmlformats.org/officeDocument/2006/relationships/image" Target="../media/image16.png"/><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image" Target="../media/image15.emf"/><Relationship Id="rId5" Type="http://schemas.openxmlformats.org/officeDocument/2006/relationships/oleObject" Target="../embeddings/oleObject6.bin"/><Relationship Id="rId4" Type="http://schemas.openxmlformats.org/officeDocument/2006/relationships/tags" Target="../tags/tag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BCCC815A-F2C9-434C-A69F-6B52C370B91D}"/>
              </a:ext>
            </a:extLst>
          </p:cNvPr>
          <p:cNvGraphicFramePr>
            <a:graphicFrameLocks noChangeAspect="1"/>
          </p:cNvGraphicFramePr>
          <p:nvPr userDrawn="1">
            <p:custDataLst>
              <p:tags r:id="rId26"/>
            </p:custDataLst>
            <p:extLst>
              <p:ext uri="{D42A27DB-BD31-4B8C-83A1-F6EECF244321}">
                <p14:modId xmlns:p14="http://schemas.microsoft.com/office/powerpoint/2010/main" val="7472908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8" imgW="395" imgH="396" progId="TCLayout.ActiveDocument.1">
                  <p:embed/>
                </p:oleObj>
              </mc:Choice>
              <mc:Fallback>
                <p:oleObj name="think-cell Slide" r:id="rId28" imgW="395" imgH="396" progId="TCLayout.ActiveDocument.1">
                  <p:embed/>
                  <p:pic>
                    <p:nvPicPr>
                      <p:cNvPr id="13" name="Object 12" hidden="1">
                        <a:extLst>
                          <a:ext uri="{FF2B5EF4-FFF2-40B4-BE49-F238E27FC236}">
                            <a16:creationId xmlns:a16="http://schemas.microsoft.com/office/drawing/2014/main" id="{BCCC815A-F2C9-434C-A69F-6B52C370B91D}"/>
                          </a:ext>
                        </a:extLst>
                      </p:cNvPr>
                      <p:cNvPicPr/>
                      <p:nvPr/>
                    </p:nvPicPr>
                    <p:blipFill>
                      <a:blip r:embed="rId29"/>
                      <a:stretch>
                        <a:fillRect/>
                      </a:stretch>
                    </p:blipFill>
                    <p:spPr>
                      <a:xfrm>
                        <a:off x="1588" y="1588"/>
                        <a:ext cx="1588" cy="1588"/>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7E99BCBC-83A5-40D0-8DE3-4DB102CDECA1}"/>
              </a:ext>
            </a:extLst>
          </p:cNvPr>
          <p:cNvSpPr/>
          <p:nvPr userDrawn="1">
            <p:custDataLst>
              <p:tags r:id="rId2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dirty="0">
              <a:latin typeface="Calibri Light" panose="020F0302020204030204" pitchFamily="34" charset="0"/>
              <a:ea typeface="+mj-ea"/>
              <a:cs typeface="+mj-cs"/>
              <a:sym typeface="Calibri Light" panose="020F0302020204030204" pitchFamily="34" charset="0"/>
            </a:endParaRPr>
          </a:p>
        </p:txBody>
      </p:sp>
      <p:sp>
        <p:nvSpPr>
          <p:cNvPr id="3" name="Text Placeholder 2"/>
          <p:cNvSpPr>
            <a:spLocks noGrp="1"/>
          </p:cNvSpPr>
          <p:nvPr>
            <p:ph type="body" idx="1"/>
          </p:nvPr>
        </p:nvSpPr>
        <p:spPr>
          <a:xfrm>
            <a:off x="371475" y="1361621"/>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2/5/2025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A9334-4E67-F94F-A05E-0CE8B74A054E}" type="slidenum">
              <a:rPr lang="en-US" smtClean="0"/>
              <a:pPr/>
              <a:t>‹#›</a:t>
            </a:fld>
            <a:endParaRPr lang="en-US" dirty="0"/>
          </a:p>
        </p:txBody>
      </p:sp>
      <p:sp>
        <p:nvSpPr>
          <p:cNvPr id="7" name="Rectangle 6" descr="&quot;&quot;">
            <a:extLst>
              <a:ext uri="{FF2B5EF4-FFF2-40B4-BE49-F238E27FC236}">
                <a16:creationId xmlns:a16="http://schemas.microsoft.com/office/drawing/2014/main" id="{9A344643-0805-4A78-8519-399E280674A5}"/>
              </a:ext>
            </a:extLst>
          </p:cNvPr>
          <p:cNvSpPr/>
          <p:nvPr userDrawn="1"/>
        </p:nvSpPr>
        <p:spPr>
          <a:xfrm>
            <a:off x="0" y="0"/>
            <a:ext cx="12192000" cy="87267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a:extLst>
              <a:ext uri="{FF2B5EF4-FFF2-40B4-BE49-F238E27FC236}">
                <a16:creationId xmlns:a16="http://schemas.microsoft.com/office/drawing/2014/main" id="{451C4A79-7B67-4263-9C21-0F0F093D2ECB}"/>
              </a:ext>
            </a:extLst>
          </p:cNvPr>
          <p:cNvSpPr/>
          <p:nvPr userDrawn="1"/>
        </p:nvSpPr>
        <p:spPr>
          <a:xfrm>
            <a:off x="0" y="6140681"/>
            <a:ext cx="12192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dirty="0">
              <a:solidFill>
                <a:prstClr val="white"/>
              </a:solidFill>
            </a:endParaRPr>
          </a:p>
        </p:txBody>
      </p:sp>
      <p:pic>
        <p:nvPicPr>
          <p:cNvPr id="9" name="Picture 2" descr="Choose VA logo">
            <a:extLst>
              <a:ext uri="{FF2B5EF4-FFF2-40B4-BE49-F238E27FC236}">
                <a16:creationId xmlns:a16="http://schemas.microsoft.com/office/drawing/2014/main" id="{ED68DA6A-5DF1-4139-9A45-26BF50A0D2A3}"/>
              </a:ext>
            </a:extLst>
          </p:cNvPr>
          <p:cNvPicPr>
            <a:picLocks noChangeAspect="1" noChangeArrowheads="1"/>
          </p:cNvPicPr>
          <p:nvPr userDrawn="1"/>
        </p:nvPicPr>
        <p:blipFill>
          <a:blip r:embed="rId30" cstate="screen">
            <a:extLst>
              <a:ext uri="{28A0092B-C50C-407E-A947-70E740481C1C}">
                <a14:useLocalDpi xmlns:a14="http://schemas.microsoft.com/office/drawing/2010/main"/>
              </a:ext>
            </a:extLst>
          </a:blip>
          <a:srcRect/>
          <a:stretch>
            <a:fillRect/>
          </a:stretch>
        </p:blipFill>
        <p:spPr bwMode="auto">
          <a:xfrm>
            <a:off x="203201" y="6191250"/>
            <a:ext cx="236855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eal and logo for the U.S. Department of Veterans Affairs">
            <a:extLst>
              <a:ext uri="{FF2B5EF4-FFF2-40B4-BE49-F238E27FC236}">
                <a16:creationId xmlns:a16="http://schemas.microsoft.com/office/drawing/2014/main" id="{89C54729-2C98-4A73-B5EB-4446016F3463}"/>
              </a:ext>
            </a:extLst>
          </p:cNvPr>
          <p:cNvPicPr>
            <a:picLocks noChangeAspect="1"/>
          </p:cNvPicPr>
          <p:nvPr userDrawn="1"/>
        </p:nvPicPr>
        <p:blipFill>
          <a:blip r:embed="rId31" cstate="screen">
            <a:extLst>
              <a:ext uri="{28A0092B-C50C-407E-A947-70E740481C1C}">
                <a14:useLocalDpi xmlns:a14="http://schemas.microsoft.com/office/drawing/2010/main"/>
              </a:ext>
            </a:extLst>
          </a:blip>
          <a:stretch>
            <a:fillRect/>
          </a:stretch>
        </p:blipFill>
        <p:spPr>
          <a:xfrm>
            <a:off x="8743950" y="6184206"/>
            <a:ext cx="2940051" cy="641708"/>
          </a:xfrm>
          <a:prstGeom prst="rect">
            <a:avLst/>
          </a:prstGeom>
        </p:spPr>
      </p:pic>
      <p:sp>
        <p:nvSpPr>
          <p:cNvPr id="2" name="Title Placeholder 1"/>
          <p:cNvSpPr>
            <a:spLocks noGrp="1"/>
          </p:cNvSpPr>
          <p:nvPr>
            <p:ph type="title"/>
          </p:nvPr>
        </p:nvSpPr>
        <p:spPr>
          <a:xfrm>
            <a:off x="390525" y="97245"/>
            <a:ext cx="10515600" cy="680223"/>
          </a:xfrm>
          <a:prstGeom prst="rect">
            <a:avLst/>
          </a:prstGeom>
        </p:spPr>
        <p:txBody>
          <a:bodyPr vert="horz" lIns="91440" tIns="45720" rIns="91440" bIns="45720" rtlCol="0" anchor="ctr">
            <a:noAutofit/>
          </a:bodyPr>
          <a:lstStyle/>
          <a:p>
            <a:r>
              <a:rPr lang="en-US"/>
              <a:t>Click to edit Master title style</a:t>
            </a:r>
          </a:p>
        </p:txBody>
      </p:sp>
    </p:spTree>
    <p:extLst>
      <p:ext uri="{BB962C8B-B14F-4D97-AF65-F5344CB8AC3E}">
        <p14:creationId xmlns:p14="http://schemas.microsoft.com/office/powerpoint/2010/main" val="36482232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BCCC815A-F2C9-434C-A69F-6B52C370B91D}"/>
              </a:ext>
            </a:extLst>
          </p:cNvPr>
          <p:cNvGraphicFramePr>
            <a:graphicFrameLocks noChangeAspect="1"/>
          </p:cNvGraphicFramePr>
          <p:nvPr userDrawn="1">
            <p:custDataLst>
              <p:tags r:id="rId17"/>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395" imgH="396" progId="TCLayout.ActiveDocument.1">
                  <p:embed/>
                </p:oleObj>
              </mc:Choice>
              <mc:Fallback>
                <p:oleObj name="think-cell Slide" r:id="rId19" imgW="395" imgH="396" progId="TCLayout.ActiveDocument.1">
                  <p:embed/>
                  <p:pic>
                    <p:nvPicPr>
                      <p:cNvPr id="13" name="Object 12" hidden="1">
                        <a:extLst>
                          <a:ext uri="{FF2B5EF4-FFF2-40B4-BE49-F238E27FC236}">
                            <a16:creationId xmlns:a16="http://schemas.microsoft.com/office/drawing/2014/main" id="{BCCC815A-F2C9-434C-A69F-6B52C370B91D}"/>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7E99BCBC-83A5-40D0-8DE3-4DB102CDECA1}"/>
              </a:ext>
            </a:extLst>
          </p:cNvPr>
          <p:cNvSpPr/>
          <p:nvPr userDrawn="1">
            <p:custDataLst>
              <p:tags r:id="rId18"/>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a:latin typeface="Calibri Light" panose="020F0302020204030204" pitchFamily="34" charset="0"/>
              <a:ea typeface="+mj-ea"/>
              <a:cs typeface="+mj-cs"/>
              <a:sym typeface="Calibri Light" panose="020F0302020204030204" pitchFamily="34" charset="0"/>
            </a:endParaRPr>
          </a:p>
        </p:txBody>
      </p:sp>
      <p:sp>
        <p:nvSpPr>
          <p:cNvPr id="3" name="Text Placeholder 2"/>
          <p:cNvSpPr>
            <a:spLocks noGrp="1"/>
          </p:cNvSpPr>
          <p:nvPr>
            <p:ph type="body" idx="1"/>
          </p:nvPr>
        </p:nvSpPr>
        <p:spPr>
          <a:xfrm>
            <a:off x="371475" y="1361621"/>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2/5/2025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A9334-4E67-F94F-A05E-0CE8B74A054E}" type="slidenum">
              <a:rPr lang="en-US" smtClean="0"/>
              <a:pPr/>
              <a:t>‹#›</a:t>
            </a:fld>
            <a:endParaRPr lang="en-US"/>
          </a:p>
        </p:txBody>
      </p:sp>
      <p:sp>
        <p:nvSpPr>
          <p:cNvPr id="7" name="Rectangle 6" descr="&quot;&quot;">
            <a:extLst>
              <a:ext uri="{FF2B5EF4-FFF2-40B4-BE49-F238E27FC236}">
                <a16:creationId xmlns:a16="http://schemas.microsoft.com/office/drawing/2014/main" id="{9A344643-0805-4A78-8519-399E280674A5}"/>
              </a:ext>
            </a:extLst>
          </p:cNvPr>
          <p:cNvSpPr/>
          <p:nvPr userDrawn="1"/>
        </p:nvSpPr>
        <p:spPr>
          <a:xfrm>
            <a:off x="0" y="0"/>
            <a:ext cx="12192000" cy="87267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451C4A79-7B67-4263-9C21-0F0F093D2ECB}"/>
              </a:ext>
            </a:extLst>
          </p:cNvPr>
          <p:cNvSpPr/>
          <p:nvPr userDrawn="1"/>
        </p:nvSpPr>
        <p:spPr>
          <a:xfrm>
            <a:off x="0" y="6140683"/>
            <a:ext cx="12192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182"/>
            <a:endParaRPr lang="en-US" sz="1800">
              <a:solidFill>
                <a:prstClr val="white"/>
              </a:solidFill>
            </a:endParaRPr>
          </a:p>
        </p:txBody>
      </p:sp>
      <p:pic>
        <p:nvPicPr>
          <p:cNvPr id="9" name="Picture 2" descr="Choose VA logo">
            <a:extLst>
              <a:ext uri="{FF2B5EF4-FFF2-40B4-BE49-F238E27FC236}">
                <a16:creationId xmlns:a16="http://schemas.microsoft.com/office/drawing/2014/main" id="{ED68DA6A-5DF1-4139-9A45-26BF50A0D2A3}"/>
              </a:ext>
            </a:extLst>
          </p:cNvPr>
          <p:cNvPicPr>
            <a:picLocks noChangeAspect="1" noChangeArrowheads="1"/>
          </p:cNvPicPr>
          <p:nvPr userDrawn="1"/>
        </p:nvPicPr>
        <p:blipFill>
          <a:blip r:embed="rId21" cstate="print">
            <a:extLst>
              <a:ext uri="{28A0092B-C50C-407E-A947-70E740481C1C}">
                <a14:useLocalDpi xmlns:a14="http://schemas.microsoft.com/office/drawing/2010/main"/>
              </a:ext>
            </a:extLst>
          </a:blip>
          <a:srcRect/>
          <a:stretch>
            <a:fillRect/>
          </a:stretch>
        </p:blipFill>
        <p:spPr bwMode="auto">
          <a:xfrm>
            <a:off x="203201" y="6191250"/>
            <a:ext cx="236855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eal and logo for the U.S. Department of Veterans Affairs">
            <a:extLst>
              <a:ext uri="{FF2B5EF4-FFF2-40B4-BE49-F238E27FC236}">
                <a16:creationId xmlns:a16="http://schemas.microsoft.com/office/drawing/2014/main" id="{89C54729-2C98-4A73-B5EB-4446016F3463}"/>
              </a:ext>
            </a:extLst>
          </p:cNvPr>
          <p:cNvPicPr>
            <a:picLocks noChangeAspect="1"/>
          </p:cNvPicPr>
          <p:nvPr userDrawn="1"/>
        </p:nvPicPr>
        <p:blipFill>
          <a:blip r:embed="rId22" cstate="print">
            <a:extLst>
              <a:ext uri="{28A0092B-C50C-407E-A947-70E740481C1C}">
                <a14:useLocalDpi xmlns:a14="http://schemas.microsoft.com/office/drawing/2010/main"/>
              </a:ext>
            </a:extLst>
          </a:blip>
          <a:stretch>
            <a:fillRect/>
          </a:stretch>
        </p:blipFill>
        <p:spPr>
          <a:xfrm>
            <a:off x="8743951" y="6184206"/>
            <a:ext cx="2940051" cy="641708"/>
          </a:xfrm>
          <a:prstGeom prst="rect">
            <a:avLst/>
          </a:prstGeom>
        </p:spPr>
      </p:pic>
      <p:sp>
        <p:nvSpPr>
          <p:cNvPr id="2" name="Title Placeholder 1"/>
          <p:cNvSpPr>
            <a:spLocks noGrp="1"/>
          </p:cNvSpPr>
          <p:nvPr>
            <p:ph type="title"/>
          </p:nvPr>
        </p:nvSpPr>
        <p:spPr>
          <a:xfrm>
            <a:off x="390525" y="97246"/>
            <a:ext cx="10515600" cy="680223"/>
          </a:xfrm>
          <a:prstGeom prst="rect">
            <a:avLst/>
          </a:prstGeom>
        </p:spPr>
        <p:txBody>
          <a:bodyPr vert="horz" lIns="91440" tIns="45720" rIns="91440" bIns="45720" rtlCol="0" anchor="ctr">
            <a:noAutofit/>
          </a:bodyPr>
          <a:lstStyle/>
          <a:p>
            <a:r>
              <a:rPr lang="en-US"/>
              <a:t>Click to edit Master title style</a:t>
            </a:r>
          </a:p>
        </p:txBody>
      </p:sp>
    </p:spTree>
    <p:extLst>
      <p:ext uri="{BB962C8B-B14F-4D97-AF65-F5344CB8AC3E}">
        <p14:creationId xmlns:p14="http://schemas.microsoft.com/office/powerpoint/2010/main" val="2866020398"/>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Lst>
  <p:hf hdr="0" ftr="0" dt="0"/>
  <p:txStyles>
    <p:titleStyle>
      <a:lvl1pPr algn="l" defTabSz="914363"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BCCC815A-F2C9-434C-A69F-6B52C370B91D}"/>
              </a:ext>
            </a:extLst>
          </p:cNvPr>
          <p:cNvGraphicFramePr>
            <a:graphicFrameLocks noChangeAspect="1"/>
          </p:cNvGraphicFramePr>
          <p:nvPr userDrawn="1">
            <p:custDataLst>
              <p:tags r:id="rId26"/>
            </p:custDataLst>
            <p:extLst>
              <p:ext uri="{D42A27DB-BD31-4B8C-83A1-F6EECF244321}">
                <p14:modId xmlns:p14="http://schemas.microsoft.com/office/powerpoint/2010/main" val="7472908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8" imgW="395" imgH="396" progId="TCLayout.ActiveDocument.1">
                  <p:embed/>
                </p:oleObj>
              </mc:Choice>
              <mc:Fallback>
                <p:oleObj name="think-cell Slide" r:id="rId28" imgW="395" imgH="396" progId="TCLayout.ActiveDocument.1">
                  <p:embed/>
                  <p:pic>
                    <p:nvPicPr>
                      <p:cNvPr id="13" name="Object 12" hidden="1">
                        <a:extLst>
                          <a:ext uri="{FF2B5EF4-FFF2-40B4-BE49-F238E27FC236}">
                            <a16:creationId xmlns:a16="http://schemas.microsoft.com/office/drawing/2014/main" id="{BCCC815A-F2C9-434C-A69F-6B52C370B91D}"/>
                          </a:ext>
                        </a:extLst>
                      </p:cNvPr>
                      <p:cNvPicPr/>
                      <p:nvPr/>
                    </p:nvPicPr>
                    <p:blipFill>
                      <a:blip r:embed="rId29"/>
                      <a:stretch>
                        <a:fillRect/>
                      </a:stretch>
                    </p:blipFill>
                    <p:spPr>
                      <a:xfrm>
                        <a:off x="1588" y="1588"/>
                        <a:ext cx="1588" cy="1588"/>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7E99BCBC-83A5-40D0-8DE3-4DB102CDECA1}"/>
              </a:ext>
            </a:extLst>
          </p:cNvPr>
          <p:cNvSpPr/>
          <p:nvPr userDrawn="1">
            <p:custDataLst>
              <p:tags r:id="rId2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a:latin typeface="Calibri Light" panose="020F0302020204030204" pitchFamily="34" charset="0"/>
              <a:ea typeface="+mj-ea"/>
              <a:cs typeface="+mj-cs"/>
              <a:sym typeface="Calibri Light" panose="020F0302020204030204" pitchFamily="34" charset="0"/>
            </a:endParaRPr>
          </a:p>
        </p:txBody>
      </p:sp>
      <p:sp>
        <p:nvSpPr>
          <p:cNvPr id="3" name="Text Placeholder 2"/>
          <p:cNvSpPr>
            <a:spLocks noGrp="1"/>
          </p:cNvSpPr>
          <p:nvPr>
            <p:ph type="body" idx="1"/>
          </p:nvPr>
        </p:nvSpPr>
        <p:spPr>
          <a:xfrm>
            <a:off x="371475" y="1361621"/>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8D2B50-693A-46DA-819B-76C463D86696}" type="datetime1">
              <a:rPr lang="en-US" smtClean="0"/>
              <a:t>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A9334-4E67-F94F-A05E-0CE8B74A054E}" type="slidenum">
              <a:rPr lang="en-US" smtClean="0"/>
              <a:pPr/>
              <a:t>‹#›</a:t>
            </a:fld>
            <a:endParaRPr lang="en-US"/>
          </a:p>
        </p:txBody>
      </p:sp>
      <p:sp>
        <p:nvSpPr>
          <p:cNvPr id="7" name="Rectangle 6" descr="&quot;&quot;">
            <a:extLst>
              <a:ext uri="{FF2B5EF4-FFF2-40B4-BE49-F238E27FC236}">
                <a16:creationId xmlns:a16="http://schemas.microsoft.com/office/drawing/2014/main" id="{9A344643-0805-4A78-8519-399E280674A5}"/>
              </a:ext>
            </a:extLst>
          </p:cNvPr>
          <p:cNvSpPr/>
          <p:nvPr userDrawn="1"/>
        </p:nvSpPr>
        <p:spPr>
          <a:xfrm>
            <a:off x="0" y="0"/>
            <a:ext cx="12192000" cy="87267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451C4A79-7B67-4263-9C21-0F0F093D2ECB}"/>
              </a:ext>
            </a:extLst>
          </p:cNvPr>
          <p:cNvSpPr/>
          <p:nvPr userDrawn="1"/>
        </p:nvSpPr>
        <p:spPr>
          <a:xfrm>
            <a:off x="0" y="6140681"/>
            <a:ext cx="12192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a:solidFill>
                <a:prstClr val="white"/>
              </a:solidFill>
            </a:endParaRPr>
          </a:p>
        </p:txBody>
      </p:sp>
      <p:pic>
        <p:nvPicPr>
          <p:cNvPr id="9" name="Picture 2" descr="Choose VA logo">
            <a:extLst>
              <a:ext uri="{FF2B5EF4-FFF2-40B4-BE49-F238E27FC236}">
                <a16:creationId xmlns:a16="http://schemas.microsoft.com/office/drawing/2014/main" id="{ED68DA6A-5DF1-4139-9A45-26BF50A0D2A3}"/>
              </a:ext>
            </a:extLst>
          </p:cNvPr>
          <p:cNvPicPr>
            <a:picLocks noChangeAspect="1" noChangeArrowheads="1"/>
          </p:cNvPicPr>
          <p:nvPr userDrawn="1"/>
        </p:nvPicPr>
        <p:blipFill>
          <a:blip r:embed="rId30" cstate="screen">
            <a:extLst>
              <a:ext uri="{28A0092B-C50C-407E-A947-70E740481C1C}">
                <a14:useLocalDpi xmlns:a14="http://schemas.microsoft.com/office/drawing/2010/main"/>
              </a:ext>
            </a:extLst>
          </a:blip>
          <a:srcRect/>
          <a:stretch>
            <a:fillRect/>
          </a:stretch>
        </p:blipFill>
        <p:spPr bwMode="auto">
          <a:xfrm>
            <a:off x="203201" y="6191250"/>
            <a:ext cx="236855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eal and logo for the U.S. Department of Veterans Affairs">
            <a:extLst>
              <a:ext uri="{FF2B5EF4-FFF2-40B4-BE49-F238E27FC236}">
                <a16:creationId xmlns:a16="http://schemas.microsoft.com/office/drawing/2014/main" id="{89C54729-2C98-4A73-B5EB-4446016F3463}"/>
              </a:ext>
            </a:extLst>
          </p:cNvPr>
          <p:cNvPicPr>
            <a:picLocks noChangeAspect="1"/>
          </p:cNvPicPr>
          <p:nvPr userDrawn="1"/>
        </p:nvPicPr>
        <p:blipFill>
          <a:blip r:embed="rId31" cstate="screen">
            <a:extLst>
              <a:ext uri="{28A0092B-C50C-407E-A947-70E740481C1C}">
                <a14:useLocalDpi xmlns:a14="http://schemas.microsoft.com/office/drawing/2010/main"/>
              </a:ext>
            </a:extLst>
          </a:blip>
          <a:stretch>
            <a:fillRect/>
          </a:stretch>
        </p:blipFill>
        <p:spPr>
          <a:xfrm>
            <a:off x="8743950" y="6184206"/>
            <a:ext cx="2940051" cy="641708"/>
          </a:xfrm>
          <a:prstGeom prst="rect">
            <a:avLst/>
          </a:prstGeom>
        </p:spPr>
      </p:pic>
      <p:sp>
        <p:nvSpPr>
          <p:cNvPr id="2" name="Title Placeholder 1"/>
          <p:cNvSpPr>
            <a:spLocks noGrp="1"/>
          </p:cNvSpPr>
          <p:nvPr>
            <p:ph type="title"/>
          </p:nvPr>
        </p:nvSpPr>
        <p:spPr>
          <a:xfrm>
            <a:off x="390525" y="97245"/>
            <a:ext cx="10515600" cy="680223"/>
          </a:xfrm>
          <a:prstGeom prst="rect">
            <a:avLst/>
          </a:prstGeom>
        </p:spPr>
        <p:txBody>
          <a:bodyPr vert="horz" lIns="91440" tIns="45720" rIns="91440" bIns="45720" rtlCol="0" anchor="ctr">
            <a:noAutofit/>
          </a:bodyPr>
          <a:lstStyle/>
          <a:p>
            <a:r>
              <a:rPr lang="en-US"/>
              <a:t>Click to edit Master title style</a:t>
            </a:r>
          </a:p>
        </p:txBody>
      </p:sp>
    </p:spTree>
    <p:extLst>
      <p:ext uri="{BB962C8B-B14F-4D97-AF65-F5344CB8AC3E}">
        <p14:creationId xmlns:p14="http://schemas.microsoft.com/office/powerpoint/2010/main" val="2128335017"/>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 id="2147483721" r:id="rId20"/>
    <p:sldLayoutId id="2147483722" r:id="rId21"/>
    <p:sldLayoutId id="2147483723" r:id="rId22"/>
    <p:sldLayoutId id="2147483724" r:id="rId23"/>
    <p:sldLayoutId id="2147483725" r:id="rId24"/>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85234" y="274638"/>
            <a:ext cx="11197167"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09600" y="1187450"/>
            <a:ext cx="10972800" cy="493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p:txBody>
      </p:sp>
      <p:pic>
        <p:nvPicPr>
          <p:cNvPr id="1029" name="Picture 8" descr="VHA_ExcellenceLogo_cmyk_navy.png"/>
          <p:cNvPicPr>
            <a:picLocks noChangeAspect="1"/>
          </p:cNvPicPr>
          <p:nvPr userDrawn="1"/>
        </p:nvPicPr>
        <p:blipFill>
          <a:blip r:embed="rId13" cstate="print">
            <a:extLst>
              <a:ext uri="{28A0092B-C50C-407E-A947-70E740481C1C}">
                <a14:useLocalDpi xmlns:a14="http://schemas.microsoft.com/office/drawing/2010/main"/>
              </a:ext>
            </a:extLst>
          </a:blip>
          <a:srcRect/>
          <a:stretch>
            <a:fillRect/>
          </a:stretch>
        </p:blipFill>
        <p:spPr bwMode="auto">
          <a:xfrm>
            <a:off x="484717" y="6224589"/>
            <a:ext cx="18288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0" descr="newPPTop.jpg"/>
          <p:cNvPicPr>
            <a:picLocks noChangeAspect="1"/>
          </p:cNvPicPr>
          <p:nvPr userDrawn="1"/>
        </p:nvPicPr>
        <p:blipFill>
          <a:blip r:embed="rId14">
            <a:extLst>
              <a:ext uri="{28A0092B-C50C-407E-A947-70E740481C1C}">
                <a14:useLocalDpi xmlns:a14="http://schemas.microsoft.com/office/drawing/2010/main"/>
              </a:ext>
            </a:extLst>
          </a:blip>
          <a:srcRect/>
          <a:stretch>
            <a:fillRect/>
          </a:stretch>
        </p:blipFill>
        <p:spPr bwMode="auto">
          <a:xfrm>
            <a:off x="0" y="0"/>
            <a:ext cx="121920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2">
            <a:extLst>
              <a:ext uri="{FF2B5EF4-FFF2-40B4-BE49-F238E27FC236}">
                <a16:creationId xmlns:a16="http://schemas.microsoft.com/office/drawing/2014/main" id="{BBB35ED1-B137-425B-BC10-FE73B4EDC51B}"/>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745790" y="6087798"/>
            <a:ext cx="3831167" cy="745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Slide Number Placeholder 5">
            <a:extLst>
              <a:ext uri="{FF2B5EF4-FFF2-40B4-BE49-F238E27FC236}">
                <a16:creationId xmlns:a16="http://schemas.microsoft.com/office/drawing/2014/main" id="{07159F6E-2145-4797-A4AD-816204CED516}"/>
              </a:ext>
            </a:extLst>
          </p:cNvPr>
          <p:cNvSpPr>
            <a:spLocks noGrp="1"/>
          </p:cNvSpPr>
          <p:nvPr>
            <p:ph type="sldNum" sz="quarter" idx="4"/>
          </p:nvPr>
        </p:nvSpPr>
        <p:spPr>
          <a:xfrm>
            <a:off x="11582399" y="6308727"/>
            <a:ext cx="512233" cy="457199"/>
          </a:xfrm>
          <a:prstGeom prst="rect">
            <a:avLst/>
          </a:prstGeom>
        </p:spPr>
        <p:txBody>
          <a:bodyPr vert="horz" wrap="square" lIns="91440" tIns="45720" rIns="91440" bIns="45720" numCol="1" anchor="ctr" anchorCtr="0" compatLnSpc="1">
            <a:prstTxWarp prst="textNoShape">
              <a:avLst/>
            </a:prstTxWarp>
          </a:bodyPr>
          <a:lstStyle>
            <a:lvl1pPr algn="r" defTabSz="457200">
              <a:defRPr sz="1200">
                <a:solidFill>
                  <a:schemeClr val="tx1"/>
                </a:solidFill>
              </a:defRPr>
            </a:lvl1pPr>
          </a:lstStyle>
          <a:p>
            <a:fld id="{747EAAF1-A65E-4713-852B-EBC69368BA89}" type="slidenum">
              <a:rPr lang="en-US" altLang="en-US" smtClean="0"/>
              <a:pPr/>
              <a:t>‹#›</a:t>
            </a:fld>
            <a:endParaRPr lang="en-US" altLang="en-US"/>
          </a:p>
        </p:txBody>
      </p:sp>
      <p:sp>
        <p:nvSpPr>
          <p:cNvPr id="20" name="TextBox 19">
            <a:extLst>
              <a:ext uri="{FF2B5EF4-FFF2-40B4-BE49-F238E27FC236}">
                <a16:creationId xmlns:a16="http://schemas.microsoft.com/office/drawing/2014/main" id="{1AE3FF43-478F-4ED8-A412-489450F7CDAD}"/>
              </a:ext>
            </a:extLst>
          </p:cNvPr>
          <p:cNvSpPr txBox="1"/>
          <p:nvPr userDrawn="1"/>
        </p:nvSpPr>
        <p:spPr>
          <a:xfrm>
            <a:off x="3810000" y="6286502"/>
            <a:ext cx="3124200" cy="461665"/>
          </a:xfrm>
          <a:prstGeom prst="rect">
            <a:avLst/>
          </a:prstGeom>
          <a:noFill/>
        </p:spPr>
        <p:txBody>
          <a:bodyPr wrap="square" rtlCol="0">
            <a:spAutoFit/>
          </a:bodyPr>
          <a:lstStyle/>
          <a:p>
            <a:r>
              <a:rPr lang="en-US" sz="2400" b="1" u="none" dirty="0">
                <a:solidFill>
                  <a:schemeClr val="accent1">
                    <a:lumMod val="50000"/>
                  </a:schemeClr>
                </a:solidFill>
              </a:rPr>
              <a:t>www.research.va.gov </a:t>
            </a:r>
          </a:p>
        </p:txBody>
      </p:sp>
    </p:spTree>
    <p:extLst>
      <p:ext uri="{BB962C8B-B14F-4D97-AF65-F5344CB8AC3E}">
        <p14:creationId xmlns:p14="http://schemas.microsoft.com/office/powerpoint/2010/main" val="2704335319"/>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457200" rtl="0" eaLnBrk="0" fontAlgn="base" hangingPunct="0">
        <a:spcBef>
          <a:spcPct val="0"/>
        </a:spcBef>
        <a:spcAft>
          <a:spcPct val="0"/>
        </a:spcAft>
        <a:defRPr sz="2400" kern="1200">
          <a:solidFill>
            <a:schemeClr val="bg1"/>
          </a:solidFill>
          <a:latin typeface="Georgia"/>
          <a:ea typeface="Georgia" pitchFamily="18" charset="0"/>
          <a:cs typeface="Georgia"/>
        </a:defRPr>
      </a:lvl1pPr>
      <a:lvl2pPr algn="l" defTabSz="457200" rtl="0" eaLnBrk="0" fontAlgn="base" hangingPunct="0">
        <a:spcBef>
          <a:spcPct val="0"/>
        </a:spcBef>
        <a:spcAft>
          <a:spcPct val="0"/>
        </a:spcAft>
        <a:defRPr sz="2400">
          <a:solidFill>
            <a:schemeClr val="bg1"/>
          </a:solidFill>
          <a:latin typeface="Georgia" pitchFamily="18" charset="0"/>
          <a:ea typeface="Georgia" pitchFamily="18" charset="0"/>
          <a:cs typeface="Georgia" pitchFamily="18" charset="0"/>
        </a:defRPr>
      </a:lvl2pPr>
      <a:lvl3pPr algn="l" defTabSz="457200" rtl="0" eaLnBrk="0" fontAlgn="base" hangingPunct="0">
        <a:spcBef>
          <a:spcPct val="0"/>
        </a:spcBef>
        <a:spcAft>
          <a:spcPct val="0"/>
        </a:spcAft>
        <a:defRPr sz="2400">
          <a:solidFill>
            <a:schemeClr val="bg1"/>
          </a:solidFill>
          <a:latin typeface="Georgia" pitchFamily="18" charset="0"/>
          <a:ea typeface="Georgia" pitchFamily="18" charset="0"/>
          <a:cs typeface="Georgia" pitchFamily="18" charset="0"/>
        </a:defRPr>
      </a:lvl3pPr>
      <a:lvl4pPr algn="l" defTabSz="457200" rtl="0" eaLnBrk="0" fontAlgn="base" hangingPunct="0">
        <a:spcBef>
          <a:spcPct val="0"/>
        </a:spcBef>
        <a:spcAft>
          <a:spcPct val="0"/>
        </a:spcAft>
        <a:defRPr sz="2400">
          <a:solidFill>
            <a:schemeClr val="bg1"/>
          </a:solidFill>
          <a:latin typeface="Georgia" pitchFamily="18" charset="0"/>
          <a:ea typeface="Georgia" pitchFamily="18" charset="0"/>
          <a:cs typeface="Georgia" pitchFamily="18" charset="0"/>
        </a:defRPr>
      </a:lvl4pPr>
      <a:lvl5pPr algn="l" defTabSz="457200" rtl="0" eaLnBrk="0" fontAlgn="base" hangingPunct="0">
        <a:spcBef>
          <a:spcPct val="0"/>
        </a:spcBef>
        <a:spcAft>
          <a:spcPct val="0"/>
        </a:spcAft>
        <a:defRPr sz="2400">
          <a:solidFill>
            <a:schemeClr val="bg1"/>
          </a:solidFill>
          <a:latin typeface="Georgia" pitchFamily="18" charset="0"/>
          <a:ea typeface="Georgia" pitchFamily="18" charset="0"/>
          <a:cs typeface="Georgia" pitchFamily="18" charset="0"/>
        </a:defRPr>
      </a:lvl5pPr>
      <a:lvl6pPr marL="457200" algn="l" defTabSz="457200" rtl="0" fontAlgn="base">
        <a:spcBef>
          <a:spcPct val="0"/>
        </a:spcBef>
        <a:spcAft>
          <a:spcPct val="0"/>
        </a:spcAft>
        <a:defRPr sz="2400">
          <a:solidFill>
            <a:schemeClr val="bg1"/>
          </a:solidFill>
          <a:latin typeface="Georgia" pitchFamily="18" charset="0"/>
          <a:ea typeface="Georgia" pitchFamily="18" charset="0"/>
          <a:cs typeface="Georgia" pitchFamily="18" charset="0"/>
        </a:defRPr>
      </a:lvl6pPr>
      <a:lvl7pPr marL="914400" algn="l" defTabSz="457200" rtl="0" fontAlgn="base">
        <a:spcBef>
          <a:spcPct val="0"/>
        </a:spcBef>
        <a:spcAft>
          <a:spcPct val="0"/>
        </a:spcAft>
        <a:defRPr sz="2400">
          <a:solidFill>
            <a:schemeClr val="bg1"/>
          </a:solidFill>
          <a:latin typeface="Georgia" pitchFamily="18" charset="0"/>
          <a:ea typeface="Georgia" pitchFamily="18" charset="0"/>
          <a:cs typeface="Georgia" pitchFamily="18" charset="0"/>
        </a:defRPr>
      </a:lvl7pPr>
      <a:lvl8pPr marL="1371600" algn="l" defTabSz="457200" rtl="0" fontAlgn="base">
        <a:spcBef>
          <a:spcPct val="0"/>
        </a:spcBef>
        <a:spcAft>
          <a:spcPct val="0"/>
        </a:spcAft>
        <a:defRPr sz="2400">
          <a:solidFill>
            <a:schemeClr val="bg1"/>
          </a:solidFill>
          <a:latin typeface="Georgia" pitchFamily="18" charset="0"/>
          <a:ea typeface="Georgia" pitchFamily="18" charset="0"/>
          <a:cs typeface="Georgia" pitchFamily="18" charset="0"/>
        </a:defRPr>
      </a:lvl8pPr>
      <a:lvl9pPr marL="1828800" algn="l" defTabSz="457200" rtl="0" fontAlgn="base">
        <a:spcBef>
          <a:spcPct val="0"/>
        </a:spcBef>
        <a:spcAft>
          <a:spcPct val="0"/>
        </a:spcAft>
        <a:defRPr sz="2400">
          <a:solidFill>
            <a:schemeClr val="bg1"/>
          </a:solidFill>
          <a:latin typeface="Georgia" pitchFamily="18" charset="0"/>
          <a:ea typeface="Georgia" pitchFamily="18" charset="0"/>
          <a:cs typeface="Georgia" pitchFamily="18" charset="0"/>
        </a:defRPr>
      </a:lvl9pPr>
    </p:titleStyle>
    <p:bodyStyle>
      <a:lvl1pPr marL="342900" indent="-342900" algn="l" defTabSz="457200" rtl="0" eaLnBrk="0" fontAlgn="base" hangingPunct="0">
        <a:spcBef>
          <a:spcPct val="20000"/>
        </a:spcBef>
        <a:spcAft>
          <a:spcPct val="0"/>
        </a:spcAft>
        <a:buFont typeface="Arial" charset="0"/>
        <a:buChar char="•"/>
        <a:defRPr kern="1200">
          <a:solidFill>
            <a:schemeClr val="tx1"/>
          </a:solidFill>
          <a:latin typeface="+mn-lt"/>
          <a:ea typeface="Georgia" pitchFamily="18" charset="0"/>
          <a:cs typeface="Georgia"/>
        </a:defRPr>
      </a:lvl1pPr>
      <a:lvl2pPr marL="742950" indent="-285750" algn="l" defTabSz="457200" rtl="0" eaLnBrk="0" fontAlgn="base" hangingPunct="0">
        <a:spcBef>
          <a:spcPct val="20000"/>
        </a:spcBef>
        <a:spcAft>
          <a:spcPct val="0"/>
        </a:spcAft>
        <a:buFont typeface="Arial" charset="0"/>
        <a:buChar char="–"/>
        <a:defRPr sz="1600" kern="1200">
          <a:solidFill>
            <a:schemeClr val="tx1"/>
          </a:solidFill>
          <a:latin typeface="+mn-lt"/>
          <a:ea typeface="Georgia" pitchFamily="18" charset="0"/>
          <a:cs typeface="Georgia"/>
        </a:defRPr>
      </a:lvl2pPr>
      <a:lvl3pPr marL="1143000" indent="-228600" algn="l" defTabSz="457200" rtl="0" eaLnBrk="0" fontAlgn="base" hangingPunct="0">
        <a:spcBef>
          <a:spcPct val="20000"/>
        </a:spcBef>
        <a:spcAft>
          <a:spcPct val="0"/>
        </a:spcAft>
        <a:buFont typeface="Arial" charset="0"/>
        <a:buChar char="•"/>
        <a:defRPr sz="1400" kern="1200">
          <a:solidFill>
            <a:schemeClr val="tx1"/>
          </a:solidFill>
          <a:latin typeface="+mn-lt"/>
          <a:ea typeface="Georgia" pitchFamily="18" charset="0"/>
          <a:cs typeface="Georgia"/>
        </a:defRPr>
      </a:lvl3pPr>
      <a:lvl4pPr marL="1600200" indent="-228600" algn="l" defTabSz="457200" rtl="0" eaLnBrk="0" fontAlgn="base" hangingPunct="0">
        <a:spcBef>
          <a:spcPct val="20000"/>
        </a:spcBef>
        <a:spcAft>
          <a:spcPct val="0"/>
        </a:spcAft>
        <a:buFont typeface="Arial" charset="0"/>
        <a:buChar char="–"/>
        <a:defRPr sz="1200" kern="1200">
          <a:solidFill>
            <a:schemeClr val="tx1"/>
          </a:solidFill>
          <a:latin typeface="+mn-lt"/>
          <a:ea typeface="Georgia" pitchFamily="18" charset="0"/>
          <a:cs typeface="Georgia"/>
        </a:defRPr>
      </a:lvl4pPr>
      <a:lvl5pPr marL="2057400" indent="-228600" algn="l" defTabSz="457200" rtl="0" eaLnBrk="0" fontAlgn="base" hangingPunct="0">
        <a:spcBef>
          <a:spcPct val="20000"/>
        </a:spcBef>
        <a:spcAft>
          <a:spcPct val="0"/>
        </a:spcAft>
        <a:buFont typeface="Arial" charset="0"/>
        <a:buChar char="»"/>
        <a:defRPr sz="1200" kern="1200">
          <a:solidFill>
            <a:schemeClr val="tx1"/>
          </a:solidFill>
          <a:latin typeface="Georgia"/>
          <a:ea typeface="Georgia" pitchFamily="18" charset="0"/>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074" name="Object 3" hidden="1">
            <a:extLst>
              <a:ext uri="{FF2B5EF4-FFF2-40B4-BE49-F238E27FC236}">
                <a16:creationId xmlns:a16="http://schemas.microsoft.com/office/drawing/2014/main" id="{C72D4C9D-0382-40BF-8D23-C0ABE1C968A1}"/>
              </a:ext>
            </a:extLst>
          </p:cNvPr>
          <p:cNvGraphicFramePr>
            <a:graphicFrameLocks noChangeAspect="1"/>
          </p:cNvGraphicFramePr>
          <p:nvPr userDrawn="1">
            <p:custDataLst>
              <p:tags r:id="rId4"/>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3074" name="Object 3" hidden="1">
                        <a:extLst>
                          <a:ext uri="{FF2B5EF4-FFF2-40B4-BE49-F238E27FC236}">
                            <a16:creationId xmlns:a16="http://schemas.microsoft.com/office/drawing/2014/main" id="{C72D4C9D-0382-40BF-8D23-C0ABE1C968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5" name="Title Placeholder 1">
            <a:extLst>
              <a:ext uri="{FF2B5EF4-FFF2-40B4-BE49-F238E27FC236}">
                <a16:creationId xmlns:a16="http://schemas.microsoft.com/office/drawing/2014/main" id="{DACFE11F-A970-40BF-9C8C-BD03053A29A2}"/>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6" name="Text Placeholder 2">
            <a:extLst>
              <a:ext uri="{FF2B5EF4-FFF2-40B4-BE49-F238E27FC236}">
                <a16:creationId xmlns:a16="http://schemas.microsoft.com/office/drawing/2014/main" id="{36787581-96E3-4B5D-9E51-D6C854187E21}"/>
              </a:ext>
            </a:extLst>
          </p:cNvPr>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3077" name="Group 6">
            <a:extLst>
              <a:ext uri="{FF2B5EF4-FFF2-40B4-BE49-F238E27FC236}">
                <a16:creationId xmlns:a16="http://schemas.microsoft.com/office/drawing/2014/main" id="{E4928E24-5BBE-4570-AE1B-9E430621D0FD}"/>
              </a:ext>
            </a:extLst>
          </p:cNvPr>
          <p:cNvGrpSpPr>
            <a:grpSpLocks/>
          </p:cNvGrpSpPr>
          <p:nvPr/>
        </p:nvGrpSpPr>
        <p:grpSpPr bwMode="auto">
          <a:xfrm>
            <a:off x="0" y="6140450"/>
            <a:ext cx="12192000" cy="731838"/>
            <a:chOff x="0" y="6126163"/>
            <a:chExt cx="9144000" cy="731838"/>
          </a:xfrm>
        </p:grpSpPr>
        <p:sp>
          <p:nvSpPr>
            <p:cNvPr id="8" name="Rectangle 7">
              <a:extLst>
                <a:ext uri="{FF2B5EF4-FFF2-40B4-BE49-F238E27FC236}">
                  <a16:creationId xmlns:a16="http://schemas.microsoft.com/office/drawing/2014/main" id="{A634BD24-3624-4701-9CF8-7BFC724F93BB}"/>
                </a:ext>
              </a:extLst>
            </p:cNvPr>
            <p:cNvSpPr/>
            <p:nvPr/>
          </p:nvSpPr>
          <p:spPr>
            <a:xfrm>
              <a:off x="0" y="6126163"/>
              <a:ext cx="9144000" cy="731838"/>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sz="1800" dirty="0">
                <a:solidFill>
                  <a:prstClr val="white"/>
                </a:solidFill>
              </a:endParaRPr>
            </a:p>
          </p:txBody>
        </p:sp>
        <p:pic>
          <p:nvPicPr>
            <p:cNvPr id="3081" name="Picture 8">
              <a:extLst>
                <a:ext uri="{FF2B5EF4-FFF2-40B4-BE49-F238E27FC236}">
                  <a16:creationId xmlns:a16="http://schemas.microsoft.com/office/drawing/2014/main" id="{F5A0EA93-8E9F-4CF0-8B95-7DCC0C6A648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90974" y="6256892"/>
              <a:ext cx="2209800" cy="491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Slide Number Placeholder 5">
            <a:extLst>
              <a:ext uri="{FF2B5EF4-FFF2-40B4-BE49-F238E27FC236}">
                <a16:creationId xmlns:a16="http://schemas.microsoft.com/office/drawing/2014/main" id="{771F7929-4FF4-450B-B080-C61E03E54867}"/>
              </a:ext>
            </a:extLst>
          </p:cNvPr>
          <p:cNvSpPr>
            <a:spLocks noGrp="1"/>
          </p:cNvSpPr>
          <p:nvPr>
            <p:ph type="sldNum" sz="quarter" idx="4"/>
          </p:nvPr>
        </p:nvSpPr>
        <p:spPr>
          <a:xfrm>
            <a:off x="9249833" y="6400801"/>
            <a:ext cx="2844800" cy="365125"/>
          </a:xfrm>
          <a:prstGeom prst="rect">
            <a:avLst/>
          </a:prstGeom>
        </p:spPr>
        <p:txBody>
          <a:bodyPr vert="horz" wrap="square" lIns="91440" tIns="45720" rIns="91440" bIns="45720" numCol="1" anchor="ctr" anchorCtr="0" compatLnSpc="1">
            <a:prstTxWarp prst="textNoShape">
              <a:avLst/>
            </a:prstTxWarp>
          </a:bodyPr>
          <a:lstStyle>
            <a:lvl1pPr algn="r" defTabSz="457200">
              <a:defRPr sz="1200">
                <a:solidFill>
                  <a:srgbClr val="FFFFFF"/>
                </a:solidFill>
              </a:defRPr>
            </a:lvl1pPr>
          </a:lstStyle>
          <a:p>
            <a:fld id="{E433DED6-18C1-4BE3-BB2C-262AD13D2211}" type="slidenum">
              <a:rPr lang="en-US" altLang="en-US"/>
              <a:pPr/>
              <a:t>‹#›</a:t>
            </a:fld>
            <a:endParaRPr lang="en-US" altLang="en-US"/>
          </a:p>
        </p:txBody>
      </p:sp>
      <p:pic>
        <p:nvPicPr>
          <p:cNvPr id="3079" name="Picture 2">
            <a:extLst>
              <a:ext uri="{FF2B5EF4-FFF2-40B4-BE49-F238E27FC236}">
                <a16:creationId xmlns:a16="http://schemas.microsoft.com/office/drawing/2014/main" id="{D1483BD4-910F-4A7D-8F66-AFF2076E7D98}"/>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203200" y="6172201"/>
            <a:ext cx="27178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6889472"/>
      </p:ext>
    </p:extLst>
  </p:cSld>
  <p:clrMap bg1="lt1" tx1="dk1" bg2="lt2" tx2="dk2" accent1="accent1" accent2="accent2" accent3="accent3" accent4="accent4" accent5="accent5" accent6="accent6" hlink="hlink" folHlink="folHlink"/>
  <p:sldLayoutIdLst>
    <p:sldLayoutId id="2147483739" r:id="rId1"/>
    <p:sldLayoutId id="2147483740" r:id="rId2"/>
  </p:sldLayoutIdLst>
  <p:hf hdr="0" ftr="0" dt="0"/>
  <p:txStyles>
    <p:title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anose="020F0502020204030204" pitchFamily="34"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defRPr>
      </a:lvl5pPr>
      <a:lvl6pPr marL="457200" algn="ctr" defTabSz="457200" rtl="0" fontAlgn="base">
        <a:spcBef>
          <a:spcPct val="0"/>
        </a:spcBef>
        <a:spcAft>
          <a:spcPct val="0"/>
        </a:spcAft>
        <a:defRPr sz="4400">
          <a:solidFill>
            <a:schemeClr val="tx1"/>
          </a:solidFill>
          <a:latin typeface="Calibri" panose="020F0502020204030204" pitchFamily="34" charset="0"/>
        </a:defRPr>
      </a:lvl6pPr>
      <a:lvl7pPr marL="914400" algn="ctr" defTabSz="457200" rtl="0" fontAlgn="base">
        <a:spcBef>
          <a:spcPct val="0"/>
        </a:spcBef>
        <a:spcAft>
          <a:spcPct val="0"/>
        </a:spcAft>
        <a:defRPr sz="4400">
          <a:solidFill>
            <a:schemeClr val="tx1"/>
          </a:solidFill>
          <a:latin typeface="Calibri" panose="020F0502020204030204" pitchFamily="34" charset="0"/>
        </a:defRPr>
      </a:lvl7pPr>
      <a:lvl8pPr marL="1371600" algn="ctr" defTabSz="457200" rtl="0" fontAlgn="base">
        <a:spcBef>
          <a:spcPct val="0"/>
        </a:spcBef>
        <a:spcAft>
          <a:spcPct val="0"/>
        </a:spcAft>
        <a:defRPr sz="4400">
          <a:solidFill>
            <a:schemeClr val="tx1"/>
          </a:solidFill>
          <a:latin typeface="Calibri" panose="020F0502020204030204" pitchFamily="34" charset="0"/>
        </a:defRPr>
      </a:lvl8pPr>
      <a:lvl9pPr marL="1828800" algn="ctr" defTabSz="457200"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20.jpe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hyperlink" Target="https://www.aptcenter.research.va.gov/" TargetMode="External"/><Relationship Id="rId2" Type="http://schemas.openxmlformats.org/officeDocument/2006/relationships/hyperlink" Target="https://varrd.emory.edu/" TargetMode="External"/><Relationship Id="rId1" Type="http://schemas.openxmlformats.org/officeDocument/2006/relationships/slideLayout" Target="../slideLayouts/slideLayout7.xml"/><Relationship Id="rId6" Type="http://schemas.openxmlformats.org/officeDocument/2006/relationships/hyperlink" Target="https://www.vision.research.va.gov/about_us.asp" TargetMode="External"/><Relationship Id="rId5" Type="http://schemas.openxmlformats.org/officeDocument/2006/relationships/hyperlink" Target="https://www.brrc.research.va.gov/" TargetMode="External"/><Relationship Id="rId4" Type="http://schemas.openxmlformats.org/officeDocument/2006/relationships/hyperlink" Target="https://fescenter.org/"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vathrive.org/" TargetMode="External"/><Relationship Id="rId7" Type="http://schemas.openxmlformats.org/officeDocument/2006/relationships/hyperlink" Target="https://www.amputation.research.va.gov/" TargetMode="External"/><Relationship Id="rId2" Type="http://schemas.openxmlformats.org/officeDocument/2006/relationships/notesSlide" Target="../notesSlides/notesSlide2.xml"/><Relationship Id="rId1" Type="http://schemas.openxmlformats.org/officeDocument/2006/relationships/slideLayout" Target="../slideLayouts/slideLayout70.xml"/><Relationship Id="rId6" Type="http://schemas.openxmlformats.org/officeDocument/2006/relationships/hyperlink" Target="https://centerforneuro.org/" TargetMode="External"/><Relationship Id="rId5" Type="http://schemas.openxmlformats.org/officeDocument/2006/relationships/hyperlink" Target="https://www.ncrar.research.va.gov/" TargetMode="External"/><Relationship Id="rId4" Type="http://schemas.openxmlformats.org/officeDocument/2006/relationships/hyperlink" Target="https://www.herl.pitt.edu/"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research.va.gov/about/funded-proj-details.cfm?pid=643195" TargetMode="External"/><Relationship Id="rId2" Type="http://schemas.openxmlformats.org/officeDocument/2006/relationships/notesSlide" Target="../notesSlides/notesSlide3.xml"/><Relationship Id="rId1" Type="http://schemas.openxmlformats.org/officeDocument/2006/relationships/slideLayout" Target="../slideLayouts/slideLayout7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55.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55.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54.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55.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0F2F0-7484-0899-4A96-7F082F81B9C4}"/>
              </a:ext>
            </a:extLst>
          </p:cNvPr>
          <p:cNvSpPr>
            <a:spLocks noGrp="1"/>
          </p:cNvSpPr>
          <p:nvPr>
            <p:ph type="ctrTitle"/>
          </p:nvPr>
        </p:nvSpPr>
        <p:spPr/>
        <p:txBody>
          <a:bodyPr>
            <a:normAutofit fontScale="90000"/>
          </a:bodyPr>
          <a:lstStyle/>
          <a:p>
            <a:r>
              <a:rPr lang="en-US" dirty="0">
                <a:solidFill>
                  <a:schemeClr val="tx1"/>
                </a:solidFill>
              </a:rPr>
              <a:t>Rehabilitation Research, Development and Translation Centers</a:t>
            </a:r>
          </a:p>
        </p:txBody>
      </p:sp>
      <p:sp>
        <p:nvSpPr>
          <p:cNvPr id="5" name="Subtitle 4">
            <a:extLst>
              <a:ext uri="{FF2B5EF4-FFF2-40B4-BE49-F238E27FC236}">
                <a16:creationId xmlns:a16="http://schemas.microsoft.com/office/drawing/2014/main" id="{B0BF5616-43ED-8725-EB23-83807C0CCDA1}"/>
              </a:ext>
            </a:extLst>
          </p:cNvPr>
          <p:cNvSpPr>
            <a:spLocks noGrp="1"/>
          </p:cNvSpPr>
          <p:nvPr>
            <p:ph type="subTitle" idx="1"/>
          </p:nvPr>
        </p:nvSpPr>
        <p:spPr>
          <a:xfrm>
            <a:off x="1524000" y="4672668"/>
            <a:ext cx="9144000" cy="585132"/>
          </a:xfrm>
        </p:spPr>
        <p:txBody>
          <a:bodyPr/>
          <a:lstStyle/>
          <a:p>
            <a:r>
              <a:rPr lang="en-US" dirty="0"/>
              <a:t>October 2024</a:t>
            </a:r>
          </a:p>
        </p:txBody>
      </p:sp>
    </p:spTree>
    <p:extLst>
      <p:ext uri="{BB962C8B-B14F-4D97-AF65-F5344CB8AC3E}">
        <p14:creationId xmlns:p14="http://schemas.microsoft.com/office/powerpoint/2010/main" val="2042537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18A653-01DA-CA65-00BD-ABEE001E5D60}"/>
              </a:ext>
            </a:extLst>
          </p:cNvPr>
          <p:cNvSpPr>
            <a:spLocks noGrp="1"/>
          </p:cNvSpPr>
          <p:nvPr>
            <p:ph idx="1"/>
          </p:nvPr>
        </p:nvSpPr>
        <p:spPr>
          <a:xfrm>
            <a:off x="6553200" y="1026127"/>
            <a:ext cx="4876800" cy="5287964"/>
          </a:xfrm>
        </p:spPr>
        <p:txBody>
          <a:bodyPr>
            <a:normAutofit/>
          </a:bodyPr>
          <a:lstStyle/>
          <a:p>
            <a:pPr>
              <a:spcAft>
                <a:spcPts val="600"/>
              </a:spcAft>
            </a:pPr>
            <a:r>
              <a:rPr lang="en-US" sz="2200" b="0" i="0" u="none" strike="noStrike" baseline="0" dirty="0">
                <a:solidFill>
                  <a:srgbClr val="000000"/>
                </a:solidFill>
                <a:latin typeface="Calibri" panose="020F0502020204030204" pitchFamily="34" charset="0"/>
                <a:cs typeface="Calibri" panose="020F0502020204030204" pitchFamily="34" charset="0"/>
              </a:rPr>
              <a:t>Limb Loss</a:t>
            </a:r>
          </a:p>
          <a:p>
            <a:pPr>
              <a:spcAft>
                <a:spcPts val="600"/>
              </a:spcAft>
            </a:pPr>
            <a:r>
              <a:rPr lang="en-US" sz="2200" dirty="0">
                <a:solidFill>
                  <a:srgbClr val="000000"/>
                </a:solidFill>
                <a:latin typeface="Calibri" panose="020F0502020204030204" pitchFamily="34" charset="0"/>
                <a:cs typeface="Calibri" panose="020F0502020204030204" pitchFamily="34" charset="0"/>
              </a:rPr>
              <a:t>Musculoskeletal Disorders </a:t>
            </a:r>
            <a:endParaRPr lang="en-US" sz="2200" b="0" i="0" u="none" strike="noStrike" baseline="0" dirty="0">
              <a:solidFill>
                <a:srgbClr val="000000"/>
              </a:solidFill>
              <a:latin typeface="Calibri" panose="020F0502020204030204" pitchFamily="34" charset="0"/>
              <a:cs typeface="Calibri" panose="020F0502020204030204" pitchFamily="34" charset="0"/>
            </a:endParaRPr>
          </a:p>
          <a:p>
            <a:pPr>
              <a:spcAft>
                <a:spcPts val="600"/>
              </a:spcAft>
            </a:pPr>
            <a:r>
              <a:rPr lang="en-US" sz="2200" dirty="0">
                <a:solidFill>
                  <a:srgbClr val="000000"/>
                </a:solidFill>
                <a:latin typeface="Calibri" panose="020F0502020204030204" pitchFamily="34" charset="0"/>
                <a:cs typeface="Calibri" panose="020F0502020204030204" pitchFamily="34" charset="0"/>
              </a:rPr>
              <a:t>Traditional &amp; Neural Prosthetics</a:t>
            </a:r>
          </a:p>
          <a:p>
            <a:pPr>
              <a:spcAft>
                <a:spcPts val="600"/>
              </a:spcAft>
            </a:pPr>
            <a:r>
              <a:rPr lang="en-US" sz="2200" dirty="0">
                <a:solidFill>
                  <a:srgbClr val="000000"/>
                </a:solidFill>
                <a:latin typeface="Calibri" panose="020F0502020204030204" pitchFamily="34" charset="0"/>
                <a:cs typeface="Calibri" panose="020F0502020204030204" pitchFamily="34" charset="0"/>
              </a:rPr>
              <a:t>Brain Computer Interface/Brain Machine Interface</a:t>
            </a:r>
          </a:p>
          <a:p>
            <a:pPr>
              <a:spcAft>
                <a:spcPts val="600"/>
              </a:spcAft>
            </a:pPr>
            <a:r>
              <a:rPr lang="en-US" sz="2200" dirty="0">
                <a:solidFill>
                  <a:srgbClr val="000000"/>
                </a:solidFill>
                <a:latin typeface="Calibri" panose="020F0502020204030204" pitchFamily="34" charset="0"/>
                <a:cs typeface="Calibri" panose="020F0502020204030204" pitchFamily="34" charset="0"/>
              </a:rPr>
              <a:t>Wheeled Mobility</a:t>
            </a:r>
          </a:p>
          <a:p>
            <a:pPr>
              <a:spcAft>
                <a:spcPts val="600"/>
              </a:spcAft>
            </a:pPr>
            <a:r>
              <a:rPr lang="en-US" sz="2200" dirty="0">
                <a:solidFill>
                  <a:srgbClr val="000000"/>
                </a:solidFill>
                <a:latin typeface="Calibri" panose="020F0502020204030204" pitchFamily="34" charset="0"/>
                <a:cs typeface="Calibri" panose="020F0502020204030204" pitchFamily="34" charset="0"/>
              </a:rPr>
              <a:t>Robotics</a:t>
            </a:r>
          </a:p>
          <a:p>
            <a:pPr>
              <a:spcAft>
                <a:spcPts val="600"/>
              </a:spcAft>
            </a:pPr>
            <a:r>
              <a:rPr lang="en-US" sz="2200" dirty="0">
                <a:solidFill>
                  <a:srgbClr val="000000"/>
                </a:solidFill>
                <a:latin typeface="Calibri" panose="020F0502020204030204" pitchFamily="34" charset="0"/>
                <a:cs typeface="Calibri" panose="020F0502020204030204" pitchFamily="34" charset="0"/>
              </a:rPr>
              <a:t>Electrical stimulation</a:t>
            </a:r>
            <a:endParaRPr lang="en-US" sz="2200" dirty="0">
              <a:latin typeface="Calibri" panose="020F0502020204030204" pitchFamily="34" charset="0"/>
              <a:cs typeface="Calibri" panose="020F0502020204030204" pitchFamily="34" charset="0"/>
            </a:endParaRPr>
          </a:p>
          <a:p>
            <a:pPr>
              <a:spcAft>
                <a:spcPts val="600"/>
              </a:spcAft>
            </a:pPr>
            <a:r>
              <a:rPr lang="en-US" sz="2200" dirty="0">
                <a:latin typeface="Calibri" panose="020F0502020204030204" pitchFamily="34" charset="0"/>
                <a:cs typeface="Calibri" panose="020F0502020204030204" pitchFamily="34" charset="0"/>
              </a:rPr>
              <a:t>Spinal Cord Injury/Disorder</a:t>
            </a:r>
          </a:p>
          <a:p>
            <a:pPr>
              <a:spcAft>
                <a:spcPts val="600"/>
              </a:spcAft>
            </a:pPr>
            <a:r>
              <a:rPr lang="en-US" sz="2200" dirty="0">
                <a:solidFill>
                  <a:srgbClr val="000000"/>
                </a:solidFill>
                <a:latin typeface="Calibri" panose="020F0502020204030204" pitchFamily="34" charset="0"/>
                <a:cs typeface="Calibri" panose="020F0502020204030204" pitchFamily="34" charset="0"/>
              </a:rPr>
              <a:t>Neurological Conditions</a:t>
            </a:r>
            <a:r>
              <a:rPr lang="en-US" sz="2200" dirty="0">
                <a:solidFill>
                  <a:srgbClr val="000000"/>
                </a:solidFill>
                <a:highlight>
                  <a:srgbClr val="808080"/>
                </a:highlight>
                <a:latin typeface="Calibri" panose="020F0502020204030204" pitchFamily="34" charset="0"/>
                <a:cs typeface="Calibri" panose="020F0502020204030204" pitchFamily="34" charset="0"/>
              </a:rPr>
              <a:t> </a:t>
            </a:r>
          </a:p>
          <a:p>
            <a:pPr>
              <a:spcAft>
                <a:spcPts val="600"/>
              </a:spcAft>
            </a:pPr>
            <a:r>
              <a:rPr lang="en-US" sz="2200" dirty="0">
                <a:solidFill>
                  <a:srgbClr val="000000"/>
                </a:solidFill>
                <a:latin typeface="Calibri" panose="020F0502020204030204" pitchFamily="34" charset="0"/>
                <a:cs typeface="Calibri" panose="020F0502020204030204" pitchFamily="34" charset="0"/>
              </a:rPr>
              <a:t>Suicide </a:t>
            </a:r>
          </a:p>
          <a:p>
            <a:pPr lvl="1">
              <a:spcAft>
                <a:spcPts val="600"/>
              </a:spcAft>
            </a:pPr>
            <a:endParaRPr lang="en-US" sz="2000" dirty="0">
              <a:solidFill>
                <a:srgbClr val="000000"/>
              </a:solidFill>
              <a:latin typeface="Calibri" panose="020F0502020204030204" pitchFamily="34" charset="0"/>
              <a:cs typeface="Calibri" panose="020F0502020204030204" pitchFamily="34" charset="0"/>
            </a:endParaRPr>
          </a:p>
          <a:p>
            <a:pPr lvl="1">
              <a:spcAft>
                <a:spcPts val="600"/>
              </a:spcAft>
            </a:pPr>
            <a:endParaRPr lang="en-US" sz="2000" dirty="0">
              <a:solidFill>
                <a:srgbClr val="000000"/>
              </a:solidFill>
              <a:latin typeface="Calibri" panose="020F0502020204030204" pitchFamily="34" charset="0"/>
              <a:cs typeface="Calibri" panose="020F0502020204030204" pitchFamily="34" charset="0"/>
            </a:endParaRPr>
          </a:p>
          <a:p>
            <a:pPr lvl="1">
              <a:spcAft>
                <a:spcPts val="600"/>
              </a:spcAft>
            </a:pPr>
            <a:endParaRPr lang="en-US" sz="1800" b="0" i="0" u="none" strike="noStrike" baseline="0" dirty="0">
              <a:solidFill>
                <a:srgbClr val="000000"/>
              </a:solidFill>
              <a:latin typeface="Arial" panose="020B0604020202020204" pitchFamily="34" charset="0"/>
            </a:endParaRPr>
          </a:p>
          <a:p>
            <a:pPr marL="0" indent="0">
              <a:buNone/>
            </a:pPr>
            <a:endParaRPr lang="en-US" sz="1800" dirty="0">
              <a:solidFill>
                <a:srgbClr val="000000"/>
              </a:solidFill>
              <a:latin typeface="Arial" panose="020B0604020202020204" pitchFamily="34" charset="0"/>
            </a:endParaRPr>
          </a:p>
        </p:txBody>
      </p:sp>
      <p:sp>
        <p:nvSpPr>
          <p:cNvPr id="3" name="Title 2">
            <a:extLst>
              <a:ext uri="{FF2B5EF4-FFF2-40B4-BE49-F238E27FC236}">
                <a16:creationId xmlns:a16="http://schemas.microsoft.com/office/drawing/2014/main" id="{669E5E61-D2C1-20CF-D4F7-61E6879EDE57}"/>
              </a:ext>
            </a:extLst>
          </p:cNvPr>
          <p:cNvSpPr>
            <a:spLocks noGrp="1"/>
          </p:cNvSpPr>
          <p:nvPr>
            <p:ph type="title"/>
          </p:nvPr>
        </p:nvSpPr>
        <p:spPr/>
        <p:txBody>
          <a:bodyPr/>
          <a:lstStyle/>
          <a:p>
            <a:r>
              <a:rPr lang="en-US" sz="2600" dirty="0"/>
              <a:t>Collectively Centers Address Rehabilitation Needs to                                                      Improve Function and Independence: Disabling Conditions, Populations, Interventions</a:t>
            </a:r>
          </a:p>
        </p:txBody>
      </p:sp>
      <p:sp>
        <p:nvSpPr>
          <p:cNvPr id="4" name="Slide Number Placeholder 3">
            <a:extLst>
              <a:ext uri="{FF2B5EF4-FFF2-40B4-BE49-F238E27FC236}">
                <a16:creationId xmlns:a16="http://schemas.microsoft.com/office/drawing/2014/main" id="{8DF3C4D6-296C-7519-17E4-3174BBD2B64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667F95-838D-4A12-B27D-AD651FC37B20}" type="slidenum">
              <a:rPr kumimoji="0" lang="en-US" altLang="en-US" sz="1200" b="0" i="0" u="none" strike="noStrike" kern="1200" cap="none" spc="0" normalizeH="0" baseline="0" noProof="0">
                <a:ln>
                  <a:noFill/>
                </a:ln>
                <a:solidFill>
                  <a:srgbClr val="FFFFFF"/>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altLang="en-US" sz="1200" b="0" i="0" u="none" strike="noStrike" kern="1200" cap="none" spc="0" normalizeH="0" baseline="0" noProof="0">
              <a:ln>
                <a:noFill/>
              </a:ln>
              <a:solidFill>
                <a:srgbClr val="FFFFFF"/>
              </a:solidFill>
              <a:effectLst/>
              <a:uLnTx/>
              <a:uFillTx/>
              <a:latin typeface="Calibri"/>
              <a:ea typeface="+mn-ea"/>
              <a:cs typeface="+mn-cs"/>
            </a:endParaRPr>
          </a:p>
        </p:txBody>
      </p:sp>
      <p:sp>
        <p:nvSpPr>
          <p:cNvPr id="6" name="Content Placeholder 1">
            <a:extLst>
              <a:ext uri="{FF2B5EF4-FFF2-40B4-BE49-F238E27FC236}">
                <a16:creationId xmlns:a16="http://schemas.microsoft.com/office/drawing/2014/main" id="{609EAFCD-623A-8674-DD55-8B2CD7D1DAB6}"/>
              </a:ext>
            </a:extLst>
          </p:cNvPr>
          <p:cNvSpPr txBox="1">
            <a:spLocks/>
          </p:cNvSpPr>
          <p:nvPr/>
        </p:nvSpPr>
        <p:spPr bwMode="auto">
          <a:xfrm>
            <a:off x="762000" y="990601"/>
            <a:ext cx="4876800" cy="5287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16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14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0" fontAlgn="base" latinLnBrk="0" hangingPunct="0">
              <a:lnSpc>
                <a:spcPct val="100000"/>
              </a:lnSpc>
              <a:spcBef>
                <a:spcPct val="20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Hearing Loss</a:t>
            </a:r>
          </a:p>
          <a:p>
            <a:pPr marL="342900" marR="0" lvl="0" indent="-342900" algn="l" defTabSz="457200" rtl="0" eaLnBrk="0" fontAlgn="base" latinLnBrk="0" hangingPunct="0">
              <a:lnSpc>
                <a:spcPct val="100000"/>
              </a:lnSpc>
              <a:spcBef>
                <a:spcPct val="20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Tinnitus</a:t>
            </a:r>
          </a:p>
          <a:p>
            <a:pPr marL="342900" marR="0" lvl="0" indent="-342900" algn="l" defTabSz="457200" rtl="0" eaLnBrk="0" fontAlgn="base" latinLnBrk="0" hangingPunct="0">
              <a:lnSpc>
                <a:spcPct val="100000"/>
              </a:lnSpc>
              <a:spcBef>
                <a:spcPct val="20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Vestibular Dysfunction </a:t>
            </a:r>
          </a:p>
          <a:p>
            <a:pPr marL="342900" marR="0" lvl="0" indent="-342900" algn="l" defTabSz="457200" rtl="0" eaLnBrk="0" fontAlgn="base" latinLnBrk="0" hangingPunct="0">
              <a:lnSpc>
                <a:spcPct val="100000"/>
              </a:lnSpc>
              <a:spcBef>
                <a:spcPct val="20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Vision Loss</a:t>
            </a:r>
          </a:p>
          <a:p>
            <a:pPr marL="342900" marR="0" lvl="0" indent="-342900" algn="l" defTabSz="457200" rtl="0" eaLnBrk="0" fontAlgn="base" latinLnBrk="0" hangingPunct="0">
              <a:lnSpc>
                <a:spcPct val="100000"/>
              </a:lnSpc>
              <a:spcBef>
                <a:spcPct val="20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Traumatic Brain Injury</a:t>
            </a:r>
          </a:p>
          <a:p>
            <a:pPr marL="342900" marR="0" lvl="0" indent="-342900" algn="l" defTabSz="457200" rtl="0" eaLnBrk="0" fontAlgn="base" latinLnBrk="0" hangingPunct="0">
              <a:lnSpc>
                <a:spcPct val="100000"/>
              </a:lnSpc>
              <a:spcBef>
                <a:spcPct val="20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PTSD/Stress Disorders</a:t>
            </a:r>
          </a:p>
          <a:p>
            <a:pPr marL="342900" marR="0" lvl="0" indent="-342900" algn="l" defTabSz="457200" rtl="0" eaLnBrk="0" fontAlgn="base" latinLnBrk="0" hangingPunct="0">
              <a:lnSpc>
                <a:spcPct val="100000"/>
              </a:lnSpc>
              <a:spcBef>
                <a:spcPct val="20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Behavioral Health/Mental Health/Brain Health Conditions  </a:t>
            </a:r>
          </a:p>
          <a:p>
            <a:pPr marL="342900" marR="0" lvl="0" indent="-342900" algn="l" defTabSz="457200" rtl="0" eaLnBrk="0" fontAlgn="base" latinLnBrk="0" hangingPunct="0">
              <a:lnSpc>
                <a:spcPct val="100000"/>
              </a:lnSpc>
              <a:spcBef>
                <a:spcPct val="20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Homelessness/Integration</a:t>
            </a:r>
          </a:p>
          <a:p>
            <a:pPr marL="342900" marR="0" lvl="0" indent="-342900" algn="l" defTabSz="457200" rtl="0" eaLnBrk="0" fontAlgn="base" latinLnBrk="0" hangingPunct="0">
              <a:lnSpc>
                <a:spcPct val="100000"/>
              </a:lnSpc>
              <a:spcBef>
                <a:spcPct val="20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Needs of Women Veterans</a:t>
            </a:r>
          </a:p>
          <a:p>
            <a:pPr marL="342900" marR="0" lvl="0" indent="-342900" algn="l" defTabSz="457200" rtl="0" eaLnBrk="0" fontAlgn="base" latinLnBrk="0" hangingPunct="0">
              <a:lnSpc>
                <a:spcPct val="100000"/>
              </a:lnSpc>
              <a:spcBef>
                <a:spcPct val="20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Pain</a:t>
            </a:r>
          </a:p>
          <a:p>
            <a:pPr marL="0" marR="0" lvl="0" indent="0" algn="l" defTabSz="457200" rtl="0" eaLnBrk="0" fontAlgn="base" latinLnBrk="0" hangingPunct="0">
              <a:lnSpc>
                <a:spcPct val="100000"/>
              </a:lnSpc>
              <a:spcBef>
                <a:spcPct val="20000"/>
              </a:spcBef>
              <a:spcAft>
                <a:spcPts val="600"/>
              </a:spcAft>
              <a:buClrTx/>
              <a:buSzTx/>
              <a:buFont typeface="Arial" panose="020B0604020202020204" pitchFamily="34" charset="0"/>
              <a:buNone/>
              <a:tabLst/>
              <a:defRPr/>
            </a:pPr>
            <a:endParaRPr kumimoji="0" lang="en-US" sz="2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742950" marR="0" lvl="1" indent="-285750" algn="l" defTabSz="457200" rtl="0" eaLnBrk="0" fontAlgn="base" latinLnBrk="0" hangingPunct="0">
              <a:lnSpc>
                <a:spcPct val="100000"/>
              </a:lnSpc>
              <a:spcBef>
                <a:spcPct val="20000"/>
              </a:spcBef>
              <a:spcAft>
                <a:spcPts val="60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742950" marR="0" lvl="1" indent="-285750" algn="l" defTabSz="457200" rtl="0" eaLnBrk="0" fontAlgn="base" latinLnBrk="0" hangingPunct="0">
              <a:lnSpc>
                <a:spcPct val="100000"/>
              </a:lnSpc>
              <a:spcBef>
                <a:spcPct val="20000"/>
              </a:spcBef>
              <a:spcAft>
                <a:spcPts val="60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742950" marR="0" lvl="1" indent="-285750" algn="l" defTabSz="457200" rtl="0" eaLnBrk="0" fontAlgn="base" latinLnBrk="0" hangingPunct="0">
              <a:lnSpc>
                <a:spcPct val="100000"/>
              </a:lnSpc>
              <a:spcBef>
                <a:spcPct val="20000"/>
              </a:spcBef>
              <a:spcAft>
                <a:spcPts val="60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4572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228797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02B8C5C-0790-36AE-FCCA-77DAB04A617E}"/>
              </a:ext>
            </a:extLst>
          </p:cNvPr>
          <p:cNvSpPr/>
          <p:nvPr/>
        </p:nvSpPr>
        <p:spPr>
          <a:xfrm>
            <a:off x="0" y="5989826"/>
            <a:ext cx="12192000" cy="8681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8A1C734-C8CA-9D97-A171-CAA84058E0C0}"/>
              </a:ext>
            </a:extLst>
          </p:cNvPr>
          <p:cNvSpPr>
            <a:spLocks noGrp="1"/>
          </p:cNvSpPr>
          <p:nvPr>
            <p:ph type="title"/>
          </p:nvPr>
        </p:nvSpPr>
        <p:spPr>
          <a:xfrm>
            <a:off x="0" y="97245"/>
            <a:ext cx="12192000" cy="680223"/>
          </a:xfrm>
        </p:spPr>
        <p:txBody>
          <a:bodyPr/>
          <a:lstStyle/>
          <a:p>
            <a:pPr algn="ctr"/>
            <a:r>
              <a:rPr lang="en-US" dirty="0"/>
              <a:t>VA Rehabilitation Science Community</a:t>
            </a:r>
          </a:p>
        </p:txBody>
      </p:sp>
      <p:sp>
        <p:nvSpPr>
          <p:cNvPr id="3" name="Slide Number Placeholder 2">
            <a:extLst>
              <a:ext uri="{FF2B5EF4-FFF2-40B4-BE49-F238E27FC236}">
                <a16:creationId xmlns:a16="http://schemas.microsoft.com/office/drawing/2014/main" id="{3D6DCDA9-BC64-CE23-2607-AAE9EEC5FCE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F1257F8-573A-8F2F-34AF-49009D7FAC40}"/>
              </a:ext>
            </a:extLst>
          </p:cNvPr>
          <p:cNvPicPr>
            <a:picLocks noChangeAspect="1"/>
          </p:cNvPicPr>
          <p:nvPr/>
        </p:nvPicPr>
        <p:blipFill>
          <a:blip r:embed="rId3"/>
          <a:stretch>
            <a:fillRect/>
          </a:stretch>
        </p:blipFill>
        <p:spPr>
          <a:xfrm>
            <a:off x="1306633" y="1655251"/>
            <a:ext cx="9439275" cy="4838700"/>
          </a:xfrm>
          <a:prstGeom prst="rect">
            <a:avLst/>
          </a:prstGeom>
        </p:spPr>
      </p:pic>
      <p:sp>
        <p:nvSpPr>
          <p:cNvPr id="6" name="TextBox 5">
            <a:extLst>
              <a:ext uri="{FF2B5EF4-FFF2-40B4-BE49-F238E27FC236}">
                <a16:creationId xmlns:a16="http://schemas.microsoft.com/office/drawing/2014/main" id="{DAE83098-8857-D74E-39E3-690730CCC9F4}"/>
              </a:ext>
            </a:extLst>
          </p:cNvPr>
          <p:cNvSpPr txBox="1"/>
          <p:nvPr/>
        </p:nvSpPr>
        <p:spPr>
          <a:xfrm>
            <a:off x="751840" y="995680"/>
            <a:ext cx="1788160" cy="6603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70AD47">
                    <a:lumMod val="75000"/>
                  </a:srgbClr>
                </a:solidFill>
                <a:effectLst/>
                <a:uLnTx/>
                <a:uFillTx/>
                <a:latin typeface="Calibri" panose="020F0502020204030204"/>
                <a:ea typeface="+mn-ea"/>
                <a:cs typeface="+mn-cs"/>
              </a:rPr>
              <a:t>Seattle, WA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Center for Limb Loss and </a:t>
            </a:r>
            <a:r>
              <a:rPr kumimoji="0" lang="en-US" sz="1200" b="1" i="0" u="none" strike="noStrike" kern="1200" cap="none" spc="0" normalizeH="0" baseline="0" noProof="0" dirty="0" err="1">
                <a:ln>
                  <a:noFill/>
                </a:ln>
                <a:solidFill>
                  <a:srgbClr val="002060"/>
                </a:solidFill>
                <a:effectLst/>
                <a:uLnTx/>
                <a:uFillTx/>
                <a:latin typeface="Calibri" panose="020F0502020204030204"/>
                <a:ea typeface="+mn-ea"/>
                <a:cs typeface="+mn-cs"/>
              </a:rPr>
              <a:t>MoBility</a:t>
            </a: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200" b="1" i="0" u="none" strike="noStrike" kern="1200" cap="none" spc="0" normalizeH="0" baseline="0" noProof="0" dirty="0" err="1">
                <a:ln>
                  <a:noFill/>
                </a:ln>
                <a:solidFill>
                  <a:srgbClr val="002060"/>
                </a:solidFill>
                <a:effectLst/>
                <a:uLnTx/>
                <a:uFillTx/>
                <a:latin typeface="Calibri" panose="020F0502020204030204"/>
                <a:ea typeface="+mn-ea"/>
                <a:cs typeface="+mn-cs"/>
              </a:rPr>
              <a:t>CLiMB</a:t>
            </a:r>
            <a:r>
              <a:rPr kumimoji="0" lang="en-US" sz="1000" b="0" i="0" u="none" strike="noStrike" kern="1200" cap="none" spc="0" normalizeH="0" baseline="0" noProof="0" dirty="0">
                <a:ln>
                  <a:noFill/>
                </a:ln>
                <a:solidFill>
                  <a:srgbClr val="002060"/>
                </a:solidFill>
                <a:effectLst/>
                <a:uLnTx/>
                <a:uFillTx/>
                <a:latin typeface="Calibri" panose="020F0502020204030204"/>
                <a:ea typeface="+mn-ea"/>
                <a:cs typeface="+mn-cs"/>
              </a:rPr>
              <a:t>)</a:t>
            </a:r>
          </a:p>
        </p:txBody>
      </p:sp>
      <p:sp>
        <p:nvSpPr>
          <p:cNvPr id="7" name="TextBox 6">
            <a:extLst>
              <a:ext uri="{FF2B5EF4-FFF2-40B4-BE49-F238E27FC236}">
                <a16:creationId xmlns:a16="http://schemas.microsoft.com/office/drawing/2014/main" id="{F7D27453-A53B-68A0-7061-C6041328C780}"/>
              </a:ext>
            </a:extLst>
          </p:cNvPr>
          <p:cNvSpPr txBox="1"/>
          <p:nvPr/>
        </p:nvSpPr>
        <p:spPr>
          <a:xfrm>
            <a:off x="104337" y="1774659"/>
            <a:ext cx="1377316"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70AD47">
                    <a:lumMod val="75000"/>
                  </a:srgbClr>
                </a:solidFill>
                <a:effectLst/>
                <a:uLnTx/>
                <a:uFillTx/>
                <a:latin typeface="Calibri" panose="020F0502020204030204"/>
                <a:ea typeface="+mn-ea"/>
                <a:cs typeface="+mn-cs"/>
              </a:rPr>
              <a:t>Portland, 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National Center for Rehabilitative Auditory Research (NCRAR)</a:t>
            </a:r>
          </a:p>
        </p:txBody>
      </p:sp>
      <p:sp>
        <p:nvSpPr>
          <p:cNvPr id="8" name="TextBox 7">
            <a:extLst>
              <a:ext uri="{FF2B5EF4-FFF2-40B4-BE49-F238E27FC236}">
                <a16:creationId xmlns:a16="http://schemas.microsoft.com/office/drawing/2014/main" id="{AB009050-29A5-2651-A1BF-586A5B08B542}"/>
              </a:ext>
            </a:extLst>
          </p:cNvPr>
          <p:cNvSpPr txBox="1"/>
          <p:nvPr/>
        </p:nvSpPr>
        <p:spPr>
          <a:xfrm>
            <a:off x="-10796" y="2946400"/>
            <a:ext cx="1259841"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70AD47">
                    <a:lumMod val="75000"/>
                  </a:srgbClr>
                </a:solidFill>
                <a:effectLst/>
                <a:uLnTx/>
                <a:uFillTx/>
                <a:latin typeface="Calibri" panose="020F0502020204030204"/>
                <a:ea typeface="+mn-ea"/>
                <a:cs typeface="+mn-cs"/>
              </a:rPr>
              <a:t>Los Angeles, CA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Center on Enhancement of Community Integration for Homeless Veterans (</a:t>
            </a:r>
            <a:r>
              <a:rPr kumimoji="0" lang="en-US" sz="1200" b="1" i="0" u="none" strike="noStrike" kern="1200" cap="none" spc="0" normalizeH="0" baseline="0" noProof="0" dirty="0" err="1">
                <a:ln>
                  <a:noFill/>
                </a:ln>
                <a:solidFill>
                  <a:srgbClr val="002060"/>
                </a:solidFill>
                <a:effectLst/>
                <a:uLnTx/>
                <a:uFillTx/>
                <a:latin typeface="Calibri" panose="020F0502020204030204"/>
                <a:ea typeface="+mn-ea"/>
                <a:cs typeface="+mn-cs"/>
              </a:rPr>
              <a:t>THRiVE</a:t>
            </a: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a:t>
            </a:r>
          </a:p>
        </p:txBody>
      </p:sp>
      <p:sp>
        <p:nvSpPr>
          <p:cNvPr id="9" name="TextBox 8">
            <a:extLst>
              <a:ext uri="{FF2B5EF4-FFF2-40B4-BE49-F238E27FC236}">
                <a16:creationId xmlns:a16="http://schemas.microsoft.com/office/drawing/2014/main" id="{013A8CA5-C59A-0B97-A848-541CF915AE29}"/>
              </a:ext>
            </a:extLst>
          </p:cNvPr>
          <p:cNvSpPr txBox="1"/>
          <p:nvPr/>
        </p:nvSpPr>
        <p:spPr>
          <a:xfrm>
            <a:off x="2466975" y="928470"/>
            <a:ext cx="220662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70AD47">
                    <a:lumMod val="75000"/>
                  </a:srgbClr>
                </a:solidFill>
                <a:effectLst/>
                <a:uLnTx/>
                <a:uFillTx/>
                <a:latin typeface="Calibri" panose="020F0502020204030204"/>
                <a:ea typeface="+mn-ea"/>
                <a:cs typeface="+mn-cs"/>
              </a:rPr>
              <a:t>Iowa City, IA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Center for the Prevention and Treatment of Visual Loss</a:t>
            </a:r>
          </a:p>
        </p:txBody>
      </p:sp>
      <p:sp>
        <p:nvSpPr>
          <p:cNvPr id="10" name="TextBox 9">
            <a:extLst>
              <a:ext uri="{FF2B5EF4-FFF2-40B4-BE49-F238E27FC236}">
                <a16:creationId xmlns:a16="http://schemas.microsoft.com/office/drawing/2014/main" id="{30F61229-4012-7A73-98CF-C84203E35DA0}"/>
              </a:ext>
            </a:extLst>
          </p:cNvPr>
          <p:cNvSpPr txBox="1"/>
          <p:nvPr/>
        </p:nvSpPr>
        <p:spPr>
          <a:xfrm>
            <a:off x="4673600" y="914400"/>
            <a:ext cx="1706880"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70AD47">
                    <a:lumMod val="75000"/>
                  </a:srgbClr>
                </a:solidFill>
                <a:effectLst/>
                <a:uLnTx/>
                <a:uFillTx/>
                <a:latin typeface="Calibri" panose="020F0502020204030204"/>
                <a:ea typeface="+mn-ea"/>
                <a:cs typeface="+mn-cs"/>
              </a:rPr>
              <a:t>Minneapolis, MN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Rehabilitation &amp; Engineering Center for Optimizing Veteran Engagement &amp; Reintegration (RECOVER)</a:t>
            </a:r>
          </a:p>
        </p:txBody>
      </p:sp>
      <p:sp>
        <p:nvSpPr>
          <p:cNvPr id="11" name="TextBox 10">
            <a:extLst>
              <a:ext uri="{FF2B5EF4-FFF2-40B4-BE49-F238E27FC236}">
                <a16:creationId xmlns:a16="http://schemas.microsoft.com/office/drawing/2014/main" id="{F72950FB-FA64-9455-2E42-56CCB5168E5B}"/>
              </a:ext>
            </a:extLst>
          </p:cNvPr>
          <p:cNvSpPr txBox="1"/>
          <p:nvPr/>
        </p:nvSpPr>
        <p:spPr>
          <a:xfrm>
            <a:off x="6309360" y="914400"/>
            <a:ext cx="1534160" cy="14619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70AD47">
                    <a:lumMod val="75000"/>
                  </a:srgbClr>
                </a:solidFill>
                <a:effectLst/>
                <a:uLnTx/>
                <a:uFillTx/>
                <a:latin typeface="Calibri" panose="020F0502020204030204"/>
                <a:ea typeface="+mn-ea"/>
                <a:cs typeface="+mn-cs"/>
              </a:rPr>
              <a:t>Cleveland, OH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Center for Advanced Platform Technology (APT)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National Center for Functional Electrical Stimulation (FES)</a:t>
            </a:r>
          </a:p>
        </p:txBody>
      </p:sp>
      <p:sp>
        <p:nvSpPr>
          <p:cNvPr id="13" name="TextBox 12">
            <a:extLst>
              <a:ext uri="{FF2B5EF4-FFF2-40B4-BE49-F238E27FC236}">
                <a16:creationId xmlns:a16="http://schemas.microsoft.com/office/drawing/2014/main" id="{8365FACB-79DE-F622-5AD6-D1486AF87C73}"/>
              </a:ext>
            </a:extLst>
          </p:cNvPr>
          <p:cNvSpPr txBox="1"/>
          <p:nvPr/>
        </p:nvSpPr>
        <p:spPr>
          <a:xfrm>
            <a:off x="7843520" y="1727200"/>
            <a:ext cx="1584960"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70AD47">
                    <a:lumMod val="75000"/>
                  </a:srgbClr>
                </a:solidFill>
                <a:effectLst/>
                <a:uLnTx/>
                <a:uFillTx/>
                <a:latin typeface="Calibri" panose="020F0502020204030204"/>
                <a:ea typeface="+mn-ea"/>
                <a:cs typeface="+mn-cs"/>
              </a:rPr>
              <a:t>Pittsburgh, PA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Center for Wheelchairs and Assistive Robotics Engineering (WARE</a:t>
            </a:r>
            <a:endParaRPr kumimoji="0" lang="en-US" sz="1800" b="0"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C1F1C82A-1308-154B-A736-C687DDF4A994}"/>
              </a:ext>
            </a:extLst>
          </p:cNvPr>
          <p:cNvSpPr txBox="1"/>
          <p:nvPr/>
        </p:nvSpPr>
        <p:spPr>
          <a:xfrm>
            <a:off x="9052560" y="995680"/>
            <a:ext cx="3013076" cy="10926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70AD47">
                    <a:lumMod val="75000"/>
                  </a:srgbClr>
                </a:solidFill>
                <a:effectLst/>
                <a:uLnTx/>
                <a:uFillTx/>
                <a:latin typeface="Calibri" panose="020F0502020204030204"/>
                <a:ea typeface="+mn-ea"/>
                <a:cs typeface="+mn-cs"/>
              </a:rPr>
              <a:t>Boston, MA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Translational Research Center for TBI and Stress Disorders (TRACTS)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Rehabilitation Promoting Prevention and Improved Resilience (REPPAIR)</a:t>
            </a:r>
          </a:p>
        </p:txBody>
      </p:sp>
      <p:sp>
        <p:nvSpPr>
          <p:cNvPr id="15" name="TextBox 14">
            <a:extLst>
              <a:ext uri="{FF2B5EF4-FFF2-40B4-BE49-F238E27FC236}">
                <a16:creationId xmlns:a16="http://schemas.microsoft.com/office/drawing/2014/main" id="{340711C5-40D5-C00F-1EAE-B0A3DDAC8945}"/>
              </a:ext>
            </a:extLst>
          </p:cNvPr>
          <p:cNvSpPr txBox="1"/>
          <p:nvPr/>
        </p:nvSpPr>
        <p:spPr>
          <a:xfrm>
            <a:off x="10772775" y="2299395"/>
            <a:ext cx="1292861"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70AD47">
                    <a:lumMod val="75000"/>
                  </a:srgbClr>
                </a:solidFill>
                <a:effectLst/>
                <a:uLnTx/>
                <a:uFillTx/>
                <a:latin typeface="Calibri" panose="020F0502020204030204"/>
                <a:ea typeface="+mn-ea"/>
                <a:cs typeface="+mn-cs"/>
              </a:rPr>
              <a:t>Providence, RI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Center for </a:t>
            </a:r>
            <a:r>
              <a:rPr kumimoji="0" lang="en-US" sz="1200" b="1" i="0" u="none" strike="noStrike" kern="1200" cap="none" spc="0" normalizeH="0" baseline="0" noProof="0" dirty="0" err="1">
                <a:ln>
                  <a:noFill/>
                </a:ln>
                <a:solidFill>
                  <a:srgbClr val="002060"/>
                </a:solidFill>
                <a:effectLst/>
                <a:uLnTx/>
                <a:uFillTx/>
                <a:latin typeface="Calibri" panose="020F0502020204030204"/>
                <a:ea typeface="+mn-ea"/>
                <a:cs typeface="+mn-cs"/>
              </a:rPr>
              <a:t>Neurorestoration</a:t>
            </a: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 Neurotechnology (</a:t>
            </a:r>
            <a:r>
              <a:rPr kumimoji="0" lang="en-US" sz="1200" b="1" i="0" u="none" strike="noStrike" kern="1200" cap="none" spc="0" normalizeH="0" baseline="0" noProof="0" dirty="0" err="1">
                <a:ln>
                  <a:noFill/>
                </a:ln>
                <a:solidFill>
                  <a:srgbClr val="002060"/>
                </a:solidFill>
                <a:effectLst/>
                <a:uLnTx/>
                <a:uFillTx/>
                <a:latin typeface="Calibri" panose="020F0502020204030204"/>
                <a:ea typeface="+mn-ea"/>
                <a:cs typeface="+mn-cs"/>
              </a:rPr>
              <a:t>CfNN</a:t>
            </a: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a:t>
            </a:r>
          </a:p>
        </p:txBody>
      </p:sp>
      <p:sp>
        <p:nvSpPr>
          <p:cNvPr id="16" name="TextBox 15">
            <a:extLst>
              <a:ext uri="{FF2B5EF4-FFF2-40B4-BE49-F238E27FC236}">
                <a16:creationId xmlns:a16="http://schemas.microsoft.com/office/drawing/2014/main" id="{7C5D3866-8795-E1AD-BF9E-2B70E64E4803}"/>
              </a:ext>
            </a:extLst>
          </p:cNvPr>
          <p:cNvSpPr txBox="1"/>
          <p:nvPr/>
        </p:nvSpPr>
        <p:spPr>
          <a:xfrm>
            <a:off x="10563225" y="3429000"/>
            <a:ext cx="1313816"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70AD47">
                    <a:lumMod val="75000"/>
                  </a:srgbClr>
                </a:solidFill>
                <a:effectLst/>
                <a:uLnTx/>
                <a:uFillTx/>
                <a:latin typeface="Calibri" panose="020F0502020204030204"/>
                <a:ea typeface="+mn-ea"/>
                <a:cs typeface="+mn-cs"/>
              </a:rPr>
              <a:t>West Haven, 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Center for Restoration of Nervous System Function</a:t>
            </a:r>
          </a:p>
        </p:txBody>
      </p:sp>
      <p:sp>
        <p:nvSpPr>
          <p:cNvPr id="17" name="TextBox 16">
            <a:extLst>
              <a:ext uri="{FF2B5EF4-FFF2-40B4-BE49-F238E27FC236}">
                <a16:creationId xmlns:a16="http://schemas.microsoft.com/office/drawing/2014/main" id="{F8B03992-66F3-C4A5-A083-CE762669CD8A}"/>
              </a:ext>
            </a:extLst>
          </p:cNvPr>
          <p:cNvSpPr txBox="1"/>
          <p:nvPr/>
        </p:nvSpPr>
        <p:spPr>
          <a:xfrm>
            <a:off x="9915525" y="4444663"/>
            <a:ext cx="169545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70AD47">
                    <a:lumMod val="75000"/>
                  </a:srgbClr>
                </a:solidFill>
                <a:effectLst/>
                <a:uLnTx/>
                <a:uFillTx/>
                <a:latin typeface="Calibri" panose="020F0502020204030204"/>
                <a:ea typeface="+mn-ea"/>
                <a:cs typeface="+mn-cs"/>
              </a:rPr>
              <a:t>Philadelphia, PA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err="1">
                <a:ln>
                  <a:noFill/>
                </a:ln>
                <a:solidFill>
                  <a:srgbClr val="002060"/>
                </a:solidFill>
                <a:effectLst/>
                <a:uLnTx/>
                <a:uFillTx/>
                <a:latin typeface="Calibri" panose="020F0502020204030204"/>
                <a:ea typeface="+mn-ea"/>
                <a:cs typeface="+mn-cs"/>
              </a:rPr>
              <a:t>CReATE</a:t>
            </a: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 Motion Center: Cartilage Regeneration using Advanced Technologies to Enable Motion</a:t>
            </a:r>
          </a:p>
        </p:txBody>
      </p:sp>
      <p:sp>
        <p:nvSpPr>
          <p:cNvPr id="18" name="TextBox 17">
            <a:extLst>
              <a:ext uri="{FF2B5EF4-FFF2-40B4-BE49-F238E27FC236}">
                <a16:creationId xmlns:a16="http://schemas.microsoft.com/office/drawing/2014/main" id="{89C596F9-5810-D612-AC5B-6280C06C0E55}"/>
              </a:ext>
            </a:extLst>
          </p:cNvPr>
          <p:cNvSpPr txBox="1"/>
          <p:nvPr/>
        </p:nvSpPr>
        <p:spPr>
          <a:xfrm>
            <a:off x="9428480" y="5644992"/>
            <a:ext cx="210629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70AD47">
                    <a:lumMod val="75000"/>
                  </a:srgbClr>
                </a:solidFill>
                <a:effectLst/>
                <a:uLnTx/>
                <a:uFillTx/>
                <a:latin typeface="Calibri" panose="020F0502020204030204"/>
                <a:ea typeface="+mn-ea"/>
                <a:cs typeface="+mn-cs"/>
              </a:rPr>
              <a:t>Atlanta, GA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Center for Visual &amp; Neurocognitive Rehabilitation (CVNR)</a:t>
            </a:r>
          </a:p>
        </p:txBody>
      </p:sp>
      <p:sp>
        <p:nvSpPr>
          <p:cNvPr id="19" name="TextBox 18">
            <a:extLst>
              <a:ext uri="{FF2B5EF4-FFF2-40B4-BE49-F238E27FC236}">
                <a16:creationId xmlns:a16="http://schemas.microsoft.com/office/drawing/2014/main" id="{2F05E6F1-08B6-98B4-4A95-86E7CA296DE1}"/>
              </a:ext>
            </a:extLst>
          </p:cNvPr>
          <p:cNvSpPr txBox="1"/>
          <p:nvPr/>
        </p:nvSpPr>
        <p:spPr>
          <a:xfrm>
            <a:off x="6810375" y="5838825"/>
            <a:ext cx="191706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70AD47">
                    <a:lumMod val="75000"/>
                  </a:srgbClr>
                </a:solidFill>
                <a:effectLst/>
                <a:uLnTx/>
                <a:uFillTx/>
                <a:latin typeface="Calibri" panose="020F0502020204030204"/>
                <a:ea typeface="+mn-ea"/>
                <a:cs typeface="+mn-cs"/>
              </a:rPr>
              <a:t>Gainesville, FL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2060"/>
                </a:solidFill>
                <a:effectLst/>
                <a:uLnTx/>
                <a:uFillTx/>
                <a:latin typeface="Calibri" panose="020F0502020204030204"/>
                <a:ea typeface="+mn-ea"/>
                <a:cs typeface="+mn-cs"/>
              </a:rPr>
              <a:t>Brain Rehabilitation Research Center (BRRC)</a:t>
            </a:r>
          </a:p>
        </p:txBody>
      </p:sp>
      <p:pic>
        <p:nvPicPr>
          <p:cNvPr id="21" name="Picture 20">
            <a:extLst>
              <a:ext uri="{FF2B5EF4-FFF2-40B4-BE49-F238E27FC236}">
                <a16:creationId xmlns:a16="http://schemas.microsoft.com/office/drawing/2014/main" id="{259D6881-D542-F6B4-DD71-36F021AB7204}"/>
              </a:ext>
            </a:extLst>
          </p:cNvPr>
          <p:cNvPicPr>
            <a:picLocks noChangeAspect="1"/>
          </p:cNvPicPr>
          <p:nvPr/>
        </p:nvPicPr>
        <p:blipFill>
          <a:blip r:embed="rId4"/>
          <a:stretch>
            <a:fillRect/>
          </a:stretch>
        </p:blipFill>
        <p:spPr>
          <a:xfrm>
            <a:off x="3712" y="5132936"/>
            <a:ext cx="2091109" cy="1133954"/>
          </a:xfrm>
          <a:prstGeom prst="rect">
            <a:avLst/>
          </a:prstGeom>
        </p:spPr>
      </p:pic>
      <p:sp>
        <p:nvSpPr>
          <p:cNvPr id="22" name="Rectangle 21">
            <a:extLst>
              <a:ext uri="{FF2B5EF4-FFF2-40B4-BE49-F238E27FC236}">
                <a16:creationId xmlns:a16="http://schemas.microsoft.com/office/drawing/2014/main" id="{E6A94275-6703-2E62-09A6-23FCEA99DE70}"/>
              </a:ext>
            </a:extLst>
          </p:cNvPr>
          <p:cNvSpPr/>
          <p:nvPr/>
        </p:nvSpPr>
        <p:spPr>
          <a:xfrm>
            <a:off x="8755380" y="6084328"/>
            <a:ext cx="243840" cy="365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1D40D6C5-7CEB-E2A9-5A21-D22A61B5F6E5}"/>
              </a:ext>
            </a:extLst>
          </p:cNvPr>
          <p:cNvSpPr/>
          <p:nvPr/>
        </p:nvSpPr>
        <p:spPr>
          <a:xfrm>
            <a:off x="10481627" y="2053910"/>
            <a:ext cx="424498" cy="1973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D60FA5CA-0FD2-064C-3B03-95DEBC67B61A}"/>
              </a:ext>
            </a:extLst>
          </p:cNvPr>
          <p:cNvSpPr txBox="1"/>
          <p:nvPr/>
        </p:nvSpPr>
        <p:spPr>
          <a:xfrm>
            <a:off x="5641144" y="2982351"/>
            <a:ext cx="65"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26" name="Picture 2" descr="40,445 Pinpoint Images, Stock Photos, 3D objects, &amp; Vectors ...">
            <a:extLst>
              <a:ext uri="{FF2B5EF4-FFF2-40B4-BE49-F238E27FC236}">
                <a16:creationId xmlns:a16="http://schemas.microsoft.com/office/drawing/2014/main" id="{37E83CB0-FC5F-1268-E87B-9367D73FB5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964" y="6171357"/>
            <a:ext cx="573261" cy="514198"/>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84B42957-59B0-9CB7-CE77-94AC40CD8C5A}"/>
              </a:ext>
            </a:extLst>
          </p:cNvPr>
          <p:cNvSpPr txBox="1"/>
          <p:nvPr/>
        </p:nvSpPr>
        <p:spPr>
          <a:xfrm>
            <a:off x="533597" y="6282113"/>
            <a:ext cx="89813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Aharoni" panose="02010803020104030203" pitchFamily="2" charset="-79"/>
              </a:rPr>
              <a:t>RRD Center</a:t>
            </a:r>
          </a:p>
        </p:txBody>
      </p:sp>
      <p:sp>
        <p:nvSpPr>
          <p:cNvPr id="4" name="TextBox 3">
            <a:extLst>
              <a:ext uri="{FF2B5EF4-FFF2-40B4-BE49-F238E27FC236}">
                <a16:creationId xmlns:a16="http://schemas.microsoft.com/office/drawing/2014/main" id="{CAF553BC-73F1-D9BA-D7A1-B69FC9D976E6}"/>
              </a:ext>
            </a:extLst>
          </p:cNvPr>
          <p:cNvSpPr txBox="1"/>
          <p:nvPr/>
        </p:nvSpPr>
        <p:spPr>
          <a:xfrm>
            <a:off x="512445" y="5644992"/>
            <a:ext cx="2011253" cy="1015663"/>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Light" panose="020F0302020204030204"/>
                <a:ea typeface="+mn-ea"/>
                <a:cs typeface="+mn-cs"/>
              </a:rPr>
              <a:t>States </a:t>
            </a:r>
            <a:r>
              <a:rPr kumimoji="0" lang="en-US" sz="1600" b="1" i="0" u="none" strike="noStrike" kern="1200" cap="none" spc="0" normalizeH="0" baseline="0" noProof="0" dirty="0">
                <a:ln>
                  <a:noFill/>
                </a:ln>
                <a:solidFill>
                  <a:prstClr val="black"/>
                </a:solidFill>
                <a:effectLst/>
                <a:uLnTx/>
                <a:uFillTx/>
                <a:latin typeface="Calibri Light" panose="020F0302020204030204"/>
                <a:ea typeface="+mn-ea"/>
                <a:cs typeface="+mn-cs"/>
              </a:rPr>
              <a:t>with</a:t>
            </a:r>
            <a:r>
              <a:rPr kumimoji="0" lang="en-US" sz="1200" b="1" i="0" u="none" strike="noStrike" kern="1200" cap="none" spc="0" normalizeH="0" baseline="0" noProof="0" dirty="0">
                <a:ln>
                  <a:noFill/>
                </a:ln>
                <a:solidFill>
                  <a:prstClr val="black"/>
                </a:solidFill>
                <a:effectLst/>
                <a:uLnTx/>
                <a:uFillTx/>
                <a:latin typeface="Calibri Light" panose="020F0302020204030204"/>
                <a:ea typeface="+mn-ea"/>
                <a:cs typeface="+mn-cs"/>
              </a:rPr>
              <a:t> funded RR&amp;D research</a:t>
            </a:r>
          </a:p>
          <a:p>
            <a:pPr marL="0" marR="0" lvl="0" indent="0" algn="l" defTabSz="914400" rtl="0" eaLnBrk="1" fontAlgn="auto" latinLnBrk="0" hangingPunct="1">
              <a:lnSpc>
                <a:spcPts val="12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Light" panose="020F0302020204030204"/>
                <a:ea typeface="+mn-ea"/>
                <a:cs typeface="+mn-cs"/>
              </a:rPr>
              <a:t>RR&amp;D Center</a:t>
            </a:r>
          </a:p>
        </p:txBody>
      </p:sp>
      <p:sp>
        <p:nvSpPr>
          <p:cNvPr id="24" name="Rectangle 23">
            <a:extLst>
              <a:ext uri="{FF2B5EF4-FFF2-40B4-BE49-F238E27FC236}">
                <a16:creationId xmlns:a16="http://schemas.microsoft.com/office/drawing/2014/main" id="{037FEDAC-CC62-EC9B-DC6D-BFAE85BB6BFF}"/>
              </a:ext>
            </a:extLst>
          </p:cNvPr>
          <p:cNvSpPr/>
          <p:nvPr/>
        </p:nvSpPr>
        <p:spPr>
          <a:xfrm>
            <a:off x="104337" y="5202019"/>
            <a:ext cx="1918101" cy="4677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227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F075CE-A871-8C5A-6442-0CC115466B68}"/>
              </a:ext>
            </a:extLst>
          </p:cNvPr>
          <p:cNvSpPr>
            <a:spLocks noGrp="1"/>
          </p:cNvSpPr>
          <p:nvPr>
            <p:ph type="sldNum" sz="quarter" idx="12"/>
          </p:nvPr>
        </p:nvSpPr>
        <p:spPr/>
        <p:txBody>
          <a:bodyPr/>
          <a:lstStyle/>
          <a:p>
            <a:fld id="{670A9334-4E67-F94F-A05E-0CE8B74A054E}" type="slidenum">
              <a:rPr lang="en-US" smtClean="0"/>
              <a:pPr/>
              <a:t>4</a:t>
            </a:fld>
            <a:endParaRPr lang="en-US" dirty="0"/>
          </a:p>
        </p:txBody>
      </p:sp>
      <p:graphicFrame>
        <p:nvGraphicFramePr>
          <p:cNvPr id="5" name="Table 4">
            <a:extLst>
              <a:ext uri="{FF2B5EF4-FFF2-40B4-BE49-F238E27FC236}">
                <a16:creationId xmlns:a16="http://schemas.microsoft.com/office/drawing/2014/main" id="{35026E29-9DDD-73C2-AF16-49FD7D66C16F}"/>
              </a:ext>
            </a:extLst>
          </p:cNvPr>
          <p:cNvGraphicFramePr>
            <a:graphicFrameLocks noGrp="1"/>
          </p:cNvGraphicFramePr>
          <p:nvPr>
            <p:extLst>
              <p:ext uri="{D42A27DB-BD31-4B8C-83A1-F6EECF244321}">
                <p14:modId xmlns:p14="http://schemas.microsoft.com/office/powerpoint/2010/main" val="685558083"/>
              </p:ext>
            </p:extLst>
          </p:nvPr>
        </p:nvGraphicFramePr>
        <p:xfrm>
          <a:off x="1" y="0"/>
          <a:ext cx="12487275" cy="6979920"/>
        </p:xfrm>
        <a:graphic>
          <a:graphicData uri="http://schemas.openxmlformats.org/drawingml/2006/table">
            <a:tbl>
              <a:tblPr firstRow="1" bandRow="1"/>
              <a:tblGrid>
                <a:gridCol w="1526795">
                  <a:extLst>
                    <a:ext uri="{9D8B030D-6E8A-4147-A177-3AD203B41FA5}">
                      <a16:colId xmlns:a16="http://schemas.microsoft.com/office/drawing/2014/main" val="1633236202"/>
                    </a:ext>
                  </a:extLst>
                </a:gridCol>
                <a:gridCol w="2348918">
                  <a:extLst>
                    <a:ext uri="{9D8B030D-6E8A-4147-A177-3AD203B41FA5}">
                      <a16:colId xmlns:a16="http://schemas.microsoft.com/office/drawing/2014/main" val="3967575856"/>
                    </a:ext>
                  </a:extLst>
                </a:gridCol>
                <a:gridCol w="6255473">
                  <a:extLst>
                    <a:ext uri="{9D8B030D-6E8A-4147-A177-3AD203B41FA5}">
                      <a16:colId xmlns:a16="http://schemas.microsoft.com/office/drawing/2014/main" val="2189230502"/>
                    </a:ext>
                  </a:extLst>
                </a:gridCol>
                <a:gridCol w="2356089">
                  <a:extLst>
                    <a:ext uri="{9D8B030D-6E8A-4147-A177-3AD203B41FA5}">
                      <a16:colId xmlns:a16="http://schemas.microsoft.com/office/drawing/2014/main" val="744672425"/>
                    </a:ext>
                  </a:extLst>
                </a:gridCol>
              </a:tblGrid>
              <a:tr h="319954">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600" dirty="0"/>
                        <a:t>Location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83BE"/>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600" dirty="0"/>
                        <a:t>CENTER Name/website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83BE"/>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600" dirty="0"/>
                        <a:t>Mission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83BE"/>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600" dirty="0"/>
                        <a:t>Director/co-Director(s)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83BE"/>
                    </a:solidFill>
                  </a:tcPr>
                </a:tc>
                <a:extLst>
                  <a:ext uri="{0D108BD9-81ED-4DB2-BD59-A6C34878D82A}">
                    <a16:rowId xmlns:a16="http://schemas.microsoft.com/office/drawing/2014/main" val="1995316029"/>
                  </a:ext>
                </a:extLst>
              </a:tr>
              <a:tr h="1018035">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Atlanta GA</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Center for Visual &amp; Neurocognitive Rehabilitation</a:t>
                      </a:r>
                    </a:p>
                    <a:p>
                      <a:r>
                        <a:rPr lang="en-US" sz="1600" dirty="0">
                          <a:solidFill>
                            <a:srgbClr val="0070C0"/>
                          </a:solidFill>
                          <a:hlinkClick r:id="rId2">
                            <a:extLst>
                              <a:ext uri="{A12FA001-AC4F-418D-AE19-62706E023703}">
                                <ahyp:hlinkClr xmlns:ahyp="http://schemas.microsoft.com/office/drawing/2018/hyperlinkcolor" val="tx"/>
                              </a:ext>
                            </a:extLst>
                          </a:hlinkClick>
                        </a:rPr>
                        <a:t>https://varrd.emory.edu/</a:t>
                      </a:r>
                      <a:r>
                        <a:rPr lang="en-US" sz="1600" dirty="0">
                          <a:solidFill>
                            <a:srgbClr val="0070C0"/>
                          </a:solidFill>
                        </a:rPr>
                        <a:t> </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Improve quality of life in Veterans </a:t>
                      </a:r>
                      <a:r>
                        <a:rPr lang="en-US" sz="1600" b="0" dirty="0"/>
                        <a:t>with visual and neurocognitive disorders though restoring eye and brain </a:t>
                      </a:r>
                      <a:r>
                        <a:rPr lang="en-US" sz="1600" dirty="0"/>
                        <a:t>function, exercise to improve function, and neuro-biomarkers for personalized visual and neurocognitive rehabilitation.</a:t>
                      </a:r>
                      <a:endParaRPr lang="en-US" sz="1600" dirty="0">
                        <a:solidFill>
                          <a:srgbClr val="FF0000"/>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sz="1600" dirty="0"/>
                        <a:t>Joe Nocera, PhD        Walter Royal III, MD</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40000"/>
                      </a:srgbClr>
                    </a:solidFill>
                  </a:tcPr>
                </a:tc>
                <a:extLst>
                  <a:ext uri="{0D108BD9-81ED-4DB2-BD59-A6C34878D82A}">
                    <a16:rowId xmlns:a16="http://schemas.microsoft.com/office/drawing/2014/main" val="4130416380"/>
                  </a:ext>
                </a:extLst>
              </a:tr>
              <a:tr h="125072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Boston MA</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Translational Research Center for TBI and Stress Disorders </a:t>
                      </a:r>
                      <a:r>
                        <a:rPr lang="en-US" sz="1600" dirty="0">
                          <a:solidFill>
                            <a:srgbClr val="0070C0"/>
                          </a:solidFill>
                        </a:rPr>
                        <a:t>https://heartbrain.hms.harvard.edu/</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Conduct multidisciplinary, clinical research aimed at providing a </a:t>
                      </a:r>
                      <a:r>
                        <a:rPr lang="en-US" sz="1600" b="0" dirty="0"/>
                        <a:t>multimodal psychological, biological, and neurobiological characterization of TBI and deployment related stress disorders, and to use this understanding to improve treatment for Veterans in the post-9/11 era, and ultimately for the entire </a:t>
                      </a:r>
                      <a:r>
                        <a:rPr lang="en-US" sz="1600" dirty="0"/>
                        <a:t>population </a:t>
                      </a:r>
                      <a:r>
                        <a:rPr lang="en-US" sz="1400" b="0" i="0" u="none" strike="noStrike" baseline="0" dirty="0">
                          <a:latin typeface="ArialMT"/>
                        </a:rPr>
                        <a:t>served by the VHA. </a:t>
                      </a:r>
                      <a:endParaRPr lang="en-US" sz="1600" dirty="0">
                        <a:solidFill>
                          <a:srgbClr val="0070C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sz="1600" dirty="0"/>
                        <a:t>William P. Milberg, PhD  Regina McGlinchey, PhD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20000"/>
                      </a:srgbClr>
                    </a:solidFill>
                  </a:tcPr>
                </a:tc>
                <a:extLst>
                  <a:ext uri="{0D108BD9-81ED-4DB2-BD59-A6C34878D82A}">
                    <a16:rowId xmlns:a16="http://schemas.microsoft.com/office/drawing/2014/main" val="3385718437"/>
                  </a:ext>
                </a:extLst>
              </a:tr>
              <a:tr h="1018035">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Cleveland OH</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Advance Platform Technology Center</a:t>
                      </a:r>
                    </a:p>
                    <a:p>
                      <a:r>
                        <a:rPr lang="en-US" sz="1600" dirty="0">
                          <a:solidFill>
                            <a:srgbClr val="0070C0"/>
                          </a:solidFill>
                          <a:hlinkClick r:id="rId3">
                            <a:extLst>
                              <a:ext uri="{A12FA001-AC4F-418D-AE19-62706E023703}">
                                <ahyp:hlinkClr xmlns:ahyp="http://schemas.microsoft.com/office/drawing/2018/hyperlinkcolor" val="tx"/>
                              </a:ext>
                            </a:extLst>
                          </a:hlinkClick>
                        </a:rPr>
                        <a:t>https://www.aptcenter.research.va.gov/</a:t>
                      </a:r>
                      <a:r>
                        <a:rPr lang="en-US" sz="1600" dirty="0">
                          <a:solidFill>
                            <a:srgbClr val="0070C0"/>
                          </a:solidFill>
                        </a:rPr>
                        <a:t> </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To Innovate, To Integrate, To Translate Technology for Connected Veteran-Centered Health</a:t>
                      </a:r>
                      <a:endParaRPr lang="en-US" sz="1600" dirty="0">
                        <a:solidFill>
                          <a:srgbClr val="0070C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sz="1600" dirty="0"/>
                        <a:t>Ronald Triolo, PhD       Gilles Pinault, MD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40000"/>
                      </a:srgbClr>
                    </a:solidFill>
                  </a:tcPr>
                </a:tc>
                <a:extLst>
                  <a:ext uri="{0D108BD9-81ED-4DB2-BD59-A6C34878D82A}">
                    <a16:rowId xmlns:a16="http://schemas.microsoft.com/office/drawing/2014/main" val="1479051463"/>
                  </a:ext>
                </a:extLst>
              </a:tr>
              <a:tr h="78534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Cleveland OH</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Functional Electrical Stimulation Center </a:t>
                      </a:r>
                      <a:r>
                        <a:rPr lang="en-US" sz="1600" dirty="0">
                          <a:solidFill>
                            <a:srgbClr val="0070C0"/>
                          </a:solidFill>
                          <a:hlinkClick r:id="rId4">
                            <a:extLst>
                              <a:ext uri="{A12FA001-AC4F-418D-AE19-62706E023703}">
                                <ahyp:hlinkClr xmlns:ahyp="http://schemas.microsoft.com/office/drawing/2018/hyperlinkcolor" val="tx"/>
                              </a:ext>
                            </a:extLst>
                          </a:hlinkClick>
                        </a:rPr>
                        <a:t>https://fescenter.org/</a:t>
                      </a:r>
                      <a:r>
                        <a:rPr lang="en-US" sz="1600" dirty="0">
                          <a:solidFill>
                            <a:srgbClr val="0070C0"/>
                          </a:solidFill>
                        </a:rPr>
                        <a:t> </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Conduct research, development, and clinical feasibility deployment activities related to FES to restore function in individuals with paralysis and other disabling neurological disorders.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sz="1600" dirty="0"/>
                        <a:t>Robert F. Kirsch, PhD   Ronald Riechers, MD  </a:t>
                      </a:r>
                      <a:r>
                        <a:rPr lang="en-US" sz="1600" dirty="0" err="1"/>
                        <a:t>Aasef</a:t>
                      </a:r>
                      <a:r>
                        <a:rPr lang="en-US" sz="1600" dirty="0"/>
                        <a:t> Shaikh, MD, PhD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20000"/>
                      </a:srgbClr>
                    </a:solidFill>
                  </a:tcPr>
                </a:tc>
                <a:extLst>
                  <a:ext uri="{0D108BD9-81ED-4DB2-BD59-A6C34878D82A}">
                    <a16:rowId xmlns:a16="http://schemas.microsoft.com/office/drawing/2014/main" val="2465423654"/>
                  </a:ext>
                </a:extLst>
              </a:tr>
              <a:tr h="125072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Gainesville FL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Brain Rehabilitation Research Center</a:t>
                      </a:r>
                    </a:p>
                    <a:p>
                      <a:r>
                        <a:rPr lang="en-US" sz="1600" dirty="0">
                          <a:solidFill>
                            <a:srgbClr val="0070C0"/>
                          </a:solidFill>
                          <a:hlinkClick r:id="rId5">
                            <a:extLst>
                              <a:ext uri="{A12FA001-AC4F-418D-AE19-62706E023703}">
                                <ahyp:hlinkClr xmlns:ahyp="http://schemas.microsoft.com/office/drawing/2018/hyperlinkcolor" val="tx"/>
                              </a:ext>
                            </a:extLst>
                          </a:hlinkClick>
                        </a:rPr>
                        <a:t>https://www.brrc.research.va.gov/</a:t>
                      </a:r>
                      <a:r>
                        <a:rPr lang="en-US" sz="1600" dirty="0">
                          <a:solidFill>
                            <a:srgbClr val="0070C0"/>
                          </a:solidFill>
                        </a:rPr>
                        <a:t> </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Maximize recovery of cognitive, emotional, and motor function in Veterans affected by central nervous system (CNS) injury or disease by leveraging and potentiating principles of neural plasticity and neural network reorganization through research on mechanisms and efficacy of neurorehabilitative interventions.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sz="1600" dirty="0"/>
                        <a:t>Bose K. Prodip, MD, PhD   William J Triggs, MD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40000"/>
                      </a:srgbClr>
                    </a:solidFill>
                  </a:tcPr>
                </a:tc>
                <a:extLst>
                  <a:ext uri="{0D108BD9-81ED-4DB2-BD59-A6C34878D82A}">
                    <a16:rowId xmlns:a16="http://schemas.microsoft.com/office/drawing/2014/main" val="4062730506"/>
                  </a:ext>
                </a:extLst>
              </a:tr>
              <a:tr h="1018035">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Iowa City IA</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1600" dirty="0"/>
                        <a:t>Center for Prevention and Treatment of Visual Loss</a:t>
                      </a:r>
                    </a:p>
                    <a:p>
                      <a:r>
                        <a:rPr lang="en-US" sz="1600" dirty="0">
                          <a:solidFill>
                            <a:srgbClr val="0070C0"/>
                          </a:solidFill>
                          <a:hlinkClick r:id="rId6">
                            <a:extLst>
                              <a:ext uri="{A12FA001-AC4F-418D-AE19-62706E023703}">
                                <ahyp:hlinkClr xmlns:ahyp="http://schemas.microsoft.com/office/drawing/2018/hyperlinkcolor" val="tx"/>
                              </a:ext>
                            </a:extLst>
                          </a:hlinkClick>
                        </a:rPr>
                        <a:t>https://www.vision.research.va.gov/about_us.asp</a:t>
                      </a:r>
                      <a:r>
                        <a:rPr lang="en-US" sz="1600" dirty="0">
                          <a:solidFill>
                            <a:srgbClr val="0070C0"/>
                          </a:solidFill>
                        </a:rPr>
                        <a:t> </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Prevention and treatment of visual loss through rehabilitation of vision loss, ocular biomarkers, automated telemedical assessments of ocular diseases.</a:t>
                      </a:r>
                      <a:endParaRPr lang="en-US" sz="1600" dirty="0">
                        <a:solidFill>
                          <a:srgbClr val="FF0000"/>
                        </a:solidFill>
                      </a:endParaRPr>
                    </a:p>
                    <a:p>
                      <a:endParaRPr lang="en-US" sz="1600" dirty="0">
                        <a:solidFill>
                          <a:srgbClr val="0070C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sz="1600" dirty="0"/>
                        <a:t>Randy Kardon, MD, PhD   Markus J Kuehn, PhD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83BE">
                        <a:tint val="20000"/>
                      </a:srgbClr>
                    </a:solidFill>
                  </a:tcPr>
                </a:tc>
                <a:extLst>
                  <a:ext uri="{0D108BD9-81ED-4DB2-BD59-A6C34878D82A}">
                    <a16:rowId xmlns:a16="http://schemas.microsoft.com/office/drawing/2014/main" val="1972488194"/>
                  </a:ext>
                </a:extLst>
              </a:tr>
            </a:tbl>
          </a:graphicData>
        </a:graphic>
      </p:graphicFrame>
    </p:spTree>
    <p:extLst>
      <p:ext uri="{BB962C8B-B14F-4D97-AF65-F5344CB8AC3E}">
        <p14:creationId xmlns:p14="http://schemas.microsoft.com/office/powerpoint/2010/main" val="3419798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5">
            <a:extLst>
              <a:ext uri="{FF2B5EF4-FFF2-40B4-BE49-F238E27FC236}">
                <a16:creationId xmlns:a16="http://schemas.microsoft.com/office/drawing/2014/main" id="{E44A5E99-F843-88D2-2692-BE731170CA9B}"/>
              </a:ext>
            </a:extLst>
          </p:cNvPr>
          <p:cNvGraphicFramePr>
            <a:graphicFrameLocks/>
          </p:cNvGraphicFramePr>
          <p:nvPr>
            <p:extLst>
              <p:ext uri="{D42A27DB-BD31-4B8C-83A1-F6EECF244321}">
                <p14:modId xmlns:p14="http://schemas.microsoft.com/office/powerpoint/2010/main" val="3139432468"/>
              </p:ext>
            </p:extLst>
          </p:nvPr>
        </p:nvGraphicFramePr>
        <p:xfrm>
          <a:off x="1" y="0"/>
          <a:ext cx="12191999" cy="7132320"/>
        </p:xfrm>
        <a:graphic>
          <a:graphicData uri="http://schemas.openxmlformats.org/drawingml/2006/table">
            <a:tbl>
              <a:tblPr firstRow="1" bandRow="1">
                <a:tableStyleId>{5C22544A-7EE6-4342-B048-85BDC9FD1C3A}</a:tableStyleId>
              </a:tblPr>
              <a:tblGrid>
                <a:gridCol w="1367405">
                  <a:extLst>
                    <a:ext uri="{9D8B030D-6E8A-4147-A177-3AD203B41FA5}">
                      <a16:colId xmlns:a16="http://schemas.microsoft.com/office/drawing/2014/main" val="610318075"/>
                    </a:ext>
                  </a:extLst>
                </a:gridCol>
                <a:gridCol w="2274859">
                  <a:extLst>
                    <a:ext uri="{9D8B030D-6E8A-4147-A177-3AD203B41FA5}">
                      <a16:colId xmlns:a16="http://schemas.microsoft.com/office/drawing/2014/main" val="3937860858"/>
                    </a:ext>
                  </a:extLst>
                </a:gridCol>
                <a:gridCol w="6249358">
                  <a:extLst>
                    <a:ext uri="{9D8B030D-6E8A-4147-A177-3AD203B41FA5}">
                      <a16:colId xmlns:a16="http://schemas.microsoft.com/office/drawing/2014/main" val="2140280430"/>
                    </a:ext>
                  </a:extLst>
                </a:gridCol>
                <a:gridCol w="2300377">
                  <a:extLst>
                    <a:ext uri="{9D8B030D-6E8A-4147-A177-3AD203B41FA5}">
                      <a16:colId xmlns:a16="http://schemas.microsoft.com/office/drawing/2014/main" val="3388390071"/>
                    </a:ext>
                  </a:extLst>
                </a:gridCol>
              </a:tblGrid>
              <a:tr h="325767">
                <a:tc>
                  <a:txBody>
                    <a:bodyPr/>
                    <a:lstStyle/>
                    <a:p>
                      <a:pPr algn="ctr"/>
                      <a:r>
                        <a:rPr lang="en-US" sz="1600" dirty="0"/>
                        <a:t>Location</a:t>
                      </a:r>
                    </a:p>
                  </a:txBody>
                  <a:tcPr/>
                </a:tc>
                <a:tc>
                  <a:txBody>
                    <a:bodyPr/>
                    <a:lstStyle/>
                    <a:p>
                      <a:pPr algn="ctr"/>
                      <a:r>
                        <a:rPr lang="en-US" sz="1600" dirty="0"/>
                        <a:t>CENTER Name/website</a:t>
                      </a:r>
                    </a:p>
                  </a:txBody>
                  <a:tcPr/>
                </a:tc>
                <a:tc>
                  <a:txBody>
                    <a:bodyPr/>
                    <a:lstStyle/>
                    <a:p>
                      <a:pPr algn="ctr"/>
                      <a:r>
                        <a:rPr lang="en-US" sz="1600" dirty="0"/>
                        <a:t>Mission</a:t>
                      </a:r>
                    </a:p>
                  </a:txBody>
                  <a:tcPr/>
                </a:tc>
                <a:tc>
                  <a:txBody>
                    <a:bodyPr/>
                    <a:lstStyle/>
                    <a:p>
                      <a:pPr algn="ctr"/>
                      <a:r>
                        <a:rPr lang="en-US" sz="1600" dirty="0"/>
                        <a:t>Director/co-Director(s)</a:t>
                      </a:r>
                    </a:p>
                  </a:txBody>
                  <a:tcPr/>
                </a:tc>
                <a:extLst>
                  <a:ext uri="{0D108BD9-81ED-4DB2-BD59-A6C34878D82A}">
                    <a16:rowId xmlns:a16="http://schemas.microsoft.com/office/drawing/2014/main" val="504386164"/>
                  </a:ext>
                </a:extLst>
              </a:tr>
              <a:tr h="1036530">
                <a:tc>
                  <a:txBody>
                    <a:bodyPr/>
                    <a:lstStyle/>
                    <a:p>
                      <a:r>
                        <a:rPr lang="en-US" sz="1600" dirty="0"/>
                        <a:t>Los Angeles CA</a:t>
                      </a:r>
                    </a:p>
                  </a:txBody>
                  <a:tcPr/>
                </a:tc>
                <a:tc>
                  <a:txBody>
                    <a:bodyPr/>
                    <a:lstStyle/>
                    <a:p>
                      <a:r>
                        <a:rPr lang="en-US" sz="1600" b="0" i="0" kern="1200" dirty="0">
                          <a:solidFill>
                            <a:schemeClr val="dk1"/>
                          </a:solidFill>
                          <a:effectLst/>
                          <a:latin typeface="+mn-lt"/>
                          <a:ea typeface="+mn-ea"/>
                          <a:cs typeface="+mn-cs"/>
                        </a:rPr>
                        <a:t>Center on Enhancement of Community Integration for Homeless Veterans </a:t>
                      </a:r>
                      <a:r>
                        <a:rPr lang="en-US" sz="1600" dirty="0">
                          <a:solidFill>
                            <a:srgbClr val="0070C0"/>
                          </a:solidFill>
                          <a:hlinkClick r:id="rId3">
                            <a:extLst>
                              <a:ext uri="{A12FA001-AC4F-418D-AE19-62706E023703}">
                                <ahyp:hlinkClr xmlns:ahyp="http://schemas.microsoft.com/office/drawing/2018/hyperlinkcolor" val="tx"/>
                              </a:ext>
                            </a:extLst>
                          </a:hlinkClick>
                        </a:rPr>
                        <a:t>https://www.vathrive.org/</a:t>
                      </a:r>
                      <a:r>
                        <a:rPr lang="en-US" sz="1600" dirty="0">
                          <a:solidFill>
                            <a:srgbClr val="0070C0"/>
                          </a:solidFill>
                        </a:rPr>
                        <a:t> </a:t>
                      </a:r>
                    </a:p>
                  </a:txBody>
                  <a:tcPr/>
                </a:tc>
                <a:tc>
                  <a:txBody>
                    <a:bodyPr/>
                    <a:lstStyle/>
                    <a:p>
                      <a:r>
                        <a:rPr lang="en-US" sz="1600" dirty="0"/>
                        <a:t>Understand and to improve community integration in homeless-experienced Veterans (HEVs)</a:t>
                      </a:r>
                      <a:endParaRPr lang="en-US" sz="1600" dirty="0">
                        <a:solidFill>
                          <a:srgbClr val="0070C0"/>
                        </a:solidFill>
                      </a:endParaRPr>
                    </a:p>
                  </a:txBody>
                  <a:tcPr/>
                </a:tc>
                <a:tc>
                  <a:txBody>
                    <a:bodyPr/>
                    <a:lstStyle/>
                    <a:p>
                      <a:pPr algn="l"/>
                      <a:r>
                        <a:rPr lang="en-US" sz="1600" dirty="0"/>
                        <a:t>Michael F Green, PhD  Stephen R. Marder, MD    Sonya E. Gabrielian, MD</a:t>
                      </a:r>
                    </a:p>
                  </a:txBody>
                  <a:tcPr/>
                </a:tc>
                <a:extLst>
                  <a:ext uri="{0D108BD9-81ED-4DB2-BD59-A6C34878D82A}">
                    <a16:rowId xmlns:a16="http://schemas.microsoft.com/office/drawing/2014/main" val="1906402557"/>
                  </a:ext>
                </a:extLst>
              </a:tr>
              <a:tr h="1036530">
                <a:tc>
                  <a:txBody>
                    <a:bodyPr/>
                    <a:lstStyle/>
                    <a:p>
                      <a:r>
                        <a:rPr lang="en-US" sz="1600" dirty="0"/>
                        <a:t>Pittsburgh PA</a:t>
                      </a:r>
                    </a:p>
                  </a:txBody>
                  <a:tcPr/>
                </a:tc>
                <a:tc>
                  <a:txBody>
                    <a:bodyPr/>
                    <a:lstStyle/>
                    <a:p>
                      <a:r>
                        <a:rPr lang="en-US" sz="1600" b="0" i="0" u="none" strike="noStrike" kern="1200" baseline="0" dirty="0">
                          <a:solidFill>
                            <a:schemeClr val="dk1"/>
                          </a:solidFill>
                          <a:latin typeface="+mn-lt"/>
                          <a:ea typeface="+mn-ea"/>
                          <a:cs typeface="+mn-cs"/>
                        </a:rPr>
                        <a:t>Center for Wheelchairs and Associated Rehabilitation Engineering   </a:t>
                      </a:r>
                      <a:r>
                        <a:rPr lang="en-US" sz="1600" dirty="0">
                          <a:solidFill>
                            <a:srgbClr val="0070C0"/>
                          </a:solidFill>
                          <a:hlinkClick r:id="rId4">
                            <a:extLst>
                              <a:ext uri="{A12FA001-AC4F-418D-AE19-62706E023703}">
                                <ahyp:hlinkClr xmlns:ahyp="http://schemas.microsoft.com/office/drawing/2018/hyperlinkcolor" val="tx"/>
                              </a:ext>
                            </a:extLst>
                          </a:hlinkClick>
                        </a:rPr>
                        <a:t>https://www.herl.pitt.edu/</a:t>
                      </a:r>
                      <a:r>
                        <a:rPr lang="en-US" sz="1600" dirty="0">
                          <a:solidFill>
                            <a:srgbClr val="0070C0"/>
                          </a:solidFill>
                        </a:rPr>
                        <a:t> </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Improve the mobility and function of people with disabilities through advanced engineering in clinical research and medical rehabilitation.</a:t>
                      </a:r>
                    </a:p>
                    <a:p>
                      <a:endParaRPr lang="en-US" sz="1600" dirty="0">
                        <a:solidFill>
                          <a:srgbClr val="0070C0"/>
                        </a:solidFill>
                      </a:endParaRPr>
                    </a:p>
                  </a:txBody>
                  <a:tcPr/>
                </a:tc>
                <a:tc>
                  <a:txBody>
                    <a:bodyPr/>
                    <a:lstStyle/>
                    <a:p>
                      <a:pPr algn="l"/>
                      <a:r>
                        <a:rPr lang="en-US" sz="1600" dirty="0"/>
                        <a:t>Rory A. Cooper, PhD     Brad E. Dicianno, MD</a:t>
                      </a:r>
                    </a:p>
                  </a:txBody>
                  <a:tcPr/>
                </a:tc>
                <a:extLst>
                  <a:ext uri="{0D108BD9-81ED-4DB2-BD59-A6C34878D82A}">
                    <a16:rowId xmlns:a16="http://schemas.microsoft.com/office/drawing/2014/main" val="3384528771"/>
                  </a:ext>
                </a:extLst>
              </a:tr>
              <a:tr h="1273452">
                <a:tc>
                  <a:txBody>
                    <a:bodyPr/>
                    <a:lstStyle/>
                    <a:p>
                      <a:r>
                        <a:rPr lang="en-US" sz="1600" dirty="0"/>
                        <a:t>Portland OR</a:t>
                      </a:r>
                    </a:p>
                  </a:txBody>
                  <a:tcPr/>
                </a:tc>
                <a:tc>
                  <a:txBody>
                    <a:bodyPr/>
                    <a:lstStyle/>
                    <a:p>
                      <a:r>
                        <a:rPr lang="en-US" sz="1600" dirty="0"/>
                        <a:t>National Center for Rehabilitation Auditory Research  </a:t>
                      </a:r>
                      <a:r>
                        <a:rPr lang="en-US" sz="1600" dirty="0">
                          <a:solidFill>
                            <a:srgbClr val="0070C0"/>
                          </a:solidFill>
                          <a:hlinkClick r:id="rId5">
                            <a:extLst>
                              <a:ext uri="{A12FA001-AC4F-418D-AE19-62706E023703}">
                                <ahyp:hlinkClr xmlns:ahyp="http://schemas.microsoft.com/office/drawing/2018/hyperlinkcolor" val="tx"/>
                              </a:ext>
                            </a:extLst>
                          </a:hlinkClick>
                        </a:rPr>
                        <a:t>https://www.ncrar.research.va.gov/</a:t>
                      </a:r>
                      <a:r>
                        <a:rPr lang="en-US" sz="1600" dirty="0">
                          <a:solidFill>
                            <a:srgbClr val="0070C0"/>
                          </a:solidFill>
                        </a:rPr>
                        <a:t> </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Improve the quality of life of Veterans and others with hearing, tinnitus, and balance problems through clinical research, technology development, and education that leads to better patient care.</a:t>
                      </a:r>
                      <a:endParaRPr lang="en-US" sz="1600" dirty="0">
                        <a:solidFill>
                          <a:srgbClr val="FF0000"/>
                        </a:solidFill>
                      </a:endParaRPr>
                    </a:p>
                    <a:p>
                      <a:endParaRPr lang="en-US" sz="1600" dirty="0">
                        <a:solidFill>
                          <a:srgbClr val="0070C0"/>
                        </a:solidFill>
                      </a:endParaRPr>
                    </a:p>
                  </a:txBody>
                  <a:tcPr/>
                </a:tc>
                <a:tc>
                  <a:txBody>
                    <a:bodyPr/>
                    <a:lstStyle/>
                    <a:p>
                      <a:pPr algn="l"/>
                      <a:r>
                        <a:rPr lang="en-US" sz="1600" dirty="0"/>
                        <a:t>M. Patrick Feeney, PhD  Dawn Konrad-Martin, PhD</a:t>
                      </a:r>
                    </a:p>
                  </a:txBody>
                  <a:tcPr/>
                </a:tc>
                <a:extLst>
                  <a:ext uri="{0D108BD9-81ED-4DB2-BD59-A6C34878D82A}">
                    <a16:rowId xmlns:a16="http://schemas.microsoft.com/office/drawing/2014/main" val="977948936"/>
                  </a:ext>
                </a:extLst>
              </a:tr>
              <a:tr h="1036530">
                <a:tc>
                  <a:txBody>
                    <a:bodyPr/>
                    <a:lstStyle/>
                    <a:p>
                      <a:r>
                        <a:rPr lang="en-US" sz="1600" dirty="0"/>
                        <a:t>Providence RI</a:t>
                      </a:r>
                    </a:p>
                  </a:txBody>
                  <a:tcPr/>
                </a:tc>
                <a:tc>
                  <a:txBody>
                    <a:bodyPr/>
                    <a:lstStyle/>
                    <a:p>
                      <a:r>
                        <a:rPr lang="en-US" sz="1600" dirty="0"/>
                        <a:t>Center for Neurorestoration and Neurotechnology </a:t>
                      </a:r>
                      <a:r>
                        <a:rPr lang="en-US" sz="1600" dirty="0">
                          <a:solidFill>
                            <a:srgbClr val="0070C0"/>
                          </a:solidFill>
                          <a:hlinkClick r:id="rId6">
                            <a:extLst>
                              <a:ext uri="{A12FA001-AC4F-418D-AE19-62706E023703}">
                                <ahyp:hlinkClr xmlns:ahyp="http://schemas.microsoft.com/office/drawing/2018/hyperlinkcolor" val="tx"/>
                              </a:ext>
                            </a:extLst>
                          </a:hlinkClick>
                        </a:rPr>
                        <a:t>https://centerforneuro.org/</a:t>
                      </a:r>
                      <a:r>
                        <a:rPr lang="en-US" sz="1600" dirty="0">
                          <a:solidFill>
                            <a:srgbClr val="0070C0"/>
                          </a:solidFill>
                        </a:rPr>
                        <a:t> </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Develop, test, and implement new therapies and technologies that can restore function in disorders of the nervous system that impair movement, emotion, or cognition in the Veteran population.</a:t>
                      </a:r>
                    </a:p>
                    <a:p>
                      <a:endParaRPr lang="en-US" sz="1600" dirty="0">
                        <a:solidFill>
                          <a:srgbClr val="0070C0"/>
                        </a:solidFill>
                      </a:endParaRPr>
                    </a:p>
                  </a:txBody>
                  <a:tcPr/>
                </a:tc>
                <a:tc>
                  <a:txBody>
                    <a:bodyPr/>
                    <a:lstStyle/>
                    <a:p>
                      <a:pPr algn="l"/>
                      <a:r>
                        <a:rPr lang="en-US" sz="1600" dirty="0"/>
                        <a:t>Ben Greenberg, MD</a:t>
                      </a:r>
                    </a:p>
                    <a:p>
                      <a:pPr algn="l"/>
                      <a:r>
                        <a:rPr lang="en-US" sz="1600" dirty="0"/>
                        <a:t>Leigh Hochberg, MD </a:t>
                      </a:r>
                    </a:p>
                  </a:txBody>
                  <a:tcPr/>
                </a:tc>
                <a:extLst>
                  <a:ext uri="{0D108BD9-81ED-4DB2-BD59-A6C34878D82A}">
                    <a16:rowId xmlns:a16="http://schemas.microsoft.com/office/drawing/2014/main" val="671224581"/>
                  </a:ext>
                </a:extLst>
              </a:tr>
              <a:tr h="1036530">
                <a:tc>
                  <a:txBody>
                    <a:bodyPr/>
                    <a:lstStyle/>
                    <a:p>
                      <a:r>
                        <a:rPr lang="en-US" sz="1600" dirty="0"/>
                        <a:t>Seattle WA</a:t>
                      </a:r>
                    </a:p>
                  </a:txBody>
                  <a:tcPr/>
                </a:tc>
                <a:tc>
                  <a:txBody>
                    <a:bodyPr/>
                    <a:lstStyle/>
                    <a:p>
                      <a:r>
                        <a:rPr lang="en-US" sz="1600" dirty="0"/>
                        <a:t>Center for Limb Loss and </a:t>
                      </a:r>
                      <a:r>
                        <a:rPr lang="en-US" sz="1600" dirty="0" err="1"/>
                        <a:t>MoBility</a:t>
                      </a:r>
                      <a:r>
                        <a:rPr lang="en-US" sz="1600" dirty="0"/>
                        <a:t>  </a:t>
                      </a:r>
                      <a:r>
                        <a:rPr lang="en-US" sz="1600" dirty="0">
                          <a:solidFill>
                            <a:srgbClr val="0070C0"/>
                          </a:solidFill>
                          <a:hlinkClick r:id="rId7">
                            <a:extLst>
                              <a:ext uri="{A12FA001-AC4F-418D-AE19-62706E023703}">
                                <ahyp:hlinkClr xmlns:ahyp="http://schemas.microsoft.com/office/drawing/2018/hyperlinkcolor" val="tx"/>
                              </a:ext>
                            </a:extLst>
                          </a:hlinkClick>
                        </a:rPr>
                        <a:t>https://www.amputation.research.va.gov/</a:t>
                      </a:r>
                      <a:r>
                        <a:rPr lang="en-US" sz="1600" dirty="0">
                          <a:solidFill>
                            <a:srgbClr val="0070C0"/>
                          </a:solidFill>
                        </a:rPr>
                        <a:t> </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Preserve, restore, and enhance functional mobility, independence, and participation in Veterans with lower limb loss or other musculoskeletal impairments.</a:t>
                      </a:r>
                    </a:p>
                    <a:p>
                      <a:endParaRPr lang="en-US" sz="1600" dirty="0">
                        <a:solidFill>
                          <a:srgbClr val="0070C0"/>
                        </a:solidFill>
                      </a:endParaRPr>
                    </a:p>
                  </a:txBody>
                  <a:tcPr/>
                </a:tc>
                <a:tc>
                  <a:txBody>
                    <a:bodyPr/>
                    <a:lstStyle/>
                    <a:p>
                      <a:pPr algn="l"/>
                      <a:r>
                        <a:rPr lang="en-US" sz="1600" dirty="0"/>
                        <a:t>Glenn Klute, PhD      William Ledoux, PhD  Bruce Sangeorzan, MD</a:t>
                      </a:r>
                    </a:p>
                  </a:txBody>
                  <a:tcPr/>
                </a:tc>
                <a:extLst>
                  <a:ext uri="{0D108BD9-81ED-4DB2-BD59-A6C34878D82A}">
                    <a16:rowId xmlns:a16="http://schemas.microsoft.com/office/drawing/2014/main" val="354044376"/>
                  </a:ext>
                </a:extLst>
              </a:tr>
            </a:tbl>
          </a:graphicData>
        </a:graphic>
      </p:graphicFrame>
    </p:spTree>
    <p:extLst>
      <p:ext uri="{BB962C8B-B14F-4D97-AF65-F5344CB8AC3E}">
        <p14:creationId xmlns:p14="http://schemas.microsoft.com/office/powerpoint/2010/main" val="757252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5">
            <a:extLst>
              <a:ext uri="{FF2B5EF4-FFF2-40B4-BE49-F238E27FC236}">
                <a16:creationId xmlns:a16="http://schemas.microsoft.com/office/drawing/2014/main" id="{E44A5E99-F843-88D2-2692-BE731170CA9B}"/>
              </a:ext>
            </a:extLst>
          </p:cNvPr>
          <p:cNvGraphicFramePr>
            <a:graphicFrameLocks/>
          </p:cNvGraphicFramePr>
          <p:nvPr>
            <p:extLst>
              <p:ext uri="{D42A27DB-BD31-4B8C-83A1-F6EECF244321}">
                <p14:modId xmlns:p14="http://schemas.microsoft.com/office/powerpoint/2010/main" val="389661641"/>
              </p:ext>
            </p:extLst>
          </p:nvPr>
        </p:nvGraphicFramePr>
        <p:xfrm>
          <a:off x="0" y="0"/>
          <a:ext cx="12191999" cy="4023360"/>
        </p:xfrm>
        <a:graphic>
          <a:graphicData uri="http://schemas.openxmlformats.org/drawingml/2006/table">
            <a:tbl>
              <a:tblPr firstRow="1" bandRow="1">
                <a:tableStyleId>{5C22544A-7EE6-4342-B048-85BDC9FD1C3A}</a:tableStyleId>
              </a:tblPr>
              <a:tblGrid>
                <a:gridCol w="1342239">
                  <a:extLst>
                    <a:ext uri="{9D8B030D-6E8A-4147-A177-3AD203B41FA5}">
                      <a16:colId xmlns:a16="http://schemas.microsoft.com/office/drawing/2014/main" val="610318075"/>
                    </a:ext>
                  </a:extLst>
                </a:gridCol>
                <a:gridCol w="2300025">
                  <a:extLst>
                    <a:ext uri="{9D8B030D-6E8A-4147-A177-3AD203B41FA5}">
                      <a16:colId xmlns:a16="http://schemas.microsoft.com/office/drawing/2014/main" val="3937860858"/>
                    </a:ext>
                  </a:extLst>
                </a:gridCol>
                <a:gridCol w="6249358">
                  <a:extLst>
                    <a:ext uri="{9D8B030D-6E8A-4147-A177-3AD203B41FA5}">
                      <a16:colId xmlns:a16="http://schemas.microsoft.com/office/drawing/2014/main" val="2140280430"/>
                    </a:ext>
                  </a:extLst>
                </a:gridCol>
                <a:gridCol w="2300377">
                  <a:extLst>
                    <a:ext uri="{9D8B030D-6E8A-4147-A177-3AD203B41FA5}">
                      <a16:colId xmlns:a16="http://schemas.microsoft.com/office/drawing/2014/main" val="3388390071"/>
                    </a:ext>
                  </a:extLst>
                </a:gridCol>
              </a:tblGrid>
              <a:tr h="312557">
                <a:tc>
                  <a:txBody>
                    <a:bodyPr/>
                    <a:lstStyle/>
                    <a:p>
                      <a:pPr algn="ctr"/>
                      <a:r>
                        <a:rPr lang="en-US" sz="1600" dirty="0"/>
                        <a:t>Location</a:t>
                      </a:r>
                    </a:p>
                  </a:txBody>
                  <a:tcPr/>
                </a:tc>
                <a:tc>
                  <a:txBody>
                    <a:bodyPr/>
                    <a:lstStyle/>
                    <a:p>
                      <a:pPr algn="ctr"/>
                      <a:r>
                        <a:rPr lang="en-US" sz="1600" dirty="0"/>
                        <a:t>CENTER Name/website</a:t>
                      </a:r>
                    </a:p>
                  </a:txBody>
                  <a:tcPr/>
                </a:tc>
                <a:tc>
                  <a:txBody>
                    <a:bodyPr/>
                    <a:lstStyle/>
                    <a:p>
                      <a:pPr algn="ctr"/>
                      <a:r>
                        <a:rPr lang="en-US" sz="1600" dirty="0"/>
                        <a:t>Mission</a:t>
                      </a:r>
                    </a:p>
                  </a:txBody>
                  <a:tcPr/>
                </a:tc>
                <a:tc>
                  <a:txBody>
                    <a:bodyPr/>
                    <a:lstStyle/>
                    <a:p>
                      <a:pPr algn="ctr"/>
                      <a:r>
                        <a:rPr lang="en-US" sz="1600" dirty="0"/>
                        <a:t>Director/co-Director(s)</a:t>
                      </a:r>
                    </a:p>
                  </a:txBody>
                  <a:tcPr/>
                </a:tc>
                <a:extLst>
                  <a:ext uri="{0D108BD9-81ED-4DB2-BD59-A6C34878D82A}">
                    <a16:rowId xmlns:a16="http://schemas.microsoft.com/office/drawing/2014/main" val="504386164"/>
                  </a:ext>
                </a:extLst>
              </a:tr>
              <a:tr h="994498">
                <a:tc>
                  <a:txBody>
                    <a:bodyPr/>
                    <a:lstStyle/>
                    <a:p>
                      <a:r>
                        <a:rPr lang="en-US" sz="1600" dirty="0"/>
                        <a:t>West Haven CT</a:t>
                      </a:r>
                    </a:p>
                  </a:txBody>
                  <a:tcPr/>
                </a:tc>
                <a:tc>
                  <a:txBody>
                    <a:bodyPr/>
                    <a:lstStyle/>
                    <a:p>
                      <a:r>
                        <a:rPr lang="en-US" sz="1600" dirty="0"/>
                        <a:t>Restoration of Nervous System Function</a:t>
                      </a:r>
                    </a:p>
                    <a:p>
                      <a:r>
                        <a:rPr lang="en-US" sz="1600" dirty="0">
                          <a:solidFill>
                            <a:srgbClr val="0070C0"/>
                          </a:solidFill>
                          <a:hlinkClick r:id="rId3">
                            <a:extLst>
                              <a:ext uri="{A12FA001-AC4F-418D-AE19-62706E023703}">
                                <ahyp:hlinkClr xmlns:ahyp="http://schemas.microsoft.com/office/drawing/2018/hyperlinkcolor" val="tx"/>
                              </a:ext>
                            </a:extLst>
                          </a:hlinkClick>
                        </a:rPr>
                        <a:t>https://www.research.va.gov/about/funded-proj-details.cfm?pid=643195</a:t>
                      </a:r>
                      <a:r>
                        <a:rPr lang="en-US" sz="1600" dirty="0">
                          <a:solidFill>
                            <a:srgbClr val="0070C0"/>
                          </a:solidFill>
                        </a:rPr>
                        <a:t> </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ea typeface="Times New Roman" panose="02020603050405020304" pitchFamily="18" charset="0"/>
                          <a:cs typeface="Arial" panose="020B0604020202020204" pitchFamily="34" charset="0"/>
                        </a:rPr>
                        <a:t>Develop treatments for chronic pain and spasticity that are more effective and non-addictive.</a:t>
                      </a:r>
                    </a:p>
                  </a:txBody>
                  <a:tcPr/>
                </a:tc>
                <a:tc>
                  <a:txBody>
                    <a:bodyPr/>
                    <a:lstStyle/>
                    <a:p>
                      <a:pPr algn="l"/>
                      <a:r>
                        <a:rPr lang="en-US" sz="1600" dirty="0"/>
                        <a:t>Stephen G. Waxman, MD, PhD                         Sulayman Dib-Hajj, PhD</a:t>
                      </a:r>
                    </a:p>
                  </a:txBody>
                  <a:tcPr/>
                </a:tc>
                <a:extLst>
                  <a:ext uri="{0D108BD9-81ED-4DB2-BD59-A6C34878D82A}">
                    <a16:rowId xmlns:a16="http://schemas.microsoft.com/office/drawing/2014/main" val="1906402557"/>
                  </a:ext>
                </a:extLst>
              </a:tr>
              <a:tr h="994498">
                <a:tc>
                  <a:txBody>
                    <a:bodyPr/>
                    <a:lstStyle/>
                    <a:p>
                      <a:r>
                        <a:rPr lang="en-US" sz="1600" dirty="0"/>
                        <a:t>Philadelphia PA </a:t>
                      </a:r>
                    </a:p>
                  </a:txBody>
                  <a:tcPr/>
                </a:tc>
                <a:tc>
                  <a:txBody>
                    <a:bodyPr/>
                    <a:lstStyle/>
                    <a:p>
                      <a:r>
                        <a:rPr lang="en-US" sz="1600" dirty="0">
                          <a:solidFill>
                            <a:schemeClr val="tx1"/>
                          </a:solidFill>
                        </a:rPr>
                        <a:t>Cartilage Regeneration using Advanced Technologies to Enable Motion Center</a:t>
                      </a:r>
                    </a:p>
                  </a:txBody>
                  <a:tcPr/>
                </a:tc>
                <a:tc>
                  <a:txBody>
                    <a:bodyPr/>
                    <a:lstStyle/>
                    <a:p>
                      <a:r>
                        <a:rPr lang="en-US" sz="1600" dirty="0">
                          <a:solidFill>
                            <a:schemeClr val="tx1"/>
                          </a:solidFill>
                        </a:rPr>
                        <a:t>Develop a translational pipeline for advanced cartilage and joint regenerative therapies aimed at treating arthritis, joint injuries, and related joint disorders, by cultivating core infrastructure and building an intellectual critical mass in this area.</a:t>
                      </a:r>
                    </a:p>
                  </a:txBody>
                  <a:tcPr/>
                </a:tc>
                <a:tc>
                  <a:txBody>
                    <a:bodyPr/>
                    <a:lstStyle/>
                    <a:p>
                      <a:pPr algn="l"/>
                      <a:r>
                        <a:rPr lang="en-US" sz="1600" dirty="0"/>
                        <a:t>Robert Mauck, PhD</a:t>
                      </a:r>
                    </a:p>
                  </a:txBody>
                  <a:tcPr/>
                </a:tc>
                <a:extLst>
                  <a:ext uri="{0D108BD9-81ED-4DB2-BD59-A6C34878D82A}">
                    <a16:rowId xmlns:a16="http://schemas.microsoft.com/office/drawing/2014/main" val="3384528771"/>
                  </a:ext>
                </a:extLst>
              </a:tr>
              <a:tr h="1221812">
                <a:tc>
                  <a:txBody>
                    <a:bodyPr/>
                    <a:lstStyle/>
                    <a:p>
                      <a:r>
                        <a:rPr lang="en-US" sz="1600" dirty="0"/>
                        <a:t>Minneapolis MN </a:t>
                      </a:r>
                    </a:p>
                  </a:txBody>
                  <a:tcPr/>
                </a:tc>
                <a:tc>
                  <a:txBody>
                    <a:bodyPr/>
                    <a:lstStyle/>
                    <a:p>
                      <a:r>
                        <a:rPr lang="en-US" sz="1600" dirty="0">
                          <a:solidFill>
                            <a:schemeClr val="tx1"/>
                          </a:solidFill>
                        </a:rPr>
                        <a:t>Rehabilitation &amp; Engineering Center for Optimizing Veteran Engagement &amp; Reintegration </a:t>
                      </a:r>
                    </a:p>
                  </a:txBody>
                  <a:tcPr/>
                </a:tc>
                <a:tc>
                  <a:txBody>
                    <a:bodyPr/>
                    <a:lstStyle/>
                    <a:p>
                      <a:r>
                        <a:rPr lang="en-US" sz="1600" dirty="0">
                          <a:solidFill>
                            <a:schemeClr val="tx1"/>
                          </a:solidFill>
                        </a:rPr>
                        <a:t>Maximize Veteran participation in important lifelong roles and activities through development, evaluation, and clinical translation of practical rehabilitation interventions and technologies.</a:t>
                      </a:r>
                    </a:p>
                  </a:txBody>
                  <a:tcPr/>
                </a:tc>
                <a:tc>
                  <a:txBody>
                    <a:bodyPr/>
                    <a:lstStyle/>
                    <a:p>
                      <a:pPr algn="l"/>
                      <a:r>
                        <a:rPr lang="en-US" sz="1600" dirty="0"/>
                        <a:t>Andrew H. Hansen, PhD</a:t>
                      </a:r>
                    </a:p>
                    <a:p>
                      <a:pPr algn="l"/>
                      <a:endParaRPr lang="en-US" sz="1600" dirty="0"/>
                    </a:p>
                  </a:txBody>
                  <a:tcPr/>
                </a:tc>
                <a:extLst>
                  <a:ext uri="{0D108BD9-81ED-4DB2-BD59-A6C34878D82A}">
                    <a16:rowId xmlns:a16="http://schemas.microsoft.com/office/drawing/2014/main" val="977948936"/>
                  </a:ext>
                </a:extLst>
              </a:tr>
            </a:tbl>
          </a:graphicData>
        </a:graphic>
      </p:graphicFrame>
    </p:spTree>
    <p:extLst>
      <p:ext uri="{BB962C8B-B14F-4D97-AF65-F5344CB8AC3E}">
        <p14:creationId xmlns:p14="http://schemas.microsoft.com/office/powerpoint/2010/main" val="1933166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43613-0603-F7BE-589F-4EF9609A9D6A}"/>
              </a:ext>
            </a:extLst>
          </p:cNvPr>
          <p:cNvSpPr>
            <a:spLocks noGrp="1"/>
          </p:cNvSpPr>
          <p:nvPr>
            <p:ph type="title"/>
          </p:nvPr>
        </p:nvSpPr>
        <p:spPr>
          <a:xfrm>
            <a:off x="0" y="1698172"/>
            <a:ext cx="12192000" cy="2704012"/>
          </a:xfrm>
        </p:spPr>
        <p:txBody>
          <a:bodyPr/>
          <a:lstStyle/>
          <a:p>
            <a:r>
              <a:rPr lang="en-US" dirty="0">
                <a:solidFill>
                  <a:srgbClr val="002060"/>
                </a:solidFill>
              </a:rPr>
              <a:t>ORD Rehabilitation Research Highlights </a:t>
            </a:r>
            <a:br>
              <a:rPr lang="en-US" dirty="0">
                <a:solidFill>
                  <a:srgbClr val="002060"/>
                </a:solidFill>
              </a:rPr>
            </a:br>
            <a:endParaRPr lang="en-US" dirty="0">
              <a:solidFill>
                <a:srgbClr val="002060"/>
              </a:solidFill>
            </a:endParaRPr>
          </a:p>
        </p:txBody>
      </p:sp>
      <p:sp>
        <p:nvSpPr>
          <p:cNvPr id="4" name="Slide Number Placeholder 3">
            <a:extLst>
              <a:ext uri="{FF2B5EF4-FFF2-40B4-BE49-F238E27FC236}">
                <a16:creationId xmlns:a16="http://schemas.microsoft.com/office/drawing/2014/main" id="{4DAC7D2C-5D50-8A19-1C5B-625CCCFF8B6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1699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5EB1EC3-5E31-684C-DD2C-351F6BCFB41E}"/>
              </a:ext>
            </a:extLst>
          </p:cNvPr>
          <p:cNvSpPr>
            <a:spLocks noGrp="1"/>
          </p:cNvSpPr>
          <p:nvPr>
            <p:ph type="title"/>
          </p:nvPr>
        </p:nvSpPr>
        <p:spPr>
          <a:xfrm>
            <a:off x="132802" y="378823"/>
            <a:ext cx="11088192" cy="492979"/>
          </a:xfrm>
        </p:spPr>
        <p:txBody>
          <a:bodyPr/>
          <a:lstStyle/>
          <a:p>
            <a:r>
              <a:rPr lang="en-US" dirty="0"/>
              <a:t>Enabling Sensation to Touch via Prosthetic Limbs </a:t>
            </a:r>
            <a:br>
              <a:rPr lang="en-US" dirty="0"/>
            </a:br>
            <a:endParaRPr lang="en-US" dirty="0"/>
          </a:p>
        </p:txBody>
      </p:sp>
      <p:pic>
        <p:nvPicPr>
          <p:cNvPr id="5" name="Content Placeholder 4">
            <a:extLst>
              <a:ext uri="{FF2B5EF4-FFF2-40B4-BE49-F238E27FC236}">
                <a16:creationId xmlns:a16="http://schemas.microsoft.com/office/drawing/2014/main" id="{7878C92D-735B-35A1-45AE-DFF15448E28A}"/>
              </a:ext>
            </a:extLst>
          </p:cNvPr>
          <p:cNvPicPr>
            <a:picLocks noGrp="1" noChangeAspect="1"/>
          </p:cNvPicPr>
          <p:nvPr>
            <p:ph idx="1"/>
          </p:nvPr>
        </p:nvPicPr>
        <p:blipFill>
          <a:blip r:embed="rId3"/>
          <a:stretch>
            <a:fillRect/>
          </a:stretch>
        </p:blipFill>
        <p:spPr>
          <a:xfrm>
            <a:off x="273221" y="1592557"/>
            <a:ext cx="5213179" cy="3470844"/>
          </a:xfrm>
          <a:prstGeom prst="rect">
            <a:avLst/>
          </a:prstGeom>
        </p:spPr>
      </p:pic>
      <p:sp>
        <p:nvSpPr>
          <p:cNvPr id="8" name="Content Placeholder 7">
            <a:extLst>
              <a:ext uri="{FF2B5EF4-FFF2-40B4-BE49-F238E27FC236}">
                <a16:creationId xmlns:a16="http://schemas.microsoft.com/office/drawing/2014/main" id="{0D1DA806-535E-D5A2-E805-2FAE852FEE34}"/>
              </a:ext>
            </a:extLst>
          </p:cNvPr>
          <p:cNvSpPr>
            <a:spLocks noGrp="1"/>
          </p:cNvSpPr>
          <p:nvPr>
            <p:ph idx="13"/>
          </p:nvPr>
        </p:nvSpPr>
        <p:spPr>
          <a:xfrm>
            <a:off x="5486400" y="1463039"/>
            <a:ext cx="6572798" cy="2978331"/>
          </a:xfrm>
        </p:spPr>
        <p:txBody>
          <a:bodyPr/>
          <a:lstStyle/>
          <a:p>
            <a:pPr marL="457200" indent="-457200">
              <a:buFont typeface="Arial" panose="020B0604020202020204" pitchFamily="34" charset="0"/>
              <a:buChar char="•"/>
            </a:pPr>
            <a:r>
              <a:rPr lang="en-US" dirty="0"/>
              <a:t>First-in-human trials </a:t>
            </a:r>
            <a:r>
              <a:rPr lang="en-US" dirty="0" err="1"/>
              <a:t>neuroprosthetic</a:t>
            </a:r>
            <a:r>
              <a:rPr lang="en-US" dirty="0"/>
              <a:t> system to improve hand function</a:t>
            </a:r>
          </a:p>
          <a:p>
            <a:pPr marL="457200" indent="-457200">
              <a:buFont typeface="Arial" panose="020B0604020202020204" pitchFamily="34" charset="0"/>
              <a:buChar char="•"/>
            </a:pPr>
            <a:r>
              <a:rPr lang="en-US" dirty="0"/>
              <a:t>Sensors in prosthetic hand activate implanted nerve cuff electrodes</a:t>
            </a:r>
          </a:p>
          <a:p>
            <a:pPr marL="457200" indent="-457200">
              <a:buFont typeface="Arial" panose="020B0604020202020204" pitchFamily="34" charset="0"/>
              <a:buChar char="•"/>
            </a:pPr>
            <a:r>
              <a:rPr lang="en-US" dirty="0"/>
              <a:t>Provide natural perceptions; foot system for balance and gait now being tested</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p:txBody>
      </p:sp>
      <p:sp>
        <p:nvSpPr>
          <p:cNvPr id="9" name="Content Placeholder 8">
            <a:extLst>
              <a:ext uri="{FF2B5EF4-FFF2-40B4-BE49-F238E27FC236}">
                <a16:creationId xmlns:a16="http://schemas.microsoft.com/office/drawing/2014/main" id="{84DE74C5-F178-E7B1-0FB5-CBF4BB657442}"/>
              </a:ext>
            </a:extLst>
          </p:cNvPr>
          <p:cNvSpPr>
            <a:spLocks noGrp="1"/>
          </p:cNvSpPr>
          <p:nvPr>
            <p:ph idx="14"/>
          </p:nvPr>
        </p:nvSpPr>
        <p:spPr>
          <a:xfrm>
            <a:off x="5486402" y="4820194"/>
            <a:ext cx="6453050" cy="1144189"/>
          </a:xfrm>
        </p:spPr>
        <p:txBody>
          <a:bodyPr/>
          <a:lstStyle/>
          <a:p>
            <a:pPr marL="171450" indent="-171450">
              <a:buFont typeface="Arial" panose="020B0604020202020204" pitchFamily="34" charset="0"/>
              <a:buChar char="•"/>
            </a:pPr>
            <a:r>
              <a:rPr lang="en-US" dirty="0"/>
              <a:t>   Lead: D. Tyler, Louis Stokes/Cleveland VA   </a:t>
            </a:r>
            <a:r>
              <a:rPr lang="en-US" sz="1800" dirty="0">
                <a:solidFill>
                  <a:srgbClr val="4472C4"/>
                </a:solidFill>
              </a:rPr>
              <a:t>https://www.aptcenter.research.va.gov/staff/investigators/tyler/  </a:t>
            </a:r>
          </a:p>
          <a:p>
            <a:pPr marL="171450" indent="-171450">
              <a:buFont typeface="Arial" panose="020B0604020202020204" pitchFamily="34" charset="0"/>
              <a:buChar char="•"/>
            </a:pPr>
            <a:endParaRPr lang="en-US" dirty="0"/>
          </a:p>
          <a:p>
            <a:endParaRPr lang="en-US" dirty="0"/>
          </a:p>
        </p:txBody>
      </p:sp>
      <p:sp>
        <p:nvSpPr>
          <p:cNvPr id="4" name="Slide Number Placeholder 3">
            <a:extLst>
              <a:ext uri="{FF2B5EF4-FFF2-40B4-BE49-F238E27FC236}">
                <a16:creationId xmlns:a16="http://schemas.microsoft.com/office/drawing/2014/main" id="{3F8303DF-B9A9-D6D7-5BB5-6CC86441E45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C7948E5B-F8B4-7F71-C45E-CCC9FF7FC6EC}"/>
              </a:ext>
            </a:extLst>
          </p:cNvPr>
          <p:cNvSpPr txBox="1"/>
          <p:nvPr/>
        </p:nvSpPr>
        <p:spPr>
          <a:xfrm>
            <a:off x="132802" y="5063401"/>
            <a:ext cx="49486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Dr. Dustin Tyler featured on CBS News’ 60 Minutes</a:t>
            </a:r>
          </a:p>
        </p:txBody>
      </p:sp>
    </p:spTree>
    <p:extLst>
      <p:ext uri="{BB962C8B-B14F-4D97-AF65-F5344CB8AC3E}">
        <p14:creationId xmlns:p14="http://schemas.microsoft.com/office/powerpoint/2010/main" val="2889357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5EB1EC3-5E31-684C-DD2C-351F6BCFB41E}"/>
              </a:ext>
            </a:extLst>
          </p:cNvPr>
          <p:cNvSpPr>
            <a:spLocks noGrp="1"/>
          </p:cNvSpPr>
          <p:nvPr>
            <p:ph type="title"/>
          </p:nvPr>
        </p:nvSpPr>
        <p:spPr>
          <a:xfrm>
            <a:off x="-1" y="118873"/>
            <a:ext cx="12579531" cy="752929"/>
          </a:xfrm>
        </p:spPr>
        <p:txBody>
          <a:bodyPr/>
          <a:lstStyle/>
          <a:p>
            <a:r>
              <a:rPr lang="en-US" dirty="0"/>
              <a:t>Restoring Communication &amp; Mobility via Brain-Computer Interface </a:t>
            </a:r>
          </a:p>
        </p:txBody>
      </p:sp>
      <p:sp>
        <p:nvSpPr>
          <p:cNvPr id="8" name="Content Placeholder 7">
            <a:extLst>
              <a:ext uri="{FF2B5EF4-FFF2-40B4-BE49-F238E27FC236}">
                <a16:creationId xmlns:a16="http://schemas.microsoft.com/office/drawing/2014/main" id="{0D1DA806-535E-D5A2-E805-2FAE852FEE34}"/>
              </a:ext>
            </a:extLst>
          </p:cNvPr>
          <p:cNvSpPr>
            <a:spLocks noGrp="1"/>
          </p:cNvSpPr>
          <p:nvPr>
            <p:ph idx="13"/>
          </p:nvPr>
        </p:nvSpPr>
        <p:spPr>
          <a:xfrm>
            <a:off x="5943600" y="1332411"/>
            <a:ext cx="5930537" cy="2387535"/>
          </a:xfrm>
        </p:spPr>
        <p:txBody>
          <a:bodyPr/>
          <a:lstStyle/>
          <a:p>
            <a:pPr marL="457200" indent="-457200">
              <a:buFont typeface="Arial" panose="020B0604020202020204" pitchFamily="34" charset="0"/>
              <a:buChar char="•"/>
            </a:pPr>
            <a:r>
              <a:rPr lang="en-US" dirty="0"/>
              <a:t>Translates brain activity into commands for assistive devices</a:t>
            </a:r>
          </a:p>
          <a:p>
            <a:pPr marL="457200" indent="-457200">
              <a:buFont typeface="Arial" panose="020B0604020202020204" pitchFamily="34" charset="0"/>
              <a:buChar char="•"/>
            </a:pPr>
            <a:r>
              <a:rPr lang="en-US" b="1" dirty="0"/>
              <a:t>Communication: </a:t>
            </a:r>
            <a:r>
              <a:rPr lang="en-US" dirty="0"/>
              <a:t>enables onscreen typing, mouse control and speech synthesis </a:t>
            </a:r>
          </a:p>
          <a:p>
            <a:pPr marL="457200" indent="-457200">
              <a:buFont typeface="Arial" panose="020B0604020202020204" pitchFamily="34" charset="0"/>
              <a:buChar char="•"/>
            </a:pPr>
            <a:r>
              <a:rPr lang="en-US" b="1" dirty="0"/>
              <a:t>Mobility:</a:t>
            </a:r>
            <a:r>
              <a:rPr lang="en-US" dirty="0"/>
              <a:t> harness brain activity associated with movement to command reach and grasp </a:t>
            </a:r>
          </a:p>
          <a:p>
            <a:pPr marL="457200" indent="-457200">
              <a:buFont typeface="Arial" panose="020B0604020202020204" pitchFamily="34" charset="0"/>
              <a:buChar char="•"/>
            </a:pPr>
            <a:endParaRPr lang="en-US" dirty="0"/>
          </a:p>
        </p:txBody>
      </p:sp>
      <p:sp>
        <p:nvSpPr>
          <p:cNvPr id="9" name="Content Placeholder 8">
            <a:extLst>
              <a:ext uri="{FF2B5EF4-FFF2-40B4-BE49-F238E27FC236}">
                <a16:creationId xmlns:a16="http://schemas.microsoft.com/office/drawing/2014/main" id="{84DE74C5-F178-E7B1-0FB5-CBF4BB657442}"/>
              </a:ext>
            </a:extLst>
          </p:cNvPr>
          <p:cNvSpPr>
            <a:spLocks noGrp="1"/>
          </p:cNvSpPr>
          <p:nvPr>
            <p:ph idx="14"/>
          </p:nvPr>
        </p:nvSpPr>
        <p:spPr>
          <a:xfrm>
            <a:off x="4545873" y="5363640"/>
            <a:ext cx="8647611" cy="922120"/>
          </a:xfrm>
        </p:spPr>
        <p:txBody>
          <a:bodyPr/>
          <a:lstStyle/>
          <a:p>
            <a:pPr lvl="1" eaLnBrk="0" fontAlgn="base" hangingPunct="0">
              <a:lnSpc>
                <a:spcPct val="150000"/>
              </a:lnSpc>
              <a:spcBef>
                <a:spcPts val="400"/>
              </a:spcBef>
              <a:spcAft>
                <a:spcPct val="0"/>
              </a:spcAft>
              <a:defRPr/>
            </a:pP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Lead: L. Hochberg, J. </a:t>
            </a:r>
            <a:r>
              <a:rPr kumimoji="0" lang="en-US" sz="28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Simeral</a:t>
            </a: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Providence VA</a:t>
            </a:r>
            <a:endParaRPr lang="en-US" sz="1600" dirty="0"/>
          </a:p>
        </p:txBody>
      </p:sp>
      <p:sp>
        <p:nvSpPr>
          <p:cNvPr id="4" name="Slide Number Placeholder 3">
            <a:extLst>
              <a:ext uri="{FF2B5EF4-FFF2-40B4-BE49-F238E27FC236}">
                <a16:creationId xmlns:a16="http://schemas.microsoft.com/office/drawing/2014/main" id="{3F8303DF-B9A9-D6D7-5BB5-6CC86441E45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C7948E5B-F8B4-7F71-C45E-CCC9FF7FC6EC}"/>
              </a:ext>
            </a:extLst>
          </p:cNvPr>
          <p:cNvSpPr txBox="1"/>
          <p:nvPr/>
        </p:nvSpPr>
        <p:spPr>
          <a:xfrm>
            <a:off x="132802" y="5548305"/>
            <a:ext cx="518378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Brain-Computer Interface (BCI)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BrainGate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System</a:t>
            </a:r>
          </a:p>
        </p:txBody>
      </p:sp>
      <p:pic>
        <p:nvPicPr>
          <p:cNvPr id="5" name="Content Placeholder 4">
            <a:extLst>
              <a:ext uri="{FF2B5EF4-FFF2-40B4-BE49-F238E27FC236}">
                <a16:creationId xmlns:a16="http://schemas.microsoft.com/office/drawing/2014/main" id="{07991A71-B648-BBD0-8B9B-B5E0D5087A60}"/>
              </a:ext>
            </a:extLst>
          </p:cNvPr>
          <p:cNvPicPr>
            <a:picLocks noGrp="1" noChangeAspect="1"/>
          </p:cNvPicPr>
          <p:nvPr>
            <p:ph idx="1"/>
          </p:nvPr>
        </p:nvPicPr>
        <p:blipFill>
          <a:blip r:embed="rId3"/>
          <a:stretch>
            <a:fillRect/>
          </a:stretch>
        </p:blipFill>
        <p:spPr>
          <a:xfrm>
            <a:off x="440053" y="967619"/>
            <a:ext cx="4438650" cy="4580686"/>
          </a:xfrm>
          <a:prstGeom prst="rect">
            <a:avLst/>
          </a:prstGeom>
        </p:spPr>
      </p:pic>
    </p:spTree>
    <p:extLst>
      <p:ext uri="{BB962C8B-B14F-4D97-AF65-F5344CB8AC3E}">
        <p14:creationId xmlns:p14="http://schemas.microsoft.com/office/powerpoint/2010/main" val="1120200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D51F1-B100-A091-AE0B-AA1705514B97}"/>
              </a:ext>
            </a:extLst>
          </p:cNvPr>
          <p:cNvSpPr>
            <a:spLocks noGrp="1"/>
          </p:cNvSpPr>
          <p:nvPr>
            <p:ph type="title"/>
          </p:nvPr>
        </p:nvSpPr>
        <p:spPr/>
        <p:txBody>
          <a:bodyPr/>
          <a:lstStyle/>
          <a:p>
            <a:r>
              <a:rPr lang="en-US" dirty="0"/>
              <a:t>Addressing Prosthetic Needs of Women Veterans</a:t>
            </a:r>
          </a:p>
        </p:txBody>
      </p:sp>
      <p:sp>
        <p:nvSpPr>
          <p:cNvPr id="3" name="Content Placeholder 2">
            <a:extLst>
              <a:ext uri="{FF2B5EF4-FFF2-40B4-BE49-F238E27FC236}">
                <a16:creationId xmlns:a16="http://schemas.microsoft.com/office/drawing/2014/main" id="{8D1E30C1-B2F2-AF28-664F-E09A1AD0A878}"/>
              </a:ext>
            </a:extLst>
          </p:cNvPr>
          <p:cNvSpPr>
            <a:spLocks noGrp="1"/>
          </p:cNvSpPr>
          <p:nvPr>
            <p:ph idx="1"/>
          </p:nvPr>
        </p:nvSpPr>
        <p:spPr>
          <a:xfrm>
            <a:off x="195944" y="1133856"/>
            <a:ext cx="7223760" cy="4783618"/>
          </a:xfrm>
        </p:spPr>
        <p:txBody>
          <a:bodyPr/>
          <a:lstStyle/>
          <a:p>
            <a:pPr marR="0" lvl="0" algn="l" defTabSz="257175" rtl="0" eaLnBrk="1" fontAlgn="base" latinLnBrk="0" hangingPunct="1">
              <a:lnSpc>
                <a:spcPct val="100000"/>
              </a:lnSpc>
              <a:spcBef>
                <a:spcPts val="400"/>
              </a:spcBef>
              <a:spcAft>
                <a:spcPts val="0"/>
              </a:spcAft>
              <a:buClrTx/>
              <a:buSzTx/>
              <a:tabLst/>
              <a:defRPr/>
            </a:pPr>
            <a:r>
              <a:rPr kumimoji="0" lang="en-US" altLang="en-US" sz="2400" b="1" i="0" u="none" strike="noStrike" kern="1200" cap="none" spc="0" normalizeH="0" baseline="0" noProof="0" dirty="0">
                <a:ln>
                  <a:noFill/>
                </a:ln>
                <a:solidFill>
                  <a:srgbClr val="000000"/>
                </a:solidFill>
                <a:effectLst/>
                <a:uLnTx/>
                <a:uFillTx/>
                <a:latin typeface="Calibri"/>
                <a:cs typeface="Arial" panose="020B0604020202020204" pitchFamily="34" charset="0"/>
              </a:rPr>
              <a:t>3D Ankle-foot system </a:t>
            </a:r>
            <a:r>
              <a:rPr kumimoji="0" lang="en-US" altLang="en-US" sz="2400" i="0" u="none" strike="noStrike" kern="1200" cap="none" spc="0" normalizeH="0" baseline="0" noProof="0" dirty="0">
                <a:ln>
                  <a:noFill/>
                </a:ln>
                <a:solidFill>
                  <a:srgbClr val="000000"/>
                </a:solidFill>
                <a:effectLst/>
                <a:uLnTx/>
                <a:uFillTx/>
                <a:latin typeface="Calibri"/>
                <a:cs typeface="Arial" panose="020B0604020202020204" pitchFamily="34" charset="0"/>
              </a:rPr>
              <a:t>with interchangeable feet help maintain alignment;</a:t>
            </a:r>
            <a:r>
              <a:rPr lang="en-US" altLang="en-US" sz="2400" dirty="0">
                <a:solidFill>
                  <a:srgbClr val="000000"/>
                </a:solidFill>
                <a:latin typeface="Calibri"/>
                <a:cs typeface="Arial" panose="020B0604020202020204" pitchFamily="34" charset="0"/>
              </a:rPr>
              <a:t> c</a:t>
            </a:r>
            <a:r>
              <a:rPr lang="en-US" sz="2400" dirty="0"/>
              <a:t>ommercial partner UNYK</a:t>
            </a:r>
          </a:p>
          <a:p>
            <a:pPr marR="0" lvl="0" algn="l" defTabSz="257175" rtl="0" eaLnBrk="1" fontAlgn="base" latinLnBrk="0" hangingPunct="1">
              <a:lnSpc>
                <a:spcPct val="100000"/>
              </a:lnSpc>
              <a:spcBef>
                <a:spcPts val="400"/>
              </a:spcBef>
              <a:spcAft>
                <a:spcPts val="0"/>
              </a:spcAft>
              <a:buClrTx/>
              <a:buSzTx/>
              <a:tabLst/>
              <a:defRPr/>
            </a:pPr>
            <a:r>
              <a:rPr lang="en-US" sz="2400" dirty="0"/>
              <a:t>Ability to wear shoes of various heel heights, types, including sandals</a:t>
            </a:r>
          </a:p>
          <a:p>
            <a:pPr marR="0" lvl="0" algn="l" defTabSz="257175" rtl="0" eaLnBrk="1" fontAlgn="base" latinLnBrk="0" hangingPunct="1">
              <a:lnSpc>
                <a:spcPct val="100000"/>
              </a:lnSpc>
              <a:spcBef>
                <a:spcPts val="400"/>
              </a:spcBef>
              <a:spcAft>
                <a:spcPts val="0"/>
              </a:spcAft>
              <a:buClrTx/>
              <a:buSzTx/>
              <a:tabLst/>
              <a:defRPr/>
            </a:pPr>
            <a:r>
              <a:rPr lang="en-US" sz="2400" dirty="0"/>
              <a:t>Lead: A. Hansen, Minneapolis VA</a:t>
            </a:r>
          </a:p>
          <a:p>
            <a:pPr marR="0" lvl="0" algn="l" defTabSz="257175" rtl="0" eaLnBrk="1" fontAlgn="base" latinLnBrk="0" hangingPunct="1">
              <a:lnSpc>
                <a:spcPct val="100000"/>
              </a:lnSpc>
              <a:spcBef>
                <a:spcPts val="400"/>
              </a:spcBef>
              <a:spcAft>
                <a:spcPts val="0"/>
              </a:spcAft>
              <a:buClrTx/>
              <a:buSzTx/>
              <a:tabLst/>
              <a:defRPr/>
            </a:pPr>
            <a:endParaRPr lang="en-US" sz="2400" dirty="0"/>
          </a:p>
          <a:p>
            <a:pPr marR="0" lvl="0" algn="l" defTabSz="257175" rtl="0" eaLnBrk="1" fontAlgn="base" latinLnBrk="0" hangingPunct="1">
              <a:lnSpc>
                <a:spcPct val="100000"/>
              </a:lnSpc>
              <a:spcBef>
                <a:spcPts val="400"/>
              </a:spcBef>
              <a:spcAft>
                <a:spcPts val="0"/>
              </a:spcAft>
              <a:buClrTx/>
              <a:buSzTx/>
              <a:tabLst/>
              <a:defRPr/>
            </a:pPr>
            <a:r>
              <a:rPr kumimoji="0" lang="en-US" altLang="en-US" sz="2400" b="1" i="0" u="none" strike="noStrike" kern="1200" cap="none" spc="0" normalizeH="0" baseline="0" noProof="0" dirty="0">
                <a:ln>
                  <a:noFill/>
                </a:ln>
                <a:solidFill>
                  <a:srgbClr val="000000"/>
                </a:solidFill>
                <a:effectLst/>
                <a:uLnTx/>
                <a:uFillTx/>
                <a:latin typeface="Calibri"/>
                <a:cs typeface="Arial" panose="020B0604020202020204" pitchFamily="34" charset="0"/>
              </a:rPr>
              <a:t>Artificial digit replacements </a:t>
            </a:r>
            <a:r>
              <a:rPr kumimoji="0" lang="en-US" altLang="en-US" sz="2400" i="0" u="none" strike="noStrike" kern="1200" cap="none" spc="0" normalizeH="0" baseline="0" noProof="0" dirty="0">
                <a:ln>
                  <a:noFill/>
                </a:ln>
                <a:solidFill>
                  <a:srgbClr val="000000"/>
                </a:solidFill>
                <a:effectLst/>
                <a:uLnTx/>
                <a:uFillTx/>
                <a:latin typeface="Calibri"/>
                <a:cs typeface="Arial" panose="020B0604020202020204" pitchFamily="34" charset="0"/>
              </a:rPr>
              <a:t>appropriately sized for women; commercial partner Point Digit </a:t>
            </a:r>
          </a:p>
          <a:p>
            <a:pPr marR="0" lvl="0" algn="l" defTabSz="257175" rtl="0" eaLnBrk="1" fontAlgn="base" latinLnBrk="0" hangingPunct="1">
              <a:lnSpc>
                <a:spcPct val="100000"/>
              </a:lnSpc>
              <a:spcBef>
                <a:spcPts val="400"/>
              </a:spcBef>
              <a:spcAft>
                <a:spcPts val="0"/>
              </a:spcAft>
              <a:buClrTx/>
              <a:buSzTx/>
              <a:tabLst/>
              <a:defRPr/>
            </a:pPr>
            <a:r>
              <a:rPr lang="en-US" sz="2400" dirty="0"/>
              <a:t>Unpowered ratcheting 3D-printed steel finger; Simple, durable, anatomical motion</a:t>
            </a:r>
            <a:endParaRPr lang="en-US" sz="2400" dirty="0">
              <a:solidFill>
                <a:srgbClr val="000000"/>
              </a:solidFill>
              <a:latin typeface="Calibri"/>
              <a:cs typeface="Arial" panose="020B0604020202020204" pitchFamily="34" charset="0"/>
            </a:endParaRPr>
          </a:p>
          <a:p>
            <a:pPr marR="0" lvl="0" algn="l" defTabSz="257175" rtl="0" eaLnBrk="1" fontAlgn="base" latinLnBrk="0" hangingPunct="1">
              <a:lnSpc>
                <a:spcPct val="100000"/>
              </a:lnSpc>
              <a:spcBef>
                <a:spcPts val="400"/>
              </a:spcBef>
              <a:spcAft>
                <a:spcPts val="0"/>
              </a:spcAft>
              <a:buClrTx/>
              <a:buSzTx/>
              <a:tabLst/>
              <a:defRPr/>
            </a:pPr>
            <a:r>
              <a:rPr kumimoji="0" lang="en-US" altLang="en-US" sz="2400" i="0" u="none" strike="noStrike" kern="1200" cap="none" spc="0" normalizeH="0" baseline="0" noProof="0" dirty="0">
                <a:ln>
                  <a:noFill/>
                </a:ln>
                <a:solidFill>
                  <a:srgbClr val="000000"/>
                </a:solidFill>
                <a:effectLst/>
                <a:uLnTx/>
                <a:uFillTx/>
                <a:latin typeface="Calibri"/>
                <a:cs typeface="Arial" panose="020B0604020202020204" pitchFamily="34" charset="0"/>
              </a:rPr>
              <a:t>Lead: R Weir, Rocky Mtn VA</a:t>
            </a:r>
          </a:p>
          <a:p>
            <a:endParaRPr lang="en-US" dirty="0"/>
          </a:p>
        </p:txBody>
      </p:sp>
      <p:pic>
        <p:nvPicPr>
          <p:cNvPr id="7" name="Content Placeholder 6">
            <a:extLst>
              <a:ext uri="{FF2B5EF4-FFF2-40B4-BE49-F238E27FC236}">
                <a16:creationId xmlns:a16="http://schemas.microsoft.com/office/drawing/2014/main" id="{CD7DF241-0C6D-3AA6-A16B-A53893DD31B1}"/>
              </a:ext>
            </a:extLst>
          </p:cNvPr>
          <p:cNvPicPr>
            <a:picLocks noGrp="1" noChangeAspect="1"/>
          </p:cNvPicPr>
          <p:nvPr>
            <p:ph idx="13"/>
          </p:nvPr>
        </p:nvPicPr>
        <p:blipFill>
          <a:blip r:embed="rId3"/>
          <a:stretch>
            <a:fillRect/>
          </a:stretch>
        </p:blipFill>
        <p:spPr>
          <a:xfrm>
            <a:off x="7544211" y="1263914"/>
            <a:ext cx="4325199" cy="1637990"/>
          </a:xfrm>
          <a:prstGeom prst="rect">
            <a:avLst/>
          </a:prstGeom>
        </p:spPr>
      </p:pic>
      <p:pic>
        <p:nvPicPr>
          <p:cNvPr id="8" name="Content Placeholder 7">
            <a:extLst>
              <a:ext uri="{FF2B5EF4-FFF2-40B4-BE49-F238E27FC236}">
                <a16:creationId xmlns:a16="http://schemas.microsoft.com/office/drawing/2014/main" id="{138E974C-7F2D-C4A0-B1B6-F5952BFA08FF}"/>
              </a:ext>
            </a:extLst>
          </p:cNvPr>
          <p:cNvPicPr>
            <a:picLocks noGrp="1" noChangeAspect="1"/>
          </p:cNvPicPr>
          <p:nvPr>
            <p:ph idx="14"/>
          </p:nvPr>
        </p:nvPicPr>
        <p:blipFill>
          <a:blip r:embed="rId4"/>
          <a:stretch>
            <a:fillRect/>
          </a:stretch>
        </p:blipFill>
        <p:spPr>
          <a:xfrm>
            <a:off x="7788747" y="3294016"/>
            <a:ext cx="1918063" cy="2720657"/>
          </a:xfrm>
          <a:prstGeom prst="rect">
            <a:avLst/>
          </a:prstGeom>
        </p:spPr>
      </p:pic>
      <p:sp>
        <p:nvSpPr>
          <p:cNvPr id="6" name="Slide Number Placeholder 5">
            <a:extLst>
              <a:ext uri="{FF2B5EF4-FFF2-40B4-BE49-F238E27FC236}">
                <a16:creationId xmlns:a16="http://schemas.microsoft.com/office/drawing/2014/main" id="{7BF27537-AE47-8069-AEE2-6609AAE8F3A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A6FCE420-675A-AC34-B444-D48A10268496}"/>
              </a:ext>
            </a:extLst>
          </p:cNvPr>
          <p:cNvSpPr txBox="1"/>
          <p:nvPr/>
        </p:nvSpPr>
        <p:spPr>
          <a:xfrm>
            <a:off x="9706810" y="5734594"/>
            <a:ext cx="314704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Point Digit Prosthesis </a:t>
            </a:r>
          </a:p>
        </p:txBody>
      </p:sp>
      <p:sp>
        <p:nvSpPr>
          <p:cNvPr id="5" name="TextBox 4">
            <a:extLst>
              <a:ext uri="{FF2B5EF4-FFF2-40B4-BE49-F238E27FC236}">
                <a16:creationId xmlns:a16="http://schemas.microsoft.com/office/drawing/2014/main" id="{613F9260-EE4A-A641-4111-F9D9AE874481}"/>
              </a:ext>
            </a:extLst>
          </p:cNvPr>
          <p:cNvSpPr txBox="1"/>
          <p:nvPr/>
        </p:nvSpPr>
        <p:spPr>
          <a:xfrm>
            <a:off x="7419704" y="2901904"/>
            <a:ext cx="457635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Prosthesis for improved footwear options</a:t>
            </a:r>
          </a:p>
        </p:txBody>
      </p:sp>
    </p:spTree>
    <p:extLst>
      <p:ext uri="{BB962C8B-B14F-4D97-AF65-F5344CB8AC3E}">
        <p14:creationId xmlns:p14="http://schemas.microsoft.com/office/powerpoint/2010/main" val="1874079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5" name="Straight Connector 16">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CD8840FE-6991-40FC-8A69-82A117133BF4}"/>
              </a:ext>
            </a:extLst>
          </p:cNvPr>
          <p:cNvSpPr>
            <a:spLocks noGrp="1"/>
          </p:cNvSpPr>
          <p:nvPr>
            <p:ph idx="13"/>
          </p:nvPr>
        </p:nvSpPr>
        <p:spPr>
          <a:xfrm>
            <a:off x="601884" y="1203768"/>
            <a:ext cx="5494116" cy="4938616"/>
          </a:xfrm>
        </p:spPr>
        <p:txBody>
          <a:bodyPr vert="horz" lIns="91440" tIns="45720" rIns="91440" bIns="45720" rtlCol="0">
            <a:normAutofit fontScale="92500"/>
          </a:bodyPr>
          <a:lstStyle/>
          <a:p>
            <a:pPr indent="-228600">
              <a:lnSpc>
                <a:spcPct val="90000"/>
              </a:lnSpc>
              <a:buFont typeface="Arial" panose="020B0604020202020204" pitchFamily="34" charset="0"/>
              <a:buChar char="•"/>
            </a:pPr>
            <a:r>
              <a:rPr lang="en-US" i="1" dirty="0"/>
              <a:t>Help beyond housing </a:t>
            </a:r>
            <a:r>
              <a:rPr lang="en-US" dirty="0"/>
              <a:t>recognizes housing is first step in facilitating recovery</a:t>
            </a:r>
          </a:p>
          <a:p>
            <a:pPr indent="-228600">
              <a:lnSpc>
                <a:spcPct val="90000"/>
              </a:lnSpc>
              <a:buFont typeface="Arial" panose="020B0604020202020204" pitchFamily="34" charset="0"/>
              <a:buChar char="•"/>
            </a:pPr>
            <a:r>
              <a:rPr lang="en-US" dirty="0"/>
              <a:t>Social isolation does not subside once housed:</a:t>
            </a:r>
          </a:p>
          <a:p>
            <a:pPr lvl="1"/>
            <a:r>
              <a:rPr lang="en-US" dirty="0"/>
              <a:t>Understanding the determinants and mechanisms of community integration</a:t>
            </a:r>
          </a:p>
          <a:p>
            <a:pPr lvl="1"/>
            <a:r>
              <a:rPr lang="en-US" dirty="0"/>
              <a:t>Considering the contextual, social, and environmental factors that influence community integration</a:t>
            </a:r>
          </a:p>
          <a:p>
            <a:pPr lvl="1"/>
            <a:r>
              <a:rPr lang="en-US" dirty="0"/>
              <a:t>Developing and validating interventions that enhance community integration for these individuals</a:t>
            </a:r>
          </a:p>
          <a:p>
            <a:pPr lvl="1"/>
            <a:endParaRPr lang="en-US" dirty="0"/>
          </a:p>
          <a:p>
            <a:pPr lvl="1"/>
            <a:endParaRPr lang="en-US" dirty="0"/>
          </a:p>
        </p:txBody>
      </p:sp>
      <p:pic>
        <p:nvPicPr>
          <p:cNvPr id="12" name="Content Placeholder 11">
            <a:extLst>
              <a:ext uri="{FF2B5EF4-FFF2-40B4-BE49-F238E27FC236}">
                <a16:creationId xmlns:a16="http://schemas.microsoft.com/office/drawing/2014/main" id="{BB359A6D-1B0A-1B1F-A5DE-846E2E57070E}"/>
              </a:ext>
            </a:extLst>
          </p:cNvPr>
          <p:cNvPicPr>
            <a:picLocks noGrp="1" noChangeAspect="1"/>
          </p:cNvPicPr>
          <p:nvPr>
            <p:ph idx="1"/>
          </p:nvPr>
        </p:nvPicPr>
        <p:blipFill rotWithShape="1">
          <a:blip r:embed="rId3"/>
          <a:srcRect l="11056" r="4134" b="3"/>
          <a:stretch/>
        </p:blipFill>
        <p:spPr>
          <a:xfrm>
            <a:off x="7024501" y="1"/>
            <a:ext cx="5167490" cy="3052066"/>
          </a:xfrm>
          <a:prstGeom prst="rect">
            <a:avLst/>
          </a:prstGeom>
        </p:spPr>
      </p:pic>
      <p:pic>
        <p:nvPicPr>
          <p:cNvPr id="9" name="Content Placeholder 8">
            <a:extLst>
              <a:ext uri="{FF2B5EF4-FFF2-40B4-BE49-F238E27FC236}">
                <a16:creationId xmlns:a16="http://schemas.microsoft.com/office/drawing/2014/main" id="{64070C0B-9F0F-712E-A55E-8385A46847DA}"/>
              </a:ext>
            </a:extLst>
          </p:cNvPr>
          <p:cNvPicPr>
            <a:picLocks noGrp="1" noChangeAspect="1"/>
          </p:cNvPicPr>
          <p:nvPr>
            <p:ph idx="14"/>
          </p:nvPr>
        </p:nvPicPr>
        <p:blipFill rotWithShape="1">
          <a:blip r:embed="rId4"/>
          <a:srcRect r="4986"/>
          <a:stretch/>
        </p:blipFill>
        <p:spPr>
          <a:xfrm>
            <a:off x="7024510" y="3001392"/>
            <a:ext cx="5167490" cy="3140992"/>
          </a:xfrm>
          <a:prstGeom prst="rect">
            <a:avLst/>
          </a:prstGeom>
        </p:spPr>
      </p:pic>
      <p:sp>
        <p:nvSpPr>
          <p:cNvPr id="6" name="Slide Number Placeholder 5">
            <a:extLst>
              <a:ext uri="{FF2B5EF4-FFF2-40B4-BE49-F238E27FC236}">
                <a16:creationId xmlns:a16="http://schemas.microsoft.com/office/drawing/2014/main" id="{10F0D8AE-CA99-A6A3-67DE-6245FD0D390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70A9334-4E67-F94F-A05E-0CE8B74A054E}" type="slidenum">
              <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11</a:t>
            </a:fld>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AD5A9034-0BF1-935A-634F-B78818D27AAB}"/>
              </a:ext>
            </a:extLst>
          </p:cNvPr>
          <p:cNvSpPr txBox="1"/>
          <p:nvPr/>
        </p:nvSpPr>
        <p:spPr>
          <a:xfrm>
            <a:off x="289367" y="127322"/>
            <a:ext cx="656284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Ending Veteran Homelessness </a:t>
            </a:r>
          </a:p>
        </p:txBody>
      </p:sp>
    </p:spTree>
    <p:extLst>
      <p:ext uri="{BB962C8B-B14F-4D97-AF65-F5344CB8AC3E}">
        <p14:creationId xmlns:p14="http://schemas.microsoft.com/office/powerpoint/2010/main" val="16013762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Tenjo8i3HuRM573PfLSFA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Tenjo8i3HuRM573PfLSFA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Tenjo8i3HuRM573PfLSFA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6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VA 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7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Theme">
  <a:themeElements>
    <a:clrScheme name="Custom 5">
      <a:dk1>
        <a:sysClr val="windowText" lastClr="000000"/>
      </a:dk1>
      <a:lt1>
        <a:sysClr val="window" lastClr="FFFFFF"/>
      </a:lt1>
      <a:dk2>
        <a:srgbClr val="FFFFFE"/>
      </a:dk2>
      <a:lt2>
        <a:srgbClr val="FFFFFE"/>
      </a:lt2>
      <a:accent1>
        <a:srgbClr val="0083BE"/>
      </a:accent1>
      <a:accent2>
        <a:srgbClr val="78BE20"/>
      </a:accent2>
      <a:accent3>
        <a:srgbClr val="C4262E"/>
      </a:accent3>
      <a:accent4>
        <a:srgbClr val="FF7F32"/>
      </a:accent4>
      <a:accent5>
        <a:srgbClr val="F3CF45"/>
      </a:accent5>
      <a:accent6>
        <a:srgbClr val="FFFFFE"/>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40_Office Theme">
  <a:themeElements>
    <a:clrScheme name="myVA">
      <a:dk1>
        <a:srgbClr val="000000"/>
      </a:dk1>
      <a:lt1>
        <a:sysClr val="window" lastClr="FFFFFF"/>
      </a:lt1>
      <a:dk2>
        <a:srgbClr val="003F72"/>
      </a:dk2>
      <a:lt2>
        <a:srgbClr val="EEECE1"/>
      </a:lt2>
      <a:accent1>
        <a:srgbClr val="C62630"/>
      </a:accent1>
      <a:accent2>
        <a:srgbClr val="0083BE"/>
      </a:accent2>
      <a:accent3>
        <a:srgbClr val="F3CF45"/>
      </a:accent3>
      <a:accent4>
        <a:srgbClr val="F7955B"/>
      </a:accent4>
      <a:accent5>
        <a:srgbClr val="839097"/>
      </a:accent5>
      <a:accent6>
        <a:srgbClr val="DCDDDE"/>
      </a:accent6>
      <a:hlink>
        <a:srgbClr val="C2B48F"/>
      </a:hlink>
      <a:folHlink>
        <a:srgbClr val="A3A86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ocumentType xmlns="46ade7e5-a61b-41ef-8b65-1672892065de">Presentations and Other Documents</DocumentType>
    <Topic xmlns="46ade7e5-a61b-41ef-8b65-1672892065de">Centers</Topic>
    <TaxCatchAll xmlns="6fd99b86-a2da-47ef-ab26-55e7009dfe6e" xsi:nil="true"/>
    <lcf76f155ced4ddcb4097134ff3c332f xmlns="46ade7e5-a61b-41ef-8b65-1672892065de">
      <Terms xmlns="http://schemas.microsoft.com/office/infopath/2007/PartnerControls"/>
    </lcf76f155ced4ddcb4097134ff3c332f>
    <PageReference xmlns="46ade7e5-a61b-41ef-8b65-1672892065d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670CDE65625E449B41BBE9E2A9D6E5A" ma:contentTypeVersion="14" ma:contentTypeDescription="Create a new document." ma:contentTypeScope="" ma:versionID="8b6d79dcc5f754c7cfb59536e3674b4c">
  <xsd:schema xmlns:xsd="http://www.w3.org/2001/XMLSchema" xmlns:xs="http://www.w3.org/2001/XMLSchema" xmlns:p="http://schemas.microsoft.com/office/2006/metadata/properties" xmlns:ns2="46ade7e5-a61b-41ef-8b65-1672892065de" xmlns:ns3="6fd99b86-a2da-47ef-ab26-55e7009dfe6e" targetNamespace="http://schemas.microsoft.com/office/2006/metadata/properties" ma:root="true" ma:fieldsID="64eb71bd406154cbfd68acd3ef293514" ns2:_="" ns3:_="">
    <xsd:import namespace="46ade7e5-a61b-41ef-8b65-1672892065de"/>
    <xsd:import namespace="6fd99b86-a2da-47ef-ab26-55e7009dfe6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Topic"/>
                <xsd:element ref="ns2:DocumentType"/>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PageReferenc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ade7e5-a61b-41ef-8b65-1672892065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Topic" ma:index="12" ma:displayName="Topic" ma:format="Dropdown" ma:internalName="Topic">
      <xsd:simpleType>
        <xsd:restriction base="dms:Choice">
          <xsd:enumeration value="Animal Research"/>
          <xsd:enumeration value="Artificial Intelligence (AI)"/>
          <xsd:enumeration value="Budget"/>
          <xsd:enumeration value="Cannabis"/>
          <xsd:enumeration value="Centers"/>
          <xsd:enumeration value="Clinical Trials"/>
          <xsd:enumeration value="Community Care"/>
          <xsd:enumeration value="Congress"/>
          <xsd:enumeration value="COVID"/>
          <xsd:enumeration value="Enterprise Transformation"/>
          <xsd:enumeration value="General ORD"/>
          <xsd:enumeration value="Mental Health"/>
          <xsd:enumeration value="Mortality Data"/>
          <xsd:enumeration value="MVP"/>
          <xsd:enumeration value="NRAC"/>
          <xsd:enumeration value="Precision Oncology"/>
          <xsd:enumeration value="Psychedelics"/>
          <xsd:enumeration value="Rural Health"/>
          <xsd:enumeration value="Spinal Cord Injury (SCI)"/>
          <xsd:enumeration value="Suicide Prevention"/>
          <xsd:enumeration value="Traumatic Brain Injury (TBI)"/>
          <xsd:enumeration value="Technology Transfer Program"/>
          <xsd:enumeration value="Toxic Exposure - MERP"/>
          <xsd:enumeration value="VA Secretary"/>
          <xsd:enumeration value="VHA USH"/>
          <xsd:enumeration value="Women’s Health – Maternity and Infertility"/>
        </xsd:restriction>
      </xsd:simpleType>
    </xsd:element>
    <xsd:element name="DocumentType" ma:index="13" ma:displayName="Document Type" ma:format="Dropdown" ma:internalName="DocumentType">
      <xsd:simpleType>
        <xsd:restriction base="dms:Choice">
          <xsd:enumeration value="Briefing Papers - Congress"/>
          <xsd:enumeration value="Briefing Papers - VA-VHA"/>
          <xsd:enumeration value="Briefing Papers - Other"/>
          <xsd:enumeration value="Budget Justification"/>
          <xsd:enumeration value="GAO"/>
          <xsd:enumeration value="Mandated Congressional Reports"/>
          <xsd:enumeration value="News Articles"/>
          <xsd:enumeration value="Press Releases"/>
          <xsd:enumeration value="Publications-Studies"/>
          <xsd:enumeration value="RFA"/>
          <xsd:enumeration value="RFI - Congress"/>
          <xsd:enumeration value="Slide Presentations"/>
          <xsd:enumeration value="Talking Points - Congress"/>
          <xsd:enumeration value="Testimony - Congress Speeches"/>
          <xsd:enumeration value="Talking Points - VA-VHA"/>
          <xsd:enumeration value="Talking Points - Other"/>
          <xsd:enumeration value="Other-Misc Documents"/>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0ac6538-d41a-4f9a-bd67-5f7ae81a6d74"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PageReference" ma:index="21" nillable="true" ma:displayName="Page Reference" ma:description="provide a page reference for longer documents" ma:format="Dropdown" ma:internalName="PageReferenc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fd99b86-a2da-47ef-ab26-55e7009dfe6e"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736d572-348b-4845-bc48-0c7ae7dc85c2}" ma:internalName="TaxCatchAll" ma:showField="CatchAllData" ma:web="6fd99b86-a2da-47ef-ab26-55e7009dfe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212DC3-B50F-467C-BAF0-DA279BFFC3D5}">
  <ds:schemaRefs>
    <ds:schemaRef ds:uri="http://schemas.microsoft.com/sharepoint/v3/contenttype/forms"/>
  </ds:schemaRefs>
</ds:datastoreItem>
</file>

<file path=customXml/itemProps2.xml><?xml version="1.0" encoding="utf-8"?>
<ds:datastoreItem xmlns:ds="http://schemas.openxmlformats.org/officeDocument/2006/customXml" ds:itemID="{DE1B39DE-0AD8-4649-B396-F5BD7E5146E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9A0E99F-2CA7-4F0B-BE2F-B24C22C8B2A3}"/>
</file>

<file path=docMetadata/LabelInfo.xml><?xml version="1.0" encoding="utf-8"?>
<clbl:labelList xmlns:clbl="http://schemas.microsoft.com/office/2020/mipLabelMetadata">
  <clbl:label id="{e95f1b23-abaf-45ee-821d-b7ab251ab3bf}" enabled="0" method="" siteId="{e95f1b23-abaf-45ee-821d-b7ab251ab3bf}" removed="1"/>
</clbl:labelList>
</file>

<file path=docProps/app.xml><?xml version="1.0" encoding="utf-8"?>
<Properties xmlns="http://schemas.openxmlformats.org/officeDocument/2006/extended-properties" xmlns:vt="http://schemas.openxmlformats.org/officeDocument/2006/docPropsVTypes">
  <TotalTime>26</TotalTime>
  <Words>2803</Words>
  <Application>Microsoft Office PowerPoint</Application>
  <PresentationFormat>Widescreen</PresentationFormat>
  <Paragraphs>274</Paragraphs>
  <Slides>11</Slides>
  <Notes>7</Notes>
  <HiddenSlides>0</HiddenSlides>
  <MMClips>0</MMClips>
  <ScaleCrop>false</ScaleCrop>
  <HeadingPairs>
    <vt:vector size="8" baseType="variant">
      <vt:variant>
        <vt:lpstr>Fonts Used</vt:lpstr>
      </vt:variant>
      <vt:variant>
        <vt:i4>8</vt:i4>
      </vt:variant>
      <vt:variant>
        <vt:lpstr>Theme</vt:lpstr>
      </vt:variant>
      <vt:variant>
        <vt:i4>5</vt:i4>
      </vt:variant>
      <vt:variant>
        <vt:lpstr>Embedded OLE Servers</vt:lpstr>
      </vt:variant>
      <vt:variant>
        <vt:i4>1</vt:i4>
      </vt:variant>
      <vt:variant>
        <vt:lpstr>Slide Titles</vt:lpstr>
      </vt:variant>
      <vt:variant>
        <vt:i4>11</vt:i4>
      </vt:variant>
    </vt:vector>
  </HeadingPairs>
  <TitlesOfParts>
    <vt:vector size="25" baseType="lpstr">
      <vt:lpstr>Arial</vt:lpstr>
      <vt:lpstr>ArialMT</vt:lpstr>
      <vt:lpstr>Calibri</vt:lpstr>
      <vt:lpstr>Calibri Light</vt:lpstr>
      <vt:lpstr>Georgia</vt:lpstr>
      <vt:lpstr>Myriad Pro</vt:lpstr>
      <vt:lpstr>Times New Roman</vt:lpstr>
      <vt:lpstr>Wingdings</vt:lpstr>
      <vt:lpstr>6_Office Theme</vt:lpstr>
      <vt:lpstr>VA Template</vt:lpstr>
      <vt:lpstr>7_Office Theme</vt:lpstr>
      <vt:lpstr>1_Office Theme</vt:lpstr>
      <vt:lpstr>40_Office Theme</vt:lpstr>
      <vt:lpstr>think-cell Slide</vt:lpstr>
      <vt:lpstr>Rehabilitation Research, Development and Translation Centers</vt:lpstr>
      <vt:lpstr>Collectively Centers Address Rehabilitation Needs to                                                      Improve Function and Independence: Disabling Conditions, Populations, Interventions</vt:lpstr>
      <vt:lpstr>VA Rehabilitation Science Community</vt:lpstr>
      <vt:lpstr>PowerPoint Presentation</vt:lpstr>
      <vt:lpstr>PowerPoint Presentation</vt:lpstr>
      <vt:lpstr>PowerPoint Presentation</vt:lpstr>
      <vt:lpstr>ORD Rehabilitation Research Highlights  </vt:lpstr>
      <vt:lpstr>Enabling Sensation to Touch via Prosthetic Limbs  </vt:lpstr>
      <vt:lpstr>Restoring Communication &amp; Mobility via Brain-Computer Interface </vt:lpstr>
      <vt:lpstr>Addressing Prosthetic Needs of Women Veterans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REHABILITATION RESEARCH, DEVELOPMENT AND TRANSLATION CENTERS</dc:title>
  <dc:creator>Spaniol, Erin D.</dc:creator>
  <cp:lastModifiedBy>Spaniol, Erin D.</cp:lastModifiedBy>
  <cp:revision>4</cp:revision>
  <dcterms:created xsi:type="dcterms:W3CDTF">2024-10-28T17:24:48Z</dcterms:created>
  <dcterms:modified xsi:type="dcterms:W3CDTF">2025-02-05T20:26:27Z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0x010100F670CDE65625E449B41BBE9E2A9D6E5A</vt:lpwstr>
  </property>
  <property fmtid="{D5CDD505-2E9C-101B-9397-08002B2CF9AE}" pid="3" name="MediaServiceImageTags">
    <vt:lpwstr/>
  </property>
</Properties>
</file>