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4"/>
    <p:sldMasterId id="2147483689" r:id="rId5"/>
    <p:sldMasterId id="2147483726" r:id="rId6"/>
  </p:sldMasterIdLst>
  <p:notesMasterIdLst>
    <p:notesMasterId r:id="rId38"/>
  </p:notesMasterIdLst>
  <p:sldIdLst>
    <p:sldId id="2134807165" r:id="rId7"/>
    <p:sldId id="263" r:id="rId8"/>
    <p:sldId id="2147482522" r:id="rId9"/>
    <p:sldId id="257" r:id="rId10"/>
    <p:sldId id="2147482524" r:id="rId11"/>
    <p:sldId id="270" r:id="rId12"/>
    <p:sldId id="2147482525" r:id="rId13"/>
    <p:sldId id="2147482527" r:id="rId14"/>
    <p:sldId id="2147483645" r:id="rId15"/>
    <p:sldId id="2147483647" r:id="rId16"/>
    <p:sldId id="2147482532" r:id="rId17"/>
    <p:sldId id="2147482533" r:id="rId18"/>
    <p:sldId id="3174" r:id="rId19"/>
    <p:sldId id="3163" r:id="rId20"/>
    <p:sldId id="2147483643" r:id="rId21"/>
    <p:sldId id="2147483646" r:id="rId22"/>
    <p:sldId id="2147482528" r:id="rId23"/>
    <p:sldId id="2147482529" r:id="rId24"/>
    <p:sldId id="2147482530" r:id="rId25"/>
    <p:sldId id="3203" r:id="rId26"/>
    <p:sldId id="2147483641" r:id="rId27"/>
    <p:sldId id="2134806476" r:id="rId28"/>
    <p:sldId id="256" r:id="rId29"/>
    <p:sldId id="2147479773" r:id="rId30"/>
    <p:sldId id="2147482475" r:id="rId31"/>
    <p:sldId id="260" r:id="rId32"/>
    <p:sldId id="2147480120" r:id="rId33"/>
    <p:sldId id="2147471757" r:id="rId34"/>
    <p:sldId id="294" r:id="rId35"/>
    <p:sldId id="318" r:id="rId36"/>
    <p:sldId id="320" r:id="rId37"/>
  </p:sldIdLst>
  <p:sldSz cx="12192000" cy="6858000"/>
  <p:notesSz cx="7099300" cy="10234613"/>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6CB479B-6EED-45C1-96A2-CEC4215EB4E0}">
          <p14:sldIdLst>
            <p14:sldId id="2134807165"/>
            <p14:sldId id="263"/>
            <p14:sldId id="2147482522"/>
            <p14:sldId id="257"/>
            <p14:sldId id="2147482524"/>
            <p14:sldId id="270"/>
            <p14:sldId id="2147482525"/>
            <p14:sldId id="2147482527"/>
            <p14:sldId id="2147483645"/>
            <p14:sldId id="2147483647"/>
            <p14:sldId id="2147482532"/>
            <p14:sldId id="2147482533"/>
            <p14:sldId id="3174"/>
            <p14:sldId id="3163"/>
            <p14:sldId id="2147483643"/>
            <p14:sldId id="2147483646"/>
            <p14:sldId id="2147482528"/>
            <p14:sldId id="2147482529"/>
            <p14:sldId id="2147482530"/>
            <p14:sldId id="3203"/>
            <p14:sldId id="2147483641"/>
            <p14:sldId id="2134806476"/>
            <p14:sldId id="256"/>
            <p14:sldId id="2147479773"/>
            <p14:sldId id="2147482475"/>
            <p14:sldId id="260"/>
            <p14:sldId id="2147480120"/>
            <p14:sldId id="2147471757"/>
            <p14:sldId id="294"/>
            <p14:sldId id="318"/>
            <p14:sldId id="320"/>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EF08203-6ACB-C6A8-406B-6C86054AB8E5}" name="Dobscha, Steven (Portland)" initials="DS(" userId="S::Steven.Dobscha@va.gov::7d707a23-e294-449f-b613-f4c77ca2a863" providerId="AD"/>
  <p188:author id="{A1F3DA2D-DBC8-AE4B-7231-FDDD1B565FB6}" name="Ilgen, Mark" initials="MI" userId="S::marki@med.umich.edu::487ba402-a494-4c1c-943f-68e128e7cc0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phepach" initials="p"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7F6FF"/>
    <a:srgbClr val="0066FF"/>
    <a:srgbClr val="0099FF"/>
    <a:srgbClr val="3399FF"/>
    <a:srgbClr val="ECEBEB"/>
    <a:srgbClr val="002F56"/>
    <a:srgbClr val="DAD7D7"/>
    <a:srgbClr val="A29C9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C0AA76-1C8F-4DEE-B322-04378F1B59FD}" v="43" dt="2026-03-17T21:01:55.830"/>
  </p1510:revLst>
</p1510:revInfo>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746" autoAdjust="0"/>
  </p:normalViewPr>
  <p:slideViewPr>
    <p:cSldViewPr snapToGrid="0">
      <p:cViewPr varScale="1">
        <p:scale>
          <a:sx n="87" d="100"/>
          <a:sy n="87" d="100"/>
        </p:scale>
        <p:origin x="1428" y="78"/>
      </p:cViewPr>
      <p:guideLst/>
    </p:cSldViewPr>
  </p:slideViewPr>
  <p:notesTextViewPr>
    <p:cViewPr>
      <p:scale>
        <a:sx n="3" d="2"/>
        <a:sy n="3" d="2"/>
      </p:scale>
      <p:origin x="0" y="0"/>
    </p:cViewPr>
  </p:notesTextViewPr>
  <p:sorterViewPr>
    <p:cViewPr>
      <p:scale>
        <a:sx n="100" d="100"/>
        <a:sy n="100" d="100"/>
      </p:scale>
      <p:origin x="0" y="0"/>
    </p:cViewPr>
  </p:sorter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tags" Target="tags/tag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viewProps" Target="viewProps.xml"/><Relationship Id="rId47"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46"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ger, Mark A (Puget Sound)" userId="e2495bcb-5c98-4968-859b-21816a0e454c" providerId="ADAL" clId="{E1A0B215-7570-484F-AD89-FD1DE71200FB}"/>
    <pc:docChg chg="undo redo custSel addSld delSld modSld sldOrd delMainMaster modSection">
      <pc:chgData name="Reger, Mark A (Puget Sound)" userId="e2495bcb-5c98-4968-859b-21816a0e454c" providerId="ADAL" clId="{E1A0B215-7570-484F-AD89-FD1DE71200FB}" dt="2026-03-17T21:17:02.580" v="3885" actId="20577"/>
      <pc:docMkLst>
        <pc:docMk/>
      </pc:docMkLst>
      <pc:sldChg chg="new del">
        <pc:chgData name="Reger, Mark A (Puget Sound)" userId="e2495bcb-5c98-4968-859b-21816a0e454c" providerId="ADAL" clId="{E1A0B215-7570-484F-AD89-FD1DE71200FB}" dt="2026-03-16T21:22:48.949" v="3522" actId="680"/>
        <pc:sldMkLst>
          <pc:docMk/>
          <pc:sldMk cId="308098618" sldId="256"/>
        </pc:sldMkLst>
      </pc:sldChg>
      <pc:sldChg chg="addSp delSp modSp new mod ord">
        <pc:chgData name="Reger, Mark A (Puget Sound)" userId="e2495bcb-5c98-4968-859b-21816a0e454c" providerId="ADAL" clId="{E1A0B215-7570-484F-AD89-FD1DE71200FB}" dt="2026-03-17T21:09:53.835" v="3877" actId="1035"/>
        <pc:sldMkLst>
          <pc:docMk/>
          <pc:sldMk cId="3843667071" sldId="256"/>
        </pc:sldMkLst>
        <pc:spChg chg="add mod">
          <ac:chgData name="Reger, Mark A (Puget Sound)" userId="e2495bcb-5c98-4968-859b-21816a0e454c" providerId="ADAL" clId="{E1A0B215-7570-484F-AD89-FD1DE71200FB}" dt="2026-03-16T21:23:13.997" v="3546" actId="20577"/>
          <ac:spMkLst>
            <pc:docMk/>
            <pc:sldMk cId="3843667071" sldId="256"/>
            <ac:spMk id="3" creationId="{AFD250FA-9CF1-E961-7FD6-9082396B3047}"/>
          </ac:spMkLst>
        </pc:spChg>
        <pc:spChg chg="add mod">
          <ac:chgData name="Reger, Mark A (Puget Sound)" userId="e2495bcb-5c98-4968-859b-21816a0e454c" providerId="ADAL" clId="{E1A0B215-7570-484F-AD89-FD1DE71200FB}" dt="2026-03-17T21:09:53.835" v="3877" actId="1035"/>
          <ac:spMkLst>
            <pc:docMk/>
            <pc:sldMk cId="3843667071" sldId="256"/>
            <ac:spMk id="4" creationId="{D94E9196-A4F8-8396-A27F-A568DA4DD577}"/>
          </ac:spMkLst>
        </pc:spChg>
        <pc:picChg chg="add del mod">
          <ac:chgData name="Reger, Mark A (Puget Sound)" userId="e2495bcb-5c98-4968-859b-21816a0e454c" providerId="ADAL" clId="{E1A0B215-7570-484F-AD89-FD1DE71200FB}" dt="2026-03-17T19:18:01.113" v="3729" actId="478"/>
          <ac:picMkLst>
            <pc:docMk/>
            <pc:sldMk cId="3843667071" sldId="256"/>
            <ac:picMk id="6" creationId="{B6CF7F3F-ECF5-CB58-D627-A3F0F38AB36C}"/>
          </ac:picMkLst>
        </pc:picChg>
        <pc:picChg chg="add mod ord">
          <ac:chgData name="Reger, Mark A (Puget Sound)" userId="e2495bcb-5c98-4968-859b-21816a0e454c" providerId="ADAL" clId="{E1A0B215-7570-484F-AD89-FD1DE71200FB}" dt="2026-03-17T21:09:53.835" v="3877" actId="1035"/>
          <ac:picMkLst>
            <pc:docMk/>
            <pc:sldMk cId="3843667071" sldId="256"/>
            <ac:picMk id="7" creationId="{92853A26-54F2-C5C7-69B0-73879D10FA3D}"/>
          </ac:picMkLst>
        </pc:picChg>
        <pc:picChg chg="add del mod">
          <ac:chgData name="Reger, Mark A (Puget Sound)" userId="e2495bcb-5c98-4968-859b-21816a0e454c" providerId="ADAL" clId="{E1A0B215-7570-484F-AD89-FD1DE71200FB}" dt="2026-03-16T21:57:51.277" v="3609" actId="478"/>
          <ac:picMkLst>
            <pc:docMk/>
            <pc:sldMk cId="3843667071" sldId="256"/>
            <ac:picMk id="1026" creationId="{B58C46BC-5E00-62ED-4E09-42C0FDBBD0A2}"/>
          </ac:picMkLst>
        </pc:picChg>
      </pc:sldChg>
      <pc:sldChg chg="modSp mod">
        <pc:chgData name="Reger, Mark A (Puget Sound)" userId="e2495bcb-5c98-4968-859b-21816a0e454c" providerId="ADAL" clId="{E1A0B215-7570-484F-AD89-FD1DE71200FB}" dt="2026-03-16T21:20:18.141" v="3519" actId="20577"/>
        <pc:sldMkLst>
          <pc:docMk/>
          <pc:sldMk cId="0" sldId="257"/>
        </pc:sldMkLst>
        <pc:spChg chg="mod">
          <ac:chgData name="Reger, Mark A (Puget Sound)" userId="e2495bcb-5c98-4968-859b-21816a0e454c" providerId="ADAL" clId="{E1A0B215-7570-484F-AD89-FD1DE71200FB}" dt="2026-03-16T21:20:18.141" v="3519" actId="20577"/>
          <ac:spMkLst>
            <pc:docMk/>
            <pc:sldMk cId="0" sldId="257"/>
            <ac:spMk id="3" creationId="{67F4D478-D356-7851-5B1F-FDECCC63E0F3}"/>
          </ac:spMkLst>
        </pc:spChg>
      </pc:sldChg>
      <pc:sldChg chg="new del">
        <pc:chgData name="Reger, Mark A (Puget Sound)" userId="e2495bcb-5c98-4968-859b-21816a0e454c" providerId="ADAL" clId="{E1A0B215-7570-484F-AD89-FD1DE71200FB}" dt="2026-03-16T22:32:48.534" v="3670" actId="47"/>
        <pc:sldMkLst>
          <pc:docMk/>
          <pc:sldMk cId="1979831739" sldId="258"/>
        </pc:sldMkLst>
      </pc:sldChg>
      <pc:sldChg chg="new del ord">
        <pc:chgData name="Reger, Mark A (Puget Sound)" userId="e2495bcb-5c98-4968-859b-21816a0e454c" providerId="ADAL" clId="{E1A0B215-7570-484F-AD89-FD1DE71200FB}" dt="2026-03-16T22:32:49.685" v="3671" actId="47"/>
        <pc:sldMkLst>
          <pc:docMk/>
          <pc:sldMk cId="2916418991" sldId="259"/>
        </pc:sldMkLst>
      </pc:sldChg>
      <pc:sldChg chg="modSp add mod">
        <pc:chgData name="Reger, Mark A (Puget Sound)" userId="e2495bcb-5c98-4968-859b-21816a0e454c" providerId="ADAL" clId="{E1A0B215-7570-484F-AD89-FD1DE71200FB}" dt="2026-03-16T22:32:43.961" v="3669" actId="20577"/>
        <pc:sldMkLst>
          <pc:docMk/>
          <pc:sldMk cId="3166855331" sldId="260"/>
        </pc:sldMkLst>
        <pc:spChg chg="mod">
          <ac:chgData name="Reger, Mark A (Puget Sound)" userId="e2495bcb-5c98-4968-859b-21816a0e454c" providerId="ADAL" clId="{E1A0B215-7570-484F-AD89-FD1DE71200FB}" dt="2026-03-16T22:32:43.961" v="3669" actId="20577"/>
          <ac:spMkLst>
            <pc:docMk/>
            <pc:sldMk cId="3166855331" sldId="260"/>
            <ac:spMk id="2" creationId="{F0F53E6A-50CE-0D01-ED7D-BCC72735EFA6}"/>
          </ac:spMkLst>
        </pc:spChg>
      </pc:sldChg>
      <pc:sldChg chg="addSp delSp modSp mod">
        <pc:chgData name="Reger, Mark A (Puget Sound)" userId="e2495bcb-5c98-4968-859b-21816a0e454c" providerId="ADAL" clId="{E1A0B215-7570-484F-AD89-FD1DE71200FB}" dt="2026-02-17T15:49:05.964" v="2689" actId="20577"/>
        <pc:sldMkLst>
          <pc:docMk/>
          <pc:sldMk cId="3352216488" sldId="263"/>
        </pc:sldMkLst>
        <pc:spChg chg="add mod">
          <ac:chgData name="Reger, Mark A (Puget Sound)" userId="e2495bcb-5c98-4968-859b-21816a0e454c" providerId="ADAL" clId="{E1A0B215-7570-484F-AD89-FD1DE71200FB}" dt="2026-02-17T15:49:05.964" v="2689" actId="20577"/>
          <ac:spMkLst>
            <pc:docMk/>
            <pc:sldMk cId="3352216488" sldId="263"/>
            <ac:spMk id="2" creationId="{50D702DB-20C4-90B4-3E30-A5CA676D3B53}"/>
          </ac:spMkLst>
        </pc:spChg>
      </pc:sldChg>
      <pc:sldChg chg="add del">
        <pc:chgData name="Reger, Mark A (Puget Sound)" userId="e2495bcb-5c98-4968-859b-21816a0e454c" providerId="ADAL" clId="{E1A0B215-7570-484F-AD89-FD1DE71200FB}" dt="2026-03-17T20:59:58.013" v="3766"/>
        <pc:sldMkLst>
          <pc:docMk/>
          <pc:sldMk cId="3933422030" sldId="294"/>
        </pc:sldMkLst>
      </pc:sldChg>
      <pc:sldChg chg="add">
        <pc:chgData name="Reger, Mark A (Puget Sound)" userId="e2495bcb-5c98-4968-859b-21816a0e454c" providerId="ADAL" clId="{E1A0B215-7570-484F-AD89-FD1DE71200FB}" dt="2026-03-17T21:01:06.810" v="3767"/>
        <pc:sldMkLst>
          <pc:docMk/>
          <pc:sldMk cId="2360612490" sldId="318"/>
        </pc:sldMkLst>
      </pc:sldChg>
      <pc:sldChg chg="add">
        <pc:chgData name="Reger, Mark A (Puget Sound)" userId="e2495bcb-5c98-4968-859b-21816a0e454c" providerId="ADAL" clId="{E1A0B215-7570-484F-AD89-FD1DE71200FB}" dt="2026-03-17T21:01:55.828" v="3768"/>
        <pc:sldMkLst>
          <pc:docMk/>
          <pc:sldMk cId="2601117881" sldId="320"/>
        </pc:sldMkLst>
      </pc:sldChg>
      <pc:sldChg chg="modSp mod">
        <pc:chgData name="Reger, Mark A (Puget Sound)" userId="e2495bcb-5c98-4968-859b-21816a0e454c" providerId="ADAL" clId="{E1A0B215-7570-484F-AD89-FD1DE71200FB}" dt="2026-03-16T20:59:46.359" v="3500" actId="113"/>
        <pc:sldMkLst>
          <pc:docMk/>
          <pc:sldMk cId="2536161507" sldId="3163"/>
        </pc:sldMkLst>
        <pc:spChg chg="mod">
          <ac:chgData name="Reger, Mark A (Puget Sound)" userId="e2495bcb-5c98-4968-859b-21816a0e454c" providerId="ADAL" clId="{E1A0B215-7570-484F-AD89-FD1DE71200FB}" dt="2026-03-16T20:59:46.359" v="3500" actId="113"/>
          <ac:spMkLst>
            <pc:docMk/>
            <pc:sldMk cId="2536161507" sldId="3163"/>
            <ac:spMk id="4" creationId="{1FF71CFA-F3B1-9002-64B0-C9FA4811F3CC}"/>
          </ac:spMkLst>
        </pc:spChg>
        <pc:spChg chg="mod">
          <ac:chgData name="Reger, Mark A (Puget Sound)" userId="e2495bcb-5c98-4968-859b-21816a0e454c" providerId="ADAL" clId="{E1A0B215-7570-484F-AD89-FD1DE71200FB}" dt="2026-03-16T20:30:05.115" v="2905" actId="1076"/>
          <ac:spMkLst>
            <pc:docMk/>
            <pc:sldMk cId="2536161507" sldId="3163"/>
            <ac:spMk id="6" creationId="{A3664EB8-9E1C-4C1F-4ECA-B04C9BE42ED5}"/>
          </ac:spMkLst>
        </pc:spChg>
      </pc:sldChg>
      <pc:sldChg chg="modSp mod ord">
        <pc:chgData name="Reger, Mark A (Puget Sound)" userId="e2495bcb-5c98-4968-859b-21816a0e454c" providerId="ADAL" clId="{E1A0B215-7570-484F-AD89-FD1DE71200FB}" dt="2026-03-17T19:30:23.413" v="3744" actId="27636"/>
        <pc:sldMkLst>
          <pc:docMk/>
          <pc:sldMk cId="2364112116" sldId="3203"/>
        </pc:sldMkLst>
        <pc:spChg chg="mod">
          <ac:chgData name="Reger, Mark A (Puget Sound)" userId="e2495bcb-5c98-4968-859b-21816a0e454c" providerId="ADAL" clId="{E1A0B215-7570-484F-AD89-FD1DE71200FB}" dt="2026-03-17T19:30:23.413" v="3744" actId="27636"/>
          <ac:spMkLst>
            <pc:docMk/>
            <pc:sldMk cId="2364112116" sldId="3203"/>
            <ac:spMk id="3" creationId="{C33F407A-0741-A708-8A21-3408CEFE166E}"/>
          </ac:spMkLst>
        </pc:spChg>
        <pc:spChg chg="mod">
          <ac:chgData name="Reger, Mark A (Puget Sound)" userId="e2495bcb-5c98-4968-859b-21816a0e454c" providerId="ADAL" clId="{E1A0B215-7570-484F-AD89-FD1DE71200FB}" dt="2026-03-16T20:59:09.827" v="3495" actId="113"/>
          <ac:spMkLst>
            <pc:docMk/>
            <pc:sldMk cId="2364112116" sldId="3203"/>
            <ac:spMk id="6" creationId="{F04D180D-C77F-A219-8F7B-463564EAE274}"/>
          </ac:spMkLst>
        </pc:spChg>
      </pc:sldChg>
      <pc:sldChg chg="addSp modSp add del mod ord">
        <pc:chgData name="Reger, Mark A (Puget Sound)" userId="e2495bcb-5c98-4968-859b-21816a0e454c" providerId="ADAL" clId="{E1A0B215-7570-484F-AD89-FD1DE71200FB}" dt="2026-03-16T22:04:13.734" v="3625" actId="6549"/>
        <pc:sldMkLst>
          <pc:docMk/>
          <pc:sldMk cId="2999480440" sldId="2134806476"/>
        </pc:sldMkLst>
        <pc:spChg chg="mod">
          <ac:chgData name="Reger, Mark A (Puget Sound)" userId="e2495bcb-5c98-4968-859b-21816a0e454c" providerId="ADAL" clId="{E1A0B215-7570-484F-AD89-FD1DE71200FB}" dt="2026-03-16T22:04:13.734" v="3625" actId="6549"/>
          <ac:spMkLst>
            <pc:docMk/>
            <pc:sldMk cId="2999480440" sldId="2134806476"/>
            <ac:spMk id="2" creationId="{5D74207D-98A8-0480-2241-9A4DD147012E}"/>
          </ac:spMkLst>
        </pc:spChg>
        <pc:spChg chg="mod">
          <ac:chgData name="Reger, Mark A (Puget Sound)" userId="e2495bcb-5c98-4968-859b-21816a0e454c" providerId="ADAL" clId="{E1A0B215-7570-484F-AD89-FD1DE71200FB}" dt="2026-03-16T21:04:33.921" v="3512" actId="1076"/>
          <ac:spMkLst>
            <pc:docMk/>
            <pc:sldMk cId="2999480440" sldId="2134806476"/>
            <ac:spMk id="3" creationId="{C84C70C7-C941-F0D2-3B5E-D4544DAF9C6D}"/>
          </ac:spMkLst>
        </pc:spChg>
        <pc:picChg chg="add mod">
          <ac:chgData name="Reger, Mark A (Puget Sound)" userId="e2495bcb-5c98-4968-859b-21816a0e454c" providerId="ADAL" clId="{E1A0B215-7570-484F-AD89-FD1DE71200FB}" dt="2026-03-16T22:04:09.415" v="3617" actId="1076"/>
          <ac:picMkLst>
            <pc:docMk/>
            <pc:sldMk cId="2999480440" sldId="2134806476"/>
            <ac:picMk id="4" creationId="{3DB1C4D8-836A-580A-FFB0-8B77615CF835}"/>
          </ac:picMkLst>
        </pc:picChg>
      </pc:sldChg>
      <pc:sldChg chg="modSp mod">
        <pc:chgData name="Reger, Mark A (Puget Sound)" userId="e2495bcb-5c98-4968-859b-21816a0e454c" providerId="ADAL" clId="{E1A0B215-7570-484F-AD89-FD1DE71200FB}" dt="2026-03-17T21:17:02.580" v="3885" actId="20577"/>
        <pc:sldMkLst>
          <pc:docMk/>
          <pc:sldMk cId="277998133" sldId="2134807165"/>
        </pc:sldMkLst>
        <pc:spChg chg="mod">
          <ac:chgData name="Reger, Mark A (Puget Sound)" userId="e2495bcb-5c98-4968-859b-21816a0e454c" providerId="ADAL" clId="{E1A0B215-7570-484F-AD89-FD1DE71200FB}" dt="2026-03-17T21:17:02.580" v="3885" actId="20577"/>
          <ac:spMkLst>
            <pc:docMk/>
            <pc:sldMk cId="277998133" sldId="2134807165"/>
            <ac:spMk id="4" creationId="{A542717B-EFDD-26C1-22D7-48B192576474}"/>
          </ac:spMkLst>
        </pc:spChg>
        <pc:spChg chg="mod">
          <ac:chgData name="Reger, Mark A (Puget Sound)" userId="e2495bcb-5c98-4968-859b-21816a0e454c" providerId="ADAL" clId="{E1A0B215-7570-484F-AD89-FD1DE71200FB}" dt="2026-03-17T19:26:48.705" v="3740" actId="20577"/>
          <ac:spMkLst>
            <pc:docMk/>
            <pc:sldMk cId="277998133" sldId="2134807165"/>
            <ac:spMk id="5" creationId="{2E723CEA-1252-8E5A-1913-8A3FCF71DE46}"/>
          </ac:spMkLst>
        </pc:spChg>
      </pc:sldChg>
      <pc:sldChg chg="modSp add del mod">
        <pc:chgData name="Reger, Mark A (Puget Sound)" userId="e2495bcb-5c98-4968-859b-21816a0e454c" providerId="ADAL" clId="{E1A0B215-7570-484F-AD89-FD1DE71200FB}" dt="2026-03-17T20:57:51.594" v="3763" actId="1076"/>
        <pc:sldMkLst>
          <pc:docMk/>
          <pc:sldMk cId="3148657167" sldId="2147471757"/>
        </pc:sldMkLst>
        <pc:spChg chg="mod">
          <ac:chgData name="Reger, Mark A (Puget Sound)" userId="e2495bcb-5c98-4968-859b-21816a0e454c" providerId="ADAL" clId="{E1A0B215-7570-484F-AD89-FD1DE71200FB}" dt="2026-03-17T20:57:51.594" v="3763" actId="1076"/>
          <ac:spMkLst>
            <pc:docMk/>
            <pc:sldMk cId="3148657167" sldId="2147471757"/>
            <ac:spMk id="2" creationId="{F2BE0850-8281-FC57-60F2-88BAB2EF04DD}"/>
          </ac:spMkLst>
        </pc:spChg>
      </pc:sldChg>
      <pc:sldChg chg="del">
        <pc:chgData name="Reger, Mark A (Puget Sound)" userId="e2495bcb-5c98-4968-859b-21816a0e454c" providerId="ADAL" clId="{E1A0B215-7570-484F-AD89-FD1DE71200FB}" dt="2026-03-16T22:31:36.651" v="3654" actId="47"/>
        <pc:sldMkLst>
          <pc:docMk/>
          <pc:sldMk cId="4130957814" sldId="2147479756"/>
        </pc:sldMkLst>
      </pc:sldChg>
      <pc:sldChg chg="del">
        <pc:chgData name="Reger, Mark A (Puget Sound)" userId="e2495bcb-5c98-4968-859b-21816a0e454c" providerId="ADAL" clId="{E1A0B215-7570-484F-AD89-FD1DE71200FB}" dt="2026-03-16T20:57:20.414" v="3491" actId="47"/>
        <pc:sldMkLst>
          <pc:docMk/>
          <pc:sldMk cId="2165270709" sldId="2147479769"/>
        </pc:sldMkLst>
      </pc:sldChg>
      <pc:sldChg chg="modSp mod">
        <pc:chgData name="Reger, Mark A (Puget Sound)" userId="e2495bcb-5c98-4968-859b-21816a0e454c" providerId="ADAL" clId="{E1A0B215-7570-484F-AD89-FD1DE71200FB}" dt="2026-03-17T21:11:39.799" v="3883" actId="20577"/>
        <pc:sldMkLst>
          <pc:docMk/>
          <pc:sldMk cId="747045310" sldId="2147479773"/>
        </pc:sldMkLst>
        <pc:spChg chg="mod">
          <ac:chgData name="Reger, Mark A (Puget Sound)" userId="e2495bcb-5c98-4968-859b-21816a0e454c" providerId="ADAL" clId="{E1A0B215-7570-484F-AD89-FD1DE71200FB}" dt="2026-03-17T21:11:39.799" v="3883" actId="20577"/>
          <ac:spMkLst>
            <pc:docMk/>
            <pc:sldMk cId="747045310" sldId="2147479773"/>
            <ac:spMk id="4" creationId="{BBAB6AB6-2B32-8347-B8A3-C6345CC11426}"/>
          </ac:spMkLst>
        </pc:spChg>
        <pc:spChg chg="mod">
          <ac:chgData name="Reger, Mark A (Puget Sound)" userId="e2495bcb-5c98-4968-859b-21816a0e454c" providerId="ADAL" clId="{E1A0B215-7570-484F-AD89-FD1DE71200FB}" dt="2026-03-16T20:59:27.403" v="3499" actId="113"/>
          <ac:spMkLst>
            <pc:docMk/>
            <pc:sldMk cId="747045310" sldId="2147479773"/>
            <ac:spMk id="15" creationId="{AC8054CD-A5F2-33F9-E4DB-C6B0D0699BBE}"/>
          </ac:spMkLst>
        </pc:spChg>
      </pc:sldChg>
      <pc:sldChg chg="modSp mod">
        <pc:chgData name="Reger, Mark A (Puget Sound)" userId="e2495bcb-5c98-4968-859b-21816a0e454c" providerId="ADAL" clId="{E1A0B215-7570-484F-AD89-FD1DE71200FB}" dt="2026-03-17T20:57:43.279" v="3762" actId="20577"/>
        <pc:sldMkLst>
          <pc:docMk/>
          <pc:sldMk cId="995255745" sldId="2147480120"/>
        </pc:sldMkLst>
        <pc:spChg chg="mod">
          <ac:chgData name="Reger, Mark A (Puget Sound)" userId="e2495bcb-5c98-4968-859b-21816a0e454c" providerId="ADAL" clId="{E1A0B215-7570-484F-AD89-FD1DE71200FB}" dt="2026-03-17T20:57:43.279" v="3762" actId="20577"/>
          <ac:spMkLst>
            <pc:docMk/>
            <pc:sldMk cId="995255745" sldId="2147480120"/>
            <ac:spMk id="2" creationId="{239A3421-FD5B-18D3-AB42-33BB811334DC}"/>
          </ac:spMkLst>
        </pc:spChg>
      </pc:sldChg>
      <pc:sldChg chg="del">
        <pc:chgData name="Reger, Mark A (Puget Sound)" userId="e2495bcb-5c98-4968-859b-21816a0e454c" providerId="ADAL" clId="{E1A0B215-7570-484F-AD89-FD1DE71200FB}" dt="2026-03-16T20:57:34.184" v="3492" actId="47"/>
        <pc:sldMkLst>
          <pc:docMk/>
          <pc:sldMk cId="1584779528" sldId="2147480147"/>
        </pc:sldMkLst>
      </pc:sldChg>
      <pc:sldChg chg="del">
        <pc:chgData name="Reger, Mark A (Puget Sound)" userId="e2495bcb-5c98-4968-859b-21816a0e454c" providerId="ADAL" clId="{E1A0B215-7570-484F-AD89-FD1DE71200FB}" dt="2026-03-16T22:31:16.628" v="3650" actId="47"/>
        <pc:sldMkLst>
          <pc:docMk/>
          <pc:sldMk cId="584731801" sldId="2147482494"/>
        </pc:sldMkLst>
      </pc:sldChg>
      <pc:sldChg chg="del">
        <pc:chgData name="Reger, Mark A (Puget Sound)" userId="e2495bcb-5c98-4968-859b-21816a0e454c" providerId="ADAL" clId="{E1A0B215-7570-484F-AD89-FD1DE71200FB}" dt="2026-03-16T22:31:17.792" v="3651" actId="47"/>
        <pc:sldMkLst>
          <pc:docMk/>
          <pc:sldMk cId="2467613869" sldId="2147482496"/>
        </pc:sldMkLst>
      </pc:sldChg>
      <pc:sldChg chg="del">
        <pc:chgData name="Reger, Mark A (Puget Sound)" userId="e2495bcb-5c98-4968-859b-21816a0e454c" providerId="ADAL" clId="{E1A0B215-7570-484F-AD89-FD1DE71200FB}" dt="2026-03-16T22:31:24.345" v="3652" actId="47"/>
        <pc:sldMkLst>
          <pc:docMk/>
          <pc:sldMk cId="4111828901" sldId="2147482508"/>
        </pc:sldMkLst>
      </pc:sldChg>
      <pc:sldChg chg="del">
        <pc:chgData name="Reger, Mark A (Puget Sound)" userId="e2495bcb-5c98-4968-859b-21816a0e454c" providerId="ADAL" clId="{E1A0B215-7570-484F-AD89-FD1DE71200FB}" dt="2026-03-16T22:31:31.298" v="3653" actId="47"/>
        <pc:sldMkLst>
          <pc:docMk/>
          <pc:sldMk cId="3639211409" sldId="2147482514"/>
        </pc:sldMkLst>
      </pc:sldChg>
      <pc:sldChg chg="del">
        <pc:chgData name="Reger, Mark A (Puget Sound)" userId="e2495bcb-5c98-4968-859b-21816a0e454c" providerId="ADAL" clId="{E1A0B215-7570-484F-AD89-FD1DE71200FB}" dt="2026-03-16T22:31:44.103" v="3655" actId="47"/>
        <pc:sldMkLst>
          <pc:docMk/>
          <pc:sldMk cId="1430531036" sldId="2147482520"/>
        </pc:sldMkLst>
      </pc:sldChg>
      <pc:sldChg chg="del">
        <pc:chgData name="Reger, Mark A (Puget Sound)" userId="e2495bcb-5c98-4968-859b-21816a0e454c" providerId="ADAL" clId="{E1A0B215-7570-484F-AD89-FD1DE71200FB}" dt="2026-03-16T22:31:49.461" v="3656" actId="47"/>
        <pc:sldMkLst>
          <pc:docMk/>
          <pc:sldMk cId="2135693602" sldId="2147482521"/>
        </pc:sldMkLst>
      </pc:sldChg>
      <pc:sldChg chg="addSp delSp modSp new mod">
        <pc:chgData name="Reger, Mark A (Puget Sound)" userId="e2495bcb-5c98-4968-859b-21816a0e454c" providerId="ADAL" clId="{E1A0B215-7570-484F-AD89-FD1DE71200FB}" dt="2026-03-17T21:03:45.757" v="3796" actId="20577"/>
        <pc:sldMkLst>
          <pc:docMk/>
          <pc:sldMk cId="3787187294" sldId="2147482522"/>
        </pc:sldMkLst>
        <pc:spChg chg="add mod">
          <ac:chgData name="Reger, Mark A (Puget Sound)" userId="e2495bcb-5c98-4968-859b-21816a0e454c" providerId="ADAL" clId="{E1A0B215-7570-484F-AD89-FD1DE71200FB}" dt="2026-03-17T21:03:45.757" v="3796" actId="20577"/>
          <ac:spMkLst>
            <pc:docMk/>
            <pc:sldMk cId="3787187294" sldId="2147482522"/>
            <ac:spMk id="4" creationId="{E45ED299-21C4-D89C-E49B-AADCB7726D42}"/>
          </ac:spMkLst>
        </pc:spChg>
      </pc:sldChg>
      <pc:sldChg chg="del">
        <pc:chgData name="Reger, Mark A (Puget Sound)" userId="e2495bcb-5c98-4968-859b-21816a0e454c" providerId="ADAL" clId="{E1A0B215-7570-484F-AD89-FD1DE71200FB}" dt="2026-03-16T20:54:10.868" v="3485" actId="47"/>
        <pc:sldMkLst>
          <pc:docMk/>
          <pc:sldMk cId="3681395690" sldId="2147482523"/>
        </pc:sldMkLst>
      </pc:sldChg>
      <pc:sldChg chg="ord">
        <pc:chgData name="Reger, Mark A (Puget Sound)" userId="e2495bcb-5c98-4968-859b-21816a0e454c" providerId="ADAL" clId="{E1A0B215-7570-484F-AD89-FD1DE71200FB}" dt="2026-03-16T20:51:54.089" v="3454"/>
        <pc:sldMkLst>
          <pc:docMk/>
          <pc:sldMk cId="3046298090" sldId="2147482530"/>
        </pc:sldMkLst>
      </pc:sldChg>
      <pc:sldChg chg="addSp delSp modSp add del mod ord">
        <pc:chgData name="Reger, Mark A (Puget Sound)" userId="e2495bcb-5c98-4968-859b-21816a0e454c" providerId="ADAL" clId="{E1A0B215-7570-484F-AD89-FD1DE71200FB}" dt="2026-03-16T22:32:07.699" v="3657" actId="47"/>
        <pc:sldMkLst>
          <pc:docMk/>
          <pc:sldMk cId="4021228389" sldId="2147482531"/>
        </pc:sldMkLst>
      </pc:sldChg>
      <pc:sldChg chg="addSp modSp mod">
        <pc:chgData name="Reger, Mark A (Puget Sound)" userId="e2495bcb-5c98-4968-859b-21816a0e454c" providerId="ADAL" clId="{E1A0B215-7570-484F-AD89-FD1DE71200FB}" dt="2026-03-16T22:53:29.224" v="3728" actId="113"/>
        <pc:sldMkLst>
          <pc:docMk/>
          <pc:sldMk cId="2501284569" sldId="2147482532"/>
        </pc:sldMkLst>
        <pc:spChg chg="mod">
          <ac:chgData name="Reger, Mark A (Puget Sound)" userId="e2495bcb-5c98-4968-859b-21816a0e454c" providerId="ADAL" clId="{E1A0B215-7570-484F-AD89-FD1DE71200FB}" dt="2026-03-16T20:30:59.212" v="2914" actId="20577"/>
          <ac:spMkLst>
            <pc:docMk/>
            <pc:sldMk cId="2501284569" sldId="2147482532"/>
            <ac:spMk id="5" creationId="{7C648A86-0038-8BF4-ADAD-49B7F3D91A6C}"/>
          </ac:spMkLst>
        </pc:spChg>
        <pc:spChg chg="add mod">
          <ac:chgData name="Reger, Mark A (Puget Sound)" userId="e2495bcb-5c98-4968-859b-21816a0e454c" providerId="ADAL" clId="{E1A0B215-7570-484F-AD89-FD1DE71200FB}" dt="2026-03-16T22:44:10.970" v="3700" actId="1076"/>
          <ac:spMkLst>
            <pc:docMk/>
            <pc:sldMk cId="2501284569" sldId="2147482532"/>
            <ac:spMk id="6" creationId="{0E254BB2-1A75-CD18-E0B1-236B52872519}"/>
          </ac:spMkLst>
        </pc:spChg>
        <pc:spChg chg="add mod">
          <ac:chgData name="Reger, Mark A (Puget Sound)" userId="e2495bcb-5c98-4968-859b-21816a0e454c" providerId="ADAL" clId="{E1A0B215-7570-484F-AD89-FD1DE71200FB}" dt="2026-03-16T22:44:54.808" v="3704" actId="1076"/>
          <ac:spMkLst>
            <pc:docMk/>
            <pc:sldMk cId="2501284569" sldId="2147482532"/>
            <ac:spMk id="7" creationId="{FA4CBB62-713E-08E4-3AC6-EA97DD711B2D}"/>
          </ac:spMkLst>
        </pc:spChg>
        <pc:spChg chg="add mod">
          <ac:chgData name="Reger, Mark A (Puget Sound)" userId="e2495bcb-5c98-4968-859b-21816a0e454c" providerId="ADAL" clId="{E1A0B215-7570-484F-AD89-FD1DE71200FB}" dt="2026-03-16T22:45:26.811" v="3708" actId="1076"/>
          <ac:spMkLst>
            <pc:docMk/>
            <pc:sldMk cId="2501284569" sldId="2147482532"/>
            <ac:spMk id="8" creationId="{0C750274-F1C4-2EFB-2F13-5B9C415ED42C}"/>
          </ac:spMkLst>
        </pc:spChg>
        <pc:graphicFrameChg chg="mod modGraphic">
          <ac:chgData name="Reger, Mark A (Puget Sound)" userId="e2495bcb-5c98-4968-859b-21816a0e454c" providerId="ADAL" clId="{E1A0B215-7570-484F-AD89-FD1DE71200FB}" dt="2026-03-16T22:53:29.224" v="3728" actId="113"/>
          <ac:graphicFrameMkLst>
            <pc:docMk/>
            <pc:sldMk cId="2501284569" sldId="2147482532"/>
            <ac:graphicFrameMk id="3" creationId="{E9127B14-3AFB-9FC8-D37D-08CDAD0C21BC}"/>
          </ac:graphicFrameMkLst>
        </pc:graphicFrameChg>
      </pc:sldChg>
      <pc:sldChg chg="modSp mod">
        <pc:chgData name="Reger, Mark A (Puget Sound)" userId="e2495bcb-5c98-4968-859b-21816a0e454c" providerId="ADAL" clId="{E1A0B215-7570-484F-AD89-FD1DE71200FB}" dt="2026-03-16T22:36:26.372" v="3693" actId="20577"/>
        <pc:sldMkLst>
          <pc:docMk/>
          <pc:sldMk cId="122488379" sldId="2147482533"/>
        </pc:sldMkLst>
        <pc:spChg chg="mod">
          <ac:chgData name="Reger, Mark A (Puget Sound)" userId="e2495bcb-5c98-4968-859b-21816a0e454c" providerId="ADAL" clId="{E1A0B215-7570-484F-AD89-FD1DE71200FB}" dt="2026-03-16T20:25:28.958" v="2772" actId="20577"/>
          <ac:spMkLst>
            <pc:docMk/>
            <pc:sldMk cId="122488379" sldId="2147482533"/>
            <ac:spMk id="3" creationId="{66B134E3-1C9C-C0E7-DC93-18EE3ECE1D4F}"/>
          </ac:spMkLst>
        </pc:spChg>
        <pc:spChg chg="mod">
          <ac:chgData name="Reger, Mark A (Puget Sound)" userId="e2495bcb-5c98-4968-859b-21816a0e454c" providerId="ADAL" clId="{E1A0B215-7570-484F-AD89-FD1DE71200FB}" dt="2026-03-16T22:36:26.372" v="3693" actId="20577"/>
          <ac:spMkLst>
            <pc:docMk/>
            <pc:sldMk cId="122488379" sldId="2147482533"/>
            <ac:spMk id="4" creationId="{219FCCE7-FA10-24D1-2207-0C9C4C576A54}"/>
          </ac:spMkLst>
        </pc:spChg>
      </pc:sldChg>
      <pc:sldChg chg="del ord">
        <pc:chgData name="Reger, Mark A (Puget Sound)" userId="e2495bcb-5c98-4968-859b-21816a0e454c" providerId="ADAL" clId="{E1A0B215-7570-484F-AD89-FD1DE71200FB}" dt="2026-03-16T20:57:37.345" v="3493" actId="47"/>
        <pc:sldMkLst>
          <pc:docMk/>
          <pc:sldMk cId="4291140080" sldId="2147482534"/>
        </pc:sldMkLst>
      </pc:sldChg>
      <pc:sldChg chg="del">
        <pc:chgData name="Reger, Mark A (Puget Sound)" userId="e2495bcb-5c98-4968-859b-21816a0e454c" providerId="ADAL" clId="{E1A0B215-7570-484F-AD89-FD1DE71200FB}" dt="2026-03-16T20:57:06.342" v="3489" actId="47"/>
        <pc:sldMkLst>
          <pc:docMk/>
          <pc:sldMk cId="4029853766" sldId="2147483642"/>
        </pc:sldMkLst>
      </pc:sldChg>
      <pc:sldChg chg="addSp modSp new mod">
        <pc:chgData name="Reger, Mark A (Puget Sound)" userId="e2495bcb-5c98-4968-859b-21816a0e454c" providerId="ADAL" clId="{E1A0B215-7570-484F-AD89-FD1DE71200FB}" dt="2026-03-16T20:45:00.526" v="3415" actId="255"/>
        <pc:sldMkLst>
          <pc:docMk/>
          <pc:sldMk cId="2228436608" sldId="2147483643"/>
        </pc:sldMkLst>
        <pc:spChg chg="mod">
          <ac:chgData name="Reger, Mark A (Puget Sound)" userId="e2495bcb-5c98-4968-859b-21816a0e454c" providerId="ADAL" clId="{E1A0B215-7570-484F-AD89-FD1DE71200FB}" dt="2026-03-16T20:32:24.557" v="2983" actId="20577"/>
          <ac:spMkLst>
            <pc:docMk/>
            <pc:sldMk cId="2228436608" sldId="2147483643"/>
            <ac:spMk id="2" creationId="{FF7C8494-5572-7B23-A099-E40FB73C6D16}"/>
          </ac:spMkLst>
        </pc:spChg>
        <pc:spChg chg="add mod">
          <ac:chgData name="Reger, Mark A (Puget Sound)" userId="e2495bcb-5c98-4968-859b-21816a0e454c" providerId="ADAL" clId="{E1A0B215-7570-484F-AD89-FD1DE71200FB}" dt="2026-03-16T20:45:00.526" v="3415" actId="255"/>
          <ac:spMkLst>
            <pc:docMk/>
            <pc:sldMk cId="2228436608" sldId="2147483643"/>
            <ac:spMk id="4" creationId="{94CF7914-C243-CD09-714A-FE05577474AF}"/>
          </ac:spMkLst>
        </pc:spChg>
      </pc:sldChg>
      <pc:sldChg chg="modSp new del mod">
        <pc:chgData name="Reger, Mark A (Puget Sound)" userId="e2495bcb-5c98-4968-859b-21816a0e454c" providerId="ADAL" clId="{E1A0B215-7570-484F-AD89-FD1DE71200FB}" dt="2026-03-16T20:53:33.313" v="3484" actId="47"/>
        <pc:sldMkLst>
          <pc:docMk/>
          <pc:sldMk cId="3190187205" sldId="2147483644"/>
        </pc:sldMkLst>
        <pc:spChg chg="mod">
          <ac:chgData name="Reger, Mark A (Puget Sound)" userId="e2495bcb-5c98-4968-859b-21816a0e454c" providerId="ADAL" clId="{E1A0B215-7570-484F-AD89-FD1DE71200FB}" dt="2026-03-16T20:46:58.046" v="3448" actId="122"/>
          <ac:spMkLst>
            <pc:docMk/>
            <pc:sldMk cId="3190187205" sldId="2147483644"/>
            <ac:spMk id="2" creationId="{03FAE0C5-922F-81BB-3864-31164E2E6841}"/>
          </ac:spMkLst>
        </pc:spChg>
      </pc:sldChg>
      <pc:sldChg chg="new del">
        <pc:chgData name="Reger, Mark A (Puget Sound)" userId="e2495bcb-5c98-4968-859b-21816a0e454c" providerId="ADAL" clId="{E1A0B215-7570-484F-AD89-FD1DE71200FB}" dt="2026-03-16T20:52:48.329" v="3456" actId="47"/>
        <pc:sldMkLst>
          <pc:docMk/>
          <pc:sldMk cId="2920255731" sldId="2147483645"/>
        </pc:sldMkLst>
      </pc:sldChg>
      <pc:sldChg chg="modSp add mod">
        <pc:chgData name="Reger, Mark A (Puget Sound)" userId="e2495bcb-5c98-4968-859b-21816a0e454c" providerId="ADAL" clId="{E1A0B215-7570-484F-AD89-FD1DE71200FB}" dt="2026-03-16T20:53:01.956" v="3467" actId="20577"/>
        <pc:sldMkLst>
          <pc:docMk/>
          <pc:sldMk cId="3350401291" sldId="2147483645"/>
        </pc:sldMkLst>
        <pc:spChg chg="mod">
          <ac:chgData name="Reger, Mark A (Puget Sound)" userId="e2495bcb-5c98-4968-859b-21816a0e454c" providerId="ADAL" clId="{E1A0B215-7570-484F-AD89-FD1DE71200FB}" dt="2026-03-16T20:53:01.956" v="3467" actId="20577"/>
          <ac:spMkLst>
            <pc:docMk/>
            <pc:sldMk cId="3350401291" sldId="2147483645"/>
            <ac:spMk id="2" creationId="{DB1FD269-9138-1BEA-59D1-A15A729FFA8A}"/>
          </ac:spMkLst>
        </pc:spChg>
      </pc:sldChg>
      <pc:sldChg chg="modSp add mod">
        <pc:chgData name="Reger, Mark A (Puget Sound)" userId="e2495bcb-5c98-4968-859b-21816a0e454c" providerId="ADAL" clId="{E1A0B215-7570-484F-AD89-FD1DE71200FB}" dt="2026-03-16T20:53:29.120" v="3483" actId="20577"/>
        <pc:sldMkLst>
          <pc:docMk/>
          <pc:sldMk cId="1198066057" sldId="2147483646"/>
        </pc:sldMkLst>
        <pc:spChg chg="mod">
          <ac:chgData name="Reger, Mark A (Puget Sound)" userId="e2495bcb-5c98-4968-859b-21816a0e454c" providerId="ADAL" clId="{E1A0B215-7570-484F-AD89-FD1DE71200FB}" dt="2026-03-16T20:53:29.120" v="3483" actId="20577"/>
          <ac:spMkLst>
            <pc:docMk/>
            <pc:sldMk cId="1198066057" sldId="2147483646"/>
            <ac:spMk id="2" creationId="{2D7C151F-927F-BAFE-BAF8-F1833BCE7CCF}"/>
          </ac:spMkLst>
        </pc:spChg>
      </pc:sldChg>
      <pc:sldChg chg="addSp delSp modSp add mod ord">
        <pc:chgData name="Reger, Mark A (Puget Sound)" userId="e2495bcb-5c98-4968-859b-21816a0e454c" providerId="ADAL" clId="{E1A0B215-7570-484F-AD89-FD1DE71200FB}" dt="2026-03-16T22:24:25.680" v="3647" actId="1076"/>
        <pc:sldMkLst>
          <pc:docMk/>
          <pc:sldMk cId="2535658483" sldId="2147483647"/>
        </pc:sldMkLst>
        <pc:spChg chg="mod">
          <ac:chgData name="Reger, Mark A (Puget Sound)" userId="e2495bcb-5c98-4968-859b-21816a0e454c" providerId="ADAL" clId="{E1A0B215-7570-484F-AD89-FD1DE71200FB}" dt="2026-03-16T21:21:37.278" v="3520" actId="1076"/>
          <ac:spMkLst>
            <pc:docMk/>
            <pc:sldMk cId="2535658483" sldId="2147483647"/>
            <ac:spMk id="2" creationId="{D1FB99F7-6B41-94C8-D7F9-41B2D435EE48}"/>
          </ac:spMkLst>
        </pc:spChg>
        <pc:spChg chg="del mod">
          <ac:chgData name="Reger, Mark A (Puget Sound)" userId="e2495bcb-5c98-4968-859b-21816a0e454c" providerId="ADAL" clId="{E1A0B215-7570-484F-AD89-FD1DE71200FB}" dt="2026-03-16T22:09:52.451" v="3627" actId="478"/>
          <ac:spMkLst>
            <pc:docMk/>
            <pc:sldMk cId="2535658483" sldId="2147483647"/>
            <ac:spMk id="6" creationId="{47B9F52D-EE91-A825-94B5-3AE087919D73}"/>
          </ac:spMkLst>
        </pc:spChg>
        <pc:spChg chg="add del mod">
          <ac:chgData name="Reger, Mark A (Puget Sound)" userId="e2495bcb-5c98-4968-859b-21816a0e454c" providerId="ADAL" clId="{E1A0B215-7570-484F-AD89-FD1DE71200FB}" dt="2026-03-16T22:10:04.862" v="3629" actId="478"/>
          <ac:spMkLst>
            <pc:docMk/>
            <pc:sldMk cId="2535658483" sldId="2147483647"/>
            <ac:spMk id="7" creationId="{D6EA23BF-EDA9-0B14-AEF3-D6859EECA40E}"/>
          </ac:spMkLst>
        </pc:spChg>
        <pc:spChg chg="add mod">
          <ac:chgData name="Reger, Mark A (Puget Sound)" userId="e2495bcb-5c98-4968-859b-21816a0e454c" providerId="ADAL" clId="{E1A0B215-7570-484F-AD89-FD1DE71200FB}" dt="2026-03-16T22:09:53.956" v="3628"/>
          <ac:spMkLst>
            <pc:docMk/>
            <pc:sldMk cId="2535658483" sldId="2147483647"/>
            <ac:spMk id="8" creationId="{4DACD38D-C64E-91D0-CBFD-DBED3E4D81CC}"/>
          </ac:spMkLst>
        </pc:spChg>
        <pc:spChg chg="mod">
          <ac:chgData name="Reger, Mark A (Puget Sound)" userId="e2495bcb-5c98-4968-859b-21816a0e454c" providerId="ADAL" clId="{E1A0B215-7570-484F-AD89-FD1DE71200FB}" dt="2026-03-16T22:12:11.994" v="3640" actId="1076"/>
          <ac:spMkLst>
            <pc:docMk/>
            <pc:sldMk cId="2535658483" sldId="2147483647"/>
            <ac:spMk id="9" creationId="{77B132BC-DF97-307A-759D-951FED72AA39}"/>
          </ac:spMkLst>
        </pc:spChg>
        <pc:spChg chg="add mod">
          <ac:chgData name="Reger, Mark A (Puget Sound)" userId="e2495bcb-5c98-4968-859b-21816a0e454c" providerId="ADAL" clId="{E1A0B215-7570-484F-AD89-FD1DE71200FB}" dt="2026-03-16T22:24:25.680" v="3647" actId="1076"/>
          <ac:spMkLst>
            <pc:docMk/>
            <pc:sldMk cId="2535658483" sldId="2147483647"/>
            <ac:spMk id="10" creationId="{17BE40AA-1447-789C-92DA-79CB0862ADD5}"/>
          </ac:spMkLst>
        </pc:spChg>
        <pc:graphicFrameChg chg="mod">
          <ac:chgData name="Reger, Mark A (Puget Sound)" userId="e2495bcb-5c98-4968-859b-21816a0e454c" providerId="ADAL" clId="{E1A0B215-7570-484F-AD89-FD1DE71200FB}" dt="2026-03-16T22:11:56.343" v="3638" actId="1076"/>
          <ac:graphicFrameMkLst>
            <pc:docMk/>
            <pc:sldMk cId="2535658483" sldId="2147483647"/>
            <ac:graphicFrameMk id="3" creationId="{CB59792E-3A5A-B2A2-C62E-F7579FB31D55}"/>
          </ac:graphicFrameMkLst>
        </pc:graphicFrameChg>
        <pc:graphicFrameChg chg="mod">
          <ac:chgData name="Reger, Mark A (Puget Sound)" userId="e2495bcb-5c98-4968-859b-21816a0e454c" providerId="ADAL" clId="{E1A0B215-7570-484F-AD89-FD1DE71200FB}" dt="2026-03-16T22:11:56.343" v="3638" actId="1076"/>
          <ac:graphicFrameMkLst>
            <pc:docMk/>
            <pc:sldMk cId="2535658483" sldId="2147483647"/>
            <ac:graphicFrameMk id="4" creationId="{9C1DF81B-6869-EEA3-C080-C28609389C3F}"/>
          </ac:graphicFrameMkLst>
        </pc:graphicFrameChg>
      </pc:sldChg>
      <pc:sldMasterChg chg="del delSldLayout">
        <pc:chgData name="Reger, Mark A (Puget Sound)" userId="e2495bcb-5c98-4968-859b-21816a0e454c" providerId="ADAL" clId="{E1A0B215-7570-484F-AD89-FD1DE71200FB}" dt="2026-03-16T22:31:44.103" v="3655" actId="47"/>
        <pc:sldMasterMkLst>
          <pc:docMk/>
          <pc:sldMasterMk cId="2577463951" sldId="2147483713"/>
        </pc:sldMasterMkLst>
        <pc:sldLayoutChg chg="del">
          <pc:chgData name="Reger, Mark A (Puget Sound)" userId="e2495bcb-5c98-4968-859b-21816a0e454c" providerId="ADAL" clId="{E1A0B215-7570-484F-AD89-FD1DE71200FB}" dt="2026-03-16T22:31:44.103" v="3655" actId="47"/>
          <pc:sldLayoutMkLst>
            <pc:docMk/>
            <pc:sldMasterMk cId="2577463951" sldId="2147483713"/>
            <pc:sldLayoutMk cId="1727780653" sldId="2147483714"/>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249683936" sldId="2147483715"/>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3703434868" sldId="2147483716"/>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235457906" sldId="2147483717"/>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407293202" sldId="2147483718"/>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594119607" sldId="2147483719"/>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2506490789" sldId="2147483720"/>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1633998315" sldId="2147483721"/>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851817515" sldId="2147483722"/>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2862593266" sldId="2147483723"/>
          </pc:sldLayoutMkLst>
        </pc:sldLayoutChg>
        <pc:sldLayoutChg chg="del">
          <pc:chgData name="Reger, Mark A (Puget Sound)" userId="e2495bcb-5c98-4968-859b-21816a0e454c" providerId="ADAL" clId="{E1A0B215-7570-484F-AD89-FD1DE71200FB}" dt="2026-03-16T22:31:44.103" v="3655" actId="47"/>
          <pc:sldLayoutMkLst>
            <pc:docMk/>
            <pc:sldMasterMk cId="2577463951" sldId="2147483713"/>
            <pc:sldLayoutMk cId="3885714867" sldId="2147483724"/>
          </pc:sldLayoutMkLst>
        </pc:sldLayoutChg>
      </pc:sldMaster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5958553948396031E-2"/>
          <c:y val="0.17695071500057116"/>
          <c:w val="0.94583058562992128"/>
          <c:h val="0.76748654235442038"/>
        </c:manualLayout>
      </c:layout>
      <c:barChart>
        <c:barDir val="col"/>
        <c:grouping val="clustered"/>
        <c:varyColors val="0"/>
        <c:ser>
          <c:idx val="0"/>
          <c:order val="0"/>
          <c:tx>
            <c:strRef>
              <c:f>Sheet1!$B$1</c:f>
              <c:strCache>
                <c:ptCount val="1"/>
                <c:pt idx="0">
                  <c:v>Application SUBMITTED</c:v>
                </c:pt>
              </c:strCache>
            </c:strRef>
          </c:tx>
          <c:spPr>
            <a:solidFill>
              <a:schemeClr val="accent1"/>
            </a:solidFill>
            <a:ln>
              <a:noFill/>
            </a:ln>
            <a:effectLst/>
          </c:spPr>
          <c:invertIfNegative val="0"/>
          <c:cat>
            <c:strRef>
              <c:f>Sheet1!$A$2:$A$3</c:f>
              <c:strCache>
                <c:ptCount val="2"/>
                <c:pt idx="0">
                  <c:v>BROAD NOSI</c:v>
                </c:pt>
                <c:pt idx="1">
                  <c:v>LMS NOSI</c:v>
                </c:pt>
              </c:strCache>
            </c:strRef>
          </c:cat>
          <c:val>
            <c:numRef>
              <c:f>Sheet1!$B$2:$B$3</c:f>
              <c:numCache>
                <c:formatCode>General</c:formatCode>
                <c:ptCount val="2"/>
                <c:pt idx="0">
                  <c:v>33</c:v>
                </c:pt>
                <c:pt idx="1">
                  <c:v>13</c:v>
                </c:pt>
              </c:numCache>
            </c:numRef>
          </c:val>
          <c:extLst>
            <c:ext xmlns:c16="http://schemas.microsoft.com/office/drawing/2014/chart" uri="{C3380CC4-5D6E-409C-BE32-E72D297353CC}">
              <c16:uniqueId val="{00000000-8B0E-407E-B800-2B96C2061F23}"/>
            </c:ext>
          </c:extLst>
        </c:ser>
        <c:ser>
          <c:idx val="1"/>
          <c:order val="1"/>
          <c:tx>
            <c:strRef>
              <c:f>Sheet1!$C$1</c:f>
              <c:strCache>
                <c:ptCount val="1"/>
                <c:pt idx="0">
                  <c:v>Application Funded</c:v>
                </c:pt>
              </c:strCache>
            </c:strRef>
          </c:tx>
          <c:spPr>
            <a:solidFill>
              <a:schemeClr val="accent2"/>
            </a:solidFill>
            <a:ln>
              <a:noFill/>
            </a:ln>
            <a:effectLst/>
          </c:spPr>
          <c:invertIfNegative val="0"/>
          <c:cat>
            <c:strRef>
              <c:f>Sheet1!$A$2:$A$3</c:f>
              <c:strCache>
                <c:ptCount val="2"/>
                <c:pt idx="0">
                  <c:v>BROAD NOSI</c:v>
                </c:pt>
                <c:pt idx="1">
                  <c:v>LMS NOSI</c:v>
                </c:pt>
              </c:strCache>
            </c:strRef>
          </c:cat>
          <c:val>
            <c:numRef>
              <c:f>Sheet1!$C$2:$C$3</c:f>
              <c:numCache>
                <c:formatCode>General</c:formatCode>
                <c:ptCount val="2"/>
                <c:pt idx="0">
                  <c:v>6</c:v>
                </c:pt>
                <c:pt idx="1">
                  <c:v>4</c:v>
                </c:pt>
              </c:numCache>
            </c:numRef>
          </c:val>
          <c:extLst>
            <c:ext xmlns:c16="http://schemas.microsoft.com/office/drawing/2014/chart" uri="{C3380CC4-5D6E-409C-BE32-E72D297353CC}">
              <c16:uniqueId val="{00000001-8B0E-407E-B800-2B96C2061F23}"/>
            </c:ext>
          </c:extLst>
        </c:ser>
        <c:dLbls>
          <c:showLegendKey val="0"/>
          <c:showVal val="0"/>
          <c:showCatName val="0"/>
          <c:showSerName val="0"/>
          <c:showPercent val="0"/>
          <c:showBubbleSize val="0"/>
        </c:dLbls>
        <c:gapWidth val="219"/>
        <c:overlap val="-27"/>
        <c:axId val="1692909824"/>
        <c:axId val="1692913424"/>
      </c:barChart>
      <c:catAx>
        <c:axId val="16929098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2913424"/>
        <c:crosses val="autoZero"/>
        <c:auto val="1"/>
        <c:lblAlgn val="ctr"/>
        <c:lblOffset val="100"/>
        <c:noMultiLvlLbl val="0"/>
      </c:catAx>
      <c:valAx>
        <c:axId val="169291342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1692909824"/>
        <c:crosses val="autoZero"/>
        <c:crossBetween val="between"/>
      </c:valAx>
      <c:spPr>
        <a:noFill/>
        <a:ln w="25400">
          <a:noFill/>
        </a:ln>
        <a:effectLst/>
      </c:spPr>
    </c:plotArea>
    <c:legend>
      <c:legendPos val="b"/>
      <c:layout>
        <c:manualLayout>
          <c:xMode val="edge"/>
          <c:yMode val="edge"/>
          <c:x val="0.30429780684312802"/>
          <c:y val="5.1802157493214401E-2"/>
          <c:w val="0.65958353212653398"/>
          <c:h val="8.2036043181837909E-2"/>
        </c:manualLayout>
      </c:layout>
      <c:overlay val="0"/>
      <c:spPr>
        <a:noFill/>
        <a:ln>
          <a:noFill/>
        </a:ln>
        <a:effectLst/>
      </c:spPr>
      <c:txPr>
        <a:bodyPr rot="0" spcFirstLastPara="1" vertOverflow="ellipsis" vert="horz" wrap="square" anchor="ctr" anchorCtr="1"/>
        <a:lstStyle/>
        <a:p>
          <a:pPr>
            <a:defRPr sz="2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9D046F-A531-4740-9987-834E35CC118B}" type="doc">
      <dgm:prSet loTypeId="urn:microsoft.com/office/officeart/2005/8/layout/arrow2" loCatId="process" qsTypeId="urn:microsoft.com/office/officeart/2005/8/quickstyle/3d8" qsCatId="3D" csTypeId="urn:microsoft.com/office/officeart/2005/8/colors/accent1_2#1" csCatId="accent1" phldr="1"/>
      <dgm:spPr/>
    </dgm:pt>
    <dgm:pt modelId="{EA5BD142-3828-4CC2-A8C5-11AD5529C3A1}">
      <dgm:prSet phldrT="[Text]"/>
      <dgm:spPr/>
      <dgm:t>
        <a:bodyPr/>
        <a:lstStyle/>
        <a:p>
          <a:endParaRPr lang="en-US" dirty="0"/>
        </a:p>
      </dgm:t>
    </dgm:pt>
    <dgm:pt modelId="{DD48011A-CDEA-4B61-B62F-7C1D88C75930}" type="sibTrans" cxnId="{74533485-56DB-45CF-8CD9-EFE38435B210}">
      <dgm:prSet/>
      <dgm:spPr/>
      <dgm:t>
        <a:bodyPr/>
        <a:lstStyle/>
        <a:p>
          <a:endParaRPr lang="en-US"/>
        </a:p>
      </dgm:t>
    </dgm:pt>
    <dgm:pt modelId="{B3F4B91C-E8E8-4AC5-A6B1-EF43679A7458}" type="parTrans" cxnId="{74533485-56DB-45CF-8CD9-EFE38435B210}">
      <dgm:prSet/>
      <dgm:spPr/>
      <dgm:t>
        <a:bodyPr/>
        <a:lstStyle/>
        <a:p>
          <a:endParaRPr lang="en-US"/>
        </a:p>
      </dgm:t>
    </dgm:pt>
    <dgm:pt modelId="{808E444D-A411-46B9-886D-C41FD2754D5E}" type="pres">
      <dgm:prSet presAssocID="{759D046F-A531-4740-9987-834E35CC118B}" presName="arrowDiagram" presStyleCnt="0">
        <dgm:presLayoutVars>
          <dgm:chMax val="5"/>
          <dgm:dir/>
          <dgm:resizeHandles val="exact"/>
        </dgm:presLayoutVars>
      </dgm:prSet>
      <dgm:spPr/>
    </dgm:pt>
    <dgm:pt modelId="{9239BC7D-ADA9-4751-86A2-25257F7E4231}" type="pres">
      <dgm:prSet presAssocID="{759D046F-A531-4740-9987-834E35CC118B}" presName="arrow" presStyleLbl="bgShp" presStyleIdx="0" presStyleCnt="1" custAng="10282968" custLinFactNeighborX="-9215" custLinFactNeighborY="-18578"/>
      <dgm:spPr/>
    </dgm:pt>
    <dgm:pt modelId="{EB8BA5A7-727D-4280-B981-518E89795E31}" type="pres">
      <dgm:prSet presAssocID="{759D046F-A531-4740-9987-834E35CC118B}" presName="arrowDiagram1" presStyleCnt="0">
        <dgm:presLayoutVars>
          <dgm:bulletEnabled val="1"/>
        </dgm:presLayoutVars>
      </dgm:prSet>
      <dgm:spPr/>
    </dgm:pt>
    <dgm:pt modelId="{DE8F9DCC-8C23-4F11-9977-6E8A51E1E2AB}" type="pres">
      <dgm:prSet presAssocID="{EA5BD142-3828-4CC2-A8C5-11AD5529C3A1}" presName="bullet1" presStyleLbl="node1" presStyleIdx="0" presStyleCnt="1"/>
      <dgm:spPr>
        <a:noFill/>
      </dgm:spPr>
    </dgm:pt>
    <dgm:pt modelId="{A92D868E-0D4C-4CA2-B6AD-33D19008E28B}" type="pres">
      <dgm:prSet presAssocID="{EA5BD142-3828-4CC2-A8C5-11AD5529C3A1}" presName="textBox1" presStyleLbl="revTx" presStyleIdx="0" presStyleCnt="1" custLinFactNeighborX="-89583" custLinFactNeighborY="-26468">
        <dgm:presLayoutVars>
          <dgm:bulletEnabled val="1"/>
        </dgm:presLayoutVars>
      </dgm:prSet>
      <dgm:spPr/>
    </dgm:pt>
  </dgm:ptLst>
  <dgm:cxnLst>
    <dgm:cxn modelId="{91F5BD6E-B580-408F-B64A-28A0669C8FDB}" type="presOf" srcId="{759D046F-A531-4740-9987-834E35CC118B}" destId="{808E444D-A411-46B9-886D-C41FD2754D5E}" srcOrd="0" destOrd="0" presId="urn:microsoft.com/office/officeart/2005/8/layout/arrow2"/>
    <dgm:cxn modelId="{74533485-56DB-45CF-8CD9-EFE38435B210}" srcId="{759D046F-A531-4740-9987-834E35CC118B}" destId="{EA5BD142-3828-4CC2-A8C5-11AD5529C3A1}" srcOrd="0" destOrd="0" parTransId="{B3F4B91C-E8E8-4AC5-A6B1-EF43679A7458}" sibTransId="{DD48011A-CDEA-4B61-B62F-7C1D88C75930}"/>
    <dgm:cxn modelId="{AF93E4BF-E6FE-41F0-B3D9-6ECF84FCFD71}" type="presOf" srcId="{EA5BD142-3828-4CC2-A8C5-11AD5529C3A1}" destId="{A92D868E-0D4C-4CA2-B6AD-33D19008E28B}" srcOrd="0" destOrd="0" presId="urn:microsoft.com/office/officeart/2005/8/layout/arrow2"/>
    <dgm:cxn modelId="{D88FC8E3-54D5-47F1-B878-8DA730A5B0C0}" type="presParOf" srcId="{808E444D-A411-46B9-886D-C41FD2754D5E}" destId="{9239BC7D-ADA9-4751-86A2-25257F7E4231}" srcOrd="0" destOrd="0" presId="urn:microsoft.com/office/officeart/2005/8/layout/arrow2"/>
    <dgm:cxn modelId="{E6E3D565-8973-4E61-AA29-8DEDC3E51EED}" type="presParOf" srcId="{808E444D-A411-46B9-886D-C41FD2754D5E}" destId="{EB8BA5A7-727D-4280-B981-518E89795E31}" srcOrd="1" destOrd="0" presId="urn:microsoft.com/office/officeart/2005/8/layout/arrow2"/>
    <dgm:cxn modelId="{E525492F-BB1B-4417-9FB3-984A3AC10AA5}" type="presParOf" srcId="{EB8BA5A7-727D-4280-B981-518E89795E31}" destId="{DE8F9DCC-8C23-4F11-9977-6E8A51E1E2AB}" srcOrd="0" destOrd="0" presId="urn:microsoft.com/office/officeart/2005/8/layout/arrow2"/>
    <dgm:cxn modelId="{231C3655-C000-4FB7-864D-53B4713A4344}" type="presParOf" srcId="{EB8BA5A7-727D-4280-B981-518E89795E31}" destId="{A92D868E-0D4C-4CA2-B6AD-33D19008E28B}" srcOrd="1" destOrd="0" presId="urn:microsoft.com/office/officeart/2005/8/layout/arrow2"/>
  </dgm:cxnLst>
  <dgm:bg/>
  <dgm:whole>
    <a:ln w="9525" cap="flat" cmpd="sng" algn="ctr">
      <a:noFill/>
      <a:prstDash val="solid"/>
      <a:round/>
      <a:headEnd type="none" w="med" len="med"/>
      <a:tailEnd type="none" w="med" len="med"/>
    </a:ln>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8B6D5D2-C66A-483C-A1AF-B1BF2DC49765}"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BB6EE928-5695-494F-BEC5-3911DDDCD918}">
      <dgm:prSet phldrT="[Text]"/>
      <dgm:spPr>
        <a:solidFill>
          <a:srgbClr val="00B050"/>
        </a:solidFill>
      </dgm:spPr>
      <dgm:t>
        <a:bodyPr/>
        <a:lstStyle/>
        <a:p>
          <a:r>
            <a:rPr lang="en-US" dirty="0"/>
            <a:t>ISRM </a:t>
          </a:r>
          <a:r>
            <a:rPr lang="en-US"/>
            <a:t>Leadership Team</a:t>
          </a:r>
          <a:endParaRPr lang="en-US" dirty="0"/>
        </a:p>
      </dgm:t>
    </dgm:pt>
    <dgm:pt modelId="{208646B3-0D05-4F61-8A66-A70CD1677B1A}" type="parTrans" cxnId="{4248546C-F053-418F-B622-C8202F6EDD0C}">
      <dgm:prSet/>
      <dgm:spPr/>
      <dgm:t>
        <a:bodyPr/>
        <a:lstStyle/>
        <a:p>
          <a:endParaRPr lang="en-US"/>
        </a:p>
      </dgm:t>
    </dgm:pt>
    <dgm:pt modelId="{2EAEC75D-45EF-4B57-A4D1-D3A998594BF8}" type="sibTrans" cxnId="{4248546C-F053-418F-B622-C8202F6EDD0C}">
      <dgm:prSet/>
      <dgm:spPr/>
      <dgm:t>
        <a:bodyPr/>
        <a:lstStyle/>
        <a:p>
          <a:endParaRPr lang="en-US"/>
        </a:p>
      </dgm:t>
    </dgm:pt>
    <dgm:pt modelId="{30E94408-8E02-4648-A004-448DF587FC05}">
      <dgm:prSet phldrT="[Text]"/>
      <dgm:spPr>
        <a:solidFill>
          <a:srgbClr val="00B0F0"/>
        </a:solidFill>
      </dgm:spPr>
      <dgm:t>
        <a:bodyPr/>
        <a:lstStyle/>
        <a:p>
          <a:r>
            <a:rPr lang="en-US" dirty="0"/>
            <a:t>TBI</a:t>
          </a:r>
        </a:p>
      </dgm:t>
    </dgm:pt>
    <dgm:pt modelId="{52CB0853-947A-4B90-AEF3-D1423522539D}" type="parTrans" cxnId="{9CA1A91F-1C4D-4600-B8AE-05439FBA0401}">
      <dgm:prSet/>
      <dgm:spPr/>
      <dgm:t>
        <a:bodyPr/>
        <a:lstStyle/>
        <a:p>
          <a:endParaRPr lang="en-US"/>
        </a:p>
      </dgm:t>
    </dgm:pt>
    <dgm:pt modelId="{60CE2141-1230-4526-AA13-56F13A2C7827}" type="sibTrans" cxnId="{9CA1A91F-1C4D-4600-B8AE-05439FBA0401}">
      <dgm:prSet/>
      <dgm:spPr/>
      <dgm:t>
        <a:bodyPr/>
        <a:lstStyle/>
        <a:p>
          <a:endParaRPr lang="en-US"/>
        </a:p>
      </dgm:t>
    </dgm:pt>
    <dgm:pt modelId="{4109F201-BDF2-4D2C-8552-095CE142ACC4}">
      <dgm:prSet phldrT="[Text]"/>
      <dgm:spPr>
        <a:solidFill>
          <a:srgbClr val="00B0F0"/>
        </a:solidFill>
      </dgm:spPr>
      <dgm:t>
        <a:bodyPr/>
        <a:lstStyle/>
        <a:p>
          <a:r>
            <a:rPr lang="en-US" dirty="0"/>
            <a:t>Suicide Prevention</a:t>
          </a:r>
        </a:p>
      </dgm:t>
    </dgm:pt>
    <dgm:pt modelId="{2234DD10-C928-4213-8E95-FC02994DD702}" type="parTrans" cxnId="{2A4D8D23-297A-46A9-A599-022D17EFF430}">
      <dgm:prSet/>
      <dgm:spPr/>
      <dgm:t>
        <a:bodyPr/>
        <a:lstStyle/>
        <a:p>
          <a:endParaRPr lang="en-US"/>
        </a:p>
      </dgm:t>
    </dgm:pt>
    <dgm:pt modelId="{757313B4-C69F-45B6-8B4D-0D6C8531ADF0}" type="sibTrans" cxnId="{2A4D8D23-297A-46A9-A599-022D17EFF430}">
      <dgm:prSet/>
      <dgm:spPr/>
      <dgm:t>
        <a:bodyPr/>
        <a:lstStyle/>
        <a:p>
          <a:endParaRPr lang="en-US"/>
        </a:p>
      </dgm:t>
    </dgm:pt>
    <dgm:pt modelId="{C3FA83AA-A756-4A4C-9F7F-8394A67289A8}">
      <dgm:prSet phldrT="[Text]"/>
      <dgm:spPr>
        <a:solidFill>
          <a:srgbClr val="00B0F0"/>
        </a:solidFill>
      </dgm:spPr>
      <dgm:t>
        <a:bodyPr/>
        <a:lstStyle/>
        <a:p>
          <a:r>
            <a:rPr lang="en-US" dirty="0"/>
            <a:t>Pain/Opioid Use Disorders</a:t>
          </a:r>
        </a:p>
      </dgm:t>
    </dgm:pt>
    <dgm:pt modelId="{5164C0BB-BBA9-4AF3-A82F-586EC1D65210}" type="parTrans" cxnId="{C49E1A46-3A32-429C-841F-97E9AA86EDA1}">
      <dgm:prSet/>
      <dgm:spPr/>
      <dgm:t>
        <a:bodyPr/>
        <a:lstStyle/>
        <a:p>
          <a:endParaRPr lang="en-US"/>
        </a:p>
      </dgm:t>
    </dgm:pt>
    <dgm:pt modelId="{B3DDFB8E-3AB4-4822-9C2E-32B4944B716D}" type="sibTrans" cxnId="{C49E1A46-3A32-429C-841F-97E9AA86EDA1}">
      <dgm:prSet/>
      <dgm:spPr/>
      <dgm:t>
        <a:bodyPr/>
        <a:lstStyle/>
        <a:p>
          <a:endParaRPr lang="en-US"/>
        </a:p>
      </dgm:t>
    </dgm:pt>
    <dgm:pt modelId="{702AF853-A472-41A5-A222-04382E977489}">
      <dgm:prSet/>
      <dgm:spPr>
        <a:solidFill>
          <a:srgbClr val="00B0F0"/>
        </a:solidFill>
      </dgm:spPr>
      <dgm:t>
        <a:bodyPr/>
        <a:lstStyle/>
        <a:p>
          <a:r>
            <a:rPr lang="en-US" dirty="0"/>
            <a:t>Precision Oncology</a:t>
          </a:r>
        </a:p>
      </dgm:t>
    </dgm:pt>
    <dgm:pt modelId="{13CEAF22-D59B-4DCE-AD9A-9E611C383C22}" type="parTrans" cxnId="{71F1B869-05EF-451A-AEF8-7049D0D7C5DC}">
      <dgm:prSet/>
      <dgm:spPr/>
      <dgm:t>
        <a:bodyPr/>
        <a:lstStyle/>
        <a:p>
          <a:endParaRPr lang="en-US"/>
        </a:p>
      </dgm:t>
    </dgm:pt>
    <dgm:pt modelId="{C23AAD3D-C800-4C1E-ABC8-FA935884239C}" type="sibTrans" cxnId="{71F1B869-05EF-451A-AEF8-7049D0D7C5DC}">
      <dgm:prSet/>
      <dgm:spPr/>
      <dgm:t>
        <a:bodyPr/>
        <a:lstStyle/>
        <a:p>
          <a:endParaRPr lang="en-US"/>
        </a:p>
      </dgm:t>
    </dgm:pt>
    <dgm:pt modelId="{77F003D5-3106-4FEF-8A37-165201F537C1}">
      <dgm:prSet/>
      <dgm:spPr/>
      <dgm:t>
        <a:bodyPr/>
        <a:lstStyle/>
        <a:p>
          <a:r>
            <a:rPr lang="en-US" dirty="0"/>
            <a:t>Health Systems Research</a:t>
          </a:r>
        </a:p>
      </dgm:t>
    </dgm:pt>
    <dgm:pt modelId="{DED520A9-9309-4B3E-8371-763688EA3068}" type="parTrans" cxnId="{17AF6FAE-4299-4B65-AC6F-8A654B0C7F48}">
      <dgm:prSet/>
      <dgm:spPr/>
      <dgm:t>
        <a:bodyPr/>
        <a:lstStyle/>
        <a:p>
          <a:endParaRPr lang="en-US"/>
        </a:p>
      </dgm:t>
    </dgm:pt>
    <dgm:pt modelId="{826900C9-457F-497B-95E6-204AC43BC0FE}" type="sibTrans" cxnId="{17AF6FAE-4299-4B65-AC6F-8A654B0C7F48}">
      <dgm:prSet/>
      <dgm:spPr/>
      <dgm:t>
        <a:bodyPr/>
        <a:lstStyle/>
        <a:p>
          <a:endParaRPr lang="en-US"/>
        </a:p>
      </dgm:t>
    </dgm:pt>
    <dgm:pt modelId="{220F2415-7374-45EA-AB6E-B5D88D202AB0}">
      <dgm:prSet/>
      <dgm:spPr/>
      <dgm:t>
        <a:bodyPr/>
        <a:lstStyle/>
        <a:p>
          <a:r>
            <a:rPr lang="en-US" b="0" dirty="0">
              <a:solidFill>
                <a:schemeClr val="bg1"/>
              </a:solidFill>
            </a:rPr>
            <a:t>Rehabilitation Research Dev. &amp; Translation</a:t>
          </a:r>
        </a:p>
      </dgm:t>
    </dgm:pt>
    <dgm:pt modelId="{E9E563F4-B010-423F-A6F0-1FA2E6776C82}" type="parTrans" cxnId="{00052200-1785-4538-876D-2CDBF642B3C2}">
      <dgm:prSet/>
      <dgm:spPr/>
      <dgm:t>
        <a:bodyPr/>
        <a:lstStyle/>
        <a:p>
          <a:endParaRPr lang="en-US"/>
        </a:p>
      </dgm:t>
    </dgm:pt>
    <dgm:pt modelId="{632DDA34-CD94-4F90-8E4A-90593852C7E3}" type="sibTrans" cxnId="{00052200-1785-4538-876D-2CDBF642B3C2}">
      <dgm:prSet/>
      <dgm:spPr/>
      <dgm:t>
        <a:bodyPr/>
        <a:lstStyle/>
        <a:p>
          <a:endParaRPr lang="en-US"/>
        </a:p>
      </dgm:t>
    </dgm:pt>
    <dgm:pt modelId="{70DC4EF0-4D43-40BB-9C98-8EAEAEAA0D85}">
      <dgm:prSet/>
      <dgm:spPr/>
      <dgm:t>
        <a:bodyPr/>
        <a:lstStyle/>
        <a:p>
          <a:r>
            <a:rPr lang="en-US" dirty="0"/>
            <a:t>Medical Health Research</a:t>
          </a:r>
        </a:p>
      </dgm:t>
    </dgm:pt>
    <dgm:pt modelId="{1D644EA1-BE76-442F-9922-D62A10A4B982}" type="parTrans" cxnId="{3596DC62-1D39-465C-A590-F7308C57F268}">
      <dgm:prSet/>
      <dgm:spPr/>
      <dgm:t>
        <a:bodyPr/>
        <a:lstStyle/>
        <a:p>
          <a:endParaRPr lang="en-US"/>
        </a:p>
      </dgm:t>
    </dgm:pt>
    <dgm:pt modelId="{F8123CD1-E53D-4CF5-ABEC-41B562341269}" type="sibTrans" cxnId="{3596DC62-1D39-465C-A590-F7308C57F268}">
      <dgm:prSet/>
      <dgm:spPr/>
      <dgm:t>
        <a:bodyPr/>
        <a:lstStyle/>
        <a:p>
          <a:endParaRPr lang="en-US"/>
        </a:p>
      </dgm:t>
    </dgm:pt>
    <dgm:pt modelId="{A1456305-23D6-4B0E-8643-A297ED907C95}">
      <dgm:prSet/>
      <dgm:spPr/>
      <dgm:t>
        <a:bodyPr/>
        <a:lstStyle/>
        <a:p>
          <a:r>
            <a:rPr lang="en-US" dirty="0"/>
            <a:t>Brain, Behavioral and Mental Health Research</a:t>
          </a:r>
        </a:p>
      </dgm:t>
    </dgm:pt>
    <dgm:pt modelId="{36C773FB-13E0-46E7-96BB-3E5FBD0B9E76}" type="parTrans" cxnId="{6021F9EF-931D-43E4-927D-3AF9BB94684A}">
      <dgm:prSet/>
      <dgm:spPr/>
      <dgm:t>
        <a:bodyPr/>
        <a:lstStyle/>
        <a:p>
          <a:endParaRPr lang="en-US"/>
        </a:p>
      </dgm:t>
    </dgm:pt>
    <dgm:pt modelId="{29DC4ED4-1B96-4500-BC84-D5F37350E223}" type="sibTrans" cxnId="{6021F9EF-931D-43E4-927D-3AF9BB94684A}">
      <dgm:prSet/>
      <dgm:spPr/>
      <dgm:t>
        <a:bodyPr/>
        <a:lstStyle/>
        <a:p>
          <a:endParaRPr lang="en-US"/>
        </a:p>
      </dgm:t>
    </dgm:pt>
    <dgm:pt modelId="{4AA79584-0C52-405F-AFAD-19CDE23B349E}">
      <dgm:prSet/>
      <dgm:spPr>
        <a:solidFill>
          <a:srgbClr val="00B0F0"/>
        </a:solidFill>
      </dgm:spPr>
      <dgm:t>
        <a:bodyPr/>
        <a:lstStyle/>
        <a:p>
          <a:r>
            <a:rPr lang="en-US" dirty="0"/>
            <a:t>Gulf War/ Military Exposures</a:t>
          </a:r>
        </a:p>
      </dgm:t>
    </dgm:pt>
    <dgm:pt modelId="{6E2662FB-9BC9-4182-AA61-9B90770DBD86}" type="parTrans" cxnId="{F7F82BB9-445D-466A-9FA0-191471A22845}">
      <dgm:prSet/>
      <dgm:spPr/>
      <dgm:t>
        <a:bodyPr/>
        <a:lstStyle/>
        <a:p>
          <a:endParaRPr lang="en-US"/>
        </a:p>
      </dgm:t>
    </dgm:pt>
    <dgm:pt modelId="{1352B6E5-2F28-473D-A6E0-E022404783BB}" type="sibTrans" cxnId="{F7F82BB9-445D-466A-9FA0-191471A22845}">
      <dgm:prSet/>
      <dgm:spPr/>
      <dgm:t>
        <a:bodyPr/>
        <a:lstStyle/>
        <a:p>
          <a:endParaRPr lang="en-US"/>
        </a:p>
      </dgm:t>
    </dgm:pt>
    <dgm:pt modelId="{5F277F5A-A9EE-499B-B359-081EF4C0A907}" type="pres">
      <dgm:prSet presAssocID="{08B6D5D2-C66A-483C-A1AF-B1BF2DC49765}" presName="hierChild1" presStyleCnt="0">
        <dgm:presLayoutVars>
          <dgm:orgChart val="1"/>
          <dgm:chPref val="1"/>
          <dgm:dir/>
          <dgm:animOne val="branch"/>
          <dgm:animLvl val="lvl"/>
          <dgm:resizeHandles/>
        </dgm:presLayoutVars>
      </dgm:prSet>
      <dgm:spPr/>
    </dgm:pt>
    <dgm:pt modelId="{73FE7A23-0178-446F-B926-A7769299AD93}" type="pres">
      <dgm:prSet presAssocID="{BB6EE928-5695-494F-BEC5-3911DDDCD918}" presName="hierRoot1" presStyleCnt="0">
        <dgm:presLayoutVars>
          <dgm:hierBranch val="init"/>
        </dgm:presLayoutVars>
      </dgm:prSet>
      <dgm:spPr/>
    </dgm:pt>
    <dgm:pt modelId="{AA4A9584-E8BB-4C7D-801E-426CF7373E94}" type="pres">
      <dgm:prSet presAssocID="{BB6EE928-5695-494F-BEC5-3911DDDCD918}" presName="rootComposite1" presStyleCnt="0"/>
      <dgm:spPr/>
    </dgm:pt>
    <dgm:pt modelId="{5A1F0CA8-3957-4CAE-915B-024B5A6F204A}" type="pres">
      <dgm:prSet presAssocID="{BB6EE928-5695-494F-BEC5-3911DDDCD918}" presName="rootText1" presStyleLbl="node0" presStyleIdx="0" presStyleCnt="1" custScaleX="194066" custScaleY="391610">
        <dgm:presLayoutVars>
          <dgm:chPref val="3"/>
        </dgm:presLayoutVars>
      </dgm:prSet>
      <dgm:spPr/>
    </dgm:pt>
    <dgm:pt modelId="{695BDD94-8D5A-4E49-8257-85EB2E2A2C46}" type="pres">
      <dgm:prSet presAssocID="{BB6EE928-5695-494F-BEC5-3911DDDCD918}" presName="rootConnector1" presStyleLbl="node1" presStyleIdx="0" presStyleCnt="0"/>
      <dgm:spPr/>
    </dgm:pt>
    <dgm:pt modelId="{E932D9A7-90AA-47AB-9080-007DA7B23401}" type="pres">
      <dgm:prSet presAssocID="{BB6EE928-5695-494F-BEC5-3911DDDCD918}" presName="hierChild2" presStyleCnt="0"/>
      <dgm:spPr/>
    </dgm:pt>
    <dgm:pt modelId="{66148B3A-8E34-4E96-9508-BCC7D97AA1C1}" type="pres">
      <dgm:prSet presAssocID="{52CB0853-947A-4B90-AEF3-D1423522539D}" presName="Name37" presStyleLbl="parChTrans1D2" presStyleIdx="0" presStyleCnt="9" custSzX="9238651" custSzY="808887"/>
      <dgm:spPr/>
    </dgm:pt>
    <dgm:pt modelId="{F9D60E79-727D-4596-A969-DCA4AF9891C5}" type="pres">
      <dgm:prSet presAssocID="{30E94408-8E02-4648-A004-448DF587FC05}" presName="hierRoot2" presStyleCnt="0">
        <dgm:presLayoutVars>
          <dgm:hierBranch val="init"/>
        </dgm:presLayoutVars>
      </dgm:prSet>
      <dgm:spPr/>
    </dgm:pt>
    <dgm:pt modelId="{7829539B-2A63-4006-A1E5-92A467FAD9F0}" type="pres">
      <dgm:prSet presAssocID="{30E94408-8E02-4648-A004-448DF587FC05}" presName="rootComposite" presStyleCnt="0"/>
      <dgm:spPr/>
    </dgm:pt>
    <dgm:pt modelId="{FC612050-3DF4-489E-B1B7-243DC7F961C9}" type="pres">
      <dgm:prSet presAssocID="{30E94408-8E02-4648-A004-448DF587FC05}" presName="rootText" presStyleLbl="node2" presStyleIdx="0" presStyleCnt="9" custScaleX="194066" custScaleY="391610">
        <dgm:presLayoutVars>
          <dgm:chPref val="3"/>
        </dgm:presLayoutVars>
      </dgm:prSet>
      <dgm:spPr/>
    </dgm:pt>
    <dgm:pt modelId="{520237DE-E8A1-4B26-9E2E-8CCF2ECE8AAF}" type="pres">
      <dgm:prSet presAssocID="{30E94408-8E02-4648-A004-448DF587FC05}" presName="rootConnector" presStyleLbl="node2" presStyleIdx="0" presStyleCnt="9"/>
      <dgm:spPr/>
    </dgm:pt>
    <dgm:pt modelId="{59407EC9-C01F-4D44-8DA5-6E6EDA36619D}" type="pres">
      <dgm:prSet presAssocID="{30E94408-8E02-4648-A004-448DF587FC05}" presName="hierChild4" presStyleCnt="0"/>
      <dgm:spPr/>
    </dgm:pt>
    <dgm:pt modelId="{CD932169-22B8-4BAC-9FFA-908988CE765F}" type="pres">
      <dgm:prSet presAssocID="{30E94408-8E02-4648-A004-448DF587FC05}" presName="hierChild5" presStyleCnt="0"/>
      <dgm:spPr/>
    </dgm:pt>
    <dgm:pt modelId="{05D9BF9D-F445-490C-916F-0207C745FFF6}" type="pres">
      <dgm:prSet presAssocID="{2234DD10-C928-4213-8E95-FC02994DD702}" presName="Name37" presStyleLbl="parChTrans1D2" presStyleIdx="1" presStyleCnt="9" custSzX="6928988" custSzY="808887"/>
      <dgm:spPr/>
    </dgm:pt>
    <dgm:pt modelId="{FB577917-A93A-4914-914F-4B3016FA9C01}" type="pres">
      <dgm:prSet presAssocID="{4109F201-BDF2-4D2C-8552-095CE142ACC4}" presName="hierRoot2" presStyleCnt="0">
        <dgm:presLayoutVars>
          <dgm:hierBranch val="init"/>
        </dgm:presLayoutVars>
      </dgm:prSet>
      <dgm:spPr/>
    </dgm:pt>
    <dgm:pt modelId="{BA4D8E7D-048D-4E90-9351-501CC7EFCCAE}" type="pres">
      <dgm:prSet presAssocID="{4109F201-BDF2-4D2C-8552-095CE142ACC4}" presName="rootComposite" presStyleCnt="0"/>
      <dgm:spPr/>
    </dgm:pt>
    <dgm:pt modelId="{57695B00-9D85-4A1B-8F50-DD7773C2A38C}" type="pres">
      <dgm:prSet presAssocID="{4109F201-BDF2-4D2C-8552-095CE142ACC4}" presName="rootText" presStyleLbl="node2" presStyleIdx="1" presStyleCnt="9" custScaleX="194066" custScaleY="391610">
        <dgm:presLayoutVars>
          <dgm:chPref val="3"/>
        </dgm:presLayoutVars>
      </dgm:prSet>
      <dgm:spPr/>
    </dgm:pt>
    <dgm:pt modelId="{F2B7AB57-4159-4EE2-B28A-3B7BD20BE11D}" type="pres">
      <dgm:prSet presAssocID="{4109F201-BDF2-4D2C-8552-095CE142ACC4}" presName="rootConnector" presStyleLbl="node2" presStyleIdx="1" presStyleCnt="9"/>
      <dgm:spPr/>
    </dgm:pt>
    <dgm:pt modelId="{8BA51426-17FD-4E91-BFB3-D85B78412386}" type="pres">
      <dgm:prSet presAssocID="{4109F201-BDF2-4D2C-8552-095CE142ACC4}" presName="hierChild4" presStyleCnt="0"/>
      <dgm:spPr/>
    </dgm:pt>
    <dgm:pt modelId="{33DE623D-9F11-4F61-99AF-40F79CD2DF38}" type="pres">
      <dgm:prSet presAssocID="{4109F201-BDF2-4D2C-8552-095CE142ACC4}" presName="hierChild5" presStyleCnt="0"/>
      <dgm:spPr/>
    </dgm:pt>
    <dgm:pt modelId="{7D9ADE14-1147-4564-9F40-7FFDBF96416F}" type="pres">
      <dgm:prSet presAssocID="{5164C0BB-BBA9-4AF3-A82F-586EC1D65210}" presName="Name37" presStyleLbl="parChTrans1D2" presStyleIdx="2" presStyleCnt="9" custSzX="4619325" custSzY="808887"/>
      <dgm:spPr/>
    </dgm:pt>
    <dgm:pt modelId="{96630E91-7924-4FAC-81FB-6944B4ACDE65}" type="pres">
      <dgm:prSet presAssocID="{C3FA83AA-A756-4A4C-9F7F-8394A67289A8}" presName="hierRoot2" presStyleCnt="0">
        <dgm:presLayoutVars>
          <dgm:hierBranch val="init"/>
        </dgm:presLayoutVars>
      </dgm:prSet>
      <dgm:spPr/>
    </dgm:pt>
    <dgm:pt modelId="{91396014-3B99-4075-B8B6-0717659003E4}" type="pres">
      <dgm:prSet presAssocID="{C3FA83AA-A756-4A4C-9F7F-8394A67289A8}" presName="rootComposite" presStyleCnt="0"/>
      <dgm:spPr/>
    </dgm:pt>
    <dgm:pt modelId="{34874774-8A23-4BED-B921-5208E549DC8D}" type="pres">
      <dgm:prSet presAssocID="{C3FA83AA-A756-4A4C-9F7F-8394A67289A8}" presName="rootText" presStyleLbl="node2" presStyleIdx="2" presStyleCnt="9" custScaleX="194066" custScaleY="391610">
        <dgm:presLayoutVars>
          <dgm:chPref val="3"/>
        </dgm:presLayoutVars>
      </dgm:prSet>
      <dgm:spPr/>
    </dgm:pt>
    <dgm:pt modelId="{6C649E34-6D78-4807-A6F2-BFC3D5C56DA2}" type="pres">
      <dgm:prSet presAssocID="{C3FA83AA-A756-4A4C-9F7F-8394A67289A8}" presName="rootConnector" presStyleLbl="node2" presStyleIdx="2" presStyleCnt="9"/>
      <dgm:spPr/>
    </dgm:pt>
    <dgm:pt modelId="{4FF47759-CC10-4BA9-94E0-30F3F4EFE7AA}" type="pres">
      <dgm:prSet presAssocID="{C3FA83AA-A756-4A4C-9F7F-8394A67289A8}" presName="hierChild4" presStyleCnt="0"/>
      <dgm:spPr/>
    </dgm:pt>
    <dgm:pt modelId="{858CC62A-72DC-4D49-B4CF-388CC92D98C0}" type="pres">
      <dgm:prSet presAssocID="{C3FA83AA-A756-4A4C-9F7F-8394A67289A8}" presName="hierChild5" presStyleCnt="0"/>
      <dgm:spPr/>
    </dgm:pt>
    <dgm:pt modelId="{46C067DF-3475-462D-9E69-1326B2D5C494}" type="pres">
      <dgm:prSet presAssocID="{6E2662FB-9BC9-4182-AA61-9B90770DBD86}" presName="Name37" presStyleLbl="parChTrans1D2" presStyleIdx="3" presStyleCnt="9"/>
      <dgm:spPr/>
    </dgm:pt>
    <dgm:pt modelId="{9ADCFD1A-0821-4BB0-A002-5C05603D3BDD}" type="pres">
      <dgm:prSet presAssocID="{4AA79584-0C52-405F-AFAD-19CDE23B349E}" presName="hierRoot2" presStyleCnt="0">
        <dgm:presLayoutVars>
          <dgm:hierBranch val="init"/>
        </dgm:presLayoutVars>
      </dgm:prSet>
      <dgm:spPr/>
    </dgm:pt>
    <dgm:pt modelId="{9A573C29-12AB-4D6D-9313-747617882663}" type="pres">
      <dgm:prSet presAssocID="{4AA79584-0C52-405F-AFAD-19CDE23B349E}" presName="rootComposite" presStyleCnt="0"/>
      <dgm:spPr/>
    </dgm:pt>
    <dgm:pt modelId="{EC263899-B3D5-4DC2-8D92-A166A7AB2127}" type="pres">
      <dgm:prSet presAssocID="{4AA79584-0C52-405F-AFAD-19CDE23B349E}" presName="rootText" presStyleLbl="node2" presStyleIdx="3" presStyleCnt="9" custScaleX="156006" custScaleY="399320">
        <dgm:presLayoutVars>
          <dgm:chPref val="3"/>
        </dgm:presLayoutVars>
      </dgm:prSet>
      <dgm:spPr/>
    </dgm:pt>
    <dgm:pt modelId="{7F3FBD93-7105-40BE-B88D-DE8E9BA0BE97}" type="pres">
      <dgm:prSet presAssocID="{4AA79584-0C52-405F-AFAD-19CDE23B349E}" presName="rootConnector" presStyleLbl="node2" presStyleIdx="3" presStyleCnt="9"/>
      <dgm:spPr/>
    </dgm:pt>
    <dgm:pt modelId="{3059E6F3-DA2E-4284-9173-50A8039D74C7}" type="pres">
      <dgm:prSet presAssocID="{4AA79584-0C52-405F-AFAD-19CDE23B349E}" presName="hierChild4" presStyleCnt="0"/>
      <dgm:spPr/>
    </dgm:pt>
    <dgm:pt modelId="{FAB834AF-51A2-4A33-99ED-F57BAB27A88C}" type="pres">
      <dgm:prSet presAssocID="{4AA79584-0C52-405F-AFAD-19CDE23B349E}" presName="hierChild5" presStyleCnt="0"/>
      <dgm:spPr/>
    </dgm:pt>
    <dgm:pt modelId="{004134E2-723B-477E-9E6E-C813E0ACA002}" type="pres">
      <dgm:prSet presAssocID="{13CEAF22-D59B-4DCE-AD9A-9E611C383C22}" presName="Name37" presStyleLbl="parChTrans1D2" presStyleIdx="4" presStyleCnt="9" custSzX="177453" custSzY="808887"/>
      <dgm:spPr/>
    </dgm:pt>
    <dgm:pt modelId="{B5C990B1-D7FB-42EC-BF18-813E7760F2B4}" type="pres">
      <dgm:prSet presAssocID="{702AF853-A472-41A5-A222-04382E977489}" presName="hierRoot2" presStyleCnt="0">
        <dgm:presLayoutVars>
          <dgm:hierBranch val="init"/>
        </dgm:presLayoutVars>
      </dgm:prSet>
      <dgm:spPr/>
    </dgm:pt>
    <dgm:pt modelId="{5A4EBBB1-1D12-4D9D-8753-CC6CE2320B0A}" type="pres">
      <dgm:prSet presAssocID="{702AF853-A472-41A5-A222-04382E977489}" presName="rootComposite" presStyleCnt="0"/>
      <dgm:spPr/>
    </dgm:pt>
    <dgm:pt modelId="{A266CC78-E417-43CF-AFC8-180C1D80A0E7}" type="pres">
      <dgm:prSet presAssocID="{702AF853-A472-41A5-A222-04382E977489}" presName="rootText" presStyleLbl="node2" presStyleIdx="4" presStyleCnt="9" custScaleX="194066" custScaleY="391610">
        <dgm:presLayoutVars>
          <dgm:chPref val="3"/>
        </dgm:presLayoutVars>
      </dgm:prSet>
      <dgm:spPr/>
    </dgm:pt>
    <dgm:pt modelId="{0167FD8D-70A1-4613-ACD9-D7C52014A526}" type="pres">
      <dgm:prSet presAssocID="{702AF853-A472-41A5-A222-04382E977489}" presName="rootConnector" presStyleLbl="node2" presStyleIdx="4" presStyleCnt="9"/>
      <dgm:spPr/>
    </dgm:pt>
    <dgm:pt modelId="{1D0C0321-24BE-40DB-8D79-DCBDEE5702E7}" type="pres">
      <dgm:prSet presAssocID="{702AF853-A472-41A5-A222-04382E977489}" presName="hierChild4" presStyleCnt="0"/>
      <dgm:spPr/>
    </dgm:pt>
    <dgm:pt modelId="{BAF83A2A-F05A-425E-B48E-569CF3797DC2}" type="pres">
      <dgm:prSet presAssocID="{702AF853-A472-41A5-A222-04382E977489}" presName="hierChild5" presStyleCnt="0"/>
      <dgm:spPr/>
    </dgm:pt>
    <dgm:pt modelId="{AA7AD1AF-537D-4E0F-9066-0A7087792EAD}" type="pres">
      <dgm:prSet presAssocID="{DED520A9-9309-4B3E-8371-763688EA3068}" presName="Name37" presStyleLbl="parChTrans1D2" presStyleIdx="5" presStyleCnt="9" custSzX="2309662" custSzY="808887"/>
      <dgm:spPr/>
    </dgm:pt>
    <dgm:pt modelId="{AD2CD791-4FF9-4FA8-94EF-7C4BCDE594C7}" type="pres">
      <dgm:prSet presAssocID="{77F003D5-3106-4FEF-8A37-165201F537C1}" presName="hierRoot2" presStyleCnt="0">
        <dgm:presLayoutVars>
          <dgm:hierBranch val="init"/>
        </dgm:presLayoutVars>
      </dgm:prSet>
      <dgm:spPr/>
    </dgm:pt>
    <dgm:pt modelId="{C8DBB609-31BA-4763-BF63-C2AB2D2E7F82}" type="pres">
      <dgm:prSet presAssocID="{77F003D5-3106-4FEF-8A37-165201F537C1}" presName="rootComposite" presStyleCnt="0"/>
      <dgm:spPr/>
    </dgm:pt>
    <dgm:pt modelId="{1FDB05AB-EBCA-4FF6-805B-4E1C6F5527B7}" type="pres">
      <dgm:prSet presAssocID="{77F003D5-3106-4FEF-8A37-165201F537C1}" presName="rootText" presStyleLbl="node2" presStyleIdx="5" presStyleCnt="9" custScaleX="194066" custScaleY="391610">
        <dgm:presLayoutVars>
          <dgm:chPref val="3"/>
        </dgm:presLayoutVars>
      </dgm:prSet>
      <dgm:spPr/>
    </dgm:pt>
    <dgm:pt modelId="{FF8FD28E-C242-478E-89E1-AD9F39D83D53}" type="pres">
      <dgm:prSet presAssocID="{77F003D5-3106-4FEF-8A37-165201F537C1}" presName="rootConnector" presStyleLbl="node2" presStyleIdx="5" presStyleCnt="9"/>
      <dgm:spPr/>
    </dgm:pt>
    <dgm:pt modelId="{21FE894B-F8CA-4CC2-B818-2DF30A47240E}" type="pres">
      <dgm:prSet presAssocID="{77F003D5-3106-4FEF-8A37-165201F537C1}" presName="hierChild4" presStyleCnt="0"/>
      <dgm:spPr/>
    </dgm:pt>
    <dgm:pt modelId="{7903710F-6AA3-4A71-8168-83612C52C0A7}" type="pres">
      <dgm:prSet presAssocID="{77F003D5-3106-4FEF-8A37-165201F537C1}" presName="hierChild5" presStyleCnt="0"/>
      <dgm:spPr/>
    </dgm:pt>
    <dgm:pt modelId="{759E32CF-E3A9-4DBB-BFB8-70DE69FEECF2}" type="pres">
      <dgm:prSet presAssocID="{E9E563F4-B010-423F-A6F0-1FA2E6776C82}" presName="Name37" presStyleLbl="parChTrans1D2" presStyleIdx="6" presStyleCnt="9" custSzX="4619325" custSzY="808887"/>
      <dgm:spPr/>
    </dgm:pt>
    <dgm:pt modelId="{4A05F440-BA66-45C6-84DC-7E170C03FD25}" type="pres">
      <dgm:prSet presAssocID="{220F2415-7374-45EA-AB6E-B5D88D202AB0}" presName="hierRoot2" presStyleCnt="0">
        <dgm:presLayoutVars>
          <dgm:hierBranch val="init"/>
        </dgm:presLayoutVars>
      </dgm:prSet>
      <dgm:spPr/>
    </dgm:pt>
    <dgm:pt modelId="{937CDBA1-68E5-4DE8-962A-9BBCB195E87A}" type="pres">
      <dgm:prSet presAssocID="{220F2415-7374-45EA-AB6E-B5D88D202AB0}" presName="rootComposite" presStyleCnt="0"/>
      <dgm:spPr/>
    </dgm:pt>
    <dgm:pt modelId="{013A6EF0-BC37-45CB-9C82-069D2259C9B2}" type="pres">
      <dgm:prSet presAssocID="{220F2415-7374-45EA-AB6E-B5D88D202AB0}" presName="rootText" presStyleLbl="node2" presStyleIdx="6" presStyleCnt="9" custScaleX="194066" custScaleY="391610">
        <dgm:presLayoutVars>
          <dgm:chPref val="3"/>
        </dgm:presLayoutVars>
      </dgm:prSet>
      <dgm:spPr/>
    </dgm:pt>
    <dgm:pt modelId="{9EE802BF-3C63-4749-B4DC-859DC2D7ED64}" type="pres">
      <dgm:prSet presAssocID="{220F2415-7374-45EA-AB6E-B5D88D202AB0}" presName="rootConnector" presStyleLbl="node2" presStyleIdx="6" presStyleCnt="9"/>
      <dgm:spPr/>
    </dgm:pt>
    <dgm:pt modelId="{89E20E5C-3AD4-4F38-B0B5-0F88BDE57C1F}" type="pres">
      <dgm:prSet presAssocID="{220F2415-7374-45EA-AB6E-B5D88D202AB0}" presName="hierChild4" presStyleCnt="0"/>
      <dgm:spPr/>
    </dgm:pt>
    <dgm:pt modelId="{12C1D1BA-5ECD-4EF9-96C4-41A8566C9422}" type="pres">
      <dgm:prSet presAssocID="{220F2415-7374-45EA-AB6E-B5D88D202AB0}" presName="hierChild5" presStyleCnt="0"/>
      <dgm:spPr/>
    </dgm:pt>
    <dgm:pt modelId="{03EAF334-239D-450D-AE49-96EE7A4EC141}" type="pres">
      <dgm:prSet presAssocID="{1D644EA1-BE76-442F-9922-D62A10A4B982}" presName="Name37" presStyleLbl="parChTrans1D2" presStyleIdx="7" presStyleCnt="9" custSzX="6928988" custSzY="808887"/>
      <dgm:spPr/>
    </dgm:pt>
    <dgm:pt modelId="{7348A9BE-95A9-4A04-8C01-34DC74616AD6}" type="pres">
      <dgm:prSet presAssocID="{70DC4EF0-4D43-40BB-9C98-8EAEAEAA0D85}" presName="hierRoot2" presStyleCnt="0">
        <dgm:presLayoutVars>
          <dgm:hierBranch val="init"/>
        </dgm:presLayoutVars>
      </dgm:prSet>
      <dgm:spPr/>
    </dgm:pt>
    <dgm:pt modelId="{B665704D-CB51-415D-959B-3A63A01270EA}" type="pres">
      <dgm:prSet presAssocID="{70DC4EF0-4D43-40BB-9C98-8EAEAEAA0D85}" presName="rootComposite" presStyleCnt="0"/>
      <dgm:spPr/>
    </dgm:pt>
    <dgm:pt modelId="{9488A1DB-6B8A-4705-8743-34E971D06C9B}" type="pres">
      <dgm:prSet presAssocID="{70DC4EF0-4D43-40BB-9C98-8EAEAEAA0D85}" presName="rootText" presStyleLbl="node2" presStyleIdx="7" presStyleCnt="9" custScaleX="194066" custScaleY="391610">
        <dgm:presLayoutVars>
          <dgm:chPref val="3"/>
        </dgm:presLayoutVars>
      </dgm:prSet>
      <dgm:spPr/>
    </dgm:pt>
    <dgm:pt modelId="{46F5CF6A-85FC-4FEE-956F-86CBD41ADF33}" type="pres">
      <dgm:prSet presAssocID="{70DC4EF0-4D43-40BB-9C98-8EAEAEAA0D85}" presName="rootConnector" presStyleLbl="node2" presStyleIdx="7" presStyleCnt="9"/>
      <dgm:spPr/>
    </dgm:pt>
    <dgm:pt modelId="{E24C570A-5FED-476A-94E1-8BB001FE0963}" type="pres">
      <dgm:prSet presAssocID="{70DC4EF0-4D43-40BB-9C98-8EAEAEAA0D85}" presName="hierChild4" presStyleCnt="0"/>
      <dgm:spPr/>
    </dgm:pt>
    <dgm:pt modelId="{979797D5-2F4B-4623-865E-51D256C574FD}" type="pres">
      <dgm:prSet presAssocID="{70DC4EF0-4D43-40BB-9C98-8EAEAEAA0D85}" presName="hierChild5" presStyleCnt="0"/>
      <dgm:spPr/>
    </dgm:pt>
    <dgm:pt modelId="{F41F26C7-F44A-41C9-A8DC-A30385B46036}" type="pres">
      <dgm:prSet presAssocID="{36C773FB-13E0-46E7-96BB-3E5FBD0B9E76}" presName="Name37" presStyleLbl="parChTrans1D2" presStyleIdx="8" presStyleCnt="9" custSzX="9238651" custSzY="808887"/>
      <dgm:spPr/>
    </dgm:pt>
    <dgm:pt modelId="{46925180-1287-4810-B1B9-C3A71DFCB284}" type="pres">
      <dgm:prSet presAssocID="{A1456305-23D6-4B0E-8643-A297ED907C95}" presName="hierRoot2" presStyleCnt="0">
        <dgm:presLayoutVars>
          <dgm:hierBranch val="init"/>
        </dgm:presLayoutVars>
      </dgm:prSet>
      <dgm:spPr/>
    </dgm:pt>
    <dgm:pt modelId="{A97C2ED4-A09E-44DD-8E78-8A8F90836768}" type="pres">
      <dgm:prSet presAssocID="{A1456305-23D6-4B0E-8643-A297ED907C95}" presName="rootComposite" presStyleCnt="0"/>
      <dgm:spPr/>
    </dgm:pt>
    <dgm:pt modelId="{F62E3AFB-0F4E-41A4-BE11-D68C473B3317}" type="pres">
      <dgm:prSet presAssocID="{A1456305-23D6-4B0E-8643-A297ED907C95}" presName="rootText" presStyleLbl="node2" presStyleIdx="8" presStyleCnt="9" custScaleX="194066" custScaleY="391610">
        <dgm:presLayoutVars>
          <dgm:chPref val="3"/>
        </dgm:presLayoutVars>
      </dgm:prSet>
      <dgm:spPr/>
    </dgm:pt>
    <dgm:pt modelId="{5144782D-AF52-4308-BD09-0319781BCF7D}" type="pres">
      <dgm:prSet presAssocID="{A1456305-23D6-4B0E-8643-A297ED907C95}" presName="rootConnector" presStyleLbl="node2" presStyleIdx="8" presStyleCnt="9"/>
      <dgm:spPr/>
    </dgm:pt>
    <dgm:pt modelId="{892920D4-62E7-4060-B66C-9AB0074E5296}" type="pres">
      <dgm:prSet presAssocID="{A1456305-23D6-4B0E-8643-A297ED907C95}" presName="hierChild4" presStyleCnt="0"/>
      <dgm:spPr/>
    </dgm:pt>
    <dgm:pt modelId="{EC4899FC-5042-4699-9E20-60959322FB19}" type="pres">
      <dgm:prSet presAssocID="{A1456305-23D6-4B0E-8643-A297ED907C95}" presName="hierChild5" presStyleCnt="0"/>
      <dgm:spPr/>
    </dgm:pt>
    <dgm:pt modelId="{BAB50FC1-34C7-4084-BFD9-08D9FB73C659}" type="pres">
      <dgm:prSet presAssocID="{BB6EE928-5695-494F-BEC5-3911DDDCD918}" presName="hierChild3" presStyleCnt="0"/>
      <dgm:spPr/>
    </dgm:pt>
  </dgm:ptLst>
  <dgm:cxnLst>
    <dgm:cxn modelId="{00052200-1785-4538-876D-2CDBF642B3C2}" srcId="{BB6EE928-5695-494F-BEC5-3911DDDCD918}" destId="{220F2415-7374-45EA-AB6E-B5D88D202AB0}" srcOrd="6" destOrd="0" parTransId="{E9E563F4-B010-423F-A6F0-1FA2E6776C82}" sibTransId="{632DDA34-CD94-4F90-8E4A-90593852C7E3}"/>
    <dgm:cxn modelId="{2230E90E-AC0D-459B-A078-DA2512800CDC}" type="presOf" srcId="{52CB0853-947A-4B90-AEF3-D1423522539D}" destId="{66148B3A-8E34-4E96-9508-BCC7D97AA1C1}" srcOrd="0" destOrd="0" presId="urn:microsoft.com/office/officeart/2005/8/layout/orgChart1"/>
    <dgm:cxn modelId="{12113515-7122-4604-ABC2-1121A9AB5F72}" type="presOf" srcId="{13CEAF22-D59B-4DCE-AD9A-9E611C383C22}" destId="{004134E2-723B-477E-9E6E-C813E0ACA002}" srcOrd="0" destOrd="0" presId="urn:microsoft.com/office/officeart/2005/8/layout/orgChart1"/>
    <dgm:cxn modelId="{1651591E-2D31-4534-9B7B-F4384F48606F}" type="presOf" srcId="{A1456305-23D6-4B0E-8643-A297ED907C95}" destId="{5144782D-AF52-4308-BD09-0319781BCF7D}" srcOrd="1" destOrd="0" presId="urn:microsoft.com/office/officeart/2005/8/layout/orgChart1"/>
    <dgm:cxn modelId="{9CA1A91F-1C4D-4600-B8AE-05439FBA0401}" srcId="{BB6EE928-5695-494F-BEC5-3911DDDCD918}" destId="{30E94408-8E02-4648-A004-448DF587FC05}" srcOrd="0" destOrd="0" parTransId="{52CB0853-947A-4B90-AEF3-D1423522539D}" sibTransId="{60CE2141-1230-4526-AA13-56F13A2C7827}"/>
    <dgm:cxn modelId="{2A4D8D23-297A-46A9-A599-022D17EFF430}" srcId="{BB6EE928-5695-494F-BEC5-3911DDDCD918}" destId="{4109F201-BDF2-4D2C-8552-095CE142ACC4}" srcOrd="1" destOrd="0" parTransId="{2234DD10-C928-4213-8E95-FC02994DD702}" sibTransId="{757313B4-C69F-45B6-8B4D-0D6C8531ADF0}"/>
    <dgm:cxn modelId="{B1DCD627-EF89-4290-B9B0-CA504E2B0C00}" type="presOf" srcId="{C3FA83AA-A756-4A4C-9F7F-8394A67289A8}" destId="{6C649E34-6D78-4807-A6F2-BFC3D5C56DA2}" srcOrd="1" destOrd="0" presId="urn:microsoft.com/office/officeart/2005/8/layout/orgChart1"/>
    <dgm:cxn modelId="{0989A72F-E71E-4273-9DED-9C8636A4AC6B}" type="presOf" srcId="{4109F201-BDF2-4D2C-8552-095CE142ACC4}" destId="{F2B7AB57-4159-4EE2-B28A-3B7BD20BE11D}" srcOrd="1" destOrd="0" presId="urn:microsoft.com/office/officeart/2005/8/layout/orgChart1"/>
    <dgm:cxn modelId="{5571DD30-DBD9-4FD3-B925-6A39E8994E7A}" type="presOf" srcId="{30E94408-8E02-4648-A004-448DF587FC05}" destId="{FC612050-3DF4-489E-B1B7-243DC7F961C9}" srcOrd="0" destOrd="0" presId="urn:microsoft.com/office/officeart/2005/8/layout/orgChart1"/>
    <dgm:cxn modelId="{0597CF31-69CB-405D-89D0-94FFE7DE208F}" type="presOf" srcId="{5164C0BB-BBA9-4AF3-A82F-586EC1D65210}" destId="{7D9ADE14-1147-4564-9F40-7FFDBF96416F}" srcOrd="0" destOrd="0" presId="urn:microsoft.com/office/officeart/2005/8/layout/orgChart1"/>
    <dgm:cxn modelId="{37492E61-673C-4EE7-B19A-B2C1730DE997}" type="presOf" srcId="{220F2415-7374-45EA-AB6E-B5D88D202AB0}" destId="{9EE802BF-3C63-4749-B4DC-859DC2D7ED64}" srcOrd="1" destOrd="0" presId="urn:microsoft.com/office/officeart/2005/8/layout/orgChart1"/>
    <dgm:cxn modelId="{3596DC62-1D39-465C-A590-F7308C57F268}" srcId="{BB6EE928-5695-494F-BEC5-3911DDDCD918}" destId="{70DC4EF0-4D43-40BB-9C98-8EAEAEAA0D85}" srcOrd="7" destOrd="0" parTransId="{1D644EA1-BE76-442F-9922-D62A10A4B982}" sibTransId="{F8123CD1-E53D-4CF5-ABEC-41B562341269}"/>
    <dgm:cxn modelId="{FA53B843-8AFD-4A12-84B0-DB047E414781}" type="presOf" srcId="{C3FA83AA-A756-4A4C-9F7F-8394A67289A8}" destId="{34874774-8A23-4BED-B921-5208E549DC8D}" srcOrd="0" destOrd="0" presId="urn:microsoft.com/office/officeart/2005/8/layout/orgChart1"/>
    <dgm:cxn modelId="{C49E1A46-3A32-429C-841F-97E9AA86EDA1}" srcId="{BB6EE928-5695-494F-BEC5-3911DDDCD918}" destId="{C3FA83AA-A756-4A4C-9F7F-8394A67289A8}" srcOrd="2" destOrd="0" parTransId="{5164C0BB-BBA9-4AF3-A82F-586EC1D65210}" sibTransId="{B3DDFB8E-3AB4-4822-9C2E-32B4944B716D}"/>
    <dgm:cxn modelId="{DFDB2369-46C9-466D-B9A3-A4BD4805D636}" type="presOf" srcId="{E9E563F4-B010-423F-A6F0-1FA2E6776C82}" destId="{759E32CF-E3A9-4DBB-BFB8-70DE69FEECF2}" srcOrd="0" destOrd="0" presId="urn:microsoft.com/office/officeart/2005/8/layout/orgChart1"/>
    <dgm:cxn modelId="{9BC84269-F791-4248-BB54-B3ED3B857347}" type="presOf" srcId="{77F003D5-3106-4FEF-8A37-165201F537C1}" destId="{FF8FD28E-C242-478E-89E1-AD9F39D83D53}" srcOrd="1" destOrd="0" presId="urn:microsoft.com/office/officeart/2005/8/layout/orgChart1"/>
    <dgm:cxn modelId="{71F1B869-05EF-451A-AEF8-7049D0D7C5DC}" srcId="{BB6EE928-5695-494F-BEC5-3911DDDCD918}" destId="{702AF853-A472-41A5-A222-04382E977489}" srcOrd="4" destOrd="0" parTransId="{13CEAF22-D59B-4DCE-AD9A-9E611C383C22}" sibTransId="{C23AAD3D-C800-4C1E-ABC8-FA935884239C}"/>
    <dgm:cxn modelId="{4248546C-F053-418F-B622-C8202F6EDD0C}" srcId="{08B6D5D2-C66A-483C-A1AF-B1BF2DC49765}" destId="{BB6EE928-5695-494F-BEC5-3911DDDCD918}" srcOrd="0" destOrd="0" parTransId="{208646B3-0D05-4F61-8A66-A70CD1677B1A}" sibTransId="{2EAEC75D-45EF-4B57-A4D1-D3A998594BF8}"/>
    <dgm:cxn modelId="{87DA8E6E-FC12-4A85-B6F8-2BA8EF02D8A3}" type="presOf" srcId="{1D644EA1-BE76-442F-9922-D62A10A4B982}" destId="{03EAF334-239D-450D-AE49-96EE7A4EC141}" srcOrd="0" destOrd="0" presId="urn:microsoft.com/office/officeart/2005/8/layout/orgChart1"/>
    <dgm:cxn modelId="{C0C39455-13D0-4F38-86B5-8234AEA8A0BF}" type="presOf" srcId="{77F003D5-3106-4FEF-8A37-165201F537C1}" destId="{1FDB05AB-EBCA-4FF6-805B-4E1C6F5527B7}" srcOrd="0" destOrd="0" presId="urn:microsoft.com/office/officeart/2005/8/layout/orgChart1"/>
    <dgm:cxn modelId="{41206078-6CFC-4D97-90AC-8781BB419CE5}" type="presOf" srcId="{36C773FB-13E0-46E7-96BB-3E5FBD0B9E76}" destId="{F41F26C7-F44A-41C9-A8DC-A30385B46036}" srcOrd="0" destOrd="0" presId="urn:microsoft.com/office/officeart/2005/8/layout/orgChart1"/>
    <dgm:cxn modelId="{5483CA58-13E5-4A54-8C5F-D74860036CF1}" type="presOf" srcId="{4109F201-BDF2-4D2C-8552-095CE142ACC4}" destId="{57695B00-9D85-4A1B-8F50-DD7773C2A38C}" srcOrd="0" destOrd="0" presId="urn:microsoft.com/office/officeart/2005/8/layout/orgChart1"/>
    <dgm:cxn modelId="{F8E8E27C-F713-48BD-A95F-EEBBD37CCC13}" type="presOf" srcId="{2234DD10-C928-4213-8E95-FC02994DD702}" destId="{05D9BF9D-F445-490C-916F-0207C745FFF6}" srcOrd="0" destOrd="0" presId="urn:microsoft.com/office/officeart/2005/8/layout/orgChart1"/>
    <dgm:cxn modelId="{57429883-7EFD-4984-8F9C-1BD41F97D2BC}" type="presOf" srcId="{702AF853-A472-41A5-A222-04382E977489}" destId="{0167FD8D-70A1-4613-ACD9-D7C52014A526}" srcOrd="1" destOrd="0" presId="urn:microsoft.com/office/officeart/2005/8/layout/orgChart1"/>
    <dgm:cxn modelId="{06B9D284-F67F-4AB9-BEB5-DC4530D8BDA4}" type="presOf" srcId="{DED520A9-9309-4B3E-8371-763688EA3068}" destId="{AA7AD1AF-537D-4E0F-9066-0A7087792EAD}" srcOrd="0" destOrd="0" presId="urn:microsoft.com/office/officeart/2005/8/layout/orgChart1"/>
    <dgm:cxn modelId="{6994089B-918B-4CA2-9664-1CE46735A359}" type="presOf" srcId="{702AF853-A472-41A5-A222-04382E977489}" destId="{A266CC78-E417-43CF-AFC8-180C1D80A0E7}" srcOrd="0" destOrd="0" presId="urn:microsoft.com/office/officeart/2005/8/layout/orgChart1"/>
    <dgm:cxn modelId="{CC9412A0-942B-4BEC-90A9-395DB1C4F1CC}" type="presOf" srcId="{08B6D5D2-C66A-483C-A1AF-B1BF2DC49765}" destId="{5F277F5A-A9EE-499B-B359-081EF4C0A907}" srcOrd="0" destOrd="0" presId="urn:microsoft.com/office/officeart/2005/8/layout/orgChart1"/>
    <dgm:cxn modelId="{62ECF8A8-5C86-446B-A232-F15C26BEA5A2}" type="presOf" srcId="{BB6EE928-5695-494F-BEC5-3911DDDCD918}" destId="{695BDD94-8D5A-4E49-8257-85EB2E2A2C46}" srcOrd="1" destOrd="0" presId="urn:microsoft.com/office/officeart/2005/8/layout/orgChart1"/>
    <dgm:cxn modelId="{17AF6FAE-4299-4B65-AC6F-8A654B0C7F48}" srcId="{BB6EE928-5695-494F-BEC5-3911DDDCD918}" destId="{77F003D5-3106-4FEF-8A37-165201F537C1}" srcOrd="5" destOrd="0" parTransId="{DED520A9-9309-4B3E-8371-763688EA3068}" sibTransId="{826900C9-457F-497B-95E6-204AC43BC0FE}"/>
    <dgm:cxn modelId="{7C9BB9B2-48C9-4A72-83CA-47C9C4BC2711}" type="presOf" srcId="{70DC4EF0-4D43-40BB-9C98-8EAEAEAA0D85}" destId="{9488A1DB-6B8A-4705-8743-34E971D06C9B}" srcOrd="0" destOrd="0" presId="urn:microsoft.com/office/officeart/2005/8/layout/orgChart1"/>
    <dgm:cxn modelId="{CE78EEB4-032A-4E38-9D61-102CFDF18773}" type="presOf" srcId="{6E2662FB-9BC9-4182-AA61-9B90770DBD86}" destId="{46C067DF-3475-462D-9E69-1326B2D5C494}" srcOrd="0" destOrd="0" presId="urn:microsoft.com/office/officeart/2005/8/layout/orgChart1"/>
    <dgm:cxn modelId="{F7F82BB9-445D-466A-9FA0-191471A22845}" srcId="{BB6EE928-5695-494F-BEC5-3911DDDCD918}" destId="{4AA79584-0C52-405F-AFAD-19CDE23B349E}" srcOrd="3" destOrd="0" parTransId="{6E2662FB-9BC9-4182-AA61-9B90770DBD86}" sibTransId="{1352B6E5-2F28-473D-A6E0-E022404783BB}"/>
    <dgm:cxn modelId="{FEA104BF-A08B-4A24-A8AB-CE536F00F9D0}" type="presOf" srcId="{BB6EE928-5695-494F-BEC5-3911DDDCD918}" destId="{5A1F0CA8-3957-4CAE-915B-024B5A6F204A}" srcOrd="0" destOrd="0" presId="urn:microsoft.com/office/officeart/2005/8/layout/orgChart1"/>
    <dgm:cxn modelId="{0AC99ECF-7E43-4C93-B896-52C5D6FF9967}" type="presOf" srcId="{30E94408-8E02-4648-A004-448DF587FC05}" destId="{520237DE-E8A1-4B26-9E2E-8CCF2ECE8AAF}" srcOrd="1" destOrd="0" presId="urn:microsoft.com/office/officeart/2005/8/layout/orgChart1"/>
    <dgm:cxn modelId="{4ECA12D8-A899-41E0-BBA2-5556049D3EEC}" type="presOf" srcId="{70DC4EF0-4D43-40BB-9C98-8EAEAEAA0D85}" destId="{46F5CF6A-85FC-4FEE-956F-86CBD41ADF33}" srcOrd="1" destOrd="0" presId="urn:microsoft.com/office/officeart/2005/8/layout/orgChart1"/>
    <dgm:cxn modelId="{50574EDF-EACB-43B1-8A5A-603FAF64B27E}" type="presOf" srcId="{4AA79584-0C52-405F-AFAD-19CDE23B349E}" destId="{EC263899-B3D5-4DC2-8D92-A166A7AB2127}" srcOrd="0" destOrd="0" presId="urn:microsoft.com/office/officeart/2005/8/layout/orgChart1"/>
    <dgm:cxn modelId="{C4451FE4-C72F-416A-B6C9-DA7DD0A2A758}" type="presOf" srcId="{A1456305-23D6-4B0E-8643-A297ED907C95}" destId="{F62E3AFB-0F4E-41A4-BE11-D68C473B3317}" srcOrd="0" destOrd="0" presId="urn:microsoft.com/office/officeart/2005/8/layout/orgChart1"/>
    <dgm:cxn modelId="{6021F9EF-931D-43E4-927D-3AF9BB94684A}" srcId="{BB6EE928-5695-494F-BEC5-3911DDDCD918}" destId="{A1456305-23D6-4B0E-8643-A297ED907C95}" srcOrd="8" destOrd="0" parTransId="{36C773FB-13E0-46E7-96BB-3E5FBD0B9E76}" sibTransId="{29DC4ED4-1B96-4500-BC84-D5F37350E223}"/>
    <dgm:cxn modelId="{CCF519F7-DD20-438F-9E48-E6E1FFC7E5ED}" type="presOf" srcId="{4AA79584-0C52-405F-AFAD-19CDE23B349E}" destId="{7F3FBD93-7105-40BE-B88D-DE8E9BA0BE97}" srcOrd="1" destOrd="0" presId="urn:microsoft.com/office/officeart/2005/8/layout/orgChart1"/>
    <dgm:cxn modelId="{BD97C1FA-2C14-45BC-B481-617DA8CDAE2F}" type="presOf" srcId="{220F2415-7374-45EA-AB6E-B5D88D202AB0}" destId="{013A6EF0-BC37-45CB-9C82-069D2259C9B2}" srcOrd="0" destOrd="0" presId="urn:microsoft.com/office/officeart/2005/8/layout/orgChart1"/>
    <dgm:cxn modelId="{BD0E52D9-3B77-4A6E-AFC0-D0D13DBC0429}" type="presParOf" srcId="{5F277F5A-A9EE-499B-B359-081EF4C0A907}" destId="{73FE7A23-0178-446F-B926-A7769299AD93}" srcOrd="0" destOrd="0" presId="urn:microsoft.com/office/officeart/2005/8/layout/orgChart1"/>
    <dgm:cxn modelId="{FFDE96C9-EB26-4D95-A2B8-85744CF4C39C}" type="presParOf" srcId="{73FE7A23-0178-446F-B926-A7769299AD93}" destId="{AA4A9584-E8BB-4C7D-801E-426CF7373E94}" srcOrd="0" destOrd="0" presId="urn:microsoft.com/office/officeart/2005/8/layout/orgChart1"/>
    <dgm:cxn modelId="{C1F9C68C-A4B1-40CF-926A-AF19BF04CAFA}" type="presParOf" srcId="{AA4A9584-E8BB-4C7D-801E-426CF7373E94}" destId="{5A1F0CA8-3957-4CAE-915B-024B5A6F204A}" srcOrd="0" destOrd="0" presId="urn:microsoft.com/office/officeart/2005/8/layout/orgChart1"/>
    <dgm:cxn modelId="{1EFF4C3A-0229-44BB-9963-060F3E9C90BF}" type="presParOf" srcId="{AA4A9584-E8BB-4C7D-801E-426CF7373E94}" destId="{695BDD94-8D5A-4E49-8257-85EB2E2A2C46}" srcOrd="1" destOrd="0" presId="urn:microsoft.com/office/officeart/2005/8/layout/orgChart1"/>
    <dgm:cxn modelId="{BE2F3D16-FD5C-47BF-B2B8-733F3D011C2D}" type="presParOf" srcId="{73FE7A23-0178-446F-B926-A7769299AD93}" destId="{E932D9A7-90AA-47AB-9080-007DA7B23401}" srcOrd="1" destOrd="0" presId="urn:microsoft.com/office/officeart/2005/8/layout/orgChart1"/>
    <dgm:cxn modelId="{4F2E331C-F0DF-4712-8124-D1A71A5E32D6}" type="presParOf" srcId="{E932D9A7-90AA-47AB-9080-007DA7B23401}" destId="{66148B3A-8E34-4E96-9508-BCC7D97AA1C1}" srcOrd="0" destOrd="0" presId="urn:microsoft.com/office/officeart/2005/8/layout/orgChart1"/>
    <dgm:cxn modelId="{97B4229F-64E9-4EC7-99C5-716267DEE154}" type="presParOf" srcId="{E932D9A7-90AA-47AB-9080-007DA7B23401}" destId="{F9D60E79-727D-4596-A969-DCA4AF9891C5}" srcOrd="1" destOrd="0" presId="urn:microsoft.com/office/officeart/2005/8/layout/orgChart1"/>
    <dgm:cxn modelId="{4593B47F-7F0E-43BF-BE28-23C6BEA19BD2}" type="presParOf" srcId="{F9D60E79-727D-4596-A969-DCA4AF9891C5}" destId="{7829539B-2A63-4006-A1E5-92A467FAD9F0}" srcOrd="0" destOrd="0" presId="urn:microsoft.com/office/officeart/2005/8/layout/orgChart1"/>
    <dgm:cxn modelId="{BB494827-256D-4F19-A780-1D418187B9E8}" type="presParOf" srcId="{7829539B-2A63-4006-A1E5-92A467FAD9F0}" destId="{FC612050-3DF4-489E-B1B7-243DC7F961C9}" srcOrd="0" destOrd="0" presId="urn:microsoft.com/office/officeart/2005/8/layout/orgChart1"/>
    <dgm:cxn modelId="{46B1603A-0561-483E-BCDF-3A039F604D91}" type="presParOf" srcId="{7829539B-2A63-4006-A1E5-92A467FAD9F0}" destId="{520237DE-E8A1-4B26-9E2E-8CCF2ECE8AAF}" srcOrd="1" destOrd="0" presId="urn:microsoft.com/office/officeart/2005/8/layout/orgChart1"/>
    <dgm:cxn modelId="{57EC437C-2D26-482E-9B29-E3FEF0804DE3}" type="presParOf" srcId="{F9D60E79-727D-4596-A969-DCA4AF9891C5}" destId="{59407EC9-C01F-4D44-8DA5-6E6EDA36619D}" srcOrd="1" destOrd="0" presId="urn:microsoft.com/office/officeart/2005/8/layout/orgChart1"/>
    <dgm:cxn modelId="{0A85B627-6D25-4D40-B310-D8057192EE8D}" type="presParOf" srcId="{F9D60E79-727D-4596-A969-DCA4AF9891C5}" destId="{CD932169-22B8-4BAC-9FFA-908988CE765F}" srcOrd="2" destOrd="0" presId="urn:microsoft.com/office/officeart/2005/8/layout/orgChart1"/>
    <dgm:cxn modelId="{A50C1347-6D07-4FFB-8657-03DA9A3CF42B}" type="presParOf" srcId="{E932D9A7-90AA-47AB-9080-007DA7B23401}" destId="{05D9BF9D-F445-490C-916F-0207C745FFF6}" srcOrd="2" destOrd="0" presId="urn:microsoft.com/office/officeart/2005/8/layout/orgChart1"/>
    <dgm:cxn modelId="{31B9FB9F-A577-4160-98BF-53F7A267AFE6}" type="presParOf" srcId="{E932D9A7-90AA-47AB-9080-007DA7B23401}" destId="{FB577917-A93A-4914-914F-4B3016FA9C01}" srcOrd="3" destOrd="0" presId="urn:microsoft.com/office/officeart/2005/8/layout/orgChart1"/>
    <dgm:cxn modelId="{F5DC0D66-E3F6-4854-B878-4845C23BE31A}" type="presParOf" srcId="{FB577917-A93A-4914-914F-4B3016FA9C01}" destId="{BA4D8E7D-048D-4E90-9351-501CC7EFCCAE}" srcOrd="0" destOrd="0" presId="urn:microsoft.com/office/officeart/2005/8/layout/orgChart1"/>
    <dgm:cxn modelId="{9D64057C-4C14-4467-B5CF-89F8A57D8E90}" type="presParOf" srcId="{BA4D8E7D-048D-4E90-9351-501CC7EFCCAE}" destId="{57695B00-9D85-4A1B-8F50-DD7773C2A38C}" srcOrd="0" destOrd="0" presId="urn:microsoft.com/office/officeart/2005/8/layout/orgChart1"/>
    <dgm:cxn modelId="{1D85A091-C41E-4138-AF8F-CFCC8965D928}" type="presParOf" srcId="{BA4D8E7D-048D-4E90-9351-501CC7EFCCAE}" destId="{F2B7AB57-4159-4EE2-B28A-3B7BD20BE11D}" srcOrd="1" destOrd="0" presId="urn:microsoft.com/office/officeart/2005/8/layout/orgChart1"/>
    <dgm:cxn modelId="{DD50094A-E19D-4C7D-91C0-1566A96B81A2}" type="presParOf" srcId="{FB577917-A93A-4914-914F-4B3016FA9C01}" destId="{8BA51426-17FD-4E91-BFB3-D85B78412386}" srcOrd="1" destOrd="0" presId="urn:microsoft.com/office/officeart/2005/8/layout/orgChart1"/>
    <dgm:cxn modelId="{AE8307E8-5A2F-4240-AF41-1DC2D5130B52}" type="presParOf" srcId="{FB577917-A93A-4914-914F-4B3016FA9C01}" destId="{33DE623D-9F11-4F61-99AF-40F79CD2DF38}" srcOrd="2" destOrd="0" presId="urn:microsoft.com/office/officeart/2005/8/layout/orgChart1"/>
    <dgm:cxn modelId="{F162193E-9A45-4DEA-AF1F-6807F5D7BEB1}" type="presParOf" srcId="{E932D9A7-90AA-47AB-9080-007DA7B23401}" destId="{7D9ADE14-1147-4564-9F40-7FFDBF96416F}" srcOrd="4" destOrd="0" presId="urn:microsoft.com/office/officeart/2005/8/layout/orgChart1"/>
    <dgm:cxn modelId="{548C27BA-1F6D-408D-97CD-8722E57EAA24}" type="presParOf" srcId="{E932D9A7-90AA-47AB-9080-007DA7B23401}" destId="{96630E91-7924-4FAC-81FB-6944B4ACDE65}" srcOrd="5" destOrd="0" presId="urn:microsoft.com/office/officeart/2005/8/layout/orgChart1"/>
    <dgm:cxn modelId="{70A53656-EC55-44DC-8C5E-6106426C4A9F}" type="presParOf" srcId="{96630E91-7924-4FAC-81FB-6944B4ACDE65}" destId="{91396014-3B99-4075-B8B6-0717659003E4}" srcOrd="0" destOrd="0" presId="urn:microsoft.com/office/officeart/2005/8/layout/orgChart1"/>
    <dgm:cxn modelId="{9251629A-757B-4760-ABEF-C9CE327025AF}" type="presParOf" srcId="{91396014-3B99-4075-B8B6-0717659003E4}" destId="{34874774-8A23-4BED-B921-5208E549DC8D}" srcOrd="0" destOrd="0" presId="urn:microsoft.com/office/officeart/2005/8/layout/orgChart1"/>
    <dgm:cxn modelId="{0CE0BADC-E31B-431C-AB03-5010DD68EEDE}" type="presParOf" srcId="{91396014-3B99-4075-B8B6-0717659003E4}" destId="{6C649E34-6D78-4807-A6F2-BFC3D5C56DA2}" srcOrd="1" destOrd="0" presId="urn:microsoft.com/office/officeart/2005/8/layout/orgChart1"/>
    <dgm:cxn modelId="{46F61691-28E5-422D-B761-3CFD97CFB3FE}" type="presParOf" srcId="{96630E91-7924-4FAC-81FB-6944B4ACDE65}" destId="{4FF47759-CC10-4BA9-94E0-30F3F4EFE7AA}" srcOrd="1" destOrd="0" presId="urn:microsoft.com/office/officeart/2005/8/layout/orgChart1"/>
    <dgm:cxn modelId="{8E82A021-CC41-46B7-B9C0-5B6A594B499A}" type="presParOf" srcId="{96630E91-7924-4FAC-81FB-6944B4ACDE65}" destId="{858CC62A-72DC-4D49-B4CF-388CC92D98C0}" srcOrd="2" destOrd="0" presId="urn:microsoft.com/office/officeart/2005/8/layout/orgChart1"/>
    <dgm:cxn modelId="{3D8F8ADC-5A14-42FB-82B7-22649E6958D3}" type="presParOf" srcId="{E932D9A7-90AA-47AB-9080-007DA7B23401}" destId="{46C067DF-3475-462D-9E69-1326B2D5C494}" srcOrd="6" destOrd="0" presId="urn:microsoft.com/office/officeart/2005/8/layout/orgChart1"/>
    <dgm:cxn modelId="{74E78468-0668-4504-B9C6-DC445845018E}" type="presParOf" srcId="{E932D9A7-90AA-47AB-9080-007DA7B23401}" destId="{9ADCFD1A-0821-4BB0-A002-5C05603D3BDD}" srcOrd="7" destOrd="0" presId="urn:microsoft.com/office/officeart/2005/8/layout/orgChart1"/>
    <dgm:cxn modelId="{CBBC6C83-6DBF-4C09-8B43-F789BCACD257}" type="presParOf" srcId="{9ADCFD1A-0821-4BB0-A002-5C05603D3BDD}" destId="{9A573C29-12AB-4D6D-9313-747617882663}" srcOrd="0" destOrd="0" presId="urn:microsoft.com/office/officeart/2005/8/layout/orgChart1"/>
    <dgm:cxn modelId="{2DE90FC2-C5A0-414E-BAB0-8CFDB1A6237E}" type="presParOf" srcId="{9A573C29-12AB-4D6D-9313-747617882663}" destId="{EC263899-B3D5-4DC2-8D92-A166A7AB2127}" srcOrd="0" destOrd="0" presId="urn:microsoft.com/office/officeart/2005/8/layout/orgChart1"/>
    <dgm:cxn modelId="{0D86523F-7DCB-425A-81AC-CD5AD986C820}" type="presParOf" srcId="{9A573C29-12AB-4D6D-9313-747617882663}" destId="{7F3FBD93-7105-40BE-B88D-DE8E9BA0BE97}" srcOrd="1" destOrd="0" presId="urn:microsoft.com/office/officeart/2005/8/layout/orgChart1"/>
    <dgm:cxn modelId="{AA119EE8-E761-4231-B9F3-02CDD941A15D}" type="presParOf" srcId="{9ADCFD1A-0821-4BB0-A002-5C05603D3BDD}" destId="{3059E6F3-DA2E-4284-9173-50A8039D74C7}" srcOrd="1" destOrd="0" presId="urn:microsoft.com/office/officeart/2005/8/layout/orgChart1"/>
    <dgm:cxn modelId="{38E07FDC-8557-4306-BF23-C1FD9AE2C404}" type="presParOf" srcId="{9ADCFD1A-0821-4BB0-A002-5C05603D3BDD}" destId="{FAB834AF-51A2-4A33-99ED-F57BAB27A88C}" srcOrd="2" destOrd="0" presId="urn:microsoft.com/office/officeart/2005/8/layout/orgChart1"/>
    <dgm:cxn modelId="{6675C706-55EF-45F4-86F1-961B0A2CF535}" type="presParOf" srcId="{E932D9A7-90AA-47AB-9080-007DA7B23401}" destId="{004134E2-723B-477E-9E6E-C813E0ACA002}" srcOrd="8" destOrd="0" presId="urn:microsoft.com/office/officeart/2005/8/layout/orgChart1"/>
    <dgm:cxn modelId="{CFBFFD5D-DF5A-4FE7-9FE5-6F3B81A6521B}" type="presParOf" srcId="{E932D9A7-90AA-47AB-9080-007DA7B23401}" destId="{B5C990B1-D7FB-42EC-BF18-813E7760F2B4}" srcOrd="9" destOrd="0" presId="urn:microsoft.com/office/officeart/2005/8/layout/orgChart1"/>
    <dgm:cxn modelId="{40E394F1-1CD8-4415-AD50-13DEF634755D}" type="presParOf" srcId="{B5C990B1-D7FB-42EC-BF18-813E7760F2B4}" destId="{5A4EBBB1-1D12-4D9D-8753-CC6CE2320B0A}" srcOrd="0" destOrd="0" presId="urn:microsoft.com/office/officeart/2005/8/layout/orgChart1"/>
    <dgm:cxn modelId="{3BDDB61B-A8B5-4EC3-8DB0-2AD7D8861F94}" type="presParOf" srcId="{5A4EBBB1-1D12-4D9D-8753-CC6CE2320B0A}" destId="{A266CC78-E417-43CF-AFC8-180C1D80A0E7}" srcOrd="0" destOrd="0" presId="urn:microsoft.com/office/officeart/2005/8/layout/orgChart1"/>
    <dgm:cxn modelId="{49178611-0758-4913-90AD-DE86501E9FDC}" type="presParOf" srcId="{5A4EBBB1-1D12-4D9D-8753-CC6CE2320B0A}" destId="{0167FD8D-70A1-4613-ACD9-D7C52014A526}" srcOrd="1" destOrd="0" presId="urn:microsoft.com/office/officeart/2005/8/layout/orgChart1"/>
    <dgm:cxn modelId="{29D5908E-4603-420A-9A84-9D9E36862215}" type="presParOf" srcId="{B5C990B1-D7FB-42EC-BF18-813E7760F2B4}" destId="{1D0C0321-24BE-40DB-8D79-DCBDEE5702E7}" srcOrd="1" destOrd="0" presId="urn:microsoft.com/office/officeart/2005/8/layout/orgChart1"/>
    <dgm:cxn modelId="{315CB183-E6E7-4697-8ACC-30EB1C05D709}" type="presParOf" srcId="{B5C990B1-D7FB-42EC-BF18-813E7760F2B4}" destId="{BAF83A2A-F05A-425E-B48E-569CF3797DC2}" srcOrd="2" destOrd="0" presId="urn:microsoft.com/office/officeart/2005/8/layout/orgChart1"/>
    <dgm:cxn modelId="{14C4474F-9513-48C0-A69F-10FE3D789490}" type="presParOf" srcId="{E932D9A7-90AA-47AB-9080-007DA7B23401}" destId="{AA7AD1AF-537D-4E0F-9066-0A7087792EAD}" srcOrd="10" destOrd="0" presId="urn:microsoft.com/office/officeart/2005/8/layout/orgChart1"/>
    <dgm:cxn modelId="{58E5CC97-D936-4FEE-9054-4F40190A66A9}" type="presParOf" srcId="{E932D9A7-90AA-47AB-9080-007DA7B23401}" destId="{AD2CD791-4FF9-4FA8-94EF-7C4BCDE594C7}" srcOrd="11" destOrd="0" presId="urn:microsoft.com/office/officeart/2005/8/layout/orgChart1"/>
    <dgm:cxn modelId="{EFA9CA41-95D0-4C20-9B27-BD723D060847}" type="presParOf" srcId="{AD2CD791-4FF9-4FA8-94EF-7C4BCDE594C7}" destId="{C8DBB609-31BA-4763-BF63-C2AB2D2E7F82}" srcOrd="0" destOrd="0" presId="urn:microsoft.com/office/officeart/2005/8/layout/orgChart1"/>
    <dgm:cxn modelId="{2331B778-E90B-42C5-A823-9D397F9A44DD}" type="presParOf" srcId="{C8DBB609-31BA-4763-BF63-C2AB2D2E7F82}" destId="{1FDB05AB-EBCA-4FF6-805B-4E1C6F5527B7}" srcOrd="0" destOrd="0" presId="urn:microsoft.com/office/officeart/2005/8/layout/orgChart1"/>
    <dgm:cxn modelId="{1756B4E3-AE80-4696-B5DC-79A10C20EB01}" type="presParOf" srcId="{C8DBB609-31BA-4763-BF63-C2AB2D2E7F82}" destId="{FF8FD28E-C242-478E-89E1-AD9F39D83D53}" srcOrd="1" destOrd="0" presId="urn:microsoft.com/office/officeart/2005/8/layout/orgChart1"/>
    <dgm:cxn modelId="{758DD610-D7C5-481A-9FBF-4346D9F2BD5B}" type="presParOf" srcId="{AD2CD791-4FF9-4FA8-94EF-7C4BCDE594C7}" destId="{21FE894B-F8CA-4CC2-B818-2DF30A47240E}" srcOrd="1" destOrd="0" presId="urn:microsoft.com/office/officeart/2005/8/layout/orgChart1"/>
    <dgm:cxn modelId="{7A2A0E3D-8799-4A04-8B94-6FC9D3E19402}" type="presParOf" srcId="{AD2CD791-4FF9-4FA8-94EF-7C4BCDE594C7}" destId="{7903710F-6AA3-4A71-8168-83612C52C0A7}" srcOrd="2" destOrd="0" presId="urn:microsoft.com/office/officeart/2005/8/layout/orgChart1"/>
    <dgm:cxn modelId="{0BBFE924-A6EC-486C-9164-84AA2D7C3936}" type="presParOf" srcId="{E932D9A7-90AA-47AB-9080-007DA7B23401}" destId="{759E32CF-E3A9-4DBB-BFB8-70DE69FEECF2}" srcOrd="12" destOrd="0" presId="urn:microsoft.com/office/officeart/2005/8/layout/orgChart1"/>
    <dgm:cxn modelId="{92333269-FC6C-4D51-B416-C6ADD9DB6A9D}" type="presParOf" srcId="{E932D9A7-90AA-47AB-9080-007DA7B23401}" destId="{4A05F440-BA66-45C6-84DC-7E170C03FD25}" srcOrd="13" destOrd="0" presId="urn:microsoft.com/office/officeart/2005/8/layout/orgChart1"/>
    <dgm:cxn modelId="{8B6CC44F-311A-482C-8EB2-2ADD42264CC3}" type="presParOf" srcId="{4A05F440-BA66-45C6-84DC-7E170C03FD25}" destId="{937CDBA1-68E5-4DE8-962A-9BBCB195E87A}" srcOrd="0" destOrd="0" presId="urn:microsoft.com/office/officeart/2005/8/layout/orgChart1"/>
    <dgm:cxn modelId="{0C1B34DA-0146-4815-9503-A83CBE12E112}" type="presParOf" srcId="{937CDBA1-68E5-4DE8-962A-9BBCB195E87A}" destId="{013A6EF0-BC37-45CB-9C82-069D2259C9B2}" srcOrd="0" destOrd="0" presId="urn:microsoft.com/office/officeart/2005/8/layout/orgChart1"/>
    <dgm:cxn modelId="{CCAC325E-BCC5-4607-A1BD-B4428A76847F}" type="presParOf" srcId="{937CDBA1-68E5-4DE8-962A-9BBCB195E87A}" destId="{9EE802BF-3C63-4749-B4DC-859DC2D7ED64}" srcOrd="1" destOrd="0" presId="urn:microsoft.com/office/officeart/2005/8/layout/orgChart1"/>
    <dgm:cxn modelId="{3196B788-849E-4C37-8FE1-4E020EC0AE2E}" type="presParOf" srcId="{4A05F440-BA66-45C6-84DC-7E170C03FD25}" destId="{89E20E5C-3AD4-4F38-B0B5-0F88BDE57C1F}" srcOrd="1" destOrd="0" presId="urn:microsoft.com/office/officeart/2005/8/layout/orgChart1"/>
    <dgm:cxn modelId="{9D49E338-BC7A-413F-99A6-89B931A52F5E}" type="presParOf" srcId="{4A05F440-BA66-45C6-84DC-7E170C03FD25}" destId="{12C1D1BA-5ECD-4EF9-96C4-41A8566C9422}" srcOrd="2" destOrd="0" presId="urn:microsoft.com/office/officeart/2005/8/layout/orgChart1"/>
    <dgm:cxn modelId="{56785F1D-3111-40C2-AD71-8A803FDB886E}" type="presParOf" srcId="{E932D9A7-90AA-47AB-9080-007DA7B23401}" destId="{03EAF334-239D-450D-AE49-96EE7A4EC141}" srcOrd="14" destOrd="0" presId="urn:microsoft.com/office/officeart/2005/8/layout/orgChart1"/>
    <dgm:cxn modelId="{141482C4-6427-4ECB-AE29-DA3CE8A9BC07}" type="presParOf" srcId="{E932D9A7-90AA-47AB-9080-007DA7B23401}" destId="{7348A9BE-95A9-4A04-8C01-34DC74616AD6}" srcOrd="15" destOrd="0" presId="urn:microsoft.com/office/officeart/2005/8/layout/orgChart1"/>
    <dgm:cxn modelId="{65DEC3AD-F698-4F67-BF60-8CEE01F37755}" type="presParOf" srcId="{7348A9BE-95A9-4A04-8C01-34DC74616AD6}" destId="{B665704D-CB51-415D-959B-3A63A01270EA}" srcOrd="0" destOrd="0" presId="urn:microsoft.com/office/officeart/2005/8/layout/orgChart1"/>
    <dgm:cxn modelId="{5172941F-1E74-46E4-998A-E32AB21C9C5A}" type="presParOf" srcId="{B665704D-CB51-415D-959B-3A63A01270EA}" destId="{9488A1DB-6B8A-4705-8743-34E971D06C9B}" srcOrd="0" destOrd="0" presId="urn:microsoft.com/office/officeart/2005/8/layout/orgChart1"/>
    <dgm:cxn modelId="{FD60E767-A934-44B5-BDE2-55DC0280E423}" type="presParOf" srcId="{B665704D-CB51-415D-959B-3A63A01270EA}" destId="{46F5CF6A-85FC-4FEE-956F-86CBD41ADF33}" srcOrd="1" destOrd="0" presId="urn:microsoft.com/office/officeart/2005/8/layout/orgChart1"/>
    <dgm:cxn modelId="{70AD4143-8801-48B6-93C1-B44C07D562B2}" type="presParOf" srcId="{7348A9BE-95A9-4A04-8C01-34DC74616AD6}" destId="{E24C570A-5FED-476A-94E1-8BB001FE0963}" srcOrd="1" destOrd="0" presId="urn:microsoft.com/office/officeart/2005/8/layout/orgChart1"/>
    <dgm:cxn modelId="{CDE64F5F-40FC-452C-94C0-485D8D72B237}" type="presParOf" srcId="{7348A9BE-95A9-4A04-8C01-34DC74616AD6}" destId="{979797D5-2F4B-4623-865E-51D256C574FD}" srcOrd="2" destOrd="0" presId="urn:microsoft.com/office/officeart/2005/8/layout/orgChart1"/>
    <dgm:cxn modelId="{F9DE4835-A61A-4EFE-A4F6-B3C4C482B983}" type="presParOf" srcId="{E932D9A7-90AA-47AB-9080-007DA7B23401}" destId="{F41F26C7-F44A-41C9-A8DC-A30385B46036}" srcOrd="16" destOrd="0" presId="urn:microsoft.com/office/officeart/2005/8/layout/orgChart1"/>
    <dgm:cxn modelId="{FE85B5F5-D601-46BD-9207-526078B99F68}" type="presParOf" srcId="{E932D9A7-90AA-47AB-9080-007DA7B23401}" destId="{46925180-1287-4810-B1B9-C3A71DFCB284}" srcOrd="17" destOrd="0" presId="urn:microsoft.com/office/officeart/2005/8/layout/orgChart1"/>
    <dgm:cxn modelId="{5C589782-21AC-41B8-B5D4-0F5CE5A7DF28}" type="presParOf" srcId="{46925180-1287-4810-B1B9-C3A71DFCB284}" destId="{A97C2ED4-A09E-44DD-8E78-8A8F90836768}" srcOrd="0" destOrd="0" presId="urn:microsoft.com/office/officeart/2005/8/layout/orgChart1"/>
    <dgm:cxn modelId="{66999C70-34EE-445E-9AA3-B4F46C3B8146}" type="presParOf" srcId="{A97C2ED4-A09E-44DD-8E78-8A8F90836768}" destId="{F62E3AFB-0F4E-41A4-BE11-D68C473B3317}" srcOrd="0" destOrd="0" presId="urn:microsoft.com/office/officeart/2005/8/layout/orgChart1"/>
    <dgm:cxn modelId="{58A502EF-14E8-42B6-B5CD-5052D770E0EC}" type="presParOf" srcId="{A97C2ED4-A09E-44DD-8E78-8A8F90836768}" destId="{5144782D-AF52-4308-BD09-0319781BCF7D}" srcOrd="1" destOrd="0" presId="urn:microsoft.com/office/officeart/2005/8/layout/orgChart1"/>
    <dgm:cxn modelId="{8D0C0362-23D7-4110-A1E9-7C1E0AB51280}" type="presParOf" srcId="{46925180-1287-4810-B1B9-C3A71DFCB284}" destId="{892920D4-62E7-4060-B66C-9AB0074E5296}" srcOrd="1" destOrd="0" presId="urn:microsoft.com/office/officeart/2005/8/layout/orgChart1"/>
    <dgm:cxn modelId="{927ECA6B-3909-4088-85B6-A15338F4B3C5}" type="presParOf" srcId="{46925180-1287-4810-B1B9-C3A71DFCB284}" destId="{EC4899FC-5042-4699-9E20-60959322FB19}" srcOrd="2" destOrd="0" presId="urn:microsoft.com/office/officeart/2005/8/layout/orgChart1"/>
    <dgm:cxn modelId="{54B26F4F-5FC2-4619-9D20-074DBCAC4D88}" type="presParOf" srcId="{73FE7A23-0178-446F-B926-A7769299AD93}" destId="{BAB50FC1-34C7-4084-BFD9-08D9FB73C659}"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3140597-B54A-46B6-A383-B7F977B7DC44}"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US"/>
        </a:p>
      </dgm:t>
    </dgm:pt>
    <dgm:pt modelId="{77D4B66D-055B-408A-95A6-2D76EAD06522}">
      <dgm:prSet phldrT="[Text]" custT="1"/>
      <dgm:spPr>
        <a:solidFill>
          <a:schemeClr val="accent5">
            <a:lumMod val="40000"/>
            <a:lumOff val="60000"/>
          </a:schemeClr>
        </a:solidFill>
        <a:ln>
          <a:solidFill>
            <a:schemeClr val="tx1"/>
          </a:solidFill>
        </a:ln>
      </dgm:spPr>
      <dgm:t>
        <a:bodyPr/>
        <a:lstStyle/>
        <a:p>
          <a:r>
            <a:rPr lang="en-US" sz="2400" b="1" dirty="0">
              <a:solidFill>
                <a:schemeClr val="accent1">
                  <a:lumMod val="50000"/>
                </a:schemeClr>
              </a:solidFill>
            </a:rPr>
            <a:t>AMP Priorities</a:t>
          </a:r>
        </a:p>
      </dgm:t>
    </dgm:pt>
    <dgm:pt modelId="{C42EEB6F-E239-4172-A2D1-E8C95759BDC1}" type="parTrans" cxnId="{8BF3410B-8F6F-4BDE-A930-84EF2D3C875A}">
      <dgm:prSet/>
      <dgm:spPr/>
      <dgm:t>
        <a:bodyPr/>
        <a:lstStyle/>
        <a:p>
          <a:endParaRPr lang="en-US"/>
        </a:p>
      </dgm:t>
    </dgm:pt>
    <dgm:pt modelId="{25F14E1E-EB8C-4F19-8140-5491A9E8A36D}" type="sibTrans" cxnId="{8BF3410B-8F6F-4BDE-A930-84EF2D3C875A}">
      <dgm:prSet/>
      <dgm:spPr/>
      <dgm:t>
        <a:bodyPr/>
        <a:lstStyle/>
        <a:p>
          <a:endParaRPr lang="en-US"/>
        </a:p>
      </dgm:t>
    </dgm:pt>
    <dgm:pt modelId="{FF618BB9-6D6D-424D-B7D9-45A011EECC7A}">
      <dgm:prSet phldrT="[Text]" custT="1"/>
      <dgm:spPr>
        <a:solidFill>
          <a:schemeClr val="accent5">
            <a:lumMod val="40000"/>
            <a:lumOff val="60000"/>
          </a:schemeClr>
        </a:solidFill>
        <a:ln>
          <a:solidFill>
            <a:schemeClr val="tx1"/>
          </a:solidFill>
        </a:ln>
      </dgm:spPr>
      <dgm:t>
        <a:bodyPr/>
        <a:lstStyle/>
        <a:p>
          <a:r>
            <a:rPr lang="en-US" sz="1600" u="sng" dirty="0">
              <a:solidFill>
                <a:schemeClr val="accent1">
                  <a:lumMod val="50000"/>
                </a:schemeClr>
              </a:solidFill>
            </a:rPr>
            <a:t>Phase I</a:t>
          </a:r>
          <a:r>
            <a:rPr lang="en-US" sz="1600" dirty="0">
              <a:solidFill>
                <a:schemeClr val="accent1">
                  <a:lumMod val="50000"/>
                </a:schemeClr>
              </a:solidFill>
            </a:rPr>
            <a:t>: Identify research gaps and unanswered questions</a:t>
          </a:r>
        </a:p>
      </dgm:t>
    </dgm:pt>
    <dgm:pt modelId="{9019D3F0-3756-466E-A0E9-EDE6F334831C}" type="parTrans" cxnId="{D9C88FAA-1B35-47D8-BA2A-5550AFC2A0E5}">
      <dgm:prSet/>
      <dgm:spPr/>
      <dgm:t>
        <a:bodyPr/>
        <a:lstStyle/>
        <a:p>
          <a:endParaRPr lang="en-US"/>
        </a:p>
      </dgm:t>
    </dgm:pt>
    <dgm:pt modelId="{7E13AC35-3F65-4ACF-BD6E-0E8BB3F15FC2}" type="sibTrans" cxnId="{D9C88FAA-1B35-47D8-BA2A-5550AFC2A0E5}">
      <dgm:prSet/>
      <dgm:spPr/>
      <dgm:t>
        <a:bodyPr/>
        <a:lstStyle/>
        <a:p>
          <a:endParaRPr lang="en-US"/>
        </a:p>
      </dgm:t>
    </dgm:pt>
    <dgm:pt modelId="{5CA76A74-DB83-4FD9-A21E-8E53AB6C93BC}">
      <dgm:prSet phldrT="[Text]" custT="1"/>
      <dgm:spPr>
        <a:solidFill>
          <a:schemeClr val="accent5">
            <a:lumMod val="40000"/>
            <a:lumOff val="60000"/>
          </a:schemeClr>
        </a:solidFill>
        <a:ln>
          <a:solidFill>
            <a:schemeClr val="tx1"/>
          </a:solidFill>
        </a:ln>
      </dgm:spPr>
      <dgm:t>
        <a:bodyPr/>
        <a:lstStyle/>
        <a:p>
          <a:r>
            <a:rPr lang="en-US" sz="1600" u="sng" dirty="0">
              <a:solidFill>
                <a:schemeClr val="accent1">
                  <a:lumMod val="50000"/>
                </a:schemeClr>
              </a:solidFill>
            </a:rPr>
            <a:t>Phase II</a:t>
          </a:r>
          <a:r>
            <a:rPr lang="en-US" sz="1600" dirty="0">
              <a:solidFill>
                <a:schemeClr val="accent1">
                  <a:lumMod val="50000"/>
                </a:schemeClr>
              </a:solidFill>
            </a:rPr>
            <a:t>: Refine priorities: national surveys/live voting &amp; focus groups</a:t>
          </a:r>
        </a:p>
      </dgm:t>
    </dgm:pt>
    <dgm:pt modelId="{5D2DC5F8-6DA9-4716-96DC-069770937161}" type="parTrans" cxnId="{F9C9DE73-CF69-452E-B640-A9D330D8557E}">
      <dgm:prSet/>
      <dgm:spPr/>
      <dgm:t>
        <a:bodyPr/>
        <a:lstStyle/>
        <a:p>
          <a:endParaRPr lang="en-US"/>
        </a:p>
      </dgm:t>
    </dgm:pt>
    <dgm:pt modelId="{9474CCF4-5508-4290-B7FF-479B591AEC2F}" type="sibTrans" cxnId="{F9C9DE73-CF69-452E-B640-A9D330D8557E}">
      <dgm:prSet/>
      <dgm:spPr/>
      <dgm:t>
        <a:bodyPr/>
        <a:lstStyle/>
        <a:p>
          <a:endParaRPr lang="en-US"/>
        </a:p>
      </dgm:t>
    </dgm:pt>
    <dgm:pt modelId="{404B8007-5BE0-489E-A313-B56AC779D017}">
      <dgm:prSet phldrT="[Text]" custT="1"/>
      <dgm:spPr>
        <a:solidFill>
          <a:schemeClr val="accent5">
            <a:lumMod val="40000"/>
            <a:lumOff val="60000"/>
          </a:schemeClr>
        </a:solidFill>
        <a:ln>
          <a:solidFill>
            <a:schemeClr val="tx1"/>
          </a:solidFill>
        </a:ln>
      </dgm:spPr>
      <dgm:t>
        <a:bodyPr/>
        <a:lstStyle/>
        <a:p>
          <a:r>
            <a:rPr lang="en-US" sz="1600" u="sng" dirty="0">
              <a:solidFill>
                <a:schemeClr val="accent1">
                  <a:lumMod val="50000"/>
                </a:schemeClr>
              </a:solidFill>
            </a:rPr>
            <a:t>Phase III</a:t>
          </a:r>
          <a:r>
            <a:rPr lang="en-US" sz="1600" dirty="0">
              <a:solidFill>
                <a:schemeClr val="accent1">
                  <a:lumMod val="50000"/>
                </a:schemeClr>
              </a:solidFill>
            </a:rPr>
            <a:t>: Delphi consensus panel</a:t>
          </a:r>
        </a:p>
      </dgm:t>
    </dgm:pt>
    <dgm:pt modelId="{E6CC81CE-5E44-41C8-92E7-6F8A3FFFB84E}" type="parTrans" cxnId="{E90DB2AE-2684-4975-A233-60CC4A581074}">
      <dgm:prSet/>
      <dgm:spPr/>
      <dgm:t>
        <a:bodyPr/>
        <a:lstStyle/>
        <a:p>
          <a:endParaRPr lang="en-US"/>
        </a:p>
      </dgm:t>
    </dgm:pt>
    <dgm:pt modelId="{307B3A02-4848-4BC0-B645-ED2904CB035A}" type="sibTrans" cxnId="{E90DB2AE-2684-4975-A233-60CC4A581074}">
      <dgm:prSet/>
      <dgm:spPr/>
      <dgm:t>
        <a:bodyPr/>
        <a:lstStyle/>
        <a:p>
          <a:endParaRPr lang="en-US"/>
        </a:p>
      </dgm:t>
    </dgm:pt>
    <dgm:pt modelId="{A6EE57D1-13C1-4D5B-A487-3984F4B6AFBF}" type="pres">
      <dgm:prSet presAssocID="{73140597-B54A-46B6-A383-B7F977B7DC44}" presName="cycle" presStyleCnt="0">
        <dgm:presLayoutVars>
          <dgm:chMax val="1"/>
          <dgm:dir/>
          <dgm:animLvl val="ctr"/>
          <dgm:resizeHandles val="exact"/>
        </dgm:presLayoutVars>
      </dgm:prSet>
      <dgm:spPr/>
    </dgm:pt>
    <dgm:pt modelId="{F9FF57C2-E278-4ABE-8A74-F4B94C237AA8}" type="pres">
      <dgm:prSet presAssocID="{77D4B66D-055B-408A-95A6-2D76EAD06522}" presName="centerShape" presStyleLbl="node0" presStyleIdx="0" presStyleCnt="1" custLinFactNeighborX="1606" custLinFactNeighborY="-49"/>
      <dgm:spPr/>
    </dgm:pt>
    <dgm:pt modelId="{5325B7C5-BDD3-4EAA-BE52-1C87C51992C6}" type="pres">
      <dgm:prSet presAssocID="{9019D3F0-3756-466E-A0E9-EDE6F334831C}" presName="parTrans" presStyleLbl="bgSibTrans2D1" presStyleIdx="0" presStyleCnt="3" custScaleX="82115" custLinFactNeighborX="17008" custLinFactNeighborY="27527"/>
      <dgm:spPr/>
    </dgm:pt>
    <dgm:pt modelId="{A8F09999-18BD-4D38-A6AD-C7264147FF72}" type="pres">
      <dgm:prSet presAssocID="{FF618BB9-6D6D-424D-B7D9-45A011EECC7A}" presName="node" presStyleLbl="node1" presStyleIdx="0" presStyleCnt="3" custRadScaleRad="95262" custRadScaleInc="13542">
        <dgm:presLayoutVars>
          <dgm:bulletEnabled val="1"/>
        </dgm:presLayoutVars>
      </dgm:prSet>
      <dgm:spPr/>
    </dgm:pt>
    <dgm:pt modelId="{C82ACCF6-5EBF-45F9-A2B0-B384FC46BAE3}" type="pres">
      <dgm:prSet presAssocID="{5D2DC5F8-6DA9-4716-96DC-069770937161}" presName="parTrans" presStyleLbl="bgSibTrans2D1" presStyleIdx="1" presStyleCnt="3" custLinFactNeighborX="2311" custLinFactNeighborY="28019"/>
      <dgm:spPr/>
    </dgm:pt>
    <dgm:pt modelId="{AB151650-3EA9-41FC-8EC1-BAEEDB6465E0}" type="pres">
      <dgm:prSet presAssocID="{5CA76A74-DB83-4FD9-A21E-8E53AB6C93BC}" presName="node" presStyleLbl="node1" presStyleIdx="1" presStyleCnt="3">
        <dgm:presLayoutVars>
          <dgm:bulletEnabled val="1"/>
        </dgm:presLayoutVars>
      </dgm:prSet>
      <dgm:spPr/>
    </dgm:pt>
    <dgm:pt modelId="{F051E436-78C7-484F-AF0E-B67CA4E8CB87}" type="pres">
      <dgm:prSet presAssocID="{E6CC81CE-5E44-41C8-92E7-6F8A3FFFB84E}" presName="parTrans" presStyleLbl="bgSibTrans2D1" presStyleIdx="2" presStyleCnt="3" custLinFactNeighborX="-19232" custLinFactNeighborY="-1559"/>
      <dgm:spPr/>
    </dgm:pt>
    <dgm:pt modelId="{79E43712-7D13-4C11-B74A-79857435A127}" type="pres">
      <dgm:prSet presAssocID="{404B8007-5BE0-489E-A313-B56AC779D017}" presName="node" presStyleLbl="node1" presStyleIdx="2" presStyleCnt="3" custRadScaleRad="100391" custRadScaleInc="-5629">
        <dgm:presLayoutVars>
          <dgm:bulletEnabled val="1"/>
        </dgm:presLayoutVars>
      </dgm:prSet>
      <dgm:spPr/>
    </dgm:pt>
  </dgm:ptLst>
  <dgm:cxnLst>
    <dgm:cxn modelId="{8BF3410B-8F6F-4BDE-A930-84EF2D3C875A}" srcId="{73140597-B54A-46B6-A383-B7F977B7DC44}" destId="{77D4B66D-055B-408A-95A6-2D76EAD06522}" srcOrd="0" destOrd="0" parTransId="{C42EEB6F-E239-4172-A2D1-E8C95759BDC1}" sibTransId="{25F14E1E-EB8C-4F19-8140-5491A9E8A36D}"/>
    <dgm:cxn modelId="{76BDC80F-65AD-4B31-9A25-32EE2AECA34C}" type="presOf" srcId="{E6CC81CE-5E44-41C8-92E7-6F8A3FFFB84E}" destId="{F051E436-78C7-484F-AF0E-B67CA4E8CB87}" srcOrd="0" destOrd="0" presId="urn:microsoft.com/office/officeart/2005/8/layout/radial4"/>
    <dgm:cxn modelId="{57E04E21-06D2-4427-81B4-0F8C869D652F}" type="presOf" srcId="{404B8007-5BE0-489E-A313-B56AC779D017}" destId="{79E43712-7D13-4C11-B74A-79857435A127}" srcOrd="0" destOrd="0" presId="urn:microsoft.com/office/officeart/2005/8/layout/radial4"/>
    <dgm:cxn modelId="{2AE3E429-C703-4EE3-8068-AEA3DCB265A6}" type="presOf" srcId="{5D2DC5F8-6DA9-4716-96DC-069770937161}" destId="{C82ACCF6-5EBF-45F9-A2B0-B384FC46BAE3}" srcOrd="0" destOrd="0" presId="urn:microsoft.com/office/officeart/2005/8/layout/radial4"/>
    <dgm:cxn modelId="{5E85725F-CEC2-4E00-B1D7-F9BD96BB0D46}" type="presOf" srcId="{FF618BB9-6D6D-424D-B7D9-45A011EECC7A}" destId="{A8F09999-18BD-4D38-A6AD-C7264147FF72}" srcOrd="0" destOrd="0" presId="urn:microsoft.com/office/officeart/2005/8/layout/radial4"/>
    <dgm:cxn modelId="{A97C6A41-FFA7-4942-9D4A-7F1D2568DDC3}" type="presOf" srcId="{5CA76A74-DB83-4FD9-A21E-8E53AB6C93BC}" destId="{AB151650-3EA9-41FC-8EC1-BAEEDB6465E0}" srcOrd="0" destOrd="0" presId="urn:microsoft.com/office/officeart/2005/8/layout/radial4"/>
    <dgm:cxn modelId="{F9C9DE73-CF69-452E-B640-A9D330D8557E}" srcId="{77D4B66D-055B-408A-95A6-2D76EAD06522}" destId="{5CA76A74-DB83-4FD9-A21E-8E53AB6C93BC}" srcOrd="1" destOrd="0" parTransId="{5D2DC5F8-6DA9-4716-96DC-069770937161}" sibTransId="{9474CCF4-5508-4290-B7FF-479B591AEC2F}"/>
    <dgm:cxn modelId="{1668B59A-B169-4B80-9E94-DEA3469572B9}" type="presOf" srcId="{73140597-B54A-46B6-A383-B7F977B7DC44}" destId="{A6EE57D1-13C1-4D5B-A487-3984F4B6AFBF}" srcOrd="0" destOrd="0" presId="urn:microsoft.com/office/officeart/2005/8/layout/radial4"/>
    <dgm:cxn modelId="{A2B33CA1-68E8-440E-B188-710F4D679F23}" type="presOf" srcId="{77D4B66D-055B-408A-95A6-2D76EAD06522}" destId="{F9FF57C2-E278-4ABE-8A74-F4B94C237AA8}" srcOrd="0" destOrd="0" presId="urn:microsoft.com/office/officeart/2005/8/layout/radial4"/>
    <dgm:cxn modelId="{D9C88FAA-1B35-47D8-BA2A-5550AFC2A0E5}" srcId="{77D4B66D-055B-408A-95A6-2D76EAD06522}" destId="{FF618BB9-6D6D-424D-B7D9-45A011EECC7A}" srcOrd="0" destOrd="0" parTransId="{9019D3F0-3756-466E-A0E9-EDE6F334831C}" sibTransId="{7E13AC35-3F65-4ACF-BD6E-0E8BB3F15FC2}"/>
    <dgm:cxn modelId="{D33A21AD-C8CF-441E-B6D8-CD5BAADF6590}" type="presOf" srcId="{9019D3F0-3756-466E-A0E9-EDE6F334831C}" destId="{5325B7C5-BDD3-4EAA-BE52-1C87C51992C6}" srcOrd="0" destOrd="0" presId="urn:microsoft.com/office/officeart/2005/8/layout/radial4"/>
    <dgm:cxn modelId="{E90DB2AE-2684-4975-A233-60CC4A581074}" srcId="{77D4B66D-055B-408A-95A6-2D76EAD06522}" destId="{404B8007-5BE0-489E-A313-B56AC779D017}" srcOrd="2" destOrd="0" parTransId="{E6CC81CE-5E44-41C8-92E7-6F8A3FFFB84E}" sibTransId="{307B3A02-4848-4BC0-B645-ED2904CB035A}"/>
    <dgm:cxn modelId="{566F2C06-8706-449F-8A5A-C020D036C7A8}" type="presParOf" srcId="{A6EE57D1-13C1-4D5B-A487-3984F4B6AFBF}" destId="{F9FF57C2-E278-4ABE-8A74-F4B94C237AA8}" srcOrd="0" destOrd="0" presId="urn:microsoft.com/office/officeart/2005/8/layout/radial4"/>
    <dgm:cxn modelId="{0A9B6651-92BF-47A0-BC15-5ADC460FD62C}" type="presParOf" srcId="{A6EE57D1-13C1-4D5B-A487-3984F4B6AFBF}" destId="{5325B7C5-BDD3-4EAA-BE52-1C87C51992C6}" srcOrd="1" destOrd="0" presId="urn:microsoft.com/office/officeart/2005/8/layout/radial4"/>
    <dgm:cxn modelId="{4DC5FC8E-A466-4782-A81D-9B229A7E5CD9}" type="presParOf" srcId="{A6EE57D1-13C1-4D5B-A487-3984F4B6AFBF}" destId="{A8F09999-18BD-4D38-A6AD-C7264147FF72}" srcOrd="2" destOrd="0" presId="urn:microsoft.com/office/officeart/2005/8/layout/radial4"/>
    <dgm:cxn modelId="{276CA80A-F9FC-4612-B334-DE6E2AE2BA28}" type="presParOf" srcId="{A6EE57D1-13C1-4D5B-A487-3984F4B6AFBF}" destId="{C82ACCF6-5EBF-45F9-A2B0-B384FC46BAE3}" srcOrd="3" destOrd="0" presId="urn:microsoft.com/office/officeart/2005/8/layout/radial4"/>
    <dgm:cxn modelId="{021E7297-EACD-4977-8130-BB3F8E093B8B}" type="presParOf" srcId="{A6EE57D1-13C1-4D5B-A487-3984F4B6AFBF}" destId="{AB151650-3EA9-41FC-8EC1-BAEEDB6465E0}" srcOrd="4" destOrd="0" presId="urn:microsoft.com/office/officeart/2005/8/layout/radial4"/>
    <dgm:cxn modelId="{C1114FB2-688F-482F-87C8-14BD10D684AE}" type="presParOf" srcId="{A6EE57D1-13C1-4D5B-A487-3984F4B6AFBF}" destId="{F051E436-78C7-484F-AF0E-B67CA4E8CB87}" srcOrd="5" destOrd="0" presId="urn:microsoft.com/office/officeart/2005/8/layout/radial4"/>
    <dgm:cxn modelId="{1A15504A-AD45-47A0-8149-B5C50B953051}" type="presParOf" srcId="{A6EE57D1-13C1-4D5B-A487-3984F4B6AFBF}" destId="{79E43712-7D13-4C11-B74A-79857435A127}" srcOrd="6"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39BC7D-ADA9-4751-86A2-25257F7E4231}">
      <dsp:nvSpPr>
        <dsp:cNvPr id="0" name=""/>
        <dsp:cNvSpPr/>
      </dsp:nvSpPr>
      <dsp:spPr>
        <a:xfrm rot="10282968">
          <a:off x="0" y="141795"/>
          <a:ext cx="1301750" cy="813593"/>
        </a:xfrm>
        <a:prstGeom prst="swooshArrow">
          <a:avLst>
            <a:gd name="adj1" fmla="val 25000"/>
            <a:gd name="adj2" fmla="val 25000"/>
          </a:avLst>
        </a:prstGeom>
        <a:solidFill>
          <a:schemeClr val="accent1">
            <a:tint val="40000"/>
            <a:hueOff val="0"/>
            <a:satOff val="0"/>
            <a:lumOff val="0"/>
            <a:alphaOff val="0"/>
          </a:schemeClr>
        </a:solidFill>
        <a:ln>
          <a:noFill/>
        </a:ln>
        <a:effectLst/>
        <a:sp3d z="-152400" extrusionH="63500" prstMaterial="matte">
          <a:bevelT w="44450" h="6350" prst="relaxedInset"/>
          <a:contourClr>
            <a:schemeClr val="bg1"/>
          </a:contourClr>
        </a:sp3d>
      </dsp:spPr>
      <dsp:style>
        <a:lnRef idx="0">
          <a:scrgbClr r="0" g="0" b="0"/>
        </a:lnRef>
        <a:fillRef idx="1">
          <a:scrgbClr r="0" g="0" b="0"/>
        </a:fillRef>
        <a:effectRef idx="0">
          <a:scrgbClr r="0" g="0" b="0"/>
        </a:effectRef>
        <a:fontRef idx="minor"/>
      </dsp:style>
    </dsp:sp>
    <dsp:sp modelId="{DE8F9DCC-8C23-4F11-9977-6E8A51E1E2AB}">
      <dsp:nvSpPr>
        <dsp:cNvPr id="0" name=""/>
        <dsp:cNvSpPr/>
      </dsp:nvSpPr>
      <dsp:spPr>
        <a:xfrm>
          <a:off x="993235" y="457941"/>
          <a:ext cx="96329" cy="96329"/>
        </a:xfrm>
        <a:prstGeom prst="ellipse">
          <a:avLst/>
        </a:prstGeom>
        <a:noFill/>
        <a:ln>
          <a:noFill/>
        </a:ln>
        <a:effectLst/>
        <a:sp3d extrusionH="190500" prstMaterial="matte">
          <a:bevelT w="120650" h="38100" prst="relaxedInset"/>
          <a:bevelB w="120650" h="571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A92D868E-0D4C-4CA2-B6AD-33D19008E28B}">
      <dsp:nvSpPr>
        <dsp:cNvPr id="0" name=""/>
        <dsp:cNvSpPr/>
      </dsp:nvSpPr>
      <dsp:spPr>
        <a:xfrm>
          <a:off x="54241" y="347183"/>
          <a:ext cx="520700" cy="600432"/>
        </a:xfrm>
        <a:prstGeom prst="round2Diag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51043" bIns="0" numCol="1" spcCol="1270" anchor="t" anchorCtr="0">
          <a:noAutofit/>
        </a:bodyPr>
        <a:lstStyle/>
        <a:p>
          <a:pPr marL="0" lvl="0" indent="0" algn="r" defTabSz="1733550">
            <a:lnSpc>
              <a:spcPct val="90000"/>
            </a:lnSpc>
            <a:spcBef>
              <a:spcPct val="0"/>
            </a:spcBef>
            <a:spcAft>
              <a:spcPct val="35000"/>
            </a:spcAft>
            <a:buNone/>
          </a:pPr>
          <a:endParaRPr lang="en-US" sz="3900" kern="1200" dirty="0"/>
        </a:p>
      </dsp:txBody>
      <dsp:txXfrm>
        <a:off x="79659" y="372601"/>
        <a:ext cx="469864" cy="5495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1F26C7-F44A-41C9-A8DC-A30385B46036}">
      <dsp:nvSpPr>
        <dsp:cNvPr id="0" name=""/>
        <dsp:cNvSpPr/>
      </dsp:nvSpPr>
      <dsp:spPr>
        <a:xfrm>
          <a:off x="5518201" y="2102629"/>
          <a:ext cx="4944129" cy="123421"/>
        </a:xfrm>
        <a:custGeom>
          <a:avLst/>
          <a:gdLst/>
          <a:ahLst/>
          <a:cxnLst/>
          <a:rect l="0" t="0" r="0" b="0"/>
          <a:pathLst>
            <a:path>
              <a:moveTo>
                <a:pt x="0" y="0"/>
              </a:moveTo>
              <a:lnTo>
                <a:pt x="0" y="61710"/>
              </a:lnTo>
              <a:lnTo>
                <a:pt x="4944129" y="61710"/>
              </a:lnTo>
              <a:lnTo>
                <a:pt x="4944129"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3EAF334-239D-450D-AE49-96EE7A4EC141}">
      <dsp:nvSpPr>
        <dsp:cNvPr id="0" name=""/>
        <dsp:cNvSpPr/>
      </dsp:nvSpPr>
      <dsp:spPr>
        <a:xfrm>
          <a:off x="5518201" y="2102629"/>
          <a:ext cx="3680136" cy="123421"/>
        </a:xfrm>
        <a:custGeom>
          <a:avLst/>
          <a:gdLst/>
          <a:ahLst/>
          <a:cxnLst/>
          <a:rect l="0" t="0" r="0" b="0"/>
          <a:pathLst>
            <a:path>
              <a:moveTo>
                <a:pt x="0" y="0"/>
              </a:moveTo>
              <a:lnTo>
                <a:pt x="0" y="61710"/>
              </a:lnTo>
              <a:lnTo>
                <a:pt x="3680136" y="61710"/>
              </a:lnTo>
              <a:lnTo>
                <a:pt x="3680136"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59E32CF-E3A9-4DBB-BFB8-70DE69FEECF2}">
      <dsp:nvSpPr>
        <dsp:cNvPr id="0" name=""/>
        <dsp:cNvSpPr/>
      </dsp:nvSpPr>
      <dsp:spPr>
        <a:xfrm>
          <a:off x="5518201" y="2102629"/>
          <a:ext cx="2416143" cy="123421"/>
        </a:xfrm>
        <a:custGeom>
          <a:avLst/>
          <a:gdLst/>
          <a:ahLst/>
          <a:cxnLst/>
          <a:rect l="0" t="0" r="0" b="0"/>
          <a:pathLst>
            <a:path>
              <a:moveTo>
                <a:pt x="0" y="0"/>
              </a:moveTo>
              <a:lnTo>
                <a:pt x="0" y="61710"/>
              </a:lnTo>
              <a:lnTo>
                <a:pt x="2416143" y="61710"/>
              </a:lnTo>
              <a:lnTo>
                <a:pt x="2416143"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7AD1AF-537D-4E0F-9066-0A7087792EAD}">
      <dsp:nvSpPr>
        <dsp:cNvPr id="0" name=""/>
        <dsp:cNvSpPr/>
      </dsp:nvSpPr>
      <dsp:spPr>
        <a:xfrm>
          <a:off x="5518201" y="2102629"/>
          <a:ext cx="1152149" cy="123421"/>
        </a:xfrm>
        <a:custGeom>
          <a:avLst/>
          <a:gdLst/>
          <a:ahLst/>
          <a:cxnLst/>
          <a:rect l="0" t="0" r="0" b="0"/>
          <a:pathLst>
            <a:path>
              <a:moveTo>
                <a:pt x="0" y="0"/>
              </a:moveTo>
              <a:lnTo>
                <a:pt x="0" y="61710"/>
              </a:lnTo>
              <a:lnTo>
                <a:pt x="1152149" y="61710"/>
              </a:lnTo>
              <a:lnTo>
                <a:pt x="1152149"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04134E2-723B-477E-9E6E-C813E0ACA002}">
      <dsp:nvSpPr>
        <dsp:cNvPr id="0" name=""/>
        <dsp:cNvSpPr/>
      </dsp:nvSpPr>
      <dsp:spPr>
        <a:xfrm>
          <a:off x="5406357" y="2102629"/>
          <a:ext cx="111843" cy="123421"/>
        </a:xfrm>
        <a:custGeom>
          <a:avLst/>
          <a:gdLst/>
          <a:ahLst/>
          <a:cxnLst/>
          <a:rect l="0" t="0" r="0" b="0"/>
          <a:pathLst>
            <a:path>
              <a:moveTo>
                <a:pt x="111843" y="0"/>
              </a:moveTo>
              <a:lnTo>
                <a:pt x="111843" y="61710"/>
              </a:lnTo>
              <a:lnTo>
                <a:pt x="0" y="61710"/>
              </a:lnTo>
              <a:lnTo>
                <a:pt x="0"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6C067DF-3475-462D-9E69-1326B2D5C494}">
      <dsp:nvSpPr>
        <dsp:cNvPr id="0" name=""/>
        <dsp:cNvSpPr/>
      </dsp:nvSpPr>
      <dsp:spPr>
        <a:xfrm>
          <a:off x="4254208" y="2102629"/>
          <a:ext cx="1263993" cy="123421"/>
        </a:xfrm>
        <a:custGeom>
          <a:avLst/>
          <a:gdLst/>
          <a:ahLst/>
          <a:cxnLst/>
          <a:rect l="0" t="0" r="0" b="0"/>
          <a:pathLst>
            <a:path>
              <a:moveTo>
                <a:pt x="1263993" y="0"/>
              </a:moveTo>
              <a:lnTo>
                <a:pt x="1263993" y="61710"/>
              </a:lnTo>
              <a:lnTo>
                <a:pt x="0" y="61710"/>
              </a:lnTo>
              <a:lnTo>
                <a:pt x="0"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9ADE14-1147-4564-9F40-7FFDBF96416F}">
      <dsp:nvSpPr>
        <dsp:cNvPr id="0" name=""/>
        <dsp:cNvSpPr/>
      </dsp:nvSpPr>
      <dsp:spPr>
        <a:xfrm>
          <a:off x="3102058" y="2102629"/>
          <a:ext cx="2416143" cy="123421"/>
        </a:xfrm>
        <a:custGeom>
          <a:avLst/>
          <a:gdLst/>
          <a:ahLst/>
          <a:cxnLst/>
          <a:rect l="0" t="0" r="0" b="0"/>
          <a:pathLst>
            <a:path>
              <a:moveTo>
                <a:pt x="2416143" y="0"/>
              </a:moveTo>
              <a:lnTo>
                <a:pt x="2416143" y="61710"/>
              </a:lnTo>
              <a:lnTo>
                <a:pt x="0" y="61710"/>
              </a:lnTo>
              <a:lnTo>
                <a:pt x="0"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5D9BF9D-F445-490C-916F-0207C745FFF6}">
      <dsp:nvSpPr>
        <dsp:cNvPr id="0" name=""/>
        <dsp:cNvSpPr/>
      </dsp:nvSpPr>
      <dsp:spPr>
        <a:xfrm>
          <a:off x="1838065" y="2102629"/>
          <a:ext cx="3680136" cy="123421"/>
        </a:xfrm>
        <a:custGeom>
          <a:avLst/>
          <a:gdLst/>
          <a:ahLst/>
          <a:cxnLst/>
          <a:rect l="0" t="0" r="0" b="0"/>
          <a:pathLst>
            <a:path>
              <a:moveTo>
                <a:pt x="3680136" y="0"/>
              </a:moveTo>
              <a:lnTo>
                <a:pt x="3680136" y="61710"/>
              </a:lnTo>
              <a:lnTo>
                <a:pt x="0" y="61710"/>
              </a:lnTo>
              <a:lnTo>
                <a:pt x="0"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148B3A-8E34-4E96-9508-BCC7D97AA1C1}">
      <dsp:nvSpPr>
        <dsp:cNvPr id="0" name=""/>
        <dsp:cNvSpPr/>
      </dsp:nvSpPr>
      <dsp:spPr>
        <a:xfrm>
          <a:off x="574071" y="2102629"/>
          <a:ext cx="4944129" cy="123421"/>
        </a:xfrm>
        <a:custGeom>
          <a:avLst/>
          <a:gdLst/>
          <a:ahLst/>
          <a:cxnLst/>
          <a:rect l="0" t="0" r="0" b="0"/>
          <a:pathLst>
            <a:path>
              <a:moveTo>
                <a:pt x="4944129" y="0"/>
              </a:moveTo>
              <a:lnTo>
                <a:pt x="4944129" y="61710"/>
              </a:lnTo>
              <a:lnTo>
                <a:pt x="0" y="61710"/>
              </a:lnTo>
              <a:lnTo>
                <a:pt x="0" y="123421"/>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1F0CA8-3957-4CAE-915B-024B5A6F204A}">
      <dsp:nvSpPr>
        <dsp:cNvPr id="0" name=""/>
        <dsp:cNvSpPr/>
      </dsp:nvSpPr>
      <dsp:spPr>
        <a:xfrm>
          <a:off x="4947915" y="951837"/>
          <a:ext cx="1140571" cy="1150791"/>
        </a:xfrm>
        <a:prstGeom prst="rect">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ISRM </a:t>
          </a:r>
          <a:r>
            <a:rPr lang="en-US" sz="1500" kern="1200"/>
            <a:t>Leadership Team</a:t>
          </a:r>
          <a:endParaRPr lang="en-US" sz="1500" kern="1200" dirty="0"/>
        </a:p>
      </dsp:txBody>
      <dsp:txXfrm>
        <a:off x="4947915" y="951837"/>
        <a:ext cx="1140571" cy="1150791"/>
      </dsp:txXfrm>
    </dsp:sp>
    <dsp:sp modelId="{FC612050-3DF4-489E-B1B7-243DC7F961C9}">
      <dsp:nvSpPr>
        <dsp:cNvPr id="0" name=""/>
        <dsp:cNvSpPr/>
      </dsp:nvSpPr>
      <dsp:spPr>
        <a:xfrm>
          <a:off x="3785" y="2226051"/>
          <a:ext cx="1140571" cy="1150791"/>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TBI</a:t>
          </a:r>
        </a:p>
      </dsp:txBody>
      <dsp:txXfrm>
        <a:off x="3785" y="2226051"/>
        <a:ext cx="1140571" cy="1150791"/>
      </dsp:txXfrm>
    </dsp:sp>
    <dsp:sp modelId="{57695B00-9D85-4A1B-8F50-DD7773C2A38C}">
      <dsp:nvSpPr>
        <dsp:cNvPr id="0" name=""/>
        <dsp:cNvSpPr/>
      </dsp:nvSpPr>
      <dsp:spPr>
        <a:xfrm>
          <a:off x="1267779" y="2226051"/>
          <a:ext cx="1140571" cy="1150791"/>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Suicide Prevention</a:t>
          </a:r>
        </a:p>
      </dsp:txBody>
      <dsp:txXfrm>
        <a:off x="1267779" y="2226051"/>
        <a:ext cx="1140571" cy="1150791"/>
      </dsp:txXfrm>
    </dsp:sp>
    <dsp:sp modelId="{34874774-8A23-4BED-B921-5208E549DC8D}">
      <dsp:nvSpPr>
        <dsp:cNvPr id="0" name=""/>
        <dsp:cNvSpPr/>
      </dsp:nvSpPr>
      <dsp:spPr>
        <a:xfrm>
          <a:off x="2531772" y="2226051"/>
          <a:ext cx="1140571" cy="1150791"/>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Pain/Opioid Use Disorders</a:t>
          </a:r>
        </a:p>
      </dsp:txBody>
      <dsp:txXfrm>
        <a:off x="2531772" y="2226051"/>
        <a:ext cx="1140571" cy="1150791"/>
      </dsp:txXfrm>
    </dsp:sp>
    <dsp:sp modelId="{EC263899-B3D5-4DC2-8D92-A166A7AB2127}">
      <dsp:nvSpPr>
        <dsp:cNvPr id="0" name=""/>
        <dsp:cNvSpPr/>
      </dsp:nvSpPr>
      <dsp:spPr>
        <a:xfrm>
          <a:off x="3795766" y="2226051"/>
          <a:ext cx="916883" cy="1173448"/>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Gulf War/ Military Exposures</a:t>
          </a:r>
        </a:p>
      </dsp:txBody>
      <dsp:txXfrm>
        <a:off x="3795766" y="2226051"/>
        <a:ext cx="916883" cy="1173448"/>
      </dsp:txXfrm>
    </dsp:sp>
    <dsp:sp modelId="{A266CC78-E417-43CF-AFC8-180C1D80A0E7}">
      <dsp:nvSpPr>
        <dsp:cNvPr id="0" name=""/>
        <dsp:cNvSpPr/>
      </dsp:nvSpPr>
      <dsp:spPr>
        <a:xfrm>
          <a:off x="4836071" y="2226051"/>
          <a:ext cx="1140571" cy="1150791"/>
        </a:xfrm>
        <a:prstGeom prst="rect">
          <a:avLst/>
        </a:prstGeom>
        <a:solidFill>
          <a:srgbClr val="00B0F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Precision Oncology</a:t>
          </a:r>
        </a:p>
      </dsp:txBody>
      <dsp:txXfrm>
        <a:off x="4836071" y="2226051"/>
        <a:ext cx="1140571" cy="1150791"/>
      </dsp:txXfrm>
    </dsp:sp>
    <dsp:sp modelId="{1FDB05AB-EBCA-4FF6-805B-4E1C6F5527B7}">
      <dsp:nvSpPr>
        <dsp:cNvPr id="0" name=""/>
        <dsp:cNvSpPr/>
      </dsp:nvSpPr>
      <dsp:spPr>
        <a:xfrm>
          <a:off x="6100065" y="2226051"/>
          <a:ext cx="1140571" cy="11507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Health Systems Research</a:t>
          </a:r>
        </a:p>
      </dsp:txBody>
      <dsp:txXfrm>
        <a:off x="6100065" y="2226051"/>
        <a:ext cx="1140571" cy="1150791"/>
      </dsp:txXfrm>
    </dsp:sp>
    <dsp:sp modelId="{013A6EF0-BC37-45CB-9C82-069D2259C9B2}">
      <dsp:nvSpPr>
        <dsp:cNvPr id="0" name=""/>
        <dsp:cNvSpPr/>
      </dsp:nvSpPr>
      <dsp:spPr>
        <a:xfrm>
          <a:off x="7364058" y="2226051"/>
          <a:ext cx="1140571" cy="11507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b="0" kern="1200" dirty="0">
              <a:solidFill>
                <a:schemeClr val="bg1"/>
              </a:solidFill>
            </a:rPr>
            <a:t>Rehabilitation Research Dev. &amp; Translation</a:t>
          </a:r>
        </a:p>
      </dsp:txBody>
      <dsp:txXfrm>
        <a:off x="7364058" y="2226051"/>
        <a:ext cx="1140571" cy="1150791"/>
      </dsp:txXfrm>
    </dsp:sp>
    <dsp:sp modelId="{9488A1DB-6B8A-4705-8743-34E971D06C9B}">
      <dsp:nvSpPr>
        <dsp:cNvPr id="0" name=""/>
        <dsp:cNvSpPr/>
      </dsp:nvSpPr>
      <dsp:spPr>
        <a:xfrm>
          <a:off x="8628052" y="2226051"/>
          <a:ext cx="1140571" cy="11507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Medical Health Research</a:t>
          </a:r>
        </a:p>
      </dsp:txBody>
      <dsp:txXfrm>
        <a:off x="8628052" y="2226051"/>
        <a:ext cx="1140571" cy="1150791"/>
      </dsp:txXfrm>
    </dsp:sp>
    <dsp:sp modelId="{F62E3AFB-0F4E-41A4-BE11-D68C473B3317}">
      <dsp:nvSpPr>
        <dsp:cNvPr id="0" name=""/>
        <dsp:cNvSpPr/>
      </dsp:nvSpPr>
      <dsp:spPr>
        <a:xfrm>
          <a:off x="9892045" y="2226051"/>
          <a:ext cx="1140571" cy="115079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marL="0" lvl="0" indent="0" algn="ctr" defTabSz="666750">
            <a:lnSpc>
              <a:spcPct val="90000"/>
            </a:lnSpc>
            <a:spcBef>
              <a:spcPct val="0"/>
            </a:spcBef>
            <a:spcAft>
              <a:spcPct val="35000"/>
            </a:spcAft>
            <a:buNone/>
          </a:pPr>
          <a:r>
            <a:rPr lang="en-US" sz="1500" kern="1200" dirty="0"/>
            <a:t>Brain, Behavioral and Mental Health Research</a:t>
          </a:r>
        </a:p>
      </dsp:txBody>
      <dsp:txXfrm>
        <a:off x="9892045" y="2226051"/>
        <a:ext cx="1140571" cy="115079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9FF57C2-E278-4ABE-8A74-F4B94C237AA8}">
      <dsp:nvSpPr>
        <dsp:cNvPr id="0" name=""/>
        <dsp:cNvSpPr/>
      </dsp:nvSpPr>
      <dsp:spPr>
        <a:xfrm>
          <a:off x="1977021" y="2706920"/>
          <a:ext cx="1753255" cy="1753255"/>
        </a:xfrm>
        <a:prstGeom prst="ellipse">
          <a:avLst/>
        </a:prstGeom>
        <a:solidFill>
          <a:schemeClr val="accent5">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solidFill>
                <a:schemeClr val="accent1">
                  <a:lumMod val="50000"/>
                </a:schemeClr>
              </a:solidFill>
            </a:rPr>
            <a:t>AMP Priorities</a:t>
          </a:r>
        </a:p>
      </dsp:txBody>
      <dsp:txXfrm>
        <a:off x="2233779" y="2963678"/>
        <a:ext cx="1239739" cy="1239739"/>
      </dsp:txXfrm>
    </dsp:sp>
    <dsp:sp modelId="{5325B7C5-BDD3-4EAA-BE52-1C87C51992C6}">
      <dsp:nvSpPr>
        <dsp:cNvPr id="0" name=""/>
        <dsp:cNvSpPr/>
      </dsp:nvSpPr>
      <dsp:spPr>
        <a:xfrm rot="13307618">
          <a:off x="1307471" y="2381344"/>
          <a:ext cx="1116199" cy="49967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8F09999-18BD-4D38-A6AD-C7264147FF72}">
      <dsp:nvSpPr>
        <dsp:cNvPr id="0" name=""/>
        <dsp:cNvSpPr/>
      </dsp:nvSpPr>
      <dsp:spPr>
        <a:xfrm>
          <a:off x="294864" y="1374443"/>
          <a:ext cx="1665593" cy="1332474"/>
        </a:xfrm>
        <a:prstGeom prst="roundRect">
          <a:avLst>
            <a:gd name="adj" fmla="val 10000"/>
          </a:avLst>
        </a:prstGeom>
        <a:solidFill>
          <a:schemeClr val="accent5">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u="sng" kern="1200" dirty="0">
              <a:solidFill>
                <a:schemeClr val="accent1">
                  <a:lumMod val="50000"/>
                </a:schemeClr>
              </a:solidFill>
            </a:rPr>
            <a:t>Phase I</a:t>
          </a:r>
          <a:r>
            <a:rPr lang="en-US" sz="1600" kern="1200" dirty="0">
              <a:solidFill>
                <a:schemeClr val="accent1">
                  <a:lumMod val="50000"/>
                </a:schemeClr>
              </a:solidFill>
            </a:rPr>
            <a:t>: Identify research gaps and unanswered questions</a:t>
          </a:r>
        </a:p>
      </dsp:txBody>
      <dsp:txXfrm>
        <a:off x="333891" y="1413470"/>
        <a:ext cx="1587539" cy="1254420"/>
      </dsp:txXfrm>
    </dsp:sp>
    <dsp:sp modelId="{C82ACCF6-5EBF-45F9-A2B0-B384FC46BAE3}">
      <dsp:nvSpPr>
        <dsp:cNvPr id="0" name=""/>
        <dsp:cNvSpPr/>
      </dsp:nvSpPr>
      <dsp:spPr>
        <a:xfrm rot="16089509">
          <a:off x="2126358" y="1809286"/>
          <a:ext cx="1412858" cy="49967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151650-3EA9-41FC-8EC1-BAEEDB6465E0}">
      <dsp:nvSpPr>
        <dsp:cNvPr id="0" name=""/>
        <dsp:cNvSpPr/>
      </dsp:nvSpPr>
      <dsp:spPr>
        <a:xfrm>
          <a:off x="1944638" y="546819"/>
          <a:ext cx="1665593" cy="1332474"/>
        </a:xfrm>
        <a:prstGeom prst="roundRect">
          <a:avLst>
            <a:gd name="adj" fmla="val 10000"/>
          </a:avLst>
        </a:prstGeom>
        <a:solidFill>
          <a:schemeClr val="accent5">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u="sng" kern="1200" dirty="0">
              <a:solidFill>
                <a:schemeClr val="accent1">
                  <a:lumMod val="50000"/>
                </a:schemeClr>
              </a:solidFill>
            </a:rPr>
            <a:t>Phase II</a:t>
          </a:r>
          <a:r>
            <a:rPr lang="en-US" sz="1600" kern="1200" dirty="0">
              <a:solidFill>
                <a:schemeClr val="accent1">
                  <a:lumMod val="50000"/>
                </a:schemeClr>
              </a:solidFill>
            </a:rPr>
            <a:t>: Refine priorities: national surveys/live voting &amp; focus groups</a:t>
          </a:r>
        </a:p>
      </dsp:txBody>
      <dsp:txXfrm>
        <a:off x="1983665" y="585846"/>
        <a:ext cx="1587539" cy="1254420"/>
      </dsp:txXfrm>
    </dsp:sp>
    <dsp:sp modelId="{F051E436-78C7-484F-AF0E-B67CA4E8CB87}">
      <dsp:nvSpPr>
        <dsp:cNvPr id="0" name=""/>
        <dsp:cNvSpPr/>
      </dsp:nvSpPr>
      <dsp:spPr>
        <a:xfrm rot="19229978">
          <a:off x="3172920" y="2283558"/>
          <a:ext cx="1365260" cy="49967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9E43712-7D13-4C11-B74A-79857435A127}">
      <dsp:nvSpPr>
        <dsp:cNvPr id="0" name=""/>
        <dsp:cNvSpPr/>
      </dsp:nvSpPr>
      <dsp:spPr>
        <a:xfrm>
          <a:off x="3812053" y="1440740"/>
          <a:ext cx="1665593" cy="1332474"/>
        </a:xfrm>
        <a:prstGeom prst="roundRect">
          <a:avLst>
            <a:gd name="adj" fmla="val 10000"/>
          </a:avLst>
        </a:prstGeom>
        <a:solidFill>
          <a:schemeClr val="accent5">
            <a:lumMod val="40000"/>
            <a:lumOff val="60000"/>
          </a:schemeClr>
        </a:solidFill>
        <a:ln w="12700" cap="flat" cmpd="sng" algn="ctr">
          <a:solidFill>
            <a:schemeClr val="tx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711200">
            <a:lnSpc>
              <a:spcPct val="90000"/>
            </a:lnSpc>
            <a:spcBef>
              <a:spcPct val="0"/>
            </a:spcBef>
            <a:spcAft>
              <a:spcPct val="35000"/>
            </a:spcAft>
            <a:buNone/>
          </a:pPr>
          <a:r>
            <a:rPr lang="en-US" sz="1600" u="sng" kern="1200" dirty="0">
              <a:solidFill>
                <a:schemeClr val="accent1">
                  <a:lumMod val="50000"/>
                </a:schemeClr>
              </a:solidFill>
            </a:rPr>
            <a:t>Phase III</a:t>
          </a:r>
          <a:r>
            <a:rPr lang="en-US" sz="1600" kern="1200" dirty="0">
              <a:solidFill>
                <a:schemeClr val="accent1">
                  <a:lumMod val="50000"/>
                </a:schemeClr>
              </a:solidFill>
            </a:rPr>
            <a:t>: Delphi consensus panel</a:t>
          </a:r>
        </a:p>
      </dsp:txBody>
      <dsp:txXfrm>
        <a:off x="3851080" y="1479767"/>
        <a:ext cx="1587539" cy="1254420"/>
      </dsp:txXfrm>
    </dsp:sp>
  </dsp:spTree>
</dsp:drawing>
</file>

<file path=ppt/diagrams/layout1.xml><?xml version="1.0" encoding="utf-8"?>
<dgm:layoutDef xmlns:dgm="http://schemas.openxmlformats.org/drawingml/2006/diagram" xmlns:a="http://schemas.openxmlformats.org/drawingml/2006/main" uniqueId="urn:microsoft.com/office/officeart/2005/8/layout/arrow2">
  <dgm:title val=""/>
  <dgm:desc val=""/>
  <dgm:catLst>
    <dgm:cat type="process" pri="2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arrowDiagram">
    <dgm:varLst>
      <dgm:chMax val="5"/>
      <dgm:dir/>
      <dgm:resizeHandles val="exact"/>
    </dgm:varLst>
    <dgm:alg type="composite">
      <dgm:param type="ar" val="1.6"/>
    </dgm:alg>
    <dgm:shape xmlns:r="http://schemas.openxmlformats.org/officeDocument/2006/relationships" r:blip="">
      <dgm:adjLst/>
    </dgm:shape>
    <dgm:presOf/>
    <dgm:constrLst>
      <dgm:constr type="l" for="ch" forName="arrow"/>
      <dgm:constr type="t" for="ch" forName="arrow"/>
      <dgm:constr type="w" for="ch" forName="arrow" refType="w"/>
      <dgm:constr type="h" for="ch" forName="arrow" refType="h"/>
      <dgm:constr type="ctrX" for="ch" forName="arrowDiagram1" refType="w" fact="0.5"/>
      <dgm:constr type="ctrY" for="ch" forName="arrowDiagram1" refType="h" fact="0.5"/>
      <dgm:constr type="w" for="ch" forName="arrowDiagram1" refType="w"/>
      <dgm:constr type="h" for="ch" forName="arrowDiagram1" refType="h"/>
      <dgm:constr type="ctrX" for="ch" forName="arrowDiagram2" refType="w" fact="0.5"/>
      <dgm:constr type="ctrY" for="ch" forName="arrowDiagram2" refType="h" fact="0.5"/>
      <dgm:constr type="w" for="ch" forName="arrowDiagram2" refType="w"/>
      <dgm:constr type="h" for="ch" forName="arrowDiagram2" refType="h"/>
      <dgm:constr type="ctrX" for="ch" forName="arrowDiagram3" refType="w" fact="0.5"/>
      <dgm:constr type="ctrY" for="ch" forName="arrowDiagram3" refType="h" fact="0.5"/>
      <dgm:constr type="w" for="ch" forName="arrowDiagram3" refType="w"/>
      <dgm:constr type="h" for="ch" forName="arrowDiagram3" refType="h"/>
      <dgm:constr type="ctrX" for="ch" forName="arrowDiagram4" refType="w" fact="0.5"/>
      <dgm:constr type="ctrY" for="ch" forName="arrowDiagram4" refType="h" fact="0.5"/>
      <dgm:constr type="w" for="ch" forName="arrowDiagram4" refType="w"/>
      <dgm:constr type="h" for="ch" forName="arrowDiagram4" refType="h"/>
      <dgm:constr type="ctrX" for="ch" forName="arrowDiagram5" refType="w" fact="0.5"/>
      <dgm:constr type="ctrY" for="ch" forName="arrowDiagram5" refType="h" fact="0.5"/>
      <dgm:constr type="w" for="ch" forName="arrowDiagram5" refType="w"/>
      <dgm:constr type="h" for="ch" forName="arrowDiagram5" refType="h"/>
    </dgm:constrLst>
    <dgm:ruleLst/>
    <dgm:choose name="Name0">
      <dgm:if name="Name1" axis="ch" ptType="node" func="cnt" op="gte" val="1">
        <dgm:layoutNode name="arrow" styleLbl="bgShp">
          <dgm:alg type="sp"/>
          <dgm:shape xmlns:r="http://schemas.openxmlformats.org/officeDocument/2006/relationships" type="swooshArrow" r:blip="">
            <dgm:adjLst>
              <dgm:adj idx="2" val="0.25"/>
            </dgm:adjLst>
          </dgm:shape>
          <dgm:presOf/>
          <dgm:constrLst/>
          <dgm:ruleLst/>
        </dgm:layoutNode>
        <dgm:choose name="Name2">
          <dgm:if name="Name3" axis="ch" ptType="node" func="cnt" op="lt" val="1"/>
          <dgm:if name="Name4" axis="ch" ptType="node" func="cnt" op="equ" val="1">
            <dgm:layoutNode name="arrowDiagram1">
              <dgm:varLst>
                <dgm:bulletEnabled val="1"/>
              </dgm:varLst>
              <dgm:alg type="composite">
                <dgm:param type="vertAlign" val="none"/>
                <dgm:param type="horzAlign" val="none"/>
              </dgm:alg>
              <dgm:shape xmlns:r="http://schemas.openxmlformats.org/officeDocument/2006/relationships" r:blip="">
                <dgm:adjLst/>
              </dgm:shape>
              <dgm:presOf/>
              <dgm:constrLst>
                <dgm:constr type="ctrX" for="ch" forName="bullet1" refType="w" fact="0.8"/>
                <dgm:constr type="ctrY" for="ch" forName="bullet1" refType="h" fact="0.262"/>
                <dgm:constr type="w" for="ch" forName="bullet1" refType="w" fact="0.074"/>
                <dgm:constr type="h" for="ch" forName="bullet1" refType="w" refFor="ch" refForName="bullet1"/>
                <dgm:constr type="r" for="ch" forName="textBox1" refType="ctrX" refFor="ch" refForName="bullet1"/>
                <dgm:constr type="t" for="ch" forName="textBox1" refType="ctrY" refFor="ch" refForName="bullet1"/>
                <dgm:constr type="w" for="ch" forName="textBox1" refType="w" fact="0.4"/>
                <dgm:constr type="h" for="ch" forName="textBox1" refType="h" fact="0.738"/>
                <dgm:constr type="userA" refType="h" refFor="ch" refForName="bullet1" fact="0.53"/>
                <dgm:constr type="rMarg" for="ch" forName="textBox1" refType="userA" fact="2.834"/>
                <dgm:constr type="primFontSz" for="ch" ptType="node" op="equ" val="65"/>
              </dgm:constrLst>
              <dgm:ruleLst/>
              <dgm:forEach name="Name5" axis="ch" ptType="node" cnt="1">
                <dgm:layoutNode name="bullet1" styleLbl="node1">
                  <dgm:alg type="sp"/>
                  <dgm:shape xmlns:r="http://schemas.openxmlformats.org/officeDocument/2006/relationships" type="ellipse" r:blip="">
                    <dgm:adjLst/>
                  </dgm:shape>
                  <dgm:presOf/>
                  <dgm:constrLst/>
                  <dgm:ruleLst/>
                </dgm:layoutNode>
                <dgm:layoutNode name="textBox1" styleLbl="revTx">
                  <dgm:varLst>
                    <dgm:bulletEnabled val="1"/>
                  </dgm:varLst>
                  <dgm:alg type="tx">
                    <dgm:param type="txAnchorVert" val="t"/>
                    <dgm:param type="parTxLTRAlign" val="r"/>
                    <dgm:param type="parTxRTLAlign" val="r"/>
                  </dgm:alg>
                  <dgm:shape xmlns:r="http://schemas.openxmlformats.org/officeDocument/2006/relationships" type="round2DiagRect" r:blip="">
                    <dgm:adjLst/>
                  </dgm:shape>
                  <dgm:presOf axis="desOrSelf" ptType="node"/>
                  <dgm:constrLst>
                    <dgm:constr type="lMarg"/>
                    <dgm:constr type="tMarg"/>
                    <dgm:constr type="bMarg"/>
                  </dgm:constrLst>
                  <dgm:ruleLst>
                    <dgm:rule type="primFontSz" val="5" fact="NaN" max="NaN"/>
                  </dgm:ruleLst>
                </dgm:layoutNode>
              </dgm:forEach>
            </dgm:layoutNode>
          </dgm:if>
          <dgm:if name="Name6" axis="ch" ptType="node" func="cnt" op="equ" val="2">
            <dgm:layoutNode name="arrowDiagram2">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ctrX" for="ch" forName="bullet2a" refType="w" fact="0.25"/>
                    <dgm:constr type="ctrY" for="ch" forName="bullet2a" refType="h" fact="0.573"/>
                    <dgm:constr type="w" for="ch" forName="bullet2a" refType="w" fact="0.035"/>
                    <dgm:constr type="h" for="ch" forName="bullet2a" refType="w" refFor="ch" refForName="bullet2a"/>
                    <dgm:constr type="l" for="ch" forName="textBox2a" refType="ctrX" refFor="ch" refForName="bullet2a"/>
                    <dgm:constr type="t" for="ch" forName="textBox2a" refType="ctrY" refFor="ch" refForName="bullet2a"/>
                    <dgm:constr type="w" for="ch" forName="textBox2a" refType="w" fact="0.325"/>
                    <dgm:constr type="h" for="ch" forName="textBox2a" refType="h" fact="0.427"/>
                    <dgm:constr type="userA" refType="h" refFor="ch" refForName="bullet2a" fact="0.53"/>
                    <dgm:constr type="l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l" for="ch" forName="textBox2b" refType="ctrX" refFor="ch" refForName="bullet2b"/>
                    <dgm:constr type="t" for="ch" forName="textBox2b" refType="ctrY" refFor="ch" refForName="bullet2b"/>
                    <dgm:constr type="w" for="ch" forName="textBox2b" refType="w" fact="0.325"/>
                    <dgm:constr type="h" for="ch" forName="textBox2b" refType="h" fact="0.662"/>
                    <dgm:constr type="userB" refType="h" refFor="ch" refForName="bullet2b" fact="0.53"/>
                    <dgm:constr type="lMarg" for="ch" forName="textBox2b" refType="userB" fact="2.834"/>
                    <dgm:constr type="primFontSz" for="ch" ptType="node" op="equ" val="65"/>
                  </dgm:constrLst>
                </dgm:if>
                <dgm:else name="Name9">
                  <dgm:constrLst>
                    <dgm:constr type="ctrX" for="ch" forName="bullet2a" refType="w" fact="0.25"/>
                    <dgm:constr type="ctrY" for="ch" forName="bullet2a" refType="h" fact="0.573"/>
                    <dgm:constr type="w" for="ch" forName="bullet2a" refType="w" fact="0.035"/>
                    <dgm:constr type="h" for="ch" forName="bullet2a" refType="w" refFor="ch" refForName="bullet2a"/>
                    <dgm:constr type="r" for="ch" forName="textBox2a" refType="ctrX" refFor="ch" refForName="bullet2a"/>
                    <dgm:constr type="b" for="ch" forName="textBox2a" refType="ctrY" refFor="ch" refForName="bullet2a"/>
                    <dgm:constr type="w" for="ch" forName="textBox2a" refType="w" fact="0.25"/>
                    <dgm:constr type="h" for="ch" forName="textBox2a" refType="h" fact="0.573"/>
                    <dgm:constr type="userA" refType="h" refFor="ch" refForName="bullet2a" fact="0.53"/>
                    <dgm:constr type="rMarg" for="ch" forName="textBox2a" refType="userA" fact="2.834"/>
                    <dgm:constr type="ctrX" for="ch" forName="bullet2b" refType="w" fact="0.585"/>
                    <dgm:constr type="ctrY" for="ch" forName="bullet2b" refType="h" fact="0.338"/>
                    <dgm:constr type="w" for="ch" forName="bullet2b" refType="w" fact="0.06"/>
                    <dgm:constr type="h" for="ch" forName="bullet2b" refType="w" refFor="ch" refForName="bullet2b"/>
                    <dgm:constr type="r" for="ch" forName="textBox2b" refType="ctrX" refFor="ch" refForName="bullet2b"/>
                    <dgm:constr type="b" for="ch" forName="textBox2b" refType="ctrY" refFor="ch" refForName="bullet2b"/>
                    <dgm:constr type="w" for="ch" forName="textBox2b" refType="w" fact="0.28"/>
                    <dgm:constr type="h" for="ch" forName="textBox2b" refType="h" fact="0.338"/>
                    <dgm:constr type="userB" refType="h" refFor="ch" refForName="bullet2b" fact="0.53"/>
                    <dgm:constr type="rMarg" for="ch" forName="textBox2b" refType="userB" fact="2.834"/>
                    <dgm:constr type="primFontSz" for="ch" ptType="node" op="equ" val="65"/>
                  </dgm:constrLst>
                </dgm:else>
              </dgm:choose>
              <dgm:ruleLst/>
              <dgm:forEach name="Name10" axis="ch" ptType="node" cnt="1">
                <dgm:layoutNode name="bullet2a" styleLbl="node1">
                  <dgm:alg type="sp"/>
                  <dgm:shape xmlns:r="http://schemas.openxmlformats.org/officeDocument/2006/relationships" type="ellipse" r:blip="">
                    <dgm:adjLst/>
                  </dgm:shape>
                  <dgm:presOf/>
                  <dgm:constrLst/>
                  <dgm:ruleLst/>
                </dgm:layoutNode>
                <dgm:layoutNode name="textBox2a" styleLbl="revTx">
                  <dgm:varLst>
                    <dgm:bulletEnabled val="1"/>
                  </dgm:varLst>
                  <dgm:choose name="Name11">
                    <dgm:if name="Name12" func="var" arg="dir" op="equ" val="norm">
                      <dgm:choose name="Name13">
                        <dgm:if name="Name14" axis="root des" ptType="all node" func="maxDepth" op="gt" val="1">
                          <dgm:alg type="tx">
                            <dgm:param type="txAnchorVert" val="t"/>
                            <dgm:param type="parTxLTRAlign" val="l"/>
                            <dgm:param type="parTxRTLAlign" val="r"/>
                          </dgm:alg>
                        </dgm:if>
                        <dgm:else name="Name15">
                          <dgm:alg type="tx">
                            <dgm:param type="txAnchorVert" val="t"/>
                            <dgm:param type="parTxLTRAlign" val="l"/>
                            <dgm:param type="parTxRTLAlign" val="l"/>
                          </dgm:alg>
                        </dgm:else>
                      </dgm:choose>
                    </dgm:if>
                    <dgm:else name="Name16">
                      <dgm:choose name="Name17">
                        <dgm:if name="Name18" axis="root des" ptType="all node" func="maxDepth" op="gt" val="1">
                          <dgm:alg type="tx">
                            <dgm:param type="txAnchorVert" val="b"/>
                            <dgm:param type="txAnchorVertCh" val="b"/>
                            <dgm:param type="parTxLTRAlign" val="l"/>
                            <dgm:param type="parTxRTLAlign" val="r"/>
                          </dgm:alg>
                        </dgm:if>
                        <dgm:else name="Name1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
                    <dgm:if name="Name21" func="var" arg="dir" op="equ" val="norm">
                      <dgm:constrLst>
                        <dgm:constr type="rMarg"/>
                        <dgm:constr type="tMarg"/>
                        <dgm:constr type="bMarg"/>
                      </dgm:constrLst>
                    </dgm:if>
                    <dgm:else name="Name22">
                      <dgm:constrLst>
                        <dgm:constr type="lMarg"/>
                        <dgm:constr type="tMarg"/>
                        <dgm:constr type="bMarg"/>
                      </dgm:constrLst>
                    </dgm:else>
                  </dgm:choose>
                  <dgm:ruleLst>
                    <dgm:rule type="primFontSz" val="5" fact="NaN" max="NaN"/>
                  </dgm:ruleLst>
                </dgm:layoutNode>
              </dgm:forEach>
              <dgm:forEach name="Name23" axis="ch" ptType="node" st="2" cnt="1">
                <dgm:layoutNode name="bullet2b" styleLbl="node1">
                  <dgm:alg type="sp"/>
                  <dgm:shape xmlns:r="http://schemas.openxmlformats.org/officeDocument/2006/relationships" type="ellipse" r:blip="">
                    <dgm:adjLst/>
                  </dgm:shape>
                  <dgm:presOf/>
                  <dgm:constrLst/>
                  <dgm:ruleLst/>
                </dgm:layoutNode>
                <dgm:layoutNode name="textBox2b" styleLbl="revTx">
                  <dgm:varLst>
                    <dgm:bulletEnabled val="1"/>
                  </dgm:varLst>
                  <dgm:choose name="Name24">
                    <dgm:if name="Name25" func="var" arg="dir" op="equ" val="norm">
                      <dgm:choose name="Name26">
                        <dgm:if name="Name27" axis="root des" ptType="all node" func="maxDepth" op="gt" val="1">
                          <dgm:alg type="tx">
                            <dgm:param type="txAnchorVert" val="t"/>
                            <dgm:param type="parTxLTRAlign" val="l"/>
                            <dgm:param type="parTxRTLAlign" val="r"/>
                          </dgm:alg>
                        </dgm:if>
                        <dgm:else name="Name28">
                          <dgm:alg type="tx">
                            <dgm:param type="txAnchorVert" val="t"/>
                            <dgm:param type="parTxLTRAlign" val="l"/>
                            <dgm:param type="parTxRTLAlign" val="l"/>
                          </dgm:alg>
                        </dgm:else>
                      </dgm:choose>
                    </dgm:if>
                    <dgm:else name="Name29">
                      <dgm:choose name="Name30">
                        <dgm:if name="Name31" axis="root des" ptType="all node" func="maxDepth" op="gt" val="1">
                          <dgm:alg type="tx">
                            <dgm:param type="txAnchorVert" val="b"/>
                            <dgm:param type="txAnchorVertCh" val="b"/>
                            <dgm:param type="parTxLTRAlign" val="l"/>
                            <dgm:param type="parTxRTLAlign" val="r"/>
                          </dgm:alg>
                        </dgm:if>
                        <dgm:else name="Name3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33">
                    <dgm:if name="Name34" func="var" arg="dir" op="equ" val="norm">
                      <dgm:constrLst>
                        <dgm:constr type="rMarg"/>
                        <dgm:constr type="tMarg"/>
                        <dgm:constr type="bMarg"/>
                      </dgm:constrLst>
                    </dgm:if>
                    <dgm:else name="Name35">
                      <dgm:constrLst>
                        <dgm:constr type="lMarg"/>
                        <dgm:constr type="tMarg"/>
                        <dgm:constr type="bMarg"/>
                      </dgm:constrLst>
                    </dgm:else>
                  </dgm:choose>
                  <dgm:ruleLst>
                    <dgm:rule type="primFontSz" val="5" fact="NaN" max="NaN"/>
                  </dgm:ruleLst>
                </dgm:layoutNode>
              </dgm:forEach>
            </dgm:layoutNode>
          </dgm:if>
          <dgm:if name="Name36" axis="ch" ptType="node" func="cnt" op="equ" val="3">
            <dgm:layoutNode name="arrowDiagram3">
              <dgm:alg type="composite">
                <dgm:param type="vertAlign" val="none"/>
                <dgm:param type="horzAlign" val="none"/>
              </dgm:alg>
              <dgm:shape xmlns:r="http://schemas.openxmlformats.org/officeDocument/2006/relationships" r:blip="">
                <dgm:adjLst/>
              </dgm:shape>
              <dgm:presOf/>
              <dgm:choose name="Name37">
                <dgm:if name="Name38" func="var" arg="dir" op="equ" val="norm">
                  <dgm:constrLst>
                    <dgm:constr type="ctrX" for="ch" forName="bullet3a" refType="w" fact="0.14"/>
                    <dgm:constr type="ctrY" for="ch" forName="bullet3a" refType="h" fact="0.711"/>
                    <dgm:constr type="w" for="ch" forName="bullet3a" refType="w" fact="0.026"/>
                    <dgm:constr type="h" for="ch" forName="bullet3a" refType="w" refFor="ch" refForName="bullet3a"/>
                    <dgm:constr type="l" for="ch" forName="textBox3a" refType="ctrX" refFor="ch" refForName="bullet3a"/>
                    <dgm:constr type="t" for="ch" forName="textBox3a" refType="ctrY" refFor="ch" refForName="bullet3a"/>
                    <dgm:constr type="w" for="ch" forName="textBox3a" refType="w" fact="0.233"/>
                    <dgm:constr type="h" for="ch" forName="textBox3a" refType="h" fact="0.289"/>
                    <dgm:constr type="userA" refType="h" refFor="ch" refForName="bullet3a" fact="0.53"/>
                    <dgm:constr type="l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l" for="ch" forName="textBox3b" refType="ctrX" refFor="ch" refForName="bullet3b"/>
                    <dgm:constr type="t" for="ch" forName="textBox3b" refType="ctrY" refFor="ch" refForName="bullet3b"/>
                    <dgm:constr type="w" for="ch" forName="textBox3b" refType="w" fact="0.24"/>
                    <dgm:constr type="h" for="ch" forName="textBox3b" refType="h" fact="0.544"/>
                    <dgm:constr type="userB" refType="h" refFor="ch" refForName="bullet3b" fact="0.53"/>
                    <dgm:constr type="l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l" for="ch" forName="textBox3c" refType="ctrX" refFor="ch" refForName="bullet3c"/>
                    <dgm:constr type="t" for="ch" forName="textBox3c" refType="ctrY" refFor="ch" refForName="bullet3c"/>
                    <dgm:constr type="w" for="ch" forName="textBox3c" refType="w" fact="0.24"/>
                    <dgm:constr type="h" for="ch" forName="textBox3c" refType="h" fact="0.695"/>
                    <dgm:constr type="userC" refType="h" refFor="ch" refForName="bullet3c" fact="0.53"/>
                    <dgm:constr type="lMarg" for="ch" forName="textBox3c" refType="userC" fact="2.834"/>
                    <dgm:constr type="primFontSz" for="ch" ptType="node" op="equ" val="65"/>
                  </dgm:constrLst>
                </dgm:if>
                <dgm:else name="Name39">
                  <dgm:constrLst>
                    <dgm:constr type="ctrX" for="ch" forName="bullet3a" refType="w" fact="0.14"/>
                    <dgm:constr type="ctrY" for="ch" forName="bullet3a" refType="h" fact="0.711"/>
                    <dgm:constr type="w" for="ch" forName="bullet3a" refType="w" fact="0.026"/>
                    <dgm:constr type="h" for="ch" forName="bullet3a" refType="w" refFor="ch" refForName="bullet3a"/>
                    <dgm:constr type="r" for="ch" forName="textBox3a" refType="ctrX" refFor="ch" refForName="bullet3a"/>
                    <dgm:constr type="b" for="ch" forName="textBox3a" refType="ctrY" refFor="ch" refForName="bullet3a"/>
                    <dgm:constr type="w" for="ch" forName="textBox3a" refType="w" fact="0.14"/>
                    <dgm:constr type="h" for="ch" forName="textBox3a" refType="h" fact="0.711"/>
                    <dgm:constr type="userA" refType="h" refFor="ch" refForName="bullet3a" fact="0.53"/>
                    <dgm:constr type="rMarg" for="ch" forName="textBox3a" refType="userA" fact="2.834"/>
                    <dgm:constr type="ctrX" for="ch" forName="bullet3b" refType="w" fact="0.38"/>
                    <dgm:constr type="ctrY" for="ch" forName="bullet3b" refType="h" fact="0.456"/>
                    <dgm:constr type="w" for="ch" forName="bullet3b" refType="w" fact="0.047"/>
                    <dgm:constr type="h" for="ch" forName="bullet3b" refType="w" refFor="ch" refForName="bullet3b"/>
                    <dgm:constr type="r" for="ch" forName="textBox3b" refType="ctrX" refFor="ch" refForName="bullet3b"/>
                    <dgm:constr type="b" for="ch" forName="textBox3b" refType="ctrY" refFor="ch" refForName="bullet3b"/>
                    <dgm:constr type="w" for="ch" forName="textBox3b" refType="w" fact="0.24"/>
                    <dgm:constr type="h" for="ch" forName="textBox3b" refType="h" fact="0.456"/>
                    <dgm:constr type="userB" refType="h" refFor="ch" refForName="bullet3b" fact="0.53"/>
                    <dgm:constr type="rMarg" for="ch" forName="textBox3b" refType="userB" fact="2.834"/>
                    <dgm:constr type="ctrX" for="ch" forName="bullet3c" refType="w" fact="0.665"/>
                    <dgm:constr type="ctrY" for="ch" forName="bullet3c" refType="h" fact="0.305"/>
                    <dgm:constr type="w" for="ch" forName="bullet3c" refType="w" fact="0.065"/>
                    <dgm:constr type="h" for="ch" forName="bullet3c" refType="w" refFor="ch" refForName="bullet3c"/>
                    <dgm:constr type="r" for="ch" forName="textBox3c" refType="ctrX" refFor="ch" refForName="bullet3c"/>
                    <dgm:constr type="b" for="ch" forName="textBox3c" refType="ctrY" refFor="ch" refForName="bullet3c"/>
                    <dgm:constr type="w" for="ch" forName="textBox3c" refType="w" fact="0.24"/>
                    <dgm:constr type="h" for="ch" forName="textBox3c" refType="h" fact="0.305"/>
                    <dgm:constr type="userC" refType="h" refFor="ch" refForName="bullet3c" fact="0.53"/>
                    <dgm:constr type="rMarg" for="ch" forName="textBox3c" refType="userC" fact="2.834"/>
                    <dgm:constr type="primFontSz" for="ch" ptType="node" op="equ" val="65"/>
                  </dgm:constrLst>
                </dgm:else>
              </dgm:choose>
              <dgm:ruleLst/>
              <dgm:forEach name="Name40" axis="ch" ptType="node" cnt="1">
                <dgm:layoutNode name="bullet3a" styleLbl="node1">
                  <dgm:alg type="sp"/>
                  <dgm:shape xmlns:r="http://schemas.openxmlformats.org/officeDocument/2006/relationships" type="ellipse" r:blip="">
                    <dgm:adjLst/>
                  </dgm:shape>
                  <dgm:presOf/>
                  <dgm:constrLst/>
                  <dgm:ruleLst/>
                </dgm:layoutNode>
                <dgm:layoutNode name="textBox3a" styleLbl="revTx">
                  <dgm:varLst>
                    <dgm:bulletEnabled val="1"/>
                  </dgm:varLst>
                  <dgm:choose name="Name41">
                    <dgm:if name="Name42" func="var" arg="dir" op="equ" val="norm">
                      <dgm:choose name="Name43">
                        <dgm:if name="Name44" axis="root des" ptType="all node" func="maxDepth" op="gt" val="1">
                          <dgm:alg type="tx">
                            <dgm:param type="txAnchorVert" val="t"/>
                            <dgm:param type="parTxLTRAlign" val="l"/>
                            <dgm:param type="parTxRTLAlign" val="r"/>
                          </dgm:alg>
                        </dgm:if>
                        <dgm:else name="Name45">
                          <dgm:alg type="tx">
                            <dgm:param type="txAnchorVert" val="t"/>
                            <dgm:param type="parTxLTRAlign" val="l"/>
                            <dgm:param type="parTxRTLAlign" val="l"/>
                          </dgm:alg>
                        </dgm:else>
                      </dgm:choose>
                    </dgm:if>
                    <dgm:else name="Name46">
                      <dgm:choose name="Name47">
                        <dgm:if name="Name48" axis="root des" ptType="all node" func="maxDepth" op="gt" val="1">
                          <dgm:alg type="tx">
                            <dgm:param type="txAnchorVert" val="b"/>
                            <dgm:param type="txAnchorVertCh" val="b"/>
                            <dgm:param type="parTxLTRAlign" val="l"/>
                            <dgm:param type="parTxRTLAlign" val="r"/>
                          </dgm:alg>
                        </dgm:if>
                        <dgm:else name="Name49">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50">
                    <dgm:if name="Name51" func="var" arg="dir" op="equ" val="norm">
                      <dgm:constrLst>
                        <dgm:constr type="rMarg"/>
                        <dgm:constr type="tMarg"/>
                        <dgm:constr type="bMarg"/>
                      </dgm:constrLst>
                    </dgm:if>
                    <dgm:else name="Name52">
                      <dgm:constrLst>
                        <dgm:constr type="lMarg"/>
                        <dgm:constr type="tMarg"/>
                        <dgm:constr type="bMarg"/>
                      </dgm:constrLst>
                    </dgm:else>
                  </dgm:choose>
                  <dgm:ruleLst>
                    <dgm:rule type="primFontSz" val="5" fact="NaN" max="NaN"/>
                  </dgm:ruleLst>
                </dgm:layoutNode>
              </dgm:forEach>
              <dgm:forEach name="Name53" axis="ch" ptType="node" st="2" cnt="1">
                <dgm:layoutNode name="bullet3b" styleLbl="node1">
                  <dgm:alg type="sp"/>
                  <dgm:shape xmlns:r="http://schemas.openxmlformats.org/officeDocument/2006/relationships" type="ellipse" r:blip="">
                    <dgm:adjLst/>
                  </dgm:shape>
                  <dgm:presOf/>
                  <dgm:constrLst/>
                  <dgm:ruleLst/>
                </dgm:layoutNode>
                <dgm:layoutNode name="textBox3b" styleLbl="revTx">
                  <dgm:varLst>
                    <dgm:bulletEnabled val="1"/>
                  </dgm:varLst>
                  <dgm:choose name="Name54">
                    <dgm:if name="Name55" func="var" arg="dir" op="equ" val="norm">
                      <dgm:choose name="Name56">
                        <dgm:if name="Name57" axis="root des" ptType="all node" func="maxDepth" op="gt" val="1">
                          <dgm:alg type="tx">
                            <dgm:param type="txAnchorVert" val="t"/>
                            <dgm:param type="parTxLTRAlign" val="l"/>
                            <dgm:param type="parTxRTLAlign" val="r"/>
                          </dgm:alg>
                        </dgm:if>
                        <dgm:else name="Name58">
                          <dgm:alg type="tx">
                            <dgm:param type="txAnchorVert" val="t"/>
                            <dgm:param type="parTxLTRAlign" val="l"/>
                            <dgm:param type="parTxRTLAlign" val="l"/>
                          </dgm:alg>
                        </dgm:else>
                      </dgm:choose>
                    </dgm:if>
                    <dgm:else name="Name59">
                      <dgm:choose name="Name60">
                        <dgm:if name="Name61" axis="root des" ptType="all node" func="maxDepth" op="gt" val="1">
                          <dgm:alg type="tx">
                            <dgm:param type="txAnchorVert" val="b"/>
                            <dgm:param type="txAnchorVertCh" val="b"/>
                            <dgm:param type="parTxLTRAlign" val="l"/>
                            <dgm:param type="parTxRTLAlign" val="r"/>
                          </dgm:alg>
                        </dgm:if>
                        <dgm:else name="Name6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63">
                    <dgm:if name="Name64" func="var" arg="dir" op="equ" val="norm">
                      <dgm:constrLst>
                        <dgm:constr type="rMarg"/>
                        <dgm:constr type="tMarg"/>
                        <dgm:constr type="bMarg"/>
                      </dgm:constrLst>
                    </dgm:if>
                    <dgm:else name="Name65">
                      <dgm:constrLst>
                        <dgm:constr type="lMarg"/>
                        <dgm:constr type="tMarg"/>
                        <dgm:constr type="bMarg"/>
                      </dgm:constrLst>
                    </dgm:else>
                  </dgm:choose>
                  <dgm:ruleLst>
                    <dgm:rule type="primFontSz" val="5" fact="NaN" max="NaN"/>
                  </dgm:ruleLst>
                </dgm:layoutNode>
              </dgm:forEach>
              <dgm:forEach name="Name66" axis="ch" ptType="node" st="3" cnt="1">
                <dgm:layoutNode name="bullet3c" styleLbl="node1">
                  <dgm:alg type="sp"/>
                  <dgm:shape xmlns:r="http://schemas.openxmlformats.org/officeDocument/2006/relationships" type="ellipse" r:blip="">
                    <dgm:adjLst/>
                  </dgm:shape>
                  <dgm:presOf/>
                  <dgm:constrLst/>
                  <dgm:ruleLst/>
                </dgm:layoutNode>
                <dgm:layoutNode name="textBox3c" styleLbl="revTx">
                  <dgm:varLst>
                    <dgm:bulletEnabled val="1"/>
                  </dgm:varLst>
                  <dgm:choose name="Name67">
                    <dgm:if name="Name68" func="var" arg="dir" op="equ" val="norm">
                      <dgm:choose name="Name69">
                        <dgm:if name="Name70" axis="root des" ptType="all node" func="maxDepth" op="gt" val="1">
                          <dgm:alg type="tx">
                            <dgm:param type="txAnchorVert" val="t"/>
                            <dgm:param type="parTxLTRAlign" val="l"/>
                            <dgm:param type="parTxRTLAlign" val="r"/>
                          </dgm:alg>
                        </dgm:if>
                        <dgm:else name="Name71">
                          <dgm:alg type="tx">
                            <dgm:param type="txAnchorVert" val="t"/>
                            <dgm:param type="parTxLTRAlign" val="l"/>
                            <dgm:param type="parTxRTLAlign" val="l"/>
                          </dgm:alg>
                        </dgm:else>
                      </dgm:choose>
                    </dgm:if>
                    <dgm:else name="Name72">
                      <dgm:choose name="Name73">
                        <dgm:if name="Name74" axis="root des" ptType="all node" func="maxDepth" op="gt" val="1">
                          <dgm:alg type="tx">
                            <dgm:param type="txAnchorVert" val="b"/>
                            <dgm:param type="txAnchorVertCh" val="b"/>
                            <dgm:param type="parTxLTRAlign" val="l"/>
                            <dgm:param type="parTxRTLAlign" val="r"/>
                          </dgm:alg>
                        </dgm:if>
                        <dgm:else name="Name7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76">
                    <dgm:if name="Name77" func="var" arg="dir" op="equ" val="norm">
                      <dgm:constrLst>
                        <dgm:constr type="rMarg"/>
                        <dgm:constr type="tMarg"/>
                        <dgm:constr type="bMarg"/>
                      </dgm:constrLst>
                    </dgm:if>
                    <dgm:else name="Name78">
                      <dgm:constrLst>
                        <dgm:constr type="lMarg"/>
                        <dgm:constr type="tMarg"/>
                        <dgm:constr type="bMarg"/>
                      </dgm:constrLst>
                    </dgm:else>
                  </dgm:choose>
                  <dgm:ruleLst>
                    <dgm:rule type="primFontSz" val="5" fact="NaN" max="NaN"/>
                  </dgm:ruleLst>
                </dgm:layoutNode>
              </dgm:forEach>
            </dgm:layoutNode>
          </dgm:if>
          <dgm:if name="Name79" axis="ch" ptType="node" func="cnt" op="equ" val="4">
            <dgm:layoutNode name="arrowDiagram4">
              <dgm:alg type="composite">
                <dgm:param type="vertAlign" val="none"/>
                <dgm:param type="horzAlign" val="none"/>
              </dgm:alg>
              <dgm:shape xmlns:r="http://schemas.openxmlformats.org/officeDocument/2006/relationships" r:blip="">
                <dgm:adjLst/>
              </dgm:shape>
              <dgm:presOf/>
              <dgm:choose name="Name80">
                <dgm:if name="Name81" func="var" arg="dir" op="equ" val="norm">
                  <dgm:constrLst>
                    <dgm:constr type="ctrX" for="ch" forName="bullet4a" refType="w" fact="0.11"/>
                    <dgm:constr type="ctrY" for="ch" forName="bullet4a" refType="h" fact="0.762"/>
                    <dgm:constr type="w" for="ch" forName="bullet4a" refType="w" fact="0.023"/>
                    <dgm:constr type="h" for="ch" forName="bullet4a" refType="w" refFor="ch" refForName="bullet4a"/>
                    <dgm:constr type="l" for="ch" forName="textBox4a" refType="ctrX" refFor="ch" refForName="bullet4a"/>
                    <dgm:constr type="t" for="ch" forName="textBox4a" refType="ctrY" refFor="ch" refForName="bullet4a"/>
                    <dgm:constr type="w" for="ch" forName="textBox4a" refType="w" fact="0.171"/>
                    <dgm:constr type="h" for="ch" forName="textBox4a" refType="h" fact="0.238"/>
                    <dgm:constr type="userA" refType="h" refFor="ch" refForName="bullet4a" fact="0.53"/>
                    <dgm:constr type="l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l" for="ch" forName="textBox4b" refType="ctrX" refFor="ch" refForName="bullet4b"/>
                    <dgm:constr type="t" for="ch" forName="textBox4b" refType="ctrY" refFor="ch" refForName="bullet4b"/>
                    <dgm:constr type="w" for="ch" forName="textBox4b" refType="w" fact="0.21"/>
                    <dgm:constr type="h" for="ch" forName="textBox4b" refType="h" fact="0.457"/>
                    <dgm:constr type="userB" refType="h" refFor="ch" refForName="bullet4b" fact="0.53"/>
                    <dgm:constr type="l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l" for="ch" forName="textBox4c" refType="ctrX" refFor="ch" refForName="bullet4c"/>
                    <dgm:constr type="t" for="ch" forName="textBox4c" refType="ctrY" refFor="ch" refForName="bullet4c"/>
                    <dgm:constr type="w" for="ch" forName="textBox4c" refType="w" fact="0.21"/>
                    <dgm:constr type="h" for="ch" forName="textBox4c" refType="h" fact="0.618"/>
                    <dgm:constr type="userC" refType="h" refFor="ch" refForName="bullet4c" fact="0.53"/>
                    <dgm:constr type="l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l" for="ch" forName="textBox4d" refType="ctrX" refFor="ch" refForName="bullet4d"/>
                    <dgm:constr type="t" for="ch" forName="textBox4d" refType="ctrY" refFor="ch" refForName="bullet4d"/>
                    <dgm:constr type="w" for="ch" forName="textBox4d" refType="w" fact="0.21"/>
                    <dgm:constr type="h" for="ch" forName="textBox4d" refType="h" fact="0.717"/>
                    <dgm:constr type="userD" refType="h" refFor="ch" refForName="bullet4d" fact="0.53"/>
                    <dgm:constr type="lMarg" for="ch" forName="textBox4d" refType="userD" fact="2.834"/>
                    <dgm:constr type="primFontSz" for="ch" ptType="node" op="equ" val="65"/>
                  </dgm:constrLst>
                </dgm:if>
                <dgm:else name="Name82">
                  <dgm:constrLst>
                    <dgm:constr type="ctrX" for="ch" forName="bullet4a" refType="w" fact="0.11"/>
                    <dgm:constr type="ctrY" for="ch" forName="bullet4a" refType="h" fact="0.762"/>
                    <dgm:constr type="w" for="ch" forName="bullet4a" refType="w" fact="0.023"/>
                    <dgm:constr type="h" for="ch" forName="bullet4a" refType="w" refFor="ch" refForName="bullet4a"/>
                    <dgm:constr type="r" for="ch" forName="textBox4a" refType="ctrX" refFor="ch" refForName="bullet4a"/>
                    <dgm:constr type="b" for="ch" forName="textBox4a" refType="ctrY" refFor="ch" refForName="bullet4a"/>
                    <dgm:constr type="w" for="ch" forName="textBox4a" refType="w" fact="0.11"/>
                    <dgm:constr type="h" for="ch" forName="textBox4a" refType="h" fact="0.762"/>
                    <dgm:constr type="userA" refType="h" refFor="ch" refForName="bullet4a" fact="0.53"/>
                    <dgm:constr type="rMarg" for="ch" forName="textBox4a" refType="userA" fact="2.834"/>
                    <dgm:constr type="ctrX" for="ch" forName="bullet4b" refType="w" fact="0.281"/>
                    <dgm:constr type="ctrY" for="ch" forName="bullet4b" refType="h" fact="0.543"/>
                    <dgm:constr type="w" for="ch" forName="bullet4b" refType="w" fact="0.04"/>
                    <dgm:constr type="h" for="ch" forName="bullet4b" refType="w" refFor="ch" refForName="bullet4b"/>
                    <dgm:constr type="r" for="ch" forName="textBox4b" refType="ctrX" refFor="ch" refForName="bullet4b"/>
                    <dgm:constr type="b" for="ch" forName="textBox4b" refType="ctrY" refFor="ch" refForName="bullet4b"/>
                    <dgm:constr type="w" for="ch" forName="textBox4b" refType="w" fact="0.171"/>
                    <dgm:constr type="h" for="ch" forName="textBox4b" refType="h" fact="0.543"/>
                    <dgm:constr type="userB" refType="h" refFor="ch" refForName="bullet4b" fact="0.53"/>
                    <dgm:constr type="rMarg" for="ch" forName="textBox4b" refType="userB" fact="2.834"/>
                    <dgm:constr type="ctrX" for="ch" forName="bullet4c" refType="w" fact="0.495"/>
                    <dgm:constr type="ctrY" for="ch" forName="bullet4c" refType="h" fact="0.382"/>
                    <dgm:constr type="w" for="ch" forName="bullet4c" refType="w" fact="0.053"/>
                    <dgm:constr type="h" for="ch" forName="bullet4c" refType="w" refFor="ch" refForName="bullet4c"/>
                    <dgm:constr type="r" for="ch" forName="textBox4c" refType="ctrX" refFor="ch" refForName="bullet4c"/>
                    <dgm:constr type="b" for="ch" forName="textBox4c" refType="ctrY" refFor="ch" refForName="bullet4c"/>
                    <dgm:constr type="w" for="ch" forName="textBox4c" refType="w" fact="0.21"/>
                    <dgm:constr type="h" for="ch" forName="textBox4c" refType="h" fact="0.382"/>
                    <dgm:constr type="userC" refType="h" refFor="ch" refForName="bullet4c" fact="0.53"/>
                    <dgm:constr type="rMarg" for="ch" forName="textBox4c" refType="userC" fact="2.834"/>
                    <dgm:constr type="ctrX" for="ch" forName="bullet4d" refType="w" fact="0.73"/>
                    <dgm:constr type="ctrY" for="ch" forName="bullet4d" refType="h" fact="0.283"/>
                    <dgm:constr type="w" for="ch" forName="bullet4d" refType="w" fact="0.071"/>
                    <dgm:constr type="h" for="ch" forName="bullet4d" refType="w" refFor="ch" refForName="bullet4d"/>
                    <dgm:constr type="r" for="ch" forName="textBox4d" refType="ctrX" refFor="ch" refForName="bullet4d"/>
                    <dgm:constr type="b" for="ch" forName="textBox4d" refType="ctrY" refFor="ch" refForName="bullet4d"/>
                    <dgm:constr type="w" for="ch" forName="textBox4d" refType="w" fact="0.21"/>
                    <dgm:constr type="h" for="ch" forName="textBox4d" refType="h" fact="0.283"/>
                    <dgm:constr type="userD" refType="h" refFor="ch" refForName="bullet4d" fact="0.53"/>
                    <dgm:constr type="rMarg" for="ch" forName="textBox4d" refType="userD" fact="2.834"/>
                    <dgm:constr type="primFontSz" for="ch" ptType="node" op="equ" val="65"/>
                  </dgm:constrLst>
                </dgm:else>
              </dgm:choose>
              <dgm:ruleLst/>
              <dgm:forEach name="Name83" axis="ch" ptType="node" cnt="1">
                <dgm:layoutNode name="bullet4a" styleLbl="node1">
                  <dgm:alg type="sp"/>
                  <dgm:shape xmlns:r="http://schemas.openxmlformats.org/officeDocument/2006/relationships" type="ellipse" r:blip="">
                    <dgm:adjLst/>
                  </dgm:shape>
                  <dgm:presOf/>
                  <dgm:constrLst/>
                  <dgm:ruleLst/>
                </dgm:layoutNode>
                <dgm:layoutNode name="textBox4a" styleLbl="revTx">
                  <dgm:varLst>
                    <dgm:bulletEnabled val="1"/>
                  </dgm:varLst>
                  <dgm:choose name="Name84">
                    <dgm:if name="Name85" func="var" arg="dir" op="equ" val="norm">
                      <dgm:choose name="Name86">
                        <dgm:if name="Name87" axis="root des" ptType="all node" func="maxDepth" op="gt" val="1">
                          <dgm:alg type="tx">
                            <dgm:param type="txAnchorVert" val="t"/>
                            <dgm:param type="parTxLTRAlign" val="l"/>
                            <dgm:param type="parTxRTLAlign" val="r"/>
                          </dgm:alg>
                        </dgm:if>
                        <dgm:else name="Name88">
                          <dgm:alg type="tx">
                            <dgm:param type="txAnchorVert" val="t"/>
                            <dgm:param type="parTxLTRAlign" val="l"/>
                            <dgm:param type="parTxRTLAlign" val="l"/>
                          </dgm:alg>
                        </dgm:else>
                      </dgm:choose>
                    </dgm:if>
                    <dgm:else name="Name89">
                      <dgm:choose name="Name90">
                        <dgm:if name="Name91" axis="root des" ptType="all node" func="maxDepth" op="gt" val="1">
                          <dgm:alg type="tx">
                            <dgm:param type="txAnchorVert" val="b"/>
                            <dgm:param type="txAnchorVertCh" val="b"/>
                            <dgm:param type="parTxLTRAlign" val="l"/>
                            <dgm:param type="parTxRTLAlign" val="r"/>
                          </dgm:alg>
                        </dgm:if>
                        <dgm:else name="Name92">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93">
                    <dgm:if name="Name94" func="var" arg="dir" op="equ" val="norm">
                      <dgm:constrLst>
                        <dgm:constr type="rMarg"/>
                        <dgm:constr type="tMarg"/>
                        <dgm:constr type="bMarg"/>
                      </dgm:constrLst>
                    </dgm:if>
                    <dgm:else name="Name95">
                      <dgm:constrLst>
                        <dgm:constr type="lMarg"/>
                        <dgm:constr type="tMarg"/>
                        <dgm:constr type="bMarg"/>
                      </dgm:constrLst>
                    </dgm:else>
                  </dgm:choose>
                  <dgm:ruleLst>
                    <dgm:rule type="primFontSz" val="5" fact="NaN" max="NaN"/>
                  </dgm:ruleLst>
                </dgm:layoutNode>
              </dgm:forEach>
              <dgm:forEach name="Name96" axis="ch" ptType="node" st="2" cnt="1">
                <dgm:layoutNode name="bullet4b" styleLbl="node1">
                  <dgm:alg type="sp"/>
                  <dgm:shape xmlns:r="http://schemas.openxmlformats.org/officeDocument/2006/relationships" type="ellipse" r:blip="">
                    <dgm:adjLst/>
                  </dgm:shape>
                  <dgm:presOf/>
                  <dgm:constrLst/>
                  <dgm:ruleLst/>
                </dgm:layoutNode>
                <dgm:layoutNode name="textBox4b" styleLbl="revTx">
                  <dgm:varLst>
                    <dgm:bulletEnabled val="1"/>
                  </dgm:varLst>
                  <dgm:choose name="Name97">
                    <dgm:if name="Name98" func="var" arg="dir" op="equ" val="norm">
                      <dgm:choose name="Name99">
                        <dgm:if name="Name100" axis="root des" ptType="all node" func="maxDepth" op="gt" val="1">
                          <dgm:alg type="tx">
                            <dgm:param type="txAnchorVert" val="t"/>
                            <dgm:param type="parTxLTRAlign" val="l"/>
                            <dgm:param type="parTxRTLAlign" val="r"/>
                          </dgm:alg>
                        </dgm:if>
                        <dgm:else name="Name101">
                          <dgm:alg type="tx">
                            <dgm:param type="txAnchorVert" val="t"/>
                            <dgm:param type="parTxLTRAlign" val="l"/>
                            <dgm:param type="parTxRTLAlign" val="l"/>
                          </dgm:alg>
                        </dgm:else>
                      </dgm:choose>
                    </dgm:if>
                    <dgm:else name="Name102">
                      <dgm:choose name="Name103">
                        <dgm:if name="Name104" axis="root des" ptType="all node" func="maxDepth" op="gt" val="1">
                          <dgm:alg type="tx">
                            <dgm:param type="txAnchorVert" val="b"/>
                            <dgm:param type="txAnchorVertCh" val="b"/>
                            <dgm:param type="parTxLTRAlign" val="l"/>
                            <dgm:param type="parTxRTLAlign" val="r"/>
                          </dgm:alg>
                        </dgm:if>
                        <dgm:else name="Name105">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06">
                    <dgm:if name="Name107" func="var" arg="dir" op="equ" val="norm">
                      <dgm:constrLst>
                        <dgm:constr type="rMarg"/>
                        <dgm:constr type="tMarg"/>
                        <dgm:constr type="bMarg"/>
                      </dgm:constrLst>
                    </dgm:if>
                    <dgm:else name="Name108">
                      <dgm:constrLst>
                        <dgm:constr type="lMarg"/>
                        <dgm:constr type="tMarg"/>
                        <dgm:constr type="bMarg"/>
                      </dgm:constrLst>
                    </dgm:else>
                  </dgm:choose>
                  <dgm:ruleLst>
                    <dgm:rule type="primFontSz" val="5" fact="NaN" max="NaN"/>
                  </dgm:ruleLst>
                </dgm:layoutNode>
              </dgm:forEach>
              <dgm:forEach name="Name109" axis="ch" ptType="node" st="3" cnt="1">
                <dgm:layoutNode name="bullet4c" styleLbl="node1">
                  <dgm:alg type="sp"/>
                  <dgm:shape xmlns:r="http://schemas.openxmlformats.org/officeDocument/2006/relationships" type="ellipse" r:blip="">
                    <dgm:adjLst/>
                  </dgm:shape>
                  <dgm:presOf/>
                  <dgm:constrLst/>
                  <dgm:ruleLst/>
                </dgm:layoutNode>
                <dgm:layoutNode name="textBox4c" styleLbl="revTx">
                  <dgm:varLst>
                    <dgm:bulletEnabled val="1"/>
                  </dgm:varLst>
                  <dgm:choose name="Name110">
                    <dgm:if name="Name111" func="var" arg="dir" op="equ" val="norm">
                      <dgm:choose name="Name112">
                        <dgm:if name="Name113" axis="root des" ptType="all node" func="maxDepth" op="gt" val="1">
                          <dgm:alg type="tx">
                            <dgm:param type="txAnchorVert" val="t"/>
                            <dgm:param type="parTxLTRAlign" val="l"/>
                            <dgm:param type="parTxRTLAlign" val="r"/>
                          </dgm:alg>
                        </dgm:if>
                        <dgm:else name="Name114">
                          <dgm:alg type="tx">
                            <dgm:param type="txAnchorVert" val="t"/>
                            <dgm:param type="parTxLTRAlign" val="l"/>
                            <dgm:param type="parTxRTLAlign" val="l"/>
                          </dgm:alg>
                        </dgm:else>
                      </dgm:choose>
                    </dgm:if>
                    <dgm:else name="Name115">
                      <dgm:choose name="Name116">
                        <dgm:if name="Name117" axis="root des" ptType="all node" func="maxDepth" op="gt" val="1">
                          <dgm:alg type="tx">
                            <dgm:param type="txAnchorVert" val="b"/>
                            <dgm:param type="txAnchorVertCh" val="b"/>
                            <dgm:param type="parTxLTRAlign" val="l"/>
                            <dgm:param type="parTxRTLAlign" val="r"/>
                          </dgm:alg>
                        </dgm:if>
                        <dgm:else name="Name11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19">
                    <dgm:if name="Name120" func="var" arg="dir" op="equ" val="norm">
                      <dgm:constrLst>
                        <dgm:constr type="rMarg"/>
                        <dgm:constr type="tMarg"/>
                        <dgm:constr type="bMarg"/>
                      </dgm:constrLst>
                    </dgm:if>
                    <dgm:else name="Name121">
                      <dgm:constrLst>
                        <dgm:constr type="lMarg"/>
                        <dgm:constr type="tMarg"/>
                        <dgm:constr type="bMarg"/>
                      </dgm:constrLst>
                    </dgm:else>
                  </dgm:choose>
                  <dgm:ruleLst>
                    <dgm:rule type="primFontSz" val="5" fact="NaN" max="NaN"/>
                  </dgm:ruleLst>
                </dgm:layoutNode>
              </dgm:forEach>
              <dgm:forEach name="Name122" axis="ch" ptType="node" st="4" cnt="1">
                <dgm:layoutNode name="bullet4d" styleLbl="node1">
                  <dgm:alg type="sp"/>
                  <dgm:shape xmlns:r="http://schemas.openxmlformats.org/officeDocument/2006/relationships" type="ellipse" r:blip="">
                    <dgm:adjLst/>
                  </dgm:shape>
                  <dgm:presOf/>
                  <dgm:constrLst/>
                  <dgm:ruleLst/>
                </dgm:layoutNode>
                <dgm:layoutNode name="textBox4d" styleLbl="revTx">
                  <dgm:varLst>
                    <dgm:bulletEnabled val="1"/>
                  </dgm:varLst>
                  <dgm:choose name="Name123">
                    <dgm:if name="Name124" func="var" arg="dir" op="equ" val="norm">
                      <dgm:choose name="Name125">
                        <dgm:if name="Name126" axis="root des" ptType="all node" func="maxDepth" op="gt" val="1">
                          <dgm:alg type="tx">
                            <dgm:param type="txAnchorVert" val="t"/>
                            <dgm:param type="parTxLTRAlign" val="l"/>
                            <dgm:param type="parTxRTLAlign" val="r"/>
                          </dgm:alg>
                        </dgm:if>
                        <dgm:else name="Name127">
                          <dgm:alg type="tx">
                            <dgm:param type="txAnchorVert" val="t"/>
                            <dgm:param type="parTxLTRAlign" val="l"/>
                            <dgm:param type="parTxRTLAlign" val="l"/>
                          </dgm:alg>
                        </dgm:else>
                      </dgm:choose>
                    </dgm:if>
                    <dgm:else name="Name128">
                      <dgm:choose name="Name129">
                        <dgm:if name="Name130" axis="root des" ptType="all node" func="maxDepth" op="gt" val="1">
                          <dgm:alg type="tx">
                            <dgm:param type="txAnchorVert" val="b"/>
                            <dgm:param type="txAnchorVertCh" val="b"/>
                            <dgm:param type="parTxLTRAlign" val="l"/>
                            <dgm:param type="parTxRTLAlign" val="r"/>
                          </dgm:alg>
                        </dgm:if>
                        <dgm:else name="Name13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32">
                    <dgm:if name="Name133" func="var" arg="dir" op="equ" val="norm">
                      <dgm:constrLst>
                        <dgm:constr type="rMarg"/>
                        <dgm:constr type="tMarg"/>
                        <dgm:constr type="bMarg"/>
                      </dgm:constrLst>
                    </dgm:if>
                    <dgm:else name="Name134">
                      <dgm:constrLst>
                        <dgm:constr type="lMarg"/>
                        <dgm:constr type="tMarg"/>
                        <dgm:constr type="bMarg"/>
                      </dgm:constrLst>
                    </dgm:else>
                  </dgm:choose>
                  <dgm:ruleLst>
                    <dgm:rule type="primFontSz" val="5" fact="NaN" max="NaN"/>
                  </dgm:ruleLst>
                </dgm:layoutNode>
              </dgm:forEach>
            </dgm:layoutNode>
          </dgm:if>
          <dgm:else name="Name135">
            <dgm:layoutNode name="arrowDiagram5">
              <dgm:alg type="composite">
                <dgm:param type="vertAlign" val="none"/>
                <dgm:param type="horzAlign" val="none"/>
              </dgm:alg>
              <dgm:shape xmlns:r="http://schemas.openxmlformats.org/officeDocument/2006/relationships" r:blip="">
                <dgm:adjLst/>
              </dgm:shape>
              <dgm:presOf/>
              <dgm:choose name="Name136">
                <dgm:if name="Name137" func="var" arg="dir" op="equ" val="norm">
                  <dgm:constrLst>
                    <dgm:constr type="ctrX" for="ch" forName="bullet5a" refType="w" fact="0.11"/>
                    <dgm:constr type="ctrY" for="ch" forName="bullet5a" refType="h" fact="0.762"/>
                    <dgm:constr type="w" for="ch" forName="bullet5a" refType="w" fact="0.023"/>
                    <dgm:constr type="h" for="ch" forName="bullet5a" refType="w" refFor="ch" refForName="bullet5a"/>
                    <dgm:constr type="l" for="ch" forName="textBox5a" refType="ctrX" refFor="ch" refForName="bullet5a"/>
                    <dgm:constr type="t" for="ch" forName="textBox5a" refType="ctrY" refFor="ch" refForName="bullet5a"/>
                    <dgm:constr type="w" for="ch" forName="textBox5a" refType="w" fact="0.131"/>
                    <dgm:constr type="h" for="ch" forName="textBox5a" refType="h" fact="0.238"/>
                    <dgm:constr type="userA" refType="h" refFor="ch" refForName="bullet5a" fact="0.53"/>
                    <dgm:constr type="l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l" for="ch" forName="textBox5b" refType="ctrX" refFor="ch" refForName="bullet5b"/>
                    <dgm:constr type="t" for="ch" forName="textBox5b" refType="ctrY" refFor="ch" refForName="bullet5b"/>
                    <dgm:constr type="w" for="ch" forName="textBox5b" refType="w" fact="0.166"/>
                    <dgm:constr type="h" for="ch" forName="textBox5b" refType="h" fact="0.419"/>
                    <dgm:constr type="userB" refType="h" refFor="ch" refForName="bullet5b" fact="0.53"/>
                    <dgm:constr type="l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l" for="ch" forName="textBox5c" refType="ctrX" refFor="ch" refForName="bullet5c"/>
                    <dgm:constr type="t" for="ch" forName="textBox5c" refType="ctrY" refFor="ch" refForName="bullet5c"/>
                    <dgm:constr type="w" for="ch" forName="textBox5c" refType="w" fact="0.193"/>
                    <dgm:constr type="h" for="ch" forName="textBox5c" refType="h" fact="0.562"/>
                    <dgm:constr type="userC" refType="h" refFor="ch" refForName="bullet5c" fact="0.53"/>
                    <dgm:constr type="l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l" for="ch" forName="textBox5d" refType="ctrX" refFor="ch" refForName="bullet5d"/>
                    <dgm:constr type="t" for="ch" forName="textBox5d" refType="ctrY" refFor="ch" refForName="bullet5d"/>
                    <dgm:constr type="w" for="ch" forName="textBox5d" refType="w" fact="0.2"/>
                    <dgm:constr type="h" for="ch" forName="textBox5d" refType="h" fact="0.67"/>
                    <dgm:constr type="userD" refType="h" refFor="ch" refForName="bullet5d" fact="0.53"/>
                    <dgm:constr type="l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l" for="ch" forName="textBox5e" refType="ctrX" refFor="ch" refForName="bullet5e"/>
                    <dgm:constr type="t" for="ch" forName="textBox5e" refType="ctrY" refFor="ch" refForName="bullet5e"/>
                    <dgm:constr type="w" for="ch" forName="textBox5e" refType="w" fact="0.2"/>
                    <dgm:constr type="h" for="ch" forName="textBox5e" refType="h" fact="0.736"/>
                    <dgm:constr type="userE" refType="h" refFor="ch" refForName="bullet5e" fact="0.53"/>
                    <dgm:constr type="lMarg" for="ch" forName="textBox5e" refType="userE" fact="2.834"/>
                    <dgm:constr type="primFontSz" for="ch" ptType="node" op="equ" val="65"/>
                  </dgm:constrLst>
                </dgm:if>
                <dgm:else name="Name138">
                  <dgm:constrLst>
                    <dgm:constr type="ctrX" for="ch" forName="bullet5a" refType="w" fact="0.11"/>
                    <dgm:constr type="ctrY" for="ch" forName="bullet5a" refType="h" fact="0.762"/>
                    <dgm:constr type="w" for="ch" forName="bullet5a" refType="w" fact="0.023"/>
                    <dgm:constr type="h" for="ch" forName="bullet5a" refType="w" refFor="ch" refForName="bullet5a"/>
                    <dgm:constr type="r" for="ch" forName="textBox5a" refType="ctrX" refFor="ch" refForName="bullet5a"/>
                    <dgm:constr type="b" for="ch" forName="textBox5a" refType="ctrY" refFor="ch" refForName="bullet5a"/>
                    <dgm:constr type="w" for="ch" forName="textBox5a" refType="w" fact="0.11"/>
                    <dgm:constr type="h" for="ch" forName="textBox5a" refType="h" fact="0.762"/>
                    <dgm:constr type="userA" refType="h" refFor="ch" refForName="bullet5a" fact="0.53"/>
                    <dgm:constr type="rMarg" for="ch" forName="textBox5a" refType="userA" fact="2.834"/>
                    <dgm:constr type="ctrX" for="ch" forName="bullet5b" refType="w" fact="0.241"/>
                    <dgm:constr type="ctrY" for="ch" forName="bullet5b" refType="h" fact="0.581"/>
                    <dgm:constr type="w" for="ch" forName="bullet5b" refType="w" fact="0.036"/>
                    <dgm:constr type="h" for="ch" forName="bullet5b" refType="w" refFor="ch" refForName="bullet5b"/>
                    <dgm:constr type="r" for="ch" forName="textBox5b" refType="ctrX" refFor="ch" refForName="bullet5b"/>
                    <dgm:constr type="b" for="ch" forName="textBox5b" refType="ctrY" refFor="ch" refForName="bullet5b"/>
                    <dgm:constr type="w" for="ch" forName="textBox5b" refType="w" fact="0.131"/>
                    <dgm:constr type="h" for="ch" forName="textBox5b" refType="h" fact="0.581"/>
                    <dgm:constr type="userB" refType="h" refFor="ch" refForName="bullet5b" fact="0.53"/>
                    <dgm:constr type="rMarg" for="ch" forName="textBox5b" refType="userB" fact="2.834"/>
                    <dgm:constr type="ctrX" for="ch" forName="bullet5c" refType="w" fact="0.407"/>
                    <dgm:constr type="ctrY" for="ch" forName="bullet5c" refType="h" fact="0.438"/>
                    <dgm:constr type="w" for="ch" forName="bullet5c" refType="w" fact="0.048"/>
                    <dgm:constr type="h" for="ch" forName="bullet5c" refType="w" refFor="ch" refForName="bullet5c"/>
                    <dgm:constr type="r" for="ch" forName="textBox5c" refType="ctrX" refFor="ch" refForName="bullet5c"/>
                    <dgm:constr type="b" for="ch" forName="textBox5c" refType="ctrY" refFor="ch" refForName="bullet5c"/>
                    <dgm:constr type="w" for="ch" forName="textBox5c" refType="w" fact="0.166"/>
                    <dgm:constr type="h" for="ch" forName="textBox5c" refType="h" fact="0.438"/>
                    <dgm:constr type="userC" refType="h" refFor="ch" refForName="bullet5c" fact="0.53"/>
                    <dgm:constr type="rMarg" for="ch" forName="textBox5c" refType="userC" fact="2.834"/>
                    <dgm:constr type="ctrX" for="ch" forName="bullet5d" refType="w" fact="0.6"/>
                    <dgm:constr type="ctrY" for="ch" forName="bullet5d" refType="h" fact="0.33"/>
                    <dgm:constr type="w" for="ch" forName="bullet5d" refType="w" fact="0.062"/>
                    <dgm:constr type="h" for="ch" forName="bullet5d" refType="w" refFor="ch" refForName="bullet5d"/>
                    <dgm:constr type="r" for="ch" forName="textBox5d" refType="ctrX" refFor="ch" refForName="bullet5d"/>
                    <dgm:constr type="b" for="ch" forName="textBox5d" refType="ctrY" refFor="ch" refForName="bullet5d"/>
                    <dgm:constr type="w" for="ch" forName="textBox5d" refType="w" fact="0.193"/>
                    <dgm:constr type="h" for="ch" forName="textBox5d" refType="h" fact="0.33"/>
                    <dgm:constr type="userD" refType="h" refFor="ch" refForName="bullet5d" fact="0.53"/>
                    <dgm:constr type="rMarg" for="ch" forName="textBox5d" refType="userD" fact="2.834"/>
                    <dgm:constr type="ctrX" for="ch" forName="bullet5e" refType="w" fact="0.8"/>
                    <dgm:constr type="ctrY" for="ch" forName="bullet5e" refType="h" fact="0.264"/>
                    <dgm:constr type="w" for="ch" forName="bullet5e" refType="w" fact="0.079"/>
                    <dgm:constr type="h" for="ch" forName="bullet5e" refType="w" refFor="ch" refForName="bullet5e"/>
                    <dgm:constr type="r" for="ch" forName="textBox5e" refType="ctrX" refFor="ch" refForName="bullet5e"/>
                    <dgm:constr type="b" for="ch" forName="textBox5e" refType="ctrY" refFor="ch" refForName="bullet5e"/>
                    <dgm:constr type="w" for="ch" forName="textBox5e" refType="w" fact="0.2"/>
                    <dgm:constr type="h" for="ch" forName="textBox5e" refType="h" fact="0.264"/>
                    <dgm:constr type="userE" refType="h" refFor="ch" refForName="bullet5e" fact="0.53"/>
                    <dgm:constr type="rMarg" for="ch" forName="textBox5e" refType="userE" fact="2.834"/>
                    <dgm:constr type="primFontSz" for="ch" ptType="node" op="equ" val="65"/>
                  </dgm:constrLst>
                </dgm:else>
              </dgm:choose>
              <dgm:ruleLst/>
              <dgm:forEach name="Name139" axis="ch" ptType="node" cnt="1">
                <dgm:layoutNode name="bullet5a" styleLbl="node1">
                  <dgm:alg type="sp"/>
                  <dgm:shape xmlns:r="http://schemas.openxmlformats.org/officeDocument/2006/relationships" type="ellipse" r:blip="">
                    <dgm:adjLst/>
                  </dgm:shape>
                  <dgm:presOf/>
                  <dgm:constrLst/>
                  <dgm:ruleLst/>
                </dgm:layoutNode>
                <dgm:layoutNode name="textBox5a" styleLbl="revTx">
                  <dgm:varLst>
                    <dgm:bulletEnabled val="1"/>
                  </dgm:varLst>
                  <dgm:choose name="Name140">
                    <dgm:if name="Name141" func="var" arg="dir" op="equ" val="norm">
                      <dgm:choose name="Name142">
                        <dgm:if name="Name143" axis="root des" ptType="all node" func="maxDepth" op="gt" val="1">
                          <dgm:alg type="tx">
                            <dgm:param type="txAnchorVert" val="t"/>
                            <dgm:param type="parTxLTRAlign" val="l"/>
                            <dgm:param type="parTxRTLAlign" val="r"/>
                          </dgm:alg>
                        </dgm:if>
                        <dgm:else name="Name144">
                          <dgm:alg type="tx">
                            <dgm:param type="txAnchorVert" val="t"/>
                            <dgm:param type="parTxLTRAlign" val="l"/>
                            <dgm:param type="parTxRTLAlign" val="l"/>
                          </dgm:alg>
                        </dgm:else>
                      </dgm:choose>
                    </dgm:if>
                    <dgm:else name="Name145">
                      <dgm:choose name="Name146">
                        <dgm:if name="Name147" axis="root des" ptType="all node" func="maxDepth" op="gt" val="1">
                          <dgm:alg type="tx">
                            <dgm:param type="txAnchorVert" val="b"/>
                            <dgm:param type="txAnchorVertCh" val="b"/>
                            <dgm:param type="parTxLTRAlign" val="l"/>
                            <dgm:param type="parTxRTLAlign" val="r"/>
                          </dgm:alg>
                        </dgm:if>
                        <dgm:else name="Name148">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49">
                    <dgm:if name="Name150" func="var" arg="dir" op="equ" val="norm">
                      <dgm:constrLst>
                        <dgm:constr type="rMarg"/>
                        <dgm:constr type="tMarg"/>
                        <dgm:constr type="bMarg"/>
                      </dgm:constrLst>
                    </dgm:if>
                    <dgm:else name="Name151">
                      <dgm:constrLst>
                        <dgm:constr type="lMarg"/>
                        <dgm:constr type="tMarg"/>
                        <dgm:constr type="bMarg"/>
                      </dgm:constrLst>
                    </dgm:else>
                  </dgm:choose>
                  <dgm:ruleLst>
                    <dgm:rule type="primFontSz" val="5" fact="NaN" max="NaN"/>
                  </dgm:ruleLst>
                </dgm:layoutNode>
              </dgm:forEach>
              <dgm:forEach name="Name152" axis="ch" ptType="node" st="2" cnt="1">
                <dgm:layoutNode name="bullet5b" styleLbl="node1">
                  <dgm:alg type="sp"/>
                  <dgm:shape xmlns:r="http://schemas.openxmlformats.org/officeDocument/2006/relationships" type="ellipse" r:blip="">
                    <dgm:adjLst/>
                  </dgm:shape>
                  <dgm:presOf/>
                  <dgm:constrLst/>
                  <dgm:ruleLst/>
                </dgm:layoutNode>
                <dgm:layoutNode name="textBox5b" styleLbl="revTx">
                  <dgm:varLst>
                    <dgm:bulletEnabled val="1"/>
                  </dgm:varLst>
                  <dgm:choose name="Name153">
                    <dgm:if name="Name154" func="var" arg="dir" op="equ" val="norm">
                      <dgm:choose name="Name155">
                        <dgm:if name="Name156" axis="root des" ptType="all node" func="maxDepth" op="gt" val="1">
                          <dgm:alg type="tx">
                            <dgm:param type="txAnchorVert" val="t"/>
                            <dgm:param type="parTxLTRAlign" val="l"/>
                            <dgm:param type="parTxRTLAlign" val="r"/>
                          </dgm:alg>
                        </dgm:if>
                        <dgm:else name="Name157">
                          <dgm:alg type="tx">
                            <dgm:param type="txAnchorVert" val="t"/>
                            <dgm:param type="parTxLTRAlign" val="l"/>
                            <dgm:param type="parTxRTLAlign" val="l"/>
                          </dgm:alg>
                        </dgm:else>
                      </dgm:choose>
                    </dgm:if>
                    <dgm:else name="Name158">
                      <dgm:choose name="Name159">
                        <dgm:if name="Name160" axis="root des" ptType="all node" func="maxDepth" op="gt" val="1">
                          <dgm:alg type="tx">
                            <dgm:param type="txAnchorVert" val="b"/>
                            <dgm:param type="txAnchorVertCh" val="b"/>
                            <dgm:param type="parTxLTRAlign" val="l"/>
                            <dgm:param type="parTxRTLAlign" val="r"/>
                          </dgm:alg>
                        </dgm:if>
                        <dgm:else name="Name161">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62">
                    <dgm:if name="Name163" func="var" arg="dir" op="equ" val="norm">
                      <dgm:constrLst>
                        <dgm:constr type="rMarg"/>
                        <dgm:constr type="tMarg"/>
                        <dgm:constr type="bMarg"/>
                      </dgm:constrLst>
                    </dgm:if>
                    <dgm:else name="Name164">
                      <dgm:constrLst>
                        <dgm:constr type="lMarg"/>
                        <dgm:constr type="tMarg"/>
                        <dgm:constr type="bMarg"/>
                      </dgm:constrLst>
                    </dgm:else>
                  </dgm:choose>
                  <dgm:ruleLst>
                    <dgm:rule type="primFontSz" val="5" fact="NaN" max="NaN"/>
                  </dgm:ruleLst>
                </dgm:layoutNode>
              </dgm:forEach>
              <dgm:forEach name="Name165" axis="ch" ptType="node" st="3" cnt="1">
                <dgm:layoutNode name="bullet5c" styleLbl="node1">
                  <dgm:alg type="sp"/>
                  <dgm:shape xmlns:r="http://schemas.openxmlformats.org/officeDocument/2006/relationships" type="ellipse" r:blip="">
                    <dgm:adjLst/>
                  </dgm:shape>
                  <dgm:presOf/>
                  <dgm:constrLst/>
                  <dgm:ruleLst/>
                </dgm:layoutNode>
                <dgm:layoutNode name="textBox5c" styleLbl="revTx">
                  <dgm:varLst>
                    <dgm:bulletEnabled val="1"/>
                  </dgm:varLst>
                  <dgm:choose name="Name166">
                    <dgm:if name="Name167" func="var" arg="dir" op="equ" val="norm">
                      <dgm:choose name="Name168">
                        <dgm:if name="Name169" axis="root des" ptType="all node" func="maxDepth" op="gt" val="1">
                          <dgm:alg type="tx">
                            <dgm:param type="txAnchorVert" val="t"/>
                            <dgm:param type="parTxLTRAlign" val="l"/>
                            <dgm:param type="parTxRTLAlign" val="r"/>
                          </dgm:alg>
                        </dgm:if>
                        <dgm:else name="Name170">
                          <dgm:alg type="tx">
                            <dgm:param type="txAnchorVert" val="t"/>
                            <dgm:param type="parTxLTRAlign" val="l"/>
                            <dgm:param type="parTxRTLAlign" val="l"/>
                          </dgm:alg>
                        </dgm:else>
                      </dgm:choose>
                    </dgm:if>
                    <dgm:else name="Name171">
                      <dgm:choose name="Name172">
                        <dgm:if name="Name173" axis="root des" ptType="all node" func="maxDepth" op="gt" val="1">
                          <dgm:alg type="tx">
                            <dgm:param type="txAnchorVert" val="b"/>
                            <dgm:param type="txAnchorVertCh" val="b"/>
                            <dgm:param type="parTxLTRAlign" val="l"/>
                            <dgm:param type="parTxRTLAlign" val="r"/>
                          </dgm:alg>
                        </dgm:if>
                        <dgm:else name="Name174">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75">
                    <dgm:if name="Name176" func="var" arg="dir" op="equ" val="norm">
                      <dgm:constrLst>
                        <dgm:constr type="rMarg"/>
                        <dgm:constr type="tMarg"/>
                        <dgm:constr type="bMarg"/>
                      </dgm:constrLst>
                    </dgm:if>
                    <dgm:else name="Name177">
                      <dgm:constrLst>
                        <dgm:constr type="lMarg"/>
                        <dgm:constr type="tMarg"/>
                        <dgm:constr type="bMarg"/>
                      </dgm:constrLst>
                    </dgm:else>
                  </dgm:choose>
                  <dgm:ruleLst>
                    <dgm:rule type="primFontSz" val="5" fact="NaN" max="NaN"/>
                  </dgm:ruleLst>
                </dgm:layoutNode>
              </dgm:forEach>
              <dgm:forEach name="Name178" axis="ch" ptType="node" st="4" cnt="1">
                <dgm:layoutNode name="bullet5d" styleLbl="node1">
                  <dgm:alg type="sp"/>
                  <dgm:shape xmlns:r="http://schemas.openxmlformats.org/officeDocument/2006/relationships" type="ellipse" r:blip="">
                    <dgm:adjLst/>
                  </dgm:shape>
                  <dgm:presOf/>
                  <dgm:constrLst/>
                  <dgm:ruleLst/>
                </dgm:layoutNode>
                <dgm:layoutNode name="textBox5d" styleLbl="revTx">
                  <dgm:varLst>
                    <dgm:bulletEnabled val="1"/>
                  </dgm:varLst>
                  <dgm:choose name="Name179">
                    <dgm:if name="Name180" func="var" arg="dir" op="equ" val="norm">
                      <dgm:choose name="Name181">
                        <dgm:if name="Name182" axis="root des" ptType="all node" func="maxDepth" op="gt" val="1">
                          <dgm:alg type="tx">
                            <dgm:param type="txAnchorVert" val="t"/>
                            <dgm:param type="parTxLTRAlign" val="l"/>
                            <dgm:param type="parTxRTLAlign" val="r"/>
                          </dgm:alg>
                        </dgm:if>
                        <dgm:else name="Name183">
                          <dgm:alg type="tx">
                            <dgm:param type="txAnchorVert" val="t"/>
                            <dgm:param type="parTxLTRAlign" val="l"/>
                            <dgm:param type="parTxRTLAlign" val="l"/>
                          </dgm:alg>
                        </dgm:else>
                      </dgm:choose>
                    </dgm:if>
                    <dgm:else name="Name184">
                      <dgm:choose name="Name185">
                        <dgm:if name="Name186" axis="root des" ptType="all node" func="maxDepth" op="gt" val="1">
                          <dgm:alg type="tx">
                            <dgm:param type="txAnchorVert" val="b"/>
                            <dgm:param type="txAnchorVertCh" val="b"/>
                            <dgm:param type="parTxLTRAlign" val="l"/>
                            <dgm:param type="parTxRTLAlign" val="r"/>
                          </dgm:alg>
                        </dgm:if>
                        <dgm:else name="Name187">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188">
                    <dgm:if name="Name189" func="var" arg="dir" op="equ" val="norm">
                      <dgm:constrLst>
                        <dgm:constr type="rMarg"/>
                        <dgm:constr type="tMarg"/>
                        <dgm:constr type="bMarg"/>
                      </dgm:constrLst>
                    </dgm:if>
                    <dgm:else name="Name190">
                      <dgm:constrLst>
                        <dgm:constr type="lMarg"/>
                        <dgm:constr type="tMarg"/>
                        <dgm:constr type="bMarg"/>
                      </dgm:constrLst>
                    </dgm:else>
                  </dgm:choose>
                  <dgm:ruleLst>
                    <dgm:rule type="primFontSz" val="5" fact="NaN" max="NaN"/>
                  </dgm:ruleLst>
                </dgm:layoutNode>
              </dgm:forEach>
              <dgm:forEach name="Name191" axis="ch" ptType="node" st="5" cnt="1">
                <dgm:layoutNode name="bullet5e" styleLbl="node1">
                  <dgm:alg type="sp"/>
                  <dgm:shape xmlns:r="http://schemas.openxmlformats.org/officeDocument/2006/relationships" type="ellipse" r:blip="">
                    <dgm:adjLst/>
                  </dgm:shape>
                  <dgm:presOf/>
                  <dgm:constrLst/>
                  <dgm:ruleLst/>
                </dgm:layoutNode>
                <dgm:layoutNode name="textBox5e" styleLbl="revTx">
                  <dgm:varLst>
                    <dgm:bulletEnabled val="1"/>
                  </dgm:varLst>
                  <dgm:choose name="Name192">
                    <dgm:if name="Name193" func="var" arg="dir" op="equ" val="norm">
                      <dgm:choose name="Name194">
                        <dgm:if name="Name195" axis="root des" ptType="all node" func="maxDepth" op="gt" val="1">
                          <dgm:alg type="tx">
                            <dgm:param type="txAnchorVert" val="t"/>
                            <dgm:param type="parTxLTRAlign" val="l"/>
                            <dgm:param type="parTxRTLAlign" val="r"/>
                          </dgm:alg>
                        </dgm:if>
                        <dgm:else name="Name196">
                          <dgm:alg type="tx">
                            <dgm:param type="txAnchorVert" val="t"/>
                            <dgm:param type="parTxLTRAlign" val="l"/>
                            <dgm:param type="parTxRTLAlign" val="l"/>
                          </dgm:alg>
                        </dgm:else>
                      </dgm:choose>
                    </dgm:if>
                    <dgm:else name="Name197">
                      <dgm:choose name="Name198">
                        <dgm:if name="Name199" axis="root des" ptType="all node" func="maxDepth" op="gt" val="1">
                          <dgm:alg type="tx">
                            <dgm:param type="txAnchorVert" val="b"/>
                            <dgm:param type="txAnchorVertCh" val="b"/>
                            <dgm:param type="parTxLTRAlign" val="l"/>
                            <dgm:param type="parTxRTLAlign" val="r"/>
                          </dgm:alg>
                        </dgm:if>
                        <dgm:else name="Name200">
                          <dgm:alg type="tx">
                            <dgm:param type="txAnchorVert" val="b"/>
                            <dgm:param type="parTxLTRAlign" val="r"/>
                            <dgm:param type="parTxRTLAlign" val="r"/>
                          </dgm:alg>
                        </dgm:else>
                      </dgm:choose>
                    </dgm:else>
                  </dgm:choose>
                  <dgm:shape xmlns:r="http://schemas.openxmlformats.org/officeDocument/2006/relationships" type="rect" r:blip="">
                    <dgm:adjLst/>
                  </dgm:shape>
                  <dgm:presOf axis="desOrSelf" ptType="node"/>
                  <dgm:choose name="Name201">
                    <dgm:if name="Name202" func="var" arg="dir" op="equ" val="norm">
                      <dgm:constrLst>
                        <dgm:constr type="rMarg"/>
                        <dgm:constr type="tMarg"/>
                        <dgm:constr type="bMarg"/>
                      </dgm:constrLst>
                    </dgm:if>
                    <dgm:else name="Name203">
                      <dgm:constrLst>
                        <dgm:constr type="lMarg"/>
                        <dgm:constr type="tMarg"/>
                        <dgm:constr type="bMarg"/>
                      </dgm:constrLst>
                    </dgm:else>
                  </dgm:choose>
                  <dgm:ruleLst>
                    <dgm:rule type="primFontSz" val="5" fact="NaN" max="NaN"/>
                  </dgm:ruleLst>
                </dgm:layoutNode>
              </dgm:forEach>
            </dgm:layoutNode>
          </dgm:else>
        </dgm:choose>
      </dgm:if>
      <dgm:else name="Name204"/>
    </dgm:choose>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drawing1.xml><?xml version="1.0" encoding="utf-8"?>
<c:userShapes xmlns:c="http://schemas.openxmlformats.org/drawingml/2006/chart">
  <cdr:relSizeAnchor xmlns:cdr="http://schemas.openxmlformats.org/drawingml/2006/chartDrawing">
    <cdr:from>
      <cdr:x>0.28507</cdr:x>
      <cdr:y>0.74167</cdr:y>
    </cdr:from>
    <cdr:to>
      <cdr:x>0.42505</cdr:x>
      <cdr:y>0.80122</cdr:y>
    </cdr:to>
    <cdr:sp macro="" textlink="">
      <cdr:nvSpPr>
        <cdr:cNvPr id="2" name="TextBox 1">
          <a:extLst xmlns:a="http://schemas.openxmlformats.org/drawingml/2006/main">
            <a:ext uri="{FF2B5EF4-FFF2-40B4-BE49-F238E27FC236}">
              <a16:creationId xmlns:a16="http://schemas.microsoft.com/office/drawing/2014/main" id="{02D94694-A004-FB1B-6110-FF45D1CDE219}"/>
            </a:ext>
          </a:extLst>
        </cdr:cNvPr>
        <cdr:cNvSpPr txBox="1"/>
      </cdr:nvSpPr>
      <cdr:spPr>
        <a:xfrm xmlns:a="http://schemas.openxmlformats.org/drawingml/2006/main">
          <a:off x="2906883" y="3874416"/>
          <a:ext cx="1427375" cy="31108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18% success rate</a:t>
          </a:r>
        </a:p>
      </cdr:txBody>
    </cdr:sp>
  </cdr:relSizeAnchor>
  <cdr:relSizeAnchor xmlns:cdr="http://schemas.openxmlformats.org/drawingml/2006/chartDrawing">
    <cdr:from>
      <cdr:x>0.75365</cdr:x>
      <cdr:y>0.79486</cdr:y>
    </cdr:from>
    <cdr:to>
      <cdr:x>0.89363</cdr:x>
      <cdr:y>0.85441</cdr:y>
    </cdr:to>
    <cdr:sp macro="" textlink="">
      <cdr:nvSpPr>
        <cdr:cNvPr id="4" name="TextBox 1">
          <a:extLst xmlns:a="http://schemas.openxmlformats.org/drawingml/2006/main">
            <a:ext uri="{FF2B5EF4-FFF2-40B4-BE49-F238E27FC236}">
              <a16:creationId xmlns:a16="http://schemas.microsoft.com/office/drawing/2014/main" id="{1BD5D0E5-D85C-DD63-CDC1-FAF4E378BA79}"/>
            </a:ext>
          </a:extLst>
        </cdr:cNvPr>
        <cdr:cNvSpPr txBox="1"/>
      </cdr:nvSpPr>
      <cdr:spPr>
        <a:xfrm xmlns:a="http://schemas.openxmlformats.org/drawingml/2006/main">
          <a:off x="7684937" y="4152297"/>
          <a:ext cx="1427375" cy="311085"/>
        </a:xfrm>
        <a:prstGeom xmlns:a="http://schemas.openxmlformats.org/drawingml/2006/main" prst="rect">
          <a:avLst/>
        </a:prstGeom>
      </cdr:spPr>
      <cdr:txBody>
        <a:bodyPr xmlns:a="http://schemas.openxmlformats.org/drawingml/2006/main" wrap="squar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kern="1200" dirty="0"/>
            <a:t>31 </a:t>
          </a:r>
          <a:r>
            <a:rPr lang="en-US" sz="1100" kern="1200" dirty="0"/>
            <a:t>% success rate</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1731"/>
          </a:xfrm>
          <a:prstGeom prst="rect">
            <a:avLst/>
          </a:prstGeom>
        </p:spPr>
        <p:txBody>
          <a:bodyPr vert="horz" lIns="99048" tIns="49524" rIns="99048" bIns="49524" rtlCol="0"/>
          <a:lstStyle>
            <a:lvl1pPr algn="l">
              <a:defRPr sz="13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4021294" y="0"/>
            <a:ext cx="3076363" cy="511731"/>
          </a:xfrm>
          <a:prstGeom prst="rect">
            <a:avLst/>
          </a:prstGeom>
        </p:spPr>
        <p:txBody>
          <a:bodyPr vert="horz" lIns="99048" tIns="49524" rIns="99048" bIns="49524" rtlCol="0"/>
          <a:lstStyle>
            <a:lvl1pPr algn="r">
              <a:defRPr sz="1300">
                <a:latin typeface="Arial" panose="020B0604020202020204" pitchFamily="34" charset="0"/>
              </a:defRPr>
            </a:lvl1pPr>
          </a:lstStyle>
          <a:p>
            <a:fld id="{50734ABB-FDD8-470C-94A0-E35EFCF8BF46}" type="datetimeFigureOut">
              <a:rPr lang="en-US" smtClean="0"/>
              <a:pPr/>
              <a:t>3/17/2026</a:t>
            </a:fld>
            <a:endParaRPr lang="en-US" dirty="0"/>
          </a:p>
        </p:txBody>
      </p:sp>
      <p:sp>
        <p:nvSpPr>
          <p:cNvPr id="4" name="Slide Image Placeholder 3"/>
          <p:cNvSpPr>
            <a:spLocks noGrp="1" noRot="1" noChangeAspect="1"/>
          </p:cNvSpPr>
          <p:nvPr>
            <p:ph type="sldImg" idx="2"/>
          </p:nvPr>
        </p:nvSpPr>
        <p:spPr>
          <a:xfrm>
            <a:off x="139700" y="768350"/>
            <a:ext cx="6819900" cy="3836988"/>
          </a:xfrm>
          <a:prstGeom prst="rect">
            <a:avLst/>
          </a:prstGeom>
          <a:noFill/>
          <a:ln w="12700">
            <a:solidFill>
              <a:prstClr val="black"/>
            </a:solidFill>
          </a:ln>
        </p:spPr>
        <p:txBody>
          <a:bodyPr vert="horz" lIns="99048" tIns="49524" rIns="99048" bIns="49524" rtlCol="0" anchor="ctr"/>
          <a:lstStyle/>
          <a:p>
            <a:endParaRPr lang="en-US" dirty="0"/>
          </a:p>
        </p:txBody>
      </p:sp>
      <p:sp>
        <p:nvSpPr>
          <p:cNvPr id="5" name="Notes Placeholder 4"/>
          <p:cNvSpPr>
            <a:spLocks noGrp="1"/>
          </p:cNvSpPr>
          <p:nvPr>
            <p:ph type="body" sz="quarter" idx="3"/>
          </p:nvPr>
        </p:nvSpPr>
        <p:spPr>
          <a:xfrm>
            <a:off x="709930" y="4861441"/>
            <a:ext cx="5679440" cy="4605576"/>
          </a:xfrm>
          <a:prstGeom prst="rect">
            <a:avLst/>
          </a:prstGeom>
        </p:spPr>
        <p:txBody>
          <a:bodyPr vert="horz" lIns="99048" tIns="49524" rIns="99048" bIns="49524"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9721106"/>
            <a:ext cx="3076363" cy="511731"/>
          </a:xfrm>
          <a:prstGeom prst="rect">
            <a:avLst/>
          </a:prstGeom>
        </p:spPr>
        <p:txBody>
          <a:bodyPr vert="horz" lIns="99048" tIns="49524" rIns="99048" bIns="49524" rtlCol="0" anchor="b"/>
          <a:lstStyle>
            <a:lvl1pPr algn="l">
              <a:defRPr sz="13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4021294" y="9721106"/>
            <a:ext cx="3076363" cy="511731"/>
          </a:xfrm>
          <a:prstGeom prst="rect">
            <a:avLst/>
          </a:prstGeom>
        </p:spPr>
        <p:txBody>
          <a:bodyPr vert="horz" lIns="99048" tIns="49524" rIns="99048" bIns="49524" rtlCol="0" anchor="b"/>
          <a:lstStyle>
            <a:lvl1pPr algn="r">
              <a:defRPr sz="1300">
                <a:latin typeface="Arial" panose="020B0604020202020204" pitchFamily="34" charset="0"/>
              </a:defRPr>
            </a:lvl1pPr>
          </a:lstStyle>
          <a:p>
            <a:fld id="{46E0020C-34B3-4644-B138-3A9503ECB28E}" type="slidenum">
              <a:rPr lang="en-US" smtClean="0"/>
              <a:pPr/>
              <a:t>‹#›</a:t>
            </a:fld>
            <a:endParaRPr lang="en-US" dirty="0"/>
          </a:p>
        </p:txBody>
      </p:sp>
    </p:spTree>
    <p:extLst>
      <p:ext uri="{BB962C8B-B14F-4D97-AF65-F5344CB8AC3E}">
        <p14:creationId xmlns:p14="http://schemas.microsoft.com/office/powerpoint/2010/main" val="3083881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cs typeface="Calibri" panose="020F0502020204030204"/>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4C0DB82-DFC6-414B-85AD-EA7020C8DE2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81283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rgbClr val="444444"/>
              </a:solidFill>
              <a:ea typeface="Calibri"/>
              <a:cs typeface="Calibri"/>
            </a:endParaRPr>
          </a:p>
          <a:p>
            <a:endParaRPr lang="en-US" dirty="0">
              <a:solidFill>
                <a:srgbClr val="000000"/>
              </a:solidFill>
              <a:ea typeface="Calibri"/>
              <a:cs typeface="Calibri"/>
            </a:endParaRPr>
          </a:p>
        </p:txBody>
      </p:sp>
      <p:sp>
        <p:nvSpPr>
          <p:cNvPr id="4" name="Slide Number Placeholder 3"/>
          <p:cNvSpPr>
            <a:spLocks noGrp="1"/>
          </p:cNvSpPr>
          <p:nvPr>
            <p:ph type="sldNum" sz="quarter" idx="5"/>
          </p:nvPr>
        </p:nvSpPr>
        <p:spPr/>
        <p:txBody>
          <a:bodyPr/>
          <a:lstStyle/>
          <a:p>
            <a:fld id="{5C70A048-D5A7-4853-B893-565A3B09CA61}" type="slidenum">
              <a:rPr lang="en-US" smtClean="0"/>
              <a:t>6</a:t>
            </a:fld>
            <a:endParaRPr lang="en-US" dirty="0"/>
          </a:p>
        </p:txBody>
      </p:sp>
    </p:spTree>
    <p:extLst>
      <p:ext uri="{BB962C8B-B14F-4D97-AF65-F5344CB8AC3E}">
        <p14:creationId xmlns:p14="http://schemas.microsoft.com/office/powerpoint/2010/main" val="41063850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Phase 1: </a:t>
            </a:r>
            <a:r>
              <a:rPr lang="en-US" sz="1200" dirty="0">
                <a:latin typeface="Arial" panose="020B0604020202020204" pitchFamily="34" charset="0"/>
                <a:cs typeface="Arial" panose="020B0604020202020204" pitchFamily="34" charset="0"/>
              </a:rPr>
              <a:t>Identify research gaps and unanswered questions (e.g., SPM review, evidence inventories or reviews, VA program office strategic plans)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latin typeface="Arial" panose="020B0604020202020204" pitchFamily="34" charset="0"/>
                <a:cs typeface="Arial" panose="020B0604020202020204" pitchFamily="34" charset="0"/>
              </a:rPr>
              <a:t>Phase II: Refine Priorities using concurrent processes: national surveys/live voting &amp; focus groups with Consumer, Provider, Leader, Investigator groups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latin typeface="Arial" panose="020B0604020202020204" pitchFamily="34" charset="0"/>
                <a:cs typeface="Arial" panose="020B0604020202020204" pitchFamily="34" charset="0"/>
              </a:rPr>
              <a:t>Phase III: Delphi consensus panel with interested party representatives rank priorities on urgency, impact, feasibility, identify impact metrics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endParaRPr lang="en-US" sz="1200" dirty="0">
              <a:latin typeface="Arial" panose="020B0604020202020204" pitchFamily="34" charset="0"/>
              <a:cs typeface="Arial" panose="020B0604020202020204" pitchFamily="34" charset="0"/>
            </a:endParaRPr>
          </a:p>
          <a:p>
            <a:r>
              <a:rPr lang="en-US" sz="1200" dirty="0"/>
              <a:t>General principles:</a:t>
            </a:r>
          </a:p>
          <a:p>
            <a:pPr marL="514350" indent="-514350">
              <a:buAutoNum type="arabicPeriod"/>
            </a:pPr>
            <a:r>
              <a:rPr lang="en-US" sz="1200" dirty="0"/>
              <a:t>Priorities should reflect the research translation spectrum (e.g., T1-T4)</a:t>
            </a:r>
          </a:p>
          <a:p>
            <a:pPr marL="514350" indent="-514350">
              <a:buFontTx/>
              <a:buAutoNum type="arabicPeriod"/>
            </a:pPr>
            <a:r>
              <a:rPr lang="en-US" sz="1200" dirty="0"/>
              <a:t>In-depth feedback from focus groups to identify topics not previously listed</a:t>
            </a:r>
          </a:p>
          <a:p>
            <a:pPr marL="514350" indent="-514350">
              <a:buAutoNum type="arabicPeriod"/>
            </a:pPr>
            <a:r>
              <a:rPr lang="en-US" sz="1200" dirty="0"/>
              <a:t>Broad representation across interested parties via surveys, voting on top priorities</a:t>
            </a:r>
          </a:p>
          <a:p>
            <a:pPr marL="514350" indent="-514350">
              <a:buAutoNum type="arabicPeriod"/>
            </a:pPr>
            <a:r>
              <a:rPr lang="en-US" sz="1200" dirty="0"/>
              <a:t>Perspectives from the front line</a:t>
            </a:r>
          </a:p>
          <a:p>
            <a:endParaRPr lang="en-US" dirty="0"/>
          </a:p>
        </p:txBody>
      </p:sp>
      <p:sp>
        <p:nvSpPr>
          <p:cNvPr id="4" name="Slide Number Placeholder 3"/>
          <p:cNvSpPr>
            <a:spLocks noGrp="1"/>
          </p:cNvSpPr>
          <p:nvPr>
            <p:ph type="sldNum" sz="quarter" idx="5"/>
          </p:nvPr>
        </p:nvSpPr>
        <p:spPr/>
        <p:txBody>
          <a:bodyPr/>
          <a:lstStyle/>
          <a:p>
            <a:fld id="{46E0020C-34B3-4644-B138-3A9503ECB28E}" type="slidenum">
              <a:rPr lang="en-US" smtClean="0"/>
              <a:pPr/>
              <a:t>11</a:t>
            </a:fld>
            <a:endParaRPr lang="en-US" dirty="0"/>
          </a:p>
        </p:txBody>
      </p:sp>
    </p:spTree>
    <p:extLst>
      <p:ext uri="{BB962C8B-B14F-4D97-AF65-F5344CB8AC3E}">
        <p14:creationId xmlns:p14="http://schemas.microsoft.com/office/powerpoint/2010/main" val="19881621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4B0A6-9079-F2CE-7838-EF3FB9A1A04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F2B5CA-2B87-8D33-5678-62214F7BE56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524FBE9-574E-7A93-0122-8FA484C38B4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DC5823A-FB07-83DA-0EA1-8994B691D3B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15F1473F-70B2-715C-C344-7F89388EBF3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p:txBody>
      </p:sp>
      <p:sp>
        <p:nvSpPr>
          <p:cNvPr id="6" name="Footer Placeholder 5">
            <a:extLst>
              <a:ext uri="{FF2B5EF4-FFF2-40B4-BE49-F238E27FC236}">
                <a16:creationId xmlns:a16="http://schemas.microsoft.com/office/drawing/2014/main" id="{2059B334-6700-692A-02B6-8FA5E3B6CB8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0D67C57-DFB0-59F7-110D-83F04B9283D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1637183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6B5CB-8CFB-2D4C-CBEC-07D9846F25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EBE2-9206-CA46-86D4-FCDC49959A68}"/>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88702472-3768-F379-8D04-6120FCDA7C8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371588-E335-69CC-3448-9DD4908CD20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845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583FED-FB15-49A5-80B3-3B24B31F2CC2}" type="slidenum">
              <a:rPr lang="en-US" smtClean="0"/>
              <a:pPr/>
              <a:t>22</a:t>
            </a:fld>
            <a:endParaRPr lang="en-US" dirty="0"/>
          </a:p>
        </p:txBody>
      </p:sp>
    </p:spTree>
    <p:extLst>
      <p:ext uri="{BB962C8B-B14F-4D97-AF65-F5344CB8AC3E}">
        <p14:creationId xmlns:p14="http://schemas.microsoft.com/office/powerpoint/2010/main" val="17135767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71B2431-D351-4C6E-A3CF-9DFAC0E3E050}" type="slidenum">
              <a:rPr kumimoji="0" lang="cs-CZ"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cs-CZ"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6229630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Joe Geraci, PhD working with </a:t>
            </a:r>
            <a:r>
              <a:rPr lang="en-US" sz="1200" b="0" i="0" u="none" strike="noStrike" dirty="0">
                <a:solidFill>
                  <a:srgbClr val="000000"/>
                </a:solidFill>
                <a:effectLst/>
                <a:latin typeface="Calibri" panose="020F0502020204030204" pitchFamily="34" charset="0"/>
              </a:rPr>
              <a:t>VBA Outreach, Transition and Economic Development; VHA National Center for Healthcare Advancement and Partnerships;  VHA Post-9/11 Military to VA Case Management; VHA Innovation Ecosystem; VA Office Information &amp; Technology; VHA Office of Mental Health &amp; Suicide Prevention; VHA Undersecretary for Health; VHA Office of Primary Care; DoD Uniformed Services University; Harvard Medical School; ETS Sponsorship (non-profit)</a:t>
            </a:r>
            <a:endPar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34741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918658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The Armory Project: Gala True working with Office of Suicide Prevention.</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9F978A5-C138-0F45-AE52-B0DD69BEA7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99852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7.xml"/><Relationship Id="rId4" Type="http://schemas.openxmlformats.org/officeDocument/2006/relationships/image" Target="../media/image4.emf"/></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4.emf"/></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1.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1471708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429588961"/>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86818160"/>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7169665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8666568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849217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05915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a:t> </a:t>
            </a:r>
          </a:p>
        </p:txBody>
      </p:sp>
      <p:sp>
        <p:nvSpPr>
          <p:cNvPr id="6" name="Slide Number Placeholder 5"/>
          <p:cNvSpPr>
            <a:spLocks noGrp="1"/>
          </p:cNvSpPr>
          <p:nvPr>
            <p:ph type="sldNum" sz="quarter" idx="12"/>
          </p:nvPr>
        </p:nvSpPr>
        <p:spPr>
          <a:xfrm>
            <a:off x="9293994"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3836691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2763838"/>
            <a:ext cx="10363200" cy="1330324"/>
          </a:xfrm>
        </p:spPr>
        <p:txBody>
          <a:bodyPr anchor="ctr">
            <a:normAutofit/>
          </a:bodyPr>
          <a:lstStyle>
            <a:lvl1pPr algn="ctr">
              <a:defRPr sz="4400">
                <a:solidFill>
                  <a:schemeClr val="tx1"/>
                </a:solidFill>
              </a:defRPr>
            </a:lvl1pPr>
          </a:lstStyle>
          <a:p>
            <a:r>
              <a:rPr lang="en-US"/>
              <a:t>CLICK TO EDIT MASTER TITLE STYLE</a:t>
            </a:r>
          </a:p>
        </p:txBody>
      </p:sp>
      <p:sp>
        <p:nvSpPr>
          <p:cNvPr id="3" name="Subtitle 2"/>
          <p:cNvSpPr>
            <a:spLocks noGrp="1"/>
          </p:cNvSpPr>
          <p:nvPr>
            <p:ph type="subTitle" idx="1"/>
          </p:nvPr>
        </p:nvSpPr>
        <p:spPr>
          <a:xfrm>
            <a:off x="1524000" y="4316415"/>
            <a:ext cx="9144000" cy="6905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ext Placeholder 11">
            <a:extLst>
              <a:ext uri="{FF2B5EF4-FFF2-40B4-BE49-F238E27FC236}">
                <a16:creationId xmlns:a16="http://schemas.microsoft.com/office/drawing/2014/main" id="{AE38B46A-E2D9-F648-8C4B-C6DF64595CDF}"/>
              </a:ext>
            </a:extLst>
          </p:cNvPr>
          <p:cNvSpPr>
            <a:spLocks noGrp="1"/>
          </p:cNvSpPr>
          <p:nvPr>
            <p:ph type="body" sz="quarter" idx="10" hasCustomPrompt="1"/>
          </p:nvPr>
        </p:nvSpPr>
        <p:spPr>
          <a:xfrm>
            <a:off x="1524000" y="5006977"/>
            <a:ext cx="9144000" cy="774700"/>
          </a:xfrm>
        </p:spPr>
        <p:txBody>
          <a:bodyPr>
            <a:normAutofit/>
          </a:bodyPr>
          <a:lstStyle>
            <a:lvl1pPr marL="0" indent="0" algn="ctr">
              <a:buNone/>
              <a:defRPr sz="2000">
                <a:latin typeface="+mj-lt"/>
              </a:defRPr>
            </a:lvl1pPr>
          </a:lstStyle>
          <a:p>
            <a:pPr lvl="0"/>
            <a:r>
              <a:rPr lang="en-US"/>
              <a:t>Briefer: Name and Title</a:t>
            </a:r>
          </a:p>
        </p:txBody>
      </p:sp>
      <p:sp>
        <p:nvSpPr>
          <p:cNvPr id="4" name="Slide Number Placeholder 3">
            <a:extLst>
              <a:ext uri="{FF2B5EF4-FFF2-40B4-BE49-F238E27FC236}">
                <a16:creationId xmlns:a16="http://schemas.microsoft.com/office/drawing/2014/main" id="{6405287A-C762-B04C-8C78-1932680E8B86}"/>
              </a:ext>
            </a:extLst>
          </p:cNvPr>
          <p:cNvSpPr>
            <a:spLocks noGrp="1"/>
          </p:cNvSpPr>
          <p:nvPr>
            <p:ph type="sldNum" sz="quarter" idx="11"/>
          </p:nvPr>
        </p:nvSpPr>
        <p:spPr/>
        <p:txBody>
          <a:bodyPr/>
          <a:lstStyle/>
          <a:p>
            <a:fld id="{670A9334-4E67-F94F-A05E-0CE8B74A054E}" type="slidenum">
              <a:rPr lang="en-US" smtClean="0"/>
              <a:pPr/>
              <a:t>‹#›</a:t>
            </a:fld>
            <a:endParaRPr lang="en-US"/>
          </a:p>
        </p:txBody>
      </p:sp>
      <p:pic>
        <p:nvPicPr>
          <p:cNvPr id="6" name="Picture 5">
            <a:extLst>
              <a:ext uri="{FF2B5EF4-FFF2-40B4-BE49-F238E27FC236}">
                <a16:creationId xmlns:a16="http://schemas.microsoft.com/office/drawing/2014/main" id="{3DCF8BCC-BFA1-F642-84C1-3DEA215A8FE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227320" y="1076323"/>
            <a:ext cx="1737360" cy="1633538"/>
          </a:xfrm>
          <a:prstGeom prst="rect">
            <a:avLst/>
          </a:prstGeom>
        </p:spPr>
      </p:pic>
    </p:spTree>
    <p:extLst>
      <p:ext uri="{BB962C8B-B14F-4D97-AF65-F5344CB8AC3E}">
        <p14:creationId xmlns:p14="http://schemas.microsoft.com/office/powerpoint/2010/main" val="2095023950"/>
      </p:ext>
    </p:extLst>
  </p:cSld>
  <p:clrMapOvr>
    <a:masterClrMapping/>
  </p:clrMapOvr>
  <p:extLst>
    <p:ext uri="{DCECCB84-F9BA-43D5-87BE-67443E8EF086}">
      <p15:sldGuideLst xmlns:p15="http://schemas.microsoft.com/office/powerpoint/2012/main">
        <p15:guide id="1" orient="horz" pos="398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Slide Number Placeholder 3"/>
          <p:cNvSpPr>
            <a:spLocks noGrp="1"/>
          </p:cNvSpPr>
          <p:nvPr>
            <p:ph type="sldNum" sz="quarter" idx="12"/>
          </p:nvPr>
        </p:nvSpPr>
        <p:spPr>
          <a:xfrm>
            <a:off x="936137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779626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9274743" y="6356350"/>
            <a:ext cx="2743200" cy="365125"/>
          </a:xfrm>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32686715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Blank_no_bottom_b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Rectangle 5">
            <a:extLst>
              <a:ext uri="{FF2B5EF4-FFF2-40B4-BE49-F238E27FC236}">
                <a16:creationId xmlns:a16="http://schemas.microsoft.com/office/drawing/2014/main" id="{EE0F0B21-0107-480B-A6FF-33E8F92913BC}"/>
              </a:ext>
            </a:extLst>
          </p:cNvPr>
          <p:cNvSpPr/>
          <p:nvPr userDrawn="1"/>
        </p:nvSpPr>
        <p:spPr>
          <a:xfrm>
            <a:off x="0" y="6131277"/>
            <a:ext cx="12191994" cy="745011"/>
          </a:xfrm>
          <a:prstGeom prst="rect">
            <a:avLst/>
          </a:prstGeom>
          <a:solidFill>
            <a:schemeClr val="bg1"/>
          </a:solidFill>
          <a:ln w="5501">
            <a:noFill/>
          </a:ln>
        </p:spPr>
        <p:style>
          <a:lnRef idx="2">
            <a:schemeClr val="accent1">
              <a:shade val="50000"/>
            </a:schemeClr>
          </a:lnRef>
          <a:fillRef idx="1">
            <a:schemeClr val="accent1"/>
          </a:fillRef>
          <a:effectRef idx="0">
            <a:schemeClr val="accent1"/>
          </a:effectRef>
          <a:fontRef idx="minor">
            <a:schemeClr val="lt1"/>
          </a:fontRef>
        </p:style>
        <p:txBody>
          <a:bodyPr lIns="79210" tIns="39605" rIns="79210" bIns="39605" rtlCol="0" anchor="t"/>
          <a:lstStyle/>
          <a:p>
            <a:pPr marL="91440" marR="0" lvl="0" indent="-91440" algn="l" defTabSz="914400" rtl="0" eaLnBrk="1" fontAlgn="auto" latinLnBrk="0" hangingPunct="1">
              <a:lnSpc>
                <a:spcPct val="100000"/>
              </a:lnSpc>
              <a:spcBef>
                <a:spcPts val="100"/>
              </a:spcBef>
              <a:spcAft>
                <a:spcPts val="100"/>
              </a:spcAft>
              <a:buClrTx/>
              <a:buSzTx/>
              <a:buFont typeface="Arial" panose="020B0604020202020204" pitchFamily="34" charset="0"/>
              <a:buChar char="•"/>
              <a:tabLst/>
              <a:defRPr/>
            </a:pPr>
            <a:endParaRPr lang="en-US" sz="1200" u="sng">
              <a:solidFill>
                <a:srgbClr val="C55A11"/>
              </a:solidFill>
              <a:latin typeface="Calibri" panose="020F0502020204030204"/>
            </a:endParaRPr>
          </a:p>
        </p:txBody>
      </p:sp>
    </p:spTree>
    <p:extLst>
      <p:ext uri="{BB962C8B-B14F-4D97-AF65-F5344CB8AC3E}">
        <p14:creationId xmlns:p14="http://schemas.microsoft.com/office/powerpoint/2010/main" val="18561581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rgbClr val="002F56"/>
        </a:solidFill>
        <a:effectLst/>
      </p:bgPr>
    </p:bg>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DE3D11B-5FAF-4A20-BC91-DC09E07A8D6B}"/>
              </a:ext>
            </a:extLst>
          </p:cNvPr>
          <p:cNvCxnSpPr>
            <a:cxnSpLocks/>
          </p:cNvCxnSpPr>
          <p:nvPr userDrawn="1"/>
        </p:nvCxnSpPr>
        <p:spPr>
          <a:xfrm>
            <a:off x="955497" y="3705225"/>
            <a:ext cx="1123650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8EFF66FB-DCA5-48F3-A735-3BE74D09ACD8}"/>
              </a:ext>
            </a:extLst>
          </p:cNvPr>
          <p:cNvSpPr>
            <a:spLocks noGrp="1"/>
          </p:cNvSpPr>
          <p:nvPr>
            <p:ph type="body" sz="quarter" idx="10"/>
          </p:nvPr>
        </p:nvSpPr>
        <p:spPr>
          <a:xfrm>
            <a:off x="955497" y="3705225"/>
            <a:ext cx="9144000" cy="1828800"/>
          </a:xfrm>
        </p:spPr>
        <p:txBody>
          <a:bodyPr/>
          <a:lstStyle>
            <a:lvl1pPr marL="0" indent="0">
              <a:buNone/>
              <a:defRPr sz="40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2125998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FF0C9-A759-41CD-91B1-9887B3481B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01BB956-B822-4E72-8D4C-5B8C855282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226337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320800" y="198438"/>
            <a:ext cx="10261600" cy="487362"/>
          </a:xfrm>
          <a:prstGeom prst="rect">
            <a:avLst/>
          </a:prstGeom>
        </p:spPr>
        <p:txBody>
          <a:bodyPr vert="horz"/>
          <a:lstStyle>
            <a:lvl1pPr algn="l">
              <a:defRPr sz="2200" cap="all" baseline="0">
                <a:solidFill>
                  <a:schemeClr val="bg1"/>
                </a:solidFill>
                <a:latin typeface="Georgia"/>
              </a:defRPr>
            </a:lvl1pPr>
          </a:lstStyle>
          <a:p>
            <a:r>
              <a:rPr lang="en-US"/>
              <a:t>Click to edit Master title style</a:t>
            </a:r>
          </a:p>
        </p:txBody>
      </p:sp>
      <p:sp>
        <p:nvSpPr>
          <p:cNvPr id="6" name="Content Placeholder 2"/>
          <p:cNvSpPr>
            <a:spLocks noGrp="1"/>
          </p:cNvSpPr>
          <p:nvPr>
            <p:ph idx="1"/>
          </p:nvPr>
        </p:nvSpPr>
        <p:spPr>
          <a:xfrm>
            <a:off x="609600" y="1600201"/>
            <a:ext cx="10972800" cy="4525963"/>
          </a:xfrm>
          <a:prstGeom prst="rect">
            <a:avLst/>
          </a:prstGeom>
        </p:spPr>
        <p:txBody>
          <a:bodyPr/>
          <a:lstStyle>
            <a:lvl1pPr>
              <a:defRPr>
                <a:solidFill>
                  <a:srgbClr val="174782"/>
                </a:solidFill>
                <a:latin typeface="Georgia"/>
              </a:defRPr>
            </a:lvl1pPr>
            <a:lvl2pPr>
              <a:defRPr>
                <a:latin typeface="Georgia"/>
              </a:defRPr>
            </a:lvl2pPr>
            <a:lvl3pPr>
              <a:defRPr>
                <a:latin typeface="Georgia"/>
              </a:defRPr>
            </a:lvl3pPr>
            <a:lvl4pPr>
              <a:defRPr>
                <a:latin typeface="Georgia"/>
              </a:defRPr>
            </a:lvl4pPr>
            <a:lvl5pPr>
              <a:defRPr>
                <a:latin typeface="Georgia"/>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8"/>
          <p:cNvSpPr>
            <a:spLocks noGrp="1"/>
          </p:cNvSpPr>
          <p:nvPr>
            <p:ph type="dt" sz="half" idx="10"/>
          </p:nvPr>
        </p:nvSpPr>
        <p:spPr/>
        <p:txBody>
          <a:bodyPr/>
          <a:lstStyle>
            <a:lvl1pPr>
              <a:defRPr/>
            </a:lvl1pPr>
          </a:lstStyle>
          <a:p>
            <a:pPr>
              <a:defRPr/>
            </a:pPr>
            <a:r>
              <a:rPr lang="en-US"/>
              <a:t>DATE</a:t>
            </a:r>
          </a:p>
        </p:txBody>
      </p:sp>
      <p:sp>
        <p:nvSpPr>
          <p:cNvPr id="5" name="Footer Placeholder 9"/>
          <p:cNvSpPr>
            <a:spLocks noGrp="1"/>
          </p:cNvSpPr>
          <p:nvPr>
            <p:ph type="ftr" sz="quarter" idx="11"/>
          </p:nvPr>
        </p:nvSpPr>
        <p:spPr/>
        <p:txBody>
          <a:bodyPr/>
          <a:lstStyle>
            <a:lvl1pPr>
              <a:defRPr/>
            </a:lvl1pPr>
          </a:lstStyle>
          <a:p>
            <a:pPr>
              <a:defRPr/>
            </a:pPr>
            <a:r>
              <a:rPr lang="en-US"/>
              <a:t>DOCUMENT TYPE/STATUS</a:t>
            </a:r>
          </a:p>
        </p:txBody>
      </p:sp>
      <p:sp>
        <p:nvSpPr>
          <p:cNvPr id="7" name="Slide Number Placeholder 10"/>
          <p:cNvSpPr>
            <a:spLocks noGrp="1"/>
          </p:cNvSpPr>
          <p:nvPr>
            <p:ph type="sldNum" sz="quarter" idx="12"/>
          </p:nvPr>
        </p:nvSpPr>
        <p:spPr/>
        <p:txBody>
          <a:bodyPr/>
          <a:lstStyle>
            <a:lvl1pPr>
              <a:defRPr/>
            </a:lvl1pPr>
          </a:lstStyle>
          <a:p>
            <a:pPr>
              <a:defRPr/>
            </a:pPr>
            <a:fld id="{149DAFAA-7812-4B15-926F-EFC797A2885C}" type="slidenum">
              <a:rPr lang="en-US" altLang="en-US"/>
              <a:pPr>
                <a:defRPr/>
              </a:pPr>
              <a:t>‹#›</a:t>
            </a:fld>
            <a:endParaRPr lang="en-US" altLang="en-US"/>
          </a:p>
        </p:txBody>
      </p:sp>
    </p:spTree>
    <p:extLst>
      <p:ext uri="{BB962C8B-B14F-4D97-AF65-F5344CB8AC3E}">
        <p14:creationId xmlns:p14="http://schemas.microsoft.com/office/powerpoint/2010/main" val="3707792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6DD2AB52-3520-4185-840D-69649027815F}"/>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8" name="Object 7" hidden="1">
                        <a:extLst>
                          <a:ext uri="{FF2B5EF4-FFF2-40B4-BE49-F238E27FC236}">
                            <a16:creationId xmlns:a16="http://schemas.microsoft.com/office/drawing/2014/main" id="{6DD2AB52-3520-4185-840D-6964902781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p:cNvSpPr>
            <a:spLocks noGrp="1"/>
          </p:cNvSpPr>
          <p:nvPr>
            <p:ph type="title"/>
          </p:nvPr>
        </p:nvSpPr>
        <p:spPr>
          <a:xfrm>
            <a:off x="285750" y="166264"/>
            <a:ext cx="10515600" cy="618385"/>
          </a:xfrm>
        </p:spPr>
        <p:txBody>
          <a:bodyPr vert="horz"/>
          <a:lstStyle>
            <a:lvl1pPr>
              <a:defRPr sz="2400"/>
            </a:lvl1pPr>
          </a:lstStyle>
          <a:p>
            <a:r>
              <a:rPr lang="en-US"/>
              <a:t>Click to edit Master title style</a:t>
            </a:r>
          </a:p>
        </p:txBody>
      </p:sp>
      <p:sp>
        <p:nvSpPr>
          <p:cNvPr id="3" name="Content Placeholder 2"/>
          <p:cNvSpPr>
            <a:spLocks noGrp="1"/>
          </p:cNvSpPr>
          <p:nvPr>
            <p:ph idx="1"/>
          </p:nvPr>
        </p:nvSpPr>
        <p:spPr>
          <a:xfrm>
            <a:off x="285750" y="1062518"/>
            <a:ext cx="10515600" cy="42871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35329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94"/>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dirty="0">
              <a:solidFill>
                <a:prstClr val="white"/>
              </a:solidFill>
            </a:endParaRPr>
          </a:p>
        </p:txBody>
      </p:sp>
    </p:spTree>
    <p:custDataLst>
      <p:tags r:id="rId1"/>
    </p:custDataLst>
    <p:extLst>
      <p:ext uri="{BB962C8B-B14F-4D97-AF65-F5344CB8AC3E}">
        <p14:creationId xmlns:p14="http://schemas.microsoft.com/office/powerpoint/2010/main" val="2334552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Title and Content w/ Al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4" y="118875"/>
            <a:ext cx="10515600" cy="752929"/>
          </a:xfrm>
        </p:spPr>
        <p:txBody>
          <a:bodyPr/>
          <a:lstStyle/>
          <a:p>
            <a:r>
              <a:rPr lang="en-US"/>
              <a:t>Click to edit master title style</a:t>
            </a:r>
          </a:p>
        </p:txBody>
      </p:sp>
      <p:sp>
        <p:nvSpPr>
          <p:cNvPr id="3" name="Content Placeholder 2"/>
          <p:cNvSpPr>
            <a:spLocks noGrp="1"/>
          </p:cNvSpPr>
          <p:nvPr>
            <p:ph idx="1"/>
          </p:nvPr>
        </p:nvSpPr>
        <p:spPr>
          <a:xfrm>
            <a:off x="838204" y="1133859"/>
            <a:ext cx="10515600" cy="4818857"/>
          </a:xfrm>
        </p:spPr>
        <p:txBody>
          <a:bodyPr/>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FD912DB-CF58-2B44-B78F-FA5C3CCFF15B}"/>
              </a:ext>
            </a:extLst>
          </p:cNvPr>
          <p:cNvSpPr>
            <a:spLocks noGrp="1"/>
          </p:cNvSpPr>
          <p:nvPr>
            <p:ph type="body" sz="quarter" idx="13" hasCustomPrompt="1"/>
          </p:nvPr>
        </p:nvSpPr>
        <p:spPr>
          <a:xfrm>
            <a:off x="-3383278" y="982666"/>
            <a:ext cx="3108114" cy="5064125"/>
          </a:xfrm>
        </p:spPr>
        <p:txBody>
          <a:bodyPr/>
          <a:lstStyle>
            <a:lvl1pPr>
              <a:defRPr/>
            </a:lvl1pPr>
          </a:lstStyle>
          <a:p>
            <a:pPr lvl="0"/>
            <a:r>
              <a:rPr lang="en-US"/>
              <a:t>Insert alt text for complex graphic</a:t>
            </a:r>
          </a:p>
        </p:txBody>
      </p:sp>
      <p:sp>
        <p:nvSpPr>
          <p:cNvPr id="6" name="Slide Number Placeholder 5"/>
          <p:cNvSpPr>
            <a:spLocks noGrp="1"/>
          </p:cNvSpPr>
          <p:nvPr>
            <p:ph type="sldNum" sz="quarter" idx="12"/>
          </p:nvPr>
        </p:nvSpPr>
        <p:spPr/>
        <p:txBody>
          <a:bodyPr/>
          <a:lstStyle/>
          <a:p>
            <a:fld id="{670A9334-4E67-F94F-A05E-0CE8B74A054E}" type="slidenum">
              <a:rPr lang="en-US" smtClean="0"/>
              <a:t>‹#›</a:t>
            </a:fld>
            <a:endParaRPr lang="en-US"/>
          </a:p>
        </p:txBody>
      </p:sp>
    </p:spTree>
    <p:extLst>
      <p:ext uri="{BB962C8B-B14F-4D97-AF65-F5344CB8AC3E}">
        <p14:creationId xmlns:p14="http://schemas.microsoft.com/office/powerpoint/2010/main" val="20031877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7" y="273142"/>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857"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7" y="1435106"/>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dirty="0">
              <a:solidFill>
                <a:prstClr val="white"/>
              </a:solidFill>
            </a:endParaRPr>
          </a:p>
        </p:txBody>
      </p:sp>
    </p:spTree>
    <p:custDataLst>
      <p:tags r:id="rId1"/>
    </p:custDataLst>
    <p:extLst>
      <p:ext uri="{BB962C8B-B14F-4D97-AF65-F5344CB8AC3E}">
        <p14:creationId xmlns:p14="http://schemas.microsoft.com/office/powerpoint/2010/main" val="38752709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73721" y="2131620"/>
            <a:ext cx="6109680" cy="1983624"/>
          </a:xfrm>
          <a:prstGeom prst="rect">
            <a:avLst/>
          </a:prstGeom>
        </p:spPr>
        <p:txBody>
          <a:bodyPr anchor="b">
            <a:normAutofit/>
          </a:bodyPr>
          <a:lstStyle>
            <a:lvl1pPr algn="l">
              <a:defRPr sz="4000">
                <a:solidFill>
                  <a:schemeClr val="bg1"/>
                </a:solidFill>
              </a:defRPr>
            </a:lvl1pPr>
          </a:lstStyle>
          <a:p>
            <a:r>
              <a:rPr lang="en-US"/>
              <a:t>Click to edit Master title style</a:t>
            </a:r>
          </a:p>
        </p:txBody>
      </p:sp>
      <p:sp>
        <p:nvSpPr>
          <p:cNvPr id="3" name="Subtitle 2"/>
          <p:cNvSpPr>
            <a:spLocks noGrp="1"/>
          </p:cNvSpPr>
          <p:nvPr>
            <p:ph type="subTitle" idx="1"/>
          </p:nvPr>
        </p:nvSpPr>
        <p:spPr>
          <a:xfrm>
            <a:off x="773721" y="4459463"/>
            <a:ext cx="6109680" cy="1131740"/>
          </a:xfrm>
        </p:spPr>
        <p:txBody>
          <a:bodyPr>
            <a:normAutofit/>
          </a:bodyPr>
          <a:lstStyle>
            <a:lvl1pPr marL="0" indent="0" algn="l">
              <a:buNone/>
              <a:defRPr sz="2000" i="1">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73721" y="5784060"/>
            <a:ext cx="2743200" cy="365125"/>
          </a:xfrm>
          <a:prstGeom prst="rect">
            <a:avLst/>
          </a:prstGeom>
        </p:spPr>
        <p:txBody>
          <a:bodyPr/>
          <a:lstStyle>
            <a:lvl1pPr>
              <a:defRPr sz="1200" i="1">
                <a:solidFill>
                  <a:schemeClr val="bg1"/>
                </a:solidFill>
              </a:defRPr>
            </a:lvl1pPr>
          </a:lstStyle>
          <a:p>
            <a:endParaRPr lang="en-US"/>
          </a:p>
        </p:txBody>
      </p:sp>
      <p:cxnSp>
        <p:nvCxnSpPr>
          <p:cNvPr id="9" name="Straight Connector 8">
            <a:extLst>
              <a:ext uri="{FF2B5EF4-FFF2-40B4-BE49-F238E27FC236}">
                <a16:creationId xmlns:a16="http://schemas.microsoft.com/office/drawing/2014/main" id="{447B3BEB-1174-1B42-B9AC-4E46D655D84B}"/>
              </a:ext>
            </a:extLst>
          </p:cNvPr>
          <p:cNvCxnSpPr>
            <a:cxnSpLocks/>
          </p:cNvCxnSpPr>
          <p:nvPr userDrawn="1"/>
        </p:nvCxnSpPr>
        <p:spPr>
          <a:xfrm>
            <a:off x="805274" y="4255558"/>
            <a:ext cx="3641576" cy="0"/>
          </a:xfrm>
          <a:prstGeom prst="line">
            <a:avLst/>
          </a:prstGeom>
          <a:ln w="44450">
            <a:solidFill>
              <a:srgbClr val="0194D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67893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648294"/>
            <a:ext cx="10515600" cy="105125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39384"/>
            <a:ext cx="10515600" cy="39306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Tree>
    <p:extLst>
      <p:ext uri="{BB962C8B-B14F-4D97-AF65-F5344CB8AC3E}">
        <p14:creationId xmlns:p14="http://schemas.microsoft.com/office/powerpoint/2010/main" val="2416186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2" y="3101931"/>
            <a:ext cx="7843227" cy="1702191"/>
          </a:xfrm>
          <a:prstGeom prst="rect">
            <a:avLst/>
          </a:prstGeom>
        </p:spPr>
        <p:txBody>
          <a:bodyPr anchor="t">
            <a:normAutofit/>
          </a:bodyPr>
          <a:lstStyle>
            <a:lvl1pPr>
              <a:defRPr sz="4000">
                <a:solidFill>
                  <a:schemeClr val="bg1"/>
                </a:solidFill>
              </a:defRPr>
            </a:lvl1pPr>
          </a:lstStyle>
          <a:p>
            <a:r>
              <a:rPr lang="en-US"/>
              <a:t>Click to edit Master title style</a:t>
            </a:r>
          </a:p>
        </p:txBody>
      </p:sp>
      <p:sp>
        <p:nvSpPr>
          <p:cNvPr id="6" name="Slide Number Placeholder 5"/>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
        <p:nvSpPr>
          <p:cNvPr id="8" name="Subtitle 2">
            <a:extLst>
              <a:ext uri="{FF2B5EF4-FFF2-40B4-BE49-F238E27FC236}">
                <a16:creationId xmlns:a16="http://schemas.microsoft.com/office/drawing/2014/main" id="{156CE847-A648-614F-9D37-EE8537F393F0}"/>
              </a:ext>
            </a:extLst>
          </p:cNvPr>
          <p:cNvSpPr>
            <a:spLocks noGrp="1"/>
          </p:cNvSpPr>
          <p:nvPr>
            <p:ph type="subTitle" idx="1"/>
          </p:nvPr>
        </p:nvSpPr>
        <p:spPr>
          <a:xfrm>
            <a:off x="831852" y="2539223"/>
            <a:ext cx="7843227" cy="499403"/>
          </a:xfrm>
        </p:spPr>
        <p:txBody>
          <a:bodyPr anchor="b">
            <a:normAutofit/>
          </a:bodyPr>
          <a:lstStyle>
            <a:lvl1pPr marL="0" indent="0" algn="l">
              <a:buNone/>
              <a:defRPr sz="2000" i="1">
                <a:solidFill>
                  <a:schemeClr val="bg1"/>
                </a:solidFill>
              </a:defRPr>
            </a:lvl1pPr>
            <a:lvl2pPr marL="457223" indent="0" algn="ctr">
              <a:buNone/>
              <a:defRPr sz="2000"/>
            </a:lvl2pPr>
            <a:lvl3pPr marL="914446" indent="0" algn="ctr">
              <a:buNone/>
              <a:defRPr sz="1800"/>
            </a:lvl3pPr>
            <a:lvl4pPr marL="1371669" indent="0" algn="ctr">
              <a:buNone/>
              <a:defRPr sz="1600"/>
            </a:lvl4pPr>
            <a:lvl5pPr marL="1828891" indent="0" algn="ctr">
              <a:buNone/>
              <a:defRPr sz="1600"/>
            </a:lvl5pPr>
            <a:lvl6pPr marL="2286114" indent="0" algn="ctr">
              <a:buNone/>
              <a:defRPr sz="1600"/>
            </a:lvl6pPr>
            <a:lvl7pPr marL="2743337" indent="0" algn="ctr">
              <a:buNone/>
              <a:defRPr sz="1600"/>
            </a:lvl7pPr>
            <a:lvl8pPr marL="3200560" indent="0" algn="ctr">
              <a:buNone/>
              <a:defRPr sz="1600"/>
            </a:lvl8pPr>
            <a:lvl9pPr marL="3657783" indent="0" algn="ctr">
              <a:buNone/>
              <a:defRPr sz="1600"/>
            </a:lvl9pPr>
          </a:lstStyle>
          <a:p>
            <a:r>
              <a:rPr lang="en-US"/>
              <a:t>Click to edit Master subtitle style</a:t>
            </a:r>
          </a:p>
        </p:txBody>
      </p:sp>
    </p:spTree>
    <p:extLst>
      <p:ext uri="{BB962C8B-B14F-4D97-AF65-F5344CB8AC3E}">
        <p14:creationId xmlns:p14="http://schemas.microsoft.com/office/powerpoint/2010/main" val="1515104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648277"/>
            <a:ext cx="10515600" cy="1053408"/>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37819"/>
            <a:ext cx="5181600" cy="39291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37819"/>
            <a:ext cx="5181600" cy="392918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Tree>
    <p:extLst>
      <p:ext uri="{BB962C8B-B14F-4D97-AF65-F5344CB8AC3E}">
        <p14:creationId xmlns:p14="http://schemas.microsoft.com/office/powerpoint/2010/main" val="39354419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90" y="1826452"/>
            <a:ext cx="5157787" cy="576776"/>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Edit Master text styles</a:t>
            </a:r>
          </a:p>
        </p:txBody>
      </p:sp>
      <p:sp>
        <p:nvSpPr>
          <p:cNvPr id="4" name="Content Placeholder 3"/>
          <p:cNvSpPr>
            <a:spLocks noGrp="1"/>
          </p:cNvSpPr>
          <p:nvPr>
            <p:ph sz="half" idx="2"/>
          </p:nvPr>
        </p:nvSpPr>
        <p:spPr>
          <a:xfrm>
            <a:off x="839790" y="2466607"/>
            <a:ext cx="5157787" cy="3185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826452"/>
            <a:ext cx="5183188" cy="576776"/>
          </a:xfrm>
        </p:spPr>
        <p:txBody>
          <a:bodyPr anchor="b"/>
          <a:lstStyle>
            <a:lvl1pPr marL="0" indent="0">
              <a:buNone/>
              <a:defRPr sz="2400" b="1"/>
            </a:lvl1pPr>
            <a:lvl2pPr marL="457223" indent="0">
              <a:buNone/>
              <a:defRPr sz="2000" b="1"/>
            </a:lvl2pPr>
            <a:lvl3pPr marL="914446" indent="0">
              <a:buNone/>
              <a:defRPr sz="1800" b="1"/>
            </a:lvl3pPr>
            <a:lvl4pPr marL="1371669" indent="0">
              <a:buNone/>
              <a:defRPr sz="1600" b="1"/>
            </a:lvl4pPr>
            <a:lvl5pPr marL="1828891" indent="0">
              <a:buNone/>
              <a:defRPr sz="1600" b="1"/>
            </a:lvl5pPr>
            <a:lvl6pPr marL="2286114" indent="0">
              <a:buNone/>
              <a:defRPr sz="1600" b="1"/>
            </a:lvl6pPr>
            <a:lvl7pPr marL="2743337" indent="0">
              <a:buNone/>
              <a:defRPr sz="1600" b="1"/>
            </a:lvl7pPr>
            <a:lvl8pPr marL="3200560" indent="0">
              <a:buNone/>
              <a:defRPr sz="1600" b="1"/>
            </a:lvl8pPr>
            <a:lvl9pPr marL="3657783"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466607"/>
            <a:ext cx="5183188" cy="318514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
        <p:nvSpPr>
          <p:cNvPr id="11" name="Title 1">
            <a:extLst>
              <a:ext uri="{FF2B5EF4-FFF2-40B4-BE49-F238E27FC236}">
                <a16:creationId xmlns:a16="http://schemas.microsoft.com/office/drawing/2014/main" id="{355BCD1B-3815-C342-9679-E1E92B1E76FD}"/>
              </a:ext>
            </a:extLst>
          </p:cNvPr>
          <p:cNvSpPr>
            <a:spLocks noGrp="1"/>
          </p:cNvSpPr>
          <p:nvPr>
            <p:ph type="title"/>
          </p:nvPr>
        </p:nvSpPr>
        <p:spPr>
          <a:xfrm>
            <a:off x="839788" y="648677"/>
            <a:ext cx="10515600" cy="1049949"/>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180711550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640719"/>
            <a:ext cx="10515600" cy="1055076"/>
          </a:xfrm>
          <a:prstGeom prst="rect">
            <a:avLst/>
          </a:prstGeom>
        </p:spPr>
        <p:txBody>
          <a:bodyPr/>
          <a:lstStyle/>
          <a:p>
            <a:r>
              <a:rPr lang="en-US"/>
              <a:t>Click to edit Master title style</a:t>
            </a:r>
          </a:p>
        </p:txBody>
      </p:sp>
      <p:sp>
        <p:nvSpPr>
          <p:cNvPr id="5" name="Slide Number Placeholder 4"/>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Tree>
    <p:extLst>
      <p:ext uri="{BB962C8B-B14F-4D97-AF65-F5344CB8AC3E}">
        <p14:creationId xmlns:p14="http://schemas.microsoft.com/office/powerpoint/2010/main" val="12278300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4724400" y="6356352"/>
            <a:ext cx="2743200" cy="365125"/>
          </a:xfrm>
          <a:prstGeom prst="rect">
            <a:avLst/>
          </a:prstGeom>
        </p:spPr>
        <p:txBody>
          <a:bodyPr/>
          <a:lstStyle/>
          <a:p>
            <a:fld id="{ACD12D91-5F71-FE4F-A594-B9667DC21877}" type="slidenum">
              <a:rPr lang="en-US" smtClean="0"/>
              <a:t>‹#›</a:t>
            </a:fld>
            <a:endParaRPr lang="en-US"/>
          </a:p>
        </p:txBody>
      </p:sp>
    </p:spTree>
    <p:extLst>
      <p:ext uri="{BB962C8B-B14F-4D97-AF65-F5344CB8AC3E}">
        <p14:creationId xmlns:p14="http://schemas.microsoft.com/office/powerpoint/2010/main" val="2541946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B855D0ED-058A-405F-800B-9E8E6EBC23CE}"/>
              </a:ext>
            </a:extLst>
          </p:cNvPr>
          <p:cNvSpPr/>
          <p:nvPr userDrawn="1"/>
        </p:nvSpPr>
        <p:spPr>
          <a:xfrm>
            <a:off x="11436422" y="6342299"/>
            <a:ext cx="463717" cy="369332"/>
          </a:xfrm>
          <a:prstGeom prst="rect">
            <a:avLst/>
          </a:prstGeom>
        </p:spPr>
        <p:txBody>
          <a:bodyPr wrap="none">
            <a:spAutoFit/>
          </a:bodyPr>
          <a:lstStyle/>
          <a:p>
            <a:fld id="{81D60167-4931-47E6-BA6A-407CBD079E47}" type="slidenum">
              <a:rPr lang="en-US" sz="1800" spc="-8" smtClean="0">
                <a:solidFill>
                  <a:prstClr val="white"/>
                </a:solidFill>
              </a:rPr>
              <a:pPr/>
              <a:t>‹#›</a:t>
            </a:fld>
            <a:endParaRPr lang="en-US" sz="1800"/>
          </a:p>
        </p:txBody>
      </p:sp>
      <p:sp>
        <p:nvSpPr>
          <p:cNvPr id="4" name="Title 3">
            <a:extLst>
              <a:ext uri="{FF2B5EF4-FFF2-40B4-BE49-F238E27FC236}">
                <a16:creationId xmlns:a16="http://schemas.microsoft.com/office/drawing/2014/main" id="{57BC726F-6EA3-4790-8629-091FC38873B2}"/>
              </a:ext>
            </a:extLst>
          </p:cNvPr>
          <p:cNvSpPr>
            <a:spLocks noGrp="1"/>
          </p:cNvSpPr>
          <p:nvPr>
            <p:ph type="title"/>
          </p:nvPr>
        </p:nvSpPr>
        <p:spPr/>
        <p:txBody>
          <a:bodyPr>
            <a:normAutofit/>
          </a:bodyPr>
          <a:lstStyle>
            <a:lvl1pPr>
              <a:defRPr sz="3600"/>
            </a:lvl1pPr>
          </a:lstStyle>
          <a:p>
            <a:r>
              <a:rPr lang="en-US"/>
              <a:t>Click to edit Master title style</a:t>
            </a:r>
          </a:p>
        </p:txBody>
      </p:sp>
    </p:spTree>
    <p:extLst>
      <p:ext uri="{BB962C8B-B14F-4D97-AF65-F5344CB8AC3E}">
        <p14:creationId xmlns:p14="http://schemas.microsoft.com/office/powerpoint/2010/main" val="236894359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7" y="273142"/>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857" y="273056"/>
            <a:ext cx="6815668"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7" y="1435106"/>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dirty="0">
              <a:solidFill>
                <a:prstClr val="white"/>
              </a:solidFill>
            </a:endParaRPr>
          </a:p>
        </p:txBody>
      </p:sp>
    </p:spTree>
    <p:custDataLst>
      <p:tags r:id="rId1"/>
    </p:custDataLst>
    <p:extLst>
      <p:ext uri="{BB962C8B-B14F-4D97-AF65-F5344CB8AC3E}">
        <p14:creationId xmlns:p14="http://schemas.microsoft.com/office/powerpoint/2010/main" val="255676731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94"/>
            <a:ext cx="73152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367341"/>
            <a:ext cx="73152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7" name="Slide Number Placeholder 6"/>
          <p:cNvSpPr>
            <a:spLocks noGrp="1"/>
          </p:cNvSpPr>
          <p:nvPr>
            <p:ph type="sldNum" sz="quarter" idx="12"/>
          </p:nvPr>
        </p:nvSpPr>
        <p:spPr/>
        <p:txBody>
          <a:bodyPr/>
          <a:lstStyle/>
          <a:p>
            <a:fld id="{D983F1FA-211D-3044-9E35-958DFBC26156}" type="slidenum">
              <a:rPr lang="en-US" smtClean="0">
                <a:solidFill>
                  <a:prstClr val="white"/>
                </a:solidFill>
              </a:rPr>
              <a:pPr/>
              <a:t>‹#›</a:t>
            </a:fld>
            <a:endParaRPr lang="en-US" dirty="0">
              <a:solidFill>
                <a:prstClr val="white"/>
              </a:solidFill>
            </a:endParaRPr>
          </a:p>
        </p:txBody>
      </p:sp>
    </p:spTree>
    <p:custDataLst>
      <p:tags r:id="rId1"/>
    </p:custDataLst>
    <p:extLst>
      <p:ext uri="{BB962C8B-B14F-4D97-AF65-F5344CB8AC3E}">
        <p14:creationId xmlns:p14="http://schemas.microsoft.com/office/powerpoint/2010/main" val="79847656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4149F2D5-DD87-DCE3-139E-8EEBAC52DC5E}"/>
              </a:ext>
            </a:extLst>
          </p:cNvPr>
          <p:cNvSpPr>
            <a:spLocks noGrp="1"/>
          </p:cNvSpPr>
          <p:nvPr>
            <p:ph idx="1"/>
          </p:nvPr>
        </p:nvSpPr>
        <p:spPr>
          <a:xfrm>
            <a:off x="731519" y="1317243"/>
            <a:ext cx="11016195" cy="5161050"/>
          </a:xfrm>
          <a:prstGeom prst="rect">
            <a:avLst/>
          </a:prstGeom>
        </p:spPr>
        <p:txBody>
          <a:bodyPr vert="horz" lIns="91440" tIns="45720" rIns="91440" bIns="45720" rtlCol="0">
            <a:noAutofit/>
          </a:bodyPr>
          <a:lstStyle>
            <a:lvl1pPr>
              <a:lnSpc>
                <a:spcPct val="110000"/>
              </a:lnSpc>
              <a:spcAft>
                <a:spcPts val="600"/>
              </a:spcAft>
              <a:defRPr sz="2600"/>
            </a:lvl1pPr>
            <a:lvl2pPr>
              <a:lnSpc>
                <a:spcPct val="110000"/>
              </a:lnSpc>
              <a:spcAft>
                <a:spcPts val="600"/>
              </a:spcAft>
              <a:defRPr sz="2200"/>
            </a:lvl2pPr>
            <a:lvl3pPr>
              <a:lnSpc>
                <a:spcPct val="110000"/>
              </a:lnSpc>
              <a:spcAft>
                <a:spcPts val="400"/>
              </a:spcAft>
              <a:defRPr sz="1800"/>
            </a:lvl3pPr>
            <a:lvl4pPr>
              <a:lnSpc>
                <a:spcPct val="110000"/>
              </a:lnSpc>
              <a:spcAft>
                <a:spcPts val="400"/>
              </a:spcAft>
              <a:defRPr/>
            </a:lvl4pPr>
            <a:lvl5pPr>
              <a:lnSpc>
                <a:spcPct val="110000"/>
              </a:lnSpc>
              <a:spcAft>
                <a:spcPts val="400"/>
              </a:spcAf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Placeholder 1">
            <a:extLst>
              <a:ext uri="{FF2B5EF4-FFF2-40B4-BE49-F238E27FC236}">
                <a16:creationId xmlns:a16="http://schemas.microsoft.com/office/drawing/2014/main" id="{22396431-3641-2097-8BBE-778A6F21BA89}"/>
              </a:ext>
            </a:extLst>
          </p:cNvPr>
          <p:cNvSpPr>
            <a:spLocks noGrp="1"/>
          </p:cNvSpPr>
          <p:nvPr>
            <p:ph type="title"/>
          </p:nvPr>
        </p:nvSpPr>
        <p:spPr>
          <a:xfrm>
            <a:off x="224413" y="-77490"/>
            <a:ext cx="10515600" cy="1094265"/>
          </a:xfrm>
          <a:prstGeom prst="rect">
            <a:avLst/>
          </a:prstGeom>
        </p:spPr>
        <p:txBody>
          <a:bodyPr vert="horz" lIns="91440" tIns="45720" rIns="91440" bIns="45720" rtlCol="0" anchor="ctr">
            <a:normAutofit/>
          </a:bodyPr>
          <a:lstStyle/>
          <a:p>
            <a:r>
              <a:rPr lang="en-US" dirty="0"/>
              <a:t>Click to edit Master title style</a:t>
            </a:r>
          </a:p>
        </p:txBody>
      </p:sp>
      <p:sp>
        <p:nvSpPr>
          <p:cNvPr id="2" name="Slide Number Placeholder 3">
            <a:extLst>
              <a:ext uri="{FF2B5EF4-FFF2-40B4-BE49-F238E27FC236}">
                <a16:creationId xmlns:a16="http://schemas.microsoft.com/office/drawing/2014/main" id="{9EE06D42-FB0E-0E04-CCC9-30AF723DD4A0}"/>
              </a:ext>
            </a:extLst>
          </p:cNvPr>
          <p:cNvSpPr>
            <a:spLocks noGrp="1"/>
          </p:cNvSpPr>
          <p:nvPr>
            <p:ph type="sldNum" sz="quarter" idx="4"/>
          </p:nvPr>
        </p:nvSpPr>
        <p:spPr>
          <a:xfrm>
            <a:off x="9250680" y="6356350"/>
            <a:ext cx="2743200" cy="365125"/>
          </a:xfrm>
          <a:prstGeom prst="rect">
            <a:avLst/>
          </a:prstGeom>
        </p:spPr>
        <p:txBody>
          <a:bodyPr vert="horz" lIns="91440" tIns="45720" rIns="91440" bIns="45720" rtlCol="0" anchor="ctr"/>
          <a:lstStyle>
            <a:lvl1pPr algn="r">
              <a:defRPr sz="1000" b="1">
                <a:solidFill>
                  <a:schemeClr val="tx2"/>
                </a:solidFill>
              </a:defRPr>
            </a:lvl1pPr>
          </a:lstStyle>
          <a:p>
            <a:fld id="{21672522-718F-5A4A-A967-5C1A35706813}" type="slidenum">
              <a:rPr lang="en-US" smtClean="0"/>
              <a:pPr/>
              <a:t>‹#›</a:t>
            </a:fld>
            <a:endParaRPr lang="en-US"/>
          </a:p>
        </p:txBody>
      </p:sp>
    </p:spTree>
    <p:extLst>
      <p:ext uri="{BB962C8B-B14F-4D97-AF65-F5344CB8AC3E}">
        <p14:creationId xmlns:p14="http://schemas.microsoft.com/office/powerpoint/2010/main" val="2787879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oleObject" Target="../embeddings/oleObject1.bin"/><Relationship Id="rId5" Type="http://schemas.openxmlformats.org/officeDocument/2006/relationships/slideLayout" Target="../slideLayouts/slideLayout5.xml"/><Relationship Id="rId10" Type="http://schemas.openxmlformats.org/officeDocument/2006/relationships/tags" Target="../tags/tag3.xml"/><Relationship Id="rId4" Type="http://schemas.openxmlformats.org/officeDocument/2006/relationships/slideLayout" Target="../slideLayouts/slideLayout4.xml"/><Relationship Id="rId9" Type="http://schemas.openxmlformats.org/officeDocument/2006/relationships/tags" Target="../tags/tag2.xml"/><Relationship Id="rId14"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theme" Target="../theme/theme2.xml"/><Relationship Id="rId18" Type="http://schemas.openxmlformats.org/officeDocument/2006/relationships/image" Target="../media/image2.pn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image" Target="../media/image1.emf"/><Relationship Id="rId2" Type="http://schemas.openxmlformats.org/officeDocument/2006/relationships/slideLayout" Target="../slideLayouts/slideLayout9.xml"/><Relationship Id="rId16" Type="http://schemas.openxmlformats.org/officeDocument/2006/relationships/oleObject" Target="../embeddings/oleObject1.bin"/><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ags" Target="../tags/tag6.xml"/><Relationship Id="rId10" Type="http://schemas.openxmlformats.org/officeDocument/2006/relationships/slideLayout" Target="../slideLayouts/slideLayout17.xml"/><Relationship Id="rId19" Type="http://schemas.openxmlformats.org/officeDocument/2006/relationships/image" Target="../media/image3.pn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ags" Target="../tags/tag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image" Target="../media/image6.png"/><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3.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95" imgH="396" progId="TCLayout.ActiveDocument.1">
                  <p:embed/>
                </p:oleObj>
              </mc:Choice>
              <mc:Fallback>
                <p:oleObj name="think-cell Slide" r:id="rId11"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0"/>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3"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4"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338954004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8" r:id="rId7"/>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BCCC815A-F2C9-434C-A69F-6B52C370B91D}"/>
              </a:ext>
            </a:extLst>
          </p:cNvPr>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395" imgH="396" progId="TCLayout.ActiveDocument.1">
                  <p:embed/>
                </p:oleObj>
              </mc:Choice>
              <mc:Fallback>
                <p:oleObj name="think-cell Slide" r:id="rId16" imgW="395" imgH="396" progId="TCLayout.ActiveDocument.1">
                  <p:embed/>
                  <p:pic>
                    <p:nvPicPr>
                      <p:cNvPr id="13" name="Object 12" hidden="1">
                        <a:extLst>
                          <a:ext uri="{FF2B5EF4-FFF2-40B4-BE49-F238E27FC236}">
                            <a16:creationId xmlns:a16="http://schemas.microsoft.com/office/drawing/2014/main" id="{BCCC815A-F2C9-434C-A69F-6B52C370B91D}"/>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2" name="Rectangle 11" hidden="1">
            <a:extLst>
              <a:ext uri="{FF2B5EF4-FFF2-40B4-BE49-F238E27FC236}">
                <a16:creationId xmlns:a16="http://schemas.microsoft.com/office/drawing/2014/main" id="{7E99BCBC-83A5-40D0-8DE3-4DB102CDECA1}"/>
              </a:ext>
            </a:extLst>
          </p:cNvPr>
          <p:cNvSpPr/>
          <p:nvPr userDrawn="1">
            <p:custDataLst>
              <p:tags r:id="rId15"/>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US" sz="4400" b="0" i="0" baseline="0">
              <a:latin typeface="Calibri Light" panose="020F0302020204030204" pitchFamily="34" charset="0"/>
              <a:ea typeface="+mj-ea"/>
              <a:cs typeface="+mj-cs"/>
              <a:sym typeface="Calibri Light" panose="020F0302020204030204" pitchFamily="34" charset="0"/>
            </a:endParaRPr>
          </a:p>
        </p:txBody>
      </p:sp>
      <p:sp>
        <p:nvSpPr>
          <p:cNvPr id="3" name="Text Placeholder 2"/>
          <p:cNvSpPr>
            <a:spLocks noGrp="1"/>
          </p:cNvSpPr>
          <p:nvPr>
            <p:ph type="body" idx="1"/>
          </p:nvPr>
        </p:nvSpPr>
        <p:spPr>
          <a:xfrm>
            <a:off x="371475" y="1361621"/>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3/17/2026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A9334-4E67-F94F-A05E-0CE8B74A054E}" type="slidenum">
              <a:rPr lang="en-US" smtClean="0"/>
              <a:pPr/>
              <a:t>‹#›</a:t>
            </a:fld>
            <a:endParaRPr lang="en-US"/>
          </a:p>
        </p:txBody>
      </p:sp>
      <p:sp>
        <p:nvSpPr>
          <p:cNvPr id="7" name="Rectangle 6" descr="&quot;&quot;">
            <a:extLst>
              <a:ext uri="{FF2B5EF4-FFF2-40B4-BE49-F238E27FC236}">
                <a16:creationId xmlns:a16="http://schemas.microsoft.com/office/drawing/2014/main" id="{9A344643-0805-4A78-8519-399E280674A5}"/>
              </a:ext>
            </a:extLst>
          </p:cNvPr>
          <p:cNvSpPr/>
          <p:nvPr userDrawn="1"/>
        </p:nvSpPr>
        <p:spPr>
          <a:xfrm>
            <a:off x="0" y="0"/>
            <a:ext cx="12192000" cy="872671"/>
          </a:xfrm>
          <a:prstGeom prst="rect">
            <a:avLst/>
          </a:prstGeom>
          <a:solidFill>
            <a:srgbClr val="002F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8" name="Rectangle 7">
            <a:extLst>
              <a:ext uri="{FF2B5EF4-FFF2-40B4-BE49-F238E27FC236}">
                <a16:creationId xmlns:a16="http://schemas.microsoft.com/office/drawing/2014/main" id="{451C4A79-7B67-4263-9C21-0F0F093D2ECB}"/>
              </a:ext>
            </a:extLst>
          </p:cNvPr>
          <p:cNvSpPr/>
          <p:nvPr userDrawn="1"/>
        </p:nvSpPr>
        <p:spPr>
          <a:xfrm>
            <a:off x="0" y="6140681"/>
            <a:ext cx="12192000" cy="731839"/>
          </a:xfrm>
          <a:prstGeom prst="rect">
            <a:avLst/>
          </a:prstGeom>
          <a:solidFill>
            <a:srgbClr val="002F56"/>
          </a:solidFill>
          <a:ln>
            <a:no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defTabSz="457200"/>
            <a:endParaRPr lang="en-US" sz="1800">
              <a:solidFill>
                <a:prstClr val="white"/>
              </a:solidFill>
            </a:endParaRPr>
          </a:p>
        </p:txBody>
      </p:sp>
      <p:pic>
        <p:nvPicPr>
          <p:cNvPr id="9" name="Picture 2" descr="Choose VA logo">
            <a:extLst>
              <a:ext uri="{FF2B5EF4-FFF2-40B4-BE49-F238E27FC236}">
                <a16:creationId xmlns:a16="http://schemas.microsoft.com/office/drawing/2014/main" id="{ED68DA6A-5DF1-4139-9A45-26BF50A0D2A3}"/>
              </a:ext>
            </a:extLst>
          </p:cNvPr>
          <p:cNvPicPr>
            <a:picLocks noChangeAspect="1" noChangeArrowheads="1"/>
          </p:cNvPicPr>
          <p:nvPr userDrawn="1"/>
        </p:nvPicPr>
        <p:blipFill>
          <a:blip r:embed="rId18" cstate="print">
            <a:extLst>
              <a:ext uri="{28A0092B-C50C-407E-A947-70E740481C1C}">
                <a14:useLocalDpi xmlns:a14="http://schemas.microsoft.com/office/drawing/2010/main"/>
              </a:ext>
            </a:extLst>
          </a:blip>
          <a:srcRect/>
          <a:stretch>
            <a:fillRect/>
          </a:stretch>
        </p:blipFill>
        <p:spPr bwMode="auto">
          <a:xfrm>
            <a:off x="203201" y="6191250"/>
            <a:ext cx="2368550" cy="548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Seal and logo for the U.S. Department of Veterans Affairs">
            <a:extLst>
              <a:ext uri="{FF2B5EF4-FFF2-40B4-BE49-F238E27FC236}">
                <a16:creationId xmlns:a16="http://schemas.microsoft.com/office/drawing/2014/main" id="{89C54729-2C98-4A73-B5EB-4446016F3463}"/>
              </a:ext>
            </a:extLst>
          </p:cNvPr>
          <p:cNvPicPr>
            <a:picLocks noChangeAspect="1"/>
          </p:cNvPicPr>
          <p:nvPr userDrawn="1"/>
        </p:nvPicPr>
        <p:blipFill>
          <a:blip r:embed="rId19" cstate="print">
            <a:extLst>
              <a:ext uri="{28A0092B-C50C-407E-A947-70E740481C1C}">
                <a14:useLocalDpi xmlns:a14="http://schemas.microsoft.com/office/drawing/2010/main"/>
              </a:ext>
            </a:extLst>
          </a:blip>
          <a:stretch>
            <a:fillRect/>
          </a:stretch>
        </p:blipFill>
        <p:spPr>
          <a:xfrm>
            <a:off x="8743950" y="6184206"/>
            <a:ext cx="2940051" cy="641708"/>
          </a:xfrm>
          <a:prstGeom prst="rect">
            <a:avLst/>
          </a:prstGeom>
        </p:spPr>
      </p:pic>
      <p:sp>
        <p:nvSpPr>
          <p:cNvPr id="2" name="Title Placeholder 1"/>
          <p:cNvSpPr>
            <a:spLocks noGrp="1"/>
          </p:cNvSpPr>
          <p:nvPr>
            <p:ph type="title"/>
          </p:nvPr>
        </p:nvSpPr>
        <p:spPr>
          <a:xfrm>
            <a:off x="390525" y="97245"/>
            <a:ext cx="10515600" cy="680223"/>
          </a:xfrm>
          <a:prstGeom prst="rect">
            <a:avLst/>
          </a:prstGeom>
        </p:spPr>
        <p:txBody>
          <a:bodyPr vert="horz" lIns="91440" tIns="45720" rIns="91440" bIns="45720" rtlCol="0" anchor="ctr">
            <a:noAutofit/>
          </a:bodyPr>
          <a:lstStyle/>
          <a:p>
            <a:r>
              <a:rPr lang="en-US"/>
              <a:t>Click to edit Master title style</a:t>
            </a:r>
          </a:p>
        </p:txBody>
      </p:sp>
    </p:spTree>
    <p:extLst>
      <p:ext uri="{BB962C8B-B14F-4D97-AF65-F5344CB8AC3E}">
        <p14:creationId xmlns:p14="http://schemas.microsoft.com/office/powerpoint/2010/main" val="321701087"/>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25" r:id="rId12"/>
  </p:sldLayoutIdLst>
  <p:hf hdr="0" ft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41157"/>
            <a:ext cx="10515600" cy="393224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4"/>
          </p:nvPr>
        </p:nvSpPr>
        <p:spPr>
          <a:xfrm>
            <a:off x="4724400" y="6356352"/>
            <a:ext cx="2743200" cy="365125"/>
          </a:xfrm>
          <a:prstGeom prst="rect">
            <a:avLst/>
          </a:prstGeom>
        </p:spPr>
        <p:txBody>
          <a:bodyPr vert="horz" lIns="91440" tIns="45720" rIns="91440" bIns="45720" rtlCol="0" anchor="ctr"/>
          <a:lstStyle>
            <a:lvl1pPr algn="ctr">
              <a:defRPr sz="1000" b="1">
                <a:solidFill>
                  <a:srgbClr val="00467F"/>
                </a:solidFill>
              </a:defRPr>
            </a:lvl1pPr>
          </a:lstStyle>
          <a:p>
            <a:fld id="{ACD12D91-5F71-FE4F-A594-B9667DC21877}" type="slidenum">
              <a:rPr lang="en-US" smtClean="0"/>
              <a:pPr/>
              <a:t>‹#›</a:t>
            </a:fld>
            <a:endParaRPr lang="en-US"/>
          </a:p>
        </p:txBody>
      </p:sp>
      <p:sp>
        <p:nvSpPr>
          <p:cNvPr id="4" name="Title Placeholder 3">
            <a:extLst>
              <a:ext uri="{FF2B5EF4-FFF2-40B4-BE49-F238E27FC236}">
                <a16:creationId xmlns:a16="http://schemas.microsoft.com/office/drawing/2014/main" id="{92133D9A-FEDB-CB44-B97D-B34F9A51FEA9}"/>
              </a:ext>
            </a:extLst>
          </p:cNvPr>
          <p:cNvSpPr>
            <a:spLocks noGrp="1"/>
          </p:cNvSpPr>
          <p:nvPr>
            <p:ph type="title"/>
          </p:nvPr>
        </p:nvSpPr>
        <p:spPr>
          <a:xfrm>
            <a:off x="838200" y="647938"/>
            <a:ext cx="10515600" cy="1047512"/>
          </a:xfrm>
          <a:prstGeom prst="rect">
            <a:avLst/>
          </a:prstGeom>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4271881933"/>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Lst>
  <p:hf sldNum="0" hdr="0" dt="0"/>
  <p:txStyles>
    <p:titleStyle>
      <a:lvl1pPr algn="l" defTabSz="914446" rtl="0" eaLnBrk="1" latinLnBrk="0" hangingPunct="1">
        <a:lnSpc>
          <a:spcPct val="90000"/>
        </a:lnSpc>
        <a:spcBef>
          <a:spcPct val="0"/>
        </a:spcBef>
        <a:buNone/>
        <a:defRPr sz="3500" b="1" kern="1200">
          <a:solidFill>
            <a:srgbClr val="00467F"/>
          </a:solidFill>
          <a:latin typeface="+mn-lt"/>
          <a:ea typeface="+mj-ea"/>
          <a:cs typeface="+mj-cs"/>
        </a:defRPr>
      </a:lvl1pPr>
    </p:titleStyle>
    <p:bodyStyle>
      <a:lvl1pPr marL="228611" indent="-228611" algn="l" defTabSz="914446" rtl="0" eaLnBrk="1" latinLnBrk="0" hangingPunct="1">
        <a:lnSpc>
          <a:spcPct val="90000"/>
        </a:lnSpc>
        <a:spcBef>
          <a:spcPts val="1000"/>
        </a:spcBef>
        <a:buClr>
          <a:srgbClr val="0194D3"/>
        </a:buClr>
        <a:buFont typeface="Arial" panose="020B0604020202020204" pitchFamily="34" charset="0"/>
        <a:buChar char="•"/>
        <a:defRPr sz="2000" kern="1200">
          <a:solidFill>
            <a:schemeClr val="tx1">
              <a:lumMod val="85000"/>
              <a:lumOff val="15000"/>
            </a:schemeClr>
          </a:solidFill>
          <a:latin typeface="+mn-lt"/>
          <a:ea typeface="+mn-ea"/>
          <a:cs typeface="+mn-cs"/>
        </a:defRPr>
      </a:lvl1pPr>
      <a:lvl2pPr marL="685834" indent="-228611" algn="l" defTabSz="914446" rtl="0" eaLnBrk="1" latinLnBrk="0" hangingPunct="1">
        <a:lnSpc>
          <a:spcPct val="90000"/>
        </a:lnSpc>
        <a:spcBef>
          <a:spcPts val="500"/>
        </a:spcBef>
        <a:buClr>
          <a:srgbClr val="0194D3"/>
        </a:buClr>
        <a:buFont typeface="Arial" panose="020B0604020202020204" pitchFamily="34" charset="0"/>
        <a:buChar char="•"/>
        <a:defRPr sz="1800" kern="1200">
          <a:solidFill>
            <a:schemeClr val="tx1">
              <a:lumMod val="85000"/>
              <a:lumOff val="15000"/>
            </a:schemeClr>
          </a:solidFill>
          <a:latin typeface="+mn-lt"/>
          <a:ea typeface="+mn-ea"/>
          <a:cs typeface="+mn-cs"/>
        </a:defRPr>
      </a:lvl2pPr>
      <a:lvl3pPr marL="1143057" indent="-228611" algn="l" defTabSz="914446" rtl="0" eaLnBrk="1" latinLnBrk="0" hangingPunct="1">
        <a:lnSpc>
          <a:spcPct val="90000"/>
        </a:lnSpc>
        <a:spcBef>
          <a:spcPts val="500"/>
        </a:spcBef>
        <a:buClr>
          <a:srgbClr val="0194D3"/>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600280" indent="-228611" algn="l" defTabSz="914446" rtl="0" eaLnBrk="1" latinLnBrk="0" hangingPunct="1">
        <a:lnSpc>
          <a:spcPct val="90000"/>
        </a:lnSpc>
        <a:spcBef>
          <a:spcPts val="500"/>
        </a:spcBef>
        <a:buClr>
          <a:srgbClr val="0194D3"/>
        </a:buClr>
        <a:buFont typeface="Arial" panose="020B0604020202020204" pitchFamily="34" charset="0"/>
        <a:buChar char="•"/>
        <a:defRPr sz="1400" kern="1200">
          <a:solidFill>
            <a:schemeClr val="tx1">
              <a:lumMod val="85000"/>
              <a:lumOff val="15000"/>
            </a:schemeClr>
          </a:solidFill>
          <a:latin typeface="+mn-lt"/>
          <a:ea typeface="+mn-ea"/>
          <a:cs typeface="+mn-cs"/>
        </a:defRPr>
      </a:lvl4pPr>
      <a:lvl5pPr marL="2057503" indent="-228611" algn="l" defTabSz="914446" rtl="0" eaLnBrk="1" latinLnBrk="0" hangingPunct="1">
        <a:lnSpc>
          <a:spcPct val="90000"/>
        </a:lnSpc>
        <a:spcBef>
          <a:spcPts val="500"/>
        </a:spcBef>
        <a:buClr>
          <a:srgbClr val="0194D3"/>
        </a:buClr>
        <a:buFont typeface="Arial" panose="020B0604020202020204" pitchFamily="34" charset="0"/>
        <a:buChar char="•"/>
        <a:defRPr sz="1200" kern="1200">
          <a:solidFill>
            <a:schemeClr val="tx1">
              <a:lumMod val="85000"/>
              <a:lumOff val="15000"/>
            </a:schemeClr>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pixabay.com/pl/cel-arrow-oko-byk%C3%B3w-dziesi%C4%85tk%C4%99-2070972/" TargetMode="External"/><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8" Type="http://schemas.openxmlformats.org/officeDocument/2006/relationships/hyperlink" Target="https://onlinelibrary.wiley.com/doi/10.1111/1475-6773.13944" TargetMode="External"/><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hyperlink" Target="https://journals.lww.com/lww-medicalcare/Fulltext/2019/10001/Research_Lifecycle_to_Increase_the_Substantial.4.aspx" TargetMode="External"/><Relationship Id="rId4" Type="http://schemas.openxmlformats.org/officeDocument/2006/relationships/diagramLayout" Target="../diagrams/layout3.xml"/><Relationship Id="rId9" Type="http://schemas.openxmlformats.org/officeDocument/2006/relationships/hyperlink" Target="https://pubmed.ncbi.nlm.nih.gov/32024751/" TargetMode="Externa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hyperlink" Target="https://pubmed.ncbi.nlm.nih.gov/39885116/" TargetMode="External"/><Relationship Id="rId2" Type="http://schemas.openxmlformats.org/officeDocument/2006/relationships/hyperlink" Target="https://pubmed.ncbi.nlm.nih.gov/39980364/" TargetMode="Externa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hyperlink" Target="https://pubmed.ncbi.nlm.nih.gov/41331360/" TargetMode="External"/><Relationship Id="rId2" Type="http://schemas.openxmlformats.org/officeDocument/2006/relationships/hyperlink" Target="https://pubmed.ncbi.nlm.nih.gov/41033177/" TargetMode="Externa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hyperlink" Target="https://pubmed.ncbi.nlm.nih.gov/40171305/" TargetMode="External"/><Relationship Id="rId2" Type="http://schemas.openxmlformats.org/officeDocument/2006/relationships/hyperlink" Target="https://pubmed.ncbi.nlm.nih.gov/39854062/" TargetMode="Externa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hyperlink" Target="https://gcc02.safelinks.protection.outlook.com/?url=https%3A%2F%2Fpmc.ncbi.nlm.nih.gov%2Farticles%2FPMC10937886%2F&amp;data=05%7C02%7C%7Ca2a5652caa7e4fe5788408dd575fff37%7Ce95f1b23abaf45ee821db7ab251ab3bf%7C0%7C0%7C638762791999027442%7CUnknown%7CTWFpbGZsb3d8eyJFbXB0eU1hcGkiOnRydWUsIlYiOiIwLjAuMDAwMCIsIlAiOiJXaW4zMiIsIkFOIjoiTWFpbCIsIldUIjoyfQ%3D%3D%7C0%7C%7C%7C&amp;sdata=q0q1DZ3w1LBIGpLdc8NBe%2BXI8JsKw1AB4QoB2yNv8qg%3D&amp;reserved=0" TargetMode="External"/><Relationship Id="rId2" Type="http://schemas.openxmlformats.org/officeDocument/2006/relationships/notesSlide" Target="../notesSlides/notesSlide9.xml"/><Relationship Id="rId1" Type="http://schemas.openxmlformats.org/officeDocument/2006/relationships/slideLayout" Target="../slideLayouts/slideLayout30.xml"/><Relationship Id="rId6" Type="http://schemas.openxmlformats.org/officeDocument/2006/relationships/hyperlink" Target="https://gcc02.safelinks.protection.outlook.com/?url=https%3A%2F%2Fjamanetwork.com%2Fjournals%2Fjamanetworkopen%2Ffullarticle%2F2790743&amp;data=05%7C02%7C%7C1f6c5e0e2075477fa5a408dd55e87211%7Ce95f1b23abaf45ee821db7ab251ab3bf%7C0%7C0%7C638761179101237246%7CUnknown%7CTWFpbGZsb3d8eyJFbXB0eU1hcGkiOnRydWUsIlYiOiIwLjAuMDAwMCIsIlAiOiJXaW4zMiIsIkFOIjoiTWFpbCIsIldUIjoyfQ%3D%3D%7C0%7C%7C%7C&amp;sdata=WT9NHV%2BCNKW%2B%2F28F%2BPbkOdUb1GFqocvim8dtmSF%2FfOw%3D&amp;reserved=0" TargetMode="External"/><Relationship Id="rId5" Type="http://schemas.openxmlformats.org/officeDocument/2006/relationships/hyperlink" Target="https://gcc02.safelinks.protection.outlook.com/?url=https%3A%2F%2Fpsychiatryonline.org%2Fdoi%2F10.1176%2Fappi.ps.201900104&amp;data=05%7C02%7C%7C1f6c5e0e2075477fa5a408dd55e87211%7Ce95f1b23abaf45ee821db7ab251ab3bf%7C0%7C0%7C638761179101261380%7CUnknown%7CTWFpbGZsb3d8eyJFbXB0eU1hcGkiOnRydWUsIlYiOiIwLjAuMDAwMCIsIlAiOiJXaW4zMiIsIkFOIjoiTWFpbCIsIldUIjoyfQ%3D%3D%7C0%7C%7C%7C&amp;sdata=mhUH%2BHtVYh1FMC17F6Cw%2BAloz0FxyVWZ3%2F544BOVqU8%3D&amp;reserved=0" TargetMode="External"/><Relationship Id="rId4" Type="http://schemas.openxmlformats.org/officeDocument/2006/relationships/hyperlink" Target="https://gcc02.safelinks.protection.outlook.com/?url=https%3A%2F%2Fpubmed.ncbi.nlm.nih.gov%2F39499516%2F&amp;data=05%7C02%7C%7Ca2a5652caa7e4fe5788408dd575fff37%7Ce95f1b23abaf45ee821db7ab251ab3bf%7C0%7C0%7C638762791999049335%7CUnknown%7CTWFpbGZsb3d8eyJFbXB0eU1hcGkiOnRydWUsIlYiOiIwLjAuMDAwMCIsIlAiOiJXaW4zMiIsIkFOIjoiTWFpbCIsIldUIjoyfQ%3D%3D%7C0%7C%7C%7C&amp;sdata=6i9T6ONICClmWzUqjDwLF3yEfTqO5yiClmHRqBLAPs8%3D&amp;reserved=0"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www.legis.la.gov/legis/ViewDocument.aspx?d=1286621" TargetMode="External"/><Relationship Id="rId2" Type="http://schemas.openxmlformats.org/officeDocument/2006/relationships/notesSlide" Target="../notesSlides/notesSlide10.xml"/><Relationship Id="rId1" Type="http://schemas.openxmlformats.org/officeDocument/2006/relationships/slideLayout" Target="../slideLayouts/slideLayout30.xml"/><Relationship Id="rId4" Type="http://schemas.openxmlformats.org/officeDocument/2006/relationships/hyperlink" Target="https://www.legis.la.gov/Legis/BillInfo.aspx?i=24440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4BC3891-451A-2EF0-AB3A-15594EEEAD26}"/>
              </a:ext>
            </a:extLst>
          </p:cNvPr>
          <p:cNvSpPr>
            <a:spLocks noGrp="1"/>
          </p:cNvSpPr>
          <p:nvPr>
            <p:ph type="ctrTitle"/>
          </p:nvPr>
        </p:nvSpPr>
        <p:spPr/>
        <p:txBody>
          <a:bodyPr/>
          <a:lstStyle/>
          <a:p>
            <a:r>
              <a:rPr lang="en-US" dirty="0"/>
              <a:t>Suicide Prevention AMP</a:t>
            </a:r>
            <a:br>
              <a:rPr lang="en-US" dirty="0"/>
            </a:br>
            <a:endParaRPr lang="en-US" dirty="0"/>
          </a:p>
        </p:txBody>
      </p:sp>
      <p:sp>
        <p:nvSpPr>
          <p:cNvPr id="4" name="Subtitle 3">
            <a:extLst>
              <a:ext uri="{FF2B5EF4-FFF2-40B4-BE49-F238E27FC236}">
                <a16:creationId xmlns:a16="http://schemas.microsoft.com/office/drawing/2014/main" id="{A542717B-EFDD-26C1-22D7-48B192576474}"/>
              </a:ext>
            </a:extLst>
          </p:cNvPr>
          <p:cNvSpPr>
            <a:spLocks noGrp="1"/>
          </p:cNvSpPr>
          <p:nvPr>
            <p:ph type="subTitle" idx="1"/>
          </p:nvPr>
        </p:nvSpPr>
        <p:spPr/>
        <p:txBody>
          <a:bodyPr/>
          <a:lstStyle/>
          <a:p>
            <a:r>
              <a:rPr lang="en-US" dirty="0"/>
              <a:t>February 17, 2026</a:t>
            </a:r>
          </a:p>
        </p:txBody>
      </p:sp>
      <p:sp>
        <p:nvSpPr>
          <p:cNvPr id="5" name="Text Placeholder 4">
            <a:extLst>
              <a:ext uri="{FF2B5EF4-FFF2-40B4-BE49-F238E27FC236}">
                <a16:creationId xmlns:a16="http://schemas.microsoft.com/office/drawing/2014/main" id="{2E723CEA-1252-8E5A-1913-8A3FCF71DE46}"/>
              </a:ext>
            </a:extLst>
          </p:cNvPr>
          <p:cNvSpPr>
            <a:spLocks noGrp="1"/>
          </p:cNvSpPr>
          <p:nvPr>
            <p:ph type="body" sz="quarter" idx="10"/>
          </p:nvPr>
        </p:nvSpPr>
        <p:spPr/>
        <p:txBody>
          <a:bodyPr/>
          <a:lstStyle/>
          <a:p>
            <a:r>
              <a:rPr lang="en-US" dirty="0"/>
              <a:t>Mark Reger, PhD, ABPP</a:t>
            </a:r>
          </a:p>
        </p:txBody>
      </p:sp>
    </p:spTree>
    <p:extLst>
      <p:ext uri="{BB962C8B-B14F-4D97-AF65-F5344CB8AC3E}">
        <p14:creationId xmlns:p14="http://schemas.microsoft.com/office/powerpoint/2010/main" val="277998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FF15D91-524A-7758-B837-22DDE07C410F}"/>
              </a:ext>
            </a:extLst>
          </p:cNvPr>
          <p:cNvSpPr txBox="1">
            <a:spLocks/>
          </p:cNvSpPr>
          <p:nvPr/>
        </p:nvSpPr>
        <p:spPr>
          <a:xfrm>
            <a:off x="390525" y="97245"/>
            <a:ext cx="10515600" cy="680223"/>
          </a:xfrm>
          <a:prstGeom prst="rect">
            <a:avLst/>
          </a:prstGeom>
        </p:spPr>
        <p:txBody>
          <a:bodyPr anchor="ctr" anchorCtr="0"/>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Calibri Light" panose="020F0302020204030204"/>
                <a:ea typeface="+mj-ea"/>
                <a:cs typeface="Calibri Light"/>
              </a:rPr>
              <a:t>Agenda</a:t>
            </a:r>
          </a:p>
        </p:txBody>
      </p:sp>
      <p:sp>
        <p:nvSpPr>
          <p:cNvPr id="2" name="TextBox 1">
            <a:extLst>
              <a:ext uri="{FF2B5EF4-FFF2-40B4-BE49-F238E27FC236}">
                <a16:creationId xmlns:a16="http://schemas.microsoft.com/office/drawing/2014/main" id="{50D702DB-20C4-90B4-3E30-A5CA676D3B53}"/>
              </a:ext>
            </a:extLst>
          </p:cNvPr>
          <p:cNvSpPr txBox="1"/>
          <p:nvPr/>
        </p:nvSpPr>
        <p:spPr>
          <a:xfrm>
            <a:off x="390525" y="1272579"/>
            <a:ext cx="11420475" cy="4832092"/>
          </a:xfrm>
          <a:prstGeom prst="rect">
            <a:avLst/>
          </a:prstGeom>
          <a:noFill/>
        </p:spPr>
        <p:txBody>
          <a:bodyPr wrap="square" rtlCol="0">
            <a:spAutoFit/>
          </a:bodyPr>
          <a:lstStyle/>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The Challenge</a:t>
            </a:r>
          </a:p>
          <a:p>
            <a:pPr marR="0" lvl="1" algn="l" defTabSz="914400" rtl="0" eaLnBrk="1" fontAlgn="auto" latinLnBrk="0" hangingPunct="1">
              <a:lnSpc>
                <a:spcPct val="100000"/>
              </a:lnSpc>
              <a:spcBef>
                <a:spcPts val="0"/>
              </a:spcBef>
              <a:spcAft>
                <a:spcPts val="0"/>
              </a:spcAft>
              <a:buClrTx/>
              <a:buSzTx/>
              <a:tabLst/>
              <a:defRPr/>
            </a:pPr>
            <a:endParaRPr lang="en-US" sz="2800" dirty="0">
              <a:solidFill>
                <a:prstClr val="black"/>
              </a:solidFill>
              <a:latin typeface="Arial" panose="020B0604020202020204"/>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black"/>
                </a:solidFill>
                <a:latin typeface="Arial" panose="020B0604020202020204"/>
              </a:rPr>
              <a:t>Portfolio Overview </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solidFill>
                <a:prstClr val="black"/>
              </a:solidFill>
              <a:latin typeface="Arial" panose="020B0604020202020204"/>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black"/>
                </a:solidFill>
                <a:latin typeface="Arial" panose="020B0604020202020204"/>
              </a:rPr>
              <a:t>Priorities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solidFill>
                <a:prstClr val="black"/>
              </a:solidFill>
              <a:latin typeface="Arial" panose="020B0604020202020204"/>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black"/>
                </a:solidFill>
                <a:latin typeface="Arial" panose="020B0604020202020204"/>
              </a:rPr>
              <a:t>Accomplishments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solidFill>
                <a:prstClr val="black"/>
              </a:solidFill>
              <a:latin typeface="Arial" panose="020B0604020202020204"/>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dirty="0">
                <a:solidFill>
                  <a:prstClr val="black"/>
                </a:solidFill>
                <a:latin typeface="Arial" panose="020B0604020202020204"/>
              </a:rPr>
              <a:t>Strategic Initiatives</a:t>
            </a: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solidFill>
                <a:prstClr val="black"/>
              </a:solidFill>
              <a:latin typeface="Arial" panose="020B0604020202020204"/>
            </a:endParaRPr>
          </a:p>
          <a:p>
            <a:pPr marL="914400" marR="0" lvl="1"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Tree>
    <p:extLst>
      <p:ext uri="{BB962C8B-B14F-4D97-AF65-F5344CB8AC3E}">
        <p14:creationId xmlns:p14="http://schemas.microsoft.com/office/powerpoint/2010/main" val="3352216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7C63DC-5CCA-54BD-B423-2FCC881251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58CAA8A3-9873-2B32-19D4-8AB4A96BDA14}"/>
              </a:ext>
            </a:extLst>
          </p:cNvPr>
          <p:cNvSpPr txBox="1">
            <a:spLocks/>
          </p:cNvSpPr>
          <p:nvPr/>
        </p:nvSpPr>
        <p:spPr>
          <a:xfrm>
            <a:off x="390525" y="97245"/>
            <a:ext cx="10515600" cy="680223"/>
          </a:xfrm>
          <a:prstGeom prst="rect">
            <a:avLst/>
          </a:prstGeom>
        </p:spPr>
        <p:txBody>
          <a:bodyPr anchor="ctr" anchorCtr="0"/>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Calibri Light" panose="020F0302020204030204"/>
                <a:ea typeface="+mj-ea"/>
                <a:cs typeface="Calibri Light"/>
              </a:rPr>
              <a:t>The Challenge</a:t>
            </a:r>
          </a:p>
        </p:txBody>
      </p:sp>
      <p:sp>
        <p:nvSpPr>
          <p:cNvPr id="4" name="TextBox 3">
            <a:extLst>
              <a:ext uri="{FF2B5EF4-FFF2-40B4-BE49-F238E27FC236}">
                <a16:creationId xmlns:a16="http://schemas.microsoft.com/office/drawing/2014/main" id="{E45ED299-21C4-D89C-E49B-AADCB7726D42}"/>
              </a:ext>
            </a:extLst>
          </p:cNvPr>
          <p:cNvSpPr txBox="1"/>
          <p:nvPr/>
        </p:nvSpPr>
        <p:spPr>
          <a:xfrm>
            <a:off x="4880473" y="1443841"/>
            <a:ext cx="7058844" cy="4401205"/>
          </a:xfrm>
          <a:prstGeom prst="rect">
            <a:avLst/>
          </a:prstGeom>
          <a:noFill/>
        </p:spPr>
        <p:txBody>
          <a:bodyPr wrap="square" rtlCol="0">
            <a:spAutoFit/>
          </a:bodyPr>
          <a:lstStyle/>
          <a:p>
            <a:pPr marL="285750" indent="-285750">
              <a:buFont typeface="Arial" panose="020B0604020202020204" pitchFamily="34" charset="0"/>
              <a:buChar char="•"/>
            </a:pPr>
            <a:r>
              <a:rPr lang="en-US" sz="2800" dirty="0"/>
              <a:t>Suicide is a ‘Wicked Problem’: One of the most vexing, challenging problems in the Veteran health care mission</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Multi-level: Psychological, social, biological</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Many paths have been tried</a:t>
            </a:r>
          </a:p>
          <a:p>
            <a:pPr marL="285750" indent="-285750">
              <a:buFont typeface="Arial" panose="020B0604020202020204" pitchFamily="34" charset="0"/>
              <a:buChar char="•"/>
            </a:pPr>
            <a:endParaRPr lang="en-US" sz="2800" dirty="0"/>
          </a:p>
          <a:p>
            <a:pPr marL="285750" indent="-285750">
              <a:buFont typeface="Arial" panose="020B0604020202020204" pitchFamily="34" charset="0"/>
              <a:buChar char="•"/>
            </a:pPr>
            <a:r>
              <a:rPr lang="en-US" sz="2800" dirty="0"/>
              <a:t>Requires a sustained commitment to innovative, cutting-edge science</a:t>
            </a:r>
          </a:p>
        </p:txBody>
      </p:sp>
      <p:pic>
        <p:nvPicPr>
          <p:cNvPr id="1029" name="Picture 5">
            <a:extLst>
              <a:ext uri="{FF2B5EF4-FFF2-40B4-BE49-F238E27FC236}">
                <a16:creationId xmlns:a16="http://schemas.microsoft.com/office/drawing/2014/main" id="{CD52AB50-31CD-177A-FE83-70147CBFD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876" y="892365"/>
            <a:ext cx="3474977" cy="5208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71872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TextBox 137"/>
          <p:cNvSpPr txBox="1">
            <a:spLocks noChangeArrowheads="1"/>
          </p:cNvSpPr>
          <p:nvPr/>
        </p:nvSpPr>
        <p:spPr bwMode="auto">
          <a:xfrm>
            <a:off x="305128" y="152401"/>
            <a:ext cx="8070850" cy="646331"/>
          </a:xfrm>
          <a:prstGeom prst="rect">
            <a:avLst/>
          </a:prstGeom>
          <a:noFill/>
          <a:ln w="9525">
            <a:noFill/>
            <a:miter lim="800000"/>
            <a:headEnd/>
            <a:tailEnd/>
          </a:ln>
        </p:spPr>
        <p:txBody>
          <a:bodyPr wrap="square">
            <a:spAutoFit/>
          </a:bodyPr>
          <a:lstStyle/>
          <a:p>
            <a:r>
              <a:rPr lang="en-US" sz="3600" b="1" dirty="0">
                <a:solidFill>
                  <a:schemeClr val="bg1"/>
                </a:solidFill>
                <a:latin typeface="+mj-lt"/>
                <a:cs typeface="Arial" charset="0"/>
              </a:rPr>
              <a:t>Needle in a Haystack</a:t>
            </a:r>
            <a:endParaRPr lang="en-US" sz="3600" dirty="0">
              <a:solidFill>
                <a:schemeClr val="bg1"/>
              </a:solidFill>
              <a:latin typeface="+mj-lt"/>
              <a:cs typeface="Arial" charset="0"/>
            </a:endParaRPr>
          </a:p>
        </p:txBody>
      </p:sp>
      <p:sp>
        <p:nvSpPr>
          <p:cNvPr id="4" name="Slide Number Placeholder 3"/>
          <p:cNvSpPr>
            <a:spLocks noGrp="1"/>
          </p:cNvSpPr>
          <p:nvPr>
            <p:ph type="sldNum" sz="quarter" idx="12"/>
          </p:nvPr>
        </p:nvSpPr>
        <p:spPr>
          <a:xfrm>
            <a:off x="1524000" y="6569076"/>
            <a:ext cx="533400" cy="365125"/>
          </a:xfrm>
        </p:spPr>
        <p:txBody>
          <a:bodyPr/>
          <a:lstStyle/>
          <a:p>
            <a:fld id="{3E9CF3B7-2E0B-459C-BA24-7183F9361633}" type="slidenum">
              <a:rPr lang="en-US" smtClean="0"/>
              <a:pPr/>
              <a:t>4</a:t>
            </a:fld>
            <a:endParaRPr lang="en-US"/>
          </a:p>
        </p:txBody>
      </p:sp>
      <p:grpSp>
        <p:nvGrpSpPr>
          <p:cNvPr id="5" name="Group 136"/>
          <p:cNvGrpSpPr>
            <a:grpSpLocks/>
          </p:cNvGrpSpPr>
          <p:nvPr/>
        </p:nvGrpSpPr>
        <p:grpSpPr bwMode="auto">
          <a:xfrm>
            <a:off x="3639672" y="1295401"/>
            <a:ext cx="6786563" cy="1292225"/>
            <a:chOff x="0" y="0"/>
            <a:chExt cx="5280" cy="957"/>
          </a:xfrm>
        </p:grpSpPr>
        <p:pic>
          <p:nvPicPr>
            <p:cNvPr id="6" name="Picture 125" descr="g100b"/>
            <p:cNvPicPr>
              <a:picLocks noChangeAspect="1" noChangeArrowheads="1"/>
            </p:cNvPicPr>
            <p:nvPr/>
          </p:nvPicPr>
          <p:blipFill>
            <a:blip r:embed="rId2" cstate="print"/>
            <a:srcRect/>
            <a:stretch>
              <a:fillRect/>
            </a:stretch>
          </p:blipFill>
          <p:spPr bwMode="auto">
            <a:xfrm>
              <a:off x="0" y="0"/>
              <a:ext cx="1056" cy="957"/>
            </a:xfrm>
            <a:prstGeom prst="rect">
              <a:avLst/>
            </a:prstGeom>
            <a:noFill/>
            <a:ln w="9525">
              <a:noFill/>
              <a:miter lim="800000"/>
              <a:headEnd/>
              <a:tailEnd/>
            </a:ln>
          </p:spPr>
        </p:pic>
        <p:pic>
          <p:nvPicPr>
            <p:cNvPr id="7" name="Picture 132" descr="g100b"/>
            <p:cNvPicPr>
              <a:picLocks noChangeAspect="1" noChangeArrowheads="1"/>
            </p:cNvPicPr>
            <p:nvPr/>
          </p:nvPicPr>
          <p:blipFill>
            <a:blip r:embed="rId2" cstate="print"/>
            <a:srcRect/>
            <a:stretch>
              <a:fillRect/>
            </a:stretch>
          </p:blipFill>
          <p:spPr bwMode="auto">
            <a:xfrm>
              <a:off x="1056" y="0"/>
              <a:ext cx="1056" cy="957"/>
            </a:xfrm>
            <a:prstGeom prst="rect">
              <a:avLst/>
            </a:prstGeom>
            <a:noFill/>
            <a:ln w="9525">
              <a:noFill/>
              <a:miter lim="800000"/>
              <a:headEnd/>
              <a:tailEnd/>
            </a:ln>
          </p:spPr>
        </p:pic>
        <p:pic>
          <p:nvPicPr>
            <p:cNvPr id="8" name="Picture 133" descr="g100b"/>
            <p:cNvPicPr>
              <a:picLocks noChangeAspect="1" noChangeArrowheads="1"/>
            </p:cNvPicPr>
            <p:nvPr/>
          </p:nvPicPr>
          <p:blipFill>
            <a:blip r:embed="rId2" cstate="print"/>
            <a:srcRect/>
            <a:stretch>
              <a:fillRect/>
            </a:stretch>
          </p:blipFill>
          <p:spPr bwMode="auto">
            <a:xfrm>
              <a:off x="2112" y="0"/>
              <a:ext cx="1056" cy="957"/>
            </a:xfrm>
            <a:prstGeom prst="rect">
              <a:avLst/>
            </a:prstGeom>
            <a:noFill/>
            <a:ln w="9525">
              <a:noFill/>
              <a:miter lim="800000"/>
              <a:headEnd/>
              <a:tailEnd/>
            </a:ln>
          </p:spPr>
        </p:pic>
        <p:pic>
          <p:nvPicPr>
            <p:cNvPr id="9" name="Picture 134" descr="g100b"/>
            <p:cNvPicPr>
              <a:picLocks noChangeAspect="1" noChangeArrowheads="1"/>
            </p:cNvPicPr>
            <p:nvPr/>
          </p:nvPicPr>
          <p:blipFill>
            <a:blip r:embed="rId2" cstate="print"/>
            <a:srcRect/>
            <a:stretch>
              <a:fillRect/>
            </a:stretch>
          </p:blipFill>
          <p:spPr bwMode="auto">
            <a:xfrm>
              <a:off x="3168" y="0"/>
              <a:ext cx="1056" cy="957"/>
            </a:xfrm>
            <a:prstGeom prst="rect">
              <a:avLst/>
            </a:prstGeom>
            <a:noFill/>
            <a:ln w="9525">
              <a:noFill/>
              <a:miter lim="800000"/>
              <a:headEnd/>
              <a:tailEnd/>
            </a:ln>
          </p:spPr>
        </p:pic>
        <p:pic>
          <p:nvPicPr>
            <p:cNvPr id="10" name="Picture 135" descr="g100b"/>
            <p:cNvPicPr>
              <a:picLocks noChangeAspect="1" noChangeArrowheads="1"/>
            </p:cNvPicPr>
            <p:nvPr/>
          </p:nvPicPr>
          <p:blipFill>
            <a:blip r:embed="rId2" cstate="print"/>
            <a:srcRect/>
            <a:stretch>
              <a:fillRect/>
            </a:stretch>
          </p:blipFill>
          <p:spPr bwMode="auto">
            <a:xfrm>
              <a:off x="4224" y="0"/>
              <a:ext cx="1056" cy="957"/>
            </a:xfrm>
            <a:prstGeom prst="rect">
              <a:avLst/>
            </a:prstGeom>
            <a:noFill/>
            <a:ln w="9525">
              <a:noFill/>
              <a:miter lim="800000"/>
              <a:headEnd/>
              <a:tailEnd/>
            </a:ln>
          </p:spPr>
        </p:pic>
      </p:grpSp>
      <p:grpSp>
        <p:nvGrpSpPr>
          <p:cNvPr id="11" name="Group 137"/>
          <p:cNvGrpSpPr>
            <a:grpSpLocks/>
          </p:cNvGrpSpPr>
          <p:nvPr/>
        </p:nvGrpSpPr>
        <p:grpSpPr bwMode="auto">
          <a:xfrm>
            <a:off x="3639672" y="2587625"/>
            <a:ext cx="6786563" cy="1290638"/>
            <a:chOff x="0" y="0"/>
            <a:chExt cx="5280" cy="957"/>
          </a:xfrm>
        </p:grpSpPr>
        <p:pic>
          <p:nvPicPr>
            <p:cNvPr id="12" name="Picture 138" descr="g100b"/>
            <p:cNvPicPr>
              <a:picLocks noChangeAspect="1" noChangeArrowheads="1"/>
            </p:cNvPicPr>
            <p:nvPr/>
          </p:nvPicPr>
          <p:blipFill>
            <a:blip r:embed="rId2" cstate="print"/>
            <a:srcRect/>
            <a:stretch>
              <a:fillRect/>
            </a:stretch>
          </p:blipFill>
          <p:spPr bwMode="auto">
            <a:xfrm>
              <a:off x="0" y="0"/>
              <a:ext cx="1056" cy="957"/>
            </a:xfrm>
            <a:prstGeom prst="rect">
              <a:avLst/>
            </a:prstGeom>
            <a:noFill/>
            <a:ln w="9525">
              <a:noFill/>
              <a:miter lim="800000"/>
              <a:headEnd/>
              <a:tailEnd/>
            </a:ln>
          </p:spPr>
        </p:pic>
        <p:pic>
          <p:nvPicPr>
            <p:cNvPr id="13" name="Picture 139" descr="g100b"/>
            <p:cNvPicPr>
              <a:picLocks noChangeAspect="1" noChangeArrowheads="1"/>
            </p:cNvPicPr>
            <p:nvPr/>
          </p:nvPicPr>
          <p:blipFill>
            <a:blip r:embed="rId2" cstate="print"/>
            <a:srcRect/>
            <a:stretch>
              <a:fillRect/>
            </a:stretch>
          </p:blipFill>
          <p:spPr bwMode="auto">
            <a:xfrm>
              <a:off x="1056" y="0"/>
              <a:ext cx="1056" cy="957"/>
            </a:xfrm>
            <a:prstGeom prst="rect">
              <a:avLst/>
            </a:prstGeom>
            <a:noFill/>
            <a:ln w="9525">
              <a:noFill/>
              <a:miter lim="800000"/>
              <a:headEnd/>
              <a:tailEnd/>
            </a:ln>
          </p:spPr>
        </p:pic>
        <p:pic>
          <p:nvPicPr>
            <p:cNvPr id="14" name="Picture 140" descr="g100b"/>
            <p:cNvPicPr>
              <a:picLocks noChangeAspect="1" noChangeArrowheads="1"/>
            </p:cNvPicPr>
            <p:nvPr/>
          </p:nvPicPr>
          <p:blipFill>
            <a:blip r:embed="rId2" cstate="print"/>
            <a:srcRect/>
            <a:stretch>
              <a:fillRect/>
            </a:stretch>
          </p:blipFill>
          <p:spPr bwMode="auto">
            <a:xfrm>
              <a:off x="2112" y="0"/>
              <a:ext cx="1056" cy="957"/>
            </a:xfrm>
            <a:prstGeom prst="rect">
              <a:avLst/>
            </a:prstGeom>
            <a:noFill/>
            <a:ln w="9525">
              <a:noFill/>
              <a:miter lim="800000"/>
              <a:headEnd/>
              <a:tailEnd/>
            </a:ln>
          </p:spPr>
        </p:pic>
        <p:pic>
          <p:nvPicPr>
            <p:cNvPr id="15" name="Picture 141" descr="g100b"/>
            <p:cNvPicPr>
              <a:picLocks noChangeAspect="1" noChangeArrowheads="1"/>
            </p:cNvPicPr>
            <p:nvPr/>
          </p:nvPicPr>
          <p:blipFill>
            <a:blip r:embed="rId2" cstate="print"/>
            <a:srcRect/>
            <a:stretch>
              <a:fillRect/>
            </a:stretch>
          </p:blipFill>
          <p:spPr bwMode="auto">
            <a:xfrm>
              <a:off x="3168" y="0"/>
              <a:ext cx="1056" cy="957"/>
            </a:xfrm>
            <a:prstGeom prst="rect">
              <a:avLst/>
            </a:prstGeom>
            <a:noFill/>
            <a:ln w="9525">
              <a:noFill/>
              <a:miter lim="800000"/>
              <a:headEnd/>
              <a:tailEnd/>
            </a:ln>
          </p:spPr>
        </p:pic>
        <p:pic>
          <p:nvPicPr>
            <p:cNvPr id="16" name="Picture 142" descr="g100b"/>
            <p:cNvPicPr>
              <a:picLocks noChangeAspect="1" noChangeArrowheads="1"/>
            </p:cNvPicPr>
            <p:nvPr/>
          </p:nvPicPr>
          <p:blipFill>
            <a:blip r:embed="rId2" cstate="print"/>
            <a:srcRect/>
            <a:stretch>
              <a:fillRect/>
            </a:stretch>
          </p:blipFill>
          <p:spPr bwMode="auto">
            <a:xfrm>
              <a:off x="4224" y="0"/>
              <a:ext cx="1056" cy="957"/>
            </a:xfrm>
            <a:prstGeom prst="rect">
              <a:avLst/>
            </a:prstGeom>
            <a:noFill/>
            <a:ln w="9525">
              <a:noFill/>
              <a:miter lim="800000"/>
              <a:headEnd/>
              <a:tailEnd/>
            </a:ln>
          </p:spPr>
        </p:pic>
      </p:grpSp>
      <p:sp>
        <p:nvSpPr>
          <p:cNvPr id="121" name="Rectangle 276"/>
          <p:cNvSpPr>
            <a:spLocks noChangeArrowheads="1"/>
          </p:cNvSpPr>
          <p:nvPr/>
        </p:nvSpPr>
        <p:spPr bwMode="auto">
          <a:xfrm>
            <a:off x="4996984" y="2582863"/>
            <a:ext cx="1325562" cy="1263650"/>
          </a:xfrm>
          <a:prstGeom prst="rect">
            <a:avLst/>
          </a:prstGeom>
          <a:solidFill>
            <a:srgbClr val="3366FF">
              <a:alpha val="41960"/>
            </a:srgbClr>
          </a:solidFill>
          <a:ln w="15875">
            <a:solidFill>
              <a:srgbClr val="0066FF"/>
            </a:solidFill>
            <a:miter lim="800000"/>
            <a:headEnd/>
            <a:tailEnd/>
          </a:ln>
        </p:spPr>
        <p:txBody>
          <a:bodyPr wrap="none" anchor="ctr"/>
          <a:lstStyle/>
          <a:p>
            <a:endParaRPr lang="en-US">
              <a:latin typeface="Calibri" pitchFamily="34" charset="0"/>
            </a:endParaRPr>
          </a:p>
        </p:txBody>
      </p:sp>
      <p:sp>
        <p:nvSpPr>
          <p:cNvPr id="125" name="TextBox 471"/>
          <p:cNvSpPr txBox="1">
            <a:spLocks noChangeArrowheads="1"/>
          </p:cNvSpPr>
          <p:nvPr/>
        </p:nvSpPr>
        <p:spPr bwMode="auto">
          <a:xfrm>
            <a:off x="286871" y="3989633"/>
            <a:ext cx="7519474" cy="2400657"/>
          </a:xfrm>
          <a:prstGeom prst="rect">
            <a:avLst/>
          </a:prstGeom>
          <a:noFill/>
          <a:ln w="9525">
            <a:noFill/>
            <a:miter lim="800000"/>
            <a:headEnd/>
            <a:tailEnd/>
          </a:ln>
        </p:spPr>
        <p:txBody>
          <a:bodyPr wrap="square">
            <a:spAutoFit/>
          </a:bodyPr>
          <a:lstStyle/>
          <a:p>
            <a:pPr marL="287338" indent="-287338">
              <a:spcAft>
                <a:spcPts val="600"/>
              </a:spcAft>
              <a:buFontTx/>
              <a:buChar char="•"/>
            </a:pPr>
            <a:r>
              <a:rPr lang="en-US" sz="2000" dirty="0">
                <a:latin typeface="Arial" panose="020B0604020202020204" pitchFamily="34" charset="0"/>
                <a:cs typeface="Arial" panose="020B0604020202020204" pitchFamily="34" charset="0"/>
              </a:rPr>
              <a:t>If we were able to identify suicide risk as well as depression screening (about .80 sensitivity, .70 specificity), then 28 of the 35 suicides could be identified (</a:t>
            </a:r>
            <a:r>
              <a:rPr lang="en-US" sz="2000" dirty="0">
                <a:solidFill>
                  <a:srgbClr val="009900"/>
                </a:solidFill>
                <a:latin typeface="Arial" panose="020B0604020202020204" pitchFamily="34" charset="0"/>
                <a:cs typeface="Arial" panose="020B0604020202020204" pitchFamily="34" charset="0"/>
              </a:rPr>
              <a:t>Green shading</a:t>
            </a:r>
            <a:r>
              <a:rPr lang="en-US" sz="2000" dirty="0">
                <a:latin typeface="Arial" panose="020B0604020202020204" pitchFamily="34" charset="0"/>
                <a:cs typeface="Arial" panose="020B0604020202020204" pitchFamily="34" charset="0"/>
              </a:rPr>
              <a:t>).</a:t>
            </a:r>
          </a:p>
          <a:p>
            <a:pPr marL="287338" indent="-287338">
              <a:spcAft>
                <a:spcPts val="600"/>
              </a:spcAft>
              <a:buFontTx/>
              <a:buChar char="•"/>
            </a:pPr>
            <a:r>
              <a:rPr lang="en-US" sz="2000">
                <a:latin typeface="Arial" panose="020B0604020202020204" pitchFamily="34" charset="0"/>
                <a:cs typeface="Arial" panose="020B0604020202020204" pitchFamily="34" charset="0"/>
              </a:rPr>
              <a:t>However</a:t>
            </a:r>
            <a:r>
              <a:rPr lang="en-US" sz="2000" dirty="0">
                <a:latin typeface="Arial" panose="020B0604020202020204" pitchFamily="34" charset="0"/>
                <a:cs typeface="Arial" panose="020B0604020202020204" pitchFamily="34" charset="0"/>
              </a:rPr>
              <a:t>, ~30,000 additional Veterans who were not at risk would also be identified as at risk (</a:t>
            </a:r>
            <a:r>
              <a:rPr lang="en-US" sz="2000" dirty="0">
                <a:solidFill>
                  <a:srgbClr val="0066FF"/>
                </a:solidFill>
                <a:latin typeface="Arial" panose="020B0604020202020204" pitchFamily="34" charset="0"/>
                <a:cs typeface="Arial" panose="020B0604020202020204" pitchFamily="34" charset="0"/>
              </a:rPr>
              <a:t>Blue</a:t>
            </a:r>
            <a:r>
              <a:rPr lang="en-US" sz="2000" dirty="0">
                <a:solidFill>
                  <a:srgbClr val="002060"/>
                </a:solidFill>
                <a:latin typeface="Arial" panose="020B0604020202020204" pitchFamily="34" charset="0"/>
                <a:cs typeface="Arial" panose="020B0604020202020204" pitchFamily="34" charset="0"/>
              </a:rPr>
              <a:t> </a:t>
            </a:r>
            <a:r>
              <a:rPr lang="en-US" sz="2000" dirty="0">
                <a:solidFill>
                  <a:srgbClr val="0066FF"/>
                </a:solidFill>
                <a:latin typeface="Arial" panose="020B0604020202020204" pitchFamily="34" charset="0"/>
                <a:cs typeface="Arial" panose="020B0604020202020204" pitchFamily="34" charset="0"/>
              </a:rPr>
              <a:t>dots</a:t>
            </a:r>
            <a:r>
              <a:rPr lang="en-US" sz="2000" dirty="0">
                <a:latin typeface="Arial" panose="020B0604020202020204" pitchFamily="34" charset="0"/>
                <a:cs typeface="Arial" panose="020B0604020202020204" pitchFamily="34" charset="0"/>
              </a:rPr>
              <a:t>).</a:t>
            </a:r>
          </a:p>
          <a:p>
            <a:pPr marL="114300" indent="-114300">
              <a:buFontTx/>
              <a:buChar char="•"/>
            </a:pPr>
            <a:endParaRPr lang="en-US" sz="2000" dirty="0">
              <a:latin typeface="Arial" panose="020B0604020202020204" pitchFamily="34" charset="0"/>
              <a:cs typeface="Arial" panose="020B0604020202020204" pitchFamily="34" charset="0"/>
            </a:endParaRPr>
          </a:p>
          <a:p>
            <a:pPr marL="114300" indent="-114300">
              <a:buFontTx/>
              <a:buChar char="•"/>
            </a:pPr>
            <a:endParaRPr lang="en-US" sz="2000" dirty="0">
              <a:latin typeface="Arial" panose="020B0604020202020204" pitchFamily="34" charset="0"/>
              <a:cs typeface="Arial" panose="020B0604020202020204" pitchFamily="34" charset="0"/>
            </a:endParaRPr>
          </a:p>
        </p:txBody>
      </p:sp>
      <p:sp>
        <p:nvSpPr>
          <p:cNvPr id="131" name="Rectangle 276"/>
          <p:cNvSpPr>
            <a:spLocks noChangeArrowheads="1"/>
          </p:cNvSpPr>
          <p:nvPr/>
        </p:nvSpPr>
        <p:spPr bwMode="auto">
          <a:xfrm>
            <a:off x="6354297" y="2582863"/>
            <a:ext cx="1325563" cy="1263650"/>
          </a:xfrm>
          <a:prstGeom prst="rect">
            <a:avLst/>
          </a:prstGeom>
          <a:solidFill>
            <a:srgbClr val="3366FF">
              <a:alpha val="41960"/>
            </a:srgbClr>
          </a:solidFill>
          <a:ln w="15875">
            <a:solidFill>
              <a:srgbClr val="0066FF"/>
            </a:solidFill>
            <a:miter lim="800000"/>
            <a:headEnd/>
            <a:tailEnd/>
          </a:ln>
        </p:spPr>
        <p:txBody>
          <a:bodyPr wrap="none" anchor="ctr"/>
          <a:lstStyle/>
          <a:p>
            <a:endParaRPr lang="en-US">
              <a:latin typeface="Calibri" pitchFamily="34" charset="0"/>
            </a:endParaRPr>
          </a:p>
        </p:txBody>
      </p:sp>
      <p:sp>
        <p:nvSpPr>
          <p:cNvPr id="132" name="Rectangle 276"/>
          <p:cNvSpPr>
            <a:spLocks noChangeArrowheads="1"/>
          </p:cNvSpPr>
          <p:nvPr/>
        </p:nvSpPr>
        <p:spPr bwMode="auto">
          <a:xfrm>
            <a:off x="7711610" y="2582863"/>
            <a:ext cx="1328737" cy="1263650"/>
          </a:xfrm>
          <a:prstGeom prst="rect">
            <a:avLst/>
          </a:prstGeom>
          <a:solidFill>
            <a:srgbClr val="3366FF">
              <a:alpha val="41960"/>
            </a:srgbClr>
          </a:solidFill>
          <a:ln w="15875">
            <a:solidFill>
              <a:srgbClr val="0066FF"/>
            </a:solidFill>
            <a:miter lim="800000"/>
            <a:headEnd/>
            <a:tailEnd/>
          </a:ln>
        </p:spPr>
        <p:txBody>
          <a:bodyPr wrap="none" anchor="ctr"/>
          <a:lstStyle/>
          <a:p>
            <a:endParaRPr lang="en-US">
              <a:latin typeface="Calibri" pitchFamily="34" charset="0"/>
            </a:endParaRPr>
          </a:p>
        </p:txBody>
      </p:sp>
      <p:grpSp>
        <p:nvGrpSpPr>
          <p:cNvPr id="126" name="Group 125"/>
          <p:cNvGrpSpPr/>
          <p:nvPr/>
        </p:nvGrpSpPr>
        <p:grpSpPr>
          <a:xfrm>
            <a:off x="8211671" y="3402014"/>
            <a:ext cx="2589212" cy="2312987"/>
            <a:chOff x="5638800" y="3402013"/>
            <a:chExt cx="2589212" cy="2312987"/>
          </a:xfrm>
        </p:grpSpPr>
        <p:graphicFrame>
          <p:nvGraphicFramePr>
            <p:cNvPr id="124" name="Diagram 123"/>
            <p:cNvGraphicFramePr/>
            <p:nvPr/>
          </p:nvGraphicFramePr>
          <p:xfrm>
            <a:off x="6926262" y="3934517"/>
            <a:ext cx="1301750" cy="13994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17" name="Group 303"/>
            <p:cNvGrpSpPr>
              <a:grpSpLocks/>
            </p:cNvGrpSpPr>
            <p:nvPr/>
          </p:nvGrpSpPr>
          <p:grpSpPr bwMode="auto">
            <a:xfrm>
              <a:off x="5867400" y="4524375"/>
              <a:ext cx="1095375" cy="973137"/>
              <a:chOff x="3408" y="2870"/>
              <a:chExt cx="1015" cy="1004"/>
            </a:xfrm>
          </p:grpSpPr>
          <p:grpSp>
            <p:nvGrpSpPr>
              <p:cNvPr id="18" name="Group 282"/>
              <p:cNvGrpSpPr>
                <a:grpSpLocks/>
              </p:cNvGrpSpPr>
              <p:nvPr/>
            </p:nvGrpSpPr>
            <p:grpSpPr bwMode="auto">
              <a:xfrm>
                <a:off x="3408" y="2870"/>
                <a:ext cx="1015" cy="802"/>
                <a:chOff x="3408" y="2870"/>
                <a:chExt cx="1015" cy="802"/>
              </a:xfrm>
            </p:grpSpPr>
            <p:sp>
              <p:nvSpPr>
                <p:cNvPr id="119" name="Oval 236"/>
                <p:cNvSpPr>
                  <a:spLocks noChangeArrowheads="1"/>
                </p:cNvSpPr>
                <p:nvPr/>
              </p:nvSpPr>
              <p:spPr bwMode="auto">
                <a:xfrm>
                  <a:off x="4225"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41" name="Oval 146"/>
                <p:cNvSpPr>
                  <a:spLocks noChangeArrowheads="1"/>
                </p:cNvSpPr>
                <p:nvPr/>
              </p:nvSpPr>
              <p:spPr bwMode="auto">
                <a:xfrm>
                  <a:off x="3408" y="2870"/>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2" name="Oval 155"/>
                <p:cNvSpPr>
                  <a:spLocks noChangeArrowheads="1"/>
                </p:cNvSpPr>
                <p:nvPr/>
              </p:nvSpPr>
              <p:spPr bwMode="auto">
                <a:xfrm>
                  <a:off x="4326"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3" name="Oval 158"/>
                <p:cNvSpPr>
                  <a:spLocks noChangeArrowheads="1"/>
                </p:cNvSpPr>
                <p:nvPr/>
              </p:nvSpPr>
              <p:spPr bwMode="auto">
                <a:xfrm>
                  <a:off x="3408" y="29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4" name="Oval 167"/>
                <p:cNvSpPr>
                  <a:spLocks noChangeArrowheads="1"/>
                </p:cNvSpPr>
                <p:nvPr/>
              </p:nvSpPr>
              <p:spPr bwMode="auto">
                <a:xfrm>
                  <a:off x="4326"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5" name="Oval 171"/>
                <p:cNvSpPr>
                  <a:spLocks noChangeArrowheads="1"/>
                </p:cNvSpPr>
                <p:nvPr/>
              </p:nvSpPr>
              <p:spPr bwMode="auto">
                <a:xfrm>
                  <a:off x="3408" y="30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6" name="Oval 180"/>
                <p:cNvSpPr>
                  <a:spLocks noChangeArrowheads="1"/>
                </p:cNvSpPr>
                <p:nvPr/>
              </p:nvSpPr>
              <p:spPr bwMode="auto">
                <a:xfrm>
                  <a:off x="4326"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7" name="Oval 182"/>
                <p:cNvSpPr>
                  <a:spLocks noChangeArrowheads="1"/>
                </p:cNvSpPr>
                <p:nvPr/>
              </p:nvSpPr>
              <p:spPr bwMode="auto">
                <a:xfrm>
                  <a:off x="3408" y="31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8" name="Oval 191"/>
                <p:cNvSpPr>
                  <a:spLocks noChangeArrowheads="1"/>
                </p:cNvSpPr>
                <p:nvPr/>
              </p:nvSpPr>
              <p:spPr bwMode="auto">
                <a:xfrm>
                  <a:off x="4326"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49" name="Oval 194"/>
                <p:cNvSpPr>
                  <a:spLocks noChangeArrowheads="1"/>
                </p:cNvSpPr>
                <p:nvPr/>
              </p:nvSpPr>
              <p:spPr bwMode="auto">
                <a:xfrm>
                  <a:off x="3409" y="32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0" name="Oval 203"/>
                <p:cNvSpPr>
                  <a:spLocks noChangeArrowheads="1"/>
                </p:cNvSpPr>
                <p:nvPr/>
              </p:nvSpPr>
              <p:spPr bwMode="auto">
                <a:xfrm>
                  <a:off x="4327"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1" name="Oval 205"/>
                <p:cNvSpPr>
                  <a:spLocks noChangeArrowheads="1"/>
                </p:cNvSpPr>
                <p:nvPr/>
              </p:nvSpPr>
              <p:spPr bwMode="auto">
                <a:xfrm>
                  <a:off x="3409" y="33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2" name="Oval 214"/>
                <p:cNvSpPr>
                  <a:spLocks noChangeArrowheads="1"/>
                </p:cNvSpPr>
                <p:nvPr/>
              </p:nvSpPr>
              <p:spPr bwMode="auto">
                <a:xfrm>
                  <a:off x="4327"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3" name="Oval 217"/>
                <p:cNvSpPr>
                  <a:spLocks noChangeArrowheads="1"/>
                </p:cNvSpPr>
                <p:nvPr/>
              </p:nvSpPr>
              <p:spPr bwMode="auto">
                <a:xfrm>
                  <a:off x="3408" y="3474"/>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54" name="Oval 147"/>
                <p:cNvSpPr>
                  <a:spLocks noChangeArrowheads="1"/>
                </p:cNvSpPr>
                <p:nvPr/>
              </p:nvSpPr>
              <p:spPr bwMode="auto">
                <a:xfrm>
                  <a:off x="3509" y="2870"/>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5" name="Oval 148"/>
                <p:cNvSpPr>
                  <a:spLocks noChangeArrowheads="1"/>
                </p:cNvSpPr>
                <p:nvPr/>
              </p:nvSpPr>
              <p:spPr bwMode="auto">
                <a:xfrm>
                  <a:off x="3614"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6" name="Oval 149"/>
                <p:cNvSpPr>
                  <a:spLocks noChangeArrowheads="1"/>
                </p:cNvSpPr>
                <p:nvPr/>
              </p:nvSpPr>
              <p:spPr bwMode="auto">
                <a:xfrm>
                  <a:off x="3715"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7" name="Oval 150"/>
                <p:cNvSpPr>
                  <a:spLocks noChangeArrowheads="1"/>
                </p:cNvSpPr>
                <p:nvPr/>
              </p:nvSpPr>
              <p:spPr bwMode="auto">
                <a:xfrm>
                  <a:off x="3819"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8" name="Oval 151"/>
                <p:cNvSpPr>
                  <a:spLocks noChangeArrowheads="1"/>
                </p:cNvSpPr>
                <p:nvPr/>
              </p:nvSpPr>
              <p:spPr bwMode="auto">
                <a:xfrm>
                  <a:off x="3920"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59" name="Oval 152"/>
                <p:cNvSpPr>
                  <a:spLocks noChangeArrowheads="1"/>
                </p:cNvSpPr>
                <p:nvPr/>
              </p:nvSpPr>
              <p:spPr bwMode="auto">
                <a:xfrm>
                  <a:off x="4022" y="2870"/>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0" name="Oval 153"/>
                <p:cNvSpPr>
                  <a:spLocks noChangeArrowheads="1"/>
                </p:cNvSpPr>
                <p:nvPr/>
              </p:nvSpPr>
              <p:spPr bwMode="auto">
                <a:xfrm>
                  <a:off x="4123" y="2870"/>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1" name="Oval 154"/>
                <p:cNvSpPr>
                  <a:spLocks noChangeArrowheads="1"/>
                </p:cNvSpPr>
                <p:nvPr/>
              </p:nvSpPr>
              <p:spPr bwMode="auto">
                <a:xfrm>
                  <a:off x="4225" y="28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2" name="Oval 159"/>
                <p:cNvSpPr>
                  <a:spLocks noChangeArrowheads="1"/>
                </p:cNvSpPr>
                <p:nvPr/>
              </p:nvSpPr>
              <p:spPr bwMode="auto">
                <a:xfrm>
                  <a:off x="3509" y="29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3" name="Oval 160"/>
                <p:cNvSpPr>
                  <a:spLocks noChangeArrowheads="1"/>
                </p:cNvSpPr>
                <p:nvPr/>
              </p:nvSpPr>
              <p:spPr bwMode="auto">
                <a:xfrm>
                  <a:off x="3614"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4" name="Oval 161"/>
                <p:cNvSpPr>
                  <a:spLocks noChangeArrowheads="1"/>
                </p:cNvSpPr>
                <p:nvPr/>
              </p:nvSpPr>
              <p:spPr bwMode="auto">
                <a:xfrm>
                  <a:off x="3715"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5" name="Oval 162"/>
                <p:cNvSpPr>
                  <a:spLocks noChangeArrowheads="1"/>
                </p:cNvSpPr>
                <p:nvPr/>
              </p:nvSpPr>
              <p:spPr bwMode="auto">
                <a:xfrm>
                  <a:off x="3819"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6" name="Oval 163"/>
                <p:cNvSpPr>
                  <a:spLocks noChangeArrowheads="1"/>
                </p:cNvSpPr>
                <p:nvPr/>
              </p:nvSpPr>
              <p:spPr bwMode="auto">
                <a:xfrm>
                  <a:off x="3920"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7" name="Oval 164"/>
                <p:cNvSpPr>
                  <a:spLocks noChangeArrowheads="1"/>
                </p:cNvSpPr>
                <p:nvPr/>
              </p:nvSpPr>
              <p:spPr bwMode="auto">
                <a:xfrm>
                  <a:off x="4022" y="29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8" name="Oval 165"/>
                <p:cNvSpPr>
                  <a:spLocks noChangeArrowheads="1"/>
                </p:cNvSpPr>
                <p:nvPr/>
              </p:nvSpPr>
              <p:spPr bwMode="auto">
                <a:xfrm>
                  <a:off x="4123" y="2971"/>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69" name="Oval 166"/>
                <p:cNvSpPr>
                  <a:spLocks noChangeArrowheads="1"/>
                </p:cNvSpPr>
                <p:nvPr/>
              </p:nvSpPr>
              <p:spPr bwMode="auto">
                <a:xfrm>
                  <a:off x="4225" y="29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0" name="Oval 172"/>
                <p:cNvSpPr>
                  <a:spLocks noChangeArrowheads="1"/>
                </p:cNvSpPr>
                <p:nvPr/>
              </p:nvSpPr>
              <p:spPr bwMode="auto">
                <a:xfrm>
                  <a:off x="3509" y="30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1" name="Oval 173"/>
                <p:cNvSpPr>
                  <a:spLocks noChangeArrowheads="1"/>
                </p:cNvSpPr>
                <p:nvPr/>
              </p:nvSpPr>
              <p:spPr bwMode="auto">
                <a:xfrm>
                  <a:off x="3614"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2" name="Oval 174"/>
                <p:cNvSpPr>
                  <a:spLocks noChangeArrowheads="1"/>
                </p:cNvSpPr>
                <p:nvPr/>
              </p:nvSpPr>
              <p:spPr bwMode="auto">
                <a:xfrm>
                  <a:off x="3715"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3" name="Oval 175"/>
                <p:cNvSpPr>
                  <a:spLocks noChangeArrowheads="1"/>
                </p:cNvSpPr>
                <p:nvPr/>
              </p:nvSpPr>
              <p:spPr bwMode="auto">
                <a:xfrm>
                  <a:off x="3819"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4" name="Oval 176"/>
                <p:cNvSpPr>
                  <a:spLocks noChangeArrowheads="1"/>
                </p:cNvSpPr>
                <p:nvPr/>
              </p:nvSpPr>
              <p:spPr bwMode="auto">
                <a:xfrm>
                  <a:off x="3920"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5" name="Oval 177"/>
                <p:cNvSpPr>
                  <a:spLocks noChangeArrowheads="1"/>
                </p:cNvSpPr>
                <p:nvPr/>
              </p:nvSpPr>
              <p:spPr bwMode="auto">
                <a:xfrm>
                  <a:off x="4022" y="30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6" name="Oval 178"/>
                <p:cNvSpPr>
                  <a:spLocks noChangeArrowheads="1"/>
                </p:cNvSpPr>
                <p:nvPr/>
              </p:nvSpPr>
              <p:spPr bwMode="auto">
                <a:xfrm>
                  <a:off x="4123" y="3072"/>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7" name="Oval 179"/>
                <p:cNvSpPr>
                  <a:spLocks noChangeArrowheads="1"/>
                </p:cNvSpPr>
                <p:nvPr/>
              </p:nvSpPr>
              <p:spPr bwMode="auto">
                <a:xfrm>
                  <a:off x="4225" y="30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8" name="Oval 183"/>
                <p:cNvSpPr>
                  <a:spLocks noChangeArrowheads="1"/>
                </p:cNvSpPr>
                <p:nvPr/>
              </p:nvSpPr>
              <p:spPr bwMode="auto">
                <a:xfrm>
                  <a:off x="3509" y="31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79" name="Oval 184"/>
                <p:cNvSpPr>
                  <a:spLocks noChangeArrowheads="1"/>
                </p:cNvSpPr>
                <p:nvPr/>
              </p:nvSpPr>
              <p:spPr bwMode="auto">
                <a:xfrm>
                  <a:off x="3614"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0" name="Oval 185"/>
                <p:cNvSpPr>
                  <a:spLocks noChangeArrowheads="1"/>
                </p:cNvSpPr>
                <p:nvPr/>
              </p:nvSpPr>
              <p:spPr bwMode="auto">
                <a:xfrm>
                  <a:off x="3715"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1" name="Oval 186"/>
                <p:cNvSpPr>
                  <a:spLocks noChangeArrowheads="1"/>
                </p:cNvSpPr>
                <p:nvPr/>
              </p:nvSpPr>
              <p:spPr bwMode="auto">
                <a:xfrm>
                  <a:off x="3819"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2" name="Oval 187"/>
                <p:cNvSpPr>
                  <a:spLocks noChangeArrowheads="1"/>
                </p:cNvSpPr>
                <p:nvPr/>
              </p:nvSpPr>
              <p:spPr bwMode="auto">
                <a:xfrm>
                  <a:off x="3920"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3" name="Oval 188"/>
                <p:cNvSpPr>
                  <a:spLocks noChangeArrowheads="1"/>
                </p:cNvSpPr>
                <p:nvPr/>
              </p:nvSpPr>
              <p:spPr bwMode="auto">
                <a:xfrm>
                  <a:off x="4022" y="31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4" name="Oval 189"/>
                <p:cNvSpPr>
                  <a:spLocks noChangeArrowheads="1"/>
                </p:cNvSpPr>
                <p:nvPr/>
              </p:nvSpPr>
              <p:spPr bwMode="auto">
                <a:xfrm>
                  <a:off x="4123" y="31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5" name="Oval 190"/>
                <p:cNvSpPr>
                  <a:spLocks noChangeArrowheads="1"/>
                </p:cNvSpPr>
                <p:nvPr/>
              </p:nvSpPr>
              <p:spPr bwMode="auto">
                <a:xfrm>
                  <a:off x="4225" y="31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6" name="Oval 195"/>
                <p:cNvSpPr>
                  <a:spLocks noChangeArrowheads="1"/>
                </p:cNvSpPr>
                <p:nvPr/>
              </p:nvSpPr>
              <p:spPr bwMode="auto">
                <a:xfrm>
                  <a:off x="3510" y="32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7" name="Oval 196"/>
                <p:cNvSpPr>
                  <a:spLocks noChangeArrowheads="1"/>
                </p:cNvSpPr>
                <p:nvPr/>
              </p:nvSpPr>
              <p:spPr bwMode="auto">
                <a:xfrm>
                  <a:off x="3615"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8" name="Oval 197"/>
                <p:cNvSpPr>
                  <a:spLocks noChangeArrowheads="1"/>
                </p:cNvSpPr>
                <p:nvPr/>
              </p:nvSpPr>
              <p:spPr bwMode="auto">
                <a:xfrm>
                  <a:off x="3716"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89" name="Oval 198"/>
                <p:cNvSpPr>
                  <a:spLocks noChangeArrowheads="1"/>
                </p:cNvSpPr>
                <p:nvPr/>
              </p:nvSpPr>
              <p:spPr bwMode="auto">
                <a:xfrm>
                  <a:off x="3820"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0" name="Oval 199"/>
                <p:cNvSpPr>
                  <a:spLocks noChangeArrowheads="1"/>
                </p:cNvSpPr>
                <p:nvPr/>
              </p:nvSpPr>
              <p:spPr bwMode="auto">
                <a:xfrm>
                  <a:off x="3921"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1" name="Oval 200"/>
                <p:cNvSpPr>
                  <a:spLocks noChangeArrowheads="1"/>
                </p:cNvSpPr>
                <p:nvPr/>
              </p:nvSpPr>
              <p:spPr bwMode="auto">
                <a:xfrm>
                  <a:off x="4023" y="32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2" name="Oval 201"/>
                <p:cNvSpPr>
                  <a:spLocks noChangeArrowheads="1"/>
                </p:cNvSpPr>
                <p:nvPr/>
              </p:nvSpPr>
              <p:spPr bwMode="auto">
                <a:xfrm>
                  <a:off x="4124" y="3273"/>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3" name="Oval 202"/>
                <p:cNvSpPr>
                  <a:spLocks noChangeArrowheads="1"/>
                </p:cNvSpPr>
                <p:nvPr/>
              </p:nvSpPr>
              <p:spPr bwMode="auto">
                <a:xfrm>
                  <a:off x="4226" y="32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4" name="Oval 206"/>
                <p:cNvSpPr>
                  <a:spLocks noChangeArrowheads="1"/>
                </p:cNvSpPr>
                <p:nvPr/>
              </p:nvSpPr>
              <p:spPr bwMode="auto">
                <a:xfrm>
                  <a:off x="3510" y="33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5" name="Oval 207"/>
                <p:cNvSpPr>
                  <a:spLocks noChangeArrowheads="1"/>
                </p:cNvSpPr>
                <p:nvPr/>
              </p:nvSpPr>
              <p:spPr bwMode="auto">
                <a:xfrm>
                  <a:off x="3615"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6" name="Oval 208"/>
                <p:cNvSpPr>
                  <a:spLocks noChangeArrowheads="1"/>
                </p:cNvSpPr>
                <p:nvPr/>
              </p:nvSpPr>
              <p:spPr bwMode="auto">
                <a:xfrm>
                  <a:off x="3716"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7" name="Oval 209"/>
                <p:cNvSpPr>
                  <a:spLocks noChangeArrowheads="1"/>
                </p:cNvSpPr>
                <p:nvPr/>
              </p:nvSpPr>
              <p:spPr bwMode="auto">
                <a:xfrm>
                  <a:off x="3820"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8" name="Oval 210"/>
                <p:cNvSpPr>
                  <a:spLocks noChangeArrowheads="1"/>
                </p:cNvSpPr>
                <p:nvPr/>
              </p:nvSpPr>
              <p:spPr bwMode="auto">
                <a:xfrm>
                  <a:off x="3921"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99" name="Oval 211"/>
                <p:cNvSpPr>
                  <a:spLocks noChangeArrowheads="1"/>
                </p:cNvSpPr>
                <p:nvPr/>
              </p:nvSpPr>
              <p:spPr bwMode="auto">
                <a:xfrm>
                  <a:off x="4023" y="33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0" name="Oval 212"/>
                <p:cNvSpPr>
                  <a:spLocks noChangeArrowheads="1"/>
                </p:cNvSpPr>
                <p:nvPr/>
              </p:nvSpPr>
              <p:spPr bwMode="auto">
                <a:xfrm>
                  <a:off x="4124" y="33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1" name="Oval 213"/>
                <p:cNvSpPr>
                  <a:spLocks noChangeArrowheads="1"/>
                </p:cNvSpPr>
                <p:nvPr/>
              </p:nvSpPr>
              <p:spPr bwMode="auto">
                <a:xfrm>
                  <a:off x="4226" y="33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2" name="Oval 218"/>
                <p:cNvSpPr>
                  <a:spLocks noChangeArrowheads="1"/>
                </p:cNvSpPr>
                <p:nvPr/>
              </p:nvSpPr>
              <p:spPr bwMode="auto">
                <a:xfrm>
                  <a:off x="3509" y="3474"/>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03" name="Oval 219"/>
                <p:cNvSpPr>
                  <a:spLocks noChangeArrowheads="1"/>
                </p:cNvSpPr>
                <p:nvPr/>
              </p:nvSpPr>
              <p:spPr bwMode="auto">
                <a:xfrm>
                  <a:off x="3614" y="34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04" name="Oval 220"/>
                <p:cNvSpPr>
                  <a:spLocks noChangeArrowheads="1"/>
                </p:cNvSpPr>
                <p:nvPr/>
              </p:nvSpPr>
              <p:spPr bwMode="auto">
                <a:xfrm>
                  <a:off x="3715" y="34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05" name="Oval 221"/>
                <p:cNvSpPr>
                  <a:spLocks noChangeArrowheads="1"/>
                </p:cNvSpPr>
                <p:nvPr/>
              </p:nvSpPr>
              <p:spPr bwMode="auto">
                <a:xfrm>
                  <a:off x="3819" y="34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06" name="Oval 222"/>
                <p:cNvSpPr>
                  <a:spLocks noChangeArrowheads="1"/>
                </p:cNvSpPr>
                <p:nvPr/>
              </p:nvSpPr>
              <p:spPr bwMode="auto">
                <a:xfrm>
                  <a:off x="3920" y="34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7" name="Oval 223"/>
                <p:cNvSpPr>
                  <a:spLocks noChangeArrowheads="1"/>
                </p:cNvSpPr>
                <p:nvPr/>
              </p:nvSpPr>
              <p:spPr bwMode="auto">
                <a:xfrm>
                  <a:off x="4022" y="34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8" name="Oval 224"/>
                <p:cNvSpPr>
                  <a:spLocks noChangeArrowheads="1"/>
                </p:cNvSpPr>
                <p:nvPr/>
              </p:nvSpPr>
              <p:spPr bwMode="auto">
                <a:xfrm>
                  <a:off x="4123" y="3474"/>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09" name="Oval 225"/>
                <p:cNvSpPr>
                  <a:spLocks noChangeArrowheads="1"/>
                </p:cNvSpPr>
                <p:nvPr/>
              </p:nvSpPr>
              <p:spPr bwMode="auto">
                <a:xfrm>
                  <a:off x="4225" y="34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10" name="Oval 226"/>
                <p:cNvSpPr>
                  <a:spLocks noChangeArrowheads="1"/>
                </p:cNvSpPr>
                <p:nvPr/>
              </p:nvSpPr>
              <p:spPr bwMode="auto">
                <a:xfrm>
                  <a:off x="4326" y="3475"/>
                  <a:ext cx="96" cy="96"/>
                </a:xfrm>
                <a:prstGeom prst="ellipse">
                  <a:avLst/>
                </a:prstGeom>
                <a:solidFill>
                  <a:schemeClr val="tx1"/>
                </a:solidFill>
                <a:ln w="9525">
                  <a:solidFill>
                    <a:schemeClr val="tx1"/>
                  </a:solidFill>
                  <a:round/>
                  <a:headEnd/>
                  <a:tailEnd/>
                </a:ln>
              </p:spPr>
              <p:txBody>
                <a:bodyPr wrap="none" anchor="ctr"/>
                <a:lstStyle/>
                <a:p>
                  <a:endParaRPr lang="en-US">
                    <a:latin typeface="Calibri" pitchFamily="34" charset="0"/>
                  </a:endParaRPr>
                </a:p>
              </p:txBody>
            </p:sp>
            <p:sp>
              <p:nvSpPr>
                <p:cNvPr id="111" name="Oval 228"/>
                <p:cNvSpPr>
                  <a:spLocks noChangeArrowheads="1"/>
                </p:cNvSpPr>
                <p:nvPr/>
              </p:nvSpPr>
              <p:spPr bwMode="auto">
                <a:xfrm>
                  <a:off x="3408" y="3575"/>
                  <a:ext cx="96" cy="96"/>
                </a:xfrm>
                <a:prstGeom prst="ellipse">
                  <a:avLst/>
                </a:prstGeom>
                <a:solidFill>
                  <a:srgbClr val="FF0000"/>
                </a:solidFill>
                <a:ln w="9525">
                  <a:noFill/>
                  <a:round/>
                  <a:headEnd/>
                  <a:tailEnd/>
                </a:ln>
              </p:spPr>
              <p:txBody>
                <a:bodyPr wrap="none" anchor="ctr"/>
                <a:lstStyle/>
                <a:p>
                  <a:endParaRPr lang="en-US">
                    <a:solidFill>
                      <a:srgbClr val="FF0000"/>
                    </a:solidFill>
                    <a:latin typeface="Calibri" pitchFamily="34" charset="0"/>
                  </a:endParaRPr>
                </a:p>
              </p:txBody>
            </p:sp>
            <p:sp>
              <p:nvSpPr>
                <p:cNvPr id="112" name="Oval 229"/>
                <p:cNvSpPr>
                  <a:spLocks noChangeArrowheads="1"/>
                </p:cNvSpPr>
                <p:nvPr/>
              </p:nvSpPr>
              <p:spPr bwMode="auto">
                <a:xfrm>
                  <a:off x="3509" y="35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3" name="Oval 230"/>
                <p:cNvSpPr>
                  <a:spLocks noChangeArrowheads="1"/>
                </p:cNvSpPr>
                <p:nvPr/>
              </p:nvSpPr>
              <p:spPr bwMode="auto">
                <a:xfrm>
                  <a:off x="3614"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4" name="Oval 231"/>
                <p:cNvSpPr>
                  <a:spLocks noChangeArrowheads="1"/>
                </p:cNvSpPr>
                <p:nvPr/>
              </p:nvSpPr>
              <p:spPr bwMode="auto">
                <a:xfrm>
                  <a:off x="3715"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5" name="Oval 232"/>
                <p:cNvSpPr>
                  <a:spLocks noChangeArrowheads="1"/>
                </p:cNvSpPr>
                <p:nvPr/>
              </p:nvSpPr>
              <p:spPr bwMode="auto">
                <a:xfrm>
                  <a:off x="3819"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6" name="Oval 233"/>
                <p:cNvSpPr>
                  <a:spLocks noChangeArrowheads="1"/>
                </p:cNvSpPr>
                <p:nvPr/>
              </p:nvSpPr>
              <p:spPr bwMode="auto">
                <a:xfrm>
                  <a:off x="3920"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7" name="Oval 234"/>
                <p:cNvSpPr>
                  <a:spLocks noChangeArrowheads="1"/>
                </p:cNvSpPr>
                <p:nvPr/>
              </p:nvSpPr>
              <p:spPr bwMode="auto">
                <a:xfrm>
                  <a:off x="4022" y="35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18" name="Oval 235"/>
                <p:cNvSpPr>
                  <a:spLocks noChangeArrowheads="1"/>
                </p:cNvSpPr>
                <p:nvPr/>
              </p:nvSpPr>
              <p:spPr bwMode="auto">
                <a:xfrm>
                  <a:off x="4123" y="3575"/>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sp>
              <p:nvSpPr>
                <p:cNvPr id="120" name="Oval 237"/>
                <p:cNvSpPr>
                  <a:spLocks noChangeArrowheads="1"/>
                </p:cNvSpPr>
                <p:nvPr/>
              </p:nvSpPr>
              <p:spPr bwMode="auto">
                <a:xfrm>
                  <a:off x="4326" y="3576"/>
                  <a:ext cx="96" cy="96"/>
                </a:xfrm>
                <a:prstGeom prst="ellipse">
                  <a:avLst/>
                </a:prstGeom>
                <a:solidFill>
                  <a:srgbClr val="FF0000"/>
                </a:solidFill>
                <a:ln w="9525">
                  <a:noFill/>
                  <a:round/>
                  <a:headEnd/>
                  <a:tailEnd/>
                </a:ln>
              </p:spPr>
              <p:txBody>
                <a:bodyPr wrap="none" anchor="ctr"/>
                <a:lstStyle/>
                <a:p>
                  <a:endParaRPr lang="en-US">
                    <a:latin typeface="Calibri" pitchFamily="34" charset="0"/>
                  </a:endParaRPr>
                </a:p>
              </p:txBody>
            </p:sp>
          </p:grpSp>
          <p:grpSp>
            <p:nvGrpSpPr>
              <p:cNvPr id="19" name="Group 280"/>
              <p:cNvGrpSpPr>
                <a:grpSpLocks/>
              </p:cNvGrpSpPr>
              <p:nvPr/>
            </p:nvGrpSpPr>
            <p:grpSpPr bwMode="auto">
              <a:xfrm>
                <a:off x="3408" y="3676"/>
                <a:ext cx="811" cy="198"/>
                <a:chOff x="3408" y="3676"/>
                <a:chExt cx="811" cy="198"/>
              </a:xfrm>
            </p:grpSpPr>
            <p:sp>
              <p:nvSpPr>
                <p:cNvPr id="25" name="Oval 247"/>
                <p:cNvSpPr>
                  <a:spLocks noChangeArrowheads="1"/>
                </p:cNvSpPr>
                <p:nvPr/>
              </p:nvSpPr>
              <p:spPr bwMode="auto">
                <a:xfrm>
                  <a:off x="4123" y="3676"/>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6" name="Oval 240"/>
                <p:cNvSpPr>
                  <a:spLocks noChangeArrowheads="1"/>
                </p:cNvSpPr>
                <p:nvPr/>
              </p:nvSpPr>
              <p:spPr bwMode="auto">
                <a:xfrm>
                  <a:off x="3408" y="3676"/>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7" name="Oval 241"/>
                <p:cNvSpPr>
                  <a:spLocks noChangeArrowheads="1"/>
                </p:cNvSpPr>
                <p:nvPr/>
              </p:nvSpPr>
              <p:spPr bwMode="auto">
                <a:xfrm>
                  <a:off x="3509" y="3676"/>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8" name="Oval 242"/>
                <p:cNvSpPr>
                  <a:spLocks noChangeArrowheads="1"/>
                </p:cNvSpPr>
                <p:nvPr/>
              </p:nvSpPr>
              <p:spPr bwMode="auto">
                <a:xfrm>
                  <a:off x="3614"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9" name="Oval 243"/>
                <p:cNvSpPr>
                  <a:spLocks noChangeArrowheads="1"/>
                </p:cNvSpPr>
                <p:nvPr/>
              </p:nvSpPr>
              <p:spPr bwMode="auto">
                <a:xfrm>
                  <a:off x="3715"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0" name="Oval 244"/>
                <p:cNvSpPr>
                  <a:spLocks noChangeArrowheads="1"/>
                </p:cNvSpPr>
                <p:nvPr/>
              </p:nvSpPr>
              <p:spPr bwMode="auto">
                <a:xfrm>
                  <a:off x="3819"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1" name="Oval 245"/>
                <p:cNvSpPr>
                  <a:spLocks noChangeArrowheads="1"/>
                </p:cNvSpPr>
                <p:nvPr/>
              </p:nvSpPr>
              <p:spPr bwMode="auto">
                <a:xfrm>
                  <a:off x="3920"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2" name="Oval 246"/>
                <p:cNvSpPr>
                  <a:spLocks noChangeArrowheads="1"/>
                </p:cNvSpPr>
                <p:nvPr/>
              </p:nvSpPr>
              <p:spPr bwMode="auto">
                <a:xfrm>
                  <a:off x="4022" y="3676"/>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3" name="Oval 251"/>
                <p:cNvSpPr>
                  <a:spLocks noChangeArrowheads="1"/>
                </p:cNvSpPr>
                <p:nvPr/>
              </p:nvSpPr>
              <p:spPr bwMode="auto">
                <a:xfrm>
                  <a:off x="3408" y="37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4" name="Oval 252"/>
                <p:cNvSpPr>
                  <a:spLocks noChangeArrowheads="1"/>
                </p:cNvSpPr>
                <p:nvPr/>
              </p:nvSpPr>
              <p:spPr bwMode="auto">
                <a:xfrm>
                  <a:off x="3509" y="37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5" name="Oval 257"/>
                <p:cNvSpPr>
                  <a:spLocks noChangeArrowheads="1"/>
                </p:cNvSpPr>
                <p:nvPr/>
              </p:nvSpPr>
              <p:spPr bwMode="auto">
                <a:xfrm>
                  <a:off x="4022" y="37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6" name="Oval 253"/>
                <p:cNvSpPr>
                  <a:spLocks noChangeArrowheads="1"/>
                </p:cNvSpPr>
                <p:nvPr/>
              </p:nvSpPr>
              <p:spPr bwMode="auto">
                <a:xfrm>
                  <a:off x="3614"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7" name="Oval 254"/>
                <p:cNvSpPr>
                  <a:spLocks noChangeArrowheads="1"/>
                </p:cNvSpPr>
                <p:nvPr/>
              </p:nvSpPr>
              <p:spPr bwMode="auto">
                <a:xfrm>
                  <a:off x="3715"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8" name="Oval 255"/>
                <p:cNvSpPr>
                  <a:spLocks noChangeArrowheads="1"/>
                </p:cNvSpPr>
                <p:nvPr/>
              </p:nvSpPr>
              <p:spPr bwMode="auto">
                <a:xfrm>
                  <a:off x="3819"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39" name="Oval 256"/>
                <p:cNvSpPr>
                  <a:spLocks noChangeArrowheads="1"/>
                </p:cNvSpPr>
                <p:nvPr/>
              </p:nvSpPr>
              <p:spPr bwMode="auto">
                <a:xfrm>
                  <a:off x="3920"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40" name="Oval 258"/>
                <p:cNvSpPr>
                  <a:spLocks noChangeArrowheads="1"/>
                </p:cNvSpPr>
                <p:nvPr/>
              </p:nvSpPr>
              <p:spPr bwMode="auto">
                <a:xfrm>
                  <a:off x="4123" y="37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grpSp>
          <p:grpSp>
            <p:nvGrpSpPr>
              <p:cNvPr id="20" name="Group 281"/>
              <p:cNvGrpSpPr>
                <a:grpSpLocks/>
              </p:cNvGrpSpPr>
              <p:nvPr/>
            </p:nvGrpSpPr>
            <p:grpSpPr bwMode="auto">
              <a:xfrm>
                <a:off x="4225" y="3677"/>
                <a:ext cx="197" cy="197"/>
                <a:chOff x="4225" y="3677"/>
                <a:chExt cx="197" cy="197"/>
              </a:xfrm>
            </p:grpSpPr>
            <p:sp>
              <p:nvSpPr>
                <p:cNvPr id="21" name="Oval 248"/>
                <p:cNvSpPr>
                  <a:spLocks noChangeArrowheads="1"/>
                </p:cNvSpPr>
                <p:nvPr/>
              </p:nvSpPr>
              <p:spPr bwMode="auto">
                <a:xfrm>
                  <a:off x="4225"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2" name="Oval 249"/>
                <p:cNvSpPr>
                  <a:spLocks noChangeArrowheads="1"/>
                </p:cNvSpPr>
                <p:nvPr/>
              </p:nvSpPr>
              <p:spPr bwMode="auto">
                <a:xfrm>
                  <a:off x="4326" y="3677"/>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3" name="Oval 259"/>
                <p:cNvSpPr>
                  <a:spLocks noChangeArrowheads="1"/>
                </p:cNvSpPr>
                <p:nvPr/>
              </p:nvSpPr>
              <p:spPr bwMode="auto">
                <a:xfrm>
                  <a:off x="4225"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sp>
              <p:nvSpPr>
                <p:cNvPr id="24" name="Oval 260"/>
                <p:cNvSpPr>
                  <a:spLocks noChangeArrowheads="1"/>
                </p:cNvSpPr>
                <p:nvPr/>
              </p:nvSpPr>
              <p:spPr bwMode="auto">
                <a:xfrm>
                  <a:off x="4326" y="3778"/>
                  <a:ext cx="96" cy="96"/>
                </a:xfrm>
                <a:prstGeom prst="ellipse">
                  <a:avLst/>
                </a:prstGeom>
                <a:solidFill>
                  <a:srgbClr val="FF0000"/>
                </a:solidFill>
                <a:ln w="9525">
                  <a:solidFill>
                    <a:srgbClr val="FF0000"/>
                  </a:solidFill>
                  <a:round/>
                  <a:headEnd/>
                  <a:tailEnd/>
                </a:ln>
              </p:spPr>
              <p:txBody>
                <a:bodyPr wrap="none" anchor="ctr"/>
                <a:lstStyle/>
                <a:p>
                  <a:endParaRPr lang="en-US">
                    <a:latin typeface="Calibri" pitchFamily="34" charset="0"/>
                  </a:endParaRPr>
                </a:p>
              </p:txBody>
            </p:sp>
          </p:grpSp>
        </p:grpSp>
        <p:sp>
          <p:nvSpPr>
            <p:cNvPr id="122" name="Oval 121"/>
            <p:cNvSpPr/>
            <p:nvPr/>
          </p:nvSpPr>
          <p:spPr>
            <a:xfrm>
              <a:off x="5638800" y="4287837"/>
              <a:ext cx="1522412" cy="1427163"/>
            </a:xfrm>
            <a:prstGeom prst="ellipse">
              <a:avLst/>
            </a:prstGeom>
            <a:noFill/>
            <a:ln>
              <a:solidFill>
                <a:schemeClr val="accent1">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en-US"/>
            </a:p>
          </p:txBody>
        </p:sp>
        <p:sp>
          <p:nvSpPr>
            <p:cNvPr id="123" name="Oval 469"/>
            <p:cNvSpPr>
              <a:spLocks noChangeArrowheads="1"/>
            </p:cNvSpPr>
            <p:nvPr/>
          </p:nvSpPr>
          <p:spPr bwMode="auto">
            <a:xfrm>
              <a:off x="7678738" y="3711575"/>
              <a:ext cx="169862" cy="161925"/>
            </a:xfrm>
            <a:prstGeom prst="ellipse">
              <a:avLst/>
            </a:prstGeom>
            <a:noFill/>
            <a:ln w="19050" algn="ctr">
              <a:solidFill>
                <a:srgbClr val="1E4649"/>
              </a:solidFill>
              <a:round/>
              <a:headEnd/>
              <a:tailEnd/>
            </a:ln>
          </p:spPr>
          <p:txBody>
            <a:bodyPr anchor="ctr"/>
            <a:lstStyle/>
            <a:p>
              <a:endParaRPr lang="en-US">
                <a:solidFill>
                  <a:srgbClr val="FFFFFF"/>
                </a:solidFill>
                <a:latin typeface="Calibri" pitchFamily="34" charset="0"/>
                <a:ea typeface="ＭＳ Ｐゴシック"/>
                <a:cs typeface="ＭＳ Ｐゴシック"/>
              </a:endParaRPr>
            </a:p>
          </p:txBody>
        </p:sp>
        <p:pic>
          <p:nvPicPr>
            <p:cNvPr id="130" name="Diagram 470"/>
            <p:cNvPicPr>
              <a:picLocks noChangeArrowheads="1"/>
            </p:cNvPicPr>
            <p:nvPr/>
          </p:nvPicPr>
          <p:blipFill>
            <a:blip r:embed="rId8" cstate="print"/>
            <a:srcRect/>
            <a:stretch>
              <a:fillRect/>
            </a:stretch>
          </p:blipFill>
          <p:spPr bwMode="auto">
            <a:xfrm rot="11797264">
              <a:off x="6781800" y="3402013"/>
              <a:ext cx="881062" cy="1246187"/>
            </a:xfrm>
            <a:prstGeom prst="rect">
              <a:avLst/>
            </a:prstGeom>
            <a:noFill/>
            <a:ln w="9525">
              <a:noFill/>
              <a:miter lim="800000"/>
              <a:headEnd/>
              <a:tailEnd/>
            </a:ln>
          </p:spPr>
        </p:pic>
        <p:grpSp>
          <p:nvGrpSpPr>
            <p:cNvPr id="134" name="Group 314"/>
            <p:cNvGrpSpPr>
              <a:grpSpLocks/>
            </p:cNvGrpSpPr>
            <p:nvPr/>
          </p:nvGrpSpPr>
          <p:grpSpPr bwMode="auto">
            <a:xfrm>
              <a:off x="7694613" y="3821113"/>
              <a:ext cx="138112" cy="34925"/>
              <a:chOff x="5625" y="2253"/>
              <a:chExt cx="117" cy="31"/>
            </a:xfrm>
          </p:grpSpPr>
          <p:sp>
            <p:nvSpPr>
              <p:cNvPr id="135" name="Line 265"/>
              <p:cNvSpPr>
                <a:spLocks noChangeShapeType="1"/>
              </p:cNvSpPr>
              <p:nvPr/>
            </p:nvSpPr>
            <p:spPr bwMode="auto">
              <a:xfrm flipV="1">
                <a:off x="5627" y="2283"/>
                <a:ext cx="115" cy="1"/>
              </a:xfrm>
              <a:prstGeom prst="line">
                <a:avLst/>
              </a:prstGeom>
              <a:noFill/>
              <a:ln w="6350">
                <a:solidFill>
                  <a:srgbClr val="FF0000"/>
                </a:solidFill>
                <a:round/>
                <a:headEnd/>
                <a:tailEnd/>
              </a:ln>
            </p:spPr>
            <p:txBody>
              <a:bodyPr/>
              <a:lstStyle/>
              <a:p>
                <a:endParaRPr lang="en-US"/>
              </a:p>
            </p:txBody>
          </p:sp>
          <p:sp>
            <p:nvSpPr>
              <p:cNvPr id="136" name="Line 267"/>
              <p:cNvSpPr>
                <a:spLocks noChangeShapeType="1"/>
              </p:cNvSpPr>
              <p:nvPr/>
            </p:nvSpPr>
            <p:spPr bwMode="auto">
              <a:xfrm>
                <a:off x="5742" y="2254"/>
                <a:ext cx="0" cy="29"/>
              </a:xfrm>
              <a:prstGeom prst="line">
                <a:avLst/>
              </a:prstGeom>
              <a:noFill/>
              <a:ln w="6350">
                <a:solidFill>
                  <a:srgbClr val="FF0000"/>
                </a:solidFill>
                <a:round/>
                <a:headEnd/>
                <a:tailEnd/>
              </a:ln>
            </p:spPr>
            <p:txBody>
              <a:bodyPr/>
              <a:lstStyle/>
              <a:p>
                <a:endParaRPr lang="en-US"/>
              </a:p>
            </p:txBody>
          </p:sp>
          <p:sp>
            <p:nvSpPr>
              <p:cNvPr id="137" name="Line 265"/>
              <p:cNvSpPr>
                <a:spLocks noChangeShapeType="1"/>
              </p:cNvSpPr>
              <p:nvPr/>
            </p:nvSpPr>
            <p:spPr bwMode="auto">
              <a:xfrm flipV="1">
                <a:off x="5626" y="2253"/>
                <a:ext cx="115" cy="1"/>
              </a:xfrm>
              <a:prstGeom prst="line">
                <a:avLst/>
              </a:prstGeom>
              <a:noFill/>
              <a:ln w="6350">
                <a:solidFill>
                  <a:srgbClr val="FF0000"/>
                </a:solidFill>
                <a:round/>
                <a:headEnd/>
                <a:tailEnd/>
              </a:ln>
            </p:spPr>
            <p:txBody>
              <a:bodyPr/>
              <a:lstStyle/>
              <a:p>
                <a:endParaRPr lang="en-US"/>
              </a:p>
            </p:txBody>
          </p:sp>
          <p:sp>
            <p:nvSpPr>
              <p:cNvPr id="138" name="Line 267"/>
              <p:cNvSpPr>
                <a:spLocks noChangeShapeType="1"/>
              </p:cNvSpPr>
              <p:nvPr/>
            </p:nvSpPr>
            <p:spPr bwMode="auto">
              <a:xfrm>
                <a:off x="5625" y="2254"/>
                <a:ext cx="0" cy="29"/>
              </a:xfrm>
              <a:prstGeom prst="line">
                <a:avLst/>
              </a:prstGeom>
              <a:noFill/>
              <a:ln w="6350">
                <a:solidFill>
                  <a:srgbClr val="FF0000"/>
                </a:solidFill>
                <a:round/>
                <a:headEnd/>
                <a:tailEnd/>
              </a:ln>
            </p:spPr>
            <p:txBody>
              <a:bodyPr/>
              <a:lstStyle/>
              <a:p>
                <a:endParaRPr lang="en-US"/>
              </a:p>
            </p:txBody>
          </p:sp>
        </p:grpSp>
      </p:grpSp>
      <p:sp>
        <p:nvSpPr>
          <p:cNvPr id="3" name="TextBox 2">
            <a:extLst>
              <a:ext uri="{FF2B5EF4-FFF2-40B4-BE49-F238E27FC236}">
                <a16:creationId xmlns:a16="http://schemas.microsoft.com/office/drawing/2014/main" id="{67F4D478-D356-7851-5B1F-FDECCC63E0F3}"/>
              </a:ext>
            </a:extLst>
          </p:cNvPr>
          <p:cNvSpPr txBox="1"/>
          <p:nvPr/>
        </p:nvSpPr>
        <p:spPr>
          <a:xfrm>
            <a:off x="286871" y="1434353"/>
            <a:ext cx="2947475" cy="2246769"/>
          </a:xfrm>
          <a:prstGeom prst="rect">
            <a:avLst/>
          </a:prstGeom>
          <a:noFill/>
        </p:spPr>
        <p:txBody>
          <a:bodyPr wrap="square" rtlCol="0">
            <a:spAutoFit/>
          </a:bodyPr>
          <a:lstStyle/>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100,000 tiny dots, representing 100,000 Veterans</a:t>
            </a:r>
          </a:p>
          <a:p>
            <a:endParaRPr lang="en-US" sz="20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2000" dirty="0">
                <a:latin typeface="Arial" panose="020B0604020202020204" pitchFamily="34" charset="0"/>
                <a:cs typeface="Arial" panose="020B0604020202020204" pitchFamily="34" charset="0"/>
              </a:rPr>
              <a:t>Veteran suicide rate = 35.2 per 100,000 (</a:t>
            </a:r>
            <a:r>
              <a:rPr lang="en-US" sz="2000" dirty="0">
                <a:solidFill>
                  <a:srgbClr val="FF0000"/>
                </a:solidFill>
                <a:latin typeface="Arial" panose="020B0604020202020204" pitchFamily="34" charset="0"/>
                <a:cs typeface="Arial" panose="020B0604020202020204" pitchFamily="34" charset="0"/>
              </a:rPr>
              <a:t>Red</a:t>
            </a:r>
            <a:r>
              <a:rPr lang="en-US" sz="2000" dirty="0">
                <a:latin typeface="Arial" panose="020B0604020202020204" pitchFamily="34" charset="0"/>
                <a:cs typeface="Arial" panose="020B0604020202020204" pitchFamily="34" charset="0"/>
              </a:rPr>
              <a:t> </a:t>
            </a:r>
            <a:r>
              <a:rPr lang="en-US" sz="2000" dirty="0">
                <a:solidFill>
                  <a:srgbClr val="FF0000"/>
                </a:solidFill>
                <a:latin typeface="Arial" panose="020B0604020202020204" pitchFamily="34" charset="0"/>
                <a:cs typeface="Arial" panose="020B0604020202020204" pitchFamily="34" charset="0"/>
              </a:rPr>
              <a:t>dots</a:t>
            </a:r>
            <a:r>
              <a:rPr lang="en-US" sz="2000" dirty="0">
                <a:latin typeface="Arial" panose="020B0604020202020204" pitchFamily="34" charset="0"/>
                <a:cs typeface="Arial" panose="020B0604020202020204" pitchFamily="34" charset="0"/>
              </a:rPr>
              <a:t>).</a:t>
            </a:r>
          </a:p>
        </p:txBody>
      </p:sp>
      <p:sp>
        <p:nvSpPr>
          <p:cNvPr id="127" name="AutoShape 302">
            <a:extLst>
              <a:ext uri="{FF2B5EF4-FFF2-40B4-BE49-F238E27FC236}">
                <a16:creationId xmlns:a16="http://schemas.microsoft.com/office/drawing/2014/main" id="{903A7203-D974-FC05-6CC5-045B9EFA6950}"/>
              </a:ext>
            </a:extLst>
          </p:cNvPr>
          <p:cNvSpPr>
            <a:spLocks noChangeArrowheads="1"/>
          </p:cNvSpPr>
          <p:nvPr/>
        </p:nvSpPr>
        <p:spPr bwMode="auto">
          <a:xfrm>
            <a:off x="8375978" y="5295900"/>
            <a:ext cx="1200710" cy="228600"/>
          </a:xfrm>
          <a:prstGeom prst="roundRect">
            <a:avLst>
              <a:gd name="adj" fmla="val 16667"/>
            </a:avLst>
          </a:prstGeom>
          <a:solidFill>
            <a:srgbClr val="009900">
              <a:alpha val="30196"/>
            </a:srgbClr>
          </a:solidFill>
          <a:ln w="19050">
            <a:noFill/>
            <a:round/>
            <a:headEnd/>
            <a:tailEnd/>
          </a:ln>
        </p:spPr>
        <p:txBody>
          <a:bodyPr wrap="none" anchor="ctr"/>
          <a:lstStyle/>
          <a:p>
            <a:endParaRPr lang="en-US">
              <a:latin typeface="Calibri" pitchFamily="34" charset="0"/>
            </a:endParaRPr>
          </a:p>
        </p:txBody>
      </p:sp>
      <p:sp>
        <p:nvSpPr>
          <p:cNvPr id="128" name="AutoShape 302">
            <a:extLst>
              <a:ext uri="{FF2B5EF4-FFF2-40B4-BE49-F238E27FC236}">
                <a16:creationId xmlns:a16="http://schemas.microsoft.com/office/drawing/2014/main" id="{A9D03D03-E41B-BB59-6EA8-3DF6C591350E}"/>
              </a:ext>
            </a:extLst>
          </p:cNvPr>
          <p:cNvSpPr>
            <a:spLocks noChangeArrowheads="1"/>
          </p:cNvSpPr>
          <p:nvPr/>
        </p:nvSpPr>
        <p:spPr bwMode="auto">
          <a:xfrm>
            <a:off x="8382330" y="5211542"/>
            <a:ext cx="959407" cy="138148"/>
          </a:xfrm>
          <a:prstGeom prst="roundRect">
            <a:avLst>
              <a:gd name="adj" fmla="val 16667"/>
            </a:avLst>
          </a:prstGeom>
          <a:solidFill>
            <a:srgbClr val="009900">
              <a:alpha val="30196"/>
            </a:srgbClr>
          </a:solidFill>
          <a:ln w="19050">
            <a:noFill/>
            <a:round/>
            <a:headEnd/>
            <a:tailEnd/>
          </a:ln>
        </p:spPr>
        <p:txBody>
          <a:bodyPr wrap="none" anchor="ctr"/>
          <a:lstStyle/>
          <a:p>
            <a:endParaRPr lang="en-US">
              <a:latin typeface="Calibri"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5">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 grpId="0" animBg="1"/>
      <p:bldP spid="125" grpId="0" uiExpand="1" build="allAtOnce"/>
      <p:bldP spid="131" grpId="0" animBg="1"/>
      <p:bldP spid="132" grpId="0" animBg="1"/>
      <p:bldP spid="127" grpId="0" animBg="1"/>
      <p:bldP spid="1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A27911-C839-98A8-D0B8-961A2FB5A79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1C1DFED1-8378-DB76-4B30-5A7943CDB118}"/>
              </a:ext>
            </a:extLst>
          </p:cNvPr>
          <p:cNvSpPr txBox="1">
            <a:spLocks/>
          </p:cNvSpPr>
          <p:nvPr/>
        </p:nvSpPr>
        <p:spPr>
          <a:xfrm>
            <a:off x="390525" y="97245"/>
            <a:ext cx="10515600" cy="680223"/>
          </a:xfrm>
          <a:prstGeom prst="rect">
            <a:avLst/>
          </a:prstGeom>
        </p:spPr>
        <p:txBody>
          <a:bodyPr anchor="ctr" anchorCtr="0"/>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b="1" i="0" u="none" strike="noStrike" kern="1200" cap="none" spc="0" normalizeH="0" baseline="0" noProof="0" dirty="0">
                <a:ln>
                  <a:noFill/>
                </a:ln>
                <a:solidFill>
                  <a:prstClr val="white"/>
                </a:solidFill>
                <a:effectLst/>
                <a:uLnTx/>
                <a:uFillTx/>
                <a:latin typeface="Calibri Light" panose="020F0302020204030204"/>
                <a:ea typeface="+mj-ea"/>
                <a:cs typeface="Calibri Light"/>
              </a:rPr>
              <a:t>Why Suicide Prevention Research?</a:t>
            </a:r>
          </a:p>
        </p:txBody>
      </p:sp>
      <p:sp>
        <p:nvSpPr>
          <p:cNvPr id="4" name="TextBox 3">
            <a:extLst>
              <a:ext uri="{FF2B5EF4-FFF2-40B4-BE49-F238E27FC236}">
                <a16:creationId xmlns:a16="http://schemas.microsoft.com/office/drawing/2014/main" id="{6EB090F8-532C-7418-4B85-EB7D47E610C0}"/>
              </a:ext>
            </a:extLst>
          </p:cNvPr>
          <p:cNvSpPr txBox="1"/>
          <p:nvPr/>
        </p:nvSpPr>
        <p:spPr>
          <a:xfrm>
            <a:off x="623607" y="1720840"/>
            <a:ext cx="5472393" cy="3416320"/>
          </a:xfrm>
          <a:prstGeom prst="rect">
            <a:avLst/>
          </a:prstGeom>
          <a:noFill/>
          <a:ln>
            <a:solidFill>
              <a:srgbClr val="C00000"/>
            </a:solidFill>
          </a:ln>
        </p:spPr>
        <p:txBody>
          <a:bodyPr wrap="square" rtlCol="0">
            <a:spAutoFit/>
          </a:bodyPr>
          <a:lstStyle/>
          <a:p>
            <a:r>
              <a:rPr lang="en-US" sz="2400" i="1" dirty="0"/>
              <a:t>“I got one of those (research) cards at the most opportune moment. I was having a bad time, and I’d get a card in the mail that said, “We’re just thinking about you and were just seeing how you are doing,” and I was like damn people do care about me. I do have something.” </a:t>
            </a:r>
          </a:p>
          <a:p>
            <a:endParaRPr lang="en-US" sz="2400" dirty="0"/>
          </a:p>
          <a:p>
            <a:r>
              <a:rPr lang="en-US" sz="2400" dirty="0"/>
              <a:t>Veteran Research Participant #1</a:t>
            </a:r>
          </a:p>
        </p:txBody>
      </p:sp>
      <p:sp>
        <p:nvSpPr>
          <p:cNvPr id="5" name="TextBox 4">
            <a:extLst>
              <a:ext uri="{FF2B5EF4-FFF2-40B4-BE49-F238E27FC236}">
                <a16:creationId xmlns:a16="http://schemas.microsoft.com/office/drawing/2014/main" id="{533D69EA-DAAC-285A-8C39-200A31A78368}"/>
              </a:ext>
            </a:extLst>
          </p:cNvPr>
          <p:cNvSpPr txBox="1"/>
          <p:nvPr/>
        </p:nvSpPr>
        <p:spPr>
          <a:xfrm>
            <a:off x="6682627" y="1798246"/>
            <a:ext cx="5145742" cy="3046988"/>
          </a:xfrm>
          <a:prstGeom prst="rect">
            <a:avLst/>
          </a:prstGeom>
          <a:noFill/>
          <a:ln>
            <a:solidFill>
              <a:srgbClr val="C00000"/>
            </a:solidFill>
          </a:ln>
        </p:spPr>
        <p:txBody>
          <a:bodyPr wrap="square" rtlCol="0">
            <a:spAutoFit/>
          </a:bodyPr>
          <a:lstStyle/>
          <a:p>
            <a:r>
              <a:rPr lang="en-US" sz="2400" i="1" dirty="0"/>
              <a:t>“(The research intervention) helped me understand that I wasn’t alone in my daily struggles or my daily battles, and that I would always have somebody to call or if I needed to reach out, I had somebody to talk to. “</a:t>
            </a:r>
          </a:p>
          <a:p>
            <a:endParaRPr lang="en-US" sz="2400" dirty="0"/>
          </a:p>
          <a:p>
            <a:r>
              <a:rPr lang="en-US" sz="2400" dirty="0"/>
              <a:t>Veteran Research Participant #2</a:t>
            </a:r>
          </a:p>
        </p:txBody>
      </p:sp>
    </p:spTree>
    <p:extLst>
      <p:ext uri="{BB962C8B-B14F-4D97-AF65-F5344CB8AC3E}">
        <p14:creationId xmlns:p14="http://schemas.microsoft.com/office/powerpoint/2010/main" val="2239281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C4B8E60-DA56-C7CD-7B50-F63E233AFB3C}"/>
              </a:ext>
            </a:extLst>
          </p:cNvPr>
          <p:cNvSpPr>
            <a:spLocks noGrp="1"/>
          </p:cNvSpPr>
          <p:nvPr>
            <p:ph type="title"/>
          </p:nvPr>
        </p:nvSpPr>
        <p:spPr>
          <a:xfrm>
            <a:off x="0" y="166264"/>
            <a:ext cx="12192000" cy="618385"/>
          </a:xfrm>
        </p:spPr>
        <p:txBody>
          <a:bodyPr/>
          <a:lstStyle/>
          <a:p>
            <a:pPr algn="ctr"/>
            <a:r>
              <a:rPr lang="en-US" dirty="0">
                <a:latin typeface="Calibri Light" panose="020F0302020204030204" pitchFamily="34" charset="0"/>
                <a:ea typeface="Calibri Light" panose="020F0302020204030204" pitchFamily="34" charset="0"/>
                <a:cs typeface="Calibri Light" panose="020F0302020204030204" pitchFamily="34" charset="0"/>
              </a:rPr>
              <a:t>ORD Investigators, Scientific Review and Management (ISRM)</a:t>
            </a:r>
          </a:p>
        </p:txBody>
      </p:sp>
      <p:graphicFrame>
        <p:nvGraphicFramePr>
          <p:cNvPr id="8" name="Content Placeholder 7">
            <a:extLst>
              <a:ext uri="{FF2B5EF4-FFF2-40B4-BE49-F238E27FC236}">
                <a16:creationId xmlns:a16="http://schemas.microsoft.com/office/drawing/2014/main" id="{39956043-2C0A-2DB3-33A4-70662EFDC45A}"/>
              </a:ext>
            </a:extLst>
          </p:cNvPr>
          <p:cNvGraphicFramePr>
            <a:graphicFrameLocks noGrp="1"/>
          </p:cNvGraphicFramePr>
          <p:nvPr>
            <p:ph idx="1"/>
          </p:nvPr>
        </p:nvGraphicFramePr>
        <p:xfrm>
          <a:off x="474876" y="324716"/>
          <a:ext cx="11036403"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F15FFFB4-1B77-AE97-39BC-E5F6B21FA915}"/>
              </a:ext>
            </a:extLst>
          </p:cNvPr>
          <p:cNvSpPr txBox="1"/>
          <p:nvPr/>
        </p:nvSpPr>
        <p:spPr>
          <a:xfrm>
            <a:off x="1471674" y="3699102"/>
            <a:ext cx="5063157" cy="584775"/>
          </a:xfrm>
          <a:prstGeom prst="rect">
            <a:avLst/>
          </a:prstGeom>
          <a:noFill/>
        </p:spPr>
        <p:txBody>
          <a:bodyPr wrap="square" rtlCol="0">
            <a:spAutoFit/>
          </a:bodyPr>
          <a:lstStyle/>
          <a:p>
            <a:r>
              <a:rPr lang="en-US" sz="3200" dirty="0"/>
              <a:t>Actively Managed Portfolios</a:t>
            </a:r>
          </a:p>
        </p:txBody>
      </p:sp>
      <p:sp>
        <p:nvSpPr>
          <p:cNvPr id="3" name="TextBox 2">
            <a:extLst>
              <a:ext uri="{FF2B5EF4-FFF2-40B4-BE49-F238E27FC236}">
                <a16:creationId xmlns:a16="http://schemas.microsoft.com/office/drawing/2014/main" id="{E4228D87-0DC8-32E8-25B9-19AA54077F9B}"/>
              </a:ext>
            </a:extLst>
          </p:cNvPr>
          <p:cNvSpPr txBox="1"/>
          <p:nvPr/>
        </p:nvSpPr>
        <p:spPr>
          <a:xfrm>
            <a:off x="7531629" y="3734231"/>
            <a:ext cx="2865528" cy="584775"/>
          </a:xfrm>
          <a:prstGeom prst="rect">
            <a:avLst/>
          </a:prstGeom>
          <a:noFill/>
        </p:spPr>
        <p:txBody>
          <a:bodyPr wrap="none" rtlCol="0">
            <a:spAutoFit/>
          </a:bodyPr>
          <a:lstStyle/>
          <a:p>
            <a:r>
              <a:rPr lang="en-US" sz="3200" dirty="0"/>
              <a:t>Broad Portfolios</a:t>
            </a:r>
          </a:p>
        </p:txBody>
      </p:sp>
      <p:sp>
        <p:nvSpPr>
          <p:cNvPr id="4" name="TextBox 3">
            <a:extLst>
              <a:ext uri="{FF2B5EF4-FFF2-40B4-BE49-F238E27FC236}">
                <a16:creationId xmlns:a16="http://schemas.microsoft.com/office/drawing/2014/main" id="{F807D5B9-65C2-717F-1F4B-3BC66BEF5343}"/>
              </a:ext>
            </a:extLst>
          </p:cNvPr>
          <p:cNvSpPr txBox="1"/>
          <p:nvPr/>
        </p:nvSpPr>
        <p:spPr>
          <a:xfrm>
            <a:off x="2108802" y="4157589"/>
            <a:ext cx="3053015" cy="369332"/>
          </a:xfrm>
          <a:prstGeom prst="rect">
            <a:avLst/>
          </a:prstGeom>
          <a:noFill/>
        </p:spPr>
        <p:txBody>
          <a:bodyPr wrap="none" lIns="91440" tIns="45720" rIns="91440" bIns="45720" rtlCol="0" anchor="t">
            <a:spAutoFit/>
          </a:bodyPr>
          <a:lstStyle/>
          <a:p>
            <a:r>
              <a:rPr lang="en-US" dirty="0"/>
              <a:t>Focused purviews and impacts</a:t>
            </a:r>
          </a:p>
        </p:txBody>
      </p:sp>
      <p:sp>
        <p:nvSpPr>
          <p:cNvPr id="9" name="TextBox 8">
            <a:extLst>
              <a:ext uri="{FF2B5EF4-FFF2-40B4-BE49-F238E27FC236}">
                <a16:creationId xmlns:a16="http://schemas.microsoft.com/office/drawing/2014/main" id="{301D9F06-5F94-5157-471D-77FA4A17F7B4}"/>
              </a:ext>
            </a:extLst>
          </p:cNvPr>
          <p:cNvSpPr txBox="1"/>
          <p:nvPr/>
        </p:nvSpPr>
        <p:spPr>
          <a:xfrm>
            <a:off x="7270670" y="4170203"/>
            <a:ext cx="3377848" cy="369332"/>
          </a:xfrm>
          <a:prstGeom prst="rect">
            <a:avLst/>
          </a:prstGeom>
          <a:noFill/>
        </p:spPr>
        <p:txBody>
          <a:bodyPr wrap="none" lIns="91440" tIns="45720" rIns="91440" bIns="45720" rtlCol="0" anchor="t">
            <a:spAutoFit/>
          </a:bodyPr>
          <a:lstStyle/>
          <a:p>
            <a:r>
              <a:rPr lang="en-US" dirty="0"/>
              <a:t>Broad purviews, Capacity-building</a:t>
            </a:r>
          </a:p>
        </p:txBody>
      </p:sp>
      <p:sp>
        <p:nvSpPr>
          <p:cNvPr id="7" name="Callout: Up Arrow 6">
            <a:extLst>
              <a:ext uri="{FF2B5EF4-FFF2-40B4-BE49-F238E27FC236}">
                <a16:creationId xmlns:a16="http://schemas.microsoft.com/office/drawing/2014/main" id="{4C386147-5F1C-2928-9BBC-9E83E15B5127}"/>
              </a:ext>
            </a:extLst>
          </p:cNvPr>
          <p:cNvSpPr/>
          <p:nvPr/>
        </p:nvSpPr>
        <p:spPr>
          <a:xfrm>
            <a:off x="474876" y="4389165"/>
            <a:ext cx="11036403" cy="835918"/>
          </a:xfrm>
          <a:prstGeom prst="upArrowCallout">
            <a:avLst/>
          </a:prstGeom>
          <a:solidFill>
            <a:srgbClr val="D2A6BF"/>
          </a:solidFill>
          <a:ln>
            <a:solidFill>
              <a:srgbClr val="D2A6B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A882873-C724-CC47-5277-C59B2682E1D3}"/>
              </a:ext>
            </a:extLst>
          </p:cNvPr>
          <p:cNvSpPr txBox="1"/>
          <p:nvPr/>
        </p:nvSpPr>
        <p:spPr>
          <a:xfrm>
            <a:off x="470862" y="4731281"/>
            <a:ext cx="11044429" cy="461665"/>
          </a:xfrm>
          <a:prstGeom prst="rect">
            <a:avLst/>
          </a:prstGeom>
          <a:noFill/>
        </p:spPr>
        <p:txBody>
          <a:bodyPr wrap="square" lIns="91440" tIns="45720" rIns="91440" bIns="45720" rtlCol="0" anchor="t">
            <a:spAutoFit/>
          </a:bodyPr>
          <a:lstStyle/>
          <a:p>
            <a:pPr algn="ctr"/>
            <a:r>
              <a:rPr lang="en-US" sz="2400" dirty="0"/>
              <a:t>ISRM Operations:</a:t>
            </a:r>
            <a:r>
              <a:rPr lang="en-US" sz="2000" dirty="0"/>
              <a:t> </a:t>
            </a:r>
            <a:r>
              <a:rPr lang="en-US" sz="1900" dirty="0">
                <a:solidFill>
                  <a:srgbClr val="444444"/>
                </a:solidFill>
                <a:ea typeface="Calibri"/>
                <a:cs typeface="Calibri"/>
              </a:rPr>
              <a:t>Business Management, Information Analytics, Clinical Trials, Scientific Review Support</a:t>
            </a:r>
          </a:p>
        </p:txBody>
      </p:sp>
      <p:sp>
        <p:nvSpPr>
          <p:cNvPr id="5" name="TextBox 4">
            <a:extLst>
              <a:ext uri="{FF2B5EF4-FFF2-40B4-BE49-F238E27FC236}">
                <a16:creationId xmlns:a16="http://schemas.microsoft.com/office/drawing/2014/main" id="{5B1B0127-9995-5F99-FD6B-479C3FE275C9}"/>
              </a:ext>
            </a:extLst>
          </p:cNvPr>
          <p:cNvSpPr txBox="1"/>
          <p:nvPr/>
        </p:nvSpPr>
        <p:spPr>
          <a:xfrm>
            <a:off x="-114300" y="5329465"/>
            <a:ext cx="12420600" cy="923330"/>
          </a:xfrm>
          <a:prstGeom prst="rect">
            <a:avLst/>
          </a:prstGeom>
          <a:noFill/>
        </p:spPr>
        <p:txBody>
          <a:bodyPr wrap="square" rtlCol="0">
            <a:spAutoFit/>
          </a:bodyPr>
          <a:lstStyle/>
          <a:p>
            <a:pPr algn="ctr"/>
            <a:r>
              <a:rPr lang="en-US" dirty="0"/>
              <a:t>ISRM funds VA-employed investigators to conduct research projects across the translation spectrum  that address VA and Veteran priorities and needs. VA investigators can apply to different portfolios using the same RFA mechanisms.</a:t>
            </a:r>
          </a:p>
          <a:p>
            <a:endParaRPr lang="en-US" dirty="0"/>
          </a:p>
        </p:txBody>
      </p:sp>
      <p:sp>
        <p:nvSpPr>
          <p:cNvPr id="12" name="TextBox 11">
            <a:extLst>
              <a:ext uri="{FF2B5EF4-FFF2-40B4-BE49-F238E27FC236}">
                <a16:creationId xmlns:a16="http://schemas.microsoft.com/office/drawing/2014/main" id="{FFA2E725-3C94-3CBE-BA00-B558E572159E}"/>
              </a:ext>
            </a:extLst>
          </p:cNvPr>
          <p:cNvSpPr txBox="1"/>
          <p:nvPr/>
        </p:nvSpPr>
        <p:spPr>
          <a:xfrm>
            <a:off x="5056538" y="6265727"/>
            <a:ext cx="2238177" cy="523220"/>
          </a:xfrm>
          <a:prstGeom prst="rect">
            <a:avLst/>
          </a:prstGeom>
          <a:noFill/>
        </p:spPr>
        <p:txBody>
          <a:bodyPr wrap="none" lIns="91440" tIns="45720" rIns="91440" bIns="45720" rtlCol="0" anchor="t">
            <a:spAutoFit/>
          </a:bodyPr>
          <a:lstStyle/>
          <a:p>
            <a:r>
              <a:rPr lang="en-US" sz="2800" dirty="0">
                <a:solidFill>
                  <a:srgbClr val="FF0000"/>
                </a:solidFill>
              </a:rPr>
              <a:t>pre-decisional</a:t>
            </a:r>
          </a:p>
        </p:txBody>
      </p:sp>
      <p:sp>
        <p:nvSpPr>
          <p:cNvPr id="11" name="Oval 10">
            <a:extLst>
              <a:ext uri="{FF2B5EF4-FFF2-40B4-BE49-F238E27FC236}">
                <a16:creationId xmlns:a16="http://schemas.microsoft.com/office/drawing/2014/main" id="{C47F4FE2-15A1-9236-A40A-28EDFFAAB031}"/>
              </a:ext>
            </a:extLst>
          </p:cNvPr>
          <p:cNvSpPr/>
          <p:nvPr/>
        </p:nvSpPr>
        <p:spPr>
          <a:xfrm>
            <a:off x="1633446" y="2450061"/>
            <a:ext cx="1372628" cy="1372628"/>
          </a:xfrm>
          <a:prstGeom prst="ellipse">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n w="38100">
                <a:solidFill>
                  <a:srgbClr val="FF0000"/>
                </a:solidFill>
              </a:ln>
            </a:endParaRPr>
          </a:p>
        </p:txBody>
      </p:sp>
    </p:spTree>
    <p:extLst>
      <p:ext uri="{BB962C8B-B14F-4D97-AF65-F5344CB8AC3E}">
        <p14:creationId xmlns:p14="http://schemas.microsoft.com/office/powerpoint/2010/main" val="2743020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29EDBB-4647-7FF0-D038-E5C4F20DA22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2B8592-F560-063C-4DAE-57F79096C18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CD1547B6-D2B0-18A8-2C60-7D21F0E43BE3}"/>
              </a:ext>
            </a:extLst>
          </p:cNvPr>
          <p:cNvSpPr txBox="1"/>
          <p:nvPr/>
        </p:nvSpPr>
        <p:spPr>
          <a:xfrm>
            <a:off x="131645" y="136525"/>
            <a:ext cx="10601325" cy="1200329"/>
          </a:xfrm>
          <a:prstGeom prst="rect">
            <a:avLst/>
          </a:prstGeom>
          <a:noFill/>
        </p:spPr>
        <p:txBody>
          <a:bodyPr wrap="square" rtlCol="0">
            <a:spAutoFit/>
          </a:bodyPr>
          <a:lstStyle/>
          <a:p>
            <a:pPr marL="0" marR="0" algn="ctr">
              <a:spcBef>
                <a:spcPts val="0"/>
              </a:spcBef>
              <a:spcAft>
                <a:spcPts val="0"/>
              </a:spcAft>
            </a:pPr>
            <a:r>
              <a:rPr lang="en-US" sz="3600" dirty="0">
                <a:solidFill>
                  <a:schemeClr val="bg1"/>
                </a:solidFill>
                <a:latin typeface="Calibri" panose="020F0502020204030204" pitchFamily="34" charset="0"/>
                <a:ea typeface="Calibri" panose="020F0502020204030204" pitchFamily="34" charset="0"/>
              </a:rPr>
              <a:t>Suicide Prevention Actively Managed Portfolio (SP AMP)</a:t>
            </a:r>
            <a:endParaRPr lang="en-US" sz="3600" dirty="0">
              <a:solidFill>
                <a:schemeClr val="bg1"/>
              </a:solidFill>
              <a:effectLst/>
              <a:latin typeface="Calibri" panose="020F0502020204030204" pitchFamily="34" charset="0"/>
              <a:ea typeface="Calibri" panose="020F0502020204030204" pitchFamily="34" charset="0"/>
            </a:endParaRPr>
          </a:p>
          <a:p>
            <a:endParaRPr lang="en-US" sz="3600" dirty="0"/>
          </a:p>
        </p:txBody>
      </p:sp>
      <p:sp>
        <p:nvSpPr>
          <p:cNvPr id="6" name="TextBox 5">
            <a:extLst>
              <a:ext uri="{FF2B5EF4-FFF2-40B4-BE49-F238E27FC236}">
                <a16:creationId xmlns:a16="http://schemas.microsoft.com/office/drawing/2014/main" id="{44779BA7-2072-3455-A545-18C310834125}"/>
              </a:ext>
            </a:extLst>
          </p:cNvPr>
          <p:cNvSpPr txBox="1"/>
          <p:nvPr/>
        </p:nvSpPr>
        <p:spPr>
          <a:xfrm>
            <a:off x="4359710" y="1687112"/>
            <a:ext cx="6535270" cy="3046988"/>
          </a:xfrm>
          <a:prstGeom prst="rect">
            <a:avLst/>
          </a:prstGeom>
          <a:noFill/>
        </p:spPr>
        <p:txBody>
          <a:bodyPr wrap="square">
            <a:spAutoFit/>
          </a:bodyPr>
          <a:lstStyle/>
          <a:p>
            <a:endParaRPr lang="en-US" sz="3200" dirty="0"/>
          </a:p>
          <a:p>
            <a:r>
              <a:rPr lang="en-US" sz="3200" b="1" i="1" u="sng" dirty="0"/>
              <a:t>Mission: </a:t>
            </a:r>
            <a:r>
              <a:rPr lang="en-US" sz="3200" dirty="0"/>
              <a:t>To help Veterans create lives worth living by advancing science that leads to actionable improvements in Veteran suicide prevention.</a:t>
            </a:r>
          </a:p>
          <a:p>
            <a:pPr marL="285750" indent="-285750">
              <a:buFont typeface="Arial" panose="020B0604020202020204" pitchFamily="34" charset="0"/>
              <a:buChar char="•"/>
            </a:pPr>
            <a:endParaRPr lang="en-US" sz="3200" dirty="0"/>
          </a:p>
        </p:txBody>
      </p:sp>
      <p:pic>
        <p:nvPicPr>
          <p:cNvPr id="3" name="Picture 2" descr="A picture containing text, sign, outdoor, turn&#10;&#10;Description automatically generated">
            <a:extLst>
              <a:ext uri="{FF2B5EF4-FFF2-40B4-BE49-F238E27FC236}">
                <a16:creationId xmlns:a16="http://schemas.microsoft.com/office/drawing/2014/main" id="{9A59E247-072A-7CB1-FF93-A29B88318B5C}"/>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958527" y="2251508"/>
            <a:ext cx="1976806" cy="1918195"/>
          </a:xfrm>
          <a:prstGeom prst="rect">
            <a:avLst/>
          </a:prstGeom>
        </p:spPr>
      </p:pic>
    </p:spTree>
    <p:extLst>
      <p:ext uri="{BB962C8B-B14F-4D97-AF65-F5344CB8AC3E}">
        <p14:creationId xmlns:p14="http://schemas.microsoft.com/office/powerpoint/2010/main" val="1631462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770DA-A517-8F87-05DC-B41EA89E1B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533A7A-256B-526A-1CC8-47D37C4CBFB1}"/>
              </a:ext>
            </a:extLst>
          </p:cNvPr>
          <p:cNvSpPr txBox="1"/>
          <p:nvPr/>
        </p:nvSpPr>
        <p:spPr>
          <a:xfrm>
            <a:off x="825910" y="937200"/>
            <a:ext cx="11090787" cy="4401205"/>
          </a:xfrm>
          <a:prstGeom prst="rect">
            <a:avLst/>
          </a:prstGeom>
          <a:noFill/>
        </p:spPr>
        <p:txBody>
          <a:bodyPr wrap="square">
            <a:spAutoFit/>
          </a:bodyPr>
          <a:lstStyle/>
          <a:p>
            <a:pPr marL="285750" indent="-285750">
              <a:buFont typeface="Arial" panose="020B0604020202020204" pitchFamily="34" charset="0"/>
              <a:buChar char="•"/>
              <a:defRPr/>
            </a:pPr>
            <a:r>
              <a:rPr lang="en-US" sz="2800" dirty="0">
                <a:solidFill>
                  <a:prstClr val="black"/>
                </a:solidFill>
                <a:latin typeface="Arial" panose="020B0604020202020204"/>
              </a:rPr>
              <a:t>Suicide Prevention (SP) AMP launched Oct 1, 2024</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800" dirty="0">
              <a:solidFill>
                <a:prstClr val="black"/>
              </a:solidFill>
              <a:latin typeface="Arial" panose="020B06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48 Active Projects</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34 merits; 13 pilots; 1 SDR</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0 animal studies; 48 human subjects</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3 Basic/Foundational</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15 clinical trials</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5 epidemiology</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2 Genomic</a:t>
            </a:r>
          </a:p>
          <a:p>
            <a:pPr marL="914400" marR="0" lvl="1" indent="-45720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2" name="TextBox 1">
            <a:extLst>
              <a:ext uri="{FF2B5EF4-FFF2-40B4-BE49-F238E27FC236}">
                <a16:creationId xmlns:a16="http://schemas.microsoft.com/office/drawing/2014/main" id="{C985FD9A-C65C-8991-1607-E7FA35BAD86F}"/>
              </a:ext>
            </a:extLst>
          </p:cNvPr>
          <p:cNvSpPr txBox="1"/>
          <p:nvPr/>
        </p:nvSpPr>
        <p:spPr>
          <a:xfrm>
            <a:off x="275303" y="76200"/>
            <a:ext cx="3729890"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Portfolio</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23AEF985-73DA-D910-551B-F7FA23276788}"/>
              </a:ext>
            </a:extLst>
          </p:cNvPr>
          <p:cNvSpPr txBox="1"/>
          <p:nvPr/>
        </p:nvSpPr>
        <p:spPr>
          <a:xfrm>
            <a:off x="3333750" y="6400800"/>
            <a:ext cx="48387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PREDECISIONAL – INTERNAL USE ONLY</a:t>
            </a:r>
          </a:p>
        </p:txBody>
      </p:sp>
    </p:spTree>
    <p:extLst>
      <p:ext uri="{BB962C8B-B14F-4D97-AF65-F5344CB8AC3E}">
        <p14:creationId xmlns:p14="http://schemas.microsoft.com/office/powerpoint/2010/main" val="23389284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18645-A3A4-E055-0709-86EAA8003FD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B1FD269-9138-1BEA-59D1-A15A729FFA8A}"/>
              </a:ext>
            </a:extLst>
          </p:cNvPr>
          <p:cNvSpPr>
            <a:spLocks noGrp="1"/>
          </p:cNvSpPr>
          <p:nvPr>
            <p:ph type="body" sz="quarter" idx="10"/>
          </p:nvPr>
        </p:nvSpPr>
        <p:spPr/>
        <p:txBody>
          <a:bodyPr/>
          <a:lstStyle/>
          <a:p>
            <a:r>
              <a:rPr lang="en-US" dirty="0"/>
              <a:t>Priorities</a:t>
            </a:r>
          </a:p>
        </p:txBody>
      </p:sp>
    </p:spTree>
    <p:extLst>
      <p:ext uri="{BB962C8B-B14F-4D97-AF65-F5344CB8AC3E}">
        <p14:creationId xmlns:p14="http://schemas.microsoft.com/office/powerpoint/2010/main" val="3350401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9C1DF81B-6869-EEA3-C080-C28609389C3F}"/>
              </a:ext>
            </a:extLst>
          </p:cNvPr>
          <p:cNvGraphicFramePr>
            <a:graphicFrameLocks noGrp="1"/>
          </p:cNvGraphicFramePr>
          <p:nvPr>
            <p:ph idx="1"/>
            <p:extLst>
              <p:ext uri="{D42A27DB-BD31-4B8C-83A1-F6EECF244321}">
                <p14:modId xmlns:p14="http://schemas.microsoft.com/office/powerpoint/2010/main" val="2555920022"/>
              </p:ext>
            </p:extLst>
          </p:nvPr>
        </p:nvGraphicFramePr>
        <p:xfrm>
          <a:off x="4560320" y="792636"/>
          <a:ext cx="7527598" cy="4537524"/>
        </p:xfrm>
        <a:graphic>
          <a:graphicData uri="http://schemas.openxmlformats.org/drawingml/2006/table">
            <a:tbl>
              <a:tblPr firstRow="1" firstCol="1" bandRow="1"/>
              <a:tblGrid>
                <a:gridCol w="1195145">
                  <a:extLst>
                    <a:ext uri="{9D8B030D-6E8A-4147-A177-3AD203B41FA5}">
                      <a16:colId xmlns:a16="http://schemas.microsoft.com/office/drawing/2014/main" val="3412600276"/>
                    </a:ext>
                  </a:extLst>
                </a:gridCol>
                <a:gridCol w="4563600">
                  <a:extLst>
                    <a:ext uri="{9D8B030D-6E8A-4147-A177-3AD203B41FA5}">
                      <a16:colId xmlns:a16="http://schemas.microsoft.com/office/drawing/2014/main" val="1666522137"/>
                    </a:ext>
                  </a:extLst>
                </a:gridCol>
                <a:gridCol w="1768853">
                  <a:extLst>
                    <a:ext uri="{9D8B030D-6E8A-4147-A177-3AD203B41FA5}">
                      <a16:colId xmlns:a16="http://schemas.microsoft.com/office/drawing/2014/main" val="2301083556"/>
                    </a:ext>
                  </a:extLst>
                </a:gridCol>
              </a:tblGrid>
              <a:tr h="0">
                <a:tc>
                  <a:txBody>
                    <a:bodyPr/>
                    <a:lstStyle/>
                    <a:p>
                      <a:pPr marL="0" marR="0" algn="l" fontAlgn="t">
                        <a:spcBef>
                          <a:spcPts val="0"/>
                        </a:spcBef>
                        <a:spcAft>
                          <a:spcPts val="0"/>
                        </a:spcAft>
                      </a:pPr>
                      <a:r>
                        <a:rPr lang="en-US" sz="1100" b="1" i="0" u="none" strike="noStrike">
                          <a:solidFill>
                            <a:srgbClr val="000000"/>
                          </a:solidFill>
                          <a:effectLst/>
                          <a:highlight>
                            <a:srgbClr val="BFBFBF"/>
                          </a:highlight>
                          <a:latin typeface="Calibri" panose="020F0502020204030204" pitchFamily="34" charset="0"/>
                          <a:ea typeface="Calibri" panose="020F0502020204030204" pitchFamily="34" charset="0"/>
                          <a:cs typeface="Calibri" panose="020F0502020204030204" pitchFamily="34" charset="0"/>
                        </a:rPr>
                        <a:t>Name</a:t>
                      </a:r>
                      <a:endParaRPr lang="en-US" sz="1700" b="0" i="0" u="none" strike="noStrike">
                        <a:effectLst/>
                        <a:highlight>
                          <a:srgbClr val="BFBFBF"/>
                        </a:highlight>
                        <a:latin typeface="Arial" panose="020B0604020202020204" pitchFamily="34" charset="0"/>
                      </a:endParaRPr>
                    </a:p>
                  </a:txBody>
                  <a:tcPr marL="65638" marR="65638" marT="9116" marB="0">
                    <a:lnL w="12700" cap="flat" cmpd="sng" algn="ctr">
                      <a:solidFill>
                        <a:srgbClr val="5B9BD5"/>
                      </a:solidFill>
                      <a:prstDash val="solid"/>
                      <a:round/>
                      <a:headEnd type="none" w="med" len="med"/>
                      <a:tailEnd type="none" w="med" len="med"/>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BFBFBF"/>
                    </a:solidFill>
                  </a:tcPr>
                </a:tc>
                <a:tc>
                  <a:txBody>
                    <a:bodyPr/>
                    <a:lstStyle/>
                    <a:p>
                      <a:pPr marL="0" marR="0" algn="l" fontAlgn="t">
                        <a:spcBef>
                          <a:spcPts val="0"/>
                        </a:spcBef>
                        <a:spcAft>
                          <a:spcPts val="0"/>
                        </a:spcAft>
                      </a:pPr>
                      <a:r>
                        <a:rPr lang="en-US" sz="1100" b="1" i="0" u="none" strike="noStrike">
                          <a:solidFill>
                            <a:srgbClr val="000000"/>
                          </a:solidFill>
                          <a:effectLst/>
                          <a:highlight>
                            <a:srgbClr val="BFBFBF"/>
                          </a:highlight>
                          <a:latin typeface="Calibri" panose="020F0502020204030204" pitchFamily="34" charset="0"/>
                          <a:ea typeface="Calibri" panose="020F0502020204030204" pitchFamily="34" charset="0"/>
                          <a:cs typeface="Calibri" panose="020F0502020204030204" pitchFamily="34" charset="0"/>
                        </a:rPr>
                        <a:t>Role </a:t>
                      </a:r>
                      <a:endParaRPr lang="en-US" sz="1700" b="0" i="0" u="none" strike="noStrike">
                        <a:effectLst/>
                        <a:highlight>
                          <a:srgbClr val="BFBFBF"/>
                        </a:highlight>
                        <a:latin typeface="Arial" panose="020B0604020202020204" pitchFamily="34" charset="0"/>
                      </a:endParaRPr>
                    </a:p>
                  </a:txBody>
                  <a:tcPr marL="65638" marR="65638" marT="9116" marB="0">
                    <a:lnL>
                      <a:noFill/>
                    </a:lnL>
                    <a:lnR>
                      <a:noFill/>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BFBFBF"/>
                    </a:solidFill>
                  </a:tcPr>
                </a:tc>
                <a:tc>
                  <a:txBody>
                    <a:bodyPr/>
                    <a:lstStyle/>
                    <a:p>
                      <a:pPr marL="0" marR="0" algn="ctr" fontAlgn="t">
                        <a:spcBef>
                          <a:spcPts val="0"/>
                        </a:spcBef>
                        <a:spcAft>
                          <a:spcPts val="0"/>
                        </a:spcAft>
                      </a:pPr>
                      <a:r>
                        <a:rPr lang="en-US" sz="1100" b="1" i="0" u="none" strike="noStrike">
                          <a:solidFill>
                            <a:srgbClr val="000000"/>
                          </a:solidFill>
                          <a:effectLst/>
                          <a:highlight>
                            <a:srgbClr val="BFBFBF"/>
                          </a:highlight>
                          <a:latin typeface="Calibri" panose="020F0502020204030204" pitchFamily="34" charset="0"/>
                          <a:ea typeface="Calibri" panose="020F0502020204030204" pitchFamily="34" charset="0"/>
                          <a:cs typeface="Calibri" panose="020F0502020204030204" pitchFamily="34" charset="0"/>
                        </a:rPr>
                        <a:t>ESC Function</a:t>
                      </a:r>
                      <a:endParaRPr lang="en-US" sz="1700" b="0" i="0" u="none" strike="noStrike">
                        <a:effectLst/>
                        <a:highlight>
                          <a:srgbClr val="BFBFBF"/>
                        </a:highlight>
                        <a:latin typeface="Arial" panose="020B0604020202020204" pitchFamily="34" charset="0"/>
                      </a:endParaRPr>
                    </a:p>
                  </a:txBody>
                  <a:tcPr marL="65638" marR="65638" marT="9116" marB="0">
                    <a:lnL>
                      <a:noFill/>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BFBFBF"/>
                    </a:solidFill>
                  </a:tcPr>
                </a:tc>
                <a:extLst>
                  <a:ext uri="{0D108BD9-81ED-4DB2-BD59-A6C34878D82A}">
                    <a16:rowId xmlns:a16="http://schemas.microsoft.com/office/drawing/2014/main" val="416277178"/>
                  </a:ext>
                </a:extLst>
              </a:tr>
              <a:tr h="240700">
                <a:tc gridSpan="2">
                  <a:txBody>
                    <a:bodyPr/>
                    <a:lstStyle/>
                    <a:p>
                      <a:pPr marL="0" marR="0" algn="l" fontAlgn="t">
                        <a:spcBef>
                          <a:spcPts val="0"/>
                        </a:spcBef>
                        <a:spcAft>
                          <a:spcPts val="0"/>
                        </a:spcAft>
                      </a:pPr>
                      <a:r>
                        <a:rPr lang="en-US" sz="1100" b="1" i="0" u="none" strike="noStrike">
                          <a:solidFill>
                            <a:srgbClr val="000000"/>
                          </a:solidFill>
                          <a:effectLst/>
                          <a:highlight>
                            <a:srgbClr val="B4C6E7"/>
                          </a:highlight>
                          <a:latin typeface="Calibri" panose="020F0502020204030204" pitchFamily="34" charset="0"/>
                          <a:ea typeface="Calibri" panose="020F0502020204030204" pitchFamily="34" charset="0"/>
                          <a:cs typeface="Calibri" panose="020F0502020204030204" pitchFamily="34" charset="0"/>
                        </a:rPr>
                        <a:t>Department of Veterans Affairs – Office of Research &amp; Development</a:t>
                      </a:r>
                      <a:endParaRPr lang="en-US" sz="1700" b="0" i="0" u="none" strike="noStrike">
                        <a:effectLst/>
                        <a:highlight>
                          <a:srgbClr val="B4C6E7"/>
                        </a:highlight>
                        <a:latin typeface="Arial" panose="020B0604020202020204" pitchFamily="34" charset="0"/>
                      </a:endParaRPr>
                    </a:p>
                  </a:txBody>
                  <a:tcPr marL="87518" marR="87518" marT="43759" marB="43759">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B4C6E7"/>
                    </a:solidFill>
                  </a:tcPr>
                </a:tc>
                <a:tc hMerge="1">
                  <a:txBody>
                    <a:bodyPr/>
                    <a:lstStyle/>
                    <a:p>
                      <a:endParaRPr lang="en-US"/>
                    </a:p>
                  </a:txBody>
                  <a:tcPr/>
                </a:tc>
                <a:tc>
                  <a:txBody>
                    <a:bodyPr/>
                    <a:lstStyle/>
                    <a:p>
                      <a:pPr marL="0" marR="0" algn="ctr" fontAlgn="ctr">
                        <a:spcBef>
                          <a:spcPts val="0"/>
                        </a:spcBef>
                        <a:spcAft>
                          <a:spcPts val="0"/>
                        </a:spcAft>
                      </a:pPr>
                      <a:r>
                        <a:rPr lang="en-US" sz="1100" b="1" i="0" u="none" strike="noStrike">
                          <a:solidFill>
                            <a:srgbClr val="000000"/>
                          </a:solidFill>
                          <a:effectLst/>
                          <a:highlight>
                            <a:srgbClr val="B4C6E7"/>
                          </a:highlight>
                          <a:latin typeface="Calibri" panose="020F0502020204030204" pitchFamily="34" charset="0"/>
                          <a:ea typeface="Calibri" panose="020F0502020204030204" pitchFamily="34" charset="0"/>
                          <a:cs typeface="Calibri" panose="020F0502020204030204" pitchFamily="34" charset="0"/>
                        </a:rPr>
                        <a:t>Constituency</a:t>
                      </a:r>
                      <a:endParaRPr lang="en-US" sz="1700" b="0" i="0" u="none" strike="noStrike">
                        <a:effectLst/>
                        <a:highlight>
                          <a:srgbClr val="B4C6E7"/>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B4C6E7"/>
                    </a:solidFill>
                  </a:tcPr>
                </a:tc>
                <a:extLst>
                  <a:ext uri="{0D108BD9-81ED-4DB2-BD59-A6C34878D82A}">
                    <a16:rowId xmlns:a16="http://schemas.microsoft.com/office/drawing/2014/main" val="3842475292"/>
                  </a:ext>
                </a:extLst>
              </a:tr>
              <a:tr h="230219">
                <a:tc>
                  <a:txBody>
                    <a:bodyPr/>
                    <a:lstStyle/>
                    <a:p>
                      <a:pPr marL="0" marR="0" algn="l" fontAlgn="t">
                        <a:spcBef>
                          <a:spcPts val="0"/>
                        </a:spcBef>
                        <a:spcAft>
                          <a:spcPts val="0"/>
                        </a:spcAft>
                      </a:pPr>
                      <a:r>
                        <a:rPr lang="en-US" sz="1100" b="0" i="0" u="none" strike="noStrike">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Wendy Tenhula</a:t>
                      </a:r>
                      <a:endParaRPr lang="en-US" sz="1700" b="0" i="0" u="none" strike="noStrike">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Deputy Chief Research and Development Officer</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Voting Member</a:t>
                      </a:r>
                      <a:endParaRPr lang="en-US" sz="1700" b="0" i="0" u="none" strike="noStrike" dirty="0">
                        <a:effectLst/>
                        <a:highlight>
                          <a:srgbClr val="D9E2F3"/>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3927515053"/>
                  </a:ext>
                </a:extLst>
              </a:tr>
              <a:tr h="174011">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Kara Beck</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QUERI Representative, ORD, Dept. of Veterans Affairs</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Voting Member</a:t>
                      </a:r>
                      <a:endParaRPr lang="en-US" sz="1700" b="0" i="0" u="none" strike="noStrike" dirty="0">
                        <a:effectLst/>
                        <a:highlight>
                          <a:srgbClr val="D9E2F3"/>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2532393834"/>
                  </a:ext>
                </a:extLst>
              </a:tr>
              <a:tr h="174011">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Mark Reger</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SP AMP Lead, ORD, Dept. of Veterans Affairs</a:t>
                      </a:r>
                      <a:endParaRPr lang="en-US" sz="1700" b="0" i="0" u="none" strike="noStrike">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Non-Voting, Ex Officio</a:t>
                      </a:r>
                      <a:endParaRPr lang="en-US" sz="1700" b="0" i="0" u="none" strike="noStrike" dirty="0">
                        <a:effectLst/>
                        <a:highlight>
                          <a:srgbClr val="D9E2F3"/>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1898073681"/>
                  </a:ext>
                </a:extLst>
              </a:tr>
              <a:tr h="174011">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Samantha Hack </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SPM, HSR4, ORD, Dept. of Veterans Affairs</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Non-Voting, Ex Officio</a:t>
                      </a:r>
                      <a:endParaRPr lang="en-US" sz="1700" b="0" i="0" u="none" strike="noStrike" dirty="0">
                        <a:effectLs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263549322"/>
                  </a:ext>
                </a:extLst>
              </a:tr>
              <a:tr h="174011">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Matt Boehm</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Acting SPM, MHBC, ORD, Dept. of Veterans Affairs</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Non-Voting, Ex Officio</a:t>
                      </a:r>
                      <a:endParaRPr lang="en-US" sz="1700" b="0" i="0" u="none" strike="noStrike" dirty="0">
                        <a:effectLs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4020895245"/>
                  </a:ext>
                </a:extLst>
              </a:tr>
              <a:tr h="174011">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Peter Hunt</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SPM, RDT4, ORD, Dept. of Veterans Affairs</a:t>
                      </a:r>
                      <a:endParaRPr lang="en-US" sz="1700" b="0" i="0" u="none" strike="noStrike" dirty="0">
                        <a:effectLst/>
                        <a:highlight>
                          <a:srgbClr val="D9E2F3"/>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D9E2F3"/>
                          </a:highlight>
                          <a:latin typeface="Calibri" panose="020F0502020204030204" pitchFamily="34" charset="0"/>
                          <a:ea typeface="Calibri" panose="020F0502020204030204" pitchFamily="34" charset="0"/>
                          <a:cs typeface="Calibri" panose="020F0502020204030204" pitchFamily="34" charset="0"/>
                        </a:rPr>
                        <a:t>Non-Voting, Ex Officio</a:t>
                      </a:r>
                      <a:endParaRPr lang="en-US" sz="1700" b="0" i="0" u="none" strike="noStrike" dirty="0">
                        <a:effectLst/>
                        <a:highlight>
                          <a:srgbClr val="D9E2F3"/>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9E2F3"/>
                    </a:solidFill>
                  </a:tcPr>
                </a:tc>
                <a:extLst>
                  <a:ext uri="{0D108BD9-81ED-4DB2-BD59-A6C34878D82A}">
                    <a16:rowId xmlns:a16="http://schemas.microsoft.com/office/drawing/2014/main" val="752093113"/>
                  </a:ext>
                </a:extLst>
              </a:tr>
              <a:tr h="240700">
                <a:tc gridSpan="2">
                  <a:txBody>
                    <a:bodyPr/>
                    <a:lstStyle/>
                    <a:p>
                      <a:pPr marL="0" marR="0" algn="l" fontAlgn="t">
                        <a:spcBef>
                          <a:spcPts val="0"/>
                        </a:spcBef>
                        <a:spcAft>
                          <a:spcPts val="0"/>
                        </a:spcAft>
                      </a:pPr>
                      <a:r>
                        <a:rPr lang="en-US" sz="1100" b="1" i="0" u="none" strike="noStrike" dirty="0">
                          <a:solidFill>
                            <a:srgbClr val="000000"/>
                          </a:solidFill>
                          <a:effectLst/>
                          <a:highlight>
                            <a:srgbClr val="F4B083"/>
                          </a:highlight>
                          <a:latin typeface="Calibri" panose="020F0502020204030204" pitchFamily="34" charset="0"/>
                          <a:ea typeface="Calibri" panose="020F0502020204030204" pitchFamily="34" charset="0"/>
                          <a:cs typeface="Calibri" panose="020F0502020204030204" pitchFamily="34" charset="0"/>
                        </a:rPr>
                        <a:t>Department of Veterans Affairs – ORD funded Suicide Prevention Research Centers </a:t>
                      </a:r>
                      <a:endParaRPr lang="en-US" sz="1700" b="0" i="0" u="none" strike="noStrike" dirty="0">
                        <a:effectLst/>
                        <a:highlight>
                          <a:srgbClr val="F4B083"/>
                        </a:highlight>
                        <a:latin typeface="Arial" panose="020B0604020202020204" pitchFamily="34" charset="0"/>
                      </a:endParaRPr>
                    </a:p>
                  </a:txBody>
                  <a:tcPr marL="87518" marR="87518" marT="43759" marB="43759">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4B083"/>
                    </a:solidFill>
                  </a:tcPr>
                </a:tc>
                <a:tc hMerge="1">
                  <a:txBody>
                    <a:bodyPr/>
                    <a:lstStyle/>
                    <a:p>
                      <a:endParaRPr lang="en-US"/>
                    </a:p>
                  </a:txBody>
                  <a:tcPr/>
                </a:tc>
                <a:tc>
                  <a:txBody>
                    <a:bodyPr/>
                    <a:lstStyle/>
                    <a:p>
                      <a:pPr marL="0" marR="0" algn="ctr" fontAlgn="ctr">
                        <a:spcBef>
                          <a:spcPts val="0"/>
                        </a:spcBef>
                        <a:spcAft>
                          <a:spcPts val="0"/>
                        </a:spcAft>
                      </a:pPr>
                      <a:r>
                        <a:rPr lang="en-US" sz="1100" b="1" i="0" u="none" strike="noStrike">
                          <a:solidFill>
                            <a:srgbClr val="000000"/>
                          </a:solidFill>
                          <a:effectLst/>
                          <a:highlight>
                            <a:srgbClr val="F4B083"/>
                          </a:highlight>
                          <a:latin typeface="Calibri" panose="020F0502020204030204" pitchFamily="34" charset="0"/>
                          <a:ea typeface="Calibri" panose="020F0502020204030204" pitchFamily="34" charset="0"/>
                          <a:cs typeface="Calibri" panose="020F0502020204030204" pitchFamily="34" charset="0"/>
                        </a:rPr>
                        <a:t>Constituency</a:t>
                      </a:r>
                      <a:endParaRPr lang="en-US" sz="1700" b="0" i="0" u="none" strike="noStrike">
                        <a:effectLst/>
                        <a:highlight>
                          <a:srgbClr val="F4B083"/>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4B083"/>
                    </a:solidFill>
                  </a:tcPr>
                </a:tc>
                <a:extLst>
                  <a:ext uri="{0D108BD9-81ED-4DB2-BD59-A6C34878D82A}">
                    <a16:rowId xmlns:a16="http://schemas.microsoft.com/office/drawing/2014/main" val="3129176873"/>
                  </a:ext>
                </a:extLst>
              </a:tr>
              <a:tr h="174011">
                <a:tc>
                  <a:txBody>
                    <a:bodyPr/>
                    <a:lstStyle/>
                    <a:p>
                      <a:pPr marL="0" marR="0" algn="l" fontAlgn="t">
                        <a:spcBef>
                          <a:spcPts val="0"/>
                        </a:spcBef>
                        <a:spcAft>
                          <a:spcPts val="0"/>
                        </a:spcAft>
                      </a:pPr>
                      <a:r>
                        <a:rPr lang="en-US" sz="1100" b="0" i="0" u="none" strike="noStrike">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Steven Dobscha</a:t>
                      </a:r>
                      <a:endParaRPr lang="en-US" sz="1700" b="0" i="0" u="none" strike="noStrike">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l" fontAlgn="t">
                        <a:spcBef>
                          <a:spcPts val="0"/>
                        </a:spcBef>
                        <a:spcAft>
                          <a:spcPts val="0"/>
                        </a:spcAft>
                      </a:pPr>
                      <a:r>
                        <a:rPr lang="en-US" sz="1100" b="0" i="0" u="none" strike="noStrike">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Co-Director, Suicide Prevention Research Impact NeTwork (SPRINT) </a:t>
                      </a:r>
                      <a:endParaRPr lang="en-US" sz="1700" b="0" i="0" u="none" strike="noStrike">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ctr" fontAlgn="ctr">
                        <a:spcBef>
                          <a:spcPts val="0"/>
                        </a:spcBef>
                        <a:spcAft>
                          <a:spcPts val="0"/>
                        </a:spcAft>
                      </a:pPr>
                      <a:r>
                        <a:rPr lang="en-US" sz="1100" b="0" i="0" u="none" strike="noStrike">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Non-Voting Member</a:t>
                      </a:r>
                      <a:endParaRPr lang="en-US" sz="1700" b="0" i="0" u="none" strike="noStrike">
                        <a:effectLst/>
                        <a:highlight>
                          <a:srgbClr val="FBE4D5"/>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extLst>
                  <a:ext uri="{0D108BD9-81ED-4DB2-BD59-A6C34878D82A}">
                    <a16:rowId xmlns:a16="http://schemas.microsoft.com/office/drawing/2014/main" val="4257067480"/>
                  </a:ext>
                </a:extLst>
              </a:tr>
              <a:tr h="174011">
                <a:tc>
                  <a:txBody>
                    <a:bodyPr/>
                    <a:lstStyle/>
                    <a:p>
                      <a:pPr marL="0" marR="0" algn="l" fontAlgn="t">
                        <a:spcBef>
                          <a:spcPts val="0"/>
                        </a:spcBef>
                        <a:spcAft>
                          <a:spcPts val="0"/>
                        </a:spcAft>
                      </a:pPr>
                      <a:r>
                        <a:rPr lang="en-US" sz="1100" b="0" i="0" u="none" strike="noStrike">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Brian Marx</a:t>
                      </a:r>
                      <a:endParaRPr lang="en-US" sz="1700" b="0" i="0" u="none" strike="noStrike">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Co-Director, Suicide Prevention Research Impact </a:t>
                      </a:r>
                      <a:r>
                        <a:rPr lang="en-US" sz="1100" b="0" i="0" u="none" strike="noStrike" dirty="0" err="1">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NeTwork</a:t>
                      </a:r>
                      <a:r>
                        <a:rPr lang="en-US" sz="1100" b="0" i="0" u="none" strike="noStrike" dirty="0">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 (SPRINT) </a:t>
                      </a:r>
                      <a:endParaRPr lang="en-US" sz="1700" b="0" i="0" u="none" strike="noStrike" dirty="0">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ctr" fontAlgn="ctr">
                        <a:spcBef>
                          <a:spcPts val="0"/>
                        </a:spcBef>
                        <a:spcAft>
                          <a:spcPts val="0"/>
                        </a:spcAft>
                      </a:pPr>
                      <a:r>
                        <a:rPr lang="en-US" sz="1100" b="0" i="0" u="none" strike="noStrike">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Non-Voting Member</a:t>
                      </a:r>
                      <a:endParaRPr lang="en-US" sz="1700" b="0" i="0" u="none" strike="noStrike">
                        <a:effectLst/>
                        <a:highlight>
                          <a:srgbClr val="FBE4D5"/>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extLst>
                  <a:ext uri="{0D108BD9-81ED-4DB2-BD59-A6C34878D82A}">
                    <a16:rowId xmlns:a16="http://schemas.microsoft.com/office/drawing/2014/main" val="3979036704"/>
                  </a:ext>
                </a:extLst>
              </a:tr>
              <a:tr h="240700">
                <a:tc gridSpan="2">
                  <a:txBody>
                    <a:bodyPr/>
                    <a:lstStyle/>
                    <a:p>
                      <a:pPr marL="0" marR="0" algn="l" fontAlgn="t">
                        <a:spcBef>
                          <a:spcPts val="0"/>
                        </a:spcBef>
                        <a:spcAft>
                          <a:spcPts val="0"/>
                        </a:spcAft>
                      </a:pPr>
                      <a:r>
                        <a:rPr lang="en-US" sz="1100" b="1" i="0" u="none" strike="noStrike" dirty="0">
                          <a:solidFill>
                            <a:srgbClr val="000000"/>
                          </a:solidFill>
                          <a:effectLst/>
                          <a:highlight>
                            <a:srgbClr val="FFD966"/>
                          </a:highlight>
                          <a:latin typeface="Calibri" panose="020F0502020204030204" pitchFamily="34" charset="0"/>
                          <a:ea typeface="Calibri" panose="020F0502020204030204" pitchFamily="34" charset="0"/>
                          <a:cs typeface="Calibri" panose="020F0502020204030204" pitchFamily="34" charset="0"/>
                        </a:rPr>
                        <a:t>Department of Veterans Affairs – Office of Suicide Prevention</a:t>
                      </a:r>
                      <a:endParaRPr lang="en-US" sz="1700" b="0" i="0" u="none" strike="noStrike" dirty="0">
                        <a:effectLst/>
                        <a:highlight>
                          <a:srgbClr val="FFD966"/>
                        </a:highlight>
                        <a:latin typeface="Arial" panose="020B0604020202020204" pitchFamily="34" charset="0"/>
                      </a:endParaRPr>
                    </a:p>
                  </a:txBody>
                  <a:tcPr marL="87518" marR="87518" marT="43759" marB="43759">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D966"/>
                    </a:solidFill>
                  </a:tcPr>
                </a:tc>
                <a:tc hMerge="1">
                  <a:txBody>
                    <a:bodyPr/>
                    <a:lstStyle/>
                    <a:p>
                      <a:endParaRPr lang="en-US"/>
                    </a:p>
                  </a:txBody>
                  <a:tcPr/>
                </a:tc>
                <a:tc>
                  <a:txBody>
                    <a:bodyPr/>
                    <a:lstStyle/>
                    <a:p>
                      <a:pPr marL="0" marR="0" algn="ctr" fontAlgn="ctr">
                        <a:spcBef>
                          <a:spcPts val="0"/>
                        </a:spcBef>
                        <a:spcAft>
                          <a:spcPts val="0"/>
                        </a:spcAft>
                      </a:pPr>
                      <a:r>
                        <a:rPr lang="en-US" sz="1100" b="1" i="0" u="none" strike="noStrike">
                          <a:solidFill>
                            <a:srgbClr val="000000"/>
                          </a:solidFill>
                          <a:effectLst/>
                          <a:highlight>
                            <a:srgbClr val="FFD966"/>
                          </a:highlight>
                          <a:latin typeface="Calibri" panose="020F0502020204030204" pitchFamily="34" charset="0"/>
                          <a:ea typeface="Calibri" panose="020F0502020204030204" pitchFamily="34" charset="0"/>
                          <a:cs typeface="Calibri" panose="020F0502020204030204" pitchFamily="34" charset="0"/>
                        </a:rPr>
                        <a:t>Constituency</a:t>
                      </a:r>
                      <a:endParaRPr lang="en-US" sz="1700" b="0" i="0" u="none" strike="noStrike">
                        <a:effectLst/>
                        <a:highlight>
                          <a:srgbClr val="FFD966"/>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D966"/>
                    </a:solidFill>
                  </a:tcPr>
                </a:tc>
                <a:extLst>
                  <a:ext uri="{0D108BD9-81ED-4DB2-BD59-A6C34878D82A}">
                    <a16:rowId xmlns:a16="http://schemas.microsoft.com/office/drawing/2014/main" val="1547662597"/>
                  </a:ext>
                </a:extLst>
              </a:tr>
              <a:tr h="208638">
                <a:tc>
                  <a:txBody>
                    <a:bodyPr/>
                    <a:lstStyle/>
                    <a:p>
                      <a:pPr marL="0" marR="0" algn="l" fontAlgn="t">
                        <a:spcBef>
                          <a:spcPts val="0"/>
                        </a:spcBef>
                        <a:spcAft>
                          <a:spcPts val="0"/>
                        </a:spcAft>
                      </a:pPr>
                      <a:r>
                        <a:rPr lang="en-US" sz="1100" b="0" i="0" u="none" strike="noStrike" dirty="0">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Todd Burnett</a:t>
                      </a:r>
                      <a:endParaRPr lang="en-US" sz="1700" b="0" i="0" u="none" strike="noStrike" dirty="0">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l" fontAlgn="t">
                        <a:spcBef>
                          <a:spcPts val="0"/>
                        </a:spcBef>
                        <a:spcAft>
                          <a:spcPts val="0"/>
                        </a:spcAft>
                      </a:pPr>
                      <a:r>
                        <a:rPr lang="en-US" sz="1000" b="0" i="0" u="none" strike="noStrike" dirty="0">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Acting Executive Director, Office of Suicide Prevention</a:t>
                      </a:r>
                      <a:endParaRPr lang="en-US" sz="1000" b="0" i="0" u="none" strike="noStrike" dirty="0">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ctr" fontAlgn="ctr">
                        <a:spcBef>
                          <a:spcPts val="0"/>
                        </a:spcBef>
                        <a:spcAft>
                          <a:spcPts val="0"/>
                        </a:spcAft>
                      </a:pPr>
                      <a:r>
                        <a:rPr lang="en-US" sz="1100" b="0" i="0" u="none" strike="noStrike">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Voting Member</a:t>
                      </a:r>
                      <a:endParaRPr lang="en-US" sz="1700" b="0" i="0" u="none" strike="noStrike">
                        <a:effectLst/>
                        <a:highlight>
                          <a:srgbClr val="FFF2CC"/>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extLst>
                  <a:ext uri="{0D108BD9-81ED-4DB2-BD59-A6C34878D82A}">
                    <a16:rowId xmlns:a16="http://schemas.microsoft.com/office/drawing/2014/main" val="3902713699"/>
                  </a:ext>
                </a:extLst>
              </a:tr>
              <a:tr h="207347">
                <a:tc>
                  <a:txBody>
                    <a:bodyPr/>
                    <a:lstStyle/>
                    <a:p>
                      <a:pPr marL="0" marR="0" algn="l" fontAlgn="t">
                        <a:spcBef>
                          <a:spcPts val="0"/>
                        </a:spcBef>
                        <a:spcAft>
                          <a:spcPts val="0"/>
                        </a:spcAft>
                      </a:pPr>
                      <a:r>
                        <a:rPr lang="en-US" sz="1100" b="0" i="0" u="none" strike="noStrike">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Susan Strickland</a:t>
                      </a:r>
                      <a:endParaRPr lang="en-US" sz="1700" b="0" i="0" u="none" strike="noStrike">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l" fontAlgn="t">
                        <a:spcBef>
                          <a:spcPts val="0"/>
                        </a:spcBef>
                        <a:spcAft>
                          <a:spcPts val="0"/>
                        </a:spcAft>
                      </a:pPr>
                      <a:r>
                        <a:rPr lang="en-US" sz="1000" b="0" i="0" u="none" strike="noStrike" dirty="0">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Associate Director for Research and Evaluation, Office of Suicide Prevention</a:t>
                      </a:r>
                      <a:endParaRPr lang="en-US" sz="1000" b="0" i="0" u="none" strike="noStrike" dirty="0">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ctr" fontAlgn="ctr">
                        <a:spcBef>
                          <a:spcPts val="0"/>
                        </a:spcBef>
                        <a:spcAft>
                          <a:spcPts val="0"/>
                        </a:spcAft>
                      </a:pPr>
                      <a:r>
                        <a:rPr lang="en-US" sz="1100" b="0" i="0" u="none" strike="noStrike">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Voting Member</a:t>
                      </a:r>
                      <a:endParaRPr lang="en-US" sz="1700" b="0" i="0" u="none" strike="noStrike">
                        <a:effectLst/>
                        <a:highlight>
                          <a:srgbClr val="FFF2CC"/>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extLst>
                  <a:ext uri="{0D108BD9-81ED-4DB2-BD59-A6C34878D82A}">
                    <a16:rowId xmlns:a16="http://schemas.microsoft.com/office/drawing/2014/main" val="50813660"/>
                  </a:ext>
                </a:extLst>
              </a:tr>
              <a:tr h="174011">
                <a:tc>
                  <a:txBody>
                    <a:bodyPr/>
                    <a:lstStyle/>
                    <a:p>
                      <a:pPr marL="0" marR="0" algn="l" fontAlgn="t">
                        <a:spcBef>
                          <a:spcPts val="0"/>
                        </a:spcBef>
                        <a:spcAft>
                          <a:spcPts val="0"/>
                        </a:spcAft>
                      </a:pPr>
                      <a:r>
                        <a:rPr lang="en-US" sz="1100" b="0" i="0" u="none" strike="noStrike">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Edgar Villareal</a:t>
                      </a:r>
                      <a:endParaRPr lang="en-US" sz="1700" b="0" i="0" u="none" strike="noStrike">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National Clinical Director, </a:t>
                      </a: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Office of Suicide Prevention</a:t>
                      </a:r>
                      <a:endParaRPr lang="en-US" sz="1700" b="0" i="0" u="none" strike="noStrike" dirty="0">
                        <a:effectLst/>
                        <a:highlight>
                          <a:srgbClr val="FFF2CC"/>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tc>
                  <a:txBody>
                    <a:bodyPr/>
                    <a:lstStyle/>
                    <a:p>
                      <a:pPr marL="0" marR="0" algn="ctr" fontAlgn="ctr">
                        <a:spcBef>
                          <a:spcPts val="0"/>
                        </a:spcBef>
                        <a:spcAft>
                          <a:spcPts val="0"/>
                        </a:spcAft>
                      </a:pPr>
                      <a:r>
                        <a:rPr lang="en-US" sz="1100" b="0" i="0" u="none" strike="noStrike">
                          <a:solidFill>
                            <a:srgbClr val="000000"/>
                          </a:solidFill>
                          <a:effectLst/>
                          <a:highlight>
                            <a:srgbClr val="FFF2CC"/>
                          </a:highlight>
                          <a:latin typeface="Calibri" panose="020F0502020204030204" pitchFamily="34" charset="0"/>
                          <a:ea typeface="Calibri" panose="020F0502020204030204" pitchFamily="34" charset="0"/>
                          <a:cs typeface="Calibri" panose="020F0502020204030204" pitchFamily="34" charset="0"/>
                        </a:rPr>
                        <a:t>Voting Member</a:t>
                      </a:r>
                      <a:endParaRPr lang="en-US" sz="1700" b="0" i="0" u="none" strike="noStrike">
                        <a:effectLst/>
                        <a:highlight>
                          <a:srgbClr val="FFF2CC"/>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F2CC"/>
                    </a:solidFill>
                  </a:tcPr>
                </a:tc>
                <a:extLst>
                  <a:ext uri="{0D108BD9-81ED-4DB2-BD59-A6C34878D82A}">
                    <a16:rowId xmlns:a16="http://schemas.microsoft.com/office/drawing/2014/main" val="2748937798"/>
                  </a:ext>
                </a:extLst>
              </a:tr>
              <a:tr h="240700">
                <a:tc gridSpan="2">
                  <a:txBody>
                    <a:bodyPr/>
                    <a:lstStyle/>
                    <a:p>
                      <a:pPr marL="0" marR="0" algn="l" fontAlgn="t">
                        <a:spcBef>
                          <a:spcPts val="0"/>
                        </a:spcBef>
                        <a:spcAft>
                          <a:spcPts val="0"/>
                        </a:spcAft>
                      </a:pPr>
                      <a:r>
                        <a:rPr lang="en-US" sz="1100" b="1" i="0" u="none" strike="noStrike" dirty="0">
                          <a:solidFill>
                            <a:srgbClr val="000000"/>
                          </a:solidFill>
                          <a:effectLst/>
                          <a:highlight>
                            <a:srgbClr val="9CC2E5"/>
                          </a:highlight>
                          <a:latin typeface="Calibri" panose="020F0502020204030204" pitchFamily="34" charset="0"/>
                          <a:ea typeface="Calibri" panose="020F0502020204030204" pitchFamily="34" charset="0"/>
                          <a:cs typeface="Calibri" panose="020F0502020204030204" pitchFamily="34" charset="0"/>
                        </a:rPr>
                        <a:t>VHA Stakeholders</a:t>
                      </a:r>
                      <a:endParaRPr lang="en-US" sz="1700" b="0" i="0" u="none" strike="noStrike" dirty="0">
                        <a:effectLst/>
                        <a:highlight>
                          <a:srgbClr val="9CC2E5"/>
                        </a:highlight>
                        <a:latin typeface="Arial" panose="020B0604020202020204" pitchFamily="34" charset="0"/>
                      </a:endParaRPr>
                    </a:p>
                  </a:txBody>
                  <a:tcPr marL="87518" marR="87518" marT="43759" marB="43759">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CC2E5"/>
                    </a:solidFill>
                  </a:tcPr>
                </a:tc>
                <a:tc hMerge="1">
                  <a:txBody>
                    <a:bodyPr/>
                    <a:lstStyle/>
                    <a:p>
                      <a:endParaRPr lang="en-US"/>
                    </a:p>
                  </a:txBody>
                  <a:tcPr/>
                </a:tc>
                <a:tc>
                  <a:txBody>
                    <a:bodyPr/>
                    <a:lstStyle/>
                    <a:p>
                      <a:pPr marL="0" marR="0" algn="ctr" fontAlgn="ctr">
                        <a:spcBef>
                          <a:spcPts val="0"/>
                        </a:spcBef>
                        <a:spcAft>
                          <a:spcPts val="0"/>
                        </a:spcAft>
                      </a:pPr>
                      <a:r>
                        <a:rPr lang="en-US" sz="1100" b="1" i="0" u="none" strike="noStrike">
                          <a:solidFill>
                            <a:srgbClr val="000000"/>
                          </a:solidFill>
                          <a:effectLst/>
                          <a:highlight>
                            <a:srgbClr val="9CC2E5"/>
                          </a:highlight>
                          <a:latin typeface="Calibri" panose="020F0502020204030204" pitchFamily="34" charset="0"/>
                          <a:ea typeface="Calibri" panose="020F0502020204030204" pitchFamily="34" charset="0"/>
                          <a:cs typeface="Calibri" panose="020F0502020204030204" pitchFamily="34" charset="0"/>
                        </a:rPr>
                        <a:t>Constituency</a:t>
                      </a:r>
                      <a:endParaRPr lang="en-US" sz="1700" b="0" i="0" u="none" strike="noStrike">
                        <a:effectLst/>
                        <a:highlight>
                          <a:srgbClr val="9CC2E5"/>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CC2E5"/>
                    </a:solidFill>
                  </a:tcPr>
                </a:tc>
                <a:extLst>
                  <a:ext uri="{0D108BD9-81ED-4DB2-BD59-A6C34878D82A}">
                    <a16:rowId xmlns:a16="http://schemas.microsoft.com/office/drawing/2014/main" val="2405328773"/>
                  </a:ext>
                </a:extLst>
              </a:tr>
              <a:tr h="198822">
                <a:tc>
                  <a:txBody>
                    <a:bodyPr/>
                    <a:lstStyle/>
                    <a:p>
                      <a:pPr marL="0" marR="0" algn="l" fontAlgn="t">
                        <a:spcBef>
                          <a:spcPts val="0"/>
                        </a:spcBef>
                        <a:spcAft>
                          <a:spcPts val="0"/>
                        </a:spcAft>
                      </a:pPr>
                      <a:r>
                        <a:rPr lang="en-US" sz="1100" b="0" i="0" u="none" strike="noStrike" dirty="0">
                          <a:solidFill>
                            <a:srgbClr val="000000"/>
                          </a:solidFill>
                          <a:effectLst/>
                          <a:highlight>
                            <a:srgbClr val="DEEAF6"/>
                          </a:highlight>
                          <a:latin typeface="Calibri" panose="020F0502020204030204" pitchFamily="34" charset="0"/>
                          <a:ea typeface="Calibri" panose="020F0502020204030204" pitchFamily="34" charset="0"/>
                          <a:cs typeface="Calibri" panose="020F0502020204030204" pitchFamily="34" charset="0"/>
                        </a:rPr>
                        <a:t>Jodi Trafton</a:t>
                      </a:r>
                      <a:endParaRPr lang="en-US" sz="1700" b="0" i="0" u="none" strike="noStrike" dirty="0">
                        <a:effectLst/>
                        <a:highlight>
                          <a:srgbClr val="DEEAF6"/>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DEEAF6"/>
                          </a:highlight>
                          <a:latin typeface="Calibri" panose="020F0502020204030204" pitchFamily="34" charset="0"/>
                          <a:ea typeface="Calibri" panose="020F0502020204030204" pitchFamily="34" charset="0"/>
                          <a:cs typeface="Calibri" panose="020F0502020204030204" pitchFamily="34" charset="0"/>
                        </a:rPr>
                        <a:t>Director, VA Program Evaluation and </a:t>
                      </a:r>
                      <a:r>
                        <a:rPr lang="en-US" sz="1100" b="0" i="0" u="none" strike="noStrike">
                          <a:solidFill>
                            <a:srgbClr val="000000"/>
                          </a:solidFill>
                          <a:effectLst/>
                          <a:highlight>
                            <a:srgbClr val="DEEAF6"/>
                          </a:highlight>
                          <a:latin typeface="Calibri" panose="020F0502020204030204" pitchFamily="34" charset="0"/>
                          <a:ea typeface="Calibri" panose="020F0502020204030204" pitchFamily="34" charset="0"/>
                          <a:cs typeface="Calibri" panose="020F0502020204030204" pitchFamily="34" charset="0"/>
                        </a:rPr>
                        <a:t>Resource Center (PERC)</a:t>
                      </a:r>
                      <a:endParaRPr lang="en-US" sz="1700" b="0" i="0" u="none" strike="noStrike" dirty="0">
                        <a:effectLst/>
                        <a:highlight>
                          <a:srgbClr val="DEEAF6"/>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DEEAF6"/>
                          </a:highlight>
                          <a:latin typeface="Calibri" panose="020F0502020204030204" pitchFamily="34" charset="0"/>
                          <a:ea typeface="Calibri" panose="020F0502020204030204" pitchFamily="34" charset="0"/>
                          <a:cs typeface="Calibri" panose="020F0502020204030204" pitchFamily="34" charset="0"/>
                        </a:rPr>
                        <a:t>Member</a:t>
                      </a:r>
                      <a:endParaRPr lang="en-US" sz="1700" b="0" i="0" u="none" strike="noStrike" dirty="0">
                        <a:effectLst/>
                        <a:highlight>
                          <a:srgbClr val="DEEAF6"/>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3466884731"/>
                  </a:ext>
                </a:extLst>
              </a:tr>
              <a:tr h="174011">
                <a:tc>
                  <a:txBody>
                    <a:bodyPr/>
                    <a:lstStyle/>
                    <a:p>
                      <a:pPr marL="0" marR="0" algn="l" fontAlgn="t">
                        <a:spcBef>
                          <a:spcPts val="0"/>
                        </a:spcBef>
                        <a:spcAft>
                          <a:spcPts val="0"/>
                        </a:spcAft>
                      </a:pPr>
                      <a:r>
                        <a:rPr lang="en-US" sz="1100" b="0" i="0" u="none" strike="noStrike">
                          <a:effectLst/>
                          <a:latin typeface="Calibri" panose="020F0502020204030204" pitchFamily="34" charset="0"/>
                          <a:ea typeface="Calibri" panose="020F0502020204030204" pitchFamily="34" charset="0"/>
                          <a:cs typeface="Calibri" panose="020F0502020204030204" pitchFamily="34" charset="0"/>
                        </a:rPr>
                        <a:t>Bradley Watts</a:t>
                      </a:r>
                      <a:endParaRPr lang="en-US" sz="1700" b="0" i="0" u="none" strike="noStrike">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gn="l" fontAlgn="t">
                        <a:spcBef>
                          <a:spcPts val="0"/>
                        </a:spcBef>
                        <a:spcAft>
                          <a:spcPts val="0"/>
                        </a:spcAft>
                      </a:pPr>
                      <a:r>
                        <a:rPr lang="en-US" sz="1100" b="0" i="0" u="none" strike="noStrike" dirty="0">
                          <a:effectLst/>
                          <a:latin typeface="Calibri" panose="020F0502020204030204" pitchFamily="34" charset="0"/>
                          <a:ea typeface="Calibri" panose="020F0502020204030204" pitchFamily="34" charset="0"/>
                          <a:cs typeface="Calibri" panose="020F0502020204030204" pitchFamily="34" charset="0"/>
                        </a:rPr>
                        <a:t>Research Director, VHA Office of Rural Health </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gn="ctr" fontAlgn="ctr">
                        <a:spcBef>
                          <a:spcPts val="0"/>
                        </a:spcBef>
                        <a:spcAft>
                          <a:spcPts val="0"/>
                        </a:spcAft>
                      </a:pPr>
                      <a:r>
                        <a:rPr lang="en-US" sz="1100" b="0" i="0" u="none" strike="noStrike">
                          <a:effectLst/>
                          <a:latin typeface="Calibri" panose="020F0502020204030204" pitchFamily="34" charset="0"/>
                          <a:ea typeface="Calibri" panose="020F0502020204030204" pitchFamily="34" charset="0"/>
                          <a:cs typeface="Calibri" panose="020F0502020204030204" pitchFamily="34" charset="0"/>
                        </a:rPr>
                        <a:t>Member</a:t>
                      </a:r>
                      <a:endParaRPr lang="en-US" sz="1700" b="0" i="0" u="none" strike="noStrike">
                        <a:effectLs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1334865619"/>
                  </a:ext>
                </a:extLst>
              </a:tr>
              <a:tr h="174011">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Nasi Bahraini</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l" fontAlgn="t">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Director, Rocky Mountain MIRECC</a:t>
                      </a:r>
                      <a:endParaRPr lang="en-US" sz="1700" b="0" i="0" u="none" strike="noStrike" dirty="0">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marL="0" marR="0" algn="ctr" fontAlgn="ctr">
                        <a:spcBef>
                          <a:spcPts val="0"/>
                        </a:spcBef>
                        <a:spcAft>
                          <a:spcPts val="0"/>
                        </a:spcAft>
                      </a:pPr>
                      <a:r>
                        <a:rPr lang="en-US" sz="11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Non-Voting Member</a:t>
                      </a:r>
                      <a:endParaRPr lang="en-US" sz="1700" b="0" i="0" u="none" strike="noStrike" dirty="0">
                        <a:effectLs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13812796"/>
                  </a:ext>
                </a:extLst>
              </a:tr>
              <a:tr h="174011">
                <a:tc>
                  <a:txBody>
                    <a:bodyPr/>
                    <a:lstStyle/>
                    <a:p>
                      <a:pPr marL="0" marR="0" algn="l" fontAlgn="t">
                        <a:spcBef>
                          <a:spcPts val="0"/>
                        </a:spcBef>
                        <a:spcAft>
                          <a:spcPts val="0"/>
                        </a:spcAft>
                      </a:pPr>
                      <a:r>
                        <a:rPr lang="en-US" sz="1100" b="0" i="0" u="none" strike="noStrike">
                          <a:effectLst/>
                          <a:latin typeface="Calibri" panose="020F0502020204030204" pitchFamily="34" charset="0"/>
                          <a:ea typeface="Calibri" panose="020F0502020204030204" pitchFamily="34" charset="0"/>
                          <a:cs typeface="Calibri" panose="020F0502020204030204" pitchFamily="34" charset="0"/>
                        </a:rPr>
                        <a:t>Stephanie Gamble</a:t>
                      </a:r>
                      <a:endParaRPr lang="en-US" sz="1700" b="0" i="0" u="none" strike="noStrike">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gn="l" fontAlgn="t">
                        <a:spcBef>
                          <a:spcPts val="0"/>
                        </a:spcBef>
                        <a:spcAft>
                          <a:spcPts val="0"/>
                        </a:spcAft>
                      </a:pPr>
                      <a:r>
                        <a:rPr lang="en-US" sz="1100" b="0" i="0" u="none" strike="noStrike">
                          <a:effectLst/>
                          <a:latin typeface="Calibri" panose="020F0502020204030204" pitchFamily="34" charset="0"/>
                          <a:ea typeface="Calibri" panose="020F0502020204030204" pitchFamily="34" charset="0"/>
                          <a:cs typeface="Calibri" panose="020F0502020204030204" pitchFamily="34" charset="0"/>
                        </a:rPr>
                        <a:t>Director, CoE for Suicide Prevention</a:t>
                      </a:r>
                      <a:endParaRPr lang="en-US" sz="1700" b="0" i="0" u="none" strike="noStrike">
                        <a:effectLs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tc>
                  <a:txBody>
                    <a:bodyPr/>
                    <a:lstStyle/>
                    <a:p>
                      <a:pPr marL="0" marR="0" algn="ctr" fontAlgn="ctr">
                        <a:spcBef>
                          <a:spcPts val="0"/>
                        </a:spcBef>
                        <a:spcAft>
                          <a:spcPts val="0"/>
                        </a:spcAft>
                      </a:pPr>
                      <a:r>
                        <a:rPr lang="en-US" sz="1100" b="0" i="0" u="none" strike="noStrike">
                          <a:effectLst/>
                          <a:latin typeface="Calibri" panose="020F0502020204030204" pitchFamily="34" charset="0"/>
                          <a:ea typeface="Calibri" panose="020F0502020204030204" pitchFamily="34" charset="0"/>
                          <a:cs typeface="Calibri" panose="020F0502020204030204" pitchFamily="34" charset="0"/>
                        </a:rPr>
                        <a:t>Non-Voting Member</a:t>
                      </a:r>
                      <a:endParaRPr lang="en-US" sz="1700" b="0" i="0" u="none" strike="noStrike">
                        <a:effectLs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noFill/>
                  </a:tcPr>
                </a:tc>
                <a:extLst>
                  <a:ext uri="{0D108BD9-81ED-4DB2-BD59-A6C34878D82A}">
                    <a16:rowId xmlns:a16="http://schemas.microsoft.com/office/drawing/2014/main" val="2185506281"/>
                  </a:ext>
                </a:extLst>
              </a:tr>
              <a:tr h="282598">
                <a:tc gridSpan="3">
                  <a:txBody>
                    <a:bodyPr/>
                    <a:lstStyle/>
                    <a:p>
                      <a:pPr marL="0" marR="0" algn="l" fontAlgn="t">
                        <a:spcBef>
                          <a:spcPts val="0"/>
                        </a:spcBef>
                        <a:spcAft>
                          <a:spcPts val="0"/>
                        </a:spcAft>
                      </a:pPr>
                      <a:r>
                        <a:rPr lang="en-US" sz="1100" b="1" i="0" u="none" strike="noStrike" dirty="0">
                          <a:solidFill>
                            <a:srgbClr val="000000"/>
                          </a:solidFill>
                          <a:effectLst/>
                          <a:highlight>
                            <a:srgbClr val="F4B083"/>
                          </a:highlight>
                          <a:latin typeface="Calibri" panose="020F0502020204030204" pitchFamily="34" charset="0"/>
                          <a:ea typeface="Calibri" panose="020F0502020204030204" pitchFamily="34" charset="0"/>
                          <a:cs typeface="Calibri" panose="020F0502020204030204" pitchFamily="34" charset="0"/>
                        </a:rPr>
                        <a:t>Veteran Representative (Federal Employee) from Veteran Engagement Council                                                                                      </a:t>
                      </a:r>
                      <a:endParaRPr lang="en-US" sz="1700" b="0" i="0" u="none" strike="noStrike" dirty="0">
                        <a:effectLst/>
                        <a:highlight>
                          <a:srgbClr val="F4B083"/>
                        </a:highlight>
                        <a:latin typeface="Arial" panose="020B0604020202020204" pitchFamily="34" charset="0"/>
                      </a:endParaRPr>
                    </a:p>
                  </a:txBody>
                  <a:tcPr marL="87518" marR="87518" marT="43759" marB="43759">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4B083"/>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66302159"/>
                  </a:ext>
                </a:extLst>
              </a:tr>
              <a:tr h="174011">
                <a:tc>
                  <a:txBody>
                    <a:bodyPr/>
                    <a:lstStyle/>
                    <a:p>
                      <a:pPr marL="0" marR="0" algn="l" fontAlgn="t">
                        <a:spcBef>
                          <a:spcPts val="0"/>
                        </a:spcBef>
                        <a:spcAft>
                          <a:spcPts val="0"/>
                        </a:spcAft>
                      </a:pPr>
                      <a:endParaRPr lang="en-US" sz="1700" b="0" i="0" u="none" strike="noStrike" dirty="0">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l" fontAlgn="t">
                        <a:spcBef>
                          <a:spcPts val="0"/>
                        </a:spcBef>
                        <a:spcAft>
                          <a:spcPts val="0"/>
                        </a:spcAft>
                      </a:pPr>
                      <a:r>
                        <a:rPr lang="en-US" sz="1100" b="0" i="0" u="none" strike="noStrike" dirty="0">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Veteran Representative </a:t>
                      </a:r>
                      <a:endParaRPr lang="en-US" sz="1700" b="0" i="0" u="none" strike="noStrike" dirty="0">
                        <a:effectLst/>
                        <a:highlight>
                          <a:srgbClr val="FBE4D5"/>
                        </a:highlight>
                        <a:latin typeface="Arial" panose="020B0604020202020204" pitchFamily="34" charset="0"/>
                      </a:endParaRPr>
                    </a:p>
                  </a:txBody>
                  <a:tcPr marL="65638" marR="65638" marT="9116" marB="0">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tc>
                  <a:txBody>
                    <a:bodyPr/>
                    <a:lstStyle/>
                    <a:p>
                      <a:pPr marL="0" marR="0" algn="ctr" fontAlgn="ctr">
                        <a:spcBef>
                          <a:spcPts val="0"/>
                        </a:spcBef>
                        <a:spcAft>
                          <a:spcPts val="0"/>
                        </a:spcAft>
                      </a:pPr>
                      <a:r>
                        <a:rPr lang="en-US" sz="1100" b="0" i="0" u="none" strike="noStrike" dirty="0">
                          <a:solidFill>
                            <a:srgbClr val="000000"/>
                          </a:solidFill>
                          <a:effectLst/>
                          <a:highlight>
                            <a:srgbClr val="FBE4D5"/>
                          </a:highlight>
                          <a:latin typeface="Calibri" panose="020F0502020204030204" pitchFamily="34" charset="0"/>
                          <a:ea typeface="Calibri" panose="020F0502020204030204" pitchFamily="34" charset="0"/>
                          <a:cs typeface="Calibri" panose="020F0502020204030204" pitchFamily="34" charset="0"/>
                        </a:rPr>
                        <a:t> Voting Member</a:t>
                      </a:r>
                      <a:endParaRPr lang="en-US" sz="1700" b="0" i="0" u="none" strike="noStrike" dirty="0">
                        <a:effectLst/>
                        <a:highlight>
                          <a:srgbClr val="FBE4D5"/>
                        </a:highlight>
                        <a:latin typeface="Arial" panose="020B0604020202020204" pitchFamily="34" charset="0"/>
                      </a:endParaRPr>
                    </a:p>
                  </a:txBody>
                  <a:tcPr marL="65638" marR="65638" marT="9116"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BE4D5"/>
                    </a:solidFill>
                  </a:tcPr>
                </a:tc>
                <a:extLst>
                  <a:ext uri="{0D108BD9-81ED-4DB2-BD59-A6C34878D82A}">
                    <a16:rowId xmlns:a16="http://schemas.microsoft.com/office/drawing/2014/main" val="419031300"/>
                  </a:ext>
                </a:extLst>
              </a:tr>
            </a:tbl>
          </a:graphicData>
        </a:graphic>
      </p:graphicFrame>
      <p:graphicFrame>
        <p:nvGraphicFramePr>
          <p:cNvPr id="3" name="Table 2">
            <a:extLst>
              <a:ext uri="{FF2B5EF4-FFF2-40B4-BE49-F238E27FC236}">
                <a16:creationId xmlns:a16="http://schemas.microsoft.com/office/drawing/2014/main" id="{CB59792E-3A5A-B2A2-C62E-F7579FB31D55}"/>
              </a:ext>
            </a:extLst>
          </p:cNvPr>
          <p:cNvGraphicFramePr>
            <a:graphicFrameLocks noGrp="1"/>
          </p:cNvGraphicFramePr>
          <p:nvPr>
            <p:extLst>
              <p:ext uri="{D42A27DB-BD31-4B8C-83A1-F6EECF244321}">
                <p14:modId xmlns:p14="http://schemas.microsoft.com/office/powerpoint/2010/main" val="2306111405"/>
              </p:ext>
            </p:extLst>
          </p:nvPr>
        </p:nvGraphicFramePr>
        <p:xfrm>
          <a:off x="4560321" y="5505555"/>
          <a:ext cx="7527597" cy="573391"/>
        </p:xfrm>
        <a:graphic>
          <a:graphicData uri="http://schemas.openxmlformats.org/drawingml/2006/table">
            <a:tbl>
              <a:tblPr firstRow="1" firstCol="1" bandRow="1">
                <a:tableStyleId>{5C22544A-7EE6-4342-B048-85BDC9FD1C3A}</a:tableStyleId>
              </a:tblPr>
              <a:tblGrid>
                <a:gridCol w="1398862">
                  <a:extLst>
                    <a:ext uri="{9D8B030D-6E8A-4147-A177-3AD203B41FA5}">
                      <a16:colId xmlns:a16="http://schemas.microsoft.com/office/drawing/2014/main" val="3237140244"/>
                    </a:ext>
                  </a:extLst>
                </a:gridCol>
                <a:gridCol w="4646047">
                  <a:extLst>
                    <a:ext uri="{9D8B030D-6E8A-4147-A177-3AD203B41FA5}">
                      <a16:colId xmlns:a16="http://schemas.microsoft.com/office/drawing/2014/main" val="1904776736"/>
                    </a:ext>
                  </a:extLst>
                </a:gridCol>
                <a:gridCol w="1482688">
                  <a:extLst>
                    <a:ext uri="{9D8B030D-6E8A-4147-A177-3AD203B41FA5}">
                      <a16:colId xmlns:a16="http://schemas.microsoft.com/office/drawing/2014/main" val="3173911229"/>
                    </a:ext>
                  </a:extLst>
                </a:gridCol>
              </a:tblGrid>
              <a:tr h="192391">
                <a:tc gridSpan="3">
                  <a:txBody>
                    <a:bodyPr/>
                    <a:lstStyle/>
                    <a:p>
                      <a:pPr marL="0" marR="0">
                        <a:spcBef>
                          <a:spcPts val="0"/>
                        </a:spcBef>
                        <a:spcAft>
                          <a:spcPts val="0"/>
                        </a:spcAft>
                      </a:pPr>
                      <a:r>
                        <a:rPr lang="en-US" sz="1200" dirty="0">
                          <a:effectLst/>
                        </a:rPr>
                        <a:t>External Federal Funding Agency                                                                                 Constituency</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382026611"/>
                  </a:ext>
                </a:extLst>
              </a:tr>
              <a:tr h="190500">
                <a:tc>
                  <a:txBody>
                    <a:bodyPr/>
                    <a:lstStyle/>
                    <a:p>
                      <a:pPr marL="0" marR="0">
                        <a:spcBef>
                          <a:spcPts val="0"/>
                        </a:spcBef>
                        <a:spcAft>
                          <a:spcPts val="0"/>
                        </a:spcAft>
                      </a:pPr>
                      <a:r>
                        <a:rPr lang="en-US" sz="1200" dirty="0">
                          <a:effectLst/>
                        </a:rPr>
                        <a:t>Jane Pearson</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a:effectLst/>
                        </a:rPr>
                        <a:t>NIH Representative</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dirty="0">
                          <a:effectLst/>
                        </a:rPr>
                        <a:t>Voting Member</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568287709"/>
                  </a:ext>
                </a:extLst>
              </a:tr>
              <a:tr h="190500">
                <a:tc>
                  <a:txBody>
                    <a:bodyPr/>
                    <a:lstStyle/>
                    <a:p>
                      <a:pPr marL="0" marR="0">
                        <a:spcBef>
                          <a:spcPts val="0"/>
                        </a:spcBef>
                        <a:spcAft>
                          <a:spcPts val="0"/>
                        </a:spcAft>
                      </a:pPr>
                      <a:r>
                        <a:rPr lang="en-US" sz="1200">
                          <a:effectLst/>
                        </a:rPr>
                        <a:t>Melissa Mehalick</a:t>
                      </a:r>
                      <a:endParaRPr lang="en-US" sz="12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200" dirty="0">
                          <a:effectLst/>
                        </a:rPr>
                        <a:t>DoD Representative</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dirty="0">
                          <a:effectLst/>
                        </a:rPr>
                        <a:t>Voting Member</a:t>
                      </a:r>
                      <a:endParaRPr lang="en-US" sz="12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408846191"/>
                  </a:ext>
                </a:extLst>
              </a:tr>
            </a:tbl>
          </a:graphicData>
        </a:graphic>
      </p:graphicFrame>
      <p:sp>
        <p:nvSpPr>
          <p:cNvPr id="2" name="Title 1">
            <a:extLst>
              <a:ext uri="{FF2B5EF4-FFF2-40B4-BE49-F238E27FC236}">
                <a16:creationId xmlns:a16="http://schemas.microsoft.com/office/drawing/2014/main" id="{D1FB99F7-6B41-94C8-D7F9-41B2D435EE48}"/>
              </a:ext>
            </a:extLst>
          </p:cNvPr>
          <p:cNvSpPr txBox="1">
            <a:spLocks/>
          </p:cNvSpPr>
          <p:nvPr/>
        </p:nvSpPr>
        <p:spPr>
          <a:xfrm>
            <a:off x="-283327" y="-30506"/>
            <a:ext cx="11839815" cy="823142"/>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2200" b="0" kern="1200">
                <a:solidFill>
                  <a:schemeClr val="bg1"/>
                </a:solidFill>
                <a:latin typeface="Arial" panose="020B0604020202020204" pitchFamily="34" charset="0"/>
                <a:ea typeface="+mj-ea"/>
                <a:cs typeface="Arial" panose="020B0604020202020204" pitchFamily="34" charset="0"/>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mj-lt"/>
                <a:ea typeface="+mj-ea"/>
                <a:cs typeface="Arial" panose="020B0604020202020204" pitchFamily="34" charset="0"/>
              </a:rPr>
              <a:t>Determining Priorities &amp; Establishing a Strategic Roadmap</a:t>
            </a:r>
          </a:p>
        </p:txBody>
      </p:sp>
      <p:sp>
        <p:nvSpPr>
          <p:cNvPr id="9" name="TextBox 8">
            <a:extLst>
              <a:ext uri="{FF2B5EF4-FFF2-40B4-BE49-F238E27FC236}">
                <a16:creationId xmlns:a16="http://schemas.microsoft.com/office/drawing/2014/main" id="{77B132BC-DF97-307A-759D-951FED72AA39}"/>
              </a:ext>
            </a:extLst>
          </p:cNvPr>
          <p:cNvSpPr txBox="1"/>
          <p:nvPr/>
        </p:nvSpPr>
        <p:spPr>
          <a:xfrm>
            <a:off x="362211" y="5105903"/>
            <a:ext cx="2265315" cy="923330"/>
          </a:xfrm>
          <a:prstGeom prst="rect">
            <a:avLst/>
          </a:prstGeom>
          <a:solidFill>
            <a:schemeClr val="accent2">
              <a:lumMod val="20000"/>
              <a:lumOff val="80000"/>
            </a:schemeClr>
          </a:solid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Eric Enone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mn-cs"/>
              </a:rPr>
              <a:t>Business Manager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SP AMP</a:t>
            </a:r>
          </a:p>
        </p:txBody>
      </p:sp>
      <p:sp>
        <p:nvSpPr>
          <p:cNvPr id="10" name="TextBox 9">
            <a:extLst>
              <a:ext uri="{FF2B5EF4-FFF2-40B4-BE49-F238E27FC236}">
                <a16:creationId xmlns:a16="http://schemas.microsoft.com/office/drawing/2014/main" id="{17BE40AA-1447-789C-92DA-79CB0862ADD5}"/>
              </a:ext>
            </a:extLst>
          </p:cNvPr>
          <p:cNvSpPr txBox="1"/>
          <p:nvPr/>
        </p:nvSpPr>
        <p:spPr>
          <a:xfrm>
            <a:off x="104082" y="1289194"/>
            <a:ext cx="4456238" cy="3123932"/>
          </a:xfrm>
          <a:prstGeom prst="rect">
            <a:avLst/>
          </a:prstGeom>
          <a:noFill/>
        </p:spPr>
        <p:txBody>
          <a:bodyPr wrap="square" rtlCol="0">
            <a:spAutoFit/>
          </a:bodyPr>
          <a:lstStyle/>
          <a:p>
            <a:pPr>
              <a:spcAft>
                <a:spcPts val="600"/>
              </a:spcAft>
            </a:pPr>
            <a:r>
              <a:rPr lang="en-US" sz="2400" dirty="0">
                <a:solidFill>
                  <a:srgbClr val="11406A"/>
                </a:solidFill>
                <a:latin typeface="Arial" panose="020B0604020202020204" pitchFamily="34" charset="0"/>
                <a:cs typeface="Arial" panose="020B0604020202020204" pitchFamily="34" charset="0"/>
              </a:rPr>
              <a:t>Executive Steering Committee is comprised of voting and non-voting member representatives from:</a:t>
            </a:r>
          </a:p>
          <a:p>
            <a:pPr marL="914400" lvl="1" indent="-457200">
              <a:buFont typeface="Arial" panose="020B0604020202020204" pitchFamily="34" charset="0"/>
              <a:buChar char="•"/>
            </a:pPr>
            <a:r>
              <a:rPr lang="en-US" sz="2400" dirty="0">
                <a:solidFill>
                  <a:srgbClr val="11406A"/>
                </a:solidFill>
                <a:latin typeface="Arial" panose="020B0604020202020204" pitchFamily="34" charset="0"/>
                <a:cs typeface="Arial" panose="020B0604020202020204" pitchFamily="34" charset="0"/>
              </a:rPr>
              <a:t>Federal agencies</a:t>
            </a:r>
          </a:p>
          <a:p>
            <a:pPr marL="914400" lvl="1" indent="-457200">
              <a:buFont typeface="Arial" panose="020B0604020202020204" pitchFamily="34" charset="0"/>
              <a:buChar char="•"/>
            </a:pPr>
            <a:r>
              <a:rPr lang="en-US" sz="2400" dirty="0">
                <a:solidFill>
                  <a:srgbClr val="11406A"/>
                </a:solidFill>
                <a:latin typeface="Arial" panose="020B0604020202020204" pitchFamily="34" charset="0"/>
                <a:cs typeface="Arial" panose="020B0604020202020204" pitchFamily="34" charset="0"/>
              </a:rPr>
              <a:t>Research centers</a:t>
            </a:r>
          </a:p>
          <a:p>
            <a:pPr marL="914400" lvl="1" indent="-457200">
              <a:buFont typeface="Arial" panose="020B0604020202020204" pitchFamily="34" charset="0"/>
              <a:buChar char="•"/>
            </a:pPr>
            <a:r>
              <a:rPr lang="en-US" sz="2400" dirty="0">
                <a:solidFill>
                  <a:srgbClr val="11406A"/>
                </a:solidFill>
                <a:latin typeface="Arial" panose="020B0604020202020204" pitchFamily="34" charset="0"/>
                <a:cs typeface="Arial" panose="020B0604020202020204" pitchFamily="34" charset="0"/>
              </a:rPr>
              <a:t>Veteran stakeholders</a:t>
            </a:r>
          </a:p>
          <a:p>
            <a:pPr marL="914400" lvl="1" indent="-457200">
              <a:buFont typeface="Arial" panose="020B0604020202020204" pitchFamily="34" charset="0"/>
              <a:buChar char="•"/>
            </a:pPr>
            <a:r>
              <a:rPr lang="en-US" sz="2400" dirty="0">
                <a:solidFill>
                  <a:srgbClr val="11406A"/>
                </a:solidFill>
                <a:latin typeface="Arial" panose="020B0604020202020204" pitchFamily="34" charset="0"/>
                <a:cs typeface="Arial" panose="020B0604020202020204" pitchFamily="34" charset="0"/>
              </a:rPr>
              <a:t>Affiliated programs</a:t>
            </a:r>
          </a:p>
        </p:txBody>
      </p:sp>
    </p:spTree>
    <p:extLst>
      <p:ext uri="{BB962C8B-B14F-4D97-AF65-F5344CB8AC3E}">
        <p14:creationId xmlns:p14="http://schemas.microsoft.com/office/powerpoint/2010/main" val="2535658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B4A168-6886-2263-8963-12039AF4465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E9127B14-3AFB-9FC8-D37D-08CDAD0C21BC}"/>
              </a:ext>
            </a:extLst>
          </p:cNvPr>
          <p:cNvGraphicFramePr/>
          <p:nvPr>
            <p:extLst>
              <p:ext uri="{D42A27DB-BD31-4B8C-83A1-F6EECF244321}">
                <p14:modId xmlns:p14="http://schemas.microsoft.com/office/powerpoint/2010/main" val="869336948"/>
              </p:ext>
            </p:extLst>
          </p:nvPr>
        </p:nvGraphicFramePr>
        <p:xfrm>
          <a:off x="180009" y="805070"/>
          <a:ext cx="5554870" cy="50093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DC50841A-6C55-8AFD-0189-8B831B88DDC4}"/>
              </a:ext>
            </a:extLst>
          </p:cNvPr>
          <p:cNvSpPr txBox="1"/>
          <p:nvPr/>
        </p:nvSpPr>
        <p:spPr>
          <a:xfrm>
            <a:off x="352424" y="76200"/>
            <a:ext cx="8764682"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SP-AMP Research Priorities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5" name="TextBox 4">
            <a:extLst>
              <a:ext uri="{FF2B5EF4-FFF2-40B4-BE49-F238E27FC236}">
                <a16:creationId xmlns:a16="http://schemas.microsoft.com/office/drawing/2014/main" id="{7C648A86-0038-8BF4-ADAD-49B7F3D91A6C}"/>
              </a:ext>
            </a:extLst>
          </p:cNvPr>
          <p:cNvSpPr txBox="1"/>
          <p:nvPr/>
        </p:nvSpPr>
        <p:spPr>
          <a:xfrm>
            <a:off x="6339671" y="1775745"/>
            <a:ext cx="5554870" cy="35394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Lethal Means Safety</a:t>
            </a: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Precision Health Suicide Prevention</a:t>
            </a: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Suicide prevention in community settings</a:t>
            </a:r>
          </a:p>
          <a:p>
            <a:endParaRPr lang="en-US" sz="2800" dirty="0">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0E254BB2-1A75-CD18-E0B1-236B52872519}"/>
              </a:ext>
            </a:extLst>
          </p:cNvPr>
          <p:cNvSpPr txBox="1"/>
          <p:nvPr/>
        </p:nvSpPr>
        <p:spPr>
          <a:xfrm>
            <a:off x="160073" y="5734813"/>
            <a:ext cx="11734468" cy="400110"/>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References: </a:t>
            </a:r>
            <a:r>
              <a:rPr lang="en-US" sz="1000" dirty="0">
                <a:latin typeface="Arial" panose="020B0604020202020204" pitchFamily="34" charset="0"/>
                <a:cs typeface="Arial" panose="020B0604020202020204" pitchFamily="34" charset="0"/>
                <a:hlinkClick r:id="rId8"/>
              </a:rPr>
              <a:t>Aligning quality improvement efforts and policy goals in a national integrated health system - Braganza - 2022 - Health Services Research - Wiley Online Library</a:t>
            </a:r>
            <a:r>
              <a:rPr lang="en-US" sz="1000"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hlinkClick r:id="rId9"/>
              </a:rPr>
              <a:t>Health System Research Priorities for Children and Youth With Special Health Care Needs - PubMed (nih.gov)</a:t>
            </a:r>
            <a:r>
              <a:rPr lang="en-US" sz="1000" dirty="0">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hlinkClick r:id="rId10"/>
              </a:rPr>
              <a:t>Research Lifecycle to Increase the Substantial Real-world Im... : Medical Care (lww.com)</a:t>
            </a:r>
            <a:endParaRPr lang="en-US" sz="1000" dirty="0">
              <a:latin typeface="Arial" panose="020B0604020202020204" pitchFamily="34" charset="0"/>
              <a:cs typeface="Arial" panose="020B0604020202020204" pitchFamily="34" charset="0"/>
            </a:endParaRPr>
          </a:p>
        </p:txBody>
      </p:sp>
      <p:sp>
        <p:nvSpPr>
          <p:cNvPr id="7" name="Arrow: Right 6">
            <a:extLst>
              <a:ext uri="{FF2B5EF4-FFF2-40B4-BE49-F238E27FC236}">
                <a16:creationId xmlns:a16="http://schemas.microsoft.com/office/drawing/2014/main" id="{FA4CBB62-713E-08E4-3AC6-EA97DD711B2D}"/>
              </a:ext>
            </a:extLst>
          </p:cNvPr>
          <p:cNvSpPr/>
          <p:nvPr/>
        </p:nvSpPr>
        <p:spPr>
          <a:xfrm rot="19971516">
            <a:off x="915081" y="1600301"/>
            <a:ext cx="1050441" cy="350888"/>
          </a:xfrm>
          <a:prstGeom prst="rightArrow">
            <a:avLst/>
          </a:prstGeom>
          <a:solidFill>
            <a:schemeClr val="accent5">
              <a:lumMod val="50000"/>
            </a:schemeClr>
          </a:solidFill>
          <a:ln w="19050" cap="flat" cmpd="sng" algn="ctr">
            <a:solidFill>
              <a:schemeClr val="accent5">
                <a:lumMod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
        <p:nvSpPr>
          <p:cNvPr id="8" name="Arrow: Right 7">
            <a:extLst>
              <a:ext uri="{FF2B5EF4-FFF2-40B4-BE49-F238E27FC236}">
                <a16:creationId xmlns:a16="http://schemas.microsoft.com/office/drawing/2014/main" id="{0C750274-F1C4-2EFB-2F13-5B9C415ED42C}"/>
              </a:ext>
            </a:extLst>
          </p:cNvPr>
          <p:cNvSpPr/>
          <p:nvPr/>
        </p:nvSpPr>
        <p:spPr>
          <a:xfrm rot="1991439">
            <a:off x="3977886" y="1647520"/>
            <a:ext cx="1081875" cy="350888"/>
          </a:xfrm>
          <a:prstGeom prst="rightArrow">
            <a:avLst/>
          </a:prstGeom>
          <a:solidFill>
            <a:schemeClr val="accent5">
              <a:lumMod val="50000"/>
            </a:schemeClr>
          </a:solidFill>
          <a:ln w="19050" cap="flat" cmpd="sng" algn="ctr">
            <a:solidFill>
              <a:schemeClr val="accent5">
                <a:lumMod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01284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51B988E-C9E6-152F-0096-9F03E29A88E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66B134E3-1C9C-C0E7-DC93-18EE3ECE1D4F}"/>
              </a:ext>
            </a:extLst>
          </p:cNvPr>
          <p:cNvSpPr txBox="1"/>
          <p:nvPr/>
        </p:nvSpPr>
        <p:spPr>
          <a:xfrm>
            <a:off x="352424" y="76200"/>
            <a:ext cx="10705436" cy="646331"/>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Lethal Means Safety (LMS)</a:t>
            </a:r>
            <a:endParaRPr kumimoji="0" lang="en-US" sz="3600" b="1" i="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pic>
        <p:nvPicPr>
          <p:cNvPr id="2050" name="Picture 2">
            <a:extLst>
              <a:ext uri="{FF2B5EF4-FFF2-40B4-BE49-F238E27FC236}">
                <a16:creationId xmlns:a16="http://schemas.microsoft.com/office/drawing/2014/main" id="{3A1E6CA3-4B3F-C294-3CA2-3534C75A0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996" y="2102956"/>
            <a:ext cx="3975027" cy="265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a:extLst>
              <a:ext uri="{FF2B5EF4-FFF2-40B4-BE49-F238E27FC236}">
                <a16:creationId xmlns:a16="http://schemas.microsoft.com/office/drawing/2014/main" id="{219FCCE7-FA10-24D1-2207-0C9C4C576A54}"/>
              </a:ext>
            </a:extLst>
          </p:cNvPr>
          <p:cNvSpPr txBox="1"/>
          <p:nvPr/>
        </p:nvSpPr>
        <p:spPr>
          <a:xfrm>
            <a:off x="4885151" y="1443841"/>
            <a:ext cx="6876789" cy="4093428"/>
          </a:xfrm>
          <a:prstGeom prst="rect">
            <a:avLst/>
          </a:prstGeom>
          <a:noFill/>
        </p:spPr>
        <p:txBody>
          <a:bodyPr wrap="square" rtlCol="0">
            <a:spAutoFit/>
          </a:bodyPr>
          <a:lstStyle/>
          <a:p>
            <a:r>
              <a:rPr lang="en-US" sz="2800" dirty="0">
                <a:latin typeface="Arial" panose="020B0604020202020204" pitchFamily="34" charset="0"/>
                <a:cs typeface="Arial" panose="020B0604020202020204" pitchFamily="34" charset="0"/>
              </a:rPr>
              <a:t>The voluntary practice of creating distance between the methods of self-harm and the person in distress during a suicide crisis.</a:t>
            </a:r>
          </a:p>
          <a:p>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A Notice of Special Interest (NOSI) generated new LMS applications</a:t>
            </a: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endParaRPr lang="en-US" sz="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Four new peer reviewed studies are under way, with more in the pipeline.</a:t>
            </a:r>
          </a:p>
        </p:txBody>
      </p:sp>
    </p:spTree>
    <p:extLst>
      <p:ext uri="{BB962C8B-B14F-4D97-AF65-F5344CB8AC3E}">
        <p14:creationId xmlns:p14="http://schemas.microsoft.com/office/powerpoint/2010/main" val="1224883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7CA15-817E-A38F-3D66-3D0A787AF1DC}"/>
            </a:ext>
          </a:extLst>
        </p:cNvPr>
        <p:cNvGrpSpPr/>
        <p:nvPr/>
      </p:nvGrpSpPr>
      <p:grpSpPr>
        <a:xfrm>
          <a:off x="0" y="0"/>
          <a:ext cx="0" cy="0"/>
          <a:chOff x="0" y="0"/>
          <a:chExt cx="0" cy="0"/>
        </a:xfrm>
      </p:grpSpPr>
      <p:sp>
        <p:nvSpPr>
          <p:cNvPr id="5" name="TextBox 5">
            <a:extLst>
              <a:ext uri="{FF2B5EF4-FFF2-40B4-BE49-F238E27FC236}">
                <a16:creationId xmlns:a16="http://schemas.microsoft.com/office/drawing/2014/main" id="{34B5B2F2-D8A9-A88A-C3A7-617B7B61B013}"/>
              </a:ext>
            </a:extLst>
          </p:cNvPr>
          <p:cNvSpPr txBox="1"/>
          <p:nvPr/>
        </p:nvSpPr>
        <p:spPr>
          <a:xfrm>
            <a:off x="486505" y="893289"/>
            <a:ext cx="11197495" cy="1039431"/>
          </a:xfrm>
          <a:prstGeom prst="rect">
            <a:avLst/>
          </a:prstGeom>
        </p:spPr>
        <p:txBody>
          <a:bodyPr lIns="0" tIns="0" rIns="0" bIns="0" rtlCol="0" anchor="ctr"/>
          <a:lstStyle/>
          <a:p>
            <a:pPr>
              <a:lnSpc>
                <a:spcPts val="3402"/>
              </a:lnSpc>
            </a:pPr>
            <a:r>
              <a:rPr lang="en-US" sz="3150" b="1" dirty="0">
                <a:solidFill>
                  <a:srgbClr val="0070C0"/>
                </a:solidFill>
                <a:latin typeface="Arial Bold"/>
                <a:ea typeface="Arial Bold"/>
                <a:cs typeface="Arial Bold"/>
                <a:sym typeface="Arial Bold"/>
              </a:rPr>
              <a:t>Problem: “One-size-fits-all” approaches can limit impact and result in misdirection of resources</a:t>
            </a:r>
          </a:p>
        </p:txBody>
      </p:sp>
      <p:grpSp>
        <p:nvGrpSpPr>
          <p:cNvPr id="6" name="Group 6">
            <a:extLst>
              <a:ext uri="{FF2B5EF4-FFF2-40B4-BE49-F238E27FC236}">
                <a16:creationId xmlns:a16="http://schemas.microsoft.com/office/drawing/2014/main" id="{82F0CFB1-51E7-4DC8-0EA5-F3C03332D1CC}"/>
              </a:ext>
            </a:extLst>
          </p:cNvPr>
          <p:cNvGrpSpPr/>
          <p:nvPr/>
        </p:nvGrpSpPr>
        <p:grpSpPr>
          <a:xfrm>
            <a:off x="685800" y="2087325"/>
            <a:ext cx="5308600" cy="1080143"/>
            <a:chOff x="0" y="0"/>
            <a:chExt cx="1413821" cy="490480"/>
          </a:xfrm>
        </p:grpSpPr>
        <p:sp>
          <p:nvSpPr>
            <p:cNvPr id="7" name="Freeform 7">
              <a:extLst>
                <a:ext uri="{FF2B5EF4-FFF2-40B4-BE49-F238E27FC236}">
                  <a16:creationId xmlns:a16="http://schemas.microsoft.com/office/drawing/2014/main" id="{B8679FA2-A6B5-500C-C54C-EB99A25CA8E8}"/>
                </a:ext>
              </a:extLst>
            </p:cNvPr>
            <p:cNvSpPr/>
            <p:nvPr/>
          </p:nvSpPr>
          <p:spPr>
            <a:xfrm>
              <a:off x="0" y="0"/>
              <a:ext cx="1413821" cy="490480"/>
            </a:xfrm>
            <a:custGeom>
              <a:avLst/>
              <a:gdLst/>
              <a:ahLst/>
              <a:cxnLst/>
              <a:rect l="l" t="t" r="r" b="b"/>
              <a:pathLst>
                <a:path w="1413821" h="490480">
                  <a:moveTo>
                    <a:pt x="22905" y="0"/>
                  </a:moveTo>
                  <a:lnTo>
                    <a:pt x="1390917" y="0"/>
                  </a:lnTo>
                  <a:cubicBezTo>
                    <a:pt x="1396991" y="0"/>
                    <a:pt x="1402817" y="2413"/>
                    <a:pt x="1407113" y="6709"/>
                  </a:cubicBezTo>
                  <a:cubicBezTo>
                    <a:pt x="1411408" y="11004"/>
                    <a:pt x="1413821" y="16830"/>
                    <a:pt x="1413821" y="22905"/>
                  </a:cubicBezTo>
                  <a:lnTo>
                    <a:pt x="1413821" y="467575"/>
                  </a:lnTo>
                  <a:cubicBezTo>
                    <a:pt x="1413821" y="480225"/>
                    <a:pt x="1403567" y="490480"/>
                    <a:pt x="1390917" y="490480"/>
                  </a:cubicBezTo>
                  <a:lnTo>
                    <a:pt x="22905" y="490480"/>
                  </a:lnTo>
                  <a:cubicBezTo>
                    <a:pt x="10255" y="490480"/>
                    <a:pt x="0" y="480225"/>
                    <a:pt x="0" y="467575"/>
                  </a:cubicBezTo>
                  <a:lnTo>
                    <a:pt x="0" y="22905"/>
                  </a:lnTo>
                  <a:cubicBezTo>
                    <a:pt x="0" y="10255"/>
                    <a:pt x="10255" y="0"/>
                    <a:pt x="22905" y="0"/>
                  </a:cubicBezTo>
                  <a:close/>
                </a:path>
              </a:pathLst>
            </a:custGeom>
            <a:solidFill>
              <a:srgbClr val="DFF0FE"/>
            </a:solidFill>
          </p:spPr>
          <p:txBody>
            <a:bodyPr/>
            <a:lstStyle/>
            <a:p>
              <a:endParaRPr lang="en-US" sz="1200"/>
            </a:p>
          </p:txBody>
        </p:sp>
        <p:sp>
          <p:nvSpPr>
            <p:cNvPr id="8" name="TextBox 8">
              <a:extLst>
                <a:ext uri="{FF2B5EF4-FFF2-40B4-BE49-F238E27FC236}">
                  <a16:creationId xmlns:a16="http://schemas.microsoft.com/office/drawing/2014/main" id="{B5BD833E-8A53-6634-377D-BC50458C8B73}"/>
                </a:ext>
              </a:extLst>
            </p:cNvPr>
            <p:cNvSpPr txBox="1"/>
            <p:nvPr/>
          </p:nvSpPr>
          <p:spPr>
            <a:xfrm>
              <a:off x="0" y="-38100"/>
              <a:ext cx="1413821" cy="528580"/>
            </a:xfrm>
            <a:prstGeom prst="rect">
              <a:avLst/>
            </a:prstGeom>
          </p:spPr>
          <p:txBody>
            <a:bodyPr lIns="31987" tIns="31987" rIns="31987" bIns="31987" rtlCol="0" anchor="ctr"/>
            <a:lstStyle/>
            <a:p>
              <a:pPr algn="ctr">
                <a:lnSpc>
                  <a:spcPts val="1200"/>
                </a:lnSpc>
              </a:pPr>
              <a:endParaRPr sz="1200"/>
            </a:p>
          </p:txBody>
        </p:sp>
      </p:grpSp>
      <p:grpSp>
        <p:nvGrpSpPr>
          <p:cNvPr id="9" name="Group 9">
            <a:extLst>
              <a:ext uri="{FF2B5EF4-FFF2-40B4-BE49-F238E27FC236}">
                <a16:creationId xmlns:a16="http://schemas.microsoft.com/office/drawing/2014/main" id="{C6D46213-BB95-A5E0-BF7A-D9C61BE736BA}"/>
              </a:ext>
            </a:extLst>
          </p:cNvPr>
          <p:cNvGrpSpPr/>
          <p:nvPr/>
        </p:nvGrpSpPr>
        <p:grpSpPr>
          <a:xfrm>
            <a:off x="687832" y="3465697"/>
            <a:ext cx="5308600" cy="1172601"/>
            <a:chOff x="0" y="0"/>
            <a:chExt cx="1413821" cy="490480"/>
          </a:xfrm>
        </p:grpSpPr>
        <p:sp>
          <p:nvSpPr>
            <p:cNvPr id="10" name="Freeform 10">
              <a:extLst>
                <a:ext uri="{FF2B5EF4-FFF2-40B4-BE49-F238E27FC236}">
                  <a16:creationId xmlns:a16="http://schemas.microsoft.com/office/drawing/2014/main" id="{B61029C8-A5CD-5A6F-DC8B-562978EA2640}"/>
                </a:ext>
              </a:extLst>
            </p:cNvPr>
            <p:cNvSpPr/>
            <p:nvPr/>
          </p:nvSpPr>
          <p:spPr>
            <a:xfrm>
              <a:off x="0" y="0"/>
              <a:ext cx="1413821" cy="490480"/>
            </a:xfrm>
            <a:custGeom>
              <a:avLst/>
              <a:gdLst/>
              <a:ahLst/>
              <a:cxnLst/>
              <a:rect l="l" t="t" r="r" b="b"/>
              <a:pathLst>
                <a:path w="1413821" h="490480">
                  <a:moveTo>
                    <a:pt x="22905" y="0"/>
                  </a:moveTo>
                  <a:lnTo>
                    <a:pt x="1390917" y="0"/>
                  </a:lnTo>
                  <a:cubicBezTo>
                    <a:pt x="1396991" y="0"/>
                    <a:pt x="1402817" y="2413"/>
                    <a:pt x="1407113" y="6709"/>
                  </a:cubicBezTo>
                  <a:cubicBezTo>
                    <a:pt x="1411408" y="11004"/>
                    <a:pt x="1413821" y="16830"/>
                    <a:pt x="1413821" y="22905"/>
                  </a:cubicBezTo>
                  <a:lnTo>
                    <a:pt x="1413821" y="467575"/>
                  </a:lnTo>
                  <a:cubicBezTo>
                    <a:pt x="1413821" y="480225"/>
                    <a:pt x="1403567" y="490480"/>
                    <a:pt x="1390917" y="490480"/>
                  </a:cubicBezTo>
                  <a:lnTo>
                    <a:pt x="22905" y="490480"/>
                  </a:lnTo>
                  <a:cubicBezTo>
                    <a:pt x="10255" y="490480"/>
                    <a:pt x="0" y="480225"/>
                    <a:pt x="0" y="467575"/>
                  </a:cubicBezTo>
                  <a:lnTo>
                    <a:pt x="0" y="22905"/>
                  </a:lnTo>
                  <a:cubicBezTo>
                    <a:pt x="0" y="10255"/>
                    <a:pt x="10255" y="0"/>
                    <a:pt x="22905" y="0"/>
                  </a:cubicBezTo>
                  <a:close/>
                </a:path>
              </a:pathLst>
            </a:custGeom>
            <a:solidFill>
              <a:srgbClr val="DFF0FE"/>
            </a:solidFill>
          </p:spPr>
          <p:txBody>
            <a:bodyPr/>
            <a:lstStyle/>
            <a:p>
              <a:endParaRPr lang="en-US" sz="1200"/>
            </a:p>
          </p:txBody>
        </p:sp>
        <p:sp>
          <p:nvSpPr>
            <p:cNvPr id="11" name="TextBox 11">
              <a:extLst>
                <a:ext uri="{FF2B5EF4-FFF2-40B4-BE49-F238E27FC236}">
                  <a16:creationId xmlns:a16="http://schemas.microsoft.com/office/drawing/2014/main" id="{FB13D4CE-0381-731B-FEC1-F6901F2A4AFE}"/>
                </a:ext>
              </a:extLst>
            </p:cNvPr>
            <p:cNvSpPr txBox="1"/>
            <p:nvPr/>
          </p:nvSpPr>
          <p:spPr>
            <a:xfrm>
              <a:off x="0" y="-38100"/>
              <a:ext cx="1413821" cy="528580"/>
            </a:xfrm>
            <a:prstGeom prst="rect">
              <a:avLst/>
            </a:prstGeom>
          </p:spPr>
          <p:txBody>
            <a:bodyPr lIns="31987" tIns="31987" rIns="31987" bIns="31987" rtlCol="0" anchor="ctr"/>
            <a:lstStyle/>
            <a:p>
              <a:pPr algn="ctr">
                <a:lnSpc>
                  <a:spcPts val="1200"/>
                </a:lnSpc>
              </a:pPr>
              <a:endParaRPr sz="1200"/>
            </a:p>
          </p:txBody>
        </p:sp>
      </p:grpSp>
      <p:grpSp>
        <p:nvGrpSpPr>
          <p:cNvPr id="12" name="Group 12">
            <a:extLst>
              <a:ext uri="{FF2B5EF4-FFF2-40B4-BE49-F238E27FC236}">
                <a16:creationId xmlns:a16="http://schemas.microsoft.com/office/drawing/2014/main" id="{D0BFE32A-CA65-FF6D-321A-67E3A1669355}"/>
              </a:ext>
            </a:extLst>
          </p:cNvPr>
          <p:cNvGrpSpPr/>
          <p:nvPr/>
        </p:nvGrpSpPr>
        <p:grpSpPr>
          <a:xfrm>
            <a:off x="685800" y="4927530"/>
            <a:ext cx="5207000" cy="1172601"/>
            <a:chOff x="0" y="0"/>
            <a:chExt cx="1413821" cy="490480"/>
          </a:xfrm>
        </p:grpSpPr>
        <p:sp>
          <p:nvSpPr>
            <p:cNvPr id="13" name="Freeform 13">
              <a:extLst>
                <a:ext uri="{FF2B5EF4-FFF2-40B4-BE49-F238E27FC236}">
                  <a16:creationId xmlns:a16="http://schemas.microsoft.com/office/drawing/2014/main" id="{DE771140-E8DD-92D8-0F96-3A97ED2725BA}"/>
                </a:ext>
              </a:extLst>
            </p:cNvPr>
            <p:cNvSpPr/>
            <p:nvPr/>
          </p:nvSpPr>
          <p:spPr>
            <a:xfrm>
              <a:off x="0" y="0"/>
              <a:ext cx="1413821" cy="490480"/>
            </a:xfrm>
            <a:custGeom>
              <a:avLst/>
              <a:gdLst/>
              <a:ahLst/>
              <a:cxnLst/>
              <a:rect l="l" t="t" r="r" b="b"/>
              <a:pathLst>
                <a:path w="1413821" h="490480">
                  <a:moveTo>
                    <a:pt x="22905" y="0"/>
                  </a:moveTo>
                  <a:lnTo>
                    <a:pt x="1390917" y="0"/>
                  </a:lnTo>
                  <a:cubicBezTo>
                    <a:pt x="1396991" y="0"/>
                    <a:pt x="1402817" y="2413"/>
                    <a:pt x="1407113" y="6709"/>
                  </a:cubicBezTo>
                  <a:cubicBezTo>
                    <a:pt x="1411408" y="11004"/>
                    <a:pt x="1413821" y="16830"/>
                    <a:pt x="1413821" y="22905"/>
                  </a:cubicBezTo>
                  <a:lnTo>
                    <a:pt x="1413821" y="467575"/>
                  </a:lnTo>
                  <a:cubicBezTo>
                    <a:pt x="1413821" y="480225"/>
                    <a:pt x="1403567" y="490480"/>
                    <a:pt x="1390917" y="490480"/>
                  </a:cubicBezTo>
                  <a:lnTo>
                    <a:pt x="22905" y="490480"/>
                  </a:lnTo>
                  <a:cubicBezTo>
                    <a:pt x="10255" y="490480"/>
                    <a:pt x="0" y="480225"/>
                    <a:pt x="0" y="467575"/>
                  </a:cubicBezTo>
                  <a:lnTo>
                    <a:pt x="0" y="22905"/>
                  </a:lnTo>
                  <a:cubicBezTo>
                    <a:pt x="0" y="10255"/>
                    <a:pt x="10255" y="0"/>
                    <a:pt x="22905" y="0"/>
                  </a:cubicBezTo>
                  <a:close/>
                </a:path>
              </a:pathLst>
            </a:custGeom>
            <a:solidFill>
              <a:srgbClr val="DFF0FE"/>
            </a:solidFill>
          </p:spPr>
          <p:txBody>
            <a:bodyPr/>
            <a:lstStyle/>
            <a:p>
              <a:endParaRPr lang="en-US" sz="1200"/>
            </a:p>
          </p:txBody>
        </p:sp>
        <p:sp>
          <p:nvSpPr>
            <p:cNvPr id="14" name="TextBox 14">
              <a:extLst>
                <a:ext uri="{FF2B5EF4-FFF2-40B4-BE49-F238E27FC236}">
                  <a16:creationId xmlns:a16="http://schemas.microsoft.com/office/drawing/2014/main" id="{19556897-A500-E96D-E5CF-0A122B582FF4}"/>
                </a:ext>
              </a:extLst>
            </p:cNvPr>
            <p:cNvSpPr txBox="1"/>
            <p:nvPr/>
          </p:nvSpPr>
          <p:spPr>
            <a:xfrm>
              <a:off x="0" y="-38100"/>
              <a:ext cx="1413821" cy="528580"/>
            </a:xfrm>
            <a:prstGeom prst="rect">
              <a:avLst/>
            </a:prstGeom>
          </p:spPr>
          <p:txBody>
            <a:bodyPr lIns="31987" tIns="31987" rIns="31987" bIns="31987" rtlCol="0" anchor="ctr"/>
            <a:lstStyle/>
            <a:p>
              <a:pPr algn="ctr">
                <a:lnSpc>
                  <a:spcPts val="1200"/>
                </a:lnSpc>
              </a:pPr>
              <a:endParaRPr sz="1200"/>
            </a:p>
          </p:txBody>
        </p:sp>
      </p:grpSp>
      <p:sp>
        <p:nvSpPr>
          <p:cNvPr id="36" name="TextBox 36">
            <a:extLst>
              <a:ext uri="{FF2B5EF4-FFF2-40B4-BE49-F238E27FC236}">
                <a16:creationId xmlns:a16="http://schemas.microsoft.com/office/drawing/2014/main" id="{4BD0BB03-B66C-846F-F0B1-3D2C756E330B}"/>
              </a:ext>
            </a:extLst>
          </p:cNvPr>
          <p:cNvSpPr txBox="1"/>
          <p:nvPr/>
        </p:nvSpPr>
        <p:spPr>
          <a:xfrm>
            <a:off x="936874" y="2277614"/>
            <a:ext cx="4854326" cy="807913"/>
          </a:xfrm>
          <a:prstGeom prst="rect">
            <a:avLst/>
          </a:prstGeom>
        </p:spPr>
        <p:txBody>
          <a:bodyPr wrap="square" lIns="0" tIns="0" rIns="0" bIns="0" rtlCol="0" anchor="t">
            <a:spAutoFit/>
          </a:bodyPr>
          <a:lstStyle/>
          <a:p>
            <a:pPr algn="ctr">
              <a:lnSpc>
                <a:spcPts val="2115"/>
              </a:lnSpc>
            </a:pPr>
            <a:r>
              <a:rPr lang="en-US" sz="2133" dirty="0">
                <a:solidFill>
                  <a:srgbClr val="000000"/>
                </a:solidFill>
                <a:latin typeface="Arial"/>
                <a:ea typeface="Arial"/>
                <a:cs typeface="Arial"/>
                <a:sym typeface="Arial"/>
              </a:rPr>
              <a:t>Problem: Treatments are applied uniformly, including to those who may not need them </a:t>
            </a:r>
          </a:p>
        </p:txBody>
      </p:sp>
      <p:sp>
        <p:nvSpPr>
          <p:cNvPr id="37" name="TextBox 37">
            <a:extLst>
              <a:ext uri="{FF2B5EF4-FFF2-40B4-BE49-F238E27FC236}">
                <a16:creationId xmlns:a16="http://schemas.microsoft.com/office/drawing/2014/main" id="{8F9FDE86-52F4-C2A5-7B85-4FACC5AB7C38}"/>
              </a:ext>
            </a:extLst>
          </p:cNvPr>
          <p:cNvSpPr txBox="1"/>
          <p:nvPr/>
        </p:nvSpPr>
        <p:spPr>
          <a:xfrm>
            <a:off x="814109" y="3726599"/>
            <a:ext cx="5051983" cy="807913"/>
          </a:xfrm>
          <a:prstGeom prst="rect">
            <a:avLst/>
          </a:prstGeom>
        </p:spPr>
        <p:txBody>
          <a:bodyPr wrap="square" lIns="0" tIns="0" rIns="0" bIns="0" rtlCol="0" anchor="t">
            <a:spAutoFit/>
          </a:bodyPr>
          <a:lstStyle/>
          <a:p>
            <a:pPr algn="ctr">
              <a:lnSpc>
                <a:spcPts val="2115"/>
              </a:lnSpc>
            </a:pPr>
            <a:r>
              <a:rPr lang="en-US" sz="2133" dirty="0">
                <a:solidFill>
                  <a:srgbClr val="000000"/>
                </a:solidFill>
                <a:latin typeface="Arial"/>
                <a:ea typeface="Arial"/>
                <a:cs typeface="Arial"/>
                <a:sym typeface="Arial"/>
              </a:rPr>
              <a:t>Some Veterans don’t get much benefit, and could do better with other treatments instead</a:t>
            </a:r>
          </a:p>
        </p:txBody>
      </p:sp>
      <p:sp>
        <p:nvSpPr>
          <p:cNvPr id="38" name="TextBox 38">
            <a:extLst>
              <a:ext uri="{FF2B5EF4-FFF2-40B4-BE49-F238E27FC236}">
                <a16:creationId xmlns:a16="http://schemas.microsoft.com/office/drawing/2014/main" id="{C512E1BF-92DC-CD95-93A5-7CD815ADAD1C}"/>
              </a:ext>
            </a:extLst>
          </p:cNvPr>
          <p:cNvSpPr txBox="1"/>
          <p:nvPr/>
        </p:nvSpPr>
        <p:spPr>
          <a:xfrm>
            <a:off x="840818" y="5103462"/>
            <a:ext cx="4769317" cy="807913"/>
          </a:xfrm>
          <a:prstGeom prst="rect">
            <a:avLst/>
          </a:prstGeom>
        </p:spPr>
        <p:txBody>
          <a:bodyPr wrap="square" lIns="0" tIns="0" rIns="0" bIns="0" rtlCol="0" anchor="t">
            <a:spAutoFit/>
          </a:bodyPr>
          <a:lstStyle/>
          <a:p>
            <a:pPr algn="ctr">
              <a:lnSpc>
                <a:spcPts val="2115"/>
              </a:lnSpc>
            </a:pPr>
            <a:r>
              <a:rPr lang="en-US" sz="2133" dirty="0">
                <a:solidFill>
                  <a:srgbClr val="000000"/>
                </a:solidFill>
                <a:latin typeface="Arial"/>
                <a:ea typeface="Arial"/>
                <a:cs typeface="Arial"/>
                <a:sym typeface="Arial"/>
              </a:rPr>
              <a:t>Some Veterans may end up with worsening condition due to needs not being met</a:t>
            </a:r>
          </a:p>
        </p:txBody>
      </p:sp>
      <p:pic>
        <p:nvPicPr>
          <p:cNvPr id="3" name="Picture 2" descr="big shoes to fill - clothes not fitting stock illustrations">
            <a:extLst>
              <a:ext uri="{FF2B5EF4-FFF2-40B4-BE49-F238E27FC236}">
                <a16:creationId xmlns:a16="http://schemas.microsoft.com/office/drawing/2014/main" id="{2773F182-B3A0-8836-7505-69F125585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2165707"/>
            <a:ext cx="3886200" cy="3416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FF082E1-017B-15F8-B720-53B3885B7B24}"/>
              </a:ext>
            </a:extLst>
          </p:cNvPr>
          <p:cNvSpPr txBox="1"/>
          <p:nvPr/>
        </p:nvSpPr>
        <p:spPr>
          <a:xfrm>
            <a:off x="192568" y="52508"/>
            <a:ext cx="9122918" cy="1200329"/>
          </a:xfrm>
          <a:prstGeom prst="rect">
            <a:avLst/>
          </a:prstGeom>
          <a:noFill/>
        </p:spPr>
        <p:txBody>
          <a:bodyPr wrap="square" rtlCol="0">
            <a:spAutoFit/>
          </a:bodyPr>
          <a:lstStyle/>
          <a:p>
            <a:pPr marL="0" marR="0" algn="ctr">
              <a:spcBef>
                <a:spcPts val="0"/>
              </a:spcBef>
              <a:spcAft>
                <a:spcPts val="0"/>
              </a:spcAft>
            </a:pPr>
            <a:r>
              <a:rPr lang="en-US" sz="3600" b="1" dirty="0">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Precision Health Approach to Suicide Prevention</a:t>
            </a:r>
          </a:p>
          <a:p>
            <a:endParaRPr lang="en-US" sz="3600" b="1" dirty="0">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559654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8CC7E-65AD-28E8-4020-1450642A286F}"/>
            </a:ext>
          </a:extLst>
        </p:cNvPr>
        <p:cNvGrpSpPr/>
        <p:nvPr/>
      </p:nvGrpSpPr>
      <p:grpSpPr>
        <a:xfrm>
          <a:off x="0" y="0"/>
          <a:ext cx="0" cy="0"/>
          <a:chOff x="0" y="0"/>
          <a:chExt cx="0" cy="0"/>
        </a:xfrm>
      </p:grpSpPr>
      <p:sp>
        <p:nvSpPr>
          <p:cNvPr id="5" name="Arrow: Right 4">
            <a:extLst>
              <a:ext uri="{FF2B5EF4-FFF2-40B4-BE49-F238E27FC236}">
                <a16:creationId xmlns:a16="http://schemas.microsoft.com/office/drawing/2014/main" id="{56754CFE-EAD1-3259-2507-B15652C522C4}"/>
              </a:ext>
            </a:extLst>
          </p:cNvPr>
          <p:cNvSpPr/>
          <p:nvPr/>
        </p:nvSpPr>
        <p:spPr>
          <a:xfrm>
            <a:off x="6911703" y="2478795"/>
            <a:ext cx="1284515" cy="7402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09630"/>
            <a:endParaRPr lang="en-US">
              <a:solidFill>
                <a:prstClr val="white"/>
              </a:solidFill>
              <a:latin typeface="Arial" panose="020B0604020202020204"/>
            </a:endParaRPr>
          </a:p>
        </p:txBody>
      </p:sp>
      <p:grpSp>
        <p:nvGrpSpPr>
          <p:cNvPr id="7" name="Group 15">
            <a:extLst>
              <a:ext uri="{FF2B5EF4-FFF2-40B4-BE49-F238E27FC236}">
                <a16:creationId xmlns:a16="http://schemas.microsoft.com/office/drawing/2014/main" id="{B505C65F-5F72-F78D-21B1-331754E00E64}"/>
              </a:ext>
            </a:extLst>
          </p:cNvPr>
          <p:cNvGrpSpPr/>
          <p:nvPr/>
        </p:nvGrpSpPr>
        <p:grpSpPr>
          <a:xfrm>
            <a:off x="359986" y="1166068"/>
            <a:ext cx="6294814" cy="3799883"/>
            <a:chOff x="0" y="0"/>
            <a:chExt cx="2279600" cy="1260218"/>
          </a:xfrm>
        </p:grpSpPr>
        <p:sp>
          <p:nvSpPr>
            <p:cNvPr id="8" name="Freeform 16">
              <a:extLst>
                <a:ext uri="{FF2B5EF4-FFF2-40B4-BE49-F238E27FC236}">
                  <a16:creationId xmlns:a16="http://schemas.microsoft.com/office/drawing/2014/main" id="{CB20388A-FAF3-8200-CEFD-5D3F44D4F083}"/>
                </a:ext>
              </a:extLst>
            </p:cNvPr>
            <p:cNvSpPr/>
            <p:nvPr/>
          </p:nvSpPr>
          <p:spPr>
            <a:xfrm>
              <a:off x="0" y="0"/>
              <a:ext cx="2279600" cy="1260218"/>
            </a:xfrm>
            <a:custGeom>
              <a:avLst/>
              <a:gdLst/>
              <a:ahLst/>
              <a:cxnLst/>
              <a:rect l="l" t="t" r="r" b="b"/>
              <a:pathLst>
                <a:path w="2279600" h="1260218">
                  <a:moveTo>
                    <a:pt x="0" y="0"/>
                  </a:moveTo>
                  <a:lnTo>
                    <a:pt x="2279600" y="0"/>
                  </a:lnTo>
                  <a:lnTo>
                    <a:pt x="2279600" y="1260218"/>
                  </a:lnTo>
                  <a:lnTo>
                    <a:pt x="0" y="1260218"/>
                  </a:lnTo>
                  <a:close/>
                </a:path>
              </a:pathLst>
            </a:custGeom>
            <a:solidFill>
              <a:srgbClr val="BBE5E1"/>
            </a:solidFill>
          </p:spPr>
          <p:txBody>
            <a:bodyPr/>
            <a:lstStyle/>
            <a:p>
              <a:pPr defTabSz="609630"/>
              <a:endParaRPr lang="en-US" sz="1200">
                <a:solidFill>
                  <a:prstClr val="black"/>
                </a:solidFill>
                <a:latin typeface="Arial" panose="020B0604020202020204"/>
              </a:endParaRPr>
            </a:p>
          </p:txBody>
        </p:sp>
        <p:sp>
          <p:nvSpPr>
            <p:cNvPr id="9" name="TextBox 17">
              <a:extLst>
                <a:ext uri="{FF2B5EF4-FFF2-40B4-BE49-F238E27FC236}">
                  <a16:creationId xmlns:a16="http://schemas.microsoft.com/office/drawing/2014/main" id="{FD0936A5-131E-6D8A-9900-C33082CA317B}"/>
                </a:ext>
              </a:extLst>
            </p:cNvPr>
            <p:cNvSpPr txBox="1"/>
            <p:nvPr/>
          </p:nvSpPr>
          <p:spPr>
            <a:xfrm>
              <a:off x="0" y="-38100"/>
              <a:ext cx="2279600" cy="1298318"/>
            </a:xfrm>
            <a:prstGeom prst="rect">
              <a:avLst/>
            </a:prstGeom>
          </p:spPr>
          <p:txBody>
            <a:bodyPr lIns="33867" tIns="33867" rIns="33867" bIns="33867" rtlCol="0" anchor="ctr"/>
            <a:lstStyle/>
            <a:p>
              <a:pPr algn="ctr" defTabSz="609630">
                <a:lnSpc>
                  <a:spcPts val="1200"/>
                </a:lnSpc>
              </a:pPr>
              <a:endParaRPr sz="1200">
                <a:solidFill>
                  <a:prstClr val="black"/>
                </a:solidFill>
                <a:latin typeface="Arial" panose="020B0604020202020204"/>
              </a:endParaRPr>
            </a:p>
          </p:txBody>
        </p:sp>
      </p:grpSp>
      <p:grpSp>
        <p:nvGrpSpPr>
          <p:cNvPr id="10" name="Group 9">
            <a:extLst>
              <a:ext uri="{FF2B5EF4-FFF2-40B4-BE49-F238E27FC236}">
                <a16:creationId xmlns:a16="http://schemas.microsoft.com/office/drawing/2014/main" id="{9BC6EC55-F28B-92C9-A851-45527870ED60}"/>
              </a:ext>
            </a:extLst>
          </p:cNvPr>
          <p:cNvGrpSpPr/>
          <p:nvPr/>
        </p:nvGrpSpPr>
        <p:grpSpPr>
          <a:xfrm>
            <a:off x="8453120" y="1254242"/>
            <a:ext cx="3399214" cy="3189337"/>
            <a:chOff x="0" y="0"/>
            <a:chExt cx="1244087" cy="1533577"/>
          </a:xfrm>
        </p:grpSpPr>
        <p:sp>
          <p:nvSpPr>
            <p:cNvPr id="11" name="Freeform 10">
              <a:extLst>
                <a:ext uri="{FF2B5EF4-FFF2-40B4-BE49-F238E27FC236}">
                  <a16:creationId xmlns:a16="http://schemas.microsoft.com/office/drawing/2014/main" id="{C3D34044-DEC5-9805-4E1B-C439A898CD26}"/>
                </a:ext>
              </a:extLst>
            </p:cNvPr>
            <p:cNvSpPr/>
            <p:nvPr/>
          </p:nvSpPr>
          <p:spPr>
            <a:xfrm>
              <a:off x="0" y="0"/>
              <a:ext cx="1244087" cy="1533577"/>
            </a:xfrm>
            <a:custGeom>
              <a:avLst/>
              <a:gdLst/>
              <a:ahLst/>
              <a:cxnLst/>
              <a:rect l="l" t="t" r="r" b="b"/>
              <a:pathLst>
                <a:path w="1244087" h="1533577">
                  <a:moveTo>
                    <a:pt x="15184" y="0"/>
                  </a:moveTo>
                  <a:lnTo>
                    <a:pt x="1228903" y="0"/>
                  </a:lnTo>
                  <a:cubicBezTo>
                    <a:pt x="1232930" y="0"/>
                    <a:pt x="1236792" y="1600"/>
                    <a:pt x="1239640" y="4447"/>
                  </a:cubicBezTo>
                  <a:cubicBezTo>
                    <a:pt x="1242487" y="7295"/>
                    <a:pt x="1244087" y="11157"/>
                    <a:pt x="1244087" y="15184"/>
                  </a:cubicBezTo>
                  <a:lnTo>
                    <a:pt x="1244087" y="1518393"/>
                  </a:lnTo>
                  <a:cubicBezTo>
                    <a:pt x="1244087" y="1526779"/>
                    <a:pt x="1237289" y="1533577"/>
                    <a:pt x="1228903" y="1533577"/>
                  </a:cubicBezTo>
                  <a:lnTo>
                    <a:pt x="15184" y="1533577"/>
                  </a:lnTo>
                  <a:cubicBezTo>
                    <a:pt x="6798" y="1533577"/>
                    <a:pt x="0" y="1526779"/>
                    <a:pt x="0" y="1518393"/>
                  </a:cubicBezTo>
                  <a:lnTo>
                    <a:pt x="0" y="15184"/>
                  </a:lnTo>
                  <a:cubicBezTo>
                    <a:pt x="0" y="6798"/>
                    <a:pt x="6798" y="0"/>
                    <a:pt x="15184" y="0"/>
                  </a:cubicBezTo>
                  <a:close/>
                </a:path>
              </a:pathLst>
            </a:custGeom>
            <a:solidFill>
              <a:srgbClr val="DFF0FE"/>
            </a:solidFill>
          </p:spPr>
          <p:txBody>
            <a:bodyPr/>
            <a:lstStyle/>
            <a:p>
              <a:pPr defTabSz="609630"/>
              <a:endParaRPr lang="en-US" sz="1200">
                <a:solidFill>
                  <a:prstClr val="black"/>
                </a:solidFill>
                <a:latin typeface="Arial" panose="020B0604020202020204"/>
              </a:endParaRPr>
            </a:p>
          </p:txBody>
        </p:sp>
        <p:sp>
          <p:nvSpPr>
            <p:cNvPr id="12" name="TextBox 11">
              <a:extLst>
                <a:ext uri="{FF2B5EF4-FFF2-40B4-BE49-F238E27FC236}">
                  <a16:creationId xmlns:a16="http://schemas.microsoft.com/office/drawing/2014/main" id="{4E770CA4-3262-8D44-C498-11CE33C9E03B}"/>
                </a:ext>
              </a:extLst>
            </p:cNvPr>
            <p:cNvSpPr txBox="1"/>
            <p:nvPr/>
          </p:nvSpPr>
          <p:spPr>
            <a:xfrm>
              <a:off x="0" y="-57150"/>
              <a:ext cx="1244087" cy="1590727"/>
            </a:xfrm>
            <a:prstGeom prst="rect">
              <a:avLst/>
            </a:prstGeom>
          </p:spPr>
          <p:txBody>
            <a:bodyPr lIns="36557" tIns="36557" rIns="36557" bIns="36557" rtlCol="0" anchor="ctr"/>
            <a:lstStyle/>
            <a:p>
              <a:pPr algn="ctr" defTabSz="609630">
                <a:lnSpc>
                  <a:spcPts val="2239"/>
                </a:lnSpc>
              </a:pPr>
              <a:endParaRPr sz="1200">
                <a:solidFill>
                  <a:prstClr val="black"/>
                </a:solidFill>
                <a:latin typeface="Arial" panose="020B0604020202020204"/>
              </a:endParaRPr>
            </a:p>
          </p:txBody>
        </p:sp>
      </p:grpSp>
      <p:sp>
        <p:nvSpPr>
          <p:cNvPr id="13" name="TextBox 12">
            <a:extLst>
              <a:ext uri="{FF2B5EF4-FFF2-40B4-BE49-F238E27FC236}">
                <a16:creationId xmlns:a16="http://schemas.microsoft.com/office/drawing/2014/main" id="{D4326A93-A006-8DE2-B33E-DD7DE4B0EDCE}"/>
              </a:ext>
            </a:extLst>
          </p:cNvPr>
          <p:cNvSpPr txBox="1"/>
          <p:nvPr/>
        </p:nvSpPr>
        <p:spPr>
          <a:xfrm>
            <a:off x="442963" y="1254242"/>
            <a:ext cx="5817571" cy="3540200"/>
          </a:xfrm>
          <a:prstGeom prst="rect">
            <a:avLst/>
          </a:prstGeom>
          <a:noFill/>
        </p:spPr>
        <p:txBody>
          <a:bodyPr wrap="square" rtlCol="0">
            <a:spAutoFit/>
          </a:bodyPr>
          <a:lstStyle/>
          <a:p>
            <a:pPr algn="ctr" defTabSz="609630"/>
            <a:r>
              <a:rPr lang="en-US" sz="1867" b="1" dirty="0">
                <a:solidFill>
                  <a:prstClr val="black"/>
                </a:solidFill>
                <a:latin typeface="Arial" panose="020B0604020202020204"/>
              </a:rPr>
              <a:t>Center for developing precision health approaches for suicide prevention</a:t>
            </a:r>
          </a:p>
          <a:p>
            <a:pPr marL="342917" indent="-342917" defTabSz="609630">
              <a:buFontTx/>
              <a:buAutoNum type="arabicPeriod"/>
            </a:pPr>
            <a:r>
              <a:rPr lang="en-US" sz="1867" dirty="0">
                <a:solidFill>
                  <a:prstClr val="black"/>
                </a:solidFill>
                <a:latin typeface="Arial" panose="020B0604020202020204"/>
              </a:rPr>
              <a:t>Develop suicide risk phenotypes that interact with treatment</a:t>
            </a:r>
          </a:p>
          <a:p>
            <a:pPr marL="342917" indent="-342917" defTabSz="609630">
              <a:buFontTx/>
              <a:buAutoNum type="arabicPeriod"/>
            </a:pPr>
            <a:r>
              <a:rPr lang="en-US" sz="1867" dirty="0">
                <a:solidFill>
                  <a:prstClr val="black"/>
                </a:solidFill>
                <a:latin typeface="Arial" panose="020B0604020202020204"/>
              </a:rPr>
              <a:t>Use VA data to conduct emulated clinical trials investigating person by intervention interactions</a:t>
            </a:r>
          </a:p>
          <a:p>
            <a:pPr marL="342917" indent="-342917" defTabSz="609630">
              <a:buFontTx/>
              <a:buAutoNum type="arabicPeriod"/>
            </a:pPr>
            <a:r>
              <a:rPr lang="en-US" sz="1867" dirty="0">
                <a:solidFill>
                  <a:prstClr val="black"/>
                </a:solidFill>
                <a:latin typeface="Arial" panose="020B0604020202020204"/>
              </a:rPr>
              <a:t>Use randomized clinical trial methods to validate precision treatment rules derived from center studies</a:t>
            </a:r>
          </a:p>
          <a:p>
            <a:pPr marL="342917" indent="-342917" defTabSz="609630">
              <a:buFontTx/>
              <a:buAutoNum type="arabicPeriod"/>
            </a:pPr>
            <a:r>
              <a:rPr lang="en-US" sz="1867" dirty="0">
                <a:solidFill>
                  <a:prstClr val="black"/>
                </a:solidFill>
                <a:latin typeface="Arial" panose="020B0604020202020204"/>
              </a:rPr>
              <a:t>Make recommendations for decision rules to direct clinical tools to select interventions based on phenotype</a:t>
            </a:r>
          </a:p>
        </p:txBody>
      </p:sp>
      <p:sp>
        <p:nvSpPr>
          <p:cNvPr id="14" name="TextBox 13">
            <a:extLst>
              <a:ext uri="{FF2B5EF4-FFF2-40B4-BE49-F238E27FC236}">
                <a16:creationId xmlns:a16="http://schemas.microsoft.com/office/drawing/2014/main" id="{732A218D-F868-C675-04F8-B06B93007F43}"/>
              </a:ext>
            </a:extLst>
          </p:cNvPr>
          <p:cNvSpPr txBox="1"/>
          <p:nvPr/>
        </p:nvSpPr>
        <p:spPr>
          <a:xfrm>
            <a:off x="8831081" y="2102115"/>
            <a:ext cx="2643290" cy="1405256"/>
          </a:xfrm>
          <a:prstGeom prst="rect">
            <a:avLst/>
          </a:prstGeom>
          <a:noFill/>
        </p:spPr>
        <p:txBody>
          <a:bodyPr wrap="square" rtlCol="0">
            <a:spAutoFit/>
          </a:bodyPr>
          <a:lstStyle/>
          <a:p>
            <a:pPr algn="ctr" defTabSz="609630"/>
            <a:r>
              <a:rPr lang="en-US" sz="2133" dirty="0">
                <a:solidFill>
                  <a:prstClr val="black"/>
                </a:solidFill>
                <a:latin typeface="Arial" panose="020B0604020202020204"/>
              </a:rPr>
              <a:t>Individualized treatment approaches for suicide prevention</a:t>
            </a:r>
          </a:p>
        </p:txBody>
      </p:sp>
      <p:sp>
        <p:nvSpPr>
          <p:cNvPr id="4" name="TextBox 3">
            <a:extLst>
              <a:ext uri="{FF2B5EF4-FFF2-40B4-BE49-F238E27FC236}">
                <a16:creationId xmlns:a16="http://schemas.microsoft.com/office/drawing/2014/main" id="{1FF71CFA-F3B1-9002-64B0-C9FA4811F3CC}"/>
              </a:ext>
            </a:extLst>
          </p:cNvPr>
          <p:cNvSpPr txBox="1"/>
          <p:nvPr/>
        </p:nvSpPr>
        <p:spPr>
          <a:xfrm>
            <a:off x="327213" y="26803"/>
            <a:ext cx="11866641" cy="962123"/>
          </a:xfrm>
          <a:prstGeom prst="rect">
            <a:avLst/>
          </a:prstGeom>
          <a:noFill/>
        </p:spPr>
        <p:txBody>
          <a:bodyPr wrap="square" rtlCol="0">
            <a:spAutoFit/>
          </a:bodyPr>
          <a:lstStyle/>
          <a:p>
            <a:pPr marL="0" marR="0">
              <a:lnSpc>
                <a:spcPct val="107000"/>
              </a:lnSpc>
              <a:spcBef>
                <a:spcPts val="0"/>
              </a:spcBef>
              <a:spcAft>
                <a:spcPts val="0"/>
              </a:spcAft>
            </a:pPr>
            <a:r>
              <a:rPr lang="en-US" sz="3600" b="1" kern="100" dirty="0">
                <a:solidFill>
                  <a:schemeClr val="bg1"/>
                </a:solidFill>
                <a:effectLst/>
                <a:latin typeface="Calibri Light" panose="020F0302020204030204" pitchFamily="34" charset="0"/>
                <a:ea typeface="Calibri Light" panose="020F0302020204030204" pitchFamily="34" charset="0"/>
                <a:cs typeface="Calibri Light" panose="020F0302020204030204" pitchFamily="34" charset="0"/>
              </a:rPr>
              <a:t>Establishing a Precision Health Research Center </a:t>
            </a:r>
          </a:p>
          <a:p>
            <a:endParaRPr lang="en-US" b="1" dirty="0"/>
          </a:p>
        </p:txBody>
      </p:sp>
      <p:sp>
        <p:nvSpPr>
          <p:cNvPr id="6" name="TextBox 5">
            <a:extLst>
              <a:ext uri="{FF2B5EF4-FFF2-40B4-BE49-F238E27FC236}">
                <a16:creationId xmlns:a16="http://schemas.microsoft.com/office/drawing/2014/main" id="{A3664EB8-9E1C-4C1F-4ECA-B04C9BE42ED5}"/>
              </a:ext>
            </a:extLst>
          </p:cNvPr>
          <p:cNvSpPr txBox="1"/>
          <p:nvPr/>
        </p:nvSpPr>
        <p:spPr>
          <a:xfrm>
            <a:off x="896038" y="5085549"/>
            <a:ext cx="10399923" cy="954107"/>
          </a:xfrm>
          <a:prstGeom prst="rect">
            <a:avLst/>
          </a:prstGeom>
          <a:noFill/>
          <a:ln w="38100">
            <a:solidFill>
              <a:srgbClr val="FF0000"/>
            </a:solidFill>
          </a:ln>
        </p:spPr>
        <p:txBody>
          <a:bodyPr wrap="square" rtlCol="0">
            <a:spAutoFit/>
          </a:bodyPr>
          <a:lstStyle/>
          <a:p>
            <a:pPr algn="ctr"/>
            <a:r>
              <a:rPr lang="en-US" sz="2800" dirty="0"/>
              <a:t>ORD Precision Health Research Center will utilize VA data to establish precision treatment rules to prevent suicide</a:t>
            </a:r>
          </a:p>
        </p:txBody>
      </p:sp>
    </p:spTree>
    <p:extLst>
      <p:ext uri="{BB962C8B-B14F-4D97-AF65-F5344CB8AC3E}">
        <p14:creationId xmlns:p14="http://schemas.microsoft.com/office/powerpoint/2010/main" val="2536161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C8494-5572-7B23-A099-E40FB73C6D16}"/>
              </a:ext>
            </a:extLst>
          </p:cNvPr>
          <p:cNvSpPr>
            <a:spLocks noGrp="1"/>
          </p:cNvSpPr>
          <p:nvPr>
            <p:ph type="title"/>
          </p:nvPr>
        </p:nvSpPr>
        <p:spPr/>
        <p:txBody>
          <a:bodyPr/>
          <a:lstStyle/>
          <a:p>
            <a:r>
              <a:rPr lang="en-US" dirty="0"/>
              <a:t>On the Horizon: Suicide Prevention in the Community</a:t>
            </a:r>
          </a:p>
        </p:txBody>
      </p:sp>
      <p:sp>
        <p:nvSpPr>
          <p:cNvPr id="3" name="Slide Number Placeholder 2">
            <a:extLst>
              <a:ext uri="{FF2B5EF4-FFF2-40B4-BE49-F238E27FC236}">
                <a16:creationId xmlns:a16="http://schemas.microsoft.com/office/drawing/2014/main" id="{0A0E7F6A-8483-0B21-7B9B-8A0A76AB5EAA}"/>
              </a:ext>
            </a:extLst>
          </p:cNvPr>
          <p:cNvSpPr>
            <a:spLocks noGrp="1"/>
          </p:cNvSpPr>
          <p:nvPr>
            <p:ph type="sldNum" sz="quarter" idx="12"/>
          </p:nvPr>
        </p:nvSpPr>
        <p:spPr/>
        <p:txBody>
          <a:bodyPr/>
          <a:lstStyle/>
          <a:p>
            <a:fld id="{670A9334-4E67-F94F-A05E-0CE8B74A054E}" type="slidenum">
              <a:rPr lang="en-US" smtClean="0"/>
              <a:t>15</a:t>
            </a:fld>
            <a:endParaRPr lang="en-US"/>
          </a:p>
        </p:txBody>
      </p:sp>
      <p:sp>
        <p:nvSpPr>
          <p:cNvPr id="4" name="TextBox 3">
            <a:extLst>
              <a:ext uri="{FF2B5EF4-FFF2-40B4-BE49-F238E27FC236}">
                <a16:creationId xmlns:a16="http://schemas.microsoft.com/office/drawing/2014/main" id="{94CF7914-C243-CD09-714A-FE05577474AF}"/>
              </a:ext>
            </a:extLst>
          </p:cNvPr>
          <p:cNvSpPr txBox="1"/>
          <p:nvPr/>
        </p:nvSpPr>
        <p:spPr>
          <a:xfrm>
            <a:off x="615994" y="1366306"/>
            <a:ext cx="11185743" cy="4524315"/>
          </a:xfrm>
          <a:prstGeom prst="rect">
            <a:avLst/>
          </a:prstGeom>
          <a:noFill/>
        </p:spPr>
        <p:txBody>
          <a:bodyPr wrap="square" rtlCol="0">
            <a:spAutoFit/>
          </a:bodyPr>
          <a:lstStyle/>
          <a:p>
            <a:r>
              <a:rPr lang="en-US" sz="2800" u="sng" dirty="0">
                <a:latin typeface="Arial" panose="020B0604020202020204" pitchFamily="34" charset="0"/>
                <a:cs typeface="Arial" panose="020B0604020202020204" pitchFamily="34" charset="0"/>
              </a:rPr>
              <a:t>FY 2027</a:t>
            </a:r>
          </a:p>
          <a:p>
            <a:endParaRPr lang="en-US" sz="2800" u="sng" dirty="0">
              <a:latin typeface="Arial" panose="020B0604020202020204" pitchFamily="34" charset="0"/>
              <a:cs typeface="Arial" panose="020B0604020202020204" pitchFamily="34" charset="0"/>
            </a:endParaRPr>
          </a:p>
          <a:p>
            <a:r>
              <a:rPr lang="en-US" sz="2800" dirty="0">
                <a:latin typeface="Arial" panose="020B0604020202020204" pitchFamily="34" charset="0"/>
                <a:cs typeface="Arial" panose="020B0604020202020204" pitchFamily="34" charset="0"/>
              </a:rPr>
              <a:t>The SP-AMP will be engaging stakeholders to define strategic opportunities:</a:t>
            </a:r>
          </a:p>
          <a:p>
            <a:endParaRPr lang="en-US" sz="800" dirty="0">
              <a:latin typeface="Arial" panose="020B0604020202020204" pitchFamily="34" charset="0"/>
              <a:cs typeface="Arial" panose="020B0604020202020204" pitchFamily="34" charset="0"/>
            </a:endParaRP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Map the landscape of community-based suicide prevention</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Engage community partners</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Assess the current evidence base</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Clarify priorities for research and innovation</a:t>
            </a:r>
          </a:p>
          <a:p>
            <a:pPr marL="457200" indent="-457200">
              <a:buFont typeface="Arial" panose="020B0604020202020204" pitchFamily="34" charset="0"/>
              <a:buChar char="•"/>
            </a:pPr>
            <a:r>
              <a:rPr lang="en-US" sz="2800" dirty="0">
                <a:latin typeface="Arial" panose="020B0604020202020204" pitchFamily="34" charset="0"/>
                <a:cs typeface="Arial" panose="020B0604020202020204" pitchFamily="34" charset="0"/>
              </a:rPr>
              <a:t>Develop a strategic framework</a:t>
            </a:r>
          </a:p>
          <a:p>
            <a:pPr marL="457200" indent="-457200">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8436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B577F-1AE2-6DF7-D364-C02435A7FF3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D7C151F-927F-BAFE-BAF8-F1833BCE7CCF}"/>
              </a:ext>
            </a:extLst>
          </p:cNvPr>
          <p:cNvSpPr>
            <a:spLocks noGrp="1"/>
          </p:cNvSpPr>
          <p:nvPr>
            <p:ph type="body" sz="quarter" idx="10"/>
          </p:nvPr>
        </p:nvSpPr>
        <p:spPr/>
        <p:txBody>
          <a:bodyPr/>
          <a:lstStyle/>
          <a:p>
            <a:r>
              <a:rPr lang="en-US" dirty="0"/>
              <a:t>Accomplishments</a:t>
            </a:r>
          </a:p>
        </p:txBody>
      </p:sp>
    </p:spTree>
    <p:extLst>
      <p:ext uri="{BB962C8B-B14F-4D97-AF65-F5344CB8AC3E}">
        <p14:creationId xmlns:p14="http://schemas.microsoft.com/office/powerpoint/2010/main" val="11980660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6291F-BE57-50A2-D51C-5375EF2D0D3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5E8AC66-4C61-D9C6-07B1-61C47AE09796}"/>
              </a:ext>
            </a:extLst>
          </p:cNvPr>
          <p:cNvSpPr txBox="1"/>
          <p:nvPr/>
        </p:nvSpPr>
        <p:spPr>
          <a:xfrm>
            <a:off x="352424" y="76200"/>
            <a:ext cx="8450053"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Select Project Accomplishments (1)</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sp>
        <p:nvSpPr>
          <p:cNvPr id="3" name="TextBox 2">
            <a:extLst>
              <a:ext uri="{FF2B5EF4-FFF2-40B4-BE49-F238E27FC236}">
                <a16:creationId xmlns:a16="http://schemas.microsoft.com/office/drawing/2014/main" id="{44E17ADD-D683-3A5C-B14C-B221A895A63B}"/>
              </a:ext>
            </a:extLst>
          </p:cNvPr>
          <p:cNvSpPr txBox="1"/>
          <p:nvPr/>
        </p:nvSpPr>
        <p:spPr>
          <a:xfrm>
            <a:off x="419100" y="1060192"/>
            <a:ext cx="11420475"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Veteran Feedback for Suicide Prevention Operations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Developed recommendations for the Office of Suicide Prevention based on Veteran feedback after VCL emergency dispatches. </a:t>
            </a:r>
            <a:endParaRPr kumimoji="0" lang="en-US" sz="2800" b="0" i="0" u="none" strike="noStrike" kern="1200" cap="none" spc="0" normalizeH="0" baseline="0" noProof="0" dirty="0">
              <a:ln>
                <a:noFill/>
              </a:ln>
              <a:solidFill>
                <a:prstClr val="black"/>
              </a:solidFill>
              <a:effectLst/>
              <a:highlight>
                <a:srgbClr val="FFFF00"/>
              </a:highlight>
              <a:uLnTx/>
              <a:uFillTx/>
              <a:latin typeface="Arial" panose="020B0604020202020204"/>
              <a:ea typeface="+mn-ea"/>
              <a:cs typeface="+mn-cs"/>
            </a:endParaRP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2"/>
              </a:rPr>
              <a:t>https://pubmed.ncbi.nlm.nih.gov/39980364/</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Machine Learning Prediction for Transitioning Service Members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Collaboration with DoD: 30% of service members with highest predicted risk account for 93% of medically serious suicide attempts within the first year following military discharge. Predictive analytics are now being tested in a stepped care intervention. </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3"/>
              </a:rPr>
              <a:t>https://pubmed.ncbi.nlm.nih.gov/39885116/</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CEEBB1A7-73DC-4423-A13C-75EE93B47024}"/>
              </a:ext>
            </a:extLst>
          </p:cNvPr>
          <p:cNvSpPr txBox="1"/>
          <p:nvPr/>
        </p:nvSpPr>
        <p:spPr>
          <a:xfrm>
            <a:off x="3333750" y="6400800"/>
            <a:ext cx="48387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PREDECISIONAL – INTERNAL USE ONLY</a:t>
            </a:r>
          </a:p>
        </p:txBody>
      </p:sp>
    </p:spTree>
    <p:extLst>
      <p:ext uri="{BB962C8B-B14F-4D97-AF65-F5344CB8AC3E}">
        <p14:creationId xmlns:p14="http://schemas.microsoft.com/office/powerpoint/2010/main" val="4632499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60EF7-9399-A01A-1A4D-7BDCC057E1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C35E1B4-6111-5CEC-D1BF-7BE7BC67FD2C}"/>
              </a:ext>
            </a:extLst>
          </p:cNvPr>
          <p:cNvSpPr txBox="1"/>
          <p:nvPr/>
        </p:nvSpPr>
        <p:spPr>
          <a:xfrm>
            <a:off x="419100" y="920621"/>
            <a:ext cx="11420475" cy="501675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Predicting Near-Term Risk among Veterans who Won’t Tell Us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Preliminary study of a novel test to reveal hidden attitudes about suicide risk faster than Veterans can consciously control them. Innovative approach needs more research.</a:t>
            </a: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2"/>
              </a:rPr>
              <a:t>https://pubmed.ncbi.nlm.nih.gov/41033177/</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1" i="0" u="sng"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Million Veteran Program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err="1">
                <a:ln>
                  <a:noFill/>
                </a:ln>
                <a:solidFill>
                  <a:prstClr val="black"/>
                </a:solidFill>
                <a:effectLst/>
                <a:uLnTx/>
                <a:uFillTx/>
                <a:latin typeface="Arial" panose="020B0604020202020204"/>
                <a:ea typeface="+mn-ea"/>
                <a:cs typeface="+mn-cs"/>
              </a:rPr>
              <a:t>ID’ed</a:t>
            </a: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 a “mild suicide ideation profile” that did not present with high-risk comorbidities but had the highest rate of suicide. Upstream suicide prevention interventions may be indicated.</a:t>
            </a: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3"/>
              </a:rPr>
              <a:t>https://pubmed.ncbi.nlm.nih.gov/41331360/</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457200" marR="0" lvl="0" indent="-4572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15702A78-EDD6-A01E-4590-D03B764AACF8}"/>
              </a:ext>
            </a:extLst>
          </p:cNvPr>
          <p:cNvSpPr txBox="1"/>
          <p:nvPr/>
        </p:nvSpPr>
        <p:spPr>
          <a:xfrm>
            <a:off x="3333750" y="6400800"/>
            <a:ext cx="48387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PREDECISIONAL – INTERNAL USE ONLY</a:t>
            </a:r>
          </a:p>
        </p:txBody>
      </p:sp>
      <p:sp>
        <p:nvSpPr>
          <p:cNvPr id="5" name="TextBox 4">
            <a:extLst>
              <a:ext uri="{FF2B5EF4-FFF2-40B4-BE49-F238E27FC236}">
                <a16:creationId xmlns:a16="http://schemas.microsoft.com/office/drawing/2014/main" id="{E9C61EF6-3DAA-64F3-7479-90F59D146206}"/>
              </a:ext>
            </a:extLst>
          </p:cNvPr>
          <p:cNvSpPr txBox="1"/>
          <p:nvPr/>
        </p:nvSpPr>
        <p:spPr>
          <a:xfrm>
            <a:off x="352424" y="76200"/>
            <a:ext cx="8130564"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Select Project Accomplishments (2)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2305375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3B3BC-2EB2-DCDE-E201-831094F93D8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CDCE59F-2854-680B-A8E6-69F819F42814}"/>
              </a:ext>
            </a:extLst>
          </p:cNvPr>
          <p:cNvSpPr txBox="1"/>
          <p:nvPr/>
        </p:nvSpPr>
        <p:spPr>
          <a:xfrm>
            <a:off x="419100" y="1500648"/>
            <a:ext cx="11420475" cy="403187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Natural Language Processing (NLP) for VA Medical Records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Preliminary NLP in VA medical records to extract suicide risk information and predict risk – next steps identified.</a:t>
            </a: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2"/>
              </a:rPr>
              <a:t>https://pubmed.ncbi.nlm.nih.gov/39854062/</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prstClr val="black"/>
                </a:solidFill>
                <a:effectLst/>
                <a:uLnTx/>
                <a:uFillTx/>
                <a:latin typeface="Arial" panose="020B0604020202020204"/>
                <a:ea typeface="+mn-ea"/>
                <a:cs typeface="+mn-cs"/>
              </a:rPr>
              <a:t>Peer Veteran Telehealth Options for Rural Veterans</a:t>
            </a: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rPr>
              <a:t>Pilot study examined a telehealth suicide prevention group intervention  (augmented with a peer Veteran) for rural Arkansas</a:t>
            </a:r>
          </a:p>
          <a:p>
            <a:pPr marL="28575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hlinkClick r:id="rId3"/>
              </a:rPr>
              <a:t>https://pubmed.ncbi.nlm.nih.gov/40171305/</a:t>
            </a:r>
            <a:r>
              <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rPr>
              <a:t> </a:t>
            </a:r>
          </a:p>
          <a:p>
            <a:pPr marL="28575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800" b="0" i="0" u="none" strike="noStrike" kern="1200" cap="none" spc="0" normalizeH="0" baseline="0" noProof="0" dirty="0">
              <a:ln>
                <a:noFill/>
              </a:ln>
              <a:solidFill>
                <a:prstClr val="black"/>
              </a:solidFill>
              <a:effectLst/>
              <a:uLnTx/>
              <a:uFillTx/>
              <a:latin typeface="Arial" panose="020B0604020202020204"/>
              <a:ea typeface="+mn-ea"/>
              <a:cs typeface="+mn-cs"/>
            </a:endParaRPr>
          </a:p>
        </p:txBody>
      </p:sp>
      <p:sp>
        <p:nvSpPr>
          <p:cNvPr id="4" name="TextBox 3">
            <a:extLst>
              <a:ext uri="{FF2B5EF4-FFF2-40B4-BE49-F238E27FC236}">
                <a16:creationId xmlns:a16="http://schemas.microsoft.com/office/drawing/2014/main" id="{865686E4-0A3C-A883-2629-F1F020E74C99}"/>
              </a:ext>
            </a:extLst>
          </p:cNvPr>
          <p:cNvSpPr txBox="1"/>
          <p:nvPr/>
        </p:nvSpPr>
        <p:spPr>
          <a:xfrm>
            <a:off x="3333750" y="6400800"/>
            <a:ext cx="4838700" cy="3810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panose="020B0604020202020204"/>
                <a:ea typeface="+mn-ea"/>
                <a:cs typeface="+mn-cs"/>
              </a:rPr>
              <a:t>PREDECISIONAL – INTERNAL USE ONLY</a:t>
            </a:r>
          </a:p>
        </p:txBody>
      </p:sp>
      <p:sp>
        <p:nvSpPr>
          <p:cNvPr id="5" name="TextBox 4">
            <a:extLst>
              <a:ext uri="{FF2B5EF4-FFF2-40B4-BE49-F238E27FC236}">
                <a16:creationId xmlns:a16="http://schemas.microsoft.com/office/drawing/2014/main" id="{9B5BE2F4-DC4A-CD64-C4CB-B7A9FEED5449}"/>
              </a:ext>
            </a:extLst>
          </p:cNvPr>
          <p:cNvSpPr txBox="1"/>
          <p:nvPr/>
        </p:nvSpPr>
        <p:spPr>
          <a:xfrm>
            <a:off x="352424" y="76200"/>
            <a:ext cx="6753456" cy="1200329"/>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Calibri Light" panose="020F0302020204030204" pitchFamily="34" charset="0"/>
                <a:ea typeface="Calibri Light" panose="020F0302020204030204" pitchFamily="34" charset="0"/>
                <a:cs typeface="Calibri Light" panose="020F0302020204030204" pitchFamily="34" charset="0"/>
              </a:rPr>
              <a:t>Select Project Accomplishments (3)</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600" b="1" i="0" u="none" strike="noStrike" kern="1200" cap="none" spc="0" normalizeH="0" baseline="0" noProof="0" dirty="0">
              <a:ln>
                <a:noFill/>
              </a:ln>
              <a:solidFill>
                <a:prstClr val="black"/>
              </a:solidFill>
              <a:effectLst/>
              <a:uLnTx/>
              <a:uFillTx/>
              <a:latin typeface="Calibri Light" panose="020F0302020204030204" pitchFamily="34" charset="0"/>
              <a:ea typeface="Calibri Light" panose="020F0302020204030204" pitchFamily="34" charset="0"/>
              <a:cs typeface="Calibri Light" panose="020F0302020204030204" pitchFamily="34" charset="0"/>
            </a:endParaRPr>
          </a:p>
        </p:txBody>
      </p:sp>
    </p:spTree>
    <p:extLst>
      <p:ext uri="{BB962C8B-B14F-4D97-AF65-F5344CB8AC3E}">
        <p14:creationId xmlns:p14="http://schemas.microsoft.com/office/powerpoint/2010/main" val="3046298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9358B-9A5C-8987-31D0-12501FB10FCA}"/>
              </a:ext>
            </a:extLst>
          </p:cNvPr>
          <p:cNvSpPr txBox="1">
            <a:spLocks/>
          </p:cNvSpPr>
          <p:nvPr/>
        </p:nvSpPr>
        <p:spPr>
          <a:xfrm>
            <a:off x="-251104" y="839798"/>
            <a:ext cx="13328125" cy="1055076"/>
          </a:xfrm>
          <a:prstGeom prst="rect">
            <a:avLst/>
          </a:prstGeom>
        </p:spPr>
        <p:txBody>
          <a:bodyPr>
            <a:normAutofit/>
          </a:bodyPr>
          <a:lstStyle>
            <a:lvl1pPr algn="l" defTabSz="1371600" rtl="0" eaLnBrk="1" latinLnBrk="0" hangingPunct="1">
              <a:lnSpc>
                <a:spcPct val="90000"/>
              </a:lnSpc>
              <a:spcBef>
                <a:spcPct val="0"/>
              </a:spcBef>
              <a:buNone/>
              <a:defRPr sz="5250" b="1" kern="1200">
                <a:solidFill>
                  <a:srgbClr val="00467F"/>
                </a:solidFill>
                <a:latin typeface="+mn-lt"/>
                <a:ea typeface="+mj-ea"/>
                <a:cs typeface="+mj-cs"/>
              </a:defRPr>
            </a:lvl1pPr>
          </a:lstStyle>
          <a:p>
            <a:pPr algn="ctr"/>
            <a:r>
              <a:rPr lang="en-US" sz="2400" dirty="0"/>
              <a:t>Development of a Predictive Analytics-Informed Clinical Decision Support Tool for </a:t>
            </a:r>
          </a:p>
          <a:p>
            <a:pPr algn="ctr"/>
            <a:r>
              <a:rPr lang="en-US" sz="2400" dirty="0"/>
              <a:t>VA ED Providers  </a:t>
            </a:r>
          </a:p>
        </p:txBody>
      </p:sp>
      <p:sp>
        <p:nvSpPr>
          <p:cNvPr id="3" name="Text Placeholder 5">
            <a:extLst>
              <a:ext uri="{FF2B5EF4-FFF2-40B4-BE49-F238E27FC236}">
                <a16:creationId xmlns:a16="http://schemas.microsoft.com/office/drawing/2014/main" id="{C33F407A-0741-A708-8A21-3408CEFE166E}"/>
              </a:ext>
            </a:extLst>
          </p:cNvPr>
          <p:cNvSpPr txBox="1">
            <a:spLocks/>
          </p:cNvSpPr>
          <p:nvPr/>
        </p:nvSpPr>
        <p:spPr>
          <a:xfrm>
            <a:off x="298447" y="1593928"/>
            <a:ext cx="4318951" cy="4033986"/>
          </a:xfrm>
          <a:prstGeom prst="rect">
            <a:avLst/>
          </a:prstGeom>
        </p:spPr>
        <p:style>
          <a:lnRef idx="2">
            <a:schemeClr val="accent1"/>
          </a:lnRef>
          <a:fillRef idx="1">
            <a:schemeClr val="lt1"/>
          </a:fillRef>
          <a:effectRef idx="0">
            <a:schemeClr val="accent1"/>
          </a:effectRef>
          <a:fontRef idx="minor">
            <a:schemeClr val="dk1"/>
          </a:fontRef>
        </p:style>
        <p:txBody>
          <a:bodyPr>
            <a:normAutofit fontScale="92500" lnSpcReduction="10000"/>
          </a:bodyPr>
          <a:lstStyle>
            <a:lvl1pPr marL="342900" indent="-342900" algn="l" defTabSz="1371600" rtl="0" eaLnBrk="1" latinLnBrk="0" hangingPunct="1">
              <a:lnSpc>
                <a:spcPct val="90000"/>
              </a:lnSpc>
              <a:spcBef>
                <a:spcPts val="1500"/>
              </a:spcBef>
              <a:buClr>
                <a:srgbClr val="0194D3"/>
              </a:buClr>
              <a:buFont typeface="Arial" panose="020B0604020202020204" pitchFamily="34" charset="0"/>
              <a:buChar char="•"/>
              <a:defRPr sz="3000" kern="1200">
                <a:solidFill>
                  <a:schemeClr val="tx1">
                    <a:lumMod val="85000"/>
                    <a:lumOff val="15000"/>
                  </a:schemeClr>
                </a:solidFill>
                <a:latin typeface="+mn-lt"/>
                <a:ea typeface="+mn-ea"/>
                <a:cs typeface="+mn-cs"/>
              </a:defRPr>
            </a:lvl1pPr>
            <a:lvl2pPr marL="1028700" indent="-342900" algn="l" defTabSz="1371600" rtl="0" eaLnBrk="1" latinLnBrk="0" hangingPunct="1">
              <a:lnSpc>
                <a:spcPct val="90000"/>
              </a:lnSpc>
              <a:spcBef>
                <a:spcPts val="750"/>
              </a:spcBef>
              <a:buClr>
                <a:srgbClr val="0194D3"/>
              </a:buClr>
              <a:buFont typeface="Arial" panose="020B0604020202020204" pitchFamily="34" charset="0"/>
              <a:buChar char="•"/>
              <a:defRPr sz="2700" kern="1200">
                <a:solidFill>
                  <a:schemeClr val="tx1">
                    <a:lumMod val="85000"/>
                    <a:lumOff val="15000"/>
                  </a:schemeClr>
                </a:solidFill>
                <a:latin typeface="+mn-lt"/>
                <a:ea typeface="+mn-ea"/>
                <a:cs typeface="+mn-cs"/>
              </a:defRPr>
            </a:lvl2pPr>
            <a:lvl3pPr marL="1714500" indent="-342900" algn="l" defTabSz="1371600" rtl="0" eaLnBrk="1" latinLnBrk="0" hangingPunct="1">
              <a:lnSpc>
                <a:spcPct val="90000"/>
              </a:lnSpc>
              <a:spcBef>
                <a:spcPts val="750"/>
              </a:spcBef>
              <a:buClr>
                <a:srgbClr val="0194D3"/>
              </a:buClr>
              <a:buFont typeface="Arial" panose="020B0604020202020204" pitchFamily="34" charset="0"/>
              <a:buChar char="•"/>
              <a:defRPr sz="2400" kern="1200">
                <a:solidFill>
                  <a:schemeClr val="tx1">
                    <a:lumMod val="85000"/>
                    <a:lumOff val="15000"/>
                  </a:schemeClr>
                </a:solidFill>
                <a:latin typeface="+mn-lt"/>
                <a:ea typeface="+mn-ea"/>
                <a:cs typeface="+mn-cs"/>
              </a:defRPr>
            </a:lvl3pPr>
            <a:lvl4pPr marL="2400300" indent="-342900" algn="l" defTabSz="1371600" rtl="0" eaLnBrk="1" latinLnBrk="0" hangingPunct="1">
              <a:lnSpc>
                <a:spcPct val="90000"/>
              </a:lnSpc>
              <a:spcBef>
                <a:spcPts val="750"/>
              </a:spcBef>
              <a:buClr>
                <a:srgbClr val="0194D3"/>
              </a:buClr>
              <a:buFont typeface="Arial" panose="020B0604020202020204" pitchFamily="34" charset="0"/>
              <a:buChar char="•"/>
              <a:defRPr sz="2100" kern="1200">
                <a:solidFill>
                  <a:schemeClr val="tx1">
                    <a:lumMod val="85000"/>
                    <a:lumOff val="15000"/>
                  </a:schemeClr>
                </a:solidFill>
                <a:latin typeface="+mn-lt"/>
                <a:ea typeface="+mn-ea"/>
                <a:cs typeface="+mn-cs"/>
              </a:defRPr>
            </a:lvl4pPr>
            <a:lvl5pPr marL="3086100" indent="-342900" algn="l" defTabSz="1371600" rtl="0" eaLnBrk="1" latinLnBrk="0" hangingPunct="1">
              <a:lnSpc>
                <a:spcPct val="90000"/>
              </a:lnSpc>
              <a:spcBef>
                <a:spcPts val="750"/>
              </a:spcBef>
              <a:buClr>
                <a:srgbClr val="0194D3"/>
              </a:buClr>
              <a:buFont typeface="Arial" panose="020B0604020202020204" pitchFamily="34" charset="0"/>
              <a:buChar char="•"/>
              <a:defRPr sz="1800" kern="1200">
                <a:solidFill>
                  <a:schemeClr val="tx1">
                    <a:lumMod val="85000"/>
                    <a:lumOff val="15000"/>
                  </a:schemeClr>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a:lstStyle>
          <a:p>
            <a:pPr marL="0" indent="0" algn="ctr">
              <a:lnSpc>
                <a:spcPct val="120000"/>
              </a:lnSpc>
              <a:buNone/>
            </a:pPr>
            <a:r>
              <a:rPr lang="en-US" sz="2267" i="1" dirty="0">
                <a:solidFill>
                  <a:srgbClr val="0095D4"/>
                </a:solidFill>
                <a:latin typeface="Arial" panose="020B0604020202020204" pitchFamily="34" charset="0"/>
                <a:cs typeface="Arial" panose="020B0604020202020204" pitchFamily="34" charset="0"/>
              </a:rPr>
              <a:t>How do we support VA ED providers with Veterans presenting to the ED for suicide risk?</a:t>
            </a:r>
          </a:p>
          <a:p>
            <a:pPr>
              <a:lnSpc>
                <a:spcPct val="120000"/>
              </a:lnSpc>
            </a:pPr>
            <a:r>
              <a:rPr lang="en-US" sz="2267" dirty="0">
                <a:solidFill>
                  <a:schemeClr val="tx1"/>
                </a:solidFill>
                <a:latin typeface="Arial" panose="020B0604020202020204" pitchFamily="34" charset="0"/>
                <a:cs typeface="Arial" panose="020B0604020202020204" pitchFamily="34" charset="0"/>
              </a:rPr>
              <a:t>Predictive models on which Veterans benefit from which interventions</a:t>
            </a:r>
          </a:p>
          <a:p>
            <a:pPr>
              <a:lnSpc>
                <a:spcPct val="120000"/>
              </a:lnSpc>
            </a:pPr>
            <a:r>
              <a:rPr lang="en-US" sz="2267" dirty="0">
                <a:solidFill>
                  <a:schemeClr val="tx1"/>
                </a:solidFill>
                <a:latin typeface="Arial" panose="020B0604020202020204" pitchFamily="34" charset="0"/>
                <a:cs typeface="Arial" panose="020B0604020202020204" pitchFamily="34" charset="0"/>
              </a:rPr>
              <a:t>Developing improved risk assessment processes to help ED providers with decision making to reduce suicide risk</a:t>
            </a:r>
          </a:p>
          <a:p>
            <a:endParaRPr lang="en-US" sz="2000" i="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B734A34-3521-A028-D8E4-F81A4738B34C}"/>
              </a:ext>
            </a:extLst>
          </p:cNvPr>
          <p:cNvPicPr>
            <a:picLocks noChangeAspect="1"/>
          </p:cNvPicPr>
          <p:nvPr/>
        </p:nvPicPr>
        <p:blipFill>
          <a:blip r:embed="rId2"/>
          <a:srcRect l="12734" t="17917" r="27266" b="20278"/>
          <a:stretch/>
        </p:blipFill>
        <p:spPr>
          <a:xfrm>
            <a:off x="4826000" y="1529675"/>
            <a:ext cx="7067553" cy="4488527"/>
          </a:xfrm>
          <a:prstGeom prst="rect">
            <a:avLst/>
          </a:prstGeom>
        </p:spPr>
      </p:pic>
      <p:sp>
        <p:nvSpPr>
          <p:cNvPr id="6" name="TextBox 5">
            <a:extLst>
              <a:ext uri="{FF2B5EF4-FFF2-40B4-BE49-F238E27FC236}">
                <a16:creationId xmlns:a16="http://schemas.microsoft.com/office/drawing/2014/main" id="{F04D180D-C77F-A219-8F7B-463564EAE274}"/>
              </a:ext>
            </a:extLst>
          </p:cNvPr>
          <p:cNvSpPr txBox="1"/>
          <p:nvPr/>
        </p:nvSpPr>
        <p:spPr>
          <a:xfrm>
            <a:off x="109319" y="48704"/>
            <a:ext cx="12196524" cy="646331"/>
          </a:xfrm>
          <a:prstGeom prst="rect">
            <a:avLst/>
          </a:prstGeom>
          <a:noFill/>
        </p:spPr>
        <p:txBody>
          <a:bodyPr wrap="square" rtlCol="0">
            <a:spAutoFit/>
          </a:bodyPr>
          <a:lstStyle/>
          <a:p>
            <a:r>
              <a:rPr lang="en-US" sz="3600" b="1" dirty="0">
                <a:solidFill>
                  <a:schemeClr val="bg1"/>
                </a:solidFill>
                <a:latin typeface="Calibri Light" panose="020F0302020204030204" pitchFamily="34" charset="0"/>
                <a:ea typeface="Calibri Light" panose="020F0302020204030204" pitchFamily="34" charset="0"/>
                <a:cs typeface="Calibri Light" panose="020F0302020204030204" pitchFamily="34" charset="0"/>
              </a:rPr>
              <a:t>Precision Health Research to Practice: A Clinical Example</a:t>
            </a:r>
          </a:p>
        </p:txBody>
      </p:sp>
    </p:spTree>
    <p:extLst>
      <p:ext uri="{BB962C8B-B14F-4D97-AF65-F5344CB8AC3E}">
        <p14:creationId xmlns:p14="http://schemas.microsoft.com/office/powerpoint/2010/main" val="23641121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2BA36A1-2624-74BF-4AFF-F70E13DBC808}"/>
              </a:ext>
            </a:extLst>
          </p:cNvPr>
          <p:cNvSpPr>
            <a:spLocks noGrp="1"/>
          </p:cNvSpPr>
          <p:nvPr>
            <p:ph type="body" sz="quarter" idx="10"/>
          </p:nvPr>
        </p:nvSpPr>
        <p:spPr/>
        <p:txBody>
          <a:bodyPr/>
          <a:lstStyle/>
          <a:p>
            <a:r>
              <a:rPr lang="en-US" dirty="0"/>
              <a:t>Strategic Initiatives</a:t>
            </a:r>
          </a:p>
        </p:txBody>
      </p:sp>
    </p:spTree>
    <p:extLst>
      <p:ext uri="{BB962C8B-B14F-4D97-AF65-F5344CB8AC3E}">
        <p14:creationId xmlns:p14="http://schemas.microsoft.com/office/powerpoint/2010/main" val="2025509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4207D-98A8-0480-2241-9A4DD147012E}"/>
              </a:ext>
            </a:extLst>
          </p:cNvPr>
          <p:cNvSpPr>
            <a:spLocks noGrp="1"/>
          </p:cNvSpPr>
          <p:nvPr>
            <p:ph type="title"/>
          </p:nvPr>
        </p:nvSpPr>
        <p:spPr>
          <a:xfrm>
            <a:off x="457200" y="255343"/>
            <a:ext cx="10515600" cy="552908"/>
          </a:xfrm>
        </p:spPr>
        <p:txBody>
          <a:bodyPr/>
          <a:lstStyle/>
          <a:p>
            <a:r>
              <a:rPr lang="en-US" dirty="0"/>
              <a:t>Suicide Prevention Research Impact </a:t>
            </a:r>
            <a:r>
              <a:rPr lang="en-US" dirty="0" err="1"/>
              <a:t>NeTwork</a:t>
            </a:r>
            <a:r>
              <a:rPr lang="en-US" dirty="0"/>
              <a:t> </a:t>
            </a:r>
          </a:p>
        </p:txBody>
      </p:sp>
      <p:sp>
        <p:nvSpPr>
          <p:cNvPr id="3" name="Content Placeholder 2">
            <a:extLst>
              <a:ext uri="{FF2B5EF4-FFF2-40B4-BE49-F238E27FC236}">
                <a16:creationId xmlns:a16="http://schemas.microsoft.com/office/drawing/2014/main" id="{C84C70C7-C941-F0D2-3B5E-D4544DAF9C6D}"/>
              </a:ext>
            </a:extLst>
          </p:cNvPr>
          <p:cNvSpPr>
            <a:spLocks noGrp="1"/>
          </p:cNvSpPr>
          <p:nvPr>
            <p:ph idx="1"/>
          </p:nvPr>
        </p:nvSpPr>
        <p:spPr>
          <a:xfrm>
            <a:off x="457200" y="1406047"/>
            <a:ext cx="11277600" cy="4268803"/>
          </a:xfrm>
        </p:spPr>
        <p:txBody>
          <a:bodyPr/>
          <a:lstStyle/>
          <a:p>
            <a:pPr>
              <a:spcAft>
                <a:spcPts val="1200"/>
              </a:spcAft>
            </a:pPr>
            <a:r>
              <a:rPr lang="en-US" sz="2500" dirty="0">
                <a:latin typeface="Arial" panose="020B0604020202020204" pitchFamily="34" charset="0"/>
                <a:cs typeface="Arial" panose="020B0604020202020204" pitchFamily="34" charset="0"/>
              </a:rPr>
              <a:t>One of 6 HSR/ORD-funded Consortia of REsearch (COREs)</a:t>
            </a:r>
          </a:p>
          <a:p>
            <a:pPr>
              <a:spcAft>
                <a:spcPts val="1200"/>
              </a:spcAft>
            </a:pPr>
            <a:r>
              <a:rPr lang="en-US" sz="2500" dirty="0">
                <a:latin typeface="Arial" panose="020B0604020202020204" pitchFamily="34" charset="0"/>
                <a:cs typeface="Arial" panose="020B0604020202020204" pitchFamily="34" charset="0"/>
              </a:rPr>
              <a:t>Goal of CORES: A</a:t>
            </a:r>
            <a:r>
              <a:rPr lang="en-US" sz="2500" dirty="0">
                <a:latin typeface="Arial" panose="020B0604020202020204" pitchFamily="34" charset="0"/>
              </a:rPr>
              <a:t>ccelerate research that will lead to measurable improvements in the care delivered to Veterans across several priority areas.</a:t>
            </a:r>
            <a:endParaRPr lang="en-US" sz="2500" dirty="0">
              <a:latin typeface="Arial" panose="020B0604020202020204" pitchFamily="34" charset="0"/>
              <a:cs typeface="Arial" panose="020B0604020202020204" pitchFamily="34" charset="0"/>
            </a:endParaRPr>
          </a:p>
          <a:p>
            <a:pPr>
              <a:spcAft>
                <a:spcPts val="1200"/>
              </a:spcAft>
            </a:pPr>
            <a:r>
              <a:rPr lang="en-US" sz="2500" dirty="0">
                <a:latin typeface="Arial" panose="020B0604020202020204" pitchFamily="34" charset="0"/>
                <a:cs typeface="Arial" panose="020B0604020202020204" pitchFamily="34" charset="0"/>
              </a:rPr>
              <a:t>SPRINT’s specific mission: </a:t>
            </a:r>
            <a:r>
              <a:rPr lang="en-US" sz="2500" i="1" dirty="0">
                <a:latin typeface="Arial" panose="020B0604020202020204" pitchFamily="34" charset="0"/>
                <a:cs typeface="Arial" panose="020B0604020202020204" pitchFamily="34" charset="0"/>
              </a:rPr>
              <a:t>To serve as a national resource that accelerates</a:t>
            </a:r>
            <a:br>
              <a:rPr lang="en-US" sz="2500" i="1" dirty="0">
                <a:latin typeface="Arial" panose="020B0604020202020204" pitchFamily="34" charset="0"/>
                <a:cs typeface="Arial" panose="020B0604020202020204" pitchFamily="34" charset="0"/>
              </a:rPr>
            </a:br>
            <a:r>
              <a:rPr lang="en-US" sz="2500" i="1" dirty="0">
                <a:latin typeface="Arial" panose="020B0604020202020204" pitchFamily="34" charset="0"/>
                <a:cs typeface="Arial" panose="020B0604020202020204" pitchFamily="34" charset="0"/>
              </a:rPr>
              <a:t>VA suicide prevention research to improve care and prevent Veteran suicide.</a:t>
            </a:r>
          </a:p>
          <a:p>
            <a:pPr>
              <a:spcAft>
                <a:spcPts val="1200"/>
              </a:spcAft>
            </a:pPr>
            <a:r>
              <a:rPr lang="en-US" sz="2500" dirty="0">
                <a:latin typeface="Arial" panose="020B0604020202020204" pitchFamily="34" charset="0"/>
              </a:rPr>
              <a:t>SPRINT f</a:t>
            </a:r>
            <a:r>
              <a:rPr lang="en-US" sz="2500" dirty="0">
                <a:latin typeface="Arial" panose="020B0604020202020204" pitchFamily="34" charset="0"/>
                <a:cs typeface="Arial" panose="020B0604020202020204" pitchFamily="34" charset="0"/>
              </a:rPr>
              <a:t>unded since 2019; received 5-year renewal in 2024.</a:t>
            </a:r>
          </a:p>
          <a:p>
            <a:pPr>
              <a:spcAft>
                <a:spcPts val="1200"/>
              </a:spcAft>
            </a:pPr>
            <a:r>
              <a:rPr lang="en-US" sz="2500" dirty="0">
                <a:latin typeface="Arial" panose="020B0604020202020204" pitchFamily="34" charset="0"/>
              </a:rPr>
              <a:t>Primary Operations Partner: VA Office of Suicide Prevention</a:t>
            </a:r>
            <a:endParaRPr lang="en-US" sz="2500" dirty="0">
              <a:latin typeface="Arial" panose="020B0604020202020204" pitchFamily="34" charset="0"/>
              <a:cs typeface="Arial" panose="020B0604020202020204" pitchFamily="34" charset="0"/>
            </a:endParaRPr>
          </a:p>
          <a:p>
            <a:pPr>
              <a:spcAft>
                <a:spcPts val="1200"/>
              </a:spcAft>
            </a:pPr>
            <a:endParaRPr lang="en-US" sz="24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3DB1C4D8-836A-580A-FFB0-8B77615CF83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9377473" y="89893"/>
            <a:ext cx="2602008" cy="718358"/>
          </a:xfrm>
          <a:prstGeom prst="rect">
            <a:avLst/>
          </a:prstGeom>
        </p:spPr>
      </p:pic>
    </p:spTree>
    <p:extLst>
      <p:ext uri="{BB962C8B-B14F-4D97-AF65-F5344CB8AC3E}">
        <p14:creationId xmlns:p14="http://schemas.microsoft.com/office/powerpoint/2010/main" val="2999480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Logo&#10;&#10;AI-generated content may be incorrect.">
            <a:extLst>
              <a:ext uri="{FF2B5EF4-FFF2-40B4-BE49-F238E27FC236}">
                <a16:creationId xmlns:a16="http://schemas.microsoft.com/office/drawing/2014/main" id="{92853A26-54F2-C5C7-69B0-73879D10FA3D}"/>
              </a:ext>
            </a:extLst>
          </p:cNvPr>
          <p:cNvPicPr>
            <a:picLocks noChangeAspect="1"/>
          </p:cNvPicPr>
          <p:nvPr/>
        </p:nvPicPr>
        <p:blipFill>
          <a:blip r:embed="rId2"/>
          <a:stretch>
            <a:fillRect/>
          </a:stretch>
        </p:blipFill>
        <p:spPr>
          <a:xfrm>
            <a:off x="9730888" y="2861143"/>
            <a:ext cx="2003912" cy="1996069"/>
          </a:xfrm>
          <a:prstGeom prst="rect">
            <a:avLst/>
          </a:prstGeom>
        </p:spPr>
      </p:pic>
      <p:sp>
        <p:nvSpPr>
          <p:cNvPr id="2" name="Slide Number Placeholder 1">
            <a:extLst>
              <a:ext uri="{FF2B5EF4-FFF2-40B4-BE49-F238E27FC236}">
                <a16:creationId xmlns:a16="http://schemas.microsoft.com/office/drawing/2014/main" id="{03AC40C4-A66D-35F6-17C5-FDA29F07048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AFD250FA-9CF1-E961-7FD6-9082396B3047}"/>
              </a:ext>
            </a:extLst>
          </p:cNvPr>
          <p:cNvSpPr txBox="1">
            <a:spLocks/>
          </p:cNvSpPr>
          <p:nvPr/>
        </p:nvSpPr>
        <p:spPr>
          <a:xfrm>
            <a:off x="457200" y="255343"/>
            <a:ext cx="10515600" cy="552908"/>
          </a:xfrm>
          <a:prstGeom prst="rect">
            <a:avLst/>
          </a:prstGeom>
        </p:spPr>
        <p:txBody>
          <a:bodyPr/>
          <a:lst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a:lstStyle>
          <a:p>
            <a:r>
              <a:rPr lang="en-US" dirty="0"/>
              <a:t>Common Data Elements</a:t>
            </a:r>
          </a:p>
        </p:txBody>
      </p:sp>
      <p:sp>
        <p:nvSpPr>
          <p:cNvPr id="4" name="Content Placeholder 2">
            <a:extLst>
              <a:ext uri="{FF2B5EF4-FFF2-40B4-BE49-F238E27FC236}">
                <a16:creationId xmlns:a16="http://schemas.microsoft.com/office/drawing/2014/main" id="{D94E9196-A4F8-8396-A27F-A568DA4DD577}"/>
              </a:ext>
            </a:extLst>
          </p:cNvPr>
          <p:cNvSpPr txBox="1">
            <a:spLocks/>
          </p:cNvSpPr>
          <p:nvPr/>
        </p:nvSpPr>
        <p:spPr>
          <a:xfrm>
            <a:off x="457200" y="1173411"/>
            <a:ext cx="11277600" cy="426880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Aft>
                <a:spcPts val="1200"/>
              </a:spcAft>
            </a:pPr>
            <a:r>
              <a:rPr lang="en-US" sz="2500" dirty="0">
                <a:latin typeface="Arial" panose="020B0604020202020204" pitchFamily="34" charset="0"/>
                <a:cs typeface="Arial" panose="020B0604020202020204" pitchFamily="34" charset="0"/>
              </a:rPr>
              <a:t>Centralized infrastructure for collecting, organizing, storing, and sharing standardized suicide research data</a:t>
            </a:r>
          </a:p>
          <a:p>
            <a:pPr>
              <a:spcAft>
                <a:spcPts val="1200"/>
              </a:spcAft>
            </a:pPr>
            <a:r>
              <a:rPr lang="en-US" sz="2500" dirty="0">
                <a:latin typeface="Arial" panose="020B0604020202020204" pitchFamily="34" charset="0"/>
                <a:cs typeface="Arial" panose="020B0604020202020204" pitchFamily="34" charset="0"/>
              </a:rPr>
              <a:t>Addresses persistent challenges in suicide prevention (e.g., small sample sizes, inconsistent measurement approaches, low base-rate outcomes)</a:t>
            </a:r>
          </a:p>
          <a:p>
            <a:pPr>
              <a:spcAft>
                <a:spcPts val="1200"/>
              </a:spcAft>
            </a:pPr>
            <a:r>
              <a:rPr lang="en-US" sz="2500" dirty="0">
                <a:latin typeface="Arial" panose="020B0604020202020204" pitchFamily="34" charset="0"/>
                <a:cs typeface="Arial" panose="020B0604020202020204" pitchFamily="34" charset="0"/>
              </a:rPr>
              <a:t>Specifically, the repository will enable:</a:t>
            </a:r>
          </a:p>
          <a:p>
            <a:pPr lvl="1">
              <a:spcBef>
                <a:spcPts val="0"/>
              </a:spcBef>
              <a:spcAft>
                <a:spcPts val="600"/>
              </a:spcAft>
            </a:pPr>
            <a:r>
              <a:rPr lang="en-US" sz="2500" dirty="0">
                <a:latin typeface="Arial" panose="020B0604020202020204" pitchFamily="34" charset="0"/>
                <a:cs typeface="Arial" panose="020B0604020202020204" pitchFamily="34" charset="0"/>
              </a:rPr>
              <a:t>Pooled analyses across multiple studies</a:t>
            </a:r>
          </a:p>
          <a:p>
            <a:pPr lvl="1">
              <a:spcBef>
                <a:spcPts val="0"/>
              </a:spcBef>
              <a:spcAft>
                <a:spcPts val="600"/>
              </a:spcAft>
            </a:pPr>
            <a:r>
              <a:rPr lang="en-US" sz="2500" dirty="0">
                <a:latin typeface="Arial" panose="020B0604020202020204" pitchFamily="34" charset="0"/>
                <a:cs typeface="Arial" panose="020B0604020202020204" pitchFamily="34" charset="0"/>
              </a:rPr>
              <a:t>Examination of what treatments work best for whom</a:t>
            </a:r>
          </a:p>
          <a:p>
            <a:pPr lvl="1">
              <a:spcBef>
                <a:spcPts val="0"/>
              </a:spcBef>
              <a:spcAft>
                <a:spcPts val="600"/>
              </a:spcAft>
            </a:pPr>
            <a:r>
              <a:rPr lang="en-US" sz="2500" dirty="0">
                <a:latin typeface="Arial" panose="020B0604020202020204" pitchFamily="34" charset="0"/>
                <a:cs typeface="Arial" panose="020B0604020202020204" pitchFamily="34" charset="0"/>
              </a:rPr>
              <a:t>Longitudinal follow-up beyond individual study timelines</a:t>
            </a:r>
          </a:p>
          <a:p>
            <a:pPr lvl="1">
              <a:spcBef>
                <a:spcPts val="0"/>
              </a:spcBef>
              <a:spcAft>
                <a:spcPts val="600"/>
              </a:spcAft>
            </a:pPr>
            <a:r>
              <a:rPr lang="en-US" sz="2500" dirty="0">
                <a:latin typeface="Arial" panose="020B0604020202020204" pitchFamily="34" charset="0"/>
                <a:cs typeface="Arial" panose="020B0604020202020204" pitchFamily="34" charset="0"/>
              </a:rPr>
              <a:t>Accelerated translation of research findings into clinical practice</a:t>
            </a:r>
          </a:p>
          <a:p>
            <a:pPr>
              <a:spcAft>
                <a:spcPts val="1200"/>
              </a:spcAft>
            </a:pPr>
            <a:r>
              <a:rPr lang="en-US" sz="2500" dirty="0">
                <a:latin typeface="Arial" panose="020B0604020202020204" pitchFamily="34" charset="0"/>
                <a:cs typeface="Arial" panose="020B0604020202020204" pitchFamily="34" charset="0"/>
              </a:rPr>
              <a:t>CDE Requirement added to new applications as of March 12, 2026</a:t>
            </a:r>
          </a:p>
        </p:txBody>
      </p:sp>
    </p:spTree>
    <p:extLst>
      <p:ext uri="{BB962C8B-B14F-4D97-AF65-F5344CB8AC3E}">
        <p14:creationId xmlns:p14="http://schemas.microsoft.com/office/powerpoint/2010/main" val="3843667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BAB6AB6-2B32-8347-B8A3-C6345CC11426}"/>
              </a:ext>
            </a:extLst>
          </p:cNvPr>
          <p:cNvSpPr>
            <a:spLocks noGrp="1"/>
          </p:cNvSpPr>
          <p:nvPr>
            <p:ph type="body" sz="half" idx="2"/>
          </p:nvPr>
        </p:nvSpPr>
        <p:spPr>
          <a:xfrm>
            <a:off x="76200" y="2449286"/>
            <a:ext cx="4495800" cy="3309258"/>
          </a:xfrm>
        </p:spPr>
        <p:txBody>
          <a:bodyPr>
            <a:normAutofit fontScale="92500" lnSpcReduction="10000"/>
          </a:bodyPr>
          <a:lstStyle/>
          <a:p>
            <a:pPr algn="ctr"/>
            <a:r>
              <a:rPr lang="en-US" sz="1800" b="1" u="sng" dirty="0">
                <a:solidFill>
                  <a:srgbClr val="212121"/>
                </a:solidFill>
                <a:latin typeface="Arial" panose="020B0604020202020204" pitchFamily="34" charset="0"/>
                <a:ea typeface="Calibri" panose="020F0502020204030204" pitchFamily="34" charset="0"/>
                <a:cs typeface="Arial" panose="020B0604020202020204" pitchFamily="34" charset="0"/>
              </a:rPr>
              <a:t>Aims</a:t>
            </a:r>
          </a:p>
          <a:p>
            <a:pPr marL="285750" indent="-285750">
              <a:buFont typeface="Arial" panose="020B0604020202020204" pitchFamily="34" charset="0"/>
              <a:buChar char="•"/>
            </a:pPr>
            <a:r>
              <a:rPr lang="en-US" sz="1800" i="1" dirty="0">
                <a:solidFill>
                  <a:srgbClr val="212121"/>
                </a:solidFill>
                <a:latin typeface="Arial" panose="020B0604020202020204" pitchFamily="34" charset="0"/>
                <a:ea typeface="Calibri" panose="020F0502020204030204" pitchFamily="34" charset="0"/>
                <a:cs typeface="Arial" panose="020B0604020202020204" pitchFamily="34" charset="0"/>
              </a:rPr>
              <a:t>Advance access to </a:t>
            </a:r>
            <a:r>
              <a:rPr lang="en-US" sz="1800" dirty="0">
                <a:solidFill>
                  <a:srgbClr val="212121"/>
                </a:solidFill>
                <a:latin typeface="Arial" panose="020B0604020202020204" pitchFamily="34" charset="0"/>
                <a:ea typeface="Calibri" panose="020F0502020204030204" pitchFamily="34" charset="0"/>
                <a:cs typeface="Arial" panose="020B0604020202020204" pitchFamily="34" charset="0"/>
              </a:rPr>
              <a:t>OSP and PERC </a:t>
            </a:r>
            <a:r>
              <a:rPr lang="en-US" sz="1800" i="1" dirty="0">
                <a:solidFill>
                  <a:srgbClr val="212121"/>
                </a:solidFill>
                <a:latin typeface="Arial" panose="020B0604020202020204" pitchFamily="34" charset="0"/>
                <a:ea typeface="Calibri" panose="020F0502020204030204" pitchFamily="34" charset="0"/>
                <a:cs typeface="Arial" panose="020B0604020202020204" pitchFamily="34" charset="0"/>
              </a:rPr>
              <a:t>datasets.</a:t>
            </a:r>
          </a:p>
          <a:p>
            <a:pPr marL="285750" indent="-285750">
              <a:buFont typeface="Arial" panose="020B0604020202020204" pitchFamily="34" charset="0"/>
              <a:buChar char="•"/>
            </a:pPr>
            <a:endParaRPr lang="en-US" sz="1000" i="1" dirty="0">
              <a:solidFill>
                <a:srgbClr val="000000"/>
              </a:solidFill>
              <a:effectLst/>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1800" i="1" dirty="0">
                <a:solidFill>
                  <a:srgbClr val="000000"/>
                </a:solidFill>
                <a:latin typeface="Arial" panose="020B0604020202020204" pitchFamily="34" charset="0"/>
                <a:cs typeface="Arial" panose="020B0604020202020204" pitchFamily="34" charset="0"/>
              </a:rPr>
              <a:t>Develop SharePoint site that includes</a:t>
            </a:r>
          </a:p>
          <a:p>
            <a:pPr marL="742950" lvl="1" indent="-285750">
              <a:buFont typeface="Arial" panose="020B0604020202020204" pitchFamily="34" charset="0"/>
              <a:buChar char="•"/>
            </a:pPr>
            <a:r>
              <a:rPr lang="en-US" sz="1400" i="1" dirty="0">
                <a:solidFill>
                  <a:srgbClr val="000000"/>
                </a:solidFill>
                <a:latin typeface="Arial" panose="020B0604020202020204" pitchFamily="34" charset="0"/>
                <a:cs typeface="Arial" panose="020B0604020202020204" pitchFamily="34" charset="0"/>
              </a:rPr>
              <a:t>Information on available data</a:t>
            </a:r>
          </a:p>
          <a:p>
            <a:pPr marL="742950" lvl="1" indent="-285750">
              <a:buFont typeface="Arial" panose="020B0604020202020204" pitchFamily="34" charset="0"/>
              <a:buChar char="•"/>
            </a:pPr>
            <a:r>
              <a:rPr lang="en-US" sz="1400" i="1" dirty="0">
                <a:solidFill>
                  <a:srgbClr val="000000"/>
                </a:solidFill>
                <a:latin typeface="Arial" panose="020B0604020202020204" pitchFamily="34" charset="0"/>
                <a:cs typeface="Arial" panose="020B0604020202020204" pitchFamily="34" charset="0"/>
              </a:rPr>
              <a:t>SOPs for accessing and working with data</a:t>
            </a:r>
          </a:p>
          <a:p>
            <a:pPr marL="742950" lvl="1" indent="-285750">
              <a:buFont typeface="Arial" panose="020B0604020202020204" pitchFamily="34" charset="0"/>
              <a:buChar char="•"/>
            </a:pPr>
            <a:r>
              <a:rPr lang="en-US" sz="1400" dirty="0">
                <a:effectLst/>
                <a:latin typeface="Arial" panose="020B0604020202020204" pitchFamily="34" charset="0"/>
                <a:ea typeface="Calibri" panose="020F0502020204030204" pitchFamily="34" charset="0"/>
                <a:cs typeface="Arial" panose="020B0604020202020204" pitchFamily="34" charset="0"/>
              </a:rPr>
              <a:t>SOPs for consultation and support </a:t>
            </a:r>
          </a:p>
          <a:p>
            <a:pPr marL="742950" lvl="1" indent="-285750">
              <a:buFont typeface="Arial" panose="020B0604020202020204" pitchFamily="34" charset="0"/>
              <a:buChar char="•"/>
            </a:pPr>
            <a:endParaRPr lang="en-US" dirty="0">
              <a:effectLst/>
              <a:latin typeface="Arial" panose="020B060402020202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1800" i="1" dirty="0">
                <a:effectLst/>
                <a:latin typeface="Arial" panose="020B0604020202020204" pitchFamily="34" charset="0"/>
                <a:ea typeface="Calibri" panose="020F0502020204030204" pitchFamily="34" charset="0"/>
                <a:cs typeface="Arial" panose="020B0604020202020204" pitchFamily="34" charset="0"/>
              </a:rPr>
              <a:t>Integrated data to be used for understanding characteristics of the Veteran that moderate and mediate suicide </a:t>
            </a:r>
            <a:r>
              <a:rPr lang="en-US" sz="1800" i="1" dirty="0">
                <a:latin typeface="Arial" panose="020B0604020202020204" pitchFamily="34" charset="0"/>
                <a:ea typeface="Calibri" panose="020F0502020204030204" pitchFamily="34" charset="0"/>
                <a:cs typeface="Arial" panose="020B0604020202020204" pitchFamily="34" charset="0"/>
              </a:rPr>
              <a:t>p</a:t>
            </a:r>
            <a:r>
              <a:rPr lang="en-US" sz="1800" i="1" dirty="0">
                <a:effectLst/>
                <a:latin typeface="Arial" panose="020B0604020202020204" pitchFamily="34" charset="0"/>
                <a:ea typeface="Calibri" panose="020F0502020204030204" pitchFamily="34" charset="0"/>
                <a:cs typeface="Arial" panose="020B0604020202020204" pitchFamily="34" charset="0"/>
              </a:rPr>
              <a:t>revention interventions.</a:t>
            </a:r>
            <a:endParaRPr lang="en-US" i="1" dirty="0">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8D6C88B9-BEE2-9804-52BE-DE44C5024330}"/>
              </a:ext>
            </a:extLst>
          </p:cNvPr>
          <p:cNvSpPr>
            <a:spLocks noGrp="1"/>
          </p:cNvSpPr>
          <p:nvPr>
            <p:ph type="sldNum" sz="quarter" idx="12"/>
          </p:nvPr>
        </p:nvSpPr>
        <p:spPr/>
        <p:txBody>
          <a:bodyPr/>
          <a:lstStyle/>
          <a:p>
            <a:fld id="{D983F1FA-211D-3044-9E35-958DFBC26156}" type="slidenum">
              <a:rPr lang="en-US" smtClean="0">
                <a:solidFill>
                  <a:prstClr val="white"/>
                </a:solidFill>
              </a:rPr>
              <a:pPr/>
              <a:t>24</a:t>
            </a:fld>
            <a:endParaRPr lang="en-US" dirty="0">
              <a:solidFill>
                <a:prstClr val="white"/>
              </a:solidFill>
            </a:endParaRPr>
          </a:p>
        </p:txBody>
      </p:sp>
      <p:graphicFrame>
        <p:nvGraphicFramePr>
          <p:cNvPr id="12" name="Table 11">
            <a:extLst>
              <a:ext uri="{FF2B5EF4-FFF2-40B4-BE49-F238E27FC236}">
                <a16:creationId xmlns:a16="http://schemas.microsoft.com/office/drawing/2014/main" id="{310D316F-468F-7940-68BA-75B4E610A811}"/>
              </a:ext>
            </a:extLst>
          </p:cNvPr>
          <p:cNvGraphicFramePr>
            <a:graphicFrameLocks noGrp="1"/>
          </p:cNvGraphicFramePr>
          <p:nvPr>
            <p:extLst>
              <p:ext uri="{D42A27DB-BD31-4B8C-83A1-F6EECF244321}">
                <p14:modId xmlns:p14="http://schemas.microsoft.com/office/powerpoint/2010/main" val="4211350599"/>
              </p:ext>
            </p:extLst>
          </p:nvPr>
        </p:nvGraphicFramePr>
        <p:xfrm>
          <a:off x="5389430" y="605339"/>
          <a:ext cx="6796621" cy="6254247"/>
        </p:xfrm>
        <a:graphic>
          <a:graphicData uri="http://schemas.openxmlformats.org/drawingml/2006/table">
            <a:tbl>
              <a:tblPr firstRow="1" firstCol="1" bandRow="1">
                <a:tableStyleId>{5C22544A-7EE6-4342-B048-85BDC9FD1C3A}</a:tableStyleId>
              </a:tblPr>
              <a:tblGrid>
                <a:gridCol w="1409488">
                  <a:extLst>
                    <a:ext uri="{9D8B030D-6E8A-4147-A177-3AD203B41FA5}">
                      <a16:colId xmlns:a16="http://schemas.microsoft.com/office/drawing/2014/main" val="2734885169"/>
                    </a:ext>
                  </a:extLst>
                </a:gridCol>
                <a:gridCol w="5350636">
                  <a:extLst>
                    <a:ext uri="{9D8B030D-6E8A-4147-A177-3AD203B41FA5}">
                      <a16:colId xmlns:a16="http://schemas.microsoft.com/office/drawing/2014/main" val="145387920"/>
                    </a:ext>
                  </a:extLst>
                </a:gridCol>
                <a:gridCol w="36497">
                  <a:extLst>
                    <a:ext uri="{9D8B030D-6E8A-4147-A177-3AD203B41FA5}">
                      <a16:colId xmlns:a16="http://schemas.microsoft.com/office/drawing/2014/main" val="139701635"/>
                    </a:ext>
                  </a:extLst>
                </a:gridCol>
              </a:tblGrid>
              <a:tr h="127401">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Dataset Name</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Description</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37174806"/>
                  </a:ext>
                </a:extLst>
              </a:tr>
              <a:tr h="526442">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Environmental and Social Determinants of Health (ESDH)</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VA ESDH Data Collection includes 34 datasets spanning 5 key domains identified by the CDC’s Healthy People 2030 framework: Economic Stability, Education Access and Quality, Health Care Access and Quality, Neighborhood and Built Environment, and Social and Community Context. Pre-curated by ORNL.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3405893316"/>
                  </a:ext>
                </a:extLst>
              </a:tr>
              <a:tr h="393160">
                <a:tc>
                  <a:txBody>
                    <a:bodyPr/>
                    <a:lstStyle/>
                    <a:p>
                      <a:pPr marL="0" marR="0">
                        <a:lnSpc>
                          <a:spcPct val="107000"/>
                        </a:lnSpc>
                        <a:spcBef>
                          <a:spcPts val="0"/>
                        </a:spcBef>
                        <a:spcAft>
                          <a:spcPts val="0"/>
                        </a:spcAft>
                      </a:pPr>
                      <a:r>
                        <a:rPr lang="en-US" sz="900" kern="0">
                          <a:effectLst/>
                          <a:latin typeface="Arial" panose="020B0604020202020204" pitchFamily="34" charset="0"/>
                          <a:cs typeface="Arial" panose="020B0604020202020204" pitchFamily="34" charset="0"/>
                        </a:rPr>
                        <a:t>Predictive modeling candidate predictor cohorts</a:t>
                      </a:r>
                      <a:r>
                        <a:rPr lang="en-US" sz="900" kern="100">
                          <a:effectLst/>
                          <a:latin typeface="Arial" panose="020B0604020202020204" pitchFamily="34" charset="0"/>
                          <a:cs typeface="Arial" panose="020B0604020202020204" pitchFamily="34" charset="0"/>
                        </a:rPr>
                        <a:t>**</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Data from multiple REACH VET and STORM cohorts. Each cohort has over 900 variables extracted from the EHR on over million Veterans. Used for predictive modeling to identify Veterans at high risk for suicide and/or overdose.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878248385"/>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OSP Metrics &amp; Clinical Concept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Data used by OSP to evaluate performance. Includes diagnosis and service utilization data.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4199314458"/>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Predictor Pool</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Instance level data computed for defined concepts in over 10 domains between 2016 and 2023 Integrated Oracle Health and VistA data. Located on PERC SQL Server.</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965196166"/>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Nightly updated predictive modeling</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Data pulled nightly on Veterans to feed ongoing predictive modeling initiatives including STORM &amp; REACH VET. Integrated Oracle Health &amp; </a:t>
                      </a:r>
                      <a:r>
                        <a:rPr lang="en-US" sz="900" kern="100" dirty="0" err="1">
                          <a:effectLst/>
                          <a:latin typeface="Arial" panose="020B0604020202020204" pitchFamily="34" charset="0"/>
                          <a:cs typeface="Arial" panose="020B0604020202020204" pitchFamily="34" charset="0"/>
                        </a:rPr>
                        <a:t>VistA</a:t>
                      </a:r>
                      <a:r>
                        <a:rPr lang="en-US" sz="900" kern="100" dirty="0">
                          <a:effectLst/>
                          <a:latin typeface="Arial" panose="020B0604020202020204" pitchFamily="34" charset="0"/>
                          <a:cs typeface="Arial" panose="020B0604020202020204" pitchFamily="34" charset="0"/>
                        </a:rPr>
                        <a:t> data.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924211468"/>
                  </a:ext>
                </a:extLst>
              </a:tr>
              <a:tr h="127401">
                <a:tc rowSpan="2">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Natural Language Processing</a:t>
                      </a:r>
                    </a:p>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Clinical progress notes</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rowSpan="2">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Natural Language Processing (NLP) of data in the EHR. Located on PERC SQL Server.</a:t>
                      </a:r>
                    </a:p>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Large set of clinical progress note and other unstructured data available for further analysis.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515282556"/>
                  </a:ext>
                </a:extLst>
              </a:tr>
              <a:tr h="265759">
                <a:tc vMerge="1">
                  <a:txBody>
                    <a:bodyPr/>
                    <a:lstStyle/>
                    <a:p>
                      <a:endParaRPr lang="en-US"/>
                    </a:p>
                  </a:txBody>
                  <a:tcPr/>
                </a:tc>
                <a:tc vMerge="1">
                  <a:txBody>
                    <a:bodyPr/>
                    <a:lstStyle/>
                    <a:p>
                      <a:endParaRPr lang="en-US"/>
                    </a:p>
                  </a:txBody>
                  <a:tcP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000012375"/>
                  </a:ext>
                </a:extLst>
              </a:tr>
              <a:tr h="127401">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NLP dataset</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Natural Language Processing (NLP) of data in the EHR. Located on PERC SQL Server.</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978263297"/>
                  </a:ext>
                </a:extLst>
              </a:tr>
              <a:tr h="259876">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VCL</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OSP working with VCL and Suicide Prevention Trials Database to create access in FY2025. Will be cleaned, harmonized with other SPTD individual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516337201"/>
                  </a:ext>
                </a:extLst>
              </a:tr>
              <a:tr h="393160">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OSP/Office of Mental Health (OMH) Gold Standard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Suicide and Overdose Events; VA Comprehensive Suicide Risk Evaluation (CSRE) data; VA Suicide Behavior and Overdose Report (SBOR); VA Mental Health Assistant; VA Patient Record Flags; VA Safety Plan; Suicide Risk Management. Integrated Oracle Health and </a:t>
                      </a:r>
                      <a:r>
                        <a:rPr lang="en-US" sz="900" kern="100" dirty="0" err="1">
                          <a:effectLst/>
                          <a:latin typeface="Arial" panose="020B0604020202020204" pitchFamily="34" charset="0"/>
                          <a:cs typeface="Arial" panose="020B0604020202020204" pitchFamily="34" charset="0"/>
                        </a:rPr>
                        <a:t>VistA</a:t>
                      </a:r>
                      <a:r>
                        <a:rPr lang="en-US" sz="900" kern="100" dirty="0">
                          <a:effectLst/>
                          <a:latin typeface="Arial" panose="020B0604020202020204" pitchFamily="34" charset="0"/>
                          <a:cs typeface="Arial" panose="020B0604020202020204" pitchFamily="34" charset="0"/>
                        </a:rPr>
                        <a:t> data.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378594139"/>
                  </a:ext>
                </a:extLst>
              </a:tr>
              <a:tr h="393160">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Pharmacy: Medication Possession Ratio </a:t>
                      </a:r>
                      <a:r>
                        <a:rPr lang="en-US" sz="800" kern="100" dirty="0">
                          <a:effectLst/>
                          <a:latin typeface="Arial" panose="020B0604020202020204" pitchFamily="34" charset="0"/>
                          <a:cs typeface="Arial" panose="020B0604020202020204" pitchFamily="34" charset="0"/>
                        </a:rPr>
                        <a:t>products</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Medication possession ratio computation for all outpatient dispensed drugs. Multiple datasets with curated information on dispensed information, for example daily dose, active drugs and more. Integrated Oracle Health and VistA data. Located on PERC SQL Server.</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696628017"/>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Advanced Library Exchange (ALEX)</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Library with clinical concept definitions based on value sets defined in standard vocabularies. Integrated Oracle Health and </a:t>
                      </a:r>
                      <a:r>
                        <a:rPr lang="en-US" sz="900" kern="100" dirty="0" err="1">
                          <a:effectLst/>
                          <a:latin typeface="Arial" panose="020B0604020202020204" pitchFamily="34" charset="0"/>
                          <a:cs typeface="Arial" panose="020B0604020202020204" pitchFamily="34" charset="0"/>
                        </a:rPr>
                        <a:t>VistA</a:t>
                      </a:r>
                      <a:r>
                        <a:rPr lang="en-US" sz="900" kern="100" dirty="0">
                          <a:effectLst/>
                          <a:latin typeface="Arial" panose="020B0604020202020204" pitchFamily="34" charset="0"/>
                          <a:cs typeface="Arial" panose="020B0604020202020204" pitchFamily="34" charset="0"/>
                        </a:rPr>
                        <a:t> data.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2929953376"/>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Ira Master File (IMF)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Repository for MH patient level data collected yearly 2010-current, used in operations. Integrated Oracle Health and </a:t>
                      </a:r>
                      <a:r>
                        <a:rPr lang="en-US" sz="900" kern="100" dirty="0" err="1">
                          <a:effectLst/>
                          <a:latin typeface="Arial" panose="020B0604020202020204" pitchFamily="34" charset="0"/>
                          <a:cs typeface="Arial" panose="020B0604020202020204" pitchFamily="34" charset="0"/>
                        </a:rPr>
                        <a:t>VistA</a:t>
                      </a:r>
                      <a:r>
                        <a:rPr lang="en-US" sz="900" kern="100" dirty="0">
                          <a:effectLst/>
                          <a:latin typeface="Arial" panose="020B0604020202020204" pitchFamily="34" charset="0"/>
                          <a:cs typeface="Arial" panose="020B0604020202020204" pitchFamily="34" charset="0"/>
                        </a:rPr>
                        <a:t> data. Located on PERC SQL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3077263665"/>
                  </a:ext>
                </a:extLst>
              </a:tr>
              <a:tr h="393160">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SPRINT Project level datasets</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National Vietnam Veterans Readjustment Study and National Vietnam Veterans Longitudinal Study Registry datasets, Veterans’ After-Discharge Longitudinal Registry data, Includes data from over 600,000 Veteran patients across VHA. Located on VA Boston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a:lnSpc>
                          <a:spcPct val="107000"/>
                        </a:lnSpc>
                      </a:pPr>
                      <a:endParaRPr lang="en-US" sz="900" kern="100" dirty="0">
                        <a:effectLst/>
                        <a:latin typeface="Arial" panose="020B0604020202020204" pitchFamily="34" charset="0"/>
                        <a:cs typeface="Arial" panose="020B0604020202020204" pitchFamily="34" charset="0"/>
                      </a:endParaRPr>
                    </a:p>
                  </a:txBody>
                  <a:tcPr marL="0" marR="0" marT="0" marB="0" anchor="ctr"/>
                </a:tc>
                <a:extLst>
                  <a:ext uri="{0D108BD9-81ED-4DB2-BD59-A6C34878D82A}">
                    <a16:rowId xmlns:a16="http://schemas.microsoft.com/office/drawing/2014/main" val="1226152167"/>
                  </a:ext>
                </a:extLst>
              </a:tr>
              <a:tr h="393160">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Military Suicide Research Consortium (MSRC)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Military Suicide Research Consortium’s Common Data Elements (v. 1.0, 2.0) which includes data from DoD-funded studies on active-duty service members and Veterans. Available through SPRINT website, located on VA Boston server.</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3107659109"/>
                  </a:ext>
                </a:extLst>
              </a:tr>
              <a:tr h="126593">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County Suicide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Available through 2020.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3137812968"/>
                  </a:ext>
                </a:extLst>
              </a:tr>
              <a:tr h="126593">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Office of Health Equity</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Additional ESDH Data complementary to PERC/ORNL ESDH Dataset</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563964605"/>
                  </a:ext>
                </a:extLst>
              </a:tr>
              <a:tr h="393160">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Suicide Prevention Trials Database (SPTD)</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Publicly available FAIR data resource</a:t>
                      </a:r>
                      <a:r>
                        <a:rPr lang="en-US" sz="900" kern="100" baseline="30000" dirty="0">
                          <a:effectLst/>
                          <a:latin typeface="Arial" panose="020B0604020202020204" pitchFamily="34" charset="0"/>
                          <a:cs typeface="Arial" panose="020B0604020202020204" pitchFamily="34" charset="0"/>
                        </a:rPr>
                        <a:t>24</a:t>
                      </a:r>
                      <a:r>
                        <a:rPr lang="en-US" sz="900" kern="100" dirty="0">
                          <a:effectLst/>
                          <a:latin typeface="Arial" panose="020B0604020202020204" pitchFamily="34" charset="0"/>
                          <a:cs typeface="Arial" panose="020B0604020202020204" pitchFamily="34" charset="0"/>
                        </a:rPr>
                        <a:t>. Continuously updated study-level data from all published SP trials dating to 1980. SPTD Leads received OSP funding in FY2024/2025 to incorporate individual study participant data into the database as well.</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 </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2871428592"/>
                  </a:ext>
                </a:extLst>
              </a:tr>
              <a:tr h="259876">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Suicide Death Data</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a:effectLst/>
                          <a:latin typeface="Arial" panose="020B0604020202020204" pitchFamily="34" charset="0"/>
                          <a:cs typeface="Arial" panose="020B0604020202020204" pitchFamily="34" charset="0"/>
                        </a:rPr>
                        <a:t>SPDR Team will facilitate requests for data from Joint Department of Defense – Department of Veterans Affairs Suicide Data Repository (SDR); contains Military Veteran Mortality database</a:t>
                      </a:r>
                      <a:endParaRPr lang="en-US" sz="900" kern="100">
                        <a:effectLst/>
                        <a:latin typeface="Arial" panose="020B0604020202020204" pitchFamily="34" charset="0"/>
                        <a:ea typeface="Calibri" panose="020F0502020204030204" pitchFamily="34" charset="0"/>
                        <a:cs typeface="Arial" panose="020B0604020202020204" pitchFamily="34" charset="0"/>
                      </a:endParaRPr>
                    </a:p>
                  </a:txBody>
                  <a:tcPr marL="58741" marR="58741" marT="0" marB="0" anchor="ctr"/>
                </a:tc>
                <a:tc>
                  <a:txBody>
                    <a:bodyPr/>
                    <a:lstStyle/>
                    <a:p>
                      <a:pPr marL="0" marR="0">
                        <a:lnSpc>
                          <a:spcPct val="107000"/>
                        </a:lnSpc>
                        <a:spcBef>
                          <a:spcPts val="0"/>
                        </a:spcBef>
                        <a:spcAft>
                          <a:spcPts val="0"/>
                        </a:spcAft>
                      </a:pPr>
                      <a:r>
                        <a:rPr lang="en-US" sz="900" kern="100" dirty="0">
                          <a:effectLst/>
                          <a:latin typeface="Arial" panose="020B0604020202020204" pitchFamily="34" charset="0"/>
                          <a:cs typeface="Arial" panose="020B0604020202020204" pitchFamily="34" charset="0"/>
                        </a:rPr>
                        <a:t> </a:t>
                      </a:r>
                      <a:endParaRPr lang="en-US" sz="900" kern="100" dirty="0">
                        <a:effectLst/>
                        <a:latin typeface="Arial" panose="020B0604020202020204" pitchFamily="34" charset="0"/>
                        <a:ea typeface="Calibri" panose="020F0502020204030204" pitchFamily="34" charset="0"/>
                        <a:cs typeface="Arial" panose="020B0604020202020204" pitchFamily="34" charset="0"/>
                      </a:endParaRPr>
                    </a:p>
                  </a:txBody>
                  <a:tcPr marL="0" marR="0" marT="0" marB="0" anchor="ctr"/>
                </a:tc>
                <a:extLst>
                  <a:ext uri="{0D108BD9-81ED-4DB2-BD59-A6C34878D82A}">
                    <a16:rowId xmlns:a16="http://schemas.microsoft.com/office/drawing/2014/main" val="2763365374"/>
                  </a:ext>
                </a:extLst>
              </a:tr>
            </a:tbl>
          </a:graphicData>
        </a:graphic>
      </p:graphicFrame>
      <p:sp>
        <p:nvSpPr>
          <p:cNvPr id="15" name="TextBox 14">
            <a:extLst>
              <a:ext uri="{FF2B5EF4-FFF2-40B4-BE49-F238E27FC236}">
                <a16:creationId xmlns:a16="http://schemas.microsoft.com/office/drawing/2014/main" id="{AC8054CD-A5F2-33F9-E4DB-C6B0D0699BBE}"/>
              </a:ext>
            </a:extLst>
          </p:cNvPr>
          <p:cNvSpPr txBox="1"/>
          <p:nvPr/>
        </p:nvSpPr>
        <p:spPr>
          <a:xfrm>
            <a:off x="0" y="26803"/>
            <a:ext cx="11866641" cy="1239122"/>
          </a:xfrm>
          <a:prstGeom prst="rect">
            <a:avLst/>
          </a:prstGeom>
          <a:noFill/>
        </p:spPr>
        <p:txBody>
          <a:bodyPr wrap="square" rtlCol="0">
            <a:spAutoFit/>
          </a:bodyPr>
          <a:lstStyle/>
          <a:p>
            <a:pPr marL="0" marR="0">
              <a:lnSpc>
                <a:spcPct val="107000"/>
              </a:lnSpc>
              <a:spcBef>
                <a:spcPts val="0"/>
              </a:spcBef>
              <a:spcAft>
                <a:spcPts val="0"/>
              </a:spcAft>
            </a:pPr>
            <a:r>
              <a:rPr lang="en-US" sz="3600" b="1" kern="100" dirty="0">
                <a:solidFill>
                  <a:schemeClr val="bg1"/>
                </a:solidFill>
                <a:effectLst/>
                <a:latin typeface="+mj-lt"/>
                <a:ea typeface="Calibri" panose="020F0502020204030204" pitchFamily="34" charset="0"/>
                <a:cs typeface="Times New Roman" panose="02020603050405020304" pitchFamily="18" charset="0"/>
              </a:rPr>
              <a:t>Building Capacity through Data Curation and Data Education </a:t>
            </a:r>
          </a:p>
          <a:p>
            <a:endParaRPr lang="en-US" sz="3600" b="1" dirty="0">
              <a:latin typeface="+mj-lt"/>
            </a:endParaRPr>
          </a:p>
        </p:txBody>
      </p:sp>
      <p:sp>
        <p:nvSpPr>
          <p:cNvPr id="2" name="TextBox 1">
            <a:extLst>
              <a:ext uri="{FF2B5EF4-FFF2-40B4-BE49-F238E27FC236}">
                <a16:creationId xmlns:a16="http://schemas.microsoft.com/office/drawing/2014/main" id="{0CEF6AED-14B2-2FD5-43F2-9D33D81F6A1A}"/>
              </a:ext>
            </a:extLst>
          </p:cNvPr>
          <p:cNvSpPr txBox="1"/>
          <p:nvPr/>
        </p:nvSpPr>
        <p:spPr>
          <a:xfrm>
            <a:off x="76199" y="992740"/>
            <a:ext cx="5410201" cy="1200329"/>
          </a:xfrm>
          <a:prstGeom prst="rect">
            <a:avLst/>
          </a:prstGeom>
          <a:noFill/>
        </p:spPr>
        <p:txBody>
          <a:bodyPr wrap="square" rtlCol="0">
            <a:spAutoFit/>
          </a:bodyPr>
          <a:lstStyle/>
          <a:p>
            <a:r>
              <a:rPr lang="en-US" b="1" kern="100" dirty="0">
                <a:latin typeface="Arial" panose="020B0604020202020204" pitchFamily="34" charset="0"/>
                <a:ea typeface="Calibri" panose="020F0502020204030204" pitchFamily="34" charset="0"/>
                <a:cs typeface="Arial" panose="020B0604020202020204" pitchFamily="34" charset="0"/>
              </a:rPr>
              <a:t>Suicide Prevention Learning Community </a:t>
            </a:r>
            <a:r>
              <a:rPr lang="en-US" kern="100" dirty="0">
                <a:latin typeface="Arial" panose="020B0604020202020204" pitchFamily="34" charset="0"/>
                <a:ea typeface="Calibri" panose="020F0502020204030204" pitchFamily="34" charset="0"/>
                <a:cs typeface="Arial" panose="020B0604020202020204" pitchFamily="34" charset="0"/>
              </a:rPr>
              <a:t>is an ongoing, QUERI-funded effort to develop capacity for utilizing VA data in development of precision medicine approaches to suicide prevention.</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47045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ED9AD-FC04-78F7-E115-EEAB593BDBC5}"/>
              </a:ext>
            </a:extLst>
          </p:cNvPr>
          <p:cNvSpPr>
            <a:spLocks noGrp="1"/>
          </p:cNvSpPr>
          <p:nvPr>
            <p:ph type="title"/>
          </p:nvPr>
        </p:nvSpPr>
        <p:spPr/>
        <p:txBody>
          <a:bodyPr/>
          <a:lstStyle/>
          <a:p>
            <a:pPr algn="ctr"/>
            <a:r>
              <a:rPr lang="en-US" dirty="0">
                <a:latin typeface="+mn-lt"/>
              </a:rPr>
              <a:t>Q&amp;A</a:t>
            </a:r>
          </a:p>
        </p:txBody>
      </p:sp>
      <p:pic>
        <p:nvPicPr>
          <p:cNvPr id="7" name="Content Placeholder 6" descr="Question Mark with solid fill">
            <a:extLst>
              <a:ext uri="{FF2B5EF4-FFF2-40B4-BE49-F238E27FC236}">
                <a16:creationId xmlns:a16="http://schemas.microsoft.com/office/drawing/2014/main" id="{793C93C9-A379-DDA1-ECC9-96C131250A3C}"/>
              </a:ext>
            </a:extLst>
          </p:cNvPr>
          <p:cNvPicPr>
            <a:picLocks noGrp="1" noChangeAspect="1"/>
          </p:cNvPicPr>
          <p:nvPr>
            <p:ph idx="1"/>
          </p:nvPr>
        </p:nvPicPr>
        <p:blipFill>
          <a:blip r:embed="rId2">
            <a:extLst>
              <a:ext uri="{96DAC541-7B7A-43D3-8B79-37D633B846F1}">
                <asvg:svgBlip xmlns:asvg="http://schemas.microsoft.com/office/drawing/2016/SVG/main" r:embed="rId3"/>
              </a:ext>
            </a:extLst>
          </a:blip>
          <a:stretch>
            <a:fillRect/>
          </a:stretch>
        </p:blipFill>
        <p:spPr>
          <a:xfrm>
            <a:off x="4491990" y="2377440"/>
            <a:ext cx="2103120" cy="2103120"/>
          </a:xfrm>
        </p:spPr>
      </p:pic>
      <p:sp>
        <p:nvSpPr>
          <p:cNvPr id="4" name="Slide Number Placeholder 3">
            <a:extLst>
              <a:ext uri="{FF2B5EF4-FFF2-40B4-BE49-F238E27FC236}">
                <a16:creationId xmlns:a16="http://schemas.microsoft.com/office/drawing/2014/main" id="{A7EAA687-9D52-5989-4215-A45B9291640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70A9334-4E67-F94F-A05E-0CE8B74A054E}" type="slidenum">
              <a:rPr kumimoji="0" lang="en-US"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8726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78C93-B604-AF59-33E1-B7BEEB733ED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0F53E6A-50CE-0D01-ED7D-BCC72735EFA6}"/>
              </a:ext>
            </a:extLst>
          </p:cNvPr>
          <p:cNvSpPr>
            <a:spLocks noGrp="1"/>
          </p:cNvSpPr>
          <p:nvPr>
            <p:ph type="body" sz="quarter" idx="10"/>
          </p:nvPr>
        </p:nvSpPr>
        <p:spPr/>
        <p:txBody>
          <a:bodyPr/>
          <a:lstStyle/>
          <a:p>
            <a:r>
              <a:rPr lang="en-US" dirty="0"/>
              <a:t>Back-Up</a:t>
            </a:r>
          </a:p>
        </p:txBody>
      </p:sp>
    </p:spTree>
    <p:extLst>
      <p:ext uri="{BB962C8B-B14F-4D97-AF65-F5344CB8AC3E}">
        <p14:creationId xmlns:p14="http://schemas.microsoft.com/office/powerpoint/2010/main" val="31668553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4CB279D-50C2-7946-E4C4-2DECE22385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983F1FA-211D-3044-9E35-958DFBC26156}" type="slidenum">
              <a:rPr kumimoji="0" lang="en-US" sz="1200" b="0" i="0" u="none" strike="noStrike" kern="1200" cap="none" spc="0" normalizeH="0" baseline="0" noProof="0" smtClean="0">
                <a:ln>
                  <a:noFill/>
                </a:ln>
                <a:solidFill>
                  <a:prstClr val="white"/>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12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aphicFrame>
        <p:nvGraphicFramePr>
          <p:cNvPr id="9" name="Chart 8">
            <a:extLst>
              <a:ext uri="{FF2B5EF4-FFF2-40B4-BE49-F238E27FC236}">
                <a16:creationId xmlns:a16="http://schemas.microsoft.com/office/drawing/2014/main" id="{1024E3F4-7A28-C2CF-99AF-43BCB4465DAE}"/>
              </a:ext>
            </a:extLst>
          </p:cNvPr>
          <p:cNvGraphicFramePr/>
          <p:nvPr/>
        </p:nvGraphicFramePr>
        <p:xfrm>
          <a:off x="1080655" y="914400"/>
          <a:ext cx="10196945" cy="5223933"/>
        </p:xfrm>
        <a:graphic>
          <a:graphicData uri="http://schemas.openxmlformats.org/drawingml/2006/chart">
            <c:chart xmlns:c="http://schemas.openxmlformats.org/drawingml/2006/chart" xmlns:r="http://schemas.openxmlformats.org/officeDocument/2006/relationships" r:id="rId2"/>
          </a:graphicData>
        </a:graphic>
      </p:graphicFrame>
      <p:sp>
        <p:nvSpPr>
          <p:cNvPr id="2" name="TextBox 1">
            <a:extLst>
              <a:ext uri="{FF2B5EF4-FFF2-40B4-BE49-F238E27FC236}">
                <a16:creationId xmlns:a16="http://schemas.microsoft.com/office/drawing/2014/main" id="{239A3421-FD5B-18D3-AB42-33BB811334DC}"/>
              </a:ext>
            </a:extLst>
          </p:cNvPr>
          <p:cNvSpPr txBox="1"/>
          <p:nvPr/>
        </p:nvSpPr>
        <p:spPr>
          <a:xfrm>
            <a:off x="-361067" y="105214"/>
            <a:ext cx="7381875"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prstClr val="white"/>
                </a:solidFill>
                <a:effectLst/>
                <a:uLnTx/>
                <a:uFillTx/>
                <a:latin typeface="+mj-lt"/>
                <a:ea typeface="+mn-ea"/>
                <a:cs typeface="+mn-cs"/>
              </a:rPr>
              <a:t>2025 SP AMP Applications </a:t>
            </a:r>
          </a:p>
        </p:txBody>
      </p:sp>
    </p:spTree>
    <p:extLst>
      <p:ext uri="{BB962C8B-B14F-4D97-AF65-F5344CB8AC3E}">
        <p14:creationId xmlns:p14="http://schemas.microsoft.com/office/powerpoint/2010/main" val="9952557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E0850-8281-FC57-60F2-88BAB2EF04DD}"/>
              </a:ext>
            </a:extLst>
          </p:cNvPr>
          <p:cNvSpPr>
            <a:spLocks noGrp="1"/>
          </p:cNvSpPr>
          <p:nvPr>
            <p:ph type="title"/>
          </p:nvPr>
        </p:nvSpPr>
        <p:spPr>
          <a:xfrm>
            <a:off x="371276" y="148381"/>
            <a:ext cx="10517534" cy="558801"/>
          </a:xfrm>
        </p:spPr>
        <p:txBody>
          <a:bodyPr>
            <a:noAutofit/>
          </a:bodyPr>
          <a:lstStyle/>
          <a:p>
            <a:r>
              <a:rPr lang="en-US" dirty="0">
                <a:solidFill>
                  <a:schemeClr val="bg1"/>
                </a:solidFill>
              </a:rPr>
              <a:t>Strategic Roadmap to Precision Medicine Approaches</a:t>
            </a:r>
          </a:p>
        </p:txBody>
      </p:sp>
      <p:pic>
        <p:nvPicPr>
          <p:cNvPr id="6" name="Picture 5">
            <a:extLst>
              <a:ext uri="{FF2B5EF4-FFF2-40B4-BE49-F238E27FC236}">
                <a16:creationId xmlns:a16="http://schemas.microsoft.com/office/drawing/2014/main" id="{58F174EE-2631-BF2E-FC2C-CEA5B554A4B8}"/>
              </a:ext>
            </a:extLst>
          </p:cNvPr>
          <p:cNvPicPr>
            <a:picLocks noChangeAspect="1"/>
          </p:cNvPicPr>
          <p:nvPr/>
        </p:nvPicPr>
        <p:blipFill>
          <a:blip r:embed="rId3"/>
          <a:stretch>
            <a:fillRect/>
          </a:stretch>
        </p:blipFill>
        <p:spPr>
          <a:xfrm>
            <a:off x="808639" y="1229429"/>
            <a:ext cx="10080171" cy="4876799"/>
          </a:xfrm>
          <a:prstGeom prst="rect">
            <a:avLst/>
          </a:prstGeom>
        </p:spPr>
      </p:pic>
      <p:sp>
        <p:nvSpPr>
          <p:cNvPr id="5" name="Left Brace 4">
            <a:extLst>
              <a:ext uri="{FF2B5EF4-FFF2-40B4-BE49-F238E27FC236}">
                <a16:creationId xmlns:a16="http://schemas.microsoft.com/office/drawing/2014/main" id="{716F8F04-26D1-0C25-A0E6-3141F192B111}"/>
              </a:ext>
            </a:extLst>
          </p:cNvPr>
          <p:cNvSpPr/>
          <p:nvPr/>
        </p:nvSpPr>
        <p:spPr>
          <a:xfrm rot="5400000">
            <a:off x="3365815" y="-132130"/>
            <a:ext cx="403201" cy="26176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Left Brace 6">
            <a:extLst>
              <a:ext uri="{FF2B5EF4-FFF2-40B4-BE49-F238E27FC236}">
                <a16:creationId xmlns:a16="http://schemas.microsoft.com/office/drawing/2014/main" id="{74A22C57-63D7-40C7-1F7C-7EDA49F9E1E8}"/>
              </a:ext>
            </a:extLst>
          </p:cNvPr>
          <p:cNvSpPr/>
          <p:nvPr/>
        </p:nvSpPr>
        <p:spPr>
          <a:xfrm rot="5400000">
            <a:off x="6556075" y="316702"/>
            <a:ext cx="546315" cy="17199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a:extLst>
              <a:ext uri="{FF2B5EF4-FFF2-40B4-BE49-F238E27FC236}">
                <a16:creationId xmlns:a16="http://schemas.microsoft.com/office/drawing/2014/main" id="{A0C16D8E-A678-46DD-9FDC-C359B55894C4}"/>
              </a:ext>
            </a:extLst>
          </p:cNvPr>
          <p:cNvSpPr txBox="1"/>
          <p:nvPr/>
        </p:nvSpPr>
        <p:spPr>
          <a:xfrm>
            <a:off x="2729216" y="491031"/>
            <a:ext cx="1676400" cy="369332"/>
          </a:xfrm>
          <a:prstGeom prst="rect">
            <a:avLst/>
          </a:prstGeom>
          <a:noFill/>
        </p:spPr>
        <p:txBody>
          <a:bodyPr wrap="square" rtlCol="0">
            <a:spAutoFit/>
          </a:bodyPr>
          <a:lstStyle/>
          <a:p>
            <a:r>
              <a:rPr lang="en-US" dirty="0"/>
              <a:t>Current Effort</a:t>
            </a:r>
          </a:p>
        </p:txBody>
      </p:sp>
      <p:sp>
        <p:nvSpPr>
          <p:cNvPr id="9" name="TextBox 8">
            <a:extLst>
              <a:ext uri="{FF2B5EF4-FFF2-40B4-BE49-F238E27FC236}">
                <a16:creationId xmlns:a16="http://schemas.microsoft.com/office/drawing/2014/main" id="{4C34E010-CB0A-D7B8-5399-F4585FCF66A6}"/>
              </a:ext>
            </a:extLst>
          </p:cNvPr>
          <p:cNvSpPr txBox="1"/>
          <p:nvPr/>
        </p:nvSpPr>
        <p:spPr>
          <a:xfrm>
            <a:off x="5848725" y="491031"/>
            <a:ext cx="2051202" cy="369332"/>
          </a:xfrm>
          <a:prstGeom prst="rect">
            <a:avLst/>
          </a:prstGeom>
          <a:noFill/>
        </p:spPr>
        <p:txBody>
          <a:bodyPr wrap="square" rtlCol="0">
            <a:spAutoFit/>
          </a:bodyPr>
          <a:lstStyle/>
          <a:p>
            <a:r>
              <a:rPr lang="en-US" dirty="0"/>
              <a:t>Commence FY26</a:t>
            </a:r>
          </a:p>
        </p:txBody>
      </p:sp>
      <p:sp>
        <p:nvSpPr>
          <p:cNvPr id="10" name="Left Brace 9">
            <a:extLst>
              <a:ext uri="{FF2B5EF4-FFF2-40B4-BE49-F238E27FC236}">
                <a16:creationId xmlns:a16="http://schemas.microsoft.com/office/drawing/2014/main" id="{83CF73FE-EAAE-B4FF-CCB6-194B107B7F26}"/>
              </a:ext>
            </a:extLst>
          </p:cNvPr>
          <p:cNvSpPr/>
          <p:nvPr/>
        </p:nvSpPr>
        <p:spPr>
          <a:xfrm rot="5400000">
            <a:off x="9007130" y="-191396"/>
            <a:ext cx="403201" cy="261760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DC8AEC23-575A-E34B-90DA-A0DAEF41AB0A}"/>
              </a:ext>
            </a:extLst>
          </p:cNvPr>
          <p:cNvSpPr txBox="1"/>
          <p:nvPr/>
        </p:nvSpPr>
        <p:spPr>
          <a:xfrm>
            <a:off x="8355644" y="503091"/>
            <a:ext cx="1974783" cy="369332"/>
          </a:xfrm>
          <a:prstGeom prst="rect">
            <a:avLst/>
          </a:prstGeom>
          <a:noFill/>
        </p:spPr>
        <p:txBody>
          <a:bodyPr wrap="square" rtlCol="0">
            <a:spAutoFit/>
          </a:bodyPr>
          <a:lstStyle/>
          <a:p>
            <a:r>
              <a:rPr lang="en-US" dirty="0"/>
              <a:t>Clinical Outcome</a:t>
            </a:r>
          </a:p>
        </p:txBody>
      </p:sp>
    </p:spTree>
    <p:extLst>
      <p:ext uri="{BB962C8B-B14F-4D97-AF65-F5344CB8AC3E}">
        <p14:creationId xmlns:p14="http://schemas.microsoft.com/office/powerpoint/2010/main" val="314865716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1CD33C2-F81C-E34C-19B7-C83CB6016635}"/>
              </a:ext>
            </a:extLst>
          </p:cNvPr>
          <p:cNvSpPr>
            <a:spLocks noGrp="1"/>
          </p:cNvSpPr>
          <p:nvPr>
            <p:ph idx="1"/>
          </p:nvPr>
        </p:nvSpPr>
        <p:spPr>
          <a:xfrm>
            <a:off x="307027" y="537001"/>
            <a:ext cx="10901362" cy="5403850"/>
          </a:xfrm>
        </p:spPr>
        <p:txBody>
          <a:bodyPr>
            <a:normAutofit lnSpcReduction="10000"/>
          </a:bodyPr>
          <a:lstStyle/>
          <a:p>
            <a:pPr marL="0" indent="0">
              <a:buNone/>
            </a:pPr>
            <a:r>
              <a:rPr lang="en-US" sz="1700" b="1" dirty="0"/>
              <a:t>VA Investigators evaluated </a:t>
            </a:r>
            <a:r>
              <a:rPr lang="en-US" sz="1700" b="1" dirty="0">
                <a:sym typeface="Wingdings" panose="05000000000000000000" pitchFamily="2" charset="2"/>
              </a:rPr>
              <a:t>Veteran Sponsorship Initiative (VSI+): </a:t>
            </a:r>
            <a:r>
              <a:rPr lang="en-US" sz="1700" dirty="0">
                <a:sym typeface="Wingdings" panose="05000000000000000000" pitchFamily="2" charset="2"/>
              </a:rPr>
              <a:t>a</a:t>
            </a:r>
            <a:r>
              <a:rPr lang="en-US" sz="1700" b="1" dirty="0">
                <a:sym typeface="Wingdings" panose="05000000000000000000" pitchFamily="2" charset="2"/>
              </a:rPr>
              <a:t> </a:t>
            </a:r>
            <a:r>
              <a:rPr lang="en-US" sz="1700" dirty="0">
                <a:sym typeface="Wingdings" panose="05000000000000000000" pitchFamily="2" charset="2"/>
              </a:rPr>
              <a:t>precision medicine tool for suicide prevention for service members as they transition into civilian life</a:t>
            </a:r>
          </a:p>
          <a:p>
            <a:pPr lvl="1">
              <a:spcAft>
                <a:spcPts val="0"/>
              </a:spcAft>
            </a:pPr>
            <a:r>
              <a:rPr lang="en-US" sz="1600" b="1" dirty="0">
                <a:sym typeface="Wingdings" panose="05000000000000000000" pitchFamily="2" charset="2"/>
              </a:rPr>
              <a:t>Problem:</a:t>
            </a:r>
            <a:r>
              <a:rPr lang="en-US" sz="1600" dirty="0">
                <a:sym typeface="Wingdings" panose="05000000000000000000" pitchFamily="2" charset="2"/>
              </a:rPr>
              <a:t> VA investigators previously demonstrated that the suicide rate for Veterans aged 18 to 34 years old more than doubled since 2001</a:t>
            </a:r>
          </a:p>
          <a:p>
            <a:pPr lvl="2"/>
            <a:r>
              <a:rPr lang="en-US" sz="1400" dirty="0">
                <a:sym typeface="Wingdings" panose="05000000000000000000" pitchFamily="2" charset="2"/>
              </a:rPr>
              <a:t>2.5x risk in 1st year after the military (</a:t>
            </a:r>
            <a:r>
              <a:rPr lang="da-DK" sz="1400" dirty="0">
                <a:sym typeface="Wingdings" panose="05000000000000000000" pitchFamily="2" charset="2"/>
              </a:rPr>
              <a:t>Sokol et al 2021; Geraci et al 2020; </a:t>
            </a:r>
            <a:r>
              <a:rPr lang="en-US" sz="1400" dirty="0">
                <a:sym typeface="Wingdings" panose="05000000000000000000" pitchFamily="2" charset="2"/>
              </a:rPr>
              <a:t>Shen et al 2016; Ravindran et al 2020)</a:t>
            </a:r>
          </a:p>
          <a:p>
            <a:pPr marL="914400" lvl="2" indent="0">
              <a:buNone/>
            </a:pPr>
            <a:endParaRPr lang="en-US" sz="800" dirty="0">
              <a:sym typeface="Wingdings" panose="05000000000000000000" pitchFamily="2" charset="2"/>
            </a:endParaRPr>
          </a:p>
          <a:p>
            <a:pPr lvl="1"/>
            <a:r>
              <a:rPr lang="en-US" sz="1600" b="1" dirty="0">
                <a:sym typeface="Wingdings" panose="05000000000000000000" pitchFamily="2" charset="2"/>
              </a:rPr>
              <a:t>VSI+: </a:t>
            </a:r>
            <a:r>
              <a:rPr lang="en-US" sz="1600" dirty="0">
                <a:sym typeface="Wingdings" panose="05000000000000000000" pitchFamily="2" charset="2"/>
              </a:rPr>
              <a:t>uses </a:t>
            </a:r>
            <a:r>
              <a:rPr lang="en-US" sz="1600" b="1" dirty="0">
                <a:sym typeface="Wingdings" panose="05000000000000000000" pitchFamily="2" charset="2"/>
              </a:rPr>
              <a:t>predictive analytics </a:t>
            </a:r>
            <a:r>
              <a:rPr lang="en-US" sz="1600" dirty="0">
                <a:sym typeface="Wingdings" panose="05000000000000000000" pitchFamily="2" charset="2"/>
              </a:rPr>
              <a:t>to identify service members at high risk for suicide</a:t>
            </a:r>
          </a:p>
          <a:p>
            <a:pPr lvl="2"/>
            <a:r>
              <a:rPr lang="en-US" sz="1400" b="1" dirty="0">
                <a:sym typeface="Wingdings" panose="05000000000000000000" pitchFamily="2" charset="2"/>
              </a:rPr>
              <a:t>VA investigators found:</a:t>
            </a:r>
          </a:p>
          <a:p>
            <a:pPr lvl="3">
              <a:lnSpc>
                <a:spcPct val="100000"/>
              </a:lnSpc>
            </a:pPr>
            <a:r>
              <a:rPr lang="en-US" sz="1400" dirty="0">
                <a:sym typeface="Wingdings" panose="05000000000000000000" pitchFamily="2" charset="2"/>
              </a:rPr>
              <a:t>30% of service members with highest predicted risk by VSI+ account for 93% of medically serious suicide attempts within the first year following military discharge (Kearns et al, 2023)</a:t>
            </a:r>
          </a:p>
          <a:p>
            <a:pPr lvl="3">
              <a:lnSpc>
                <a:spcPct val="100000"/>
              </a:lnSpc>
            </a:pPr>
            <a:r>
              <a:rPr lang="en-US" sz="1400" dirty="0">
                <a:sym typeface="Wingdings" panose="05000000000000000000" pitchFamily="2" charset="2"/>
              </a:rPr>
              <a:t>VSI+ </a:t>
            </a:r>
            <a:r>
              <a:rPr lang="en-US" sz="1400" b="1" dirty="0">
                <a:sym typeface="Wingdings" panose="05000000000000000000" pitchFamily="2" charset="2"/>
              </a:rPr>
              <a:t>enables connecting high-risk service members—before they leave the service—to stepped-care interventions </a:t>
            </a:r>
            <a:r>
              <a:rPr lang="en-US" sz="1400" dirty="0">
                <a:sym typeface="Wingdings" panose="05000000000000000000" pitchFamily="2" charset="2"/>
              </a:rPr>
              <a:t>e.g., peer sponsors, community services, VA benefits and health care (Hannon Act Section 101) including specialty care for military environmental exposures, mental health, TBI, and physical therapy</a:t>
            </a:r>
          </a:p>
          <a:p>
            <a:pPr lvl="2"/>
            <a:r>
              <a:rPr lang="en-US" sz="1400" b="1" dirty="0">
                <a:sym typeface="Wingdings" panose="05000000000000000000" pitchFamily="2" charset="2"/>
              </a:rPr>
              <a:t>Next Steps:</a:t>
            </a:r>
          </a:p>
          <a:p>
            <a:pPr lvl="3">
              <a:lnSpc>
                <a:spcPct val="100000"/>
              </a:lnSpc>
            </a:pPr>
            <a:r>
              <a:rPr lang="en-US" sz="1400" dirty="0">
                <a:sym typeface="Wingdings" panose="05000000000000000000" pitchFamily="2" charset="2"/>
              </a:rPr>
              <a:t>Partnering with VHA/VBA, DOD, and community partners to improve and integrate predictive analytics into enterprise-wide efforts to reduce Veteran suicide, homelessness, &amp; unemployment, e.g., partnership with Post-9/11 Military 2VA Case Management Program to prioritize their outreach efforts based on risk scores</a:t>
            </a:r>
          </a:p>
          <a:p>
            <a:pPr lvl="3">
              <a:lnSpc>
                <a:spcPct val="100000"/>
              </a:lnSpc>
            </a:pPr>
            <a:r>
              <a:rPr lang="en-US" sz="1400" dirty="0">
                <a:sym typeface="Wingdings" panose="05000000000000000000" pitchFamily="2" charset="2"/>
              </a:rPr>
              <a:t>Integrating/expanding tool to predicting and preventing Veteran homeless and unemployment </a:t>
            </a:r>
          </a:p>
          <a:p>
            <a:pPr lvl="1"/>
            <a:endParaRPr lang="en-US" sz="1600" dirty="0">
              <a:sym typeface="Wingdings" panose="05000000000000000000" pitchFamily="2" charset="2"/>
            </a:endParaRPr>
          </a:p>
        </p:txBody>
      </p:sp>
      <p:sp>
        <p:nvSpPr>
          <p:cNvPr id="3" name="Title 2">
            <a:extLst>
              <a:ext uri="{FF2B5EF4-FFF2-40B4-BE49-F238E27FC236}">
                <a16:creationId xmlns:a16="http://schemas.microsoft.com/office/drawing/2014/main" id="{6ED58AF4-07B0-BECF-67B3-0DCE7AA972FC}"/>
              </a:ext>
            </a:extLst>
          </p:cNvPr>
          <p:cNvSpPr>
            <a:spLocks noGrp="1"/>
          </p:cNvSpPr>
          <p:nvPr>
            <p:ph type="title"/>
          </p:nvPr>
        </p:nvSpPr>
        <p:spPr>
          <a:xfrm>
            <a:off x="224413" y="-77489"/>
            <a:ext cx="8709275" cy="589554"/>
          </a:xfrm>
        </p:spPr>
        <p:txBody>
          <a:bodyPr>
            <a:normAutofit/>
          </a:bodyPr>
          <a:lstStyle/>
          <a:p>
            <a:r>
              <a:rPr lang="en-US" sz="2400" dirty="0">
                <a:solidFill>
                  <a:schemeClr val="bg1"/>
                </a:solidFill>
              </a:rPr>
              <a:t>Suicide Prevention –Transitioning Service Members</a:t>
            </a:r>
          </a:p>
        </p:txBody>
      </p:sp>
      <p:sp>
        <p:nvSpPr>
          <p:cNvPr id="2" name="Slide Number Placeholder 1">
            <a:extLst>
              <a:ext uri="{FF2B5EF4-FFF2-40B4-BE49-F238E27FC236}">
                <a16:creationId xmlns:a16="http://schemas.microsoft.com/office/drawing/2014/main" id="{05C3C0E4-8EAB-FFC8-228E-7D952BADDE46}"/>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003F71"/>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1000" b="1" i="0" u="none" strike="noStrike" kern="1200" cap="none" spc="0" normalizeH="0" baseline="0" noProof="0" dirty="0">
              <a:ln>
                <a:noFill/>
              </a:ln>
              <a:solidFill>
                <a:srgbClr val="003F71"/>
              </a:solidFill>
              <a:effectLst/>
              <a:uLnTx/>
              <a:uFillTx/>
              <a:latin typeface="Arial" panose="020B0604020202020204"/>
              <a:ea typeface="+mn-ea"/>
              <a:cs typeface="+mn-cs"/>
            </a:endParaRPr>
          </a:p>
        </p:txBody>
      </p:sp>
      <p:sp>
        <p:nvSpPr>
          <p:cNvPr id="5" name="TextBox 4">
            <a:extLst>
              <a:ext uri="{FF2B5EF4-FFF2-40B4-BE49-F238E27FC236}">
                <a16:creationId xmlns:a16="http://schemas.microsoft.com/office/drawing/2014/main" id="{E5F0D1F1-C08B-4DD0-6E16-36F08E672451}"/>
              </a:ext>
            </a:extLst>
          </p:cNvPr>
          <p:cNvSpPr txBox="1"/>
          <p:nvPr/>
        </p:nvSpPr>
        <p:spPr>
          <a:xfrm>
            <a:off x="307027" y="5490002"/>
            <a:ext cx="11577946"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003F71"/>
                </a:solidFill>
                <a:effectLst/>
                <a:uLnTx/>
                <a:uFillTx/>
                <a:latin typeface="Arial" panose="020B0604020202020204"/>
                <a:ea typeface="+mn-ea"/>
                <a:cs typeface="+mn-cs"/>
              </a:rPr>
              <a:t>“I got into a really dark place. If it wasn't for your help especially with VA medical care I don't think I would've climbed out successfully. Just know you totally made a difference in this combat Veteran's life as well as his family’s.” -Veteran participating in Veteran Sponsorship Initiative</a:t>
            </a:r>
          </a:p>
        </p:txBody>
      </p:sp>
    </p:spTree>
    <p:extLst>
      <p:ext uri="{BB962C8B-B14F-4D97-AF65-F5344CB8AC3E}">
        <p14:creationId xmlns:p14="http://schemas.microsoft.com/office/powerpoint/2010/main" val="39334220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48484-3479-B9D0-BC76-78AC2ED61399}"/>
              </a:ext>
            </a:extLst>
          </p:cNvPr>
          <p:cNvSpPr>
            <a:spLocks noGrp="1"/>
          </p:cNvSpPr>
          <p:nvPr>
            <p:ph idx="1"/>
          </p:nvPr>
        </p:nvSpPr>
        <p:spPr>
          <a:xfrm>
            <a:off x="335937" y="599097"/>
            <a:ext cx="11520126" cy="5161050"/>
          </a:xfrm>
        </p:spPr>
        <p:txBody>
          <a:bodyPr/>
          <a:lstStyle/>
          <a:p>
            <a:pPr>
              <a:spcAft>
                <a:spcPts val="0"/>
              </a:spcAft>
            </a:pPr>
            <a:r>
              <a:rPr lang="en-US" sz="2200" dirty="0">
                <a:effectLst/>
                <a:latin typeface="+mj-lt"/>
                <a:ea typeface="PMingLiU" panose="02020500000000000000" pitchFamily="18" charset="-120"/>
              </a:rPr>
              <a:t>Impacts of virtual mental health care</a:t>
            </a:r>
          </a:p>
          <a:p>
            <a:pPr lvl="1">
              <a:spcAft>
                <a:spcPts val="0"/>
              </a:spcAft>
            </a:pPr>
            <a:r>
              <a:rPr lang="en-US" sz="1800" b="1" dirty="0">
                <a:effectLst/>
                <a:latin typeface="+mj-lt"/>
                <a:ea typeface="PMingLiU" panose="02020500000000000000" pitchFamily="18" charset="-120"/>
                <a:cs typeface="Times New Roman" panose="02020603050405020304" pitchFamily="18" charset="0"/>
              </a:rPr>
              <a:t>VA Investigators foun</a:t>
            </a:r>
            <a:r>
              <a:rPr lang="en-US" sz="1800" b="1" dirty="0">
                <a:latin typeface="+mj-lt"/>
                <a:ea typeface="PMingLiU" panose="02020500000000000000" pitchFamily="18" charset="-120"/>
                <a:cs typeface="Times New Roman" panose="02020603050405020304" pitchFamily="18" charset="0"/>
              </a:rPr>
              <a:t>d</a:t>
            </a:r>
            <a:r>
              <a:rPr lang="en-US" sz="1800" dirty="0">
                <a:latin typeface="+mj-lt"/>
                <a:ea typeface="PMingLiU" panose="02020500000000000000" pitchFamily="18" charset="-120"/>
                <a:cs typeface="Times New Roman" panose="02020603050405020304" pitchFamily="18" charset="0"/>
              </a:rPr>
              <a:t>:</a:t>
            </a:r>
          </a:p>
          <a:p>
            <a:pPr lvl="2">
              <a:spcAft>
                <a:spcPts val="0"/>
              </a:spcAft>
            </a:pPr>
            <a:r>
              <a:rPr lang="en-US" dirty="0">
                <a:latin typeface="+mj-lt"/>
                <a:ea typeface="PMingLiU" panose="02020500000000000000" pitchFamily="18" charset="-120"/>
                <a:cs typeface="Times New Roman" panose="02020603050405020304" pitchFamily="18" charset="0"/>
              </a:rPr>
              <a:t>a</a:t>
            </a:r>
            <a:r>
              <a:rPr lang="en-US" dirty="0">
                <a:effectLst/>
                <a:latin typeface="+mj-lt"/>
                <a:ea typeface="PMingLiU" panose="02020500000000000000" pitchFamily="18" charset="-120"/>
                <a:cs typeface="Times New Roman" panose="02020603050405020304" pitchFamily="18" charset="0"/>
              </a:rPr>
              <a:t>ll VA facilities offer virtual mental health care, contributing to higher patient satisfaction. Of consistent users of VA mental health services, 54% of Veterans exclusively receive mental health care via telehealth</a:t>
            </a:r>
            <a:r>
              <a:rPr lang="en-US" b="1" dirty="0">
                <a:effectLst/>
                <a:latin typeface="+mj-lt"/>
                <a:ea typeface="PMingLiU" panose="02020500000000000000" pitchFamily="18" charset="-120"/>
                <a:cs typeface="Times New Roman" panose="02020603050405020304" pitchFamily="18" charset="0"/>
              </a:rPr>
              <a:t> </a:t>
            </a:r>
            <a:r>
              <a:rPr lang="en-US" dirty="0">
                <a:effectLst/>
                <a:latin typeface="+mj-lt"/>
                <a:ea typeface="PMingLiU" panose="02020500000000000000" pitchFamily="18" charset="-120"/>
                <a:cs typeface="Times New Roman" panose="02020603050405020304" pitchFamily="18" charset="0"/>
              </a:rPr>
              <a:t>(</a:t>
            </a:r>
            <a:r>
              <a:rPr lang="en-US" u="sng" dirty="0">
                <a:effectLst/>
                <a:latin typeface="+mj-lt"/>
                <a:ea typeface="PMingLiU" panose="02020500000000000000" pitchFamily="18" charset="-120"/>
                <a:cs typeface="Times New Roman" panose="02020603050405020304" pitchFamily="18" charset="0"/>
                <a:hlinkClick r:id="rId3">
                  <a:extLst>
                    <a:ext uri="{A12FA001-AC4F-418D-AE19-62706E023703}">
                      <ahyp:hlinkClr xmlns:ahyp="http://schemas.microsoft.com/office/drawing/2018/hyperlinkcolor" val="tx"/>
                    </a:ext>
                  </a:extLst>
                </a:hlinkClick>
              </a:rPr>
              <a:t>Lum et al. 2024</a:t>
            </a:r>
            <a:r>
              <a:rPr lang="en-US" dirty="0">
                <a:effectLst/>
                <a:latin typeface="+mj-lt"/>
                <a:ea typeface="PMingLiU" panose="02020500000000000000" pitchFamily="18" charset="-120"/>
                <a:cs typeface="Times New Roman" panose="02020603050405020304" pitchFamily="18" charset="0"/>
              </a:rPr>
              <a:t>)</a:t>
            </a:r>
            <a:endParaRPr lang="en-US" dirty="0">
              <a:latin typeface="+mj-lt"/>
              <a:ea typeface="PMingLiU" panose="02020500000000000000" pitchFamily="18" charset="-120"/>
              <a:cs typeface="Times New Roman" panose="02020603050405020304" pitchFamily="18" charset="0"/>
            </a:endParaRPr>
          </a:p>
          <a:p>
            <a:pPr lvl="2">
              <a:spcAft>
                <a:spcPts val="0"/>
              </a:spcAft>
              <a:buFont typeface="Courier New" panose="02070309020205020404" pitchFamily="49" charset="0"/>
              <a:buChar char="o"/>
              <a:tabLst>
                <a:tab pos="457200" algn="l"/>
              </a:tabLst>
            </a:pPr>
            <a:r>
              <a:rPr lang="en-US" dirty="0">
                <a:effectLst/>
                <a:latin typeface="+mj-lt"/>
                <a:ea typeface="PMingLiU" panose="02020500000000000000" pitchFamily="18" charset="-120"/>
                <a:cs typeface="Times New Roman" panose="02020603050405020304" pitchFamily="18" charset="0"/>
              </a:rPr>
              <a:t>A </a:t>
            </a:r>
            <a:r>
              <a:rPr lang="en-US" b="1" dirty="0">
                <a:effectLst/>
                <a:latin typeface="+mj-lt"/>
                <a:ea typeface="PMingLiU" panose="02020500000000000000" pitchFamily="18" charset="-120"/>
                <a:cs typeface="Times New Roman" panose="02020603050405020304" pitchFamily="18" charset="0"/>
              </a:rPr>
              <a:t>1% increase in video-based mental health visits correlates with a 2.5% decrease in suicide-related events</a:t>
            </a:r>
            <a:r>
              <a:rPr lang="en-US" dirty="0">
                <a:effectLst/>
                <a:latin typeface="+mj-lt"/>
                <a:ea typeface="PMingLiU" panose="02020500000000000000" pitchFamily="18" charset="-120"/>
                <a:cs typeface="Times New Roman" panose="02020603050405020304" pitchFamily="18" charset="0"/>
              </a:rPr>
              <a:t> (</a:t>
            </a:r>
            <a:r>
              <a:rPr lang="en-US" u="sng" dirty="0">
                <a:effectLst/>
                <a:latin typeface="+mj-lt"/>
                <a:ea typeface="PMingLiU" panose="02020500000000000000" pitchFamily="18" charset="-120"/>
                <a:cs typeface="Times New Roman" panose="02020603050405020304" pitchFamily="18" charset="0"/>
                <a:hlinkClick r:id="rId4">
                  <a:extLst>
                    <a:ext uri="{A12FA001-AC4F-418D-AE19-62706E023703}">
                      <ahyp:hlinkClr xmlns:ahyp="http://schemas.microsoft.com/office/drawing/2018/hyperlinkcolor" val="tx"/>
                    </a:ext>
                  </a:extLst>
                </a:hlinkClick>
              </a:rPr>
              <a:t>Tenso et al. 2024</a:t>
            </a:r>
            <a:r>
              <a:rPr lang="en-US" dirty="0">
                <a:effectLst/>
                <a:latin typeface="+mj-lt"/>
                <a:ea typeface="PMingLiU" panose="02020500000000000000" pitchFamily="18" charset="-120"/>
                <a:cs typeface="Times New Roman" panose="02020603050405020304" pitchFamily="18" charset="0"/>
              </a:rPr>
              <a:t>)</a:t>
            </a:r>
            <a:endParaRPr lang="en-US" sz="800" b="1" dirty="0">
              <a:latin typeface="+mj-lt"/>
              <a:ea typeface="Calibri" panose="020F0502020204030204" pitchFamily="34" charset="0"/>
            </a:endParaRPr>
          </a:p>
          <a:p>
            <a:pPr>
              <a:spcAft>
                <a:spcPts val="0"/>
              </a:spcAft>
            </a:pPr>
            <a:r>
              <a:rPr lang="en-US" sz="2200" dirty="0">
                <a:latin typeface="+mj-lt"/>
                <a:ea typeface="Calibri" panose="020F0502020204030204" pitchFamily="34" charset="0"/>
              </a:rPr>
              <a:t>Impacts of </a:t>
            </a:r>
            <a:r>
              <a:rPr lang="en-US" sz="2200" dirty="0">
                <a:effectLst/>
                <a:latin typeface="+mj-lt"/>
                <a:ea typeface="Calibri" panose="020F0502020204030204" pitchFamily="34" charset="0"/>
              </a:rPr>
              <a:t>issuing electronic tablets to Veterans for virtual mental health care</a:t>
            </a:r>
          </a:p>
          <a:p>
            <a:pPr lvl="1">
              <a:spcAft>
                <a:spcPts val="0"/>
              </a:spcAft>
            </a:pPr>
            <a:r>
              <a:rPr lang="en-US" sz="1800" b="1" dirty="0">
                <a:latin typeface="+mj-lt"/>
                <a:ea typeface="Calibri" panose="020F0502020204030204" pitchFamily="34" charset="0"/>
              </a:rPr>
              <a:t>VA Investigators found</a:t>
            </a:r>
            <a:r>
              <a:rPr lang="en-US" sz="1800" dirty="0">
                <a:latin typeface="+mj-lt"/>
                <a:ea typeface="Calibri" panose="020F0502020204030204" pitchFamily="34" charset="0"/>
              </a:rPr>
              <a:t>:</a:t>
            </a:r>
          </a:p>
          <a:p>
            <a:pPr lvl="2">
              <a:spcAft>
                <a:spcPts val="0"/>
              </a:spcAft>
            </a:pPr>
            <a:r>
              <a:rPr lang="en-US" dirty="0">
                <a:effectLst/>
                <a:latin typeface="+mj-lt"/>
                <a:ea typeface="Times New Roman" panose="02020603050405020304" pitchFamily="18" charset="0"/>
              </a:rPr>
              <a:t>222,977 Veterans have received a VA-issued tablet since the program was launched in 2015 (35% are rural Veterans</a:t>
            </a:r>
            <a:endParaRPr lang="en-US" dirty="0">
              <a:latin typeface="+mj-lt"/>
              <a:ea typeface="Calibri" panose="020F0502020204030204" pitchFamily="34" charset="0"/>
            </a:endParaRPr>
          </a:p>
          <a:p>
            <a:pPr lvl="2">
              <a:spcAft>
                <a:spcPts val="0"/>
              </a:spcAft>
            </a:pPr>
            <a:r>
              <a:rPr lang="en-US" dirty="0">
                <a:solidFill>
                  <a:srgbClr val="000000"/>
                </a:solidFill>
                <a:latin typeface="+mj-lt"/>
                <a:ea typeface="Times New Roman" panose="02020603050405020304" pitchFamily="18" charset="0"/>
              </a:rPr>
              <a:t>Program </a:t>
            </a:r>
            <a:r>
              <a:rPr lang="en-US" dirty="0">
                <a:solidFill>
                  <a:srgbClr val="000000"/>
                </a:solidFill>
                <a:effectLst/>
                <a:latin typeface="+mj-lt"/>
                <a:ea typeface="Times New Roman" panose="02020603050405020304" pitchFamily="18" charset="0"/>
              </a:rPr>
              <a:t>improves access, continuity, and efficiency of care (</a:t>
            </a:r>
            <a:r>
              <a:rPr lang="en-US" i="1" u="sng" dirty="0">
                <a:solidFill>
                  <a:srgbClr val="444444"/>
                </a:solidFill>
                <a:effectLst/>
                <a:latin typeface="+mj-lt"/>
                <a:ea typeface="Times New Roman" panose="02020603050405020304" pitchFamily="18" charset="0"/>
                <a:hlinkClick r:id="rId5"/>
              </a:rPr>
              <a:t>Jacobs et al. </a:t>
            </a:r>
            <a:r>
              <a:rPr lang="en-US" i="0" u="sng" dirty="0">
                <a:solidFill>
                  <a:srgbClr val="444444"/>
                </a:solidFill>
                <a:effectLst/>
                <a:latin typeface="+mj-lt"/>
                <a:ea typeface="Times New Roman" panose="02020603050405020304" pitchFamily="18" charset="0"/>
                <a:hlinkClick r:id="rId5"/>
              </a:rPr>
              <a:t>2019</a:t>
            </a:r>
            <a:r>
              <a:rPr lang="en-US" dirty="0">
                <a:solidFill>
                  <a:srgbClr val="444444"/>
                </a:solidFill>
                <a:effectLst/>
                <a:latin typeface="+mj-lt"/>
                <a:ea typeface="Times New Roman" panose="02020603050405020304" pitchFamily="18" charset="0"/>
              </a:rPr>
              <a:t>)</a:t>
            </a:r>
          </a:p>
          <a:p>
            <a:pPr lvl="2">
              <a:spcAft>
                <a:spcPts val="0"/>
              </a:spcAft>
            </a:pPr>
            <a:r>
              <a:rPr lang="en-US" dirty="0">
                <a:solidFill>
                  <a:srgbClr val="000000"/>
                </a:solidFill>
                <a:effectLst/>
                <a:latin typeface="+mj-lt"/>
                <a:ea typeface="Times New Roman" panose="02020603050405020304" pitchFamily="18" charset="0"/>
              </a:rPr>
              <a:t>Veterans who received tablets experienced increased mental health service use and </a:t>
            </a:r>
            <a:r>
              <a:rPr lang="en-US" b="1" dirty="0">
                <a:solidFill>
                  <a:srgbClr val="000000"/>
                </a:solidFill>
                <a:effectLst/>
                <a:latin typeface="+mj-lt"/>
                <a:ea typeface="Times New Roman" panose="02020603050405020304" pitchFamily="18" charset="0"/>
              </a:rPr>
              <a:t>36% reduction in the likelihood of having a suicide-related emergency department visit </a:t>
            </a:r>
            <a:r>
              <a:rPr lang="en-US" dirty="0">
                <a:solidFill>
                  <a:srgbClr val="000000"/>
                </a:solidFill>
                <a:effectLst/>
                <a:latin typeface="+mj-lt"/>
                <a:ea typeface="Times New Roman" panose="02020603050405020304" pitchFamily="18" charset="0"/>
              </a:rPr>
              <a:t>(</a:t>
            </a:r>
            <a:r>
              <a:rPr lang="en-US" i="1" u="sng" dirty="0">
                <a:solidFill>
                  <a:srgbClr val="444444"/>
                </a:solidFill>
                <a:effectLst/>
                <a:latin typeface="+mj-lt"/>
                <a:ea typeface="Times New Roman" panose="02020603050405020304" pitchFamily="18" charset="0"/>
                <a:hlinkClick r:id="rId6"/>
              </a:rPr>
              <a:t>Zulman 2022</a:t>
            </a:r>
            <a:r>
              <a:rPr lang="en-US" dirty="0">
                <a:solidFill>
                  <a:srgbClr val="000000"/>
                </a:solidFill>
                <a:effectLst/>
                <a:latin typeface="+mj-lt"/>
                <a:ea typeface="Times New Roman" panose="02020603050405020304" pitchFamily="18" charset="0"/>
              </a:rPr>
              <a:t>)</a:t>
            </a:r>
            <a:r>
              <a:rPr lang="en-US" dirty="0">
                <a:solidFill>
                  <a:srgbClr val="444444"/>
                </a:solidFill>
                <a:effectLst/>
                <a:latin typeface="+mj-lt"/>
                <a:ea typeface="Times New Roman" panose="02020603050405020304" pitchFamily="18" charset="0"/>
              </a:rPr>
              <a:t> </a:t>
            </a:r>
            <a:endParaRPr lang="en-US" dirty="0">
              <a:solidFill>
                <a:srgbClr val="444444"/>
              </a:solidFill>
              <a:latin typeface="+mj-lt"/>
              <a:ea typeface="Times New Roman" panose="02020603050405020304" pitchFamily="18" charset="0"/>
            </a:endParaRPr>
          </a:p>
          <a:p>
            <a:pPr marL="1200150" lvl="2" indent="-285750">
              <a:spcAft>
                <a:spcPts val="0"/>
              </a:spcAft>
              <a:buFont typeface="Courier New" panose="02070309020205020404" pitchFamily="49" charset="0"/>
              <a:buChar char="o"/>
            </a:pPr>
            <a:endParaRPr lang="en-US" sz="1200" dirty="0">
              <a:effectLst/>
              <a:latin typeface="+mj-lt"/>
              <a:ea typeface="Calibri" panose="020F0502020204030204" pitchFamily="34" charset="0"/>
            </a:endParaRPr>
          </a:p>
          <a:p>
            <a:pPr>
              <a:spcAft>
                <a:spcPts val="0"/>
              </a:spcAft>
              <a:buFont typeface="Courier New" panose="02070309020205020404" pitchFamily="49" charset="0"/>
              <a:buChar char="o"/>
              <a:tabLst>
                <a:tab pos="457200" algn="l"/>
              </a:tabLst>
            </a:pPr>
            <a:endParaRPr lang="en-US" sz="2200" dirty="0">
              <a:effectLst/>
              <a:latin typeface="+mj-lt"/>
              <a:ea typeface="PMingLiU" panose="02020500000000000000" pitchFamily="18" charset="-120"/>
              <a:cs typeface="Times New Roman" panose="02020603050405020304" pitchFamily="18" charset="0"/>
            </a:endParaRPr>
          </a:p>
          <a:p>
            <a:pPr marL="457200" lvl="1" indent="0">
              <a:spcAft>
                <a:spcPts val="0"/>
              </a:spcAft>
              <a:buNone/>
              <a:tabLst>
                <a:tab pos="457200" algn="l"/>
              </a:tabLst>
            </a:pPr>
            <a:endParaRPr lang="en-US" sz="1000" dirty="0">
              <a:effectLst/>
              <a:latin typeface="+mj-lt"/>
              <a:ea typeface="PMingLiU" panose="02020500000000000000" pitchFamily="18" charset="-120"/>
              <a:cs typeface="Times New Roman" panose="02020603050405020304" pitchFamily="18" charset="0"/>
            </a:endParaRPr>
          </a:p>
          <a:p>
            <a:endParaRPr lang="en-US" sz="2400" dirty="0"/>
          </a:p>
          <a:p>
            <a:endParaRPr lang="en-US" sz="2400" dirty="0"/>
          </a:p>
          <a:p>
            <a:endParaRPr lang="en-US" sz="2400" dirty="0"/>
          </a:p>
        </p:txBody>
      </p:sp>
      <p:sp>
        <p:nvSpPr>
          <p:cNvPr id="3" name="Title 2">
            <a:extLst>
              <a:ext uri="{FF2B5EF4-FFF2-40B4-BE49-F238E27FC236}">
                <a16:creationId xmlns:a16="http://schemas.microsoft.com/office/drawing/2014/main" id="{A2538C0C-D9B9-5927-2031-22A16E594B1C}"/>
              </a:ext>
            </a:extLst>
          </p:cNvPr>
          <p:cNvSpPr>
            <a:spLocks noGrp="1"/>
          </p:cNvSpPr>
          <p:nvPr>
            <p:ph type="title"/>
          </p:nvPr>
        </p:nvSpPr>
        <p:spPr>
          <a:xfrm>
            <a:off x="224413" y="-77489"/>
            <a:ext cx="9139043" cy="745001"/>
          </a:xfrm>
        </p:spPr>
        <p:txBody>
          <a:bodyPr>
            <a:normAutofit/>
          </a:bodyPr>
          <a:lstStyle/>
          <a:p>
            <a:r>
              <a:rPr lang="en-US" sz="2400" dirty="0">
                <a:solidFill>
                  <a:schemeClr val="bg1"/>
                </a:solidFill>
              </a:rPr>
              <a:t>Suicide Prevention – Virtual Access to Care</a:t>
            </a:r>
          </a:p>
        </p:txBody>
      </p:sp>
      <p:sp>
        <p:nvSpPr>
          <p:cNvPr id="4" name="Slide Number Placeholder 3">
            <a:extLst>
              <a:ext uri="{FF2B5EF4-FFF2-40B4-BE49-F238E27FC236}">
                <a16:creationId xmlns:a16="http://schemas.microsoft.com/office/drawing/2014/main" id="{D7E43C41-0D0A-BC52-57BE-0829D8E3CD1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44546A"/>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000" b="1" i="0" u="none" strike="noStrike" kern="1200" cap="none" spc="0" normalizeH="0" baseline="0" noProof="0">
              <a:ln>
                <a:noFill/>
              </a:ln>
              <a:solidFill>
                <a:srgbClr val="44546A"/>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D386E1A2-8059-9CAA-5D3F-404EB9749C2C}"/>
              </a:ext>
            </a:extLst>
          </p:cNvPr>
          <p:cNvSpPr txBox="1"/>
          <p:nvPr/>
        </p:nvSpPr>
        <p:spPr>
          <a:xfrm>
            <a:off x="335937" y="5710019"/>
            <a:ext cx="10647768" cy="646331"/>
          </a:xfrm>
          <a:prstGeom prst="rect">
            <a:avLst/>
          </a:prstGeom>
          <a:noFill/>
        </p:spPr>
        <p:txBody>
          <a:bodyPr wrap="square">
            <a:spAutoFit/>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44546A"/>
                </a:solidFill>
                <a:effectLst/>
                <a:uLnTx/>
                <a:uFillTx/>
                <a:latin typeface="Arial" panose="020B0604020202020204"/>
                <a:ea typeface="Calibri" panose="020F0502020204030204" pitchFamily="34" charset="0"/>
                <a:cs typeface="+mn-cs"/>
              </a:rPr>
              <a:t>“[The tablet] makes communication with the VA counselors and psychiatrists and heart doctors... so much easier and more convenient.”  </a:t>
            </a:r>
            <a:r>
              <a:rPr kumimoji="0" lang="en-US" sz="1800" b="0" i="1" u="none" strike="noStrike" kern="1200" cap="none" spc="0" normalizeH="0" baseline="0" noProof="0" dirty="0">
                <a:ln>
                  <a:noFill/>
                </a:ln>
                <a:solidFill>
                  <a:srgbClr val="44546A"/>
                </a:solidFill>
                <a:effectLst/>
                <a:uLnTx/>
                <a:uFillTx/>
                <a:latin typeface="Arial" panose="020B0604020202020204"/>
                <a:ea typeface="Times New Roman" panose="02020603050405020304" pitchFamily="18" charset="0"/>
                <a:cs typeface="+mn-cs"/>
              </a:rPr>
              <a:t>-Veteran tablet recipient</a:t>
            </a:r>
          </a:p>
        </p:txBody>
      </p:sp>
    </p:spTree>
    <p:extLst>
      <p:ext uri="{BB962C8B-B14F-4D97-AF65-F5344CB8AC3E}">
        <p14:creationId xmlns:p14="http://schemas.microsoft.com/office/powerpoint/2010/main" val="2360612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4248484-3479-B9D0-BC76-78AC2ED61399}"/>
              </a:ext>
            </a:extLst>
          </p:cNvPr>
          <p:cNvSpPr>
            <a:spLocks noGrp="1"/>
          </p:cNvSpPr>
          <p:nvPr>
            <p:ph idx="1"/>
          </p:nvPr>
        </p:nvSpPr>
        <p:spPr>
          <a:xfrm>
            <a:off x="224413" y="598708"/>
            <a:ext cx="11769467" cy="5161050"/>
          </a:xfrm>
        </p:spPr>
        <p:txBody>
          <a:bodyPr/>
          <a:lstStyle/>
          <a:p>
            <a:pPr>
              <a:spcAft>
                <a:spcPts val="1000"/>
              </a:spcAft>
            </a:pPr>
            <a:r>
              <a:rPr lang="en-US" sz="1800" b="1" dirty="0">
                <a:sym typeface="Wingdings" panose="05000000000000000000" pitchFamily="2" charset="2"/>
              </a:rPr>
              <a:t>Problem:</a:t>
            </a:r>
            <a:r>
              <a:rPr lang="en-US" sz="1800" dirty="0">
                <a:sym typeface="Wingdings" panose="05000000000000000000" pitchFamily="2" charset="2"/>
              </a:rPr>
              <a:t> </a:t>
            </a:r>
            <a:r>
              <a:rPr lang="en-US" sz="1800" dirty="0"/>
              <a:t>Firearms are used in over 70% of Veteran suicides</a:t>
            </a:r>
          </a:p>
          <a:p>
            <a:pPr>
              <a:spcAft>
                <a:spcPts val="1000"/>
              </a:spcAft>
            </a:pPr>
            <a:r>
              <a:rPr lang="en-US" sz="1800" b="1" dirty="0"/>
              <a:t>Lethal means safety (LMS): </a:t>
            </a:r>
            <a:r>
              <a:rPr lang="en-US" sz="1800" dirty="0"/>
              <a:t>suicide prevention strategies that increases time and distance between a firearm and an individual at risk</a:t>
            </a:r>
          </a:p>
          <a:p>
            <a:r>
              <a:rPr lang="en-US" sz="1800" b="1" dirty="0"/>
              <a:t>VA Investigators Evaluated:</a:t>
            </a:r>
          </a:p>
          <a:p>
            <a:pPr lvl="1">
              <a:spcAft>
                <a:spcPts val="0"/>
              </a:spcAft>
            </a:pPr>
            <a:r>
              <a:rPr lang="en-US" sz="1800" b="1" dirty="0"/>
              <a:t>The Armory Project:</a:t>
            </a:r>
            <a:r>
              <a:rPr lang="en-US" sz="1800" dirty="0"/>
              <a:t> a community-engaged approach to LMS, has partnered with 16 firearm retailers across Louisiana, reaching 2,000 Veterans.</a:t>
            </a:r>
          </a:p>
          <a:p>
            <a:pPr lvl="2">
              <a:lnSpc>
                <a:spcPct val="100000"/>
              </a:lnSpc>
              <a:spcAft>
                <a:spcPts val="1000"/>
              </a:spcAft>
            </a:pPr>
            <a:r>
              <a:rPr lang="en-US" dirty="0"/>
              <a:t>C</a:t>
            </a:r>
            <a:r>
              <a:rPr lang="en-US" dirty="0">
                <a:sym typeface="Wingdings" panose="05000000000000000000" pitchFamily="2" charset="2"/>
              </a:rPr>
              <a:t>ontributed to the passage of legislation:  </a:t>
            </a:r>
            <a:r>
              <a:rPr lang="en-US" dirty="0">
                <a:sym typeface="Wingdings" panose="05000000000000000000" pitchFamily="2" charset="2"/>
                <a:hlinkClick r:id="rId3"/>
              </a:rPr>
              <a:t>Louisiana ACT 453: </a:t>
            </a:r>
            <a:r>
              <a:rPr lang="en-US" dirty="0">
                <a:sym typeface="Wingdings" panose="05000000000000000000" pitchFamily="2" charset="2"/>
              </a:rPr>
              <a:t>Provides immunity from civil liability for firearm retailers who store firearms for a person in need; </a:t>
            </a:r>
            <a:r>
              <a:rPr lang="en-US" dirty="0">
                <a:sym typeface="Wingdings" panose="05000000000000000000" pitchFamily="2" charset="2"/>
                <a:hlinkClick r:id="rId4"/>
              </a:rPr>
              <a:t>Louisiana ACT 295</a:t>
            </a:r>
            <a:r>
              <a:rPr lang="en-US" dirty="0">
                <a:sym typeface="Wingdings" panose="05000000000000000000" pitchFamily="2" charset="2"/>
              </a:rPr>
              <a:t>: Creating an online handgun education course curriculum on preventing Veteran firearm suicide</a:t>
            </a:r>
          </a:p>
          <a:p>
            <a:pPr lvl="1">
              <a:lnSpc>
                <a:spcPct val="100000"/>
              </a:lnSpc>
              <a:spcAft>
                <a:spcPts val="1000"/>
              </a:spcAft>
            </a:pPr>
            <a:r>
              <a:rPr lang="en-US" sz="1800" b="1" dirty="0"/>
              <a:t>Project Life Force (PLF): </a:t>
            </a:r>
            <a:r>
              <a:rPr lang="en-US" sz="1800" dirty="0"/>
              <a:t>a telehealth suicide safety planning/firearm safety group intervention for high-risk Veterans, including those in rural settings or who do not seek VA care </a:t>
            </a:r>
          </a:p>
          <a:p>
            <a:pPr marL="0" indent="0">
              <a:buNone/>
            </a:pPr>
            <a:endParaRPr lang="en-US" sz="2000" dirty="0"/>
          </a:p>
        </p:txBody>
      </p:sp>
      <p:sp>
        <p:nvSpPr>
          <p:cNvPr id="3" name="Title 2">
            <a:extLst>
              <a:ext uri="{FF2B5EF4-FFF2-40B4-BE49-F238E27FC236}">
                <a16:creationId xmlns:a16="http://schemas.microsoft.com/office/drawing/2014/main" id="{A2538C0C-D9B9-5927-2031-22A16E594B1C}"/>
              </a:ext>
            </a:extLst>
          </p:cNvPr>
          <p:cNvSpPr>
            <a:spLocks noGrp="1"/>
          </p:cNvSpPr>
          <p:nvPr>
            <p:ph type="title"/>
          </p:nvPr>
        </p:nvSpPr>
        <p:spPr>
          <a:xfrm>
            <a:off x="224413" y="-77489"/>
            <a:ext cx="9026267" cy="836342"/>
          </a:xfrm>
        </p:spPr>
        <p:txBody>
          <a:bodyPr>
            <a:normAutofit/>
          </a:bodyPr>
          <a:lstStyle/>
          <a:p>
            <a:r>
              <a:rPr lang="en-US" sz="2400" dirty="0">
                <a:solidFill>
                  <a:schemeClr val="bg1"/>
                </a:solidFill>
              </a:rPr>
              <a:t>Suicide Prevention - Lethal Means Safety</a:t>
            </a:r>
          </a:p>
        </p:txBody>
      </p:sp>
      <p:sp>
        <p:nvSpPr>
          <p:cNvPr id="4" name="Slide Number Placeholder 3">
            <a:extLst>
              <a:ext uri="{FF2B5EF4-FFF2-40B4-BE49-F238E27FC236}">
                <a16:creationId xmlns:a16="http://schemas.microsoft.com/office/drawing/2014/main" id="{D7E43C41-0D0A-BC52-57BE-0829D8E3CD18}"/>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1672522-718F-5A4A-A967-5C1A35706813}" type="slidenum">
              <a:rPr kumimoji="0" lang="en-US" sz="1000" b="1" i="0" u="none" strike="noStrike" kern="1200" cap="none" spc="0" normalizeH="0" baseline="0" noProof="0" smtClean="0">
                <a:ln>
                  <a:noFill/>
                </a:ln>
                <a:solidFill>
                  <a:srgbClr val="44546A"/>
                </a:solidFill>
                <a:effectLst/>
                <a:uLnTx/>
                <a:uFillTx/>
                <a:latin typeface="Arial" panose="020B06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1000" b="1" i="0" u="none" strike="noStrike" kern="1200" cap="none" spc="0" normalizeH="0" baseline="0" noProof="0">
              <a:ln>
                <a:noFill/>
              </a:ln>
              <a:solidFill>
                <a:srgbClr val="44546A"/>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58BC5101-3308-DB45-7F6A-9C4767912A75}"/>
              </a:ext>
            </a:extLst>
          </p:cNvPr>
          <p:cNvSpPr txBox="1"/>
          <p:nvPr/>
        </p:nvSpPr>
        <p:spPr>
          <a:xfrm>
            <a:off x="0" y="4781964"/>
            <a:ext cx="5727471" cy="1477328"/>
          </a:xfrm>
          <a:prstGeom prst="rect">
            <a:avLst/>
          </a:prstGeom>
          <a:noFill/>
        </p:spPr>
        <p:txBody>
          <a:bodyPr wrap="square">
            <a:spAutoFit/>
          </a:bodyPr>
          <a:lstStyle/>
          <a:p>
            <a:pPr marL="52388" marR="0" lvl="1"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44546A"/>
                </a:solidFill>
                <a:effectLst/>
                <a:uLnTx/>
                <a:uFillTx/>
                <a:latin typeface="Arial" panose="020B0604020202020204"/>
                <a:ea typeface="+mn-ea"/>
                <a:cs typeface="+mn-cs"/>
              </a:rPr>
              <a:t>“Obviously, a gun store is not traditionally thought of as a place where you go to talk about mental health. But you have this brochure in front of you, and that opens things up... we've had multiple conversations that are beneficial for all.” - Gun Shop Owner </a:t>
            </a:r>
          </a:p>
        </p:txBody>
      </p:sp>
      <p:sp>
        <p:nvSpPr>
          <p:cNvPr id="9" name="TextBox 8">
            <a:extLst>
              <a:ext uri="{FF2B5EF4-FFF2-40B4-BE49-F238E27FC236}">
                <a16:creationId xmlns:a16="http://schemas.microsoft.com/office/drawing/2014/main" id="{68502C64-9F84-E3FE-62F5-07C767D490E6}"/>
              </a:ext>
            </a:extLst>
          </p:cNvPr>
          <p:cNvSpPr txBox="1"/>
          <p:nvPr/>
        </p:nvSpPr>
        <p:spPr>
          <a:xfrm>
            <a:off x="6047232" y="4857725"/>
            <a:ext cx="5920355" cy="1200329"/>
          </a:xfrm>
          <a:prstGeom prst="rect">
            <a:avLst/>
          </a:prstGeom>
          <a:noFill/>
        </p:spPr>
        <p:txBody>
          <a:bodyPr wrap="square">
            <a:spAutoFit/>
          </a:bodyPr>
          <a:lstStyle/>
          <a:p>
            <a:pPr marL="457200" marR="0" lvl="1" indent="0" algn="ctr" defTabSz="914400" rtl="0" eaLnBrk="1" fontAlgn="auto" latinLnBrk="0" hangingPunct="1">
              <a:lnSpc>
                <a:spcPct val="100000"/>
              </a:lnSpc>
              <a:spcBef>
                <a:spcPts val="0"/>
              </a:spcBef>
              <a:spcAft>
                <a:spcPts val="0"/>
              </a:spcAft>
              <a:buClrTx/>
              <a:buSzTx/>
              <a:buFontTx/>
              <a:buNone/>
              <a:tabLst/>
              <a:defRPr/>
            </a:pPr>
            <a:r>
              <a:rPr kumimoji="0" lang="en-US" sz="1800" b="0" i="1" u="none" strike="noStrike" kern="1200" cap="none" spc="0" normalizeH="0" baseline="0" noProof="0" dirty="0">
                <a:ln>
                  <a:noFill/>
                </a:ln>
                <a:solidFill>
                  <a:srgbClr val="44546A"/>
                </a:solidFill>
                <a:effectLst/>
                <a:uLnTx/>
                <a:uFillTx/>
                <a:latin typeface="Arial" panose="020B0604020202020204"/>
                <a:ea typeface="+mn-ea"/>
                <a:cs typeface="+mn-cs"/>
              </a:rPr>
              <a:t>“The PLF program had a huge impact on me. ... I no longer store my loaded firearms by my bedside and my wife is now on my safety plan. She is glad to be part of my treatment.” - Lived Experience Peer </a:t>
            </a:r>
          </a:p>
        </p:txBody>
      </p:sp>
    </p:spTree>
    <p:extLst>
      <p:ext uri="{BB962C8B-B14F-4D97-AF65-F5344CB8AC3E}">
        <p14:creationId xmlns:p14="http://schemas.microsoft.com/office/powerpoint/2010/main" val="260111788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LANGUAGE_ID" val="1033"/>
  <p:tag name="EE4P_STYLE_ID" val="6cd991bf-f022-4378-96e7-2c338aeb3f5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Tenjo8i3HuRM573PfLSFA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VA Templat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670CDE65625E449B41BBE9E2A9D6E5A" ma:contentTypeVersion="14" ma:contentTypeDescription="Create a new document." ma:contentTypeScope="" ma:versionID="8b6d79dcc5f754c7cfb59536e3674b4c">
  <xsd:schema xmlns:xsd="http://www.w3.org/2001/XMLSchema" xmlns:xs="http://www.w3.org/2001/XMLSchema" xmlns:p="http://schemas.microsoft.com/office/2006/metadata/properties" xmlns:ns2="46ade7e5-a61b-41ef-8b65-1672892065de" xmlns:ns3="6fd99b86-a2da-47ef-ab26-55e7009dfe6e" targetNamespace="http://schemas.microsoft.com/office/2006/metadata/properties" ma:root="true" ma:fieldsID="64eb71bd406154cbfd68acd3ef293514" ns2:_="" ns3:_="">
    <xsd:import namespace="46ade7e5-a61b-41ef-8b65-1672892065de"/>
    <xsd:import namespace="6fd99b86-a2da-47ef-ab26-55e7009dfe6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Topic"/>
                <xsd:element ref="ns2:DocumentType"/>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PageReferenc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6ade7e5-a61b-41ef-8b65-1672892065d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Topic" ma:index="12" ma:displayName="Topic" ma:format="Dropdown" ma:internalName="Topic">
      <xsd:simpleType>
        <xsd:restriction base="dms:Choice">
          <xsd:enumeration value="Animal Research"/>
          <xsd:enumeration value="Artificial Intelligence (AI)"/>
          <xsd:enumeration value="Budget"/>
          <xsd:enumeration value="Cannabis"/>
          <xsd:enumeration value="Centers"/>
          <xsd:enumeration value="Clinical Trials"/>
          <xsd:enumeration value="Community Care"/>
          <xsd:enumeration value="Congress"/>
          <xsd:enumeration value="COVID"/>
          <xsd:enumeration value="Enterprise Transformation"/>
          <xsd:enumeration value="General ORD"/>
          <xsd:enumeration value="Mental Health"/>
          <xsd:enumeration value="Mortality Data"/>
          <xsd:enumeration value="MVP"/>
          <xsd:enumeration value="NRAC"/>
          <xsd:enumeration value="Precision Oncology"/>
          <xsd:enumeration value="Psychedelics"/>
          <xsd:enumeration value="Rural Health"/>
          <xsd:enumeration value="Spinal Cord Injury (SCI)"/>
          <xsd:enumeration value="Suicide Prevention"/>
          <xsd:enumeration value="Traumatic Brain Injury (TBI)"/>
          <xsd:enumeration value="Technology Transfer Program"/>
          <xsd:enumeration value="Toxic Exposure - MERP"/>
          <xsd:enumeration value="VA Secretary"/>
          <xsd:enumeration value="VHA USH"/>
          <xsd:enumeration value="Women’s Health – Maternity and Infertility"/>
        </xsd:restriction>
      </xsd:simpleType>
    </xsd:element>
    <xsd:element name="DocumentType" ma:index="13" ma:displayName="Document Type" ma:format="Dropdown" ma:internalName="DocumentType">
      <xsd:simpleType>
        <xsd:restriction base="dms:Choice">
          <xsd:enumeration value="Briefing Papers - Congress"/>
          <xsd:enumeration value="Briefing Papers - VA-VHA"/>
          <xsd:enumeration value="Briefing Papers - Other"/>
          <xsd:enumeration value="Budget Justification"/>
          <xsd:enumeration value="GAO"/>
          <xsd:enumeration value="Mandated Congressional Reports"/>
          <xsd:enumeration value="News Articles"/>
          <xsd:enumeration value="Press Releases"/>
          <xsd:enumeration value="Publications-Studies"/>
          <xsd:enumeration value="RFA"/>
          <xsd:enumeration value="RFI - Congress"/>
          <xsd:enumeration value="Slide Presentations"/>
          <xsd:enumeration value="Talking Points - Congress"/>
          <xsd:enumeration value="Testimony - Congress Speeches"/>
          <xsd:enumeration value="Talking Points - VA-VHA"/>
          <xsd:enumeration value="Talking Points - Other"/>
          <xsd:enumeration value="Other-Misc Documents"/>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0ac6538-d41a-4f9a-bd67-5f7ae81a6d74"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PageReference" ma:index="21" nillable="true" ma:displayName="Page Reference" ma:description="provide a page reference for longer documents" ma:format="Dropdown" ma:internalName="PageReferenc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fd99b86-a2da-47ef-ab26-55e7009dfe6e"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736d572-348b-4845-bc48-0c7ae7dc85c2}" ma:internalName="TaxCatchAll" ma:showField="CatchAllData" ma:web="6fd99b86-a2da-47ef-ab26-55e7009dfe6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6fd99b86-a2da-47ef-ab26-55e7009dfe6e" xsi:nil="true"/>
    <lcf76f155ced4ddcb4097134ff3c332f xmlns="46ade7e5-a61b-41ef-8b65-1672892065de">
      <Terms xmlns="http://schemas.microsoft.com/office/infopath/2007/PartnerControls"/>
    </lcf76f155ced4ddcb4097134ff3c332f>
    <DocumentType xmlns="46ade7e5-a61b-41ef-8b65-1672892065de">Slide Presentations</DocumentType>
    <Topic xmlns="46ade7e5-a61b-41ef-8b65-1672892065de">Suicide Prevention</Topic>
    <PageReference xmlns="46ade7e5-a61b-41ef-8b65-1672892065de" xsi:nil="true"/>
  </documentManagement>
</p:properties>
</file>

<file path=customXml/itemProps1.xml><?xml version="1.0" encoding="utf-8"?>
<ds:datastoreItem xmlns:ds="http://schemas.openxmlformats.org/officeDocument/2006/customXml" ds:itemID="{A31179A3-1231-42BF-9352-2B1FEC761025}">
  <ds:schemaRefs>
    <ds:schemaRef ds:uri="http://schemas.microsoft.com/sharepoint/v3/contenttype/forms"/>
  </ds:schemaRefs>
</ds:datastoreItem>
</file>

<file path=customXml/itemProps2.xml><?xml version="1.0" encoding="utf-8"?>
<ds:datastoreItem xmlns:ds="http://schemas.openxmlformats.org/officeDocument/2006/customXml" ds:itemID="{3AF47164-203E-4D51-ABBC-CAB6203DAD94}"/>
</file>

<file path=customXml/itemProps3.xml><?xml version="1.0" encoding="utf-8"?>
<ds:datastoreItem xmlns:ds="http://schemas.openxmlformats.org/officeDocument/2006/customXml" ds:itemID="{6419B3B8-B429-45BE-88B0-8FFAC23B77D9}">
  <ds:schemaRefs>
    <ds:schemaRef ds:uri="http://purl.org/dc/terms/"/>
    <ds:schemaRef ds:uri="http://schemas.microsoft.com/office/2006/documentManagement/types"/>
    <ds:schemaRef ds:uri="http://purl.org/dc/elements/1.1/"/>
    <ds:schemaRef ds:uri="http://schemas.microsoft.com/office/infopath/2007/PartnerControls"/>
    <ds:schemaRef ds:uri="http://schemas.microsoft.com/sharepoint/v3"/>
    <ds:schemaRef ds:uri="http://purl.org/dc/dcmitype/"/>
    <ds:schemaRef ds:uri="http://schemas.openxmlformats.org/package/2006/metadata/core-properties"/>
    <ds:schemaRef ds:uri="50f0e209-8335-4762-bc61-35d878d3e9d9"/>
    <ds:schemaRef ds:uri="6aa70152-e7f0-4492-8b74-233e905943de"/>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e95f1b23-abaf-45ee-821d-b7ab251ab3bf}" enabled="0" method="" siteId="{e95f1b23-abaf-45ee-821d-b7ab251ab3bf}" removed="1"/>
</clbl:labelList>
</file>

<file path=docProps/app.xml><?xml version="1.0" encoding="utf-8"?>
<Properties xmlns="http://schemas.openxmlformats.org/officeDocument/2006/extended-properties" xmlns:vt="http://schemas.openxmlformats.org/officeDocument/2006/docPropsVTypes">
  <TotalTime>46855</TotalTime>
  <Words>3454</Words>
  <Application>Microsoft Office PowerPoint</Application>
  <PresentationFormat>Widescreen</PresentationFormat>
  <Paragraphs>375</Paragraphs>
  <Slides>31</Slides>
  <Notes>10</Notes>
  <HiddenSlides>0</HiddenSlides>
  <MMClips>0</MMClips>
  <ScaleCrop>false</ScaleCrop>
  <HeadingPairs>
    <vt:vector size="8" baseType="variant">
      <vt:variant>
        <vt:lpstr>Fonts Used</vt:lpstr>
      </vt:variant>
      <vt:variant>
        <vt:i4>9</vt:i4>
      </vt:variant>
      <vt:variant>
        <vt:lpstr>Theme</vt:lpstr>
      </vt:variant>
      <vt:variant>
        <vt:i4>3</vt:i4>
      </vt:variant>
      <vt:variant>
        <vt:lpstr>Embedded OLE Servers</vt:lpstr>
      </vt:variant>
      <vt:variant>
        <vt:i4>1</vt:i4>
      </vt:variant>
      <vt:variant>
        <vt:lpstr>Slide Titles</vt:lpstr>
      </vt:variant>
      <vt:variant>
        <vt:i4>31</vt:i4>
      </vt:variant>
    </vt:vector>
  </HeadingPairs>
  <TitlesOfParts>
    <vt:vector size="44" baseType="lpstr">
      <vt:lpstr>Aptos</vt:lpstr>
      <vt:lpstr>Arial</vt:lpstr>
      <vt:lpstr>Arial Bold</vt:lpstr>
      <vt:lpstr>Calibri</vt:lpstr>
      <vt:lpstr>Calibri Light</vt:lpstr>
      <vt:lpstr>Courier New</vt:lpstr>
      <vt:lpstr>Georgia</vt:lpstr>
      <vt:lpstr>Times New Roman</vt:lpstr>
      <vt:lpstr>Wingdings</vt:lpstr>
      <vt:lpstr>VA Template</vt:lpstr>
      <vt:lpstr>1_VA Template</vt:lpstr>
      <vt:lpstr>1_Office Theme</vt:lpstr>
      <vt:lpstr>think-cell Slide</vt:lpstr>
      <vt:lpstr>Suicide Prevention AMP </vt:lpstr>
      <vt:lpstr>PowerPoint Presentation</vt:lpstr>
      <vt:lpstr>PowerPoint Presentation</vt:lpstr>
      <vt:lpstr>PowerPoint Presentation</vt:lpstr>
      <vt:lpstr>PowerPoint Presentation</vt:lpstr>
      <vt:lpstr>ORD Investigators, Scientific Review and Management (ISRM)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On the Horizon: Suicide Prevention in the Community</vt:lpstr>
      <vt:lpstr>PowerPoint Presentation</vt:lpstr>
      <vt:lpstr>PowerPoint Presentation</vt:lpstr>
      <vt:lpstr>PowerPoint Presentation</vt:lpstr>
      <vt:lpstr>PowerPoint Presentation</vt:lpstr>
      <vt:lpstr>PowerPoint Presentation</vt:lpstr>
      <vt:lpstr>PowerPoint Presentation</vt:lpstr>
      <vt:lpstr>Suicide Prevention Research Impact NeTwork </vt:lpstr>
      <vt:lpstr>PowerPoint Presentation</vt:lpstr>
      <vt:lpstr>PowerPoint Presentation</vt:lpstr>
      <vt:lpstr>Q&amp;A</vt:lpstr>
      <vt:lpstr>PowerPoint Presentation</vt:lpstr>
      <vt:lpstr>PowerPoint Presentation</vt:lpstr>
      <vt:lpstr>Strategic Roadmap to Precision Medicine Approaches</vt:lpstr>
      <vt:lpstr>Suicide Prevention –Transitioning Service Members</vt:lpstr>
      <vt:lpstr>Suicide Prevention – Virtual Access to Care</vt:lpstr>
      <vt:lpstr>Suicide Prevention - Lethal Means Safety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Suicide Prevention AMP</dc:title>
  <dc:creator>Constans, Joseph (VACO)</dc:creator>
  <cp:lastModifiedBy>Reger, Mark A (Puget Sound)</cp:lastModifiedBy>
  <cp:revision>38</cp:revision>
  <cp:lastPrinted>2000-01-01T05:00:00Z</cp:lastPrinted>
  <dcterms:created xsi:type="dcterms:W3CDTF">2024-01-05T16:40:11Z</dcterms:created>
  <dcterms:modified xsi:type="dcterms:W3CDTF">2026-03-17T21:20:02Z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f97ea9d-daff-4c91-a4f1-55d953dbb0fc_Enabled">
    <vt:lpwstr>true</vt:lpwstr>
  </property>
  <property fmtid="{D5CDD505-2E9C-101B-9397-08002B2CF9AE}" pid="3" name="MSIP_Label_7f97ea9d-daff-4c91-a4f1-55d953dbb0fc_SetDate">
    <vt:lpwstr>2024-01-05T19:26:49Z</vt:lpwstr>
  </property>
  <property fmtid="{D5CDD505-2E9C-101B-9397-08002B2CF9AE}" pid="4" name="MSIP_Label_7f97ea9d-daff-4c91-a4f1-55d953dbb0fc_Method">
    <vt:lpwstr>Standard</vt:lpwstr>
  </property>
  <property fmtid="{D5CDD505-2E9C-101B-9397-08002B2CF9AE}" pid="5" name="MSIP_Label_7f97ea9d-daff-4c91-a4f1-55d953dbb0fc_Name">
    <vt:lpwstr>Public</vt:lpwstr>
  </property>
  <property fmtid="{D5CDD505-2E9C-101B-9397-08002B2CF9AE}" pid="6" name="MSIP_Label_7f97ea9d-daff-4c91-a4f1-55d953dbb0fc_SiteId">
    <vt:lpwstr>58196b33-812d-4eb0-ad27-fc2dd9de53eb</vt:lpwstr>
  </property>
  <property fmtid="{D5CDD505-2E9C-101B-9397-08002B2CF9AE}" pid="7" name="MSIP_Label_7f97ea9d-daff-4c91-a4f1-55d953dbb0fc_ActionId">
    <vt:lpwstr>30c2d5b4-195d-460b-8a3c-2420f4a14c9c</vt:lpwstr>
  </property>
  <property fmtid="{D5CDD505-2E9C-101B-9397-08002B2CF9AE}" pid="8" name="MSIP_Label_7f97ea9d-daff-4c91-a4f1-55d953dbb0fc_ContentBits">
    <vt:lpwstr>0</vt:lpwstr>
  </property>
  <property fmtid="{D5CDD505-2E9C-101B-9397-08002B2CF9AE}" pid="9" name="ContentTypeId">
    <vt:lpwstr>0x010100F670CDE65625E449B41BBE9E2A9D6E5A</vt:lpwstr>
  </property>
  <property fmtid="{D5CDD505-2E9C-101B-9397-08002B2CF9AE}" pid="10" name="MediaServiceImageTags">
    <vt:lpwstr/>
  </property>
</Properties>
</file>