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 id="2147483683" r:id="rId5"/>
    <p:sldMasterId id="2147483693" r:id="rId6"/>
  </p:sldMasterIdLst>
  <p:notesMasterIdLst>
    <p:notesMasterId r:id="rId34"/>
  </p:notesMasterIdLst>
  <p:sldIdLst>
    <p:sldId id="1062" r:id="rId7"/>
    <p:sldId id="2134805993" r:id="rId8"/>
    <p:sldId id="5090" r:id="rId9"/>
    <p:sldId id="5082" r:id="rId10"/>
    <p:sldId id="5089" r:id="rId11"/>
    <p:sldId id="2134805990" r:id="rId12"/>
    <p:sldId id="2134805985" r:id="rId13"/>
    <p:sldId id="2134805997" r:id="rId14"/>
    <p:sldId id="5076" r:id="rId15"/>
    <p:sldId id="2134805980" r:id="rId16"/>
    <p:sldId id="498" r:id="rId17"/>
    <p:sldId id="2134805996" r:id="rId18"/>
    <p:sldId id="2134805994" r:id="rId19"/>
    <p:sldId id="905996148" r:id="rId20"/>
    <p:sldId id="2134805998" r:id="rId21"/>
    <p:sldId id="905996151" r:id="rId22"/>
    <p:sldId id="2134805995" r:id="rId23"/>
    <p:sldId id="5067" r:id="rId24"/>
    <p:sldId id="5069" r:id="rId25"/>
    <p:sldId id="5077" r:id="rId26"/>
    <p:sldId id="2134805999" r:id="rId27"/>
    <p:sldId id="5091" r:id="rId28"/>
    <p:sldId id="2134805992" r:id="rId29"/>
    <p:sldId id="2134805989" r:id="rId30"/>
    <p:sldId id="5078" r:id="rId31"/>
    <p:sldId id="5074" r:id="rId32"/>
    <p:sldId id="213480598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A60440-09A9-F157-DAA3-E713D1A4BB91}" name="Michael Tipsword" initials="MT" userId="S::michaeltipsword@cvpcorp.com::823ba2c3-9279-4a85-b63a-8cf1d06664ce" providerId="AD"/>
  <p188:author id="{1CCC3B4D-5E73-2355-7036-A9B7F91E1ACA}" name="Jeremiah Lau" initials="JL" userId="S::jeremiahlau@cvpcorp.com::1ae5cd28-a438-4305-847e-a1a222b7c029" providerId="AD"/>
  <p188:author id="{1D572365-DCA0-3143-06A2-2556868D463D}" name="Cohen, Shakeria L." initials="CSL" userId="S::Shakeria.Cohen@va.gov::494538ae-6004-4020-89ee-6fd29b275a2c" providerId="AD"/>
  <p188:author id="{811FEC9C-0B5C-B0CE-84BA-A6E3B2EFA6E6}" name="Lindheimer, Jacob B." initials="LB" userId="S::jacob.lindheimer@va.gov::97c2af6d-cfef-4cf3-92ad-27fe52123f09" providerId="AD"/>
  <p188:author id="{02EF26FB-9200-57D9-2F2B-251886DE8E9B}" name="Upchurch, Julie A., DVAHCS" initials="UJAD" userId="S::Julie.Upchurch@va.gov::8f88a512-78f8-4c13-84fc-1b8ca5ad36ab" providerId="AD"/>
  <p188:author id="{9A8AD3FC-E7ED-8E75-F683-84A7D554F4D8}" name="Alli Schulman" initials="AS" userId="S::allischulman@cvpcorp.com::2d069229-c71e-48ad-902f-61067a4c9c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6F72"/>
    <a:srgbClr val="EDEEEF"/>
    <a:srgbClr val="002F56"/>
    <a:srgbClr val="CDCE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AE7D33-CDCA-434D-A9AB-027ED9C3C121}" v="4" dt="2024-03-12T15:52:08.6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91" autoAdjust="0"/>
    <p:restoredTop sz="93333" autoAdjust="0"/>
  </p:normalViewPr>
  <p:slideViewPr>
    <p:cSldViewPr snapToGrid="0">
      <p:cViewPr varScale="1">
        <p:scale>
          <a:sx n="89" d="100"/>
          <a:sy n="89" d="100"/>
        </p:scale>
        <p:origin x="956" y="68"/>
      </p:cViewPr>
      <p:guideLst/>
    </p:cSldViewPr>
  </p:slideViewPr>
  <p:outlineViewPr>
    <p:cViewPr>
      <p:scale>
        <a:sx n="33" d="100"/>
        <a:sy n="33" d="100"/>
      </p:scale>
      <p:origin x="0" y="-171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Lau" userId="1ae5cd28-a438-4305-847e-a1a222b7c029" providerId="ADAL" clId="{970AB29B-B54D-4D11-95FB-FBD9A82CC8BD}"/>
    <pc:docChg chg="undo custSel modSld">
      <pc:chgData name="Jeremiah Lau" userId="1ae5cd28-a438-4305-847e-a1a222b7c029" providerId="ADAL" clId="{970AB29B-B54D-4D11-95FB-FBD9A82CC8BD}" dt="2024-02-29T13:52:06.687" v="176" actId="1037"/>
      <pc:docMkLst>
        <pc:docMk/>
      </pc:docMkLst>
      <pc:sldChg chg="modSp mod">
        <pc:chgData name="Jeremiah Lau" userId="1ae5cd28-a438-4305-847e-a1a222b7c029" providerId="ADAL" clId="{970AB29B-B54D-4D11-95FB-FBD9A82CC8BD}" dt="2024-02-29T13:52:06.687" v="176" actId="1037"/>
        <pc:sldMkLst>
          <pc:docMk/>
          <pc:sldMk cId="3025471012" sldId="498"/>
        </pc:sldMkLst>
        <pc:spChg chg="mod">
          <ac:chgData name="Jeremiah Lau" userId="1ae5cd28-a438-4305-847e-a1a222b7c029" providerId="ADAL" clId="{970AB29B-B54D-4D11-95FB-FBD9A82CC8BD}" dt="2024-02-29T13:51:55.852" v="173" actId="1076"/>
          <ac:spMkLst>
            <pc:docMk/>
            <pc:sldMk cId="3025471012" sldId="498"/>
            <ac:spMk id="2" creationId="{57D4985A-841B-4878-AEF7-C907E2C34486}"/>
          </ac:spMkLst>
        </pc:spChg>
        <pc:spChg chg="mod">
          <ac:chgData name="Jeremiah Lau" userId="1ae5cd28-a438-4305-847e-a1a222b7c029" providerId="ADAL" clId="{970AB29B-B54D-4D11-95FB-FBD9A82CC8BD}" dt="2024-02-29T13:51:40.580" v="169" actId="1076"/>
          <ac:spMkLst>
            <pc:docMk/>
            <pc:sldMk cId="3025471012" sldId="498"/>
            <ac:spMk id="6" creationId="{A9A00714-89A5-4742-AF08-9ABCD4FEE737}"/>
          </ac:spMkLst>
        </pc:spChg>
        <pc:spChg chg="mod">
          <ac:chgData name="Jeremiah Lau" userId="1ae5cd28-a438-4305-847e-a1a222b7c029" providerId="ADAL" clId="{970AB29B-B54D-4D11-95FB-FBD9A82CC8BD}" dt="2024-02-29T13:52:06.687" v="176" actId="1037"/>
          <ac:spMkLst>
            <pc:docMk/>
            <pc:sldMk cId="3025471012" sldId="498"/>
            <ac:spMk id="11" creationId="{E99A0A36-4654-4496-86A7-D5C8213EFA3D}"/>
          </ac:spMkLst>
        </pc:spChg>
        <pc:spChg chg="mod">
          <ac:chgData name="Jeremiah Lau" userId="1ae5cd28-a438-4305-847e-a1a222b7c029" providerId="ADAL" clId="{970AB29B-B54D-4D11-95FB-FBD9A82CC8BD}" dt="2024-02-29T13:45:24.971" v="80" actId="20577"/>
          <ac:spMkLst>
            <pc:docMk/>
            <pc:sldMk cId="3025471012" sldId="498"/>
            <ac:spMk id="13" creationId="{CFDDD29D-2C5D-4767-A365-001A8FE4225C}"/>
          </ac:spMkLst>
        </pc:spChg>
        <pc:spChg chg="mod">
          <ac:chgData name="Jeremiah Lau" userId="1ae5cd28-a438-4305-847e-a1a222b7c029" providerId="ADAL" clId="{970AB29B-B54D-4D11-95FB-FBD9A82CC8BD}" dt="2024-02-29T13:45:30.415" v="81" actId="14100"/>
          <ac:spMkLst>
            <pc:docMk/>
            <pc:sldMk cId="3025471012" sldId="498"/>
            <ac:spMk id="14" creationId="{96F6BFC8-C015-4191-ACC3-E20A62BAD90C}"/>
          </ac:spMkLst>
        </pc:spChg>
      </pc:sldChg>
      <pc:sldChg chg="modSp mod">
        <pc:chgData name="Jeremiah Lau" userId="1ae5cd28-a438-4305-847e-a1a222b7c029" providerId="ADAL" clId="{970AB29B-B54D-4D11-95FB-FBD9A82CC8BD}" dt="2024-02-29T13:49:08.179" v="132" actId="20577"/>
        <pc:sldMkLst>
          <pc:docMk/>
          <pc:sldMk cId="3132398144" sldId="5068"/>
        </pc:sldMkLst>
        <pc:spChg chg="mod">
          <ac:chgData name="Jeremiah Lau" userId="1ae5cd28-a438-4305-847e-a1a222b7c029" providerId="ADAL" clId="{970AB29B-B54D-4D11-95FB-FBD9A82CC8BD}" dt="2024-02-29T13:49:06.512" v="131" actId="20577"/>
          <ac:spMkLst>
            <pc:docMk/>
            <pc:sldMk cId="3132398144" sldId="5068"/>
            <ac:spMk id="6" creationId="{18FBA53A-1A3C-627F-936D-D5AA29D81320}"/>
          </ac:spMkLst>
        </pc:spChg>
        <pc:spChg chg="mod">
          <ac:chgData name="Jeremiah Lau" userId="1ae5cd28-a438-4305-847e-a1a222b7c029" providerId="ADAL" clId="{970AB29B-B54D-4D11-95FB-FBD9A82CC8BD}" dt="2024-02-29T13:49:08.179" v="132" actId="20577"/>
          <ac:spMkLst>
            <pc:docMk/>
            <pc:sldMk cId="3132398144" sldId="5068"/>
            <ac:spMk id="13" creationId="{9ED775E6-2FA2-1321-B809-15C1640F93C2}"/>
          </ac:spMkLst>
        </pc:spChg>
        <pc:spChg chg="mod">
          <ac:chgData name="Jeremiah Lau" userId="1ae5cd28-a438-4305-847e-a1a222b7c029" providerId="ADAL" clId="{970AB29B-B54D-4D11-95FB-FBD9A82CC8BD}" dt="2024-02-29T13:49:04.705" v="130" actId="20577"/>
          <ac:spMkLst>
            <pc:docMk/>
            <pc:sldMk cId="3132398144" sldId="5068"/>
            <ac:spMk id="22" creationId="{15F89AD3-A46C-90FF-AF3A-2D0D4728C52D}"/>
          </ac:spMkLst>
        </pc:spChg>
      </pc:sldChg>
      <pc:sldChg chg="modSp mod">
        <pc:chgData name="Jeremiah Lau" userId="1ae5cd28-a438-4305-847e-a1a222b7c029" providerId="ADAL" clId="{970AB29B-B54D-4D11-95FB-FBD9A82CC8BD}" dt="2024-02-29T13:50:22.453" v="160" actId="1035"/>
        <pc:sldMkLst>
          <pc:docMk/>
          <pc:sldMk cId="1118602265" sldId="5069"/>
        </pc:sldMkLst>
        <pc:spChg chg="mod">
          <ac:chgData name="Jeremiah Lau" userId="1ae5cd28-a438-4305-847e-a1a222b7c029" providerId="ADAL" clId="{970AB29B-B54D-4D11-95FB-FBD9A82CC8BD}" dt="2024-02-29T13:50:22.453" v="160" actId="1035"/>
          <ac:spMkLst>
            <pc:docMk/>
            <pc:sldMk cId="1118602265" sldId="5069"/>
            <ac:spMk id="11" creationId="{E99A0A36-4654-4496-86A7-D5C8213EFA3D}"/>
          </ac:spMkLst>
        </pc:spChg>
        <pc:spChg chg="mod">
          <ac:chgData name="Jeremiah Lau" userId="1ae5cd28-a438-4305-847e-a1a222b7c029" providerId="ADAL" clId="{970AB29B-B54D-4D11-95FB-FBD9A82CC8BD}" dt="2024-02-29T13:50:07.599" v="154" actId="14100"/>
          <ac:spMkLst>
            <pc:docMk/>
            <pc:sldMk cId="1118602265" sldId="5069"/>
            <ac:spMk id="13" creationId="{CFDDD29D-2C5D-4767-A365-001A8FE4225C}"/>
          </ac:spMkLst>
        </pc:spChg>
      </pc:sldChg>
      <pc:sldChg chg="modSp mod">
        <pc:chgData name="Jeremiah Lau" userId="1ae5cd28-a438-4305-847e-a1a222b7c029" providerId="ADAL" clId="{970AB29B-B54D-4D11-95FB-FBD9A82CC8BD}" dt="2024-02-29T13:38:07.392" v="27" actId="207"/>
        <pc:sldMkLst>
          <pc:docMk/>
          <pc:sldMk cId="3493811714" sldId="5074"/>
        </pc:sldMkLst>
        <pc:spChg chg="mod">
          <ac:chgData name="Jeremiah Lau" userId="1ae5cd28-a438-4305-847e-a1a222b7c029" providerId="ADAL" clId="{970AB29B-B54D-4D11-95FB-FBD9A82CC8BD}" dt="2024-02-29T13:37:08.516" v="15" actId="14100"/>
          <ac:spMkLst>
            <pc:docMk/>
            <pc:sldMk cId="3493811714" sldId="5074"/>
            <ac:spMk id="7" creationId="{51CE89FA-C17D-48E3-ADB5-7CDE7BE5BA0C}"/>
          </ac:spMkLst>
        </pc:spChg>
        <pc:spChg chg="mod">
          <ac:chgData name="Jeremiah Lau" userId="1ae5cd28-a438-4305-847e-a1a222b7c029" providerId="ADAL" clId="{970AB29B-B54D-4D11-95FB-FBD9A82CC8BD}" dt="2024-02-29T13:37:17.916" v="22" actId="20577"/>
          <ac:spMkLst>
            <pc:docMk/>
            <pc:sldMk cId="3493811714" sldId="5074"/>
            <ac:spMk id="8" creationId="{5FFA24F2-FDC5-4276-A235-B234F762FF98}"/>
          </ac:spMkLst>
        </pc:spChg>
        <pc:graphicFrameChg chg="modGraphic">
          <ac:chgData name="Jeremiah Lau" userId="1ae5cd28-a438-4305-847e-a1a222b7c029" providerId="ADAL" clId="{970AB29B-B54D-4D11-95FB-FBD9A82CC8BD}" dt="2024-02-29T13:38:03.158" v="26" actId="207"/>
          <ac:graphicFrameMkLst>
            <pc:docMk/>
            <pc:sldMk cId="3493811714" sldId="5074"/>
            <ac:graphicFrameMk id="2" creationId="{BECE6DBB-0C6D-7443-2E19-D0811F506515}"/>
          </ac:graphicFrameMkLst>
        </pc:graphicFrameChg>
        <pc:graphicFrameChg chg="modGraphic">
          <ac:chgData name="Jeremiah Lau" userId="1ae5cd28-a438-4305-847e-a1a222b7c029" providerId="ADAL" clId="{970AB29B-B54D-4D11-95FB-FBD9A82CC8BD}" dt="2024-02-29T13:38:07.392" v="27" actId="207"/>
          <ac:graphicFrameMkLst>
            <pc:docMk/>
            <pc:sldMk cId="3493811714" sldId="5074"/>
            <ac:graphicFrameMk id="4" creationId="{2669AF6E-4EF9-A684-17DA-DED586836E12}"/>
          </ac:graphicFrameMkLst>
        </pc:graphicFrameChg>
      </pc:sldChg>
      <pc:sldChg chg="modSp mod">
        <pc:chgData name="Jeremiah Lau" userId="1ae5cd28-a438-4305-847e-a1a222b7c029" providerId="ADAL" clId="{970AB29B-B54D-4D11-95FB-FBD9A82CC8BD}" dt="2024-02-29T13:41:33.847" v="43" actId="20577"/>
        <pc:sldMkLst>
          <pc:docMk/>
          <pc:sldMk cId="2792360516" sldId="5082"/>
        </pc:sldMkLst>
        <pc:spChg chg="mod">
          <ac:chgData name="Jeremiah Lau" userId="1ae5cd28-a438-4305-847e-a1a222b7c029" providerId="ADAL" clId="{970AB29B-B54D-4D11-95FB-FBD9A82CC8BD}" dt="2024-02-29T13:41:33.847" v="43" actId="20577"/>
          <ac:spMkLst>
            <pc:docMk/>
            <pc:sldMk cId="2792360516" sldId="5082"/>
            <ac:spMk id="10" creationId="{AD1C162F-CFEE-3293-C2F3-A6755A380EC6}"/>
          </ac:spMkLst>
        </pc:spChg>
      </pc:sldChg>
      <pc:sldChg chg="modSp mod">
        <pc:chgData name="Jeremiah Lau" userId="1ae5cd28-a438-4305-847e-a1a222b7c029" providerId="ADAL" clId="{970AB29B-B54D-4D11-95FB-FBD9A82CC8BD}" dt="2024-02-29T13:42:28.593" v="55" actId="20577"/>
        <pc:sldMkLst>
          <pc:docMk/>
          <pc:sldMk cId="2815635259" sldId="5089"/>
        </pc:sldMkLst>
        <pc:spChg chg="mod">
          <ac:chgData name="Jeremiah Lau" userId="1ae5cd28-a438-4305-847e-a1a222b7c029" providerId="ADAL" clId="{970AB29B-B54D-4D11-95FB-FBD9A82CC8BD}" dt="2024-02-29T13:36:48.053" v="14" actId="14100"/>
          <ac:spMkLst>
            <pc:docMk/>
            <pc:sldMk cId="2815635259" sldId="5089"/>
            <ac:spMk id="5" creationId="{7880B4A7-D8C6-517E-1F84-51EEE8592B69}"/>
          </ac:spMkLst>
        </pc:spChg>
        <pc:spChg chg="mod">
          <ac:chgData name="Jeremiah Lau" userId="1ae5cd28-a438-4305-847e-a1a222b7c029" providerId="ADAL" clId="{970AB29B-B54D-4D11-95FB-FBD9A82CC8BD}" dt="2024-02-29T13:42:28.593" v="55" actId="20577"/>
          <ac:spMkLst>
            <pc:docMk/>
            <pc:sldMk cId="2815635259" sldId="5089"/>
            <ac:spMk id="10" creationId="{982C2F23-F35E-9C0D-E0BD-0F2B4712B644}"/>
          </ac:spMkLst>
        </pc:spChg>
      </pc:sldChg>
      <pc:sldChg chg="modSp mod">
        <pc:chgData name="Jeremiah Lau" userId="1ae5cd28-a438-4305-847e-a1a222b7c029" providerId="ADAL" clId="{970AB29B-B54D-4D11-95FB-FBD9A82CC8BD}" dt="2024-02-29T13:50:59.461" v="167" actId="20577"/>
        <pc:sldMkLst>
          <pc:docMk/>
          <pc:sldMk cId="2906083321" sldId="905996148"/>
        </pc:sldMkLst>
        <pc:spChg chg="mod">
          <ac:chgData name="Jeremiah Lau" userId="1ae5cd28-a438-4305-847e-a1a222b7c029" providerId="ADAL" clId="{970AB29B-B54D-4D11-95FB-FBD9A82CC8BD}" dt="2024-02-29T13:47:49.191" v="124" actId="207"/>
          <ac:spMkLst>
            <pc:docMk/>
            <pc:sldMk cId="2906083321" sldId="905996148"/>
            <ac:spMk id="2" creationId="{036AB1B4-8D8E-3FE3-9944-B88ED5771989}"/>
          </ac:spMkLst>
        </pc:spChg>
        <pc:spChg chg="mod">
          <ac:chgData name="Jeremiah Lau" userId="1ae5cd28-a438-4305-847e-a1a222b7c029" providerId="ADAL" clId="{970AB29B-B54D-4D11-95FB-FBD9A82CC8BD}" dt="2024-02-29T13:50:59.461" v="167" actId="20577"/>
          <ac:spMkLst>
            <pc:docMk/>
            <pc:sldMk cId="2906083321" sldId="905996148"/>
            <ac:spMk id="5" creationId="{AEE8301D-396A-B33F-864C-4B7A25668CCC}"/>
          </ac:spMkLst>
        </pc:spChg>
        <pc:spChg chg="mod">
          <ac:chgData name="Jeremiah Lau" userId="1ae5cd28-a438-4305-847e-a1a222b7c029" providerId="ADAL" clId="{970AB29B-B54D-4D11-95FB-FBD9A82CC8BD}" dt="2024-02-29T13:50:52.362" v="164" actId="20577"/>
          <ac:spMkLst>
            <pc:docMk/>
            <pc:sldMk cId="2906083321" sldId="905996148"/>
            <ac:spMk id="6" creationId="{E982BE62-3E86-FF4C-78C8-D06254346DF5}"/>
          </ac:spMkLst>
        </pc:spChg>
        <pc:spChg chg="mod">
          <ac:chgData name="Jeremiah Lau" userId="1ae5cd28-a438-4305-847e-a1a222b7c029" providerId="ADAL" clId="{970AB29B-B54D-4D11-95FB-FBD9A82CC8BD}" dt="2024-02-29T13:50:53.477" v="165" actId="20577"/>
          <ac:spMkLst>
            <pc:docMk/>
            <pc:sldMk cId="2906083321" sldId="905996148"/>
            <ac:spMk id="9" creationId="{9D212079-2BB3-B3ED-5A1C-EF8805AB9E1C}"/>
          </ac:spMkLst>
        </pc:spChg>
        <pc:spChg chg="mod">
          <ac:chgData name="Jeremiah Lau" userId="1ae5cd28-a438-4305-847e-a1a222b7c029" providerId="ADAL" clId="{970AB29B-B54D-4D11-95FB-FBD9A82CC8BD}" dt="2024-02-29T13:50:54.404" v="166" actId="20577"/>
          <ac:spMkLst>
            <pc:docMk/>
            <pc:sldMk cId="2906083321" sldId="905996148"/>
            <ac:spMk id="11" creationId="{333407A0-2096-92E4-E3AE-7369C6F10986}"/>
          </ac:spMkLst>
        </pc:spChg>
      </pc:sldChg>
      <pc:sldChg chg="modSp mod">
        <pc:chgData name="Jeremiah Lau" userId="1ae5cd28-a438-4305-847e-a1a222b7c029" providerId="ADAL" clId="{970AB29B-B54D-4D11-95FB-FBD9A82CC8BD}" dt="2024-02-29T13:37:29.290" v="23" actId="14100"/>
        <pc:sldMkLst>
          <pc:docMk/>
          <pc:sldMk cId="862487744" sldId="905996151"/>
        </pc:sldMkLst>
        <pc:spChg chg="mod">
          <ac:chgData name="Jeremiah Lau" userId="1ae5cd28-a438-4305-847e-a1a222b7c029" providerId="ADAL" clId="{970AB29B-B54D-4D11-95FB-FBD9A82CC8BD}" dt="2024-02-29T13:37:29.290" v="23" actId="14100"/>
          <ac:spMkLst>
            <pc:docMk/>
            <pc:sldMk cId="862487744" sldId="905996151"/>
            <ac:spMk id="8" creationId="{83AE34E3-BEC8-1467-8400-9F983F6611B8}"/>
          </ac:spMkLst>
        </pc:spChg>
      </pc:sldChg>
      <pc:sldChg chg="modSp mod">
        <pc:chgData name="Jeremiah Lau" userId="1ae5cd28-a438-4305-847e-a1a222b7c029" providerId="ADAL" clId="{970AB29B-B54D-4D11-95FB-FBD9A82CC8BD}" dt="2024-02-29T13:44:30.726" v="62" actId="207"/>
        <pc:sldMkLst>
          <pc:docMk/>
          <pc:sldMk cId="584608154" sldId="2134805980"/>
        </pc:sldMkLst>
        <pc:spChg chg="mod">
          <ac:chgData name="Jeremiah Lau" userId="1ae5cd28-a438-4305-847e-a1a222b7c029" providerId="ADAL" clId="{970AB29B-B54D-4D11-95FB-FBD9A82CC8BD}" dt="2024-02-29T13:44:10.892" v="59" actId="207"/>
          <ac:spMkLst>
            <pc:docMk/>
            <pc:sldMk cId="584608154" sldId="2134805980"/>
            <ac:spMk id="4" creationId="{7706B8A4-0CF8-F5B9-BB35-CDCF0DAACBBE}"/>
          </ac:spMkLst>
        </pc:spChg>
        <pc:spChg chg="mod">
          <ac:chgData name="Jeremiah Lau" userId="1ae5cd28-a438-4305-847e-a1a222b7c029" providerId="ADAL" clId="{970AB29B-B54D-4D11-95FB-FBD9A82CC8BD}" dt="2024-02-29T13:44:30.726" v="62" actId="207"/>
          <ac:spMkLst>
            <pc:docMk/>
            <pc:sldMk cId="584608154" sldId="2134805980"/>
            <ac:spMk id="5" creationId="{F3D47E5B-892A-0CDC-0FD3-51BB5D5060E4}"/>
          </ac:spMkLst>
        </pc:spChg>
        <pc:spChg chg="mod">
          <ac:chgData name="Jeremiah Lau" userId="1ae5cd28-a438-4305-847e-a1a222b7c029" providerId="ADAL" clId="{970AB29B-B54D-4D11-95FB-FBD9A82CC8BD}" dt="2024-02-29T13:44:25.790" v="61" actId="207"/>
          <ac:spMkLst>
            <pc:docMk/>
            <pc:sldMk cId="584608154" sldId="2134805980"/>
            <ac:spMk id="6" creationId="{02DFD3D3-7802-9E1E-9B1F-C644F5CF73F0}"/>
          </ac:spMkLst>
        </pc:spChg>
      </pc:sldChg>
      <pc:sldChg chg="modSp mod">
        <pc:chgData name="Jeremiah Lau" userId="1ae5cd28-a438-4305-847e-a1a222b7c029" providerId="ADAL" clId="{970AB29B-B54D-4D11-95FB-FBD9A82CC8BD}" dt="2024-02-29T13:38:22.439" v="28" actId="2085"/>
        <pc:sldMkLst>
          <pc:docMk/>
          <pc:sldMk cId="1144925939" sldId="2134805989"/>
        </pc:sldMkLst>
        <pc:spChg chg="mod">
          <ac:chgData name="Jeremiah Lau" userId="1ae5cd28-a438-4305-847e-a1a222b7c029" providerId="ADAL" clId="{970AB29B-B54D-4D11-95FB-FBD9A82CC8BD}" dt="2024-02-29T13:38:22.439" v="28" actId="2085"/>
          <ac:spMkLst>
            <pc:docMk/>
            <pc:sldMk cId="1144925939" sldId="2134805989"/>
            <ac:spMk id="4" creationId="{95E20B06-0DAE-F39C-D62A-8507FE010622}"/>
          </ac:spMkLst>
        </pc:spChg>
        <pc:spChg chg="mod">
          <ac:chgData name="Jeremiah Lau" userId="1ae5cd28-a438-4305-847e-a1a222b7c029" providerId="ADAL" clId="{970AB29B-B54D-4D11-95FB-FBD9A82CC8BD}" dt="2024-02-29T13:38:22.439" v="28" actId="2085"/>
          <ac:spMkLst>
            <pc:docMk/>
            <pc:sldMk cId="1144925939" sldId="2134805989"/>
            <ac:spMk id="6" creationId="{CC1A8379-2531-4E8D-8B23-027643492463}"/>
          </ac:spMkLst>
        </pc:spChg>
        <pc:spChg chg="mod">
          <ac:chgData name="Jeremiah Lau" userId="1ae5cd28-a438-4305-847e-a1a222b7c029" providerId="ADAL" clId="{970AB29B-B54D-4D11-95FB-FBD9A82CC8BD}" dt="2024-02-29T13:38:22.439" v="28" actId="2085"/>
          <ac:spMkLst>
            <pc:docMk/>
            <pc:sldMk cId="1144925939" sldId="2134805989"/>
            <ac:spMk id="13" creationId="{D8D3E22B-D06F-742A-E48F-AFB55FA61CF7}"/>
          </ac:spMkLst>
        </pc:spChg>
      </pc:sldChg>
      <pc:sldChg chg="modSp mod">
        <pc:chgData name="Jeremiah Lau" userId="1ae5cd28-a438-4305-847e-a1a222b7c029" providerId="ADAL" clId="{970AB29B-B54D-4D11-95FB-FBD9A82CC8BD}" dt="2024-02-29T13:40:05.191" v="39" actId="2711"/>
        <pc:sldMkLst>
          <pc:docMk/>
          <pc:sldMk cId="1441978663" sldId="2134805990"/>
        </pc:sldMkLst>
        <pc:spChg chg="mod">
          <ac:chgData name="Jeremiah Lau" userId="1ae5cd28-a438-4305-847e-a1a222b7c029" providerId="ADAL" clId="{970AB29B-B54D-4D11-95FB-FBD9A82CC8BD}" dt="2024-02-29T13:40:05.191" v="39" actId="2711"/>
          <ac:spMkLst>
            <pc:docMk/>
            <pc:sldMk cId="1441978663" sldId="2134805990"/>
            <ac:spMk id="2" creationId="{FE4D8462-6F9F-1CCD-EEF6-B1C7120A5B25}"/>
          </ac:spMkLst>
        </pc:spChg>
        <pc:spChg chg="mod">
          <ac:chgData name="Jeremiah Lau" userId="1ae5cd28-a438-4305-847e-a1a222b7c029" providerId="ADAL" clId="{970AB29B-B54D-4D11-95FB-FBD9A82CC8BD}" dt="2024-02-29T13:39:51.213" v="38" actId="14100"/>
          <ac:spMkLst>
            <pc:docMk/>
            <pc:sldMk cId="1441978663" sldId="2134805990"/>
            <ac:spMk id="6" creationId="{70FD3D45-9FFA-BDE6-4E9A-22A6B3793BD4}"/>
          </ac:spMkLst>
        </pc:spChg>
      </pc:sldChg>
      <pc:sldChg chg="modSp mod">
        <pc:chgData name="Jeremiah Lau" userId="1ae5cd28-a438-4305-847e-a1a222b7c029" providerId="ADAL" clId="{970AB29B-B54D-4D11-95FB-FBD9A82CC8BD}" dt="2024-02-29T13:41:54.490" v="49" actId="20577"/>
        <pc:sldMkLst>
          <pc:docMk/>
          <pc:sldMk cId="3191955764" sldId="2134805993"/>
        </pc:sldMkLst>
        <pc:spChg chg="mod">
          <ac:chgData name="Jeremiah Lau" userId="1ae5cd28-a438-4305-847e-a1a222b7c029" providerId="ADAL" clId="{970AB29B-B54D-4D11-95FB-FBD9A82CC8BD}" dt="2024-02-29T13:38:33.361" v="29" actId="2085"/>
          <ac:spMkLst>
            <pc:docMk/>
            <pc:sldMk cId="3191955764" sldId="2134805993"/>
            <ac:spMk id="4" creationId="{8C502080-E12E-4D94-0B33-4FA61DD86FD0}"/>
          </ac:spMkLst>
        </pc:spChg>
        <pc:spChg chg="mod">
          <ac:chgData name="Jeremiah Lau" userId="1ae5cd28-a438-4305-847e-a1a222b7c029" providerId="ADAL" clId="{970AB29B-B54D-4D11-95FB-FBD9A82CC8BD}" dt="2024-02-29T13:41:54.490" v="49" actId="20577"/>
          <ac:spMkLst>
            <pc:docMk/>
            <pc:sldMk cId="3191955764" sldId="2134805993"/>
            <ac:spMk id="5" creationId="{88235876-4FBD-A608-339F-3C0CA5E69154}"/>
          </ac:spMkLst>
        </pc:spChg>
        <pc:spChg chg="mod">
          <ac:chgData name="Jeremiah Lau" userId="1ae5cd28-a438-4305-847e-a1a222b7c029" providerId="ADAL" clId="{970AB29B-B54D-4D11-95FB-FBD9A82CC8BD}" dt="2024-02-29T13:38:33.361" v="29" actId="2085"/>
          <ac:spMkLst>
            <pc:docMk/>
            <pc:sldMk cId="3191955764" sldId="2134805993"/>
            <ac:spMk id="6" creationId="{F57B0475-66FB-420C-6F4F-296F6D5630C4}"/>
          </ac:spMkLst>
        </pc:spChg>
        <pc:spChg chg="mod">
          <ac:chgData name="Jeremiah Lau" userId="1ae5cd28-a438-4305-847e-a1a222b7c029" providerId="ADAL" clId="{970AB29B-B54D-4D11-95FB-FBD9A82CC8BD}" dt="2024-02-29T13:35:23.464" v="0" actId="14100"/>
          <ac:spMkLst>
            <pc:docMk/>
            <pc:sldMk cId="3191955764" sldId="2134805993"/>
            <ac:spMk id="8" creationId="{149443E4-F595-E52E-688E-C1307A35D741}"/>
          </ac:spMkLst>
        </pc:spChg>
        <pc:spChg chg="mod">
          <ac:chgData name="Jeremiah Lau" userId="1ae5cd28-a438-4305-847e-a1a222b7c029" providerId="ADAL" clId="{970AB29B-B54D-4D11-95FB-FBD9A82CC8BD}" dt="2024-02-29T13:41:53.783" v="48" actId="20577"/>
          <ac:spMkLst>
            <pc:docMk/>
            <pc:sldMk cId="3191955764" sldId="2134805993"/>
            <ac:spMk id="12" creationId="{F74B3F56-FEB7-1435-F294-BE768FBD18B5}"/>
          </ac:spMkLst>
        </pc:spChg>
        <pc:spChg chg="mod">
          <ac:chgData name="Jeremiah Lau" userId="1ae5cd28-a438-4305-847e-a1a222b7c029" providerId="ADAL" clId="{970AB29B-B54D-4D11-95FB-FBD9A82CC8BD}" dt="2024-02-29T13:38:33.361" v="29" actId="2085"/>
          <ac:spMkLst>
            <pc:docMk/>
            <pc:sldMk cId="3191955764" sldId="2134805993"/>
            <ac:spMk id="13" creationId="{C715C1F0-0DD4-C4D9-4225-A7B267DDE065}"/>
          </ac:spMkLst>
        </pc:spChg>
        <pc:spChg chg="mod">
          <ac:chgData name="Jeremiah Lau" userId="1ae5cd28-a438-4305-847e-a1a222b7c029" providerId="ADAL" clId="{970AB29B-B54D-4D11-95FB-FBD9A82CC8BD}" dt="2024-02-29T13:41:52.793" v="47" actId="20577"/>
          <ac:spMkLst>
            <pc:docMk/>
            <pc:sldMk cId="3191955764" sldId="2134805993"/>
            <ac:spMk id="17" creationId="{27B0172A-3A28-93A7-5A47-9AA67127A786}"/>
          </ac:spMkLst>
        </pc:spChg>
      </pc:sldChg>
      <pc:sldChg chg="modSp">
        <pc:chgData name="Jeremiah Lau" userId="1ae5cd28-a438-4305-847e-a1a222b7c029" providerId="ADAL" clId="{970AB29B-B54D-4D11-95FB-FBD9A82CC8BD}" dt="2024-02-29T13:48:42.670" v="129" actId="20577"/>
        <pc:sldMkLst>
          <pc:docMk/>
          <pc:sldMk cId="2909410319" sldId="2134805995"/>
        </pc:sldMkLst>
        <pc:graphicFrameChg chg="mod">
          <ac:chgData name="Jeremiah Lau" userId="1ae5cd28-a438-4305-847e-a1a222b7c029" providerId="ADAL" clId="{970AB29B-B54D-4D11-95FB-FBD9A82CC8BD}" dt="2024-02-29T13:48:42.670" v="129" actId="20577"/>
          <ac:graphicFrameMkLst>
            <pc:docMk/>
            <pc:sldMk cId="2909410319" sldId="2134805995"/>
            <ac:graphicFrameMk id="8" creationId="{BE6D4CE5-886B-A6F1-B0EA-81462E61C4E7}"/>
          </ac:graphicFrameMkLst>
        </pc:graphicFrameChg>
      </pc:sldChg>
      <pc:sldChg chg="modSp mod">
        <pc:chgData name="Jeremiah Lau" userId="1ae5cd28-a438-4305-847e-a1a222b7c029" providerId="ADAL" clId="{970AB29B-B54D-4D11-95FB-FBD9A82CC8BD}" dt="2024-02-29T13:46:53.510" v="122" actId="20577"/>
        <pc:sldMkLst>
          <pc:docMk/>
          <pc:sldMk cId="1993063809" sldId="2134805996"/>
        </pc:sldMkLst>
        <pc:spChg chg="mod">
          <ac:chgData name="Jeremiah Lau" userId="1ae5cd28-a438-4305-847e-a1a222b7c029" providerId="ADAL" clId="{970AB29B-B54D-4D11-95FB-FBD9A82CC8BD}" dt="2024-02-29T13:46:48.004" v="121" actId="1035"/>
          <ac:spMkLst>
            <pc:docMk/>
            <pc:sldMk cId="1993063809" sldId="2134805996"/>
            <ac:spMk id="10" creationId="{10BA93F2-D6AA-1FC1-A3BF-D6753EF860FF}"/>
          </ac:spMkLst>
        </pc:spChg>
        <pc:spChg chg="mod">
          <ac:chgData name="Jeremiah Lau" userId="1ae5cd28-a438-4305-847e-a1a222b7c029" providerId="ADAL" clId="{970AB29B-B54D-4D11-95FB-FBD9A82CC8BD}" dt="2024-02-29T13:46:48.004" v="121" actId="1035"/>
          <ac:spMkLst>
            <pc:docMk/>
            <pc:sldMk cId="1993063809" sldId="2134805996"/>
            <ac:spMk id="16" creationId="{C91F8F81-3072-A42A-6B5C-37447189869C}"/>
          </ac:spMkLst>
        </pc:spChg>
        <pc:spChg chg="mod">
          <ac:chgData name="Jeremiah Lau" userId="1ae5cd28-a438-4305-847e-a1a222b7c029" providerId="ADAL" clId="{970AB29B-B54D-4D11-95FB-FBD9A82CC8BD}" dt="2024-02-29T13:46:17.358" v="106" actId="1037"/>
          <ac:spMkLst>
            <pc:docMk/>
            <pc:sldMk cId="1993063809" sldId="2134805996"/>
            <ac:spMk id="42" creationId="{E52E47A6-1467-84C0-DABC-300718E74C9D}"/>
          </ac:spMkLst>
        </pc:spChg>
        <pc:spChg chg="mod">
          <ac:chgData name="Jeremiah Lau" userId="1ae5cd28-a438-4305-847e-a1a222b7c029" providerId="ADAL" clId="{970AB29B-B54D-4D11-95FB-FBD9A82CC8BD}" dt="2024-02-29T13:46:20.784" v="109" actId="1038"/>
          <ac:spMkLst>
            <pc:docMk/>
            <pc:sldMk cId="1993063809" sldId="2134805996"/>
            <ac:spMk id="64" creationId="{529E97B6-0CAD-C8B5-2AE9-55E078925482}"/>
          </ac:spMkLst>
        </pc:spChg>
        <pc:spChg chg="mod">
          <ac:chgData name="Jeremiah Lau" userId="1ae5cd28-a438-4305-847e-a1a222b7c029" providerId="ADAL" clId="{970AB29B-B54D-4D11-95FB-FBD9A82CC8BD}" dt="2024-02-29T13:46:03.165" v="92" actId="14100"/>
          <ac:spMkLst>
            <pc:docMk/>
            <pc:sldMk cId="1993063809" sldId="2134805996"/>
            <ac:spMk id="67" creationId="{906F18E6-F6EA-D1F4-1C2A-48ADEF1E37C4}"/>
          </ac:spMkLst>
        </pc:spChg>
        <pc:spChg chg="mod">
          <ac:chgData name="Jeremiah Lau" userId="1ae5cd28-a438-4305-847e-a1a222b7c029" providerId="ADAL" clId="{970AB29B-B54D-4D11-95FB-FBD9A82CC8BD}" dt="2024-02-29T13:46:53.510" v="122" actId="20577"/>
          <ac:spMkLst>
            <pc:docMk/>
            <pc:sldMk cId="1993063809" sldId="2134805996"/>
            <ac:spMk id="68" creationId="{7D23676B-D42D-57AE-B6ED-0B8BD731491D}"/>
          </ac:spMkLst>
        </pc:spChg>
        <pc:spChg chg="mod">
          <ac:chgData name="Jeremiah Lau" userId="1ae5cd28-a438-4305-847e-a1a222b7c029" providerId="ADAL" clId="{970AB29B-B54D-4D11-95FB-FBD9A82CC8BD}" dt="2024-02-29T13:45:50.105" v="90" actId="1036"/>
          <ac:spMkLst>
            <pc:docMk/>
            <pc:sldMk cId="1993063809" sldId="2134805996"/>
            <ac:spMk id="69" creationId="{F3EA2B5C-1320-1ECA-4CA0-76310A361644}"/>
          </ac:spMkLst>
        </pc:spChg>
      </pc:sldChg>
      <pc:sldChg chg="modSp mod">
        <pc:chgData name="Jeremiah Lau" userId="1ae5cd28-a438-4305-847e-a1a222b7c029" providerId="ADAL" clId="{970AB29B-B54D-4D11-95FB-FBD9A82CC8BD}" dt="2024-02-29T13:43:17.492" v="56" actId="208"/>
        <pc:sldMkLst>
          <pc:docMk/>
          <pc:sldMk cId="2730276318" sldId="2134805997"/>
        </pc:sldMkLst>
        <pc:spChg chg="mod">
          <ac:chgData name="Jeremiah Lau" userId="1ae5cd28-a438-4305-847e-a1a222b7c029" providerId="ADAL" clId="{970AB29B-B54D-4D11-95FB-FBD9A82CC8BD}" dt="2024-02-29T13:43:17.492" v="56" actId="208"/>
          <ac:spMkLst>
            <pc:docMk/>
            <pc:sldMk cId="2730276318" sldId="2134805997"/>
            <ac:spMk id="4" creationId="{400F4AEC-5DD4-29E5-CF8B-5BF3FA9434E5}"/>
          </ac:spMkLst>
        </pc:spChg>
        <pc:spChg chg="mod">
          <ac:chgData name="Jeremiah Lau" userId="1ae5cd28-a438-4305-847e-a1a222b7c029" providerId="ADAL" clId="{970AB29B-B54D-4D11-95FB-FBD9A82CC8BD}" dt="2024-02-29T13:40:41.181" v="40" actId="14100"/>
          <ac:spMkLst>
            <pc:docMk/>
            <pc:sldMk cId="2730276318" sldId="2134805997"/>
            <ac:spMk id="21" creationId="{EC166F9A-F7E4-05B3-770F-AC3E42D12BFC}"/>
          </ac:spMkLst>
        </pc:spChg>
      </pc:sldChg>
      <pc:sldChg chg="modSp">
        <pc:chgData name="Jeremiah Lau" userId="1ae5cd28-a438-4305-847e-a1a222b7c029" providerId="ADAL" clId="{970AB29B-B54D-4D11-95FB-FBD9A82CC8BD}" dt="2024-02-29T13:50:46.552" v="163" actId="20577"/>
        <pc:sldMkLst>
          <pc:docMk/>
          <pc:sldMk cId="512552941" sldId="2134805998"/>
        </pc:sldMkLst>
        <pc:graphicFrameChg chg="mod">
          <ac:chgData name="Jeremiah Lau" userId="1ae5cd28-a438-4305-847e-a1a222b7c029" providerId="ADAL" clId="{970AB29B-B54D-4D11-95FB-FBD9A82CC8BD}" dt="2024-02-29T13:50:46.552" v="163" actId="20577"/>
          <ac:graphicFrameMkLst>
            <pc:docMk/>
            <pc:sldMk cId="512552941" sldId="2134805998"/>
            <ac:graphicFrameMk id="6" creationId="{BAE2AF32-C024-6B05-B089-8EF2E3C2CC62}"/>
          </ac:graphicFrameMkLst>
        </pc:graphicFrameChg>
      </pc:sldChg>
    </pc:docChg>
  </pc:docChgLst>
  <pc:docChgLst>
    <pc:chgData name="Johnson, Rudolph C." userId="f1ca9c69-74fe-4ffe-b50c-a4f7d7552cd4" providerId="ADAL" clId="{32AE7D33-CDCA-434D-A9AB-027ED9C3C121}"/>
    <pc:docChg chg="undo custSel addSld delSld modSld">
      <pc:chgData name="Johnson, Rudolph C." userId="f1ca9c69-74fe-4ffe-b50c-a4f7d7552cd4" providerId="ADAL" clId="{32AE7D33-CDCA-434D-A9AB-027ED9C3C121}" dt="2024-03-12T15:52:10.428" v="144" actId="47"/>
      <pc:docMkLst>
        <pc:docMk/>
      </pc:docMkLst>
      <pc:sldChg chg="addSp delSp modSp mod">
        <pc:chgData name="Johnson, Rudolph C." userId="f1ca9c69-74fe-4ffe-b50c-a4f7d7552cd4" providerId="ADAL" clId="{32AE7D33-CDCA-434D-A9AB-027ED9C3C121}" dt="2024-03-11T19:31:44.387" v="138" actId="6549"/>
        <pc:sldMkLst>
          <pc:docMk/>
          <pc:sldMk cId="3772671864" sldId="1062"/>
        </pc:sldMkLst>
        <pc:spChg chg="add del mod">
          <ac:chgData name="Johnson, Rudolph C." userId="f1ca9c69-74fe-4ffe-b50c-a4f7d7552cd4" providerId="ADAL" clId="{32AE7D33-CDCA-434D-A9AB-027ED9C3C121}" dt="2024-03-11T19:31:44.387" v="138" actId="6549"/>
          <ac:spMkLst>
            <pc:docMk/>
            <pc:sldMk cId="3772671864" sldId="1062"/>
            <ac:spMk id="2" creationId="{02B9CACB-58A7-D835-AB84-DE17E5807295}"/>
          </ac:spMkLst>
        </pc:spChg>
        <pc:spChg chg="add del mod">
          <ac:chgData name="Johnson, Rudolph C." userId="f1ca9c69-74fe-4ffe-b50c-a4f7d7552cd4" providerId="ADAL" clId="{32AE7D33-CDCA-434D-A9AB-027ED9C3C121}" dt="2024-03-11T19:30:20.506" v="113" actId="478"/>
          <ac:spMkLst>
            <pc:docMk/>
            <pc:sldMk cId="3772671864" sldId="1062"/>
            <ac:spMk id="4" creationId="{6F610A27-C49D-6594-274B-619B146E06B9}"/>
          </ac:spMkLst>
        </pc:spChg>
      </pc:sldChg>
      <pc:sldChg chg="modSp add del mod">
        <pc:chgData name="Johnson, Rudolph C." userId="f1ca9c69-74fe-4ffe-b50c-a4f7d7552cd4" providerId="ADAL" clId="{32AE7D33-CDCA-434D-A9AB-027ED9C3C121}" dt="2024-03-12T15:52:10.428" v="144" actId="47"/>
        <pc:sldMkLst>
          <pc:docMk/>
          <pc:sldMk cId="3132398144" sldId="5068"/>
        </pc:sldMkLst>
        <pc:spChg chg="mod">
          <ac:chgData name="Johnson, Rudolph C." userId="f1ca9c69-74fe-4ffe-b50c-a4f7d7552cd4" providerId="ADAL" clId="{32AE7D33-CDCA-434D-A9AB-027ED9C3C121}" dt="2024-02-29T16:44:19.141" v="52" actId="1076"/>
          <ac:spMkLst>
            <pc:docMk/>
            <pc:sldMk cId="3132398144" sldId="5068"/>
            <ac:spMk id="6" creationId="{18FBA53A-1A3C-627F-936D-D5AA29D81320}"/>
          </ac:spMkLst>
        </pc:spChg>
        <pc:spChg chg="mod">
          <ac:chgData name="Johnson, Rudolph C." userId="f1ca9c69-74fe-4ffe-b50c-a4f7d7552cd4" providerId="ADAL" clId="{32AE7D33-CDCA-434D-A9AB-027ED9C3C121}" dt="2024-02-29T16:40:53.537" v="32" actId="6549"/>
          <ac:spMkLst>
            <pc:docMk/>
            <pc:sldMk cId="3132398144" sldId="5068"/>
            <ac:spMk id="22" creationId="{15F89AD3-A46C-90FF-AF3A-2D0D4728C52D}"/>
          </ac:spMkLst>
        </pc:spChg>
      </pc:sldChg>
      <pc:sldChg chg="addSp modSp mod">
        <pc:chgData name="Johnson, Rudolph C." userId="f1ca9c69-74fe-4ffe-b50c-a4f7d7552cd4" providerId="ADAL" clId="{32AE7D33-CDCA-434D-A9AB-027ED9C3C121}" dt="2024-02-29T14:37:09.632" v="4" actId="14100"/>
        <pc:sldMkLst>
          <pc:docMk/>
          <pc:sldMk cId="843224670" sldId="2134805985"/>
        </pc:sldMkLst>
        <pc:spChg chg="add mod">
          <ac:chgData name="Johnson, Rudolph C." userId="f1ca9c69-74fe-4ffe-b50c-a4f7d7552cd4" providerId="ADAL" clId="{32AE7D33-CDCA-434D-A9AB-027ED9C3C121}" dt="2024-02-29T14:36:53.923" v="3" actId="14100"/>
          <ac:spMkLst>
            <pc:docMk/>
            <pc:sldMk cId="843224670" sldId="2134805985"/>
            <ac:spMk id="2" creationId="{8598092B-AE4C-A790-DBF3-9A6B9F5260FC}"/>
          </ac:spMkLst>
        </pc:spChg>
        <pc:spChg chg="mod">
          <ac:chgData name="Johnson, Rudolph C." userId="f1ca9c69-74fe-4ffe-b50c-a4f7d7552cd4" providerId="ADAL" clId="{32AE7D33-CDCA-434D-A9AB-027ED9C3C121}" dt="2024-02-29T14:37:09.632" v="4" actId="14100"/>
          <ac:spMkLst>
            <pc:docMk/>
            <pc:sldMk cId="843224670" sldId="2134805985"/>
            <ac:spMk id="6" creationId="{60F550CA-C463-39FB-92DF-62AC0C1B9243}"/>
          </ac:spMkLst>
        </pc:spChg>
      </pc:sldChg>
      <pc:sldChg chg="modSp mod">
        <pc:chgData name="Johnson, Rudolph C." userId="f1ca9c69-74fe-4ffe-b50c-a4f7d7552cd4" providerId="ADAL" clId="{32AE7D33-CDCA-434D-A9AB-027ED9C3C121}" dt="2024-02-29T15:16:42.847" v="10" actId="13926"/>
        <pc:sldMkLst>
          <pc:docMk/>
          <pc:sldMk cId="3003371668" sldId="2134805992"/>
        </pc:sldMkLst>
        <pc:graphicFrameChg chg="mod modGraphic">
          <ac:chgData name="Johnson, Rudolph C." userId="f1ca9c69-74fe-4ffe-b50c-a4f7d7552cd4" providerId="ADAL" clId="{32AE7D33-CDCA-434D-A9AB-027ED9C3C121}" dt="2024-02-29T15:16:42.847" v="10" actId="13926"/>
          <ac:graphicFrameMkLst>
            <pc:docMk/>
            <pc:sldMk cId="3003371668" sldId="2134805992"/>
            <ac:graphicFrameMk id="4" creationId="{2EB28BCE-438D-A357-F5AA-33D1FCAA8712}"/>
          </ac:graphicFrameMkLst>
        </pc:graphicFrameChg>
      </pc:sldChg>
      <pc:sldChg chg="add">
        <pc:chgData name="Johnson, Rudolph C." userId="f1ca9c69-74fe-4ffe-b50c-a4f7d7552cd4" providerId="ADAL" clId="{32AE7D33-CDCA-434D-A9AB-027ED9C3C121}" dt="2024-03-12T15:52:08.636" v="143"/>
        <pc:sldMkLst>
          <pc:docMk/>
          <pc:sldMk cId="1423496763" sldId="2134805999"/>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BB207C-B039-4DBD-ADEB-D9B3F38A2095}" type="doc">
      <dgm:prSet loTypeId="urn:microsoft.com/office/officeart/2008/layout/PictureAccentList" loCatId="list" qsTypeId="urn:microsoft.com/office/officeart/2005/8/quickstyle/simple3" qsCatId="simple" csTypeId="urn:microsoft.com/office/officeart/2005/8/colors/accent2_5" csCatId="accent2" phldr="1"/>
      <dgm:spPr/>
      <dgm:t>
        <a:bodyPr/>
        <a:lstStyle/>
        <a:p>
          <a:endParaRPr lang="en-US"/>
        </a:p>
      </dgm:t>
    </dgm:pt>
    <dgm:pt modelId="{5F3B9AC1-13EF-4C9F-A8BB-C40CF67FAE66}">
      <dgm:prSet phldrT="[Text]" custT="1"/>
      <dgm:spPr/>
      <dgm:t>
        <a:bodyPr/>
        <a:lstStyle/>
        <a:p>
          <a:pPr algn="l">
            <a:buNone/>
          </a:pPr>
          <a:r>
            <a:rPr lang="en-US" sz="2400" b="1" dirty="0">
              <a:latin typeface="Calibri" panose="020F0502020204030204" pitchFamily="34" charset="0"/>
              <a:ea typeface="Calibri" panose="020F0502020204030204" pitchFamily="34" charset="0"/>
              <a:cs typeface="Calibri" panose="020F0502020204030204" pitchFamily="34" charset="0"/>
            </a:rPr>
            <a:t>  As an AMP, MERP will: </a:t>
          </a:r>
          <a:endParaRPr lang="en-US" sz="2400" dirty="0">
            <a:latin typeface="Calibri" panose="020F0502020204030204" pitchFamily="34" charset="0"/>
            <a:cs typeface="Calibri" panose="020F0502020204030204" pitchFamily="34" charset="0"/>
          </a:endParaRPr>
        </a:p>
      </dgm:t>
    </dgm:pt>
    <dgm:pt modelId="{450E7EE9-63E1-43CD-9D60-CE769D0642DD}" type="parTrans" cxnId="{E4C59F54-8E23-4E3A-A7F6-2CB78984E0CA}">
      <dgm:prSet/>
      <dgm:spPr/>
      <dgm:t>
        <a:bodyPr/>
        <a:lstStyle/>
        <a:p>
          <a:endParaRPr lang="en-US"/>
        </a:p>
      </dgm:t>
    </dgm:pt>
    <dgm:pt modelId="{F58BBD72-01B4-4745-A52F-8C621B6364C9}" type="sibTrans" cxnId="{E4C59F54-8E23-4E3A-A7F6-2CB78984E0CA}">
      <dgm:prSet/>
      <dgm:spPr/>
      <dgm:t>
        <a:bodyPr/>
        <a:lstStyle/>
        <a:p>
          <a:endParaRPr lang="en-US"/>
        </a:p>
      </dgm:t>
    </dgm:pt>
    <dgm:pt modelId="{E460B137-F057-4589-8C71-D8A737BB7925}">
      <dgm:prSet phldrT="[Text]" custT="1"/>
      <dgm:spPr/>
      <dgm:t>
        <a:bodyPr/>
        <a:lstStyle/>
        <a:p>
          <a:pPr algn="l"/>
          <a:r>
            <a:rPr lang="en-US" sz="2400" dirty="0">
              <a:latin typeface="Calibri" panose="020F0502020204030204" pitchFamily="34" charset="0"/>
              <a:cs typeface="Calibri" panose="020F0502020204030204" pitchFamily="34" charset="0"/>
            </a:rPr>
            <a:t>Administer an accelerated review process for priority research that allows for the peer-review of research during all 4 quarters of the year.</a:t>
          </a:r>
        </a:p>
      </dgm:t>
    </dgm:pt>
    <dgm:pt modelId="{CF137051-615E-4AFC-AD11-BFD797779D2C}" type="sibTrans" cxnId="{7B872FF6-7E22-4226-B8FC-16B7B9854052}">
      <dgm:prSet/>
      <dgm:spPr/>
      <dgm:t>
        <a:bodyPr/>
        <a:lstStyle/>
        <a:p>
          <a:endParaRPr lang="en-US"/>
        </a:p>
      </dgm:t>
    </dgm:pt>
    <dgm:pt modelId="{FA5EE38A-D051-4F22-B3F9-EC158FB6A802}" type="parTrans" cxnId="{7B872FF6-7E22-4226-B8FC-16B7B9854052}">
      <dgm:prSet/>
      <dgm:spPr/>
      <dgm:t>
        <a:bodyPr/>
        <a:lstStyle/>
        <a:p>
          <a:endParaRPr lang="en-US"/>
        </a:p>
      </dgm:t>
    </dgm:pt>
    <dgm:pt modelId="{258BF6F0-AEDF-4853-8617-8E7052D6D65C}">
      <dgm:prSet custT="1"/>
      <dgm:spPr/>
      <dgm:t>
        <a:bodyPr/>
        <a:lstStyle/>
        <a:p>
          <a:pPr algn="l"/>
          <a:r>
            <a:rPr lang="en-US" sz="2400" dirty="0">
              <a:latin typeface="Calibri" panose="020F0502020204030204" pitchFamily="34" charset="0"/>
              <a:cs typeface="Calibri" panose="020F0502020204030204" pitchFamily="34" charset="0"/>
            </a:rPr>
            <a:t>Utilize a matrixed organizational model that reduces duplicative research and increases collaboration.</a:t>
          </a:r>
        </a:p>
      </dgm:t>
    </dgm:pt>
    <dgm:pt modelId="{51D4A1D3-15F1-44EF-B97B-0C6A71FB2417}" type="parTrans" cxnId="{8601230E-EE16-42FA-895E-C1BB71BF8DB2}">
      <dgm:prSet/>
      <dgm:spPr/>
      <dgm:t>
        <a:bodyPr/>
        <a:lstStyle/>
        <a:p>
          <a:endParaRPr lang="en-US"/>
        </a:p>
      </dgm:t>
    </dgm:pt>
    <dgm:pt modelId="{9BB012A8-C67B-4674-8682-902D37A0670C}" type="sibTrans" cxnId="{8601230E-EE16-42FA-895E-C1BB71BF8DB2}">
      <dgm:prSet/>
      <dgm:spPr/>
      <dgm:t>
        <a:bodyPr/>
        <a:lstStyle/>
        <a:p>
          <a:endParaRPr lang="en-US"/>
        </a:p>
      </dgm:t>
    </dgm:pt>
    <dgm:pt modelId="{F0C59ECA-283D-425D-BA9D-56A22CB92669}">
      <dgm:prSet custT="1"/>
      <dgm:spPr/>
      <dgm:t>
        <a:bodyPr/>
        <a:lstStyle/>
        <a:p>
          <a:pPr algn="l"/>
          <a:r>
            <a:rPr lang="en-US" sz="2400" dirty="0">
              <a:latin typeface="Calibri" panose="020F0502020204030204" pitchFamily="34" charset="0"/>
              <a:cs typeface="Calibri" panose="020F0502020204030204" pitchFamily="34" charset="0"/>
            </a:rPr>
            <a:t>Set Critical Research Priorities that will guide medium and long-term planning of the AMP.</a:t>
          </a:r>
        </a:p>
      </dgm:t>
    </dgm:pt>
    <dgm:pt modelId="{63F73D6E-D9DB-4ADE-A1C8-BA287CFF53FF}" type="parTrans" cxnId="{8B3194F4-153E-4C16-945D-D5BA0C188D97}">
      <dgm:prSet/>
      <dgm:spPr/>
      <dgm:t>
        <a:bodyPr/>
        <a:lstStyle/>
        <a:p>
          <a:endParaRPr lang="en-US"/>
        </a:p>
      </dgm:t>
    </dgm:pt>
    <dgm:pt modelId="{DD9DF694-0BBE-42FD-9E98-1E42AB6C6972}" type="sibTrans" cxnId="{8B3194F4-153E-4C16-945D-D5BA0C188D97}">
      <dgm:prSet/>
      <dgm:spPr/>
      <dgm:t>
        <a:bodyPr/>
        <a:lstStyle/>
        <a:p>
          <a:endParaRPr lang="en-US"/>
        </a:p>
      </dgm:t>
    </dgm:pt>
    <dgm:pt modelId="{7CADC064-6EF1-48AD-8FE5-BF08B4A3BB3F}" type="pres">
      <dgm:prSet presAssocID="{81BB207C-B039-4DBD-ADEB-D9B3F38A2095}" presName="layout" presStyleCnt="0">
        <dgm:presLayoutVars>
          <dgm:chMax/>
          <dgm:chPref/>
          <dgm:dir/>
          <dgm:animOne val="branch"/>
          <dgm:animLvl val="lvl"/>
          <dgm:resizeHandles/>
        </dgm:presLayoutVars>
      </dgm:prSet>
      <dgm:spPr/>
    </dgm:pt>
    <dgm:pt modelId="{F9D34427-32BC-40E9-9FAC-BCD311679D5D}" type="pres">
      <dgm:prSet presAssocID="{5F3B9AC1-13EF-4C9F-A8BB-C40CF67FAE66}" presName="root" presStyleCnt="0">
        <dgm:presLayoutVars>
          <dgm:chMax/>
          <dgm:chPref val="4"/>
        </dgm:presLayoutVars>
      </dgm:prSet>
      <dgm:spPr/>
    </dgm:pt>
    <dgm:pt modelId="{D280CD7D-389E-4AF2-96DF-7E5861924F4F}" type="pres">
      <dgm:prSet presAssocID="{5F3B9AC1-13EF-4C9F-A8BB-C40CF67FAE66}" presName="rootComposite" presStyleCnt="0">
        <dgm:presLayoutVars/>
      </dgm:prSet>
      <dgm:spPr/>
    </dgm:pt>
    <dgm:pt modelId="{735698ED-FF97-4969-A33B-381C83A6EFE3}" type="pres">
      <dgm:prSet presAssocID="{5F3B9AC1-13EF-4C9F-A8BB-C40CF67FAE66}" presName="rootText" presStyleLbl="node0" presStyleIdx="0" presStyleCnt="1" custScaleY="66396">
        <dgm:presLayoutVars>
          <dgm:chMax/>
          <dgm:chPref val="4"/>
        </dgm:presLayoutVars>
      </dgm:prSet>
      <dgm:spPr/>
    </dgm:pt>
    <dgm:pt modelId="{1AD197CA-9855-4695-81B6-0C5CF859DBB5}" type="pres">
      <dgm:prSet presAssocID="{5F3B9AC1-13EF-4C9F-A8BB-C40CF67FAE66}" presName="childShape" presStyleCnt="0">
        <dgm:presLayoutVars>
          <dgm:chMax val="0"/>
          <dgm:chPref val="0"/>
        </dgm:presLayoutVars>
      </dgm:prSet>
      <dgm:spPr/>
    </dgm:pt>
    <dgm:pt modelId="{AA7221A8-324E-42EF-806C-836868481BE1}" type="pres">
      <dgm:prSet presAssocID="{E460B137-F057-4589-8C71-D8A737BB7925}" presName="childComposite" presStyleCnt="0">
        <dgm:presLayoutVars>
          <dgm:chMax val="0"/>
          <dgm:chPref val="0"/>
        </dgm:presLayoutVars>
      </dgm:prSet>
      <dgm:spPr/>
    </dgm:pt>
    <dgm:pt modelId="{98A16FAE-3855-4827-88C0-DDC7C24CE2B7}" type="pres">
      <dgm:prSet presAssocID="{E460B137-F057-4589-8C71-D8A737BB7925}" presName="Image" presStyleLbl="node1" presStyleIdx="0" presStyleCnt="3"/>
      <dgm:spPr>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pt>
    <dgm:pt modelId="{C6B765E1-2683-439E-BD8A-F608DCC4A9A2}" type="pres">
      <dgm:prSet presAssocID="{E460B137-F057-4589-8C71-D8A737BB7925}" presName="childText" presStyleLbl="lnNode1" presStyleIdx="0" presStyleCnt="3">
        <dgm:presLayoutVars>
          <dgm:chMax val="0"/>
          <dgm:chPref val="0"/>
          <dgm:bulletEnabled val="1"/>
        </dgm:presLayoutVars>
      </dgm:prSet>
      <dgm:spPr/>
    </dgm:pt>
    <dgm:pt modelId="{123E427D-1E99-4987-B3E2-D2F765F55032}" type="pres">
      <dgm:prSet presAssocID="{258BF6F0-AEDF-4853-8617-8E7052D6D65C}" presName="childComposite" presStyleCnt="0">
        <dgm:presLayoutVars>
          <dgm:chMax val="0"/>
          <dgm:chPref val="0"/>
        </dgm:presLayoutVars>
      </dgm:prSet>
      <dgm:spPr/>
    </dgm:pt>
    <dgm:pt modelId="{95269AA7-72ED-46D0-800E-99A927143081}" type="pres">
      <dgm:prSet presAssocID="{258BF6F0-AEDF-4853-8617-8E7052D6D65C}" presName="Image" presStyleLbl="node1" presStyleIdx="1" presStyleCnt="3"/>
      <dgm:spPr>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pt>
    <dgm:pt modelId="{C5A75CC7-DF89-4CF0-9D30-B0080C886F4D}" type="pres">
      <dgm:prSet presAssocID="{258BF6F0-AEDF-4853-8617-8E7052D6D65C}" presName="childText" presStyleLbl="lnNode1" presStyleIdx="1" presStyleCnt="3">
        <dgm:presLayoutVars>
          <dgm:chMax val="0"/>
          <dgm:chPref val="0"/>
          <dgm:bulletEnabled val="1"/>
        </dgm:presLayoutVars>
      </dgm:prSet>
      <dgm:spPr/>
    </dgm:pt>
    <dgm:pt modelId="{A97B771E-2B6C-47DB-8099-8FB2ACD9F989}" type="pres">
      <dgm:prSet presAssocID="{F0C59ECA-283D-425D-BA9D-56A22CB92669}" presName="childComposite" presStyleCnt="0">
        <dgm:presLayoutVars>
          <dgm:chMax val="0"/>
          <dgm:chPref val="0"/>
        </dgm:presLayoutVars>
      </dgm:prSet>
      <dgm:spPr/>
    </dgm:pt>
    <dgm:pt modelId="{05A2DD6E-B4C8-420A-84AD-D6E4D11A8596}" type="pres">
      <dgm:prSet presAssocID="{F0C59ECA-283D-425D-BA9D-56A22CB92669}" presName="Image" presStyleLbl="node1" presStyleIdx="2" presStyleCnt="3"/>
      <dgm:spPr>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pt>
    <dgm:pt modelId="{8A7323A8-9016-4AD7-BDE0-8328ABCD361F}" type="pres">
      <dgm:prSet presAssocID="{F0C59ECA-283D-425D-BA9D-56A22CB92669}" presName="childText" presStyleLbl="lnNode1" presStyleIdx="2" presStyleCnt="3">
        <dgm:presLayoutVars>
          <dgm:chMax val="0"/>
          <dgm:chPref val="0"/>
          <dgm:bulletEnabled val="1"/>
        </dgm:presLayoutVars>
      </dgm:prSet>
      <dgm:spPr/>
    </dgm:pt>
  </dgm:ptLst>
  <dgm:cxnLst>
    <dgm:cxn modelId="{8601230E-EE16-42FA-895E-C1BB71BF8DB2}" srcId="{5F3B9AC1-13EF-4C9F-A8BB-C40CF67FAE66}" destId="{258BF6F0-AEDF-4853-8617-8E7052D6D65C}" srcOrd="1" destOrd="0" parTransId="{51D4A1D3-15F1-44EF-B97B-0C6A71FB2417}" sibTransId="{9BB012A8-C67B-4674-8682-902D37A0670C}"/>
    <dgm:cxn modelId="{307B2818-EEFF-4B86-B3B3-DD40DCF9687C}" type="presOf" srcId="{5F3B9AC1-13EF-4C9F-A8BB-C40CF67FAE66}" destId="{735698ED-FF97-4969-A33B-381C83A6EFE3}" srcOrd="0" destOrd="0" presId="urn:microsoft.com/office/officeart/2008/layout/PictureAccentList"/>
    <dgm:cxn modelId="{E4C59F54-8E23-4E3A-A7F6-2CB78984E0CA}" srcId="{81BB207C-B039-4DBD-ADEB-D9B3F38A2095}" destId="{5F3B9AC1-13EF-4C9F-A8BB-C40CF67FAE66}" srcOrd="0" destOrd="0" parTransId="{450E7EE9-63E1-43CD-9D60-CE769D0642DD}" sibTransId="{F58BBD72-01B4-4745-A52F-8C621B6364C9}"/>
    <dgm:cxn modelId="{84607C75-968D-4E4E-88DE-8DBF9E312F11}" type="presOf" srcId="{E460B137-F057-4589-8C71-D8A737BB7925}" destId="{C6B765E1-2683-439E-BD8A-F608DCC4A9A2}" srcOrd="0" destOrd="0" presId="urn:microsoft.com/office/officeart/2008/layout/PictureAccentList"/>
    <dgm:cxn modelId="{32034A5A-AB2B-4C6F-B4AA-784B67C3AC55}" type="presOf" srcId="{258BF6F0-AEDF-4853-8617-8E7052D6D65C}" destId="{C5A75CC7-DF89-4CF0-9D30-B0080C886F4D}" srcOrd="0" destOrd="0" presId="urn:microsoft.com/office/officeart/2008/layout/PictureAccentList"/>
    <dgm:cxn modelId="{5E90E6BA-3013-4BD6-8BE8-23890687E92E}" type="presOf" srcId="{F0C59ECA-283D-425D-BA9D-56A22CB92669}" destId="{8A7323A8-9016-4AD7-BDE0-8328ABCD361F}" srcOrd="0" destOrd="0" presId="urn:microsoft.com/office/officeart/2008/layout/PictureAccentList"/>
    <dgm:cxn modelId="{02861EDC-5989-4158-9B8C-CF2FF78D0365}" type="presOf" srcId="{81BB207C-B039-4DBD-ADEB-D9B3F38A2095}" destId="{7CADC064-6EF1-48AD-8FE5-BF08B4A3BB3F}" srcOrd="0" destOrd="0" presId="urn:microsoft.com/office/officeart/2008/layout/PictureAccentList"/>
    <dgm:cxn modelId="{8B3194F4-153E-4C16-945D-D5BA0C188D97}" srcId="{5F3B9AC1-13EF-4C9F-A8BB-C40CF67FAE66}" destId="{F0C59ECA-283D-425D-BA9D-56A22CB92669}" srcOrd="2" destOrd="0" parTransId="{63F73D6E-D9DB-4ADE-A1C8-BA287CFF53FF}" sibTransId="{DD9DF694-0BBE-42FD-9E98-1E42AB6C6972}"/>
    <dgm:cxn modelId="{7B872FF6-7E22-4226-B8FC-16B7B9854052}" srcId="{5F3B9AC1-13EF-4C9F-A8BB-C40CF67FAE66}" destId="{E460B137-F057-4589-8C71-D8A737BB7925}" srcOrd="0" destOrd="0" parTransId="{FA5EE38A-D051-4F22-B3F9-EC158FB6A802}" sibTransId="{CF137051-615E-4AFC-AD11-BFD797779D2C}"/>
    <dgm:cxn modelId="{7E34F8C6-1CD1-4561-BDB1-CF7864BBDB17}" type="presParOf" srcId="{7CADC064-6EF1-48AD-8FE5-BF08B4A3BB3F}" destId="{F9D34427-32BC-40E9-9FAC-BCD311679D5D}" srcOrd="0" destOrd="0" presId="urn:microsoft.com/office/officeart/2008/layout/PictureAccentList"/>
    <dgm:cxn modelId="{1B968596-CBB4-4CA3-84A3-5117F4550CA3}" type="presParOf" srcId="{F9D34427-32BC-40E9-9FAC-BCD311679D5D}" destId="{D280CD7D-389E-4AF2-96DF-7E5861924F4F}" srcOrd="0" destOrd="0" presId="urn:microsoft.com/office/officeart/2008/layout/PictureAccentList"/>
    <dgm:cxn modelId="{40E645D4-BDB2-4D3F-AC7D-7FE8178B5CEA}" type="presParOf" srcId="{D280CD7D-389E-4AF2-96DF-7E5861924F4F}" destId="{735698ED-FF97-4969-A33B-381C83A6EFE3}" srcOrd="0" destOrd="0" presId="urn:microsoft.com/office/officeart/2008/layout/PictureAccentList"/>
    <dgm:cxn modelId="{B2D56387-948D-494D-B0EB-07D8A07327F4}" type="presParOf" srcId="{F9D34427-32BC-40E9-9FAC-BCD311679D5D}" destId="{1AD197CA-9855-4695-81B6-0C5CF859DBB5}" srcOrd="1" destOrd="0" presId="urn:microsoft.com/office/officeart/2008/layout/PictureAccentList"/>
    <dgm:cxn modelId="{6A2FEABB-3FDC-44DC-9FD3-7BD172499877}" type="presParOf" srcId="{1AD197CA-9855-4695-81B6-0C5CF859DBB5}" destId="{AA7221A8-324E-42EF-806C-836868481BE1}" srcOrd="0" destOrd="0" presId="urn:microsoft.com/office/officeart/2008/layout/PictureAccentList"/>
    <dgm:cxn modelId="{079EDDD5-80CA-4EBF-B498-5AA9FF485ECD}" type="presParOf" srcId="{AA7221A8-324E-42EF-806C-836868481BE1}" destId="{98A16FAE-3855-4827-88C0-DDC7C24CE2B7}" srcOrd="0" destOrd="0" presId="urn:microsoft.com/office/officeart/2008/layout/PictureAccentList"/>
    <dgm:cxn modelId="{DA1DF12A-DADE-4757-A708-11FAC6E8B8A9}" type="presParOf" srcId="{AA7221A8-324E-42EF-806C-836868481BE1}" destId="{C6B765E1-2683-439E-BD8A-F608DCC4A9A2}" srcOrd="1" destOrd="0" presId="urn:microsoft.com/office/officeart/2008/layout/PictureAccentList"/>
    <dgm:cxn modelId="{3D13BB13-BEA7-4DD0-A1BC-99E081BA0794}" type="presParOf" srcId="{1AD197CA-9855-4695-81B6-0C5CF859DBB5}" destId="{123E427D-1E99-4987-B3E2-D2F765F55032}" srcOrd="1" destOrd="0" presId="urn:microsoft.com/office/officeart/2008/layout/PictureAccentList"/>
    <dgm:cxn modelId="{AF9C31CD-DF1D-455B-AB11-6782D4BE7F83}" type="presParOf" srcId="{123E427D-1E99-4987-B3E2-D2F765F55032}" destId="{95269AA7-72ED-46D0-800E-99A927143081}" srcOrd="0" destOrd="0" presId="urn:microsoft.com/office/officeart/2008/layout/PictureAccentList"/>
    <dgm:cxn modelId="{C047E24D-6239-4234-AF52-C25939556C01}" type="presParOf" srcId="{123E427D-1E99-4987-B3E2-D2F765F55032}" destId="{C5A75CC7-DF89-4CF0-9D30-B0080C886F4D}" srcOrd="1" destOrd="0" presId="urn:microsoft.com/office/officeart/2008/layout/PictureAccentList"/>
    <dgm:cxn modelId="{53AC7717-D013-4828-8538-436D06922ABB}" type="presParOf" srcId="{1AD197CA-9855-4695-81B6-0C5CF859DBB5}" destId="{A97B771E-2B6C-47DB-8099-8FB2ACD9F989}" srcOrd="2" destOrd="0" presId="urn:microsoft.com/office/officeart/2008/layout/PictureAccentList"/>
    <dgm:cxn modelId="{2D77AD79-033C-4F52-873B-F9B011BB347B}" type="presParOf" srcId="{A97B771E-2B6C-47DB-8099-8FB2ACD9F989}" destId="{05A2DD6E-B4C8-420A-84AD-D6E4D11A8596}" srcOrd="0" destOrd="0" presId="urn:microsoft.com/office/officeart/2008/layout/PictureAccentList"/>
    <dgm:cxn modelId="{84CB4D40-4B82-41D7-97F5-173511EE3C62}" type="presParOf" srcId="{A97B771E-2B6C-47DB-8099-8FB2ACD9F989}" destId="{8A7323A8-9016-4AD7-BDE0-8328ABCD361F}" srcOrd="1" destOrd="0" presId="urn:microsoft.com/office/officeart/2008/layout/Pictu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974FD5-CF5C-4F85-AAC7-B8DD15F00DBB}" type="doc">
      <dgm:prSet loTypeId="urn:microsoft.com/office/officeart/2008/layout/LinedList" loCatId="list" qsTypeId="urn:microsoft.com/office/officeart/2005/8/quickstyle/simple1" qsCatId="simple" csTypeId="urn:microsoft.com/office/officeart/2005/8/colors/accent0_2" csCatId="mainScheme" phldr="1"/>
      <dgm:spPr/>
      <dgm:t>
        <a:bodyPr/>
        <a:lstStyle/>
        <a:p>
          <a:endParaRPr lang="en-US"/>
        </a:p>
      </dgm:t>
    </dgm:pt>
    <dgm:pt modelId="{A70A7113-BD22-4617-A5FE-9DF851FE6B73}">
      <dgm:prSet phldrT="[Text]" custT="1"/>
      <dgm:spPr/>
      <dgm:t>
        <a:bodyPr/>
        <a:lstStyle/>
        <a:p>
          <a:endParaRPr kumimoji="0" lang="en-US" sz="2600" b="1" i="0" u="none" strike="noStrike" cap="none" spc="0" normalizeH="0" baseline="0" noProof="0" dirty="0">
            <a:ln/>
            <a:effectLst/>
            <a:uLnTx/>
            <a:uFillTx/>
            <a:latin typeface="Source Sans Pro"/>
            <a:ea typeface="Calibri" panose="020F0502020204030204" pitchFamily="34" charset="0"/>
            <a:cs typeface="Arial"/>
          </a:endParaRPr>
        </a:p>
        <a:p>
          <a:r>
            <a:rPr kumimoji="0" lang="en-US" sz="2000" b="1" i="0" u="none" strike="noStrike" cap="none" spc="0" normalizeH="0" baseline="0" noProof="0" dirty="0">
              <a:ln/>
              <a:effectLst/>
              <a:uLnTx/>
              <a:uFillTx/>
              <a:latin typeface="Source Sans Pro"/>
              <a:ea typeface="Calibri" panose="020F0502020204030204" pitchFamily="34" charset="0"/>
              <a:cs typeface="Arial"/>
            </a:rPr>
            <a:t> </a:t>
          </a:r>
        </a:p>
        <a:p>
          <a:r>
            <a:rPr kumimoji="0" lang="en-US" sz="2600" b="1" i="0" u="none" strike="noStrike"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Military Exposures Research Program (MERP) - Research Infrastructure</a:t>
          </a:r>
          <a:endParaRPr lang="en-US" sz="2600" dirty="0">
            <a:latin typeface="Calibri" panose="020F0502020204030204" pitchFamily="34" charset="0"/>
            <a:cs typeface="Calibri" panose="020F0502020204030204" pitchFamily="34" charset="0"/>
          </a:endParaRPr>
        </a:p>
      </dgm:t>
    </dgm:pt>
    <dgm:pt modelId="{EB80E9AC-9A93-420A-A7B6-4508F22C1441}" type="parTrans" cxnId="{1F7EF0F5-2EA2-435D-97D6-4DAAA19CAD6D}">
      <dgm:prSet/>
      <dgm:spPr/>
      <dgm:t>
        <a:bodyPr/>
        <a:lstStyle/>
        <a:p>
          <a:endParaRPr lang="en-US"/>
        </a:p>
      </dgm:t>
    </dgm:pt>
    <dgm:pt modelId="{156047B9-D425-4737-86F5-FD2B5033E909}" type="sibTrans" cxnId="{1F7EF0F5-2EA2-435D-97D6-4DAAA19CAD6D}">
      <dgm:prSet/>
      <dgm:spPr/>
      <dgm:t>
        <a:bodyPr/>
        <a:lstStyle/>
        <a:p>
          <a:endParaRPr lang="en-US"/>
        </a:p>
      </dgm:t>
    </dgm:pt>
    <dgm:pt modelId="{9A4A1DB4-8FED-4D06-BC59-04BC9774D5A0}">
      <dgm:prSet/>
      <dgm:spPr/>
      <dgm:t>
        <a:bodyPr/>
        <a:lstStyle/>
        <a:p>
          <a:r>
            <a:rPr kumimoji="0" lang="en-US" b="0" i="0" u="none" strike="noStrike"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Enterprise-level core capabilities to support funded investigator studies needing exposure assessment, data/survey tools and analysis, biospecimen collection, storage and analysis.</a:t>
          </a:r>
        </a:p>
      </dgm:t>
    </dgm:pt>
    <dgm:pt modelId="{81A85B5E-A9CE-4355-848B-86AFC42E8199}" type="parTrans" cxnId="{1C32783B-A803-4C0D-BE84-467B6E050DA2}">
      <dgm:prSet/>
      <dgm:spPr/>
      <dgm:t>
        <a:bodyPr/>
        <a:lstStyle/>
        <a:p>
          <a:endParaRPr lang="en-US"/>
        </a:p>
      </dgm:t>
    </dgm:pt>
    <dgm:pt modelId="{49D5309F-5637-4FC0-97CD-3016D4F9B243}" type="sibTrans" cxnId="{1C32783B-A803-4C0D-BE84-467B6E050DA2}">
      <dgm:prSet/>
      <dgm:spPr/>
      <dgm:t>
        <a:bodyPr/>
        <a:lstStyle/>
        <a:p>
          <a:endParaRPr lang="en-US"/>
        </a:p>
      </dgm:t>
    </dgm:pt>
    <dgm:pt modelId="{F9595566-4891-4203-89F8-AAD45277D835}">
      <dgm:prSet/>
      <dgm:spPr/>
      <dgm:t>
        <a:bodyPr/>
        <a:lstStyle/>
        <a:p>
          <a:r>
            <a:rPr kumimoji="0" lang="en-US" b="0" i="0" u="none" strike="noStrike"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Requests for Applications (RFA): RFAs were developed and released broadly to support key gap portfolio areas.</a:t>
          </a:r>
        </a:p>
      </dgm:t>
    </dgm:pt>
    <dgm:pt modelId="{2BFA1860-7503-45CD-B59B-C252EF73AAF2}" type="parTrans" cxnId="{08B0ABF8-0968-43DD-A6E7-C6575621E467}">
      <dgm:prSet/>
      <dgm:spPr/>
      <dgm:t>
        <a:bodyPr/>
        <a:lstStyle/>
        <a:p>
          <a:endParaRPr lang="en-US"/>
        </a:p>
      </dgm:t>
    </dgm:pt>
    <dgm:pt modelId="{6ACD0114-DA48-4305-BC25-DEA6FF1A1CA8}" type="sibTrans" cxnId="{08B0ABF8-0968-43DD-A6E7-C6575621E467}">
      <dgm:prSet/>
      <dgm:spPr/>
      <dgm:t>
        <a:bodyPr/>
        <a:lstStyle/>
        <a:p>
          <a:endParaRPr lang="en-US"/>
        </a:p>
      </dgm:t>
    </dgm:pt>
    <dgm:pt modelId="{1D844715-7E26-4ABA-9768-2732C3382A64}">
      <dgm:prSet/>
      <dgm:spPr/>
      <dgm:t>
        <a:bodyPr/>
        <a:lstStyle/>
        <a:p>
          <a:r>
            <a:rPr kumimoji="0" lang="en-US" b="0" i="0" u="none" strike="noStrike"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ORD Military Exposure Research Innovation Center(s) (MERICs) have been launched to support high impact, highly innovative key priority projects.</a:t>
          </a:r>
        </a:p>
      </dgm:t>
    </dgm:pt>
    <dgm:pt modelId="{DE2DB107-FD8E-4AD3-BEB9-A8AD9B7BDA71}" type="parTrans" cxnId="{E4AA5107-2852-42C1-A106-A39FF99BE8C3}">
      <dgm:prSet/>
      <dgm:spPr/>
      <dgm:t>
        <a:bodyPr/>
        <a:lstStyle/>
        <a:p>
          <a:endParaRPr lang="en-US"/>
        </a:p>
      </dgm:t>
    </dgm:pt>
    <dgm:pt modelId="{720FD311-A0AB-431E-802C-938ABA9E40C9}" type="sibTrans" cxnId="{E4AA5107-2852-42C1-A106-A39FF99BE8C3}">
      <dgm:prSet/>
      <dgm:spPr/>
      <dgm:t>
        <a:bodyPr/>
        <a:lstStyle/>
        <a:p>
          <a:endParaRPr lang="en-US"/>
        </a:p>
      </dgm:t>
    </dgm:pt>
    <dgm:pt modelId="{D02754F6-6FCA-4C03-B251-88174B47BCA9}">
      <dgm:prSet/>
      <dgm:spPr/>
      <dgm:t>
        <a:bodyPr/>
        <a:lstStyle/>
        <a:p>
          <a:r>
            <a:rPr kumimoji="0" lang="en-US" b="0" i="0" u="none" strike="noStrike"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Capacity Building: Intra- and Inter-federal and academic partnership building are imperative to move military exposure assessment and health research forward efficiently and uniformly. </a:t>
          </a:r>
        </a:p>
      </dgm:t>
    </dgm:pt>
    <dgm:pt modelId="{724F08E7-87B0-48D2-A766-6E2D1929B88B}" type="parTrans" cxnId="{1356BF83-F0BE-494E-87FF-7854FEB4BD51}">
      <dgm:prSet/>
      <dgm:spPr/>
      <dgm:t>
        <a:bodyPr/>
        <a:lstStyle/>
        <a:p>
          <a:endParaRPr lang="en-US"/>
        </a:p>
      </dgm:t>
    </dgm:pt>
    <dgm:pt modelId="{5E0CA35F-A953-430F-BD05-ADD5A4F21595}" type="sibTrans" cxnId="{1356BF83-F0BE-494E-87FF-7854FEB4BD51}">
      <dgm:prSet/>
      <dgm:spPr/>
      <dgm:t>
        <a:bodyPr/>
        <a:lstStyle/>
        <a:p>
          <a:endParaRPr lang="en-US"/>
        </a:p>
      </dgm:t>
    </dgm:pt>
    <dgm:pt modelId="{79F7734B-0C67-409B-ABB9-306A35FAEC63}">
      <dgm:prSet/>
      <dgm:spPr/>
      <dgm:t>
        <a:bodyPr/>
        <a:lstStyle/>
        <a:p>
          <a:r>
            <a:rPr kumimoji="0" lang="en-US" b="0" i="0" u="none" strike="noStrike" cap="none" spc="0" normalizeH="0" baseline="0" noProof="0" dirty="0">
              <a:ln/>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rPr>
            <a:t>The Toxic Exposures Fund for ORD is $45 million. Roughly $25 million is available for RFA’s, Career Development Awards (CDA’s), and administrative funding.</a:t>
          </a:r>
          <a:endParaRPr kumimoji="0" lang="en-US" b="0" i="0" u="none" strike="noStrike"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endParaRPr>
        </a:p>
      </dgm:t>
    </dgm:pt>
    <dgm:pt modelId="{EE75534F-4605-4A9C-AB12-646749F7B5A8}" type="parTrans" cxnId="{FC1AD364-3331-4C85-8BA5-A0D9D0535AE4}">
      <dgm:prSet/>
      <dgm:spPr/>
      <dgm:t>
        <a:bodyPr/>
        <a:lstStyle/>
        <a:p>
          <a:endParaRPr lang="en-US"/>
        </a:p>
      </dgm:t>
    </dgm:pt>
    <dgm:pt modelId="{297C2680-508E-424A-93F8-B66148662C68}" type="sibTrans" cxnId="{FC1AD364-3331-4C85-8BA5-A0D9D0535AE4}">
      <dgm:prSet/>
      <dgm:spPr/>
      <dgm:t>
        <a:bodyPr/>
        <a:lstStyle/>
        <a:p>
          <a:endParaRPr lang="en-US"/>
        </a:p>
      </dgm:t>
    </dgm:pt>
    <dgm:pt modelId="{C87CD967-65C7-4A2C-86D5-0D88046202E7}" type="pres">
      <dgm:prSet presAssocID="{1A974FD5-CF5C-4F85-AAC7-B8DD15F00DBB}" presName="vert0" presStyleCnt="0">
        <dgm:presLayoutVars>
          <dgm:dir/>
          <dgm:animOne val="branch"/>
          <dgm:animLvl val="lvl"/>
        </dgm:presLayoutVars>
      </dgm:prSet>
      <dgm:spPr/>
    </dgm:pt>
    <dgm:pt modelId="{E85B5517-142F-4E71-AD7D-FFB42293E28D}" type="pres">
      <dgm:prSet presAssocID="{A70A7113-BD22-4617-A5FE-9DF851FE6B73}" presName="thickLine" presStyleLbl="alignNode1" presStyleIdx="0" presStyleCnt="1"/>
      <dgm:spPr/>
    </dgm:pt>
    <dgm:pt modelId="{8C935DEC-84C7-4FBE-BD79-8A5EF8B456B0}" type="pres">
      <dgm:prSet presAssocID="{A70A7113-BD22-4617-A5FE-9DF851FE6B73}" presName="horz1" presStyleCnt="0"/>
      <dgm:spPr/>
    </dgm:pt>
    <dgm:pt modelId="{20B2A9E3-6937-47B4-B32B-7FB19291CEEF}" type="pres">
      <dgm:prSet presAssocID="{A70A7113-BD22-4617-A5FE-9DF851FE6B73}" presName="tx1" presStyleLbl="revTx" presStyleIdx="0" presStyleCnt="6"/>
      <dgm:spPr/>
    </dgm:pt>
    <dgm:pt modelId="{47827CCC-C95E-48B1-B8A1-7E0066AD2A28}" type="pres">
      <dgm:prSet presAssocID="{A70A7113-BD22-4617-A5FE-9DF851FE6B73}" presName="vert1" presStyleCnt="0"/>
      <dgm:spPr/>
    </dgm:pt>
    <dgm:pt modelId="{528D1842-8406-4D16-98E3-DFD92E27F065}" type="pres">
      <dgm:prSet presAssocID="{9A4A1DB4-8FED-4D06-BC59-04BC9774D5A0}" presName="vertSpace2a" presStyleCnt="0"/>
      <dgm:spPr/>
    </dgm:pt>
    <dgm:pt modelId="{E3FC9C17-894A-49FB-BE43-8B8780C666BF}" type="pres">
      <dgm:prSet presAssocID="{9A4A1DB4-8FED-4D06-BC59-04BC9774D5A0}" presName="horz2" presStyleCnt="0"/>
      <dgm:spPr/>
    </dgm:pt>
    <dgm:pt modelId="{7CFE0AD6-7DC4-4589-A560-750E10B14D33}" type="pres">
      <dgm:prSet presAssocID="{9A4A1DB4-8FED-4D06-BC59-04BC9774D5A0}" presName="horzSpace2" presStyleCnt="0"/>
      <dgm:spPr/>
    </dgm:pt>
    <dgm:pt modelId="{C208BB3E-F91C-4AC2-8915-D41A7188DC9B}" type="pres">
      <dgm:prSet presAssocID="{9A4A1DB4-8FED-4D06-BC59-04BC9774D5A0}" presName="tx2" presStyleLbl="revTx" presStyleIdx="1" presStyleCnt="6"/>
      <dgm:spPr/>
    </dgm:pt>
    <dgm:pt modelId="{EA061043-7DE1-41BE-93AC-37615107CE0E}" type="pres">
      <dgm:prSet presAssocID="{9A4A1DB4-8FED-4D06-BC59-04BC9774D5A0}" presName="vert2" presStyleCnt="0"/>
      <dgm:spPr/>
    </dgm:pt>
    <dgm:pt modelId="{EF4B7C1F-9D12-4C37-B78F-8D37C120E0DB}" type="pres">
      <dgm:prSet presAssocID="{9A4A1DB4-8FED-4D06-BC59-04BC9774D5A0}" presName="thinLine2b" presStyleLbl="callout" presStyleIdx="0" presStyleCnt="5"/>
      <dgm:spPr/>
    </dgm:pt>
    <dgm:pt modelId="{F257B6B3-9421-44F6-834C-9563AF0E3FFB}" type="pres">
      <dgm:prSet presAssocID="{9A4A1DB4-8FED-4D06-BC59-04BC9774D5A0}" presName="vertSpace2b" presStyleCnt="0"/>
      <dgm:spPr/>
    </dgm:pt>
    <dgm:pt modelId="{D57D3F6A-0564-4355-9498-6D36211768BB}" type="pres">
      <dgm:prSet presAssocID="{F9595566-4891-4203-89F8-AAD45277D835}" presName="horz2" presStyleCnt="0"/>
      <dgm:spPr/>
    </dgm:pt>
    <dgm:pt modelId="{FB3C7CE3-FE5A-4B16-AAEF-D51B47315A25}" type="pres">
      <dgm:prSet presAssocID="{F9595566-4891-4203-89F8-AAD45277D835}" presName="horzSpace2" presStyleCnt="0"/>
      <dgm:spPr/>
    </dgm:pt>
    <dgm:pt modelId="{2EBE36DE-9EC9-4E8E-9821-C74D8816A0C1}" type="pres">
      <dgm:prSet presAssocID="{F9595566-4891-4203-89F8-AAD45277D835}" presName="tx2" presStyleLbl="revTx" presStyleIdx="2" presStyleCnt="6"/>
      <dgm:spPr/>
    </dgm:pt>
    <dgm:pt modelId="{F72D5B9C-CC16-492B-9E79-FA58C1C6E4D7}" type="pres">
      <dgm:prSet presAssocID="{F9595566-4891-4203-89F8-AAD45277D835}" presName="vert2" presStyleCnt="0"/>
      <dgm:spPr/>
    </dgm:pt>
    <dgm:pt modelId="{8495AFFB-7671-4997-BE4B-0CD11568B701}" type="pres">
      <dgm:prSet presAssocID="{F9595566-4891-4203-89F8-AAD45277D835}" presName="thinLine2b" presStyleLbl="callout" presStyleIdx="1" presStyleCnt="5"/>
      <dgm:spPr/>
    </dgm:pt>
    <dgm:pt modelId="{D8062AE1-341F-42CA-B54C-E8D4FFCDE9AF}" type="pres">
      <dgm:prSet presAssocID="{F9595566-4891-4203-89F8-AAD45277D835}" presName="vertSpace2b" presStyleCnt="0"/>
      <dgm:spPr/>
    </dgm:pt>
    <dgm:pt modelId="{4D7E8E5A-DB0A-417F-A1EB-EE6279B91D30}" type="pres">
      <dgm:prSet presAssocID="{1D844715-7E26-4ABA-9768-2732C3382A64}" presName="horz2" presStyleCnt="0"/>
      <dgm:spPr/>
    </dgm:pt>
    <dgm:pt modelId="{9D3E9BE4-8D8D-4431-AB07-4E9E8748E07C}" type="pres">
      <dgm:prSet presAssocID="{1D844715-7E26-4ABA-9768-2732C3382A64}" presName="horzSpace2" presStyleCnt="0"/>
      <dgm:spPr/>
    </dgm:pt>
    <dgm:pt modelId="{2E994E7A-EDA9-448B-94B3-67A95BEE6AF1}" type="pres">
      <dgm:prSet presAssocID="{1D844715-7E26-4ABA-9768-2732C3382A64}" presName="tx2" presStyleLbl="revTx" presStyleIdx="3" presStyleCnt="6"/>
      <dgm:spPr/>
    </dgm:pt>
    <dgm:pt modelId="{889BCAF8-0045-46A4-AC18-847F3A538389}" type="pres">
      <dgm:prSet presAssocID="{1D844715-7E26-4ABA-9768-2732C3382A64}" presName="vert2" presStyleCnt="0"/>
      <dgm:spPr/>
    </dgm:pt>
    <dgm:pt modelId="{F41C6F85-C66B-4FA3-806D-71DB15601DC2}" type="pres">
      <dgm:prSet presAssocID="{1D844715-7E26-4ABA-9768-2732C3382A64}" presName="thinLine2b" presStyleLbl="callout" presStyleIdx="2" presStyleCnt="5"/>
      <dgm:spPr/>
    </dgm:pt>
    <dgm:pt modelId="{024E99E0-3343-40E1-B08A-49918F8D056B}" type="pres">
      <dgm:prSet presAssocID="{1D844715-7E26-4ABA-9768-2732C3382A64}" presName="vertSpace2b" presStyleCnt="0"/>
      <dgm:spPr/>
    </dgm:pt>
    <dgm:pt modelId="{CBE7B1F9-383F-4D8A-88C0-63B3441FE862}" type="pres">
      <dgm:prSet presAssocID="{D02754F6-6FCA-4C03-B251-88174B47BCA9}" presName="horz2" presStyleCnt="0"/>
      <dgm:spPr/>
    </dgm:pt>
    <dgm:pt modelId="{C1057B28-B563-428C-A67E-3F7EED9CDADA}" type="pres">
      <dgm:prSet presAssocID="{D02754F6-6FCA-4C03-B251-88174B47BCA9}" presName="horzSpace2" presStyleCnt="0"/>
      <dgm:spPr/>
    </dgm:pt>
    <dgm:pt modelId="{C6F6F143-B776-45A7-911D-039BE24A243F}" type="pres">
      <dgm:prSet presAssocID="{D02754F6-6FCA-4C03-B251-88174B47BCA9}" presName="tx2" presStyleLbl="revTx" presStyleIdx="4" presStyleCnt="6"/>
      <dgm:spPr/>
    </dgm:pt>
    <dgm:pt modelId="{9DEBD4E0-7161-4E2F-B86F-A6B10D24CEC6}" type="pres">
      <dgm:prSet presAssocID="{D02754F6-6FCA-4C03-B251-88174B47BCA9}" presName="vert2" presStyleCnt="0"/>
      <dgm:spPr/>
    </dgm:pt>
    <dgm:pt modelId="{F01AF37B-E536-4F2F-9B39-5D419419F0F0}" type="pres">
      <dgm:prSet presAssocID="{D02754F6-6FCA-4C03-B251-88174B47BCA9}" presName="thinLine2b" presStyleLbl="callout" presStyleIdx="3" presStyleCnt="5"/>
      <dgm:spPr/>
    </dgm:pt>
    <dgm:pt modelId="{47087FB7-75DC-4024-869F-F31C4144926E}" type="pres">
      <dgm:prSet presAssocID="{D02754F6-6FCA-4C03-B251-88174B47BCA9}" presName="vertSpace2b" presStyleCnt="0"/>
      <dgm:spPr/>
    </dgm:pt>
    <dgm:pt modelId="{A3B0BAAC-3CDA-4000-9991-1A61F159FE18}" type="pres">
      <dgm:prSet presAssocID="{79F7734B-0C67-409B-ABB9-306A35FAEC63}" presName="horz2" presStyleCnt="0"/>
      <dgm:spPr/>
    </dgm:pt>
    <dgm:pt modelId="{B9F73921-B4E2-4810-8EBA-9CE854F0950D}" type="pres">
      <dgm:prSet presAssocID="{79F7734B-0C67-409B-ABB9-306A35FAEC63}" presName="horzSpace2" presStyleCnt="0"/>
      <dgm:spPr/>
    </dgm:pt>
    <dgm:pt modelId="{5AB46D0B-964F-401A-8CD6-06744C293EAF}" type="pres">
      <dgm:prSet presAssocID="{79F7734B-0C67-409B-ABB9-306A35FAEC63}" presName="tx2" presStyleLbl="revTx" presStyleIdx="5" presStyleCnt="6"/>
      <dgm:spPr/>
    </dgm:pt>
    <dgm:pt modelId="{2C9444F8-BEA4-4E5F-ABA1-BBEA78FC1A3A}" type="pres">
      <dgm:prSet presAssocID="{79F7734B-0C67-409B-ABB9-306A35FAEC63}" presName="vert2" presStyleCnt="0"/>
      <dgm:spPr/>
    </dgm:pt>
    <dgm:pt modelId="{8F405A73-E824-4FFC-B88E-16B3B00875B3}" type="pres">
      <dgm:prSet presAssocID="{79F7734B-0C67-409B-ABB9-306A35FAEC63}" presName="thinLine2b" presStyleLbl="callout" presStyleIdx="4" presStyleCnt="5"/>
      <dgm:spPr/>
    </dgm:pt>
    <dgm:pt modelId="{B4C2CA21-8CBE-46A5-B2DA-E23E6C7B72B3}" type="pres">
      <dgm:prSet presAssocID="{79F7734B-0C67-409B-ABB9-306A35FAEC63}" presName="vertSpace2b" presStyleCnt="0"/>
      <dgm:spPr/>
    </dgm:pt>
  </dgm:ptLst>
  <dgm:cxnLst>
    <dgm:cxn modelId="{E4AA5107-2852-42C1-A106-A39FF99BE8C3}" srcId="{A70A7113-BD22-4617-A5FE-9DF851FE6B73}" destId="{1D844715-7E26-4ABA-9768-2732C3382A64}" srcOrd="2" destOrd="0" parTransId="{DE2DB107-FD8E-4AD3-BEB9-A8AD9B7BDA71}" sibTransId="{720FD311-A0AB-431E-802C-938ABA9E40C9}"/>
    <dgm:cxn modelId="{1C32783B-A803-4C0D-BE84-467B6E050DA2}" srcId="{A70A7113-BD22-4617-A5FE-9DF851FE6B73}" destId="{9A4A1DB4-8FED-4D06-BC59-04BC9774D5A0}" srcOrd="0" destOrd="0" parTransId="{81A85B5E-A9CE-4355-848B-86AFC42E8199}" sibTransId="{49D5309F-5637-4FC0-97CD-3016D4F9B243}"/>
    <dgm:cxn modelId="{FC1AD364-3331-4C85-8BA5-A0D9D0535AE4}" srcId="{A70A7113-BD22-4617-A5FE-9DF851FE6B73}" destId="{79F7734B-0C67-409B-ABB9-306A35FAEC63}" srcOrd="4" destOrd="0" parTransId="{EE75534F-4605-4A9C-AB12-646749F7B5A8}" sibTransId="{297C2680-508E-424A-93F8-B66148662C68}"/>
    <dgm:cxn modelId="{808D5568-2934-4788-8FD0-43231B0AE896}" type="presOf" srcId="{79F7734B-0C67-409B-ABB9-306A35FAEC63}" destId="{5AB46D0B-964F-401A-8CD6-06744C293EAF}" srcOrd="0" destOrd="0" presId="urn:microsoft.com/office/officeart/2008/layout/LinedList"/>
    <dgm:cxn modelId="{892E4A56-91C3-44F4-8362-4DADDFAFD8ED}" type="presOf" srcId="{9A4A1DB4-8FED-4D06-BC59-04BC9774D5A0}" destId="{C208BB3E-F91C-4AC2-8915-D41A7188DC9B}" srcOrd="0" destOrd="0" presId="urn:microsoft.com/office/officeart/2008/layout/LinedList"/>
    <dgm:cxn modelId="{D9FF7F59-7AF1-4B87-B4EC-B1E7262B7CD0}" type="presOf" srcId="{1D844715-7E26-4ABA-9768-2732C3382A64}" destId="{2E994E7A-EDA9-448B-94B3-67A95BEE6AF1}" srcOrd="0" destOrd="0" presId="urn:microsoft.com/office/officeart/2008/layout/LinedList"/>
    <dgm:cxn modelId="{79FCB27A-7490-4646-A0D7-76B5F06962CB}" type="presOf" srcId="{F9595566-4891-4203-89F8-AAD45277D835}" destId="{2EBE36DE-9EC9-4E8E-9821-C74D8816A0C1}" srcOrd="0" destOrd="0" presId="urn:microsoft.com/office/officeart/2008/layout/LinedList"/>
    <dgm:cxn modelId="{1356BF83-F0BE-494E-87FF-7854FEB4BD51}" srcId="{A70A7113-BD22-4617-A5FE-9DF851FE6B73}" destId="{D02754F6-6FCA-4C03-B251-88174B47BCA9}" srcOrd="3" destOrd="0" parTransId="{724F08E7-87B0-48D2-A766-6E2D1929B88B}" sibTransId="{5E0CA35F-A953-430F-BD05-ADD5A4F21595}"/>
    <dgm:cxn modelId="{190DA9A5-59E6-4C62-A47A-80828AE2D535}" type="presOf" srcId="{A70A7113-BD22-4617-A5FE-9DF851FE6B73}" destId="{20B2A9E3-6937-47B4-B32B-7FB19291CEEF}" srcOrd="0" destOrd="0" presId="urn:microsoft.com/office/officeart/2008/layout/LinedList"/>
    <dgm:cxn modelId="{7E9CA3DC-0890-4B32-B389-A2971D22B4FF}" type="presOf" srcId="{1A974FD5-CF5C-4F85-AAC7-B8DD15F00DBB}" destId="{C87CD967-65C7-4A2C-86D5-0D88046202E7}" srcOrd="0" destOrd="0" presId="urn:microsoft.com/office/officeart/2008/layout/LinedList"/>
    <dgm:cxn modelId="{508C41E0-1998-4AD2-9323-867C07F8BD11}" type="presOf" srcId="{D02754F6-6FCA-4C03-B251-88174B47BCA9}" destId="{C6F6F143-B776-45A7-911D-039BE24A243F}" srcOrd="0" destOrd="0" presId="urn:microsoft.com/office/officeart/2008/layout/LinedList"/>
    <dgm:cxn modelId="{1F7EF0F5-2EA2-435D-97D6-4DAAA19CAD6D}" srcId="{1A974FD5-CF5C-4F85-AAC7-B8DD15F00DBB}" destId="{A70A7113-BD22-4617-A5FE-9DF851FE6B73}" srcOrd="0" destOrd="0" parTransId="{EB80E9AC-9A93-420A-A7B6-4508F22C1441}" sibTransId="{156047B9-D425-4737-86F5-FD2B5033E909}"/>
    <dgm:cxn modelId="{08B0ABF8-0968-43DD-A6E7-C6575621E467}" srcId="{A70A7113-BD22-4617-A5FE-9DF851FE6B73}" destId="{F9595566-4891-4203-89F8-AAD45277D835}" srcOrd="1" destOrd="0" parTransId="{2BFA1860-7503-45CD-B59B-C252EF73AAF2}" sibTransId="{6ACD0114-DA48-4305-BC25-DEA6FF1A1CA8}"/>
    <dgm:cxn modelId="{A0BD036D-5AA1-4BEF-A99E-5E831A341830}" type="presParOf" srcId="{C87CD967-65C7-4A2C-86D5-0D88046202E7}" destId="{E85B5517-142F-4E71-AD7D-FFB42293E28D}" srcOrd="0" destOrd="0" presId="urn:microsoft.com/office/officeart/2008/layout/LinedList"/>
    <dgm:cxn modelId="{7ADDE3F9-98D2-4A0D-90B7-24AE88DF2C95}" type="presParOf" srcId="{C87CD967-65C7-4A2C-86D5-0D88046202E7}" destId="{8C935DEC-84C7-4FBE-BD79-8A5EF8B456B0}" srcOrd="1" destOrd="0" presId="urn:microsoft.com/office/officeart/2008/layout/LinedList"/>
    <dgm:cxn modelId="{C27A3A4F-C59E-4B1D-BD67-56258BC8E8DF}" type="presParOf" srcId="{8C935DEC-84C7-4FBE-BD79-8A5EF8B456B0}" destId="{20B2A9E3-6937-47B4-B32B-7FB19291CEEF}" srcOrd="0" destOrd="0" presId="urn:microsoft.com/office/officeart/2008/layout/LinedList"/>
    <dgm:cxn modelId="{AAC283B9-3B76-493E-BF00-5962054B85EB}" type="presParOf" srcId="{8C935DEC-84C7-4FBE-BD79-8A5EF8B456B0}" destId="{47827CCC-C95E-48B1-B8A1-7E0066AD2A28}" srcOrd="1" destOrd="0" presId="urn:microsoft.com/office/officeart/2008/layout/LinedList"/>
    <dgm:cxn modelId="{2CA55FEF-EA7D-4C4F-A5BD-0A51B53AD9B9}" type="presParOf" srcId="{47827CCC-C95E-48B1-B8A1-7E0066AD2A28}" destId="{528D1842-8406-4D16-98E3-DFD92E27F065}" srcOrd="0" destOrd="0" presId="urn:microsoft.com/office/officeart/2008/layout/LinedList"/>
    <dgm:cxn modelId="{F86DF193-1003-46DD-B960-5320F89BC7A9}" type="presParOf" srcId="{47827CCC-C95E-48B1-B8A1-7E0066AD2A28}" destId="{E3FC9C17-894A-49FB-BE43-8B8780C666BF}" srcOrd="1" destOrd="0" presId="urn:microsoft.com/office/officeart/2008/layout/LinedList"/>
    <dgm:cxn modelId="{985A45F4-CDB2-4918-98EB-22F8DE7991A1}" type="presParOf" srcId="{E3FC9C17-894A-49FB-BE43-8B8780C666BF}" destId="{7CFE0AD6-7DC4-4589-A560-750E10B14D33}" srcOrd="0" destOrd="0" presId="urn:microsoft.com/office/officeart/2008/layout/LinedList"/>
    <dgm:cxn modelId="{D20CA238-E77F-436C-9139-155DEE7C202A}" type="presParOf" srcId="{E3FC9C17-894A-49FB-BE43-8B8780C666BF}" destId="{C208BB3E-F91C-4AC2-8915-D41A7188DC9B}" srcOrd="1" destOrd="0" presId="urn:microsoft.com/office/officeart/2008/layout/LinedList"/>
    <dgm:cxn modelId="{F66C026C-D36F-48F9-8335-3C698B4F2C90}" type="presParOf" srcId="{E3FC9C17-894A-49FB-BE43-8B8780C666BF}" destId="{EA061043-7DE1-41BE-93AC-37615107CE0E}" srcOrd="2" destOrd="0" presId="urn:microsoft.com/office/officeart/2008/layout/LinedList"/>
    <dgm:cxn modelId="{EB9F4EE5-78F3-4E8A-BB5E-D8E231F85F2A}" type="presParOf" srcId="{47827CCC-C95E-48B1-B8A1-7E0066AD2A28}" destId="{EF4B7C1F-9D12-4C37-B78F-8D37C120E0DB}" srcOrd="2" destOrd="0" presId="urn:microsoft.com/office/officeart/2008/layout/LinedList"/>
    <dgm:cxn modelId="{18554F04-F212-4CB2-9E11-462F60E9E19D}" type="presParOf" srcId="{47827CCC-C95E-48B1-B8A1-7E0066AD2A28}" destId="{F257B6B3-9421-44F6-834C-9563AF0E3FFB}" srcOrd="3" destOrd="0" presId="urn:microsoft.com/office/officeart/2008/layout/LinedList"/>
    <dgm:cxn modelId="{BEED52B8-2517-4AE6-960B-F5798C718A6E}" type="presParOf" srcId="{47827CCC-C95E-48B1-B8A1-7E0066AD2A28}" destId="{D57D3F6A-0564-4355-9498-6D36211768BB}" srcOrd="4" destOrd="0" presId="urn:microsoft.com/office/officeart/2008/layout/LinedList"/>
    <dgm:cxn modelId="{EDE02AA3-4280-4C27-BD13-5B4F7E601D47}" type="presParOf" srcId="{D57D3F6A-0564-4355-9498-6D36211768BB}" destId="{FB3C7CE3-FE5A-4B16-AAEF-D51B47315A25}" srcOrd="0" destOrd="0" presId="urn:microsoft.com/office/officeart/2008/layout/LinedList"/>
    <dgm:cxn modelId="{BB1B4475-2224-4566-B276-5218C4F41BF6}" type="presParOf" srcId="{D57D3F6A-0564-4355-9498-6D36211768BB}" destId="{2EBE36DE-9EC9-4E8E-9821-C74D8816A0C1}" srcOrd="1" destOrd="0" presId="urn:microsoft.com/office/officeart/2008/layout/LinedList"/>
    <dgm:cxn modelId="{6DEBD4F7-37DE-4393-9A2C-94EA3AC1814F}" type="presParOf" srcId="{D57D3F6A-0564-4355-9498-6D36211768BB}" destId="{F72D5B9C-CC16-492B-9E79-FA58C1C6E4D7}" srcOrd="2" destOrd="0" presId="urn:microsoft.com/office/officeart/2008/layout/LinedList"/>
    <dgm:cxn modelId="{E4A48D08-B11B-47D6-8DB3-25259C3A3494}" type="presParOf" srcId="{47827CCC-C95E-48B1-B8A1-7E0066AD2A28}" destId="{8495AFFB-7671-4997-BE4B-0CD11568B701}" srcOrd="5" destOrd="0" presId="urn:microsoft.com/office/officeart/2008/layout/LinedList"/>
    <dgm:cxn modelId="{B3CAC209-F3AA-4097-A586-B5DD7B54A3F4}" type="presParOf" srcId="{47827CCC-C95E-48B1-B8A1-7E0066AD2A28}" destId="{D8062AE1-341F-42CA-B54C-E8D4FFCDE9AF}" srcOrd="6" destOrd="0" presId="urn:microsoft.com/office/officeart/2008/layout/LinedList"/>
    <dgm:cxn modelId="{41F0171F-D484-4CF1-B895-67033AE57AAE}" type="presParOf" srcId="{47827CCC-C95E-48B1-B8A1-7E0066AD2A28}" destId="{4D7E8E5A-DB0A-417F-A1EB-EE6279B91D30}" srcOrd="7" destOrd="0" presId="urn:microsoft.com/office/officeart/2008/layout/LinedList"/>
    <dgm:cxn modelId="{671B132F-A259-46A9-81DF-981D0A6DB326}" type="presParOf" srcId="{4D7E8E5A-DB0A-417F-A1EB-EE6279B91D30}" destId="{9D3E9BE4-8D8D-4431-AB07-4E9E8748E07C}" srcOrd="0" destOrd="0" presId="urn:microsoft.com/office/officeart/2008/layout/LinedList"/>
    <dgm:cxn modelId="{E001AE33-98FF-462E-988D-EB9360DB67FE}" type="presParOf" srcId="{4D7E8E5A-DB0A-417F-A1EB-EE6279B91D30}" destId="{2E994E7A-EDA9-448B-94B3-67A95BEE6AF1}" srcOrd="1" destOrd="0" presId="urn:microsoft.com/office/officeart/2008/layout/LinedList"/>
    <dgm:cxn modelId="{A64E0DA8-666A-4B57-922D-01969865D36D}" type="presParOf" srcId="{4D7E8E5A-DB0A-417F-A1EB-EE6279B91D30}" destId="{889BCAF8-0045-46A4-AC18-847F3A538389}" srcOrd="2" destOrd="0" presId="urn:microsoft.com/office/officeart/2008/layout/LinedList"/>
    <dgm:cxn modelId="{EBE516E4-299C-409C-9182-E85C03AC5AA2}" type="presParOf" srcId="{47827CCC-C95E-48B1-B8A1-7E0066AD2A28}" destId="{F41C6F85-C66B-4FA3-806D-71DB15601DC2}" srcOrd="8" destOrd="0" presId="urn:microsoft.com/office/officeart/2008/layout/LinedList"/>
    <dgm:cxn modelId="{82B90284-22C2-4CD3-8556-9133F24C84AE}" type="presParOf" srcId="{47827CCC-C95E-48B1-B8A1-7E0066AD2A28}" destId="{024E99E0-3343-40E1-B08A-49918F8D056B}" srcOrd="9" destOrd="0" presId="urn:microsoft.com/office/officeart/2008/layout/LinedList"/>
    <dgm:cxn modelId="{0B2FCE6A-D3D5-44BB-8444-BC0283D26778}" type="presParOf" srcId="{47827CCC-C95E-48B1-B8A1-7E0066AD2A28}" destId="{CBE7B1F9-383F-4D8A-88C0-63B3441FE862}" srcOrd="10" destOrd="0" presId="urn:microsoft.com/office/officeart/2008/layout/LinedList"/>
    <dgm:cxn modelId="{B0563F62-14E9-4D71-B841-884C3BE67606}" type="presParOf" srcId="{CBE7B1F9-383F-4D8A-88C0-63B3441FE862}" destId="{C1057B28-B563-428C-A67E-3F7EED9CDADA}" srcOrd="0" destOrd="0" presId="urn:microsoft.com/office/officeart/2008/layout/LinedList"/>
    <dgm:cxn modelId="{C4E821E0-997E-44A5-9F3E-C8AC670C40BE}" type="presParOf" srcId="{CBE7B1F9-383F-4D8A-88C0-63B3441FE862}" destId="{C6F6F143-B776-45A7-911D-039BE24A243F}" srcOrd="1" destOrd="0" presId="urn:microsoft.com/office/officeart/2008/layout/LinedList"/>
    <dgm:cxn modelId="{9A74573D-89C1-44B1-81BA-205A02FCBBDC}" type="presParOf" srcId="{CBE7B1F9-383F-4D8A-88C0-63B3441FE862}" destId="{9DEBD4E0-7161-4E2F-B86F-A6B10D24CEC6}" srcOrd="2" destOrd="0" presId="urn:microsoft.com/office/officeart/2008/layout/LinedList"/>
    <dgm:cxn modelId="{050D9E10-D941-4FB0-809F-B9FBD658A7BB}" type="presParOf" srcId="{47827CCC-C95E-48B1-B8A1-7E0066AD2A28}" destId="{F01AF37B-E536-4F2F-9B39-5D419419F0F0}" srcOrd="11" destOrd="0" presId="urn:microsoft.com/office/officeart/2008/layout/LinedList"/>
    <dgm:cxn modelId="{1148CEFC-D160-4E5C-9ABA-727946188EA8}" type="presParOf" srcId="{47827CCC-C95E-48B1-B8A1-7E0066AD2A28}" destId="{47087FB7-75DC-4024-869F-F31C4144926E}" srcOrd="12" destOrd="0" presId="urn:microsoft.com/office/officeart/2008/layout/LinedList"/>
    <dgm:cxn modelId="{AC507D8A-29A3-4207-98C7-1E0353582D80}" type="presParOf" srcId="{47827CCC-C95E-48B1-B8A1-7E0066AD2A28}" destId="{A3B0BAAC-3CDA-4000-9991-1A61F159FE18}" srcOrd="13" destOrd="0" presId="urn:microsoft.com/office/officeart/2008/layout/LinedList"/>
    <dgm:cxn modelId="{D6EC3C23-D720-417A-A154-FE95F7310119}" type="presParOf" srcId="{A3B0BAAC-3CDA-4000-9991-1A61F159FE18}" destId="{B9F73921-B4E2-4810-8EBA-9CE854F0950D}" srcOrd="0" destOrd="0" presId="urn:microsoft.com/office/officeart/2008/layout/LinedList"/>
    <dgm:cxn modelId="{D3D9FD82-AEDB-4DAB-A27E-6FBBAD999C49}" type="presParOf" srcId="{A3B0BAAC-3CDA-4000-9991-1A61F159FE18}" destId="{5AB46D0B-964F-401A-8CD6-06744C293EAF}" srcOrd="1" destOrd="0" presId="urn:microsoft.com/office/officeart/2008/layout/LinedList"/>
    <dgm:cxn modelId="{488DC7E9-838E-46FF-9C9D-9C2363AD418F}" type="presParOf" srcId="{A3B0BAAC-3CDA-4000-9991-1A61F159FE18}" destId="{2C9444F8-BEA4-4E5F-ABA1-BBEA78FC1A3A}" srcOrd="2" destOrd="0" presId="urn:microsoft.com/office/officeart/2008/layout/LinedList"/>
    <dgm:cxn modelId="{9AA8272A-BE2B-4857-BAA7-3E8A6D5912C3}" type="presParOf" srcId="{47827CCC-C95E-48B1-B8A1-7E0066AD2A28}" destId="{8F405A73-E824-4FFC-B88E-16B3B00875B3}" srcOrd="14" destOrd="0" presId="urn:microsoft.com/office/officeart/2008/layout/LinedList"/>
    <dgm:cxn modelId="{6C256DC8-E41E-4376-A4D7-DE6B63888C3D}" type="presParOf" srcId="{47827CCC-C95E-48B1-B8A1-7E0066AD2A28}" destId="{B4C2CA21-8CBE-46A5-B2DA-E23E6C7B72B3}"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698ED-FF97-4969-A33B-381C83A6EFE3}">
      <dsp:nvSpPr>
        <dsp:cNvPr id="0" name=""/>
        <dsp:cNvSpPr/>
      </dsp:nvSpPr>
      <dsp:spPr>
        <a:xfrm>
          <a:off x="120956" y="2020"/>
          <a:ext cx="11018019" cy="694227"/>
        </a:xfrm>
        <a:prstGeom prst="roundRect">
          <a:avLst>
            <a:gd name="adj" fmla="val 10000"/>
          </a:avLst>
        </a:prstGeom>
        <a:gradFill rotWithShape="0">
          <a:gsLst>
            <a:gs pos="0">
              <a:schemeClr val="accent2">
                <a:alpha val="80000"/>
                <a:hueOff val="0"/>
                <a:satOff val="0"/>
                <a:lumOff val="0"/>
                <a:alphaOff val="0"/>
                <a:tint val="50000"/>
                <a:satMod val="300000"/>
              </a:schemeClr>
            </a:gs>
            <a:gs pos="35000">
              <a:schemeClr val="accent2">
                <a:alpha val="80000"/>
                <a:hueOff val="0"/>
                <a:satOff val="0"/>
                <a:lumOff val="0"/>
                <a:alphaOff val="0"/>
                <a:tint val="37000"/>
                <a:satMod val="300000"/>
              </a:schemeClr>
            </a:gs>
            <a:gs pos="100000">
              <a:schemeClr val="accent2">
                <a:alpha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0480" rIns="45720" bIns="30480" numCol="1" spcCol="1270" anchor="ctr" anchorCtr="0">
          <a:noAutofit/>
        </a:bodyPr>
        <a:lstStyle/>
        <a:p>
          <a:pPr marL="0" lvl="0" indent="0" algn="l" defTabSz="1066800">
            <a:lnSpc>
              <a:spcPct val="90000"/>
            </a:lnSpc>
            <a:spcBef>
              <a:spcPct val="0"/>
            </a:spcBef>
            <a:spcAft>
              <a:spcPct val="35000"/>
            </a:spcAft>
            <a:buNone/>
          </a:pPr>
          <a:r>
            <a:rPr lang="en-US" sz="2400" b="1" kern="1200" dirty="0">
              <a:latin typeface="Calibri" panose="020F0502020204030204" pitchFamily="34" charset="0"/>
              <a:ea typeface="Calibri" panose="020F0502020204030204" pitchFamily="34" charset="0"/>
              <a:cs typeface="Calibri" panose="020F0502020204030204" pitchFamily="34" charset="0"/>
            </a:rPr>
            <a:t>  As an AMP, MERP will: </a:t>
          </a:r>
          <a:endParaRPr lang="en-US" sz="2400" kern="1200" dirty="0">
            <a:latin typeface="Calibri" panose="020F0502020204030204" pitchFamily="34" charset="0"/>
            <a:cs typeface="Calibri" panose="020F0502020204030204" pitchFamily="34" charset="0"/>
          </a:endParaRPr>
        </a:p>
      </dsp:txBody>
      <dsp:txXfrm>
        <a:off x="141289" y="22353"/>
        <a:ext cx="10977353" cy="653561"/>
      </dsp:txXfrm>
    </dsp:sp>
    <dsp:sp modelId="{98A16FAE-3855-4827-88C0-DDC7C24CE2B7}">
      <dsp:nvSpPr>
        <dsp:cNvPr id="0" name=""/>
        <dsp:cNvSpPr/>
      </dsp:nvSpPr>
      <dsp:spPr>
        <a:xfrm>
          <a:off x="120956" y="884453"/>
          <a:ext cx="1045586" cy="1045586"/>
        </a:xfrm>
        <a:prstGeom prst="roundRect">
          <a:avLst>
            <a:gd name="adj" fmla="val 16670"/>
          </a:avLst>
        </a:prstGeom>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6B765E1-2683-439E-BD8A-F608DCC4A9A2}">
      <dsp:nvSpPr>
        <dsp:cNvPr id="0" name=""/>
        <dsp:cNvSpPr/>
      </dsp:nvSpPr>
      <dsp:spPr>
        <a:xfrm>
          <a:off x="1229278" y="884453"/>
          <a:ext cx="9909697" cy="1045586"/>
        </a:xfrm>
        <a:prstGeom prst="roundRect">
          <a:avLst>
            <a:gd name="adj" fmla="val 16670"/>
          </a:avLst>
        </a:prstGeom>
        <a:gradFill rotWithShape="0">
          <a:gsLst>
            <a:gs pos="0">
              <a:schemeClr val="accent2">
                <a:shade val="90000"/>
                <a:hueOff val="0"/>
                <a:satOff val="0"/>
                <a:lumOff val="0"/>
                <a:alphaOff val="0"/>
                <a:tint val="50000"/>
                <a:satMod val="300000"/>
              </a:schemeClr>
            </a:gs>
            <a:gs pos="35000">
              <a:schemeClr val="accent2">
                <a:shade val="90000"/>
                <a:hueOff val="0"/>
                <a:satOff val="0"/>
                <a:lumOff val="0"/>
                <a:alphaOff val="0"/>
                <a:tint val="37000"/>
                <a:satMod val="300000"/>
              </a:schemeClr>
            </a:gs>
            <a:gs pos="100000">
              <a:schemeClr val="accent2">
                <a:shade val="90000"/>
                <a:hueOff val="0"/>
                <a:satOff val="0"/>
                <a:lumOff val="0"/>
                <a:alphaOff val="0"/>
                <a:tint val="15000"/>
                <a:satMod val="350000"/>
              </a:schemeClr>
            </a:gs>
          </a:gsLst>
          <a:lin ang="16200000" scaled="1"/>
        </a:gradFill>
        <a:ln w="9525" cap="flat" cmpd="sng" algn="ctr">
          <a:solidFill>
            <a:schemeClr val="lt1">
              <a:hueOff val="0"/>
              <a:satOff val="0"/>
              <a:lumOff val="0"/>
              <a:alphaOff val="0"/>
            </a:schemeClr>
          </a:solidFill>
          <a:prstDash val="solid"/>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panose="020F0502020204030204" pitchFamily="34" charset="0"/>
              <a:cs typeface="Calibri" panose="020F0502020204030204" pitchFamily="34" charset="0"/>
            </a:rPr>
            <a:t>Administer an accelerated review process for priority research that allows for the peer-review of research during all 4 quarters of the year.</a:t>
          </a:r>
        </a:p>
      </dsp:txBody>
      <dsp:txXfrm>
        <a:off x="1280328" y="935503"/>
        <a:ext cx="9807597" cy="943486"/>
      </dsp:txXfrm>
    </dsp:sp>
    <dsp:sp modelId="{95269AA7-72ED-46D0-800E-99A927143081}">
      <dsp:nvSpPr>
        <dsp:cNvPr id="0" name=""/>
        <dsp:cNvSpPr/>
      </dsp:nvSpPr>
      <dsp:spPr>
        <a:xfrm>
          <a:off x="120956" y="2055510"/>
          <a:ext cx="1045586" cy="1045586"/>
        </a:xfrm>
        <a:prstGeom prst="roundRect">
          <a:avLst>
            <a:gd name="adj" fmla="val 16670"/>
          </a:avLst>
        </a:prstGeom>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5A75CC7-DF89-4CF0-9D30-B0080C886F4D}">
      <dsp:nvSpPr>
        <dsp:cNvPr id="0" name=""/>
        <dsp:cNvSpPr/>
      </dsp:nvSpPr>
      <dsp:spPr>
        <a:xfrm>
          <a:off x="1229278" y="2055510"/>
          <a:ext cx="9909697" cy="1045586"/>
        </a:xfrm>
        <a:prstGeom prst="roundRect">
          <a:avLst>
            <a:gd name="adj" fmla="val 16670"/>
          </a:avLst>
        </a:prstGeom>
        <a:gradFill rotWithShape="0">
          <a:gsLst>
            <a:gs pos="0">
              <a:schemeClr val="accent2">
                <a:shade val="90000"/>
                <a:hueOff val="391697"/>
                <a:satOff val="-30348"/>
                <a:lumOff val="22733"/>
                <a:alphaOff val="-25000"/>
                <a:tint val="50000"/>
                <a:satMod val="300000"/>
              </a:schemeClr>
            </a:gs>
            <a:gs pos="35000">
              <a:schemeClr val="accent2">
                <a:shade val="90000"/>
                <a:hueOff val="391697"/>
                <a:satOff val="-30348"/>
                <a:lumOff val="22733"/>
                <a:alphaOff val="-25000"/>
                <a:tint val="37000"/>
                <a:satMod val="300000"/>
              </a:schemeClr>
            </a:gs>
            <a:gs pos="100000">
              <a:schemeClr val="accent2">
                <a:shade val="90000"/>
                <a:hueOff val="391697"/>
                <a:satOff val="-30348"/>
                <a:lumOff val="22733"/>
                <a:alphaOff val="-25000"/>
                <a:tint val="15000"/>
                <a:satMod val="350000"/>
              </a:schemeClr>
            </a:gs>
          </a:gsLst>
          <a:lin ang="16200000" scaled="1"/>
        </a:gradFill>
        <a:ln w="9525" cap="flat" cmpd="sng" algn="ctr">
          <a:solidFill>
            <a:schemeClr val="lt1">
              <a:hueOff val="0"/>
              <a:satOff val="0"/>
              <a:lumOff val="0"/>
              <a:alphaOff val="0"/>
            </a:schemeClr>
          </a:solidFill>
          <a:prstDash val="solid"/>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panose="020F0502020204030204" pitchFamily="34" charset="0"/>
              <a:cs typeface="Calibri" panose="020F0502020204030204" pitchFamily="34" charset="0"/>
            </a:rPr>
            <a:t>Utilize a matrixed organizational model that reduces duplicative research and increases collaboration.</a:t>
          </a:r>
        </a:p>
      </dsp:txBody>
      <dsp:txXfrm>
        <a:off x="1280328" y="2106560"/>
        <a:ext cx="9807597" cy="943486"/>
      </dsp:txXfrm>
    </dsp:sp>
    <dsp:sp modelId="{05A2DD6E-B4C8-420A-84AD-D6E4D11A8596}">
      <dsp:nvSpPr>
        <dsp:cNvPr id="0" name=""/>
        <dsp:cNvSpPr/>
      </dsp:nvSpPr>
      <dsp:spPr>
        <a:xfrm>
          <a:off x="120956" y="3226567"/>
          <a:ext cx="1045586" cy="1045586"/>
        </a:xfrm>
        <a:prstGeom prst="roundRect">
          <a:avLst>
            <a:gd name="adj" fmla="val 16670"/>
          </a:avLst>
        </a:prstGeom>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A7323A8-9016-4AD7-BDE0-8328ABCD361F}">
      <dsp:nvSpPr>
        <dsp:cNvPr id="0" name=""/>
        <dsp:cNvSpPr/>
      </dsp:nvSpPr>
      <dsp:spPr>
        <a:xfrm>
          <a:off x="1229278" y="3226567"/>
          <a:ext cx="9909697" cy="1045586"/>
        </a:xfrm>
        <a:prstGeom prst="roundRect">
          <a:avLst>
            <a:gd name="adj" fmla="val 16670"/>
          </a:avLst>
        </a:prstGeom>
        <a:gradFill rotWithShape="0">
          <a:gsLst>
            <a:gs pos="0">
              <a:schemeClr val="accent2">
                <a:shade val="90000"/>
                <a:hueOff val="783395"/>
                <a:satOff val="-60696"/>
                <a:lumOff val="45465"/>
                <a:alphaOff val="-50000"/>
                <a:tint val="50000"/>
                <a:satMod val="300000"/>
              </a:schemeClr>
            </a:gs>
            <a:gs pos="35000">
              <a:schemeClr val="accent2">
                <a:shade val="90000"/>
                <a:hueOff val="783395"/>
                <a:satOff val="-60696"/>
                <a:lumOff val="45465"/>
                <a:alphaOff val="-50000"/>
                <a:tint val="37000"/>
                <a:satMod val="300000"/>
              </a:schemeClr>
            </a:gs>
            <a:gs pos="100000">
              <a:schemeClr val="accent2">
                <a:shade val="90000"/>
                <a:hueOff val="783395"/>
                <a:satOff val="-60696"/>
                <a:lumOff val="45465"/>
                <a:alphaOff val="-50000"/>
                <a:tint val="15000"/>
                <a:satMod val="350000"/>
              </a:schemeClr>
            </a:gs>
          </a:gsLst>
          <a:lin ang="16200000" scaled="1"/>
        </a:gradFill>
        <a:ln w="9525" cap="flat" cmpd="sng" algn="ctr">
          <a:solidFill>
            <a:schemeClr val="lt1">
              <a:hueOff val="0"/>
              <a:satOff val="0"/>
              <a:lumOff val="0"/>
              <a:alphaOff val="0"/>
            </a:schemeClr>
          </a:solidFill>
          <a:prstDash val="solid"/>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panose="020F0502020204030204" pitchFamily="34" charset="0"/>
              <a:cs typeface="Calibri" panose="020F0502020204030204" pitchFamily="34" charset="0"/>
            </a:rPr>
            <a:t>Set Critical Research Priorities that will guide medium and long-term planning of the AMP.</a:t>
          </a:r>
        </a:p>
      </dsp:txBody>
      <dsp:txXfrm>
        <a:off x="1280328" y="3277617"/>
        <a:ext cx="9807597" cy="9434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5B5517-142F-4E71-AD7D-FFB42293E28D}">
      <dsp:nvSpPr>
        <dsp:cNvPr id="0" name=""/>
        <dsp:cNvSpPr/>
      </dsp:nvSpPr>
      <dsp:spPr>
        <a:xfrm>
          <a:off x="0" y="0"/>
          <a:ext cx="11629571" cy="0"/>
        </a:xfrm>
        <a:prstGeom prst="lin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B2A9E3-6937-47B4-B32B-7FB19291CEEF}">
      <dsp:nvSpPr>
        <dsp:cNvPr id="0" name=""/>
        <dsp:cNvSpPr/>
      </dsp:nvSpPr>
      <dsp:spPr>
        <a:xfrm>
          <a:off x="0" y="0"/>
          <a:ext cx="2325914" cy="5268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endParaRPr kumimoji="0" lang="en-US" sz="2600" b="1" i="0" u="none" strike="noStrike" kern="1200" cap="none" spc="0" normalizeH="0" baseline="0" noProof="0" dirty="0">
            <a:ln/>
            <a:effectLst/>
            <a:uLnTx/>
            <a:uFillTx/>
            <a:latin typeface="Source Sans Pro"/>
            <a:ea typeface="Calibri" panose="020F0502020204030204" pitchFamily="34" charset="0"/>
            <a:cs typeface="Arial"/>
          </a:endParaRPr>
        </a:p>
        <a:p>
          <a:pPr marL="0" lvl="0" indent="0" algn="l" defTabSz="1155700">
            <a:lnSpc>
              <a:spcPct val="90000"/>
            </a:lnSpc>
            <a:spcBef>
              <a:spcPct val="0"/>
            </a:spcBef>
            <a:spcAft>
              <a:spcPct val="35000"/>
            </a:spcAft>
            <a:buNone/>
          </a:pPr>
          <a:r>
            <a:rPr kumimoji="0" lang="en-US" sz="2000" b="1" i="0" u="none" strike="noStrike" kern="1200" cap="none" spc="0" normalizeH="0" baseline="0" noProof="0" dirty="0">
              <a:ln/>
              <a:effectLst/>
              <a:uLnTx/>
              <a:uFillTx/>
              <a:latin typeface="Source Sans Pro"/>
              <a:ea typeface="Calibri" panose="020F0502020204030204" pitchFamily="34" charset="0"/>
              <a:cs typeface="Arial"/>
            </a:rPr>
            <a:t> </a:t>
          </a:r>
        </a:p>
        <a:p>
          <a:pPr marL="0" lvl="0" indent="0" algn="l" defTabSz="1155700">
            <a:lnSpc>
              <a:spcPct val="90000"/>
            </a:lnSpc>
            <a:spcBef>
              <a:spcPct val="0"/>
            </a:spcBef>
            <a:spcAft>
              <a:spcPct val="35000"/>
            </a:spcAft>
            <a:buNone/>
          </a:pPr>
          <a:r>
            <a:rPr kumimoji="0" lang="en-US" sz="2600" b="1" i="0" u="none" strike="noStrike" kern="1200"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Military Exposures Research Program (MERP) - Research Infrastructure</a:t>
          </a:r>
          <a:endParaRPr lang="en-US" sz="2600" kern="1200" dirty="0">
            <a:latin typeface="Calibri" panose="020F0502020204030204" pitchFamily="34" charset="0"/>
            <a:cs typeface="Calibri" panose="020F0502020204030204" pitchFamily="34" charset="0"/>
          </a:endParaRPr>
        </a:p>
      </dsp:txBody>
      <dsp:txXfrm>
        <a:off x="0" y="0"/>
        <a:ext cx="2325914" cy="5268685"/>
      </dsp:txXfrm>
    </dsp:sp>
    <dsp:sp modelId="{C208BB3E-F91C-4AC2-8915-D41A7188DC9B}">
      <dsp:nvSpPr>
        <dsp:cNvPr id="0" name=""/>
        <dsp:cNvSpPr/>
      </dsp:nvSpPr>
      <dsp:spPr>
        <a:xfrm>
          <a:off x="2500357" y="49651"/>
          <a:ext cx="9129214" cy="993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0" lang="en-US" sz="2000" b="0" i="0" u="none" strike="noStrike" kern="1200"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Enterprise-level core capabilities to support funded investigator studies needing exposure assessment, data/survey tools and analysis, biospecimen collection, storage and analysis.</a:t>
          </a:r>
        </a:p>
      </dsp:txBody>
      <dsp:txXfrm>
        <a:off x="2500357" y="49651"/>
        <a:ext cx="9129214" cy="993023"/>
      </dsp:txXfrm>
    </dsp:sp>
    <dsp:sp modelId="{EF4B7C1F-9D12-4C37-B78F-8D37C120E0DB}">
      <dsp:nvSpPr>
        <dsp:cNvPr id="0" name=""/>
        <dsp:cNvSpPr/>
      </dsp:nvSpPr>
      <dsp:spPr>
        <a:xfrm>
          <a:off x="2325914" y="1042674"/>
          <a:ext cx="930365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BE36DE-9EC9-4E8E-9821-C74D8816A0C1}">
      <dsp:nvSpPr>
        <dsp:cNvPr id="0" name=""/>
        <dsp:cNvSpPr/>
      </dsp:nvSpPr>
      <dsp:spPr>
        <a:xfrm>
          <a:off x="2500357" y="1092326"/>
          <a:ext cx="9129214" cy="993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0" lang="en-US" sz="2000" b="0" i="0" u="none" strike="noStrike" kern="1200"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Requests for Applications (RFA): RFAs were developed and released broadly to support key gap portfolio areas.</a:t>
          </a:r>
        </a:p>
      </dsp:txBody>
      <dsp:txXfrm>
        <a:off x="2500357" y="1092326"/>
        <a:ext cx="9129214" cy="993023"/>
      </dsp:txXfrm>
    </dsp:sp>
    <dsp:sp modelId="{8495AFFB-7671-4997-BE4B-0CD11568B701}">
      <dsp:nvSpPr>
        <dsp:cNvPr id="0" name=""/>
        <dsp:cNvSpPr/>
      </dsp:nvSpPr>
      <dsp:spPr>
        <a:xfrm>
          <a:off x="2325914" y="2085349"/>
          <a:ext cx="930365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994E7A-EDA9-448B-94B3-67A95BEE6AF1}">
      <dsp:nvSpPr>
        <dsp:cNvPr id="0" name=""/>
        <dsp:cNvSpPr/>
      </dsp:nvSpPr>
      <dsp:spPr>
        <a:xfrm>
          <a:off x="2500357" y="2135000"/>
          <a:ext cx="9129214" cy="993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0" lang="en-US" sz="2000" b="0" i="0" u="none" strike="noStrike" kern="1200"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ORD Military Exposure Research Innovation Center(s) (MERICs) have been launched to support high impact, highly innovative key priority projects.</a:t>
          </a:r>
        </a:p>
      </dsp:txBody>
      <dsp:txXfrm>
        <a:off x="2500357" y="2135000"/>
        <a:ext cx="9129214" cy="993023"/>
      </dsp:txXfrm>
    </dsp:sp>
    <dsp:sp modelId="{F41C6F85-C66B-4FA3-806D-71DB15601DC2}">
      <dsp:nvSpPr>
        <dsp:cNvPr id="0" name=""/>
        <dsp:cNvSpPr/>
      </dsp:nvSpPr>
      <dsp:spPr>
        <a:xfrm>
          <a:off x="2325914" y="3128024"/>
          <a:ext cx="930365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F6F143-B776-45A7-911D-039BE24A243F}">
      <dsp:nvSpPr>
        <dsp:cNvPr id="0" name=""/>
        <dsp:cNvSpPr/>
      </dsp:nvSpPr>
      <dsp:spPr>
        <a:xfrm>
          <a:off x="2500357" y="3177675"/>
          <a:ext cx="9129214" cy="993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0" lang="en-US" sz="2000" b="0" i="0" u="none" strike="noStrike" kern="1200"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rPr>
            <a:t>Capacity Building: Intra- and Inter-federal and academic partnership building are imperative to move military exposure assessment and health research forward efficiently and uniformly. </a:t>
          </a:r>
        </a:p>
      </dsp:txBody>
      <dsp:txXfrm>
        <a:off x="2500357" y="3177675"/>
        <a:ext cx="9129214" cy="993023"/>
      </dsp:txXfrm>
    </dsp:sp>
    <dsp:sp modelId="{F01AF37B-E536-4F2F-9B39-5D419419F0F0}">
      <dsp:nvSpPr>
        <dsp:cNvPr id="0" name=""/>
        <dsp:cNvSpPr/>
      </dsp:nvSpPr>
      <dsp:spPr>
        <a:xfrm>
          <a:off x="2325914" y="4170699"/>
          <a:ext cx="930365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AB46D0B-964F-401A-8CD6-06744C293EAF}">
      <dsp:nvSpPr>
        <dsp:cNvPr id="0" name=""/>
        <dsp:cNvSpPr/>
      </dsp:nvSpPr>
      <dsp:spPr>
        <a:xfrm>
          <a:off x="2500357" y="4220350"/>
          <a:ext cx="9129214" cy="993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kumimoji="0" lang="en-US" sz="2000" b="0" i="0" u="none" strike="noStrike" kern="1200" cap="none" spc="0" normalizeH="0" baseline="0" noProof="0" dirty="0">
              <a:ln/>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rPr>
            <a:t>The Toxic Exposures Fund for ORD is $45 million. Roughly $25 million is available for RFA’s, Career Development Awards (CDA’s), and administrative funding.</a:t>
          </a:r>
          <a:endParaRPr kumimoji="0" lang="en-US" sz="2000" b="0" i="0" u="none" strike="noStrike" kern="1200" cap="none" spc="0" normalizeH="0" baseline="0" noProof="0" dirty="0">
            <a:ln/>
            <a:effectLst/>
            <a:uLnTx/>
            <a:uFillTx/>
            <a:latin typeface="Calibri" panose="020F0502020204030204" pitchFamily="34" charset="0"/>
            <a:ea typeface="Calibri" panose="020F0502020204030204" pitchFamily="34" charset="0"/>
            <a:cs typeface="Calibri" panose="020F0502020204030204" pitchFamily="34" charset="0"/>
          </a:endParaRPr>
        </a:p>
      </dsp:txBody>
      <dsp:txXfrm>
        <a:off x="2500357" y="4220350"/>
        <a:ext cx="9129214" cy="993023"/>
      </dsp:txXfrm>
    </dsp:sp>
    <dsp:sp modelId="{8F405A73-E824-4FFC-B88E-16B3B00875B3}">
      <dsp:nvSpPr>
        <dsp:cNvPr id="0" name=""/>
        <dsp:cNvSpPr/>
      </dsp:nvSpPr>
      <dsp:spPr>
        <a:xfrm>
          <a:off x="2325914" y="5213374"/>
          <a:ext cx="9303657"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D254D-4A5D-44B7-AF76-B550E402D5B2}" type="datetimeFigureOut">
              <a:rPr lang="en-US" smtClean="0"/>
              <a:t>3/12/2024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0DE1F-FAF5-4CE4-A3AD-C1E2AFE77960}" type="slidenum">
              <a:rPr lang="en-US" smtClean="0"/>
              <a:t>‹#›</a:t>
            </a:fld>
            <a:endParaRPr lang="en-US" dirty="0"/>
          </a:p>
        </p:txBody>
      </p:sp>
    </p:spTree>
    <p:extLst>
      <p:ext uri="{BB962C8B-B14F-4D97-AF65-F5344CB8AC3E}">
        <p14:creationId xmlns:p14="http://schemas.microsoft.com/office/powerpoint/2010/main" val="3608341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CAA51-C07C-3B44-CE95-95E7D832F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464C5-3EB3-5512-6A63-5EDF1DE50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623AE-1C9F-B177-1170-9FC0736F9E74}"/>
              </a:ext>
            </a:extLst>
          </p:cNvPr>
          <p:cNvSpPr>
            <a:spLocks noGrp="1"/>
          </p:cNvSpPr>
          <p:nvPr>
            <p:ph type="body" idx="1"/>
          </p:nvPr>
        </p:nvSpPr>
        <p:spPr/>
        <p:txBody>
          <a:bodyPr/>
          <a:lstStyle/>
          <a:p>
            <a:pPr marL="0" lvl="0" indent="0" algn="l" rtl="0">
              <a:spcBef>
                <a:spcPts val="0"/>
              </a:spcBef>
              <a:spcAft>
                <a:spcPts val="0"/>
              </a:spcAft>
              <a:buNone/>
            </a:pPr>
            <a:endParaRPr lang="en-US" dirty="0"/>
          </a:p>
          <a:p>
            <a:endParaRPr lang="en-US" dirty="0"/>
          </a:p>
        </p:txBody>
      </p:sp>
      <p:sp>
        <p:nvSpPr>
          <p:cNvPr id="4" name="Slide Number Placeholder 3">
            <a:extLst>
              <a:ext uri="{FF2B5EF4-FFF2-40B4-BE49-F238E27FC236}">
                <a16:creationId xmlns:a16="http://schemas.microsoft.com/office/drawing/2014/main" id="{5E3956F0-A84D-26D0-5498-AC07D61D3F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442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NOT FINISHED EDITING</a:t>
            </a:r>
          </a:p>
        </p:txBody>
      </p:sp>
      <p:sp>
        <p:nvSpPr>
          <p:cNvPr id="4" name="Slide Number Placeholder 3"/>
          <p:cNvSpPr>
            <a:spLocks noGrp="1"/>
          </p:cNvSpPr>
          <p:nvPr>
            <p:ph type="sldNum" sz="quarter" idx="5"/>
          </p:nvPr>
        </p:nvSpPr>
        <p:spPr/>
        <p:txBody>
          <a:bodyPr/>
          <a:lstStyle/>
          <a:p>
            <a:fld id="{FAD0DE1F-FAF5-4CE4-A3AD-C1E2AFE77960}" type="slidenum">
              <a:rPr lang="en-US" smtClean="0"/>
              <a:t>4</a:t>
            </a:fld>
            <a:endParaRPr lang="en-US" dirty="0"/>
          </a:p>
        </p:txBody>
      </p:sp>
    </p:spTree>
    <p:extLst>
      <p:ext uri="{BB962C8B-B14F-4D97-AF65-F5344CB8AC3E}">
        <p14:creationId xmlns:p14="http://schemas.microsoft.com/office/powerpoint/2010/main" val="4070385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 revisit this slide to edit</a:t>
            </a:r>
          </a:p>
        </p:txBody>
      </p:sp>
      <p:sp>
        <p:nvSpPr>
          <p:cNvPr id="4" name="Slide Number Placeholder 3"/>
          <p:cNvSpPr>
            <a:spLocks noGrp="1"/>
          </p:cNvSpPr>
          <p:nvPr>
            <p:ph type="sldNum" sz="quarter" idx="5"/>
          </p:nvPr>
        </p:nvSpPr>
        <p:spPr/>
        <p:txBody>
          <a:bodyPr/>
          <a:lstStyle/>
          <a:p>
            <a:fld id="{FAD0DE1F-FAF5-4CE4-A3AD-C1E2AFE77960}" type="slidenum">
              <a:rPr lang="en-US" smtClean="0"/>
              <a:t>5</a:t>
            </a:fld>
            <a:endParaRPr lang="en-US" dirty="0"/>
          </a:p>
        </p:txBody>
      </p:sp>
    </p:spTree>
    <p:extLst>
      <p:ext uri="{BB962C8B-B14F-4D97-AF65-F5344CB8AC3E}">
        <p14:creationId xmlns:p14="http://schemas.microsoft.com/office/powerpoint/2010/main" val="2430470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Reformatted</a:t>
            </a:r>
          </a:p>
        </p:txBody>
      </p:sp>
      <p:sp>
        <p:nvSpPr>
          <p:cNvPr id="4" name="Slide Number Placeholder 3"/>
          <p:cNvSpPr>
            <a:spLocks noGrp="1"/>
          </p:cNvSpPr>
          <p:nvPr>
            <p:ph type="sldNum" sz="quarter" idx="5"/>
          </p:nvPr>
        </p:nvSpPr>
        <p:spPr/>
        <p:txBody>
          <a:bodyPr/>
          <a:lstStyle/>
          <a:p>
            <a:fld id="{FAD0DE1F-FAF5-4CE4-A3AD-C1E2AFE77960}" type="slidenum">
              <a:rPr lang="en-US" smtClean="0"/>
              <a:t>7</a:t>
            </a:fld>
            <a:endParaRPr lang="en-US" dirty="0"/>
          </a:p>
        </p:txBody>
      </p:sp>
    </p:spTree>
    <p:extLst>
      <p:ext uri="{BB962C8B-B14F-4D97-AF65-F5344CB8AC3E}">
        <p14:creationId xmlns:p14="http://schemas.microsoft.com/office/powerpoint/2010/main" val="3142373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marR="1156970" lvl="1" indent="-342900" algn="l" defTabSz="914400" rtl="0" eaLnBrk="1" fontAlgn="auto" latinLnBrk="0" hangingPunct="1">
              <a:lnSpc>
                <a:spcPct val="100000"/>
              </a:lnSpc>
              <a:spcBef>
                <a:spcPts val="0"/>
              </a:spcBef>
              <a:buClrTx/>
              <a:buSzTx/>
              <a:buFont typeface="Arial" panose="020B0604020202020204" pitchFamily="34" charset="0"/>
              <a:buChar char="•"/>
              <a:tabLst/>
              <a:defRPr/>
            </a:pPr>
            <a:br>
              <a:rPr lang="en-US" sz="1200" dirty="0">
                <a:cs typeface="Arial" panose="020B0604020202020204" pitchFamily="34" charset="0"/>
              </a:rPr>
            </a:br>
            <a:endParaRPr lang="en-US" sz="1200" dirty="0">
              <a:cs typeface="Arial" panose="020B0604020202020204" pitchFamily="34" charset="0"/>
            </a:endParaRPr>
          </a:p>
          <a:p>
            <a:pPr marL="1143000" marR="1156970" lvl="1" indent="-342900" algn="l" defTabSz="914400" rtl="0" eaLnBrk="1" fontAlgn="auto" latinLnBrk="0" hangingPunct="1">
              <a:lnSpc>
                <a:spcPct val="100000"/>
              </a:lnSpc>
              <a:spcBef>
                <a:spcPts val="0"/>
              </a:spcBef>
              <a:buClrTx/>
              <a:buSzTx/>
              <a:buFont typeface="Arial" panose="020B0604020202020204" pitchFamily="34" charset="0"/>
              <a:buChar char="•"/>
              <a:tabLst/>
              <a:defRPr/>
            </a:pPr>
            <a:br>
              <a:rPr lang="en-US" sz="1200" dirty="0">
                <a:cs typeface="Arial" panose="020B0604020202020204" pitchFamily="34" charset="0"/>
              </a:rPr>
            </a:br>
            <a:endParaRPr lang="en-US" dirty="0"/>
          </a:p>
          <a:p>
            <a:pPr marL="1143000" marR="1156970" lvl="1" indent="-342900" algn="l" defTabSz="914400" rtl="0" eaLnBrk="1" fontAlgn="auto" latinLnBrk="0" hangingPunct="1">
              <a:lnSpc>
                <a:spcPct val="100000"/>
              </a:lnSpc>
              <a:spcBef>
                <a:spcPts val="0"/>
              </a:spcBef>
              <a:buClrTx/>
              <a:buSzTx/>
              <a:buFont typeface="Arial" panose="020B0604020202020204" pitchFamily="34" charset="0"/>
              <a:buChar char="•"/>
              <a:tabLst/>
              <a:defRPr/>
            </a:pPr>
            <a:endParaRPr lang="en-US" sz="1200" dirty="0">
              <a:cs typeface="Arial" panose="020B0604020202020204" pitchFamily="34" charset="0"/>
            </a:endParaRPr>
          </a:p>
          <a:p>
            <a:pPr marL="1143000" marR="1156970" lvl="1" indent="-342900">
              <a:buFont typeface="Arial" panose="020B0604020202020204" pitchFamily="34" charset="0"/>
              <a:buChar char="•"/>
              <a:defRPr/>
            </a:pPr>
            <a:r>
              <a:rPr lang="en-US" sz="1200" dirty="0">
                <a:cs typeface="Arial"/>
              </a:rPr>
              <a:t>Military exposure research was identified by Veterans Affairs Chief Research &amp; Development Officer of the Office of Research &amp; Development as a top cross-cutting clinical priority </a:t>
            </a:r>
            <a:endParaRPr lang="en-US" sz="1200" dirty="0">
              <a:latin typeface="Source Sans Pro"/>
              <a:ea typeface="Source Sans Pro"/>
              <a:cs typeface="Arial"/>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4995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4765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65BE2-5CCE-DD17-F1C7-B20DD9D59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322B0-41D5-3FAB-82A0-24DD9A37F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B8546-4C60-60D2-F8B8-0B01565398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06BA3-A7B1-4F0D-8F1A-7411B335F3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8145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0DE1F-FAF5-4CE4-A3AD-C1E2AFE77960}" type="slidenum">
              <a:rPr lang="en-US" smtClean="0"/>
              <a:t>14</a:t>
            </a:fld>
            <a:endParaRPr lang="en-US" dirty="0"/>
          </a:p>
        </p:txBody>
      </p:sp>
    </p:spTree>
    <p:extLst>
      <p:ext uri="{BB962C8B-B14F-4D97-AF65-F5344CB8AC3E}">
        <p14:creationId xmlns:p14="http://schemas.microsoft.com/office/powerpoint/2010/main" val="129711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0DE1F-FAF5-4CE4-A3AD-C1E2AFE77960}" type="slidenum">
              <a:rPr lang="en-US" smtClean="0"/>
              <a:t>15</a:t>
            </a:fld>
            <a:endParaRPr lang="en-US" dirty="0"/>
          </a:p>
        </p:txBody>
      </p:sp>
    </p:spTree>
    <p:extLst>
      <p:ext uri="{BB962C8B-B14F-4D97-AF65-F5344CB8AC3E}">
        <p14:creationId xmlns:p14="http://schemas.microsoft.com/office/powerpoint/2010/main" val="2925410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38317-8505-ECC5-84CA-3D4777295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A48B3-CE67-F18B-F5DA-491EC38C1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6A93BF-9925-51E6-4B52-A83B22C0500D}"/>
              </a:ext>
            </a:extLst>
          </p:cNvPr>
          <p:cNvSpPr>
            <a:spLocks noGrp="1"/>
          </p:cNvSpPr>
          <p:nvPr>
            <p:ph type="body" idx="1"/>
          </p:nvPr>
        </p:nvSpPr>
        <p:spPr/>
        <p:txBody>
          <a:bodyPr/>
          <a:lstStyle/>
          <a:p>
            <a:pPr>
              <a:defRPr/>
            </a:pPr>
            <a:r>
              <a:rPr kumimoji="0" lang="en-US" sz="1100" b="1" i="0" u="none" strike="noStrike" kern="1200" cap="none" spc="0" normalizeH="0" baseline="0" noProof="0" dirty="0">
                <a:ln>
                  <a:noFill/>
                </a:ln>
                <a:effectLst/>
                <a:uLnTx/>
                <a:uFillTx/>
                <a:latin typeface="Source Sans Pro"/>
                <a:ea typeface="Calibri" panose="020F0502020204030204" pitchFamily="34" charset="0"/>
                <a:cs typeface="Arial"/>
              </a:rPr>
              <a:t>Military Exposures Research Program (MERP) - Research Infrastructure</a:t>
            </a:r>
          </a:p>
          <a:p>
            <a:pPr>
              <a:defRPr/>
            </a:pPr>
            <a:endParaRPr kumimoji="0" lang="en-US" sz="1100" b="1" i="0" u="none" strike="noStrike" kern="1200" cap="none" spc="0" normalizeH="0" baseline="0" noProof="0" dirty="0">
              <a:ln>
                <a:noFill/>
              </a:ln>
              <a:effectLst/>
              <a:uLnTx/>
              <a:uFillTx/>
              <a:latin typeface="Source Sans Pro"/>
              <a:ea typeface="Calibri" panose="020F0502020204030204" pitchFamily="34" charset="0"/>
              <a:cs typeface="Arial"/>
            </a:endParaRPr>
          </a:p>
          <a:p>
            <a:pPr marL="342900" indent="-342900">
              <a:buFont typeface="Arial" panose="020B0604020202020204" pitchFamily="34" charset="0"/>
              <a:buChar char="•"/>
              <a:defRPr/>
            </a:pPr>
            <a:r>
              <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rPr>
              <a:t>Enterprise-level core capabilities to support funded investigator studies needing exposure assessment, data/survey tools and analysis, biospecimen collection, storage and analysis</a:t>
            </a:r>
          </a:p>
          <a:p>
            <a:pPr marL="342900" indent="-342900">
              <a:buFont typeface="Arial" panose="020B0604020202020204" pitchFamily="34" charset="0"/>
              <a:buChar char="•"/>
              <a:defRPr/>
            </a:pPr>
            <a:r>
              <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rPr>
              <a:t>Requests for Applications (RFA): RFAs were developed and released broadly to support key gap portfolio areas</a:t>
            </a:r>
          </a:p>
          <a:p>
            <a:pPr marL="342900" indent="-342900">
              <a:buFont typeface="Arial" panose="020B0604020202020204" pitchFamily="34" charset="0"/>
              <a:buChar char="•"/>
              <a:defRPr/>
            </a:pPr>
            <a:r>
              <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rPr>
              <a:t>ORD Military Exposure Research Innovation Center(s) (MERICs) have been launched to support high impact, highly innovative key priority projects</a:t>
            </a:r>
          </a:p>
          <a:p>
            <a:pPr marL="342900" indent="-342900">
              <a:buFont typeface="Arial" panose="020B0604020202020204" pitchFamily="34" charset="0"/>
              <a:buChar char="•"/>
              <a:defRPr/>
            </a:pPr>
            <a:r>
              <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rPr>
              <a:t>Capacity Building: Intra- and Inter-federal and academic partnership building are imperative to move military exposure assessment and health research forward efficiently and uniformly </a:t>
            </a:r>
          </a:p>
          <a:p>
            <a:pPr marL="342900" indent="-342900">
              <a:buFont typeface="Arial" panose="020B0604020202020204" pitchFamily="34" charset="0"/>
              <a:buChar char="•"/>
              <a:defRPr/>
            </a:pPr>
            <a:r>
              <a:rPr kumimoji="0" lang="en-US" sz="1100" b="0" i="0" u="none" strike="noStrike" kern="1200" cap="none" spc="0" normalizeH="0" baseline="0" noProof="0" dirty="0">
                <a:ln>
                  <a:noFill/>
                </a:ln>
                <a:effectLst/>
                <a:highlight>
                  <a:srgbClr val="FFFF00"/>
                </a:highlight>
                <a:uLnTx/>
                <a:uFillTx/>
                <a:latin typeface="Source Sans Pro"/>
                <a:ea typeface="Calibri" panose="020F0502020204030204" pitchFamily="34" charset="0"/>
                <a:cs typeface="Arial"/>
              </a:rPr>
              <a:t>The Toxic Exposures Fund for ORD is $45 million. Roughly $25 million is available for RFA’s, Career Development Awards (CDA’s), and administrative funding</a:t>
            </a:r>
            <a:endPar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endParaRPr>
          </a:p>
          <a:p>
            <a:pPr>
              <a:defRPr/>
            </a:pPr>
            <a:endPar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endParaRPr>
          </a:p>
          <a:p>
            <a:pPr>
              <a:defRPr/>
            </a:pPr>
            <a:endPar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endParaRPr>
          </a:p>
          <a:p>
            <a:pPr>
              <a:defRPr/>
            </a:pPr>
            <a:endPar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endParaRPr>
          </a:p>
          <a:p>
            <a:pPr>
              <a:defRPr/>
            </a:pPr>
            <a:endParaRPr kumimoji="0" lang="en-US" sz="1100" b="0" i="0" u="none" strike="noStrike" kern="1200" cap="none" spc="0" normalizeH="0" baseline="0" noProof="0" dirty="0">
              <a:ln>
                <a:noFill/>
              </a:ln>
              <a:effectLst/>
              <a:uLnTx/>
              <a:uFillTx/>
              <a:latin typeface="Source Sans Pro"/>
              <a:ea typeface="Calibri" panose="020F0502020204030204" pitchFamily="34" charset="0"/>
              <a:cs typeface="Arial"/>
            </a:endParaRPr>
          </a:p>
          <a:p>
            <a:pPr marL="342900" marR="0" lvl="0" indent="-342900">
              <a:lnSpc>
                <a:spcPct val="107000"/>
              </a:lnSpc>
              <a:spcBef>
                <a:spcPts val="0"/>
              </a:spcBef>
              <a:spcAft>
                <a:spcPts val="0"/>
              </a:spcAft>
              <a:buFont typeface="Symbol" panose="05050102010706020507" pitchFamily="18" charset="2"/>
              <a:buChar char=""/>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EAD9061-F75C-758C-41B2-AFC8B26ECD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9107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Symbol" panose="05050102010706020507" pitchFamily="18" charset="2"/>
              <a:buChar char=""/>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9741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2855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Bef>
                <a:spcPts val="0"/>
              </a:spcBef>
              <a:spcAft>
                <a:spcPts val="0"/>
              </a:spcAft>
              <a:buFont typeface="Symbol" panose="05050102010706020507" pitchFamily="18" charset="2"/>
              <a:buNone/>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0503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8656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6094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695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6.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6.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3E72">
            <a:alpha val="96000"/>
          </a:srgb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p:cNvPicPr>
          <p:nvPr userDrawn="1"/>
        </p:nvPicPr>
        <p:blipFill>
          <a:blip r:embed="rId2" cstate="print">
            <a:extLst>
              <a:ext uri="{28A0092B-C50C-407E-A947-70E740481C1C}">
                <a14:useLocalDpi xmlns:a14="http://schemas.microsoft.com/office/drawing/2010/main"/>
              </a:ext>
            </a:extLst>
          </a:blip>
          <a:stretch>
            <a:fillRect/>
          </a:stretch>
        </p:blipFill>
        <p:spPr>
          <a:xfrm>
            <a:off x="416720" y="1408662"/>
            <a:ext cx="1850690" cy="1845013"/>
          </a:xfrm>
          <a:prstGeom prst="rect">
            <a:avLst/>
          </a:prstGeom>
        </p:spPr>
      </p:pic>
      <p:sp>
        <p:nvSpPr>
          <p:cNvPr id="2" name="Title 1"/>
          <p:cNvSpPr>
            <a:spLocks noGrp="1"/>
          </p:cNvSpPr>
          <p:nvPr>
            <p:ph type="ctrTitle" hasCustomPrompt="1"/>
          </p:nvPr>
        </p:nvSpPr>
        <p:spPr>
          <a:xfrm>
            <a:off x="2474649" y="1887450"/>
            <a:ext cx="9097758" cy="875609"/>
          </a:xfrm>
          <a:prstGeom prst="rect">
            <a:avLst/>
          </a:prstGeom>
        </p:spPr>
        <p:txBody>
          <a:bodyPr anchor="ctr">
            <a:noAutofit/>
          </a:bodyPr>
          <a:lstStyle>
            <a:lvl1pPr algn="l">
              <a:defRPr sz="6500">
                <a:solidFill>
                  <a:schemeClr val="bg1"/>
                </a:solidFill>
                <a:latin typeface="Calibri" panose="020F0502020204030204" pitchFamily="34" charset="0"/>
                <a:cs typeface="Calibri" panose="020F0502020204030204" pitchFamily="34" charset="0"/>
              </a:defRPr>
            </a:lvl1pPr>
          </a:lstStyle>
          <a:p>
            <a:r>
              <a:rPr lang="en-US"/>
              <a:t>CLICK TO EDIT TITLE</a:t>
            </a:r>
          </a:p>
        </p:txBody>
      </p:sp>
      <p:sp>
        <p:nvSpPr>
          <p:cNvPr id="3" name="Subtitle 2"/>
          <p:cNvSpPr>
            <a:spLocks noGrp="1"/>
          </p:cNvSpPr>
          <p:nvPr>
            <p:ph type="subTitle" idx="1"/>
          </p:nvPr>
        </p:nvSpPr>
        <p:spPr>
          <a:xfrm>
            <a:off x="2474649" y="2820512"/>
            <a:ext cx="8382000" cy="433163"/>
          </a:xfrm>
        </p:spPr>
        <p:txBody>
          <a:bodyPr>
            <a:noAutofit/>
          </a:bodyPr>
          <a:lstStyle>
            <a:lvl1pPr marL="0" indent="0" algn="l">
              <a:buNone/>
              <a:defRPr sz="3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2470258" y="3364874"/>
            <a:ext cx="8382000" cy="774700"/>
          </a:xfrm>
        </p:spPr>
        <p:txBody>
          <a:bodyPr>
            <a:normAutofit/>
          </a:bodyPr>
          <a:lstStyle>
            <a:lvl1pPr marL="0" indent="0" algn="l">
              <a:buNone/>
              <a:defRPr sz="2000">
                <a:solidFill>
                  <a:schemeClr val="bg1"/>
                </a:solidFill>
                <a:latin typeface="+mj-lt"/>
              </a:defRPr>
            </a:lvl1pPr>
          </a:lstStyle>
          <a:p>
            <a:pPr lvl="0"/>
            <a:r>
              <a:rPr lang="en-US"/>
              <a:t>Briefer: Name and Title</a:t>
            </a:r>
          </a:p>
        </p:txBody>
      </p:sp>
    </p:spTree>
    <p:extLst>
      <p:ext uri="{BB962C8B-B14F-4D97-AF65-F5344CB8AC3E}">
        <p14:creationId xmlns:p14="http://schemas.microsoft.com/office/powerpoint/2010/main" val="1333821305"/>
      </p:ext>
    </p:extLst>
  </p:cSld>
  <p:clrMapOvr>
    <a:masterClrMapping/>
  </p:clrMapOvr>
  <p:extLst>
    <p:ext uri="{DCECCB84-F9BA-43D5-87BE-67443E8EF086}">
      <p15:sldGuideLst xmlns:p15="http://schemas.microsoft.com/office/powerpoint/2012/main">
        <p15:guide id="1" orient="horz" pos="3984">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106A736-79AC-A048-93FE-4C721D363A4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9335055" y="5983730"/>
            <a:ext cx="1942545" cy="783000"/>
          </a:xfrm>
          <a:prstGeom prst="rect">
            <a:avLst/>
          </a:prstGeom>
        </p:spPr>
      </p:pic>
      <p:sp>
        <p:nvSpPr>
          <p:cNvPr id="15" name="Title 1">
            <a:extLst>
              <a:ext uri="{FF2B5EF4-FFF2-40B4-BE49-F238E27FC236}">
                <a16:creationId xmlns:a16="http://schemas.microsoft.com/office/drawing/2014/main" id="{C911D7E5-8A3A-F64E-A06A-CAFF5987E8D9}"/>
              </a:ext>
            </a:extLst>
          </p:cNvPr>
          <p:cNvSpPr>
            <a:spLocks noGrp="1"/>
          </p:cNvSpPr>
          <p:nvPr>
            <p:ph type="ctrTitle" hasCustomPrompt="1"/>
          </p:nvPr>
        </p:nvSpPr>
        <p:spPr>
          <a:xfrm>
            <a:off x="4465891" y="2644653"/>
            <a:ext cx="7189495" cy="826238"/>
          </a:xfrm>
          <a:prstGeom prst="rect">
            <a:avLst/>
          </a:prstGeom>
        </p:spPr>
        <p:txBody>
          <a:bodyPr anchor="ctr">
            <a:noAutofit/>
          </a:bodyPr>
          <a:lstStyle>
            <a:lvl1pPr algn="l">
              <a:defRPr sz="5500">
                <a:solidFill>
                  <a:schemeClr val="bg1"/>
                </a:solidFill>
              </a:defRPr>
            </a:lvl1pPr>
          </a:lstStyle>
          <a:p>
            <a:r>
              <a:rPr lang="en-US"/>
              <a:t>Secondary Title Slide</a:t>
            </a:r>
          </a:p>
        </p:txBody>
      </p:sp>
      <p:pic>
        <p:nvPicPr>
          <p:cNvPr id="19" name="Picture 18">
            <a:extLst>
              <a:ext uri="{FF2B5EF4-FFF2-40B4-BE49-F238E27FC236}">
                <a16:creationId xmlns:a16="http://schemas.microsoft.com/office/drawing/2014/main" id="{06078D3B-F6C7-4240-AC3C-B026F3CB3B0C}"/>
              </a:ext>
              <a:ext uri="{C183D7F6-B498-43B3-948B-1728B52AA6E4}">
                <adec:decorative xmlns:adec="http://schemas.microsoft.com/office/drawing/2017/decorative" val="1"/>
              </a:ext>
            </a:extLst>
          </p:cNvPr>
          <p:cNvPicPr>
            <a:picLocks/>
          </p:cNvPicPr>
          <p:nvPr userDrawn="1"/>
        </p:nvPicPr>
        <p:blipFill>
          <a:blip r:embed="rId3" cstate="print">
            <a:extLst>
              <a:ext uri="{28A0092B-C50C-407E-A947-70E740481C1C}">
                <a14:useLocalDpi xmlns:a14="http://schemas.microsoft.com/office/drawing/2010/main"/>
              </a:ext>
            </a:extLst>
          </a:blip>
          <a:stretch>
            <a:fillRect/>
          </a:stretch>
        </p:blipFill>
        <p:spPr>
          <a:xfrm>
            <a:off x="4490875" y="1299235"/>
            <a:ext cx="1288389" cy="1284437"/>
          </a:xfrm>
          <a:prstGeom prst="rect">
            <a:avLst/>
          </a:prstGeom>
        </p:spPr>
      </p:pic>
      <p:sp>
        <p:nvSpPr>
          <p:cNvPr id="25" name="Subtitle 2">
            <a:extLst>
              <a:ext uri="{FF2B5EF4-FFF2-40B4-BE49-F238E27FC236}">
                <a16:creationId xmlns:a16="http://schemas.microsoft.com/office/drawing/2014/main" id="{A152C89E-3F7B-A649-BD19-DCA765D1A474}"/>
              </a:ext>
            </a:extLst>
          </p:cNvPr>
          <p:cNvSpPr>
            <a:spLocks noGrp="1"/>
          </p:cNvSpPr>
          <p:nvPr>
            <p:ph type="subTitle" idx="10"/>
          </p:nvPr>
        </p:nvSpPr>
        <p:spPr>
          <a:xfrm>
            <a:off x="4465891" y="3529009"/>
            <a:ext cx="7189495" cy="433163"/>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6" name="Text Placeholder 11">
            <a:extLst>
              <a:ext uri="{FF2B5EF4-FFF2-40B4-BE49-F238E27FC236}">
                <a16:creationId xmlns:a16="http://schemas.microsoft.com/office/drawing/2014/main" id="{38A4B7F9-CB13-6D4D-883C-AE5DAB64D54F}"/>
              </a:ext>
            </a:extLst>
          </p:cNvPr>
          <p:cNvSpPr>
            <a:spLocks noGrp="1"/>
          </p:cNvSpPr>
          <p:nvPr>
            <p:ph type="body" sz="quarter" idx="11" hasCustomPrompt="1"/>
          </p:nvPr>
        </p:nvSpPr>
        <p:spPr>
          <a:xfrm>
            <a:off x="4461500" y="4073371"/>
            <a:ext cx="7189495" cy="774700"/>
          </a:xfrm>
        </p:spPr>
        <p:txBody>
          <a:bodyPr>
            <a:normAutofit/>
          </a:bodyPr>
          <a:lstStyle>
            <a:lvl1pPr marL="0" indent="0" algn="l">
              <a:buNone/>
              <a:defRPr sz="2000">
                <a:solidFill>
                  <a:schemeClr val="bg1"/>
                </a:solidFill>
                <a:latin typeface="+mj-lt"/>
              </a:defRPr>
            </a:lvl1pPr>
          </a:lstStyle>
          <a:p>
            <a:pPr lvl="0"/>
            <a:r>
              <a:rPr lang="en-US"/>
              <a:t>Briefer: Name and Title</a:t>
            </a:r>
          </a:p>
        </p:txBody>
      </p:sp>
    </p:spTree>
    <p:extLst>
      <p:ext uri="{BB962C8B-B14F-4D97-AF65-F5344CB8AC3E}">
        <p14:creationId xmlns:p14="http://schemas.microsoft.com/office/powerpoint/2010/main" val="61114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08667"/>
            <a:ext cx="10515600" cy="4247991"/>
          </a:xfrm>
        </p:spPr>
        <p:txBody>
          <a:bodyPr/>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8192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Content, and Sidebar Phot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95C181A-A9BA-764D-9C94-AB35096B24E3}"/>
              </a:ext>
            </a:extLst>
          </p:cNvPr>
          <p:cNvPicPr>
            <a:picLocks noChangeAspect="1"/>
          </p:cNvPicPr>
          <p:nvPr userDrawn="1"/>
        </p:nvPicPr>
        <p:blipFill rotWithShape="1">
          <a:blip r:embed="rId2" cstate="print">
            <a:alphaModFix amt="7000"/>
            <a:extLst>
              <a:ext uri="{28A0092B-C50C-407E-A947-70E740481C1C}">
                <a14:useLocalDpi xmlns:a14="http://schemas.microsoft.com/office/drawing/2010/main"/>
              </a:ext>
            </a:extLst>
          </a:blip>
          <a:srcRect t="33903" b="4214"/>
          <a:stretch/>
        </p:blipFill>
        <p:spPr>
          <a:xfrm>
            <a:off x="0" y="1431561"/>
            <a:ext cx="12192000" cy="4289763"/>
          </a:xfrm>
          <a:prstGeom prst="rect">
            <a:avLst/>
          </a:prstGeom>
        </p:spPr>
      </p:pic>
      <p:sp>
        <p:nvSpPr>
          <p:cNvPr id="11" name="Picture Placeholder 2">
            <a:extLst>
              <a:ext uri="{FF2B5EF4-FFF2-40B4-BE49-F238E27FC236}">
                <a16:creationId xmlns:a16="http://schemas.microsoft.com/office/drawing/2014/main" id="{F89232B3-75B4-4844-BDA8-8CA59EC50269}"/>
              </a:ext>
            </a:extLst>
          </p:cNvPr>
          <p:cNvSpPr>
            <a:spLocks noGrp="1" noChangeAspect="1"/>
          </p:cNvSpPr>
          <p:nvPr>
            <p:ph type="pic" idx="14"/>
          </p:nvPr>
        </p:nvSpPr>
        <p:spPr>
          <a:xfrm>
            <a:off x="7342409" y="1686408"/>
            <a:ext cx="4011391" cy="3740031"/>
          </a:xfrm>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4" name="Content Placeholder 2">
            <a:extLst>
              <a:ext uri="{FF2B5EF4-FFF2-40B4-BE49-F238E27FC236}">
                <a16:creationId xmlns:a16="http://schemas.microsoft.com/office/drawing/2014/main" id="{300C3B68-8455-D448-9503-AB8AC173FFAE}"/>
              </a:ext>
            </a:extLst>
          </p:cNvPr>
          <p:cNvSpPr>
            <a:spLocks noGrp="1"/>
          </p:cNvSpPr>
          <p:nvPr>
            <p:ph idx="1"/>
          </p:nvPr>
        </p:nvSpPr>
        <p:spPr>
          <a:xfrm>
            <a:off x="838202" y="1686408"/>
            <a:ext cx="6117234" cy="3740031"/>
          </a:xfrm>
        </p:spPr>
        <p:txBody>
          <a:bodyPr/>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B54B5D15-7620-8943-B1D6-C4989A375AA5}"/>
              </a:ext>
            </a:extLst>
          </p:cNvPr>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336392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1F8B34-1A3D-4F01-BD1F-359E17208809}"/>
              </a:ext>
            </a:extLst>
          </p:cNvPr>
          <p:cNvSpPr/>
          <p:nvPr userDrawn="1"/>
        </p:nvSpPr>
        <p:spPr>
          <a:xfrm>
            <a:off x="0" y="0"/>
            <a:ext cx="12192000" cy="5956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08667"/>
            <a:ext cx="10515600" cy="4247991"/>
          </a:xfrm>
        </p:spPr>
        <p:txBody>
          <a:bodyPr/>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5624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hasCustomPrompt="1"/>
          </p:nvPr>
        </p:nvSpPr>
        <p:spPr>
          <a:xfrm>
            <a:off x="838200" y="1799999"/>
            <a:ext cx="5119139"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Two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6153464" y="1799999"/>
            <a:ext cx="5119139"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Two Column Text</a:t>
            </a:r>
          </a:p>
        </p:txBody>
      </p:sp>
    </p:spTree>
    <p:extLst>
      <p:ext uri="{BB962C8B-B14F-4D97-AF65-F5344CB8AC3E}">
        <p14:creationId xmlns:p14="http://schemas.microsoft.com/office/powerpoint/2010/main" val="3863184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hasCustomPrompt="1"/>
          </p:nvPr>
        </p:nvSpPr>
        <p:spPr>
          <a:xfrm>
            <a:off x="838201"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4515165"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6" name="Content Placeholder 2">
            <a:extLst>
              <a:ext uri="{FF2B5EF4-FFF2-40B4-BE49-F238E27FC236}">
                <a16:creationId xmlns:a16="http://schemas.microsoft.com/office/drawing/2014/main" id="{B41E6513-3F0C-8343-90AD-D2400055D19D}"/>
              </a:ext>
            </a:extLst>
          </p:cNvPr>
          <p:cNvSpPr>
            <a:spLocks noGrp="1"/>
          </p:cNvSpPr>
          <p:nvPr>
            <p:ph idx="11" hasCustomPrompt="1"/>
          </p:nvPr>
        </p:nvSpPr>
        <p:spPr>
          <a:xfrm>
            <a:off x="8192129"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Tree>
    <p:extLst>
      <p:ext uri="{BB962C8B-B14F-4D97-AF65-F5344CB8AC3E}">
        <p14:creationId xmlns:p14="http://schemas.microsoft.com/office/powerpoint/2010/main" val="2998879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5ED376-3B63-4BF5-8FE7-6E13F6B5E102}"/>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E4FA9B3C-1FF1-914D-A59E-CA40875151CE}"/>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chemeClr val="bg1"/>
                </a:solidFill>
              </a:defRPr>
            </a:lvl1pPr>
          </a:lstStyle>
          <a:p>
            <a:r>
              <a:rPr lang="en-US"/>
              <a:t>Divider Slide 2</a:t>
            </a:r>
          </a:p>
        </p:txBody>
      </p:sp>
    </p:spTree>
    <p:extLst>
      <p:ext uri="{BB962C8B-B14F-4D97-AF65-F5344CB8AC3E}">
        <p14:creationId xmlns:p14="http://schemas.microsoft.com/office/powerpoint/2010/main" val="2967147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ne Chart 1">
    <p:bg>
      <p:bgPr>
        <a:solidFill>
          <a:srgbClr val="FFF3CC"/>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3FBD5ED0-A7AC-1E4A-805A-1A86C021CA9E}"/>
              </a:ext>
            </a:extLst>
          </p:cNvPr>
          <p:cNvCxnSpPr/>
          <p:nvPr userDrawn="1"/>
        </p:nvCxnSpPr>
        <p:spPr>
          <a:xfrm>
            <a:off x="0" y="2301240"/>
            <a:ext cx="12192000" cy="0"/>
          </a:xfrm>
          <a:prstGeom prst="line">
            <a:avLst/>
          </a:prstGeom>
          <a:ln w="698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87624B8-2A3F-4234-B65D-84C63F7AC2A9}"/>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Hexagon 3">
            <a:extLst>
              <a:ext uri="{FF2B5EF4-FFF2-40B4-BE49-F238E27FC236}">
                <a16:creationId xmlns:a16="http://schemas.microsoft.com/office/drawing/2014/main" id="{C62E5F35-D24D-1548-AC40-C09D150F2D40}"/>
              </a:ext>
            </a:extLst>
          </p:cNvPr>
          <p:cNvSpPr>
            <a:spLocks/>
          </p:cNvSpPr>
          <p:nvPr userDrawn="1"/>
        </p:nvSpPr>
        <p:spPr>
          <a:xfrm>
            <a:off x="1113017" y="1691638"/>
            <a:ext cx="1375261" cy="1188720"/>
          </a:xfrm>
          <a:prstGeom prst="hexagon">
            <a:avLst/>
          </a:prstGeom>
          <a:solidFill>
            <a:srgbClr val="003E72"/>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Hexagon 12">
            <a:extLst>
              <a:ext uri="{FF2B5EF4-FFF2-40B4-BE49-F238E27FC236}">
                <a16:creationId xmlns:a16="http://schemas.microsoft.com/office/drawing/2014/main" id="{5F4EDF85-509D-EF49-87BA-059B1A183414}"/>
              </a:ext>
            </a:extLst>
          </p:cNvPr>
          <p:cNvSpPr>
            <a:spLocks/>
          </p:cNvSpPr>
          <p:nvPr userDrawn="1"/>
        </p:nvSpPr>
        <p:spPr>
          <a:xfrm>
            <a:off x="3286725" y="1691638"/>
            <a:ext cx="1375261" cy="1188720"/>
          </a:xfrm>
          <a:prstGeom prst="hexagon">
            <a:avLst/>
          </a:prstGeom>
          <a:solidFill>
            <a:srgbClr val="0070C0"/>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Hexagon 13">
            <a:extLst>
              <a:ext uri="{FF2B5EF4-FFF2-40B4-BE49-F238E27FC236}">
                <a16:creationId xmlns:a16="http://schemas.microsoft.com/office/drawing/2014/main" id="{CCAE2731-5447-104D-A243-3FA237F3239D}"/>
              </a:ext>
            </a:extLst>
          </p:cNvPr>
          <p:cNvSpPr>
            <a:spLocks/>
          </p:cNvSpPr>
          <p:nvPr userDrawn="1"/>
        </p:nvSpPr>
        <p:spPr>
          <a:xfrm>
            <a:off x="7634141" y="1691636"/>
            <a:ext cx="1375261" cy="1188720"/>
          </a:xfrm>
          <a:prstGeom prst="hexagon">
            <a:avLst/>
          </a:prstGeom>
          <a:solidFill>
            <a:srgbClr val="B0D3EB"/>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Hexagon 14">
            <a:extLst>
              <a:ext uri="{FF2B5EF4-FFF2-40B4-BE49-F238E27FC236}">
                <a16:creationId xmlns:a16="http://schemas.microsoft.com/office/drawing/2014/main" id="{E197F718-EB2E-2B46-88FD-4CF0004C359C}"/>
              </a:ext>
            </a:extLst>
          </p:cNvPr>
          <p:cNvSpPr>
            <a:spLocks/>
          </p:cNvSpPr>
          <p:nvPr userDrawn="1"/>
        </p:nvSpPr>
        <p:spPr>
          <a:xfrm>
            <a:off x="9807850" y="1691635"/>
            <a:ext cx="1375261" cy="1188720"/>
          </a:xfrm>
          <a:prstGeom prst="hexagon">
            <a:avLst/>
          </a:prstGeom>
          <a:solidFill>
            <a:srgbClr val="66666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08825400-135B-1D4A-9A53-CD11C5C5B8F9}"/>
              </a:ext>
            </a:extLst>
          </p:cNvPr>
          <p:cNvSpPr>
            <a:spLocks/>
          </p:cNvSpPr>
          <p:nvPr userDrawn="1"/>
        </p:nvSpPr>
        <p:spPr>
          <a:xfrm>
            <a:off x="5460433" y="1691637"/>
            <a:ext cx="1375261" cy="1188720"/>
          </a:xfrm>
          <a:prstGeom prst="hexagon">
            <a:avLst/>
          </a:prstGeom>
          <a:solidFill>
            <a:srgbClr val="6DABD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2">
            <a:extLst>
              <a:ext uri="{FF2B5EF4-FFF2-40B4-BE49-F238E27FC236}">
                <a16:creationId xmlns:a16="http://schemas.microsoft.com/office/drawing/2014/main" id="{D6481BA6-A1B1-9442-AE32-0598A33AA38C}"/>
              </a:ext>
            </a:extLst>
          </p:cNvPr>
          <p:cNvSpPr>
            <a:spLocks noGrp="1"/>
          </p:cNvSpPr>
          <p:nvPr>
            <p:ph type="body" idx="1" hasCustomPrompt="1"/>
          </p:nvPr>
        </p:nvSpPr>
        <p:spPr>
          <a:xfrm>
            <a:off x="786315" y="3133060"/>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39" name="Content Placeholder 2">
            <a:extLst>
              <a:ext uri="{FF2B5EF4-FFF2-40B4-BE49-F238E27FC236}">
                <a16:creationId xmlns:a16="http://schemas.microsoft.com/office/drawing/2014/main" id="{D45BF9D4-0066-2543-B201-7496D2F88B01}"/>
              </a:ext>
            </a:extLst>
          </p:cNvPr>
          <p:cNvSpPr>
            <a:spLocks noGrp="1"/>
          </p:cNvSpPr>
          <p:nvPr>
            <p:ph idx="11" hasCustomPrompt="1"/>
          </p:nvPr>
        </p:nvSpPr>
        <p:spPr>
          <a:xfrm>
            <a:off x="784727" y="3637384"/>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0" name="Text Placeholder 2">
            <a:extLst>
              <a:ext uri="{FF2B5EF4-FFF2-40B4-BE49-F238E27FC236}">
                <a16:creationId xmlns:a16="http://schemas.microsoft.com/office/drawing/2014/main" id="{8B671FC8-0E69-8A44-995B-F85D7A0B93FF}"/>
              </a:ext>
            </a:extLst>
          </p:cNvPr>
          <p:cNvSpPr>
            <a:spLocks noGrp="1"/>
          </p:cNvSpPr>
          <p:nvPr>
            <p:ph type="body" idx="12" hasCustomPrompt="1"/>
          </p:nvPr>
        </p:nvSpPr>
        <p:spPr>
          <a:xfrm>
            <a:off x="2971833" y="3149468"/>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1" name="Content Placeholder 2">
            <a:extLst>
              <a:ext uri="{FF2B5EF4-FFF2-40B4-BE49-F238E27FC236}">
                <a16:creationId xmlns:a16="http://schemas.microsoft.com/office/drawing/2014/main" id="{AE173DC9-2DA6-9B44-9A18-093E325C7DD3}"/>
              </a:ext>
            </a:extLst>
          </p:cNvPr>
          <p:cNvSpPr>
            <a:spLocks noGrp="1"/>
          </p:cNvSpPr>
          <p:nvPr>
            <p:ph idx="13" hasCustomPrompt="1"/>
          </p:nvPr>
        </p:nvSpPr>
        <p:spPr>
          <a:xfrm>
            <a:off x="2970245" y="3653792"/>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2" name="Text Placeholder 2">
            <a:extLst>
              <a:ext uri="{FF2B5EF4-FFF2-40B4-BE49-F238E27FC236}">
                <a16:creationId xmlns:a16="http://schemas.microsoft.com/office/drawing/2014/main" id="{5834E881-EFBA-7A4A-B3B2-CD87BEDD5C2D}"/>
              </a:ext>
            </a:extLst>
          </p:cNvPr>
          <p:cNvSpPr>
            <a:spLocks noGrp="1"/>
          </p:cNvSpPr>
          <p:nvPr>
            <p:ph type="body" idx="14" hasCustomPrompt="1"/>
          </p:nvPr>
        </p:nvSpPr>
        <p:spPr>
          <a:xfrm>
            <a:off x="5131251" y="3133060"/>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3" name="Content Placeholder 2">
            <a:extLst>
              <a:ext uri="{FF2B5EF4-FFF2-40B4-BE49-F238E27FC236}">
                <a16:creationId xmlns:a16="http://schemas.microsoft.com/office/drawing/2014/main" id="{5AEB8A8F-6E37-8A4F-A35F-0606DDA7015B}"/>
              </a:ext>
            </a:extLst>
          </p:cNvPr>
          <p:cNvSpPr>
            <a:spLocks noGrp="1"/>
          </p:cNvSpPr>
          <p:nvPr>
            <p:ph idx="15" hasCustomPrompt="1"/>
          </p:nvPr>
        </p:nvSpPr>
        <p:spPr>
          <a:xfrm>
            <a:off x="5129663" y="3637384"/>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4" name="Text Placeholder 2">
            <a:extLst>
              <a:ext uri="{FF2B5EF4-FFF2-40B4-BE49-F238E27FC236}">
                <a16:creationId xmlns:a16="http://schemas.microsoft.com/office/drawing/2014/main" id="{43F887E5-53F4-4B45-8A7F-1287C355517D}"/>
              </a:ext>
            </a:extLst>
          </p:cNvPr>
          <p:cNvSpPr>
            <a:spLocks noGrp="1"/>
          </p:cNvSpPr>
          <p:nvPr>
            <p:ph type="body" idx="16" hasCustomPrompt="1"/>
          </p:nvPr>
        </p:nvSpPr>
        <p:spPr>
          <a:xfrm>
            <a:off x="7316769" y="3149468"/>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5" name="Content Placeholder 2">
            <a:extLst>
              <a:ext uri="{FF2B5EF4-FFF2-40B4-BE49-F238E27FC236}">
                <a16:creationId xmlns:a16="http://schemas.microsoft.com/office/drawing/2014/main" id="{B30963FA-92AE-2547-B3E1-077EF0796C21}"/>
              </a:ext>
            </a:extLst>
          </p:cNvPr>
          <p:cNvSpPr>
            <a:spLocks noGrp="1"/>
          </p:cNvSpPr>
          <p:nvPr>
            <p:ph idx="17" hasCustomPrompt="1"/>
          </p:nvPr>
        </p:nvSpPr>
        <p:spPr>
          <a:xfrm>
            <a:off x="7315181" y="3653792"/>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6" name="Text Placeholder 2">
            <a:extLst>
              <a:ext uri="{FF2B5EF4-FFF2-40B4-BE49-F238E27FC236}">
                <a16:creationId xmlns:a16="http://schemas.microsoft.com/office/drawing/2014/main" id="{F423E667-7B78-264B-B728-BF11CCDEDE5B}"/>
              </a:ext>
            </a:extLst>
          </p:cNvPr>
          <p:cNvSpPr>
            <a:spLocks noGrp="1"/>
          </p:cNvSpPr>
          <p:nvPr>
            <p:ph type="body" idx="18" hasCustomPrompt="1"/>
          </p:nvPr>
        </p:nvSpPr>
        <p:spPr>
          <a:xfrm>
            <a:off x="9538010" y="3150061"/>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7" name="Content Placeholder 2">
            <a:extLst>
              <a:ext uri="{FF2B5EF4-FFF2-40B4-BE49-F238E27FC236}">
                <a16:creationId xmlns:a16="http://schemas.microsoft.com/office/drawing/2014/main" id="{F4810DE5-5EF9-5643-BDF2-F3510AA92A66}"/>
              </a:ext>
            </a:extLst>
          </p:cNvPr>
          <p:cNvSpPr>
            <a:spLocks noGrp="1"/>
          </p:cNvSpPr>
          <p:nvPr>
            <p:ph idx="19" hasCustomPrompt="1"/>
          </p:nvPr>
        </p:nvSpPr>
        <p:spPr>
          <a:xfrm>
            <a:off x="9536422" y="3654385"/>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8" name="Title 1">
            <a:extLst>
              <a:ext uri="{FF2B5EF4-FFF2-40B4-BE49-F238E27FC236}">
                <a16:creationId xmlns:a16="http://schemas.microsoft.com/office/drawing/2014/main" id="{34C7C329-D5D5-5A4B-BF6D-98F84A28F56B}"/>
              </a:ext>
            </a:extLst>
          </p:cNvPr>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Tree>
    <p:extLst>
      <p:ext uri="{BB962C8B-B14F-4D97-AF65-F5344CB8AC3E}">
        <p14:creationId xmlns:p14="http://schemas.microsoft.com/office/powerpoint/2010/main" val="2516457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23C36F-F942-431A-AE32-315502B0000D}"/>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D47E9A00-2A21-5844-8CE2-64885373E5A7}"/>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chemeClr val="bg1"/>
                </a:solidFill>
              </a:defRPr>
            </a:lvl1pPr>
          </a:lstStyle>
          <a:p>
            <a:r>
              <a:rPr lang="en-US"/>
              <a:t>Thank You!</a:t>
            </a:r>
          </a:p>
        </p:txBody>
      </p:sp>
    </p:spTree>
    <p:extLst>
      <p:ext uri="{BB962C8B-B14F-4D97-AF65-F5344CB8AC3E}">
        <p14:creationId xmlns:p14="http://schemas.microsoft.com/office/powerpoint/2010/main" val="2714000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p:cNvPicPr>
          <p:nvPr userDrawn="1"/>
        </p:nvPicPr>
        <p:blipFill>
          <a:blip r:embed="rId2" cstate="print">
            <a:extLst>
              <a:ext uri="{28A0092B-C50C-407E-A947-70E740481C1C}">
                <a14:useLocalDpi xmlns:a14="http://schemas.microsoft.com/office/drawing/2010/main"/>
              </a:ext>
            </a:extLst>
          </a:blip>
          <a:stretch>
            <a:fillRect/>
          </a:stretch>
        </p:blipFill>
        <p:spPr>
          <a:xfrm>
            <a:off x="416720" y="1408662"/>
            <a:ext cx="1850690" cy="1845013"/>
          </a:xfrm>
          <a:prstGeom prst="rect">
            <a:avLst/>
          </a:prstGeom>
        </p:spPr>
      </p:pic>
      <p:pic>
        <p:nvPicPr>
          <p:cNvPr id="8" name="Picture 2">
            <a:extLst>
              <a:ext uri="{FF2B5EF4-FFF2-40B4-BE49-F238E27FC236}">
                <a16:creationId xmlns:a16="http://schemas.microsoft.com/office/drawing/2014/main" id="{4EA5574D-B6EB-E740-8A91-12831F4C7E47}"/>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p:blipFill>
        <p:spPr bwMode="auto">
          <a:xfrm>
            <a:off x="390583" y="6104140"/>
            <a:ext cx="2014330" cy="5421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A01BF60-2DBF-1E47-9C6F-A3D6EDF8AECF}"/>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9335055" y="5983730"/>
            <a:ext cx="1942545" cy="783000"/>
          </a:xfrm>
          <a:prstGeom prst="rect">
            <a:avLst/>
          </a:prstGeom>
        </p:spPr>
      </p:pic>
      <p:sp>
        <p:nvSpPr>
          <p:cNvPr id="2" name="Title 1"/>
          <p:cNvSpPr>
            <a:spLocks noGrp="1"/>
          </p:cNvSpPr>
          <p:nvPr>
            <p:ph type="ctrTitle" hasCustomPrompt="1"/>
          </p:nvPr>
        </p:nvSpPr>
        <p:spPr>
          <a:xfrm>
            <a:off x="2474649" y="1887450"/>
            <a:ext cx="9097758" cy="875609"/>
          </a:xfrm>
          <a:prstGeom prst="rect">
            <a:avLst/>
          </a:prstGeom>
        </p:spPr>
        <p:txBody>
          <a:bodyPr anchor="ctr">
            <a:noAutofit/>
          </a:bodyPr>
          <a:lstStyle>
            <a:lvl1pPr algn="l">
              <a:defRPr sz="6500">
                <a:solidFill>
                  <a:srgbClr val="003E72"/>
                </a:solidFill>
                <a:latin typeface="Calibri" panose="020F0502020204030204" pitchFamily="34" charset="0"/>
                <a:cs typeface="Calibri" panose="020F0502020204030204" pitchFamily="34" charset="0"/>
              </a:defRPr>
            </a:lvl1pPr>
          </a:lstStyle>
          <a:p>
            <a:r>
              <a:rPr lang="en-US"/>
              <a:t>CLICK TO EDIT TITLE</a:t>
            </a:r>
          </a:p>
        </p:txBody>
      </p:sp>
      <p:sp>
        <p:nvSpPr>
          <p:cNvPr id="3" name="Subtitle 2"/>
          <p:cNvSpPr>
            <a:spLocks noGrp="1"/>
          </p:cNvSpPr>
          <p:nvPr>
            <p:ph type="subTitle" idx="1" hasCustomPrompt="1"/>
          </p:nvPr>
        </p:nvSpPr>
        <p:spPr>
          <a:xfrm>
            <a:off x="2474649" y="2820512"/>
            <a:ext cx="8382000" cy="433163"/>
          </a:xfrm>
        </p:spPr>
        <p:txBody>
          <a:bodyPr>
            <a:noAutofit/>
          </a:bodyPr>
          <a:lstStyle>
            <a:lvl1pPr marL="0" indent="0" algn="l">
              <a:buNone/>
              <a:defRPr sz="3000">
                <a:solidFill>
                  <a:srgbClr val="0070C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2470258" y="3364874"/>
            <a:ext cx="8382000" cy="774700"/>
          </a:xfrm>
        </p:spPr>
        <p:txBody>
          <a:bodyPr>
            <a:normAutofit/>
          </a:bodyPr>
          <a:lstStyle>
            <a:lvl1pPr marL="0" indent="0" algn="l">
              <a:buNone/>
              <a:defRPr sz="2000">
                <a:solidFill>
                  <a:srgbClr val="0070C0"/>
                </a:solidFill>
                <a:latin typeface="+mj-lt"/>
              </a:defRPr>
            </a:lvl1pPr>
          </a:lstStyle>
          <a:p>
            <a:pPr lvl="0"/>
            <a:r>
              <a:rPr lang="en-US"/>
              <a:t>Briefer: Name and Title</a:t>
            </a:r>
          </a:p>
        </p:txBody>
      </p:sp>
    </p:spTree>
    <p:extLst>
      <p:ext uri="{BB962C8B-B14F-4D97-AF65-F5344CB8AC3E}">
        <p14:creationId xmlns:p14="http://schemas.microsoft.com/office/powerpoint/2010/main" val="2537405284"/>
      </p:ext>
    </p:extLst>
  </p:cSld>
  <p:clrMapOvr>
    <a:masterClrMapping/>
  </p:clrMapOvr>
  <p:extLst>
    <p:ext uri="{DCECCB84-F9BA-43D5-87BE-67443E8EF086}">
      <p15:sldGuideLst xmlns:p15="http://schemas.microsoft.com/office/powerpoint/2012/main">
        <p15:guide id="1" orient="horz" pos="3984">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9B2F2091-4844-1342-94E2-DC2F648FF50B}"/>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p:blipFill>
        <p:spPr bwMode="auto">
          <a:xfrm>
            <a:off x="390583" y="6104140"/>
            <a:ext cx="2014330" cy="54218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106A736-79AC-A048-93FE-4C721D363A4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9335055" y="5983730"/>
            <a:ext cx="1942545" cy="783000"/>
          </a:xfrm>
          <a:prstGeom prst="rect">
            <a:avLst/>
          </a:prstGeom>
        </p:spPr>
      </p:pic>
      <p:sp>
        <p:nvSpPr>
          <p:cNvPr id="15" name="Title 1">
            <a:extLst>
              <a:ext uri="{FF2B5EF4-FFF2-40B4-BE49-F238E27FC236}">
                <a16:creationId xmlns:a16="http://schemas.microsoft.com/office/drawing/2014/main" id="{C911D7E5-8A3A-F64E-A06A-CAFF5987E8D9}"/>
              </a:ext>
            </a:extLst>
          </p:cNvPr>
          <p:cNvSpPr>
            <a:spLocks noGrp="1"/>
          </p:cNvSpPr>
          <p:nvPr>
            <p:ph type="ctrTitle" hasCustomPrompt="1"/>
          </p:nvPr>
        </p:nvSpPr>
        <p:spPr>
          <a:xfrm>
            <a:off x="4465891" y="2644653"/>
            <a:ext cx="7189495" cy="826238"/>
          </a:xfrm>
          <a:prstGeom prst="rect">
            <a:avLst/>
          </a:prstGeom>
        </p:spPr>
        <p:txBody>
          <a:bodyPr anchor="ctr">
            <a:noAutofit/>
          </a:bodyPr>
          <a:lstStyle>
            <a:lvl1pPr algn="l">
              <a:defRPr sz="5500">
                <a:solidFill>
                  <a:srgbClr val="003E72"/>
                </a:solidFill>
              </a:defRPr>
            </a:lvl1pPr>
          </a:lstStyle>
          <a:p>
            <a:r>
              <a:rPr lang="en-US"/>
              <a:t>Secondary Title Slide</a:t>
            </a:r>
          </a:p>
        </p:txBody>
      </p:sp>
      <p:pic>
        <p:nvPicPr>
          <p:cNvPr id="19" name="Picture 18">
            <a:extLst>
              <a:ext uri="{FF2B5EF4-FFF2-40B4-BE49-F238E27FC236}">
                <a16:creationId xmlns:a16="http://schemas.microsoft.com/office/drawing/2014/main" id="{06078D3B-F6C7-4240-AC3C-B026F3CB3B0C}"/>
              </a:ext>
              <a:ext uri="{C183D7F6-B498-43B3-948B-1728B52AA6E4}">
                <adec:decorative xmlns:adec="http://schemas.microsoft.com/office/drawing/2017/decorative" val="1"/>
              </a:ext>
            </a:extLst>
          </p:cNvPr>
          <p:cNvPicPr>
            <a:picLocks/>
          </p:cNvPicPr>
          <p:nvPr userDrawn="1"/>
        </p:nvPicPr>
        <p:blipFill>
          <a:blip r:embed="rId4" cstate="print">
            <a:extLst>
              <a:ext uri="{28A0092B-C50C-407E-A947-70E740481C1C}">
                <a14:useLocalDpi xmlns:a14="http://schemas.microsoft.com/office/drawing/2010/main"/>
              </a:ext>
            </a:extLst>
          </a:blip>
          <a:stretch>
            <a:fillRect/>
          </a:stretch>
        </p:blipFill>
        <p:spPr>
          <a:xfrm>
            <a:off x="4490875" y="1299235"/>
            <a:ext cx="1288389" cy="1284437"/>
          </a:xfrm>
          <a:prstGeom prst="rect">
            <a:avLst/>
          </a:prstGeom>
        </p:spPr>
      </p:pic>
      <p:sp>
        <p:nvSpPr>
          <p:cNvPr id="25" name="Subtitle 2">
            <a:extLst>
              <a:ext uri="{FF2B5EF4-FFF2-40B4-BE49-F238E27FC236}">
                <a16:creationId xmlns:a16="http://schemas.microsoft.com/office/drawing/2014/main" id="{A152C89E-3F7B-A649-BD19-DCA765D1A474}"/>
              </a:ext>
            </a:extLst>
          </p:cNvPr>
          <p:cNvSpPr>
            <a:spLocks noGrp="1"/>
          </p:cNvSpPr>
          <p:nvPr>
            <p:ph type="subTitle" idx="10"/>
          </p:nvPr>
        </p:nvSpPr>
        <p:spPr>
          <a:xfrm>
            <a:off x="4465891" y="3529009"/>
            <a:ext cx="7189495" cy="433163"/>
          </a:xfrm>
        </p:spPr>
        <p:txBody>
          <a:bodyPr/>
          <a:lstStyle>
            <a:lvl1pPr marL="0" indent="0" algn="l">
              <a:buNone/>
              <a:defRPr sz="2400">
                <a:solidFill>
                  <a:srgbClr val="0070C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6" name="Text Placeholder 11">
            <a:extLst>
              <a:ext uri="{FF2B5EF4-FFF2-40B4-BE49-F238E27FC236}">
                <a16:creationId xmlns:a16="http://schemas.microsoft.com/office/drawing/2014/main" id="{38A4B7F9-CB13-6D4D-883C-AE5DAB64D54F}"/>
              </a:ext>
            </a:extLst>
          </p:cNvPr>
          <p:cNvSpPr>
            <a:spLocks noGrp="1"/>
          </p:cNvSpPr>
          <p:nvPr>
            <p:ph type="body" sz="quarter" idx="11" hasCustomPrompt="1"/>
          </p:nvPr>
        </p:nvSpPr>
        <p:spPr>
          <a:xfrm>
            <a:off x="4461500" y="4073371"/>
            <a:ext cx="7189495" cy="774700"/>
          </a:xfrm>
        </p:spPr>
        <p:txBody>
          <a:bodyPr>
            <a:normAutofit/>
          </a:bodyPr>
          <a:lstStyle>
            <a:lvl1pPr marL="0" indent="0" algn="l">
              <a:buNone/>
              <a:defRPr sz="2000">
                <a:solidFill>
                  <a:srgbClr val="0070C0"/>
                </a:solidFill>
                <a:latin typeface="+mj-lt"/>
              </a:defRPr>
            </a:lvl1pPr>
          </a:lstStyle>
          <a:p>
            <a:pPr lvl="0"/>
            <a:r>
              <a:rPr lang="en-US"/>
              <a:t>Briefer: Name and Title</a:t>
            </a:r>
          </a:p>
        </p:txBody>
      </p:sp>
    </p:spTree>
    <p:extLst>
      <p:ext uri="{BB962C8B-B14F-4D97-AF65-F5344CB8AC3E}">
        <p14:creationId xmlns:p14="http://schemas.microsoft.com/office/powerpoint/2010/main" val="2652553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
        <p:nvSpPr>
          <p:cNvPr id="3" name="Content Placeholder 2"/>
          <p:cNvSpPr>
            <a:spLocks noGrp="1"/>
          </p:cNvSpPr>
          <p:nvPr>
            <p:ph idx="1"/>
          </p:nvPr>
        </p:nvSpPr>
        <p:spPr>
          <a:xfrm>
            <a:off x="838200" y="1608667"/>
            <a:ext cx="10515600" cy="4247991"/>
          </a:xfrm>
        </p:spPr>
        <p:txBody>
          <a:bodyPr/>
          <a:lstStyle>
            <a:lvl1pPr>
              <a:lnSpc>
                <a:spcPct val="110000"/>
              </a:lnSpc>
              <a:defRPr>
                <a:solidFill>
                  <a:srgbClr val="003E72"/>
                </a:solidFill>
              </a:defRPr>
            </a:lvl1pPr>
            <a:lvl2pPr>
              <a:lnSpc>
                <a:spcPct val="110000"/>
              </a:lnSpc>
              <a:defRPr>
                <a:solidFill>
                  <a:srgbClr val="003E72"/>
                </a:solidFill>
              </a:defRPr>
            </a:lvl2pPr>
            <a:lvl3pPr>
              <a:lnSpc>
                <a:spcPct val="110000"/>
              </a:lnSpc>
              <a:defRPr>
                <a:solidFill>
                  <a:srgbClr val="003E72"/>
                </a:solidFill>
              </a:defRPr>
            </a:lvl3pPr>
            <a:lvl4pPr>
              <a:lnSpc>
                <a:spcPct val="110000"/>
              </a:lnSpc>
              <a:defRPr>
                <a:solidFill>
                  <a:srgbClr val="003E72"/>
                </a:solidFill>
              </a:defRPr>
            </a:lvl4pPr>
            <a:lvl5pPr>
              <a:lnSpc>
                <a:spcPct val="110000"/>
              </a:lnSpc>
              <a:defRPr>
                <a:solidFill>
                  <a:srgbClr val="003E7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4857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Sidebar Phot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95C181A-A9BA-764D-9C94-AB35096B24E3}"/>
              </a:ext>
            </a:extLst>
          </p:cNvPr>
          <p:cNvPicPr>
            <a:picLocks noChangeAspect="1"/>
          </p:cNvPicPr>
          <p:nvPr userDrawn="1"/>
        </p:nvPicPr>
        <p:blipFill rotWithShape="1">
          <a:blip r:embed="rId2" cstate="print">
            <a:alphaModFix amt="7000"/>
            <a:extLst>
              <a:ext uri="{28A0092B-C50C-407E-A947-70E740481C1C}">
                <a14:useLocalDpi xmlns:a14="http://schemas.microsoft.com/office/drawing/2010/main"/>
              </a:ext>
            </a:extLst>
          </a:blip>
          <a:srcRect t="33903" b="4214"/>
          <a:stretch/>
        </p:blipFill>
        <p:spPr>
          <a:xfrm>
            <a:off x="0" y="1431561"/>
            <a:ext cx="12192000" cy="4289763"/>
          </a:xfrm>
          <a:prstGeom prst="rect">
            <a:avLst/>
          </a:prstGeom>
        </p:spPr>
      </p:pic>
      <p:sp>
        <p:nvSpPr>
          <p:cNvPr id="11" name="Picture Placeholder 2">
            <a:extLst>
              <a:ext uri="{FF2B5EF4-FFF2-40B4-BE49-F238E27FC236}">
                <a16:creationId xmlns:a16="http://schemas.microsoft.com/office/drawing/2014/main" id="{F89232B3-75B4-4844-BDA8-8CA59EC50269}"/>
              </a:ext>
            </a:extLst>
          </p:cNvPr>
          <p:cNvSpPr>
            <a:spLocks noGrp="1" noChangeAspect="1"/>
          </p:cNvSpPr>
          <p:nvPr>
            <p:ph type="pic" idx="14"/>
          </p:nvPr>
        </p:nvSpPr>
        <p:spPr>
          <a:xfrm>
            <a:off x="7342409" y="1686408"/>
            <a:ext cx="4011391" cy="3740031"/>
          </a:xfrm>
        </p:spPr>
        <p:txBody>
          <a:bodyPr anchor="t"/>
          <a:lstStyle>
            <a:lvl1pPr marL="0" indent="0">
              <a:buNone/>
              <a:defRPr sz="3200">
                <a:solidFill>
                  <a:srgbClr val="003E7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4" name="Content Placeholder 2">
            <a:extLst>
              <a:ext uri="{FF2B5EF4-FFF2-40B4-BE49-F238E27FC236}">
                <a16:creationId xmlns:a16="http://schemas.microsoft.com/office/drawing/2014/main" id="{300C3B68-8455-D448-9503-AB8AC173FFAE}"/>
              </a:ext>
            </a:extLst>
          </p:cNvPr>
          <p:cNvSpPr>
            <a:spLocks noGrp="1"/>
          </p:cNvSpPr>
          <p:nvPr>
            <p:ph idx="1"/>
          </p:nvPr>
        </p:nvSpPr>
        <p:spPr>
          <a:xfrm>
            <a:off x="838202" y="1686408"/>
            <a:ext cx="6117234" cy="3740031"/>
          </a:xfrm>
        </p:spPr>
        <p:txBody>
          <a:bodyPr/>
          <a:lstStyle>
            <a:lvl1pPr>
              <a:lnSpc>
                <a:spcPct val="110000"/>
              </a:lnSpc>
              <a:defRPr>
                <a:solidFill>
                  <a:srgbClr val="003E72"/>
                </a:solidFill>
              </a:defRPr>
            </a:lvl1pPr>
            <a:lvl2pPr>
              <a:lnSpc>
                <a:spcPct val="110000"/>
              </a:lnSpc>
              <a:defRPr>
                <a:solidFill>
                  <a:srgbClr val="003E72"/>
                </a:solidFill>
              </a:defRPr>
            </a:lvl2pPr>
            <a:lvl3pPr>
              <a:lnSpc>
                <a:spcPct val="110000"/>
              </a:lnSpc>
              <a:defRPr>
                <a:solidFill>
                  <a:srgbClr val="003E72"/>
                </a:solidFill>
              </a:defRPr>
            </a:lvl3pPr>
            <a:lvl4pPr>
              <a:lnSpc>
                <a:spcPct val="110000"/>
              </a:lnSpc>
              <a:defRPr>
                <a:solidFill>
                  <a:srgbClr val="003E72"/>
                </a:solidFill>
              </a:defRPr>
            </a:lvl4pPr>
            <a:lvl5pPr>
              <a:lnSpc>
                <a:spcPct val="110000"/>
              </a:lnSpc>
              <a:defRPr>
                <a:solidFill>
                  <a:srgbClr val="003E7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B54B5D15-7620-8943-B1D6-C4989A375AA5}"/>
              </a:ext>
            </a:extLst>
          </p:cNvPr>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Tree>
    <p:extLst>
      <p:ext uri="{BB962C8B-B14F-4D97-AF65-F5344CB8AC3E}">
        <p14:creationId xmlns:p14="http://schemas.microsoft.com/office/powerpoint/2010/main" val="2474630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
        <p:nvSpPr>
          <p:cNvPr id="3" name="Content Placeholder 2"/>
          <p:cNvSpPr>
            <a:spLocks noGrp="1"/>
          </p:cNvSpPr>
          <p:nvPr>
            <p:ph idx="1" hasCustomPrompt="1"/>
          </p:nvPr>
        </p:nvSpPr>
        <p:spPr>
          <a:xfrm>
            <a:off x="838200" y="1799999"/>
            <a:ext cx="5119139"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Two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6153464" y="1799999"/>
            <a:ext cx="5119139"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Two Column Text</a:t>
            </a:r>
          </a:p>
        </p:txBody>
      </p:sp>
    </p:spTree>
    <p:extLst>
      <p:ext uri="{BB962C8B-B14F-4D97-AF65-F5344CB8AC3E}">
        <p14:creationId xmlns:p14="http://schemas.microsoft.com/office/powerpoint/2010/main" val="1209833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
        <p:nvSpPr>
          <p:cNvPr id="3" name="Content Placeholder 2"/>
          <p:cNvSpPr>
            <a:spLocks noGrp="1"/>
          </p:cNvSpPr>
          <p:nvPr>
            <p:ph idx="1" hasCustomPrompt="1"/>
          </p:nvPr>
        </p:nvSpPr>
        <p:spPr>
          <a:xfrm>
            <a:off x="838201"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4515165"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6" name="Content Placeholder 2">
            <a:extLst>
              <a:ext uri="{FF2B5EF4-FFF2-40B4-BE49-F238E27FC236}">
                <a16:creationId xmlns:a16="http://schemas.microsoft.com/office/drawing/2014/main" id="{B41E6513-3F0C-8343-90AD-D2400055D19D}"/>
              </a:ext>
            </a:extLst>
          </p:cNvPr>
          <p:cNvSpPr>
            <a:spLocks noGrp="1"/>
          </p:cNvSpPr>
          <p:nvPr>
            <p:ph idx="11" hasCustomPrompt="1"/>
          </p:nvPr>
        </p:nvSpPr>
        <p:spPr>
          <a:xfrm>
            <a:off x="8192129"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Tree>
    <p:extLst>
      <p:ext uri="{BB962C8B-B14F-4D97-AF65-F5344CB8AC3E}">
        <p14:creationId xmlns:p14="http://schemas.microsoft.com/office/powerpoint/2010/main" val="15983930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5ED376-3B63-4BF5-8FE7-6E13F6B5E102}"/>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E4FA9B3C-1FF1-914D-A59E-CA40875151CE}"/>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rgbClr val="003E72"/>
                </a:solidFill>
              </a:defRPr>
            </a:lvl1pPr>
          </a:lstStyle>
          <a:p>
            <a:r>
              <a:rPr lang="en-US"/>
              <a:t>Divider Slide 2</a:t>
            </a:r>
          </a:p>
        </p:txBody>
      </p:sp>
    </p:spTree>
    <p:extLst>
      <p:ext uri="{BB962C8B-B14F-4D97-AF65-F5344CB8AC3E}">
        <p14:creationId xmlns:p14="http://schemas.microsoft.com/office/powerpoint/2010/main" val="144728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ne Chart 1">
    <p:bg>
      <p:bgPr>
        <a:solidFill>
          <a:srgbClr val="F4F1F2"/>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3FBD5ED0-A7AC-1E4A-805A-1A86C021CA9E}"/>
              </a:ext>
            </a:extLst>
          </p:cNvPr>
          <p:cNvCxnSpPr/>
          <p:nvPr userDrawn="1"/>
        </p:nvCxnSpPr>
        <p:spPr>
          <a:xfrm>
            <a:off x="0" y="2301240"/>
            <a:ext cx="12192000" cy="0"/>
          </a:xfrm>
          <a:prstGeom prst="line">
            <a:avLst/>
          </a:prstGeom>
          <a:ln w="698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87624B8-2A3F-4234-B65D-84C63F7AC2A9}"/>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Hexagon 3">
            <a:extLst>
              <a:ext uri="{FF2B5EF4-FFF2-40B4-BE49-F238E27FC236}">
                <a16:creationId xmlns:a16="http://schemas.microsoft.com/office/drawing/2014/main" id="{C62E5F35-D24D-1548-AC40-C09D150F2D40}"/>
              </a:ext>
            </a:extLst>
          </p:cNvPr>
          <p:cNvSpPr>
            <a:spLocks/>
          </p:cNvSpPr>
          <p:nvPr userDrawn="1"/>
        </p:nvSpPr>
        <p:spPr>
          <a:xfrm>
            <a:off x="1113017" y="1691638"/>
            <a:ext cx="1375261" cy="1188720"/>
          </a:xfrm>
          <a:prstGeom prst="hexagon">
            <a:avLst/>
          </a:prstGeom>
          <a:solidFill>
            <a:srgbClr val="003E72"/>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Hexagon 12">
            <a:extLst>
              <a:ext uri="{FF2B5EF4-FFF2-40B4-BE49-F238E27FC236}">
                <a16:creationId xmlns:a16="http://schemas.microsoft.com/office/drawing/2014/main" id="{5F4EDF85-509D-EF49-87BA-059B1A183414}"/>
              </a:ext>
            </a:extLst>
          </p:cNvPr>
          <p:cNvSpPr>
            <a:spLocks/>
          </p:cNvSpPr>
          <p:nvPr userDrawn="1"/>
        </p:nvSpPr>
        <p:spPr>
          <a:xfrm>
            <a:off x="3286725" y="1691638"/>
            <a:ext cx="1375261" cy="1188720"/>
          </a:xfrm>
          <a:prstGeom prst="hexagon">
            <a:avLst/>
          </a:prstGeom>
          <a:solidFill>
            <a:srgbClr val="0070C0"/>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Hexagon 13">
            <a:extLst>
              <a:ext uri="{FF2B5EF4-FFF2-40B4-BE49-F238E27FC236}">
                <a16:creationId xmlns:a16="http://schemas.microsoft.com/office/drawing/2014/main" id="{CCAE2731-5447-104D-A243-3FA237F3239D}"/>
              </a:ext>
            </a:extLst>
          </p:cNvPr>
          <p:cNvSpPr>
            <a:spLocks/>
          </p:cNvSpPr>
          <p:nvPr userDrawn="1"/>
        </p:nvSpPr>
        <p:spPr>
          <a:xfrm>
            <a:off x="7634141" y="1691636"/>
            <a:ext cx="1375261" cy="1188720"/>
          </a:xfrm>
          <a:prstGeom prst="hexagon">
            <a:avLst/>
          </a:prstGeom>
          <a:solidFill>
            <a:srgbClr val="B0D3EB"/>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Hexagon 14">
            <a:extLst>
              <a:ext uri="{FF2B5EF4-FFF2-40B4-BE49-F238E27FC236}">
                <a16:creationId xmlns:a16="http://schemas.microsoft.com/office/drawing/2014/main" id="{E197F718-EB2E-2B46-88FD-4CF0004C359C}"/>
              </a:ext>
            </a:extLst>
          </p:cNvPr>
          <p:cNvSpPr>
            <a:spLocks/>
          </p:cNvSpPr>
          <p:nvPr userDrawn="1"/>
        </p:nvSpPr>
        <p:spPr>
          <a:xfrm>
            <a:off x="9807850" y="1691635"/>
            <a:ext cx="1375261" cy="1188720"/>
          </a:xfrm>
          <a:prstGeom prst="hexagon">
            <a:avLst/>
          </a:prstGeom>
          <a:solidFill>
            <a:srgbClr val="66666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08825400-135B-1D4A-9A53-CD11C5C5B8F9}"/>
              </a:ext>
            </a:extLst>
          </p:cNvPr>
          <p:cNvSpPr>
            <a:spLocks/>
          </p:cNvSpPr>
          <p:nvPr userDrawn="1"/>
        </p:nvSpPr>
        <p:spPr>
          <a:xfrm>
            <a:off x="5460433" y="1691637"/>
            <a:ext cx="1375261" cy="1188720"/>
          </a:xfrm>
          <a:prstGeom prst="hexagon">
            <a:avLst/>
          </a:prstGeom>
          <a:solidFill>
            <a:srgbClr val="6DABD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2">
            <a:extLst>
              <a:ext uri="{FF2B5EF4-FFF2-40B4-BE49-F238E27FC236}">
                <a16:creationId xmlns:a16="http://schemas.microsoft.com/office/drawing/2014/main" id="{D6481BA6-A1B1-9442-AE32-0598A33AA38C}"/>
              </a:ext>
            </a:extLst>
          </p:cNvPr>
          <p:cNvSpPr>
            <a:spLocks noGrp="1"/>
          </p:cNvSpPr>
          <p:nvPr>
            <p:ph type="body" idx="1" hasCustomPrompt="1"/>
          </p:nvPr>
        </p:nvSpPr>
        <p:spPr>
          <a:xfrm>
            <a:off x="786315" y="3133060"/>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39" name="Content Placeholder 2">
            <a:extLst>
              <a:ext uri="{FF2B5EF4-FFF2-40B4-BE49-F238E27FC236}">
                <a16:creationId xmlns:a16="http://schemas.microsoft.com/office/drawing/2014/main" id="{D45BF9D4-0066-2543-B201-7496D2F88B01}"/>
              </a:ext>
            </a:extLst>
          </p:cNvPr>
          <p:cNvSpPr>
            <a:spLocks noGrp="1"/>
          </p:cNvSpPr>
          <p:nvPr>
            <p:ph idx="11" hasCustomPrompt="1"/>
          </p:nvPr>
        </p:nvSpPr>
        <p:spPr>
          <a:xfrm>
            <a:off x="784727" y="3637384"/>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0" name="Text Placeholder 2">
            <a:extLst>
              <a:ext uri="{FF2B5EF4-FFF2-40B4-BE49-F238E27FC236}">
                <a16:creationId xmlns:a16="http://schemas.microsoft.com/office/drawing/2014/main" id="{8B671FC8-0E69-8A44-995B-F85D7A0B93FF}"/>
              </a:ext>
            </a:extLst>
          </p:cNvPr>
          <p:cNvSpPr>
            <a:spLocks noGrp="1"/>
          </p:cNvSpPr>
          <p:nvPr>
            <p:ph type="body" idx="12" hasCustomPrompt="1"/>
          </p:nvPr>
        </p:nvSpPr>
        <p:spPr>
          <a:xfrm>
            <a:off x="2971833" y="3149468"/>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1" name="Content Placeholder 2">
            <a:extLst>
              <a:ext uri="{FF2B5EF4-FFF2-40B4-BE49-F238E27FC236}">
                <a16:creationId xmlns:a16="http://schemas.microsoft.com/office/drawing/2014/main" id="{AE173DC9-2DA6-9B44-9A18-093E325C7DD3}"/>
              </a:ext>
            </a:extLst>
          </p:cNvPr>
          <p:cNvSpPr>
            <a:spLocks noGrp="1"/>
          </p:cNvSpPr>
          <p:nvPr>
            <p:ph idx="13" hasCustomPrompt="1"/>
          </p:nvPr>
        </p:nvSpPr>
        <p:spPr>
          <a:xfrm>
            <a:off x="2970245" y="3653792"/>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2" name="Text Placeholder 2">
            <a:extLst>
              <a:ext uri="{FF2B5EF4-FFF2-40B4-BE49-F238E27FC236}">
                <a16:creationId xmlns:a16="http://schemas.microsoft.com/office/drawing/2014/main" id="{5834E881-EFBA-7A4A-B3B2-CD87BEDD5C2D}"/>
              </a:ext>
            </a:extLst>
          </p:cNvPr>
          <p:cNvSpPr>
            <a:spLocks noGrp="1"/>
          </p:cNvSpPr>
          <p:nvPr>
            <p:ph type="body" idx="14" hasCustomPrompt="1"/>
          </p:nvPr>
        </p:nvSpPr>
        <p:spPr>
          <a:xfrm>
            <a:off x="5131251" y="3133060"/>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3" name="Content Placeholder 2">
            <a:extLst>
              <a:ext uri="{FF2B5EF4-FFF2-40B4-BE49-F238E27FC236}">
                <a16:creationId xmlns:a16="http://schemas.microsoft.com/office/drawing/2014/main" id="{5AEB8A8F-6E37-8A4F-A35F-0606DDA7015B}"/>
              </a:ext>
            </a:extLst>
          </p:cNvPr>
          <p:cNvSpPr>
            <a:spLocks noGrp="1"/>
          </p:cNvSpPr>
          <p:nvPr>
            <p:ph idx="15" hasCustomPrompt="1"/>
          </p:nvPr>
        </p:nvSpPr>
        <p:spPr>
          <a:xfrm>
            <a:off x="5129663" y="3637384"/>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4" name="Text Placeholder 2">
            <a:extLst>
              <a:ext uri="{FF2B5EF4-FFF2-40B4-BE49-F238E27FC236}">
                <a16:creationId xmlns:a16="http://schemas.microsoft.com/office/drawing/2014/main" id="{43F887E5-53F4-4B45-8A7F-1287C355517D}"/>
              </a:ext>
            </a:extLst>
          </p:cNvPr>
          <p:cNvSpPr>
            <a:spLocks noGrp="1"/>
          </p:cNvSpPr>
          <p:nvPr>
            <p:ph type="body" idx="16" hasCustomPrompt="1"/>
          </p:nvPr>
        </p:nvSpPr>
        <p:spPr>
          <a:xfrm>
            <a:off x="7316769" y="3149468"/>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5" name="Content Placeholder 2">
            <a:extLst>
              <a:ext uri="{FF2B5EF4-FFF2-40B4-BE49-F238E27FC236}">
                <a16:creationId xmlns:a16="http://schemas.microsoft.com/office/drawing/2014/main" id="{B30963FA-92AE-2547-B3E1-077EF0796C21}"/>
              </a:ext>
            </a:extLst>
          </p:cNvPr>
          <p:cNvSpPr>
            <a:spLocks noGrp="1"/>
          </p:cNvSpPr>
          <p:nvPr>
            <p:ph idx="17" hasCustomPrompt="1"/>
          </p:nvPr>
        </p:nvSpPr>
        <p:spPr>
          <a:xfrm>
            <a:off x="7315181" y="3653792"/>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6" name="Text Placeholder 2">
            <a:extLst>
              <a:ext uri="{FF2B5EF4-FFF2-40B4-BE49-F238E27FC236}">
                <a16:creationId xmlns:a16="http://schemas.microsoft.com/office/drawing/2014/main" id="{F423E667-7B78-264B-B728-BF11CCDEDE5B}"/>
              </a:ext>
            </a:extLst>
          </p:cNvPr>
          <p:cNvSpPr>
            <a:spLocks noGrp="1"/>
          </p:cNvSpPr>
          <p:nvPr>
            <p:ph type="body" idx="18" hasCustomPrompt="1"/>
          </p:nvPr>
        </p:nvSpPr>
        <p:spPr>
          <a:xfrm>
            <a:off x="9538010" y="3150061"/>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7" name="Content Placeholder 2">
            <a:extLst>
              <a:ext uri="{FF2B5EF4-FFF2-40B4-BE49-F238E27FC236}">
                <a16:creationId xmlns:a16="http://schemas.microsoft.com/office/drawing/2014/main" id="{F4810DE5-5EF9-5643-BDF2-F3510AA92A66}"/>
              </a:ext>
            </a:extLst>
          </p:cNvPr>
          <p:cNvSpPr>
            <a:spLocks noGrp="1"/>
          </p:cNvSpPr>
          <p:nvPr>
            <p:ph idx="19" hasCustomPrompt="1"/>
          </p:nvPr>
        </p:nvSpPr>
        <p:spPr>
          <a:xfrm>
            <a:off x="9536422" y="3654385"/>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8" name="Title 1">
            <a:extLst>
              <a:ext uri="{FF2B5EF4-FFF2-40B4-BE49-F238E27FC236}">
                <a16:creationId xmlns:a16="http://schemas.microsoft.com/office/drawing/2014/main" id="{34C7C329-D5D5-5A4B-BF6D-98F84A28F56B}"/>
              </a:ext>
            </a:extLst>
          </p:cNvPr>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Tree>
    <p:extLst>
      <p:ext uri="{BB962C8B-B14F-4D97-AF65-F5344CB8AC3E}">
        <p14:creationId xmlns:p14="http://schemas.microsoft.com/office/powerpoint/2010/main" val="1657416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23C36F-F942-431A-AE32-315502B0000D}"/>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D47E9A00-2A21-5844-8CE2-64885373E5A7}"/>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rgbClr val="003E72"/>
                </a:solidFill>
              </a:defRPr>
            </a:lvl1pPr>
          </a:lstStyle>
          <a:p>
            <a:r>
              <a:rPr lang="en-US"/>
              <a:t>Thank You!</a:t>
            </a:r>
          </a:p>
        </p:txBody>
      </p:sp>
    </p:spTree>
    <p:extLst>
      <p:ext uri="{BB962C8B-B14F-4D97-AF65-F5344CB8AC3E}">
        <p14:creationId xmlns:p14="http://schemas.microsoft.com/office/powerpoint/2010/main" val="14430639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A76D-4AD6-459B-9B1A-2997299EE2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ABC8E1-E2F8-4B20-AA5B-7B7F1CA081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F74012-2A3C-4F58-B8D4-48C1ACE28B4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CBD69D15-2884-4C80-B2C5-6B86D70D8438}"/>
              </a:ext>
            </a:extLst>
          </p:cNvPr>
          <p:cNvSpPr>
            <a:spLocks noGrp="1"/>
          </p:cNvSpPr>
          <p:nvPr>
            <p:ph type="ftr" sz="quarter" idx="11"/>
          </p:nvPr>
        </p:nvSpPr>
        <p:spPr>
          <a:xfrm>
            <a:off x="4165600" y="6356449"/>
            <a:ext cx="3860800" cy="365125"/>
          </a:xfrm>
          <a:prstGeom prst="rect">
            <a:avLst/>
          </a:prstGeom>
        </p:spPr>
        <p:txBody>
          <a:bodyPr/>
          <a:lstStyle/>
          <a:p>
            <a:endParaRPr lang="en-US" dirty="0"/>
          </a:p>
        </p:txBody>
      </p:sp>
      <p:sp>
        <p:nvSpPr>
          <p:cNvPr id="7" name="Rectangle 6">
            <a:extLst>
              <a:ext uri="{FF2B5EF4-FFF2-40B4-BE49-F238E27FC236}">
                <a16:creationId xmlns:a16="http://schemas.microsoft.com/office/drawing/2014/main" id="{A406EB31-E737-4771-B3C2-572868785244}"/>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sp>
        <p:nvSpPr>
          <p:cNvPr id="8" name="Slide Number Placeholder 5">
            <a:extLst>
              <a:ext uri="{FF2B5EF4-FFF2-40B4-BE49-F238E27FC236}">
                <a16:creationId xmlns:a16="http://schemas.microsoft.com/office/drawing/2014/main" id="{5F578217-7A94-4F44-AF02-9E4CD71FF315}"/>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
        <p:nvSpPr>
          <p:cNvPr id="9" name="Footer Placeholder 4">
            <a:extLst>
              <a:ext uri="{FF2B5EF4-FFF2-40B4-BE49-F238E27FC236}">
                <a16:creationId xmlns:a16="http://schemas.microsoft.com/office/drawing/2014/main" id="{F1E9A7F9-71F0-44BD-8226-28CCF7C587CC}"/>
              </a:ext>
            </a:extLst>
          </p:cNvPr>
          <p:cNvSpPr txBox="1">
            <a:spLocks/>
          </p:cNvSpPr>
          <p:nvPr userDrawn="1"/>
        </p:nvSpPr>
        <p:spPr>
          <a:xfrm>
            <a:off x="4165600" y="6356449"/>
            <a:ext cx="3860800" cy="365125"/>
          </a:xfrm>
          <a:prstGeom prst="rect">
            <a:avLst/>
          </a:prstGeom>
        </p:spPr>
        <p:txBody>
          <a:bodyPr lIns="91440" tIns="45720" rIns="91440" bIns="45720"/>
          <a:lstStyle>
            <a:defPPr>
              <a:defRPr lang="en-US"/>
            </a:defPPr>
            <a:lvl1pPr marL="0" algn="ctr" defTabSz="457200" rtl="0" eaLnBrk="1" latinLnBrk="0" hangingPunct="1">
              <a:defRPr sz="100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dirty="0"/>
              <a:t>Working Draft, Pre-Decisional, Deliberative Document - Internal VA Use Only</a:t>
            </a:r>
          </a:p>
        </p:txBody>
      </p:sp>
    </p:spTree>
    <p:extLst>
      <p:ext uri="{BB962C8B-B14F-4D97-AF65-F5344CB8AC3E}">
        <p14:creationId xmlns:p14="http://schemas.microsoft.com/office/powerpoint/2010/main" val="10174222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94"/>
                        <a:ext cx="2116" cy="1587"/>
                      </a:xfrm>
                      <a:prstGeom prst="rect">
                        <a:avLst/>
                      </a:prstGeom>
                    </p:spPr>
                  </p:pic>
                </p:oleObj>
              </mc:Fallback>
            </mc:AlternateContent>
          </a:graphicData>
        </a:graphic>
      </p:graphicFrame>
      <p:sp>
        <p:nvSpPr>
          <p:cNvPr id="2" name="Title 1"/>
          <p:cNvSpPr>
            <a:spLocks noGrp="1"/>
          </p:cNvSpPr>
          <p:nvPr>
            <p:ph type="ctrTitle"/>
          </p:nvPr>
        </p:nvSpPr>
        <p:spPr>
          <a:xfrm>
            <a:off x="3934673" y="2591311"/>
            <a:ext cx="7928345" cy="1905255"/>
          </a:xfrm>
        </p:spPr>
        <p:txBody>
          <a:bodyPr/>
          <a:lstStyle>
            <a:lvl1pPr algn="l">
              <a:defRPr>
                <a:solidFill>
                  <a:schemeClr val="accent2"/>
                </a:solidFill>
              </a:defRPr>
            </a:lvl1pPr>
          </a:lstStyle>
          <a:p>
            <a:r>
              <a:rPr lang="en-US"/>
              <a:t>Click to edit Master title style</a:t>
            </a:r>
          </a:p>
        </p:txBody>
      </p:sp>
      <p:sp>
        <p:nvSpPr>
          <p:cNvPr id="3" name="Subtitle 2"/>
          <p:cNvSpPr>
            <a:spLocks noGrp="1"/>
          </p:cNvSpPr>
          <p:nvPr>
            <p:ph type="subTitle" idx="1" hasCustomPrompt="1"/>
          </p:nvPr>
        </p:nvSpPr>
        <p:spPr>
          <a:xfrm>
            <a:off x="3895118" y="4803735"/>
            <a:ext cx="7968015" cy="450535"/>
          </a:xfrm>
        </p:spPr>
        <p:txBody>
          <a:bodyPr/>
          <a:lstStyle>
            <a:lvl1pPr marL="0" indent="0" algn="l">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Date</a:t>
            </a:r>
          </a:p>
        </p:txBody>
      </p:sp>
      <p:sp>
        <p:nvSpPr>
          <p:cNvPr id="7" name="Slide Number Placeholder 5"/>
          <p:cNvSpPr txBox="1">
            <a:spLocks/>
          </p:cNvSpPr>
          <p:nvPr userDrawn="1"/>
        </p:nvSpPr>
        <p:spPr>
          <a:xfrm>
            <a:off x="9250441" y="6400237"/>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983F1FA-211D-3044-9E35-958DFBC26156}" type="slidenum">
              <a:rPr lang="en-US" sz="1200" smtClean="0">
                <a:solidFill>
                  <a:prstClr val="white"/>
                </a:solidFill>
              </a:rPr>
              <a:pPr/>
              <a:t>‹#›</a:t>
            </a:fld>
            <a:endParaRPr lang="en-US" sz="1200" dirty="0">
              <a:solidFill>
                <a:prstClr val="white"/>
              </a:solidFill>
            </a:endParaRPr>
          </a:p>
        </p:txBody>
      </p:sp>
      <p:sp>
        <p:nvSpPr>
          <p:cNvPr id="8" name="Rectangle 7"/>
          <p:cNvSpPr/>
          <p:nvPr userDrawn="1"/>
        </p:nvSpPr>
        <p:spPr>
          <a:xfrm>
            <a:off x="0" y="5376959"/>
            <a:ext cx="12192000" cy="14811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800" dirty="0">
              <a:solidFill>
                <a:prstClr val="white"/>
              </a:solidFill>
            </a:endParaRPr>
          </a:p>
        </p:txBody>
      </p:sp>
      <p:sp>
        <p:nvSpPr>
          <p:cNvPr id="9" name="Rectangle 8">
            <a:extLst>
              <a:ext uri="{FF2B5EF4-FFF2-40B4-BE49-F238E27FC236}">
                <a16:creationId xmlns:a16="http://schemas.microsoft.com/office/drawing/2014/main" id="{E3BBF127-B7C0-4FF3-84D2-136E58243316}"/>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pic>
        <p:nvPicPr>
          <p:cNvPr id="10" name="Picture 9">
            <a:extLst>
              <a:ext uri="{FF2B5EF4-FFF2-40B4-BE49-F238E27FC236}">
                <a16:creationId xmlns:a16="http://schemas.microsoft.com/office/drawing/2014/main" id="{0CFA7DC3-19C0-176D-22F4-3E0DD3B733B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6852745" y="5226132"/>
            <a:ext cx="4048257" cy="1631769"/>
          </a:xfrm>
          <a:prstGeom prst="rect">
            <a:avLst/>
          </a:prstGeom>
        </p:spPr>
      </p:pic>
    </p:spTree>
    <p:extLst>
      <p:ext uri="{BB962C8B-B14F-4D97-AF65-F5344CB8AC3E}">
        <p14:creationId xmlns:p14="http://schemas.microsoft.com/office/powerpoint/2010/main" val="4067904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94"/>
                        <a:ext cx="2116" cy="1587"/>
                      </a:xfrm>
                      <a:prstGeom prst="rect">
                        <a:avLst/>
                      </a:prstGeom>
                    </p:spPr>
                  </p:pic>
                </p:oleObj>
              </mc:Fallback>
            </mc:AlternateContent>
          </a:graphicData>
        </a:graphic>
      </p:graphicFrame>
      <p:sp>
        <p:nvSpPr>
          <p:cNvPr id="3" name="Content Placeholder 2"/>
          <p:cNvSpPr>
            <a:spLocks noGrp="1"/>
          </p:cNvSpPr>
          <p:nvPr>
            <p:ph idx="1"/>
          </p:nvPr>
        </p:nvSpPr>
        <p:spPr>
          <a:xfrm>
            <a:off x="609600" y="838201"/>
            <a:ext cx="10972800" cy="5287964"/>
          </a:xfrm>
          <a:effectLst/>
        </p:spPr>
        <p:txBody>
          <a:bodyPr>
            <a:normAutofit/>
          </a:bodyPr>
          <a:lstStyle>
            <a:lvl1pPr>
              <a:defRPr sz="20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dirty="0">
              <a:solidFill>
                <a:prstClr val="white"/>
              </a:solidFill>
            </a:endParaRPr>
          </a:p>
        </p:txBody>
      </p:sp>
      <p:sp>
        <p:nvSpPr>
          <p:cNvPr id="2" name="Title 1"/>
          <p:cNvSpPr>
            <a:spLocks noGrp="1"/>
          </p:cNvSpPr>
          <p:nvPr>
            <p:ph type="title"/>
          </p:nvPr>
        </p:nvSpPr>
        <p:spPr>
          <a:xfrm>
            <a:off x="0" y="0"/>
            <a:ext cx="12192000" cy="685800"/>
          </a:xfrm>
          <a:effectLst/>
        </p:spPr>
        <p:txBody>
          <a:bodyPr>
            <a:noAutofit/>
          </a:bodyPr>
          <a:lstStyle>
            <a:lvl1pPr>
              <a:defRPr sz="2600" b="0">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8850320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627EF-1022-4358-90AD-36A101F183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3F0009-0E59-4D3A-8251-F19C4EB10726}"/>
              </a:ext>
            </a:extLst>
          </p:cNvPr>
          <p:cNvSpPr>
            <a:spLocks noGrp="1"/>
          </p:cNvSpPr>
          <p:nvPr>
            <p:ph sz="half" idx="1"/>
          </p:nvPr>
        </p:nvSpPr>
        <p:spPr>
          <a:xfrm>
            <a:off x="838200" y="1825625"/>
            <a:ext cx="515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AFB2E7-E020-4FC6-AF75-E7B03FA9378D}"/>
              </a:ext>
            </a:extLst>
          </p:cNvPr>
          <p:cNvSpPr>
            <a:spLocks noGrp="1"/>
          </p:cNvSpPr>
          <p:nvPr>
            <p:ph sz="half" idx="2"/>
          </p:nvPr>
        </p:nvSpPr>
        <p:spPr>
          <a:xfrm>
            <a:off x="6197600" y="1825625"/>
            <a:ext cx="515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EC805C-50A0-42C8-BA51-1E9A5D2E86C5}"/>
              </a:ext>
            </a:extLst>
          </p:cNvPr>
          <p:cNvSpPr>
            <a:spLocks noGrp="1"/>
          </p:cNvSpPr>
          <p:nvPr>
            <p:ph type="dt" sz="half" idx="10"/>
          </p:nvPr>
        </p:nvSpPr>
        <p:spPr/>
        <p:txBody>
          <a:bodyPr/>
          <a:lstStyle/>
          <a:p>
            <a:endParaRPr lang="en-US" dirty="0"/>
          </a:p>
        </p:txBody>
      </p:sp>
      <p:sp>
        <p:nvSpPr>
          <p:cNvPr id="8" name="Slide Number Placeholder 5">
            <a:extLst>
              <a:ext uri="{FF2B5EF4-FFF2-40B4-BE49-F238E27FC236}">
                <a16:creationId xmlns:a16="http://schemas.microsoft.com/office/drawing/2014/main" id="{9C937542-88CD-4561-A338-EB2F6C1993E7}"/>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Tree>
    <p:extLst>
      <p:ext uri="{BB962C8B-B14F-4D97-AF65-F5344CB8AC3E}">
        <p14:creationId xmlns:p14="http://schemas.microsoft.com/office/powerpoint/2010/main" val="39039343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787F1D-8053-4C90-A584-8B1CEADF4FFC}"/>
              </a:ext>
            </a:extLst>
          </p:cNvPr>
          <p:cNvSpPr>
            <a:spLocks noGrp="1"/>
          </p:cNvSpPr>
          <p:nvPr>
            <p:ph type="dt" sz="half" idx="10"/>
          </p:nvPr>
        </p:nvSpPr>
        <p:spPr/>
        <p:txBody>
          <a:bodyPr/>
          <a:lstStyle/>
          <a:p>
            <a:endParaRPr lang="en-US" dirty="0"/>
          </a:p>
        </p:txBody>
      </p:sp>
      <p:sp>
        <p:nvSpPr>
          <p:cNvPr id="5" name="Slide Number Placeholder 5">
            <a:extLst>
              <a:ext uri="{FF2B5EF4-FFF2-40B4-BE49-F238E27FC236}">
                <a16:creationId xmlns:a16="http://schemas.microsoft.com/office/drawing/2014/main" id="{08585CE4-84C0-4CB9-AC9F-3F457D82615F}"/>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Tree>
    <p:extLst>
      <p:ext uri="{BB962C8B-B14F-4D97-AF65-F5344CB8AC3E}">
        <p14:creationId xmlns:p14="http://schemas.microsoft.com/office/powerpoint/2010/main" val="3028121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7A92-F692-B04B-AD4F-BD24A0DA8B49}"/>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2333A5-8710-BA49-937B-278AD756DEA2}"/>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2018F-F75E-D746-BF46-B5EDF7D6169D}"/>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379EF3-0343-B543-BDC5-6BCB93DD95B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A857701-0FA3-764A-BF42-75AD18AF4888}"/>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158B16-E601-EE4D-AFD7-4C1686C0702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B5BAAAEF-2439-A048-BDFB-F670C72113E1}"/>
              </a:ext>
            </a:extLst>
          </p:cNvPr>
          <p:cNvSpPr>
            <a:spLocks noGrp="1"/>
          </p:cNvSpPr>
          <p:nvPr>
            <p:ph type="ftr" sz="quarter" idx="11"/>
          </p:nvPr>
        </p:nvSpPr>
        <p:spPr>
          <a:xfrm>
            <a:off x="4165600" y="6356449"/>
            <a:ext cx="3860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EA4B8E8B-EBCE-B649-9589-916925F58743}"/>
              </a:ext>
            </a:extLst>
          </p:cNvPr>
          <p:cNvSpPr>
            <a:spLocks noGrp="1"/>
          </p:cNvSpPr>
          <p:nvPr>
            <p:ph type="sldNum" sz="quarter" idx="12"/>
          </p:nvPr>
        </p:nvSpPr>
        <p:spPr>
          <a:xfrm>
            <a:off x="9250441" y="6356449"/>
            <a:ext cx="2844800" cy="365125"/>
          </a:xfrm>
          <a:prstGeom prst="rect">
            <a:avLst/>
          </a:prstGeom>
        </p:spPr>
        <p:txBody>
          <a:bodyPr/>
          <a:lstStyle/>
          <a:p>
            <a:fld id="{9C3DACFC-8745-DA4C-8F83-60920582CE69}" type="slidenum">
              <a:rPr lang="en-US" smtClean="0"/>
              <a:t>‹#›</a:t>
            </a:fld>
            <a:endParaRPr lang="en-US" dirty="0"/>
          </a:p>
        </p:txBody>
      </p:sp>
    </p:spTree>
    <p:extLst>
      <p:ext uri="{BB962C8B-B14F-4D97-AF65-F5344CB8AC3E}">
        <p14:creationId xmlns:p14="http://schemas.microsoft.com/office/powerpoint/2010/main" val="151868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a:xfrm>
            <a:off x="4165600" y="6356449"/>
            <a:ext cx="38608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9250441" y="6356449"/>
            <a:ext cx="2844800" cy="365125"/>
          </a:xfrm>
          <a:prstGeom prst="rect">
            <a:avLst/>
          </a:prstGeom>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3196358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oleObject" Target="../embeddings/oleObject2.bin"/><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ags" Target="../tags/tag4.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ags" Target="../tags/tag3.xml"/><Relationship Id="rId5" Type="http://schemas.openxmlformats.org/officeDocument/2006/relationships/slideLayout" Target="../slideLayouts/slideLayout15.xml"/><Relationship Id="rId15" Type="http://schemas.openxmlformats.org/officeDocument/2006/relationships/image" Target="../media/image2.png"/><Relationship Id="rId10" Type="http://schemas.openxmlformats.org/officeDocument/2006/relationships/theme" Target="../theme/theme2.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image" Target="../media/image6.emf"/><Relationship Id="rId5" Type="http://schemas.openxmlformats.org/officeDocument/2006/relationships/slideLayout" Target="../slideLayouts/slideLayout24.xml"/><Relationship Id="rId10" Type="http://schemas.openxmlformats.org/officeDocument/2006/relationships/oleObject" Target="../embeddings/oleObject3.bin"/><Relationship Id="rId4" Type="http://schemas.openxmlformats.org/officeDocument/2006/relationships/slideLayout" Target="../slideLayouts/slideLayout23.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3E7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BD078E2-9CB4-46A0-895E-ACAA51683EE8}"/>
              </a:ext>
            </a:extLst>
          </p:cNvPr>
          <p:cNvGraphicFramePr>
            <a:graphicFrameLocks noChangeAspect="1"/>
          </p:cNvGraphicFramePr>
          <p:nvPr userDrawn="1">
            <p:custDataLst>
              <p:tags r:id="rId12"/>
            </p:custDataLst>
            <p:extLst>
              <p:ext uri="{D42A27DB-BD31-4B8C-83A1-F6EECF244321}">
                <p14:modId xmlns:p14="http://schemas.microsoft.com/office/powerpoint/2010/main" val="2351209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95" imgH="396" progId="TCLayout.ActiveDocument.1">
                  <p:embed/>
                </p:oleObj>
              </mc:Choice>
              <mc:Fallback>
                <p:oleObj name="think-cell Slide" r:id="rId14" imgW="395" imgH="396" progId="TCLayout.ActiveDocument.1">
                  <p:embed/>
                  <p:pic>
                    <p:nvPicPr>
                      <p:cNvPr id="5" name="Object 4" hidden="1">
                        <a:extLst>
                          <a:ext uri="{FF2B5EF4-FFF2-40B4-BE49-F238E27FC236}">
                            <a16:creationId xmlns:a16="http://schemas.microsoft.com/office/drawing/2014/main" id="{9BD078E2-9CB4-46A0-895E-ACAA51683EE8}"/>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9D75F2B-26F1-4B72-B4D6-4920F47D18C5}"/>
              </a:ext>
            </a:extLst>
          </p:cNvPr>
          <p:cNvSpPr/>
          <p:nvPr userDrawn="1">
            <p:custDataLst>
              <p:tags r:id="rId1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600" b="1" i="0" baseline="0" dirty="0">
              <a:latin typeface="Calibri" panose="020F0502020204030204" pitchFamily="34" charset="0"/>
              <a:ea typeface="+mj-ea"/>
              <a:cs typeface="+mj-cs"/>
              <a:sym typeface="Calibri" panose="020F0502020204030204" pitchFamily="34" charset="0"/>
            </a:endParaRPr>
          </a:p>
        </p:txBody>
      </p:sp>
      <p:sp>
        <p:nvSpPr>
          <p:cNvPr id="3" name="Text Placeholder 2"/>
          <p:cNvSpPr>
            <a:spLocks noGrp="1"/>
          </p:cNvSpPr>
          <p:nvPr>
            <p:ph type="body" idx="1"/>
          </p:nvPr>
        </p:nvSpPr>
        <p:spPr>
          <a:xfrm>
            <a:off x="838200" y="1295770"/>
            <a:ext cx="10515600" cy="462798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0282AFD7-9EFA-6C4F-B6A5-7614434EE618}"/>
              </a:ext>
            </a:extLst>
          </p:cNvPr>
          <p:cNvSpPr/>
          <p:nvPr userDrawn="1"/>
        </p:nvSpPr>
        <p:spPr>
          <a:xfrm>
            <a:off x="0" y="5909238"/>
            <a:ext cx="12192000" cy="948762"/>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pic>
        <p:nvPicPr>
          <p:cNvPr id="19" name="Picture 18">
            <a:extLst>
              <a:ext uri="{FF2B5EF4-FFF2-40B4-BE49-F238E27FC236}">
                <a16:creationId xmlns:a16="http://schemas.microsoft.com/office/drawing/2014/main" id="{38720615-61FF-6E41-A7ED-80FB5D7C4C08}"/>
              </a:ext>
            </a:extLst>
          </p:cNvPr>
          <p:cNvPicPr>
            <a:picLocks noChangeAspect="1"/>
          </p:cNvPicPr>
          <p:nvPr userDrawn="1"/>
        </p:nvPicPr>
        <p:blipFill rotWithShape="1">
          <a:blip r:embed="rId16" cstate="print">
            <a:extLst>
              <a:ext uri="{28A0092B-C50C-407E-A947-70E740481C1C}">
                <a14:useLocalDpi xmlns:a14="http://schemas.microsoft.com/office/drawing/2010/main"/>
              </a:ext>
            </a:extLst>
          </a:blip>
          <a:srcRect/>
          <a:stretch/>
        </p:blipFill>
        <p:spPr>
          <a:xfrm>
            <a:off x="9411255" y="5992119"/>
            <a:ext cx="1942545" cy="783000"/>
          </a:xfrm>
          <a:prstGeom prst="rect">
            <a:avLst/>
          </a:prstGeom>
        </p:spPr>
      </p:pic>
    </p:spTree>
    <p:extLst>
      <p:ext uri="{BB962C8B-B14F-4D97-AF65-F5344CB8AC3E}">
        <p14:creationId xmlns:p14="http://schemas.microsoft.com/office/powerpoint/2010/main" val="42753834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sldNum="0" hdr="0" dt="0"/>
  <p:txStyles>
    <p:titleStyle>
      <a:lvl1pPr algn="l" defTabSz="914400" rtl="0" eaLnBrk="1" latinLnBrk="0" hangingPunct="1">
        <a:lnSpc>
          <a:spcPct val="90000"/>
        </a:lnSpc>
        <a:spcBef>
          <a:spcPct val="0"/>
        </a:spcBef>
        <a:buNone/>
        <a:defRPr sz="36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accent1">
                <a:lumMod val="5000"/>
                <a:lumOff val="95000"/>
              </a:schemeClr>
            </a:gs>
            <a:gs pos="100000">
              <a:srgbClr val="AEB0B6"/>
            </a:gs>
          </a:gsLst>
          <a:lin ang="5400000" scaled="1"/>
        </a:gra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BD078E2-9CB4-46A0-895E-ACAA51683EE8}"/>
              </a:ext>
            </a:extLst>
          </p:cNvPr>
          <p:cNvGraphicFramePr>
            <a:graphicFrameLocks noChangeAspect="1"/>
          </p:cNvGraphicFramePr>
          <p:nvPr userDrawn="1">
            <p:custDataLst>
              <p:tags r:id="rId11"/>
            </p:custDataLst>
            <p:extLst>
              <p:ext uri="{D42A27DB-BD31-4B8C-83A1-F6EECF244321}">
                <p14:modId xmlns:p14="http://schemas.microsoft.com/office/powerpoint/2010/main" val="2351209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5" name="Object 4" hidden="1">
                        <a:extLst>
                          <a:ext uri="{FF2B5EF4-FFF2-40B4-BE49-F238E27FC236}">
                            <a16:creationId xmlns:a16="http://schemas.microsoft.com/office/drawing/2014/main" id="{9BD078E2-9CB4-46A0-895E-ACAA51683EE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9D75F2B-26F1-4B72-B4D6-4920F47D18C5}"/>
              </a:ext>
            </a:extLst>
          </p:cNvPr>
          <p:cNvSpPr/>
          <p:nvPr userDrawn="1">
            <p:custDataLst>
              <p:tags r:id="rId1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600" b="1" i="0" baseline="0" dirty="0">
              <a:latin typeface="Calibri" panose="020F0502020204030204" pitchFamily="34" charset="0"/>
              <a:ea typeface="+mj-ea"/>
              <a:cs typeface="+mj-cs"/>
              <a:sym typeface="Calibri" panose="020F0502020204030204" pitchFamily="34" charset="0"/>
            </a:endParaRPr>
          </a:p>
        </p:txBody>
      </p:sp>
      <p:sp>
        <p:nvSpPr>
          <p:cNvPr id="15" name="Rectangle 14">
            <a:extLst>
              <a:ext uri="{FF2B5EF4-FFF2-40B4-BE49-F238E27FC236}">
                <a16:creationId xmlns:a16="http://schemas.microsoft.com/office/drawing/2014/main" id="{0282AFD7-9EFA-6C4F-B6A5-7614434EE618}"/>
              </a:ext>
            </a:extLst>
          </p:cNvPr>
          <p:cNvSpPr/>
          <p:nvPr userDrawn="1"/>
        </p:nvSpPr>
        <p:spPr>
          <a:xfrm>
            <a:off x="0" y="5909238"/>
            <a:ext cx="12192000" cy="948762"/>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pic>
        <p:nvPicPr>
          <p:cNvPr id="19" name="Picture 18">
            <a:extLst>
              <a:ext uri="{FF2B5EF4-FFF2-40B4-BE49-F238E27FC236}">
                <a16:creationId xmlns:a16="http://schemas.microsoft.com/office/drawing/2014/main" id="{38720615-61FF-6E41-A7ED-80FB5D7C4C08}"/>
              </a:ext>
            </a:extLst>
          </p:cNvPr>
          <p:cNvPicPr>
            <a:picLocks noChangeAspect="1"/>
          </p:cNvPicPr>
          <p:nvPr userDrawn="1"/>
        </p:nvPicPr>
        <p:blipFill rotWithShape="1">
          <a:blip r:embed="rId15" cstate="print">
            <a:extLst>
              <a:ext uri="{28A0092B-C50C-407E-A947-70E740481C1C}">
                <a14:useLocalDpi xmlns:a14="http://schemas.microsoft.com/office/drawing/2010/main"/>
              </a:ext>
            </a:extLst>
          </a:blip>
          <a:srcRect/>
          <a:stretch/>
        </p:blipFill>
        <p:spPr>
          <a:xfrm>
            <a:off x="9335055" y="5983730"/>
            <a:ext cx="1942545" cy="783000"/>
          </a:xfrm>
          <a:prstGeom prst="rect">
            <a:avLst/>
          </a:prstGeom>
        </p:spPr>
      </p:pic>
      <p:sp>
        <p:nvSpPr>
          <p:cNvPr id="3" name="Text Placeholder 2"/>
          <p:cNvSpPr>
            <a:spLocks noGrp="1"/>
          </p:cNvSpPr>
          <p:nvPr>
            <p:ph type="body" idx="1"/>
          </p:nvPr>
        </p:nvSpPr>
        <p:spPr>
          <a:xfrm>
            <a:off x="838200" y="1295770"/>
            <a:ext cx="10515600" cy="462798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8279806"/>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Lst>
  <p:hf sldNum="0" hdr="0" dt="0"/>
  <p:txStyles>
    <p:titleStyle>
      <a:lvl1pPr algn="l" defTabSz="914400" rtl="0" eaLnBrk="1" latinLnBrk="0" hangingPunct="1">
        <a:lnSpc>
          <a:spcPct val="90000"/>
        </a:lnSpc>
        <a:spcBef>
          <a:spcPct val="0"/>
        </a:spcBef>
        <a:buNone/>
        <a:defRPr sz="36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rgbClr val="003E7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003E7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003E7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003E7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003E7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9"/>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10" imgW="270" imgH="270" progId="TCLayout.ActiveDocument.1">
                  <p:embed/>
                </p:oleObj>
              </mc:Choice>
              <mc:Fallback>
                <p:oleObj name="think-cell Slide" r:id="rId10" imgW="270" imgH="270" progId="TCLayout.ActiveDocument.1">
                  <p:embed/>
                  <p:pic>
                    <p:nvPicPr>
                      <p:cNvPr id="4" name="Object 3" hidden="1"/>
                      <p:cNvPicPr/>
                      <p:nvPr/>
                    </p:nvPicPr>
                    <p:blipFill>
                      <a:blip r:embed="rId11"/>
                      <a:stretch>
                        <a:fillRect/>
                      </a:stretch>
                    </p:blipFill>
                    <p:spPr>
                      <a:xfrm>
                        <a:off x="2119" y="1594"/>
                        <a:ext cx="2116" cy="1587"/>
                      </a:xfrm>
                      <a:prstGeom prst="rect">
                        <a:avLst/>
                      </a:prstGeom>
                    </p:spPr>
                  </p:pic>
                </p:oleObj>
              </mc:Fallback>
            </mc:AlternateContent>
          </a:graphicData>
        </a:graphic>
      </p:graphicFrame>
      <p:sp>
        <p:nvSpPr>
          <p:cNvPr id="2" name="Title Placeholder 1"/>
          <p:cNvSpPr>
            <a:spLocks noGrp="1"/>
          </p:cNvSpPr>
          <p:nvPr>
            <p:ph type="title"/>
          </p:nvPr>
        </p:nvSpPr>
        <p:spPr>
          <a:xfrm>
            <a:off x="609600" y="0"/>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94"/>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userDrawn="1"/>
        </p:nvSpPr>
        <p:spPr>
          <a:xfrm>
            <a:off x="0" y="6140685"/>
            <a:ext cx="12192000" cy="7318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D221FCA4-14F3-4C41-8E91-9F3B1D564C30}"/>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latin typeface="Arial" panose="020B0604020202020204" pitchFamily="34" charset="0"/>
              <a:cs typeface="Arial" panose="020B0604020202020204" pitchFamily="34" charset="0"/>
            </a:endParaRPr>
          </a:p>
        </p:txBody>
      </p:sp>
      <p:pic>
        <p:nvPicPr>
          <p:cNvPr id="17" name="Picture 16" descr="3. VA-PRIMARY-HORIZONTAL-WHITE-VECTOR2.png">
            <a:extLst>
              <a:ext uri="{FF2B5EF4-FFF2-40B4-BE49-F238E27FC236}">
                <a16:creationId xmlns:a16="http://schemas.microsoft.com/office/drawing/2014/main" id="{195246C4-D8CB-48A7-ED47-8643A9B39955}"/>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9047241" y="6271414"/>
            <a:ext cx="2265193" cy="491987"/>
          </a:xfrm>
          <a:prstGeom prst="rect">
            <a:avLst/>
          </a:prstGeom>
        </p:spPr>
      </p:pic>
    </p:spTree>
    <p:extLst>
      <p:ext uri="{BB962C8B-B14F-4D97-AF65-F5344CB8AC3E}">
        <p14:creationId xmlns:p14="http://schemas.microsoft.com/office/powerpoint/2010/main" val="96376831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Lst>
  <p:hf sldNum="0" hdr="0" dt="0"/>
  <p:txStyles>
    <p:titleStyle>
      <a:lvl1pPr algn="ctr" defTabSz="4572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2.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hyperlink" Target="https://www.research.va.gov/programs/shield/about.cfm" TargetMode="Externa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2.xml"/><Relationship Id="rId4" Type="http://schemas.openxmlformats.org/officeDocument/2006/relationships/image" Target="../media/image3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2.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hyperlink" Target="https://gcc02.safelinks.protection.outlook.com/?url=https%3A%2F%2Fvaww.research.va.gov%2Ffunding%2Frfa.cfm%23blrd&amp;data=05%7C02%7C%7C8f0516fb035d4b1faf1d08dc12265d05%7Ce95f1b23abaf45ee821db7ab251ab3bf%7C0%7C0%7C638405203167772592%7CUnknown%7CTWFpbGZsb3d8eyJWIjoiMC4wLjAwMDAiLCJQIjoiV2luMzIiLCJBTiI6Ik1haWwiLCJXVCI6Mn0%3D%7C3000%7C%7C%7C&amp;sdata=iuGtpu1DmrqKFp3S%2FuhlGaoruTOsIG7WEFrfOB%2BHnYA%3D&amp;reserved=0" TargetMode="External"/><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CACB-58A7-D835-AB84-DE17E5807295}"/>
              </a:ext>
            </a:extLst>
          </p:cNvPr>
          <p:cNvSpPr>
            <a:spLocks noGrp="1"/>
          </p:cNvSpPr>
          <p:nvPr>
            <p:ph type="ctrTitle"/>
          </p:nvPr>
        </p:nvSpPr>
        <p:spPr>
          <a:xfrm>
            <a:off x="2464647" y="3348433"/>
            <a:ext cx="9271908" cy="161134"/>
          </a:xfrm>
        </p:spPr>
        <p:txBody>
          <a:bodyPr lIns="91440" tIns="45720" rIns="91440" bIns="45720" anchor="ctr">
            <a:noAutofit/>
          </a:bodyPr>
          <a:lstStyle/>
          <a:p>
            <a:r>
              <a:rPr lang="en-US" sz="3200" dirty="0"/>
              <a:t>The Military Exposures Research Program</a:t>
            </a:r>
            <a:br>
              <a:rPr lang="en-US" sz="3200" dirty="0"/>
            </a:br>
            <a:br>
              <a:rPr lang="en-US" sz="3200" dirty="0"/>
            </a:br>
            <a:r>
              <a:rPr lang="en-US" sz="3200" b="0" dirty="0"/>
              <a:t>Rudolph Johnson, Ph.D.</a:t>
            </a:r>
            <a:br>
              <a:rPr lang="en-US" sz="3200" b="0" dirty="0"/>
            </a:br>
            <a:r>
              <a:rPr lang="en-US" sz="3200" b="0" dirty="0"/>
              <a:t>Director</a:t>
            </a:r>
            <a:br>
              <a:rPr lang="en-US" sz="4000" dirty="0"/>
            </a:br>
            <a:br>
              <a:rPr lang="en-US" sz="4000" dirty="0">
                <a:latin typeface="+mj-lt"/>
                <a:cs typeface="Calibri"/>
              </a:rPr>
            </a:br>
            <a:endParaRPr lang="en-US" sz="4000" dirty="0">
              <a:latin typeface="+mj-lt"/>
            </a:endParaRPr>
          </a:p>
        </p:txBody>
      </p:sp>
    </p:spTree>
    <p:extLst>
      <p:ext uri="{BB962C8B-B14F-4D97-AF65-F5344CB8AC3E}">
        <p14:creationId xmlns:p14="http://schemas.microsoft.com/office/powerpoint/2010/main" val="3772671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FDC9E-EBD2-EEA1-2928-4827F66E59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C502080-E12E-4D94-0B33-4FA61DD86FD0}"/>
              </a:ext>
            </a:extLst>
          </p:cNvPr>
          <p:cNvSpPr/>
          <p:nvPr/>
        </p:nvSpPr>
        <p:spPr>
          <a:xfrm>
            <a:off x="1738270" y="1857375"/>
            <a:ext cx="10031334"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1FD4BF6-BBF2-A9DD-DD55-C12877E99BA2}"/>
              </a:ext>
            </a:extLst>
          </p:cNvPr>
          <p:cNvSpPr/>
          <p:nvPr/>
        </p:nvSpPr>
        <p:spPr>
          <a:xfrm>
            <a:off x="-1" y="851926"/>
            <a:ext cx="5939162"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149443E4-F595-E52E-688E-C1307A35D741}"/>
              </a:ext>
            </a:extLst>
          </p:cNvPr>
          <p:cNvSpPr txBox="1"/>
          <p:nvPr/>
        </p:nvSpPr>
        <p:spPr>
          <a:xfrm>
            <a:off x="431920" y="898262"/>
            <a:ext cx="5582513"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1" u="none" strike="noStrike" kern="1200" cap="none" spc="0" normalizeH="0" baseline="0" noProof="0" dirty="0">
                <a:ln>
                  <a:noFill/>
                </a:ln>
                <a:solidFill>
                  <a:prstClr val="white"/>
                </a:solidFill>
                <a:effectLst/>
                <a:uLnTx/>
                <a:uFillTx/>
                <a:latin typeface="Calibri" panose="020F0502020204030204" pitchFamily="34" charset="0"/>
                <a:ea typeface="Source Sans Pro"/>
                <a:cs typeface="Calibri" panose="020F0502020204030204" pitchFamily="34" charset="0"/>
              </a:rPr>
              <a:t>Who, What, How</a:t>
            </a:r>
            <a:endPar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ea typeface="Source Sans Pro"/>
              <a:cs typeface="Calibri" panose="020F0502020204030204" pitchFamily="34" charset="0"/>
            </a:endParaRPr>
          </a:p>
        </p:txBody>
      </p:sp>
      <p:sp>
        <p:nvSpPr>
          <p:cNvPr id="9" name="TextBox 8">
            <a:extLst>
              <a:ext uri="{FF2B5EF4-FFF2-40B4-BE49-F238E27FC236}">
                <a16:creationId xmlns:a16="http://schemas.microsoft.com/office/drawing/2014/main" id="{ED251787-B11F-580C-378D-133ED83F4358}"/>
              </a:ext>
            </a:extLst>
          </p:cNvPr>
          <p:cNvSpPr txBox="1"/>
          <p:nvPr/>
        </p:nvSpPr>
        <p:spPr>
          <a:xfrm>
            <a:off x="2833546" y="99209"/>
            <a:ext cx="6524908" cy="584775"/>
          </a:xfrm>
          <a:prstGeom prst="rect">
            <a:avLst/>
          </a:prstGeom>
          <a:noFill/>
        </p:spPr>
        <p:txBody>
          <a:bodyPr wrap="square" rtlCol="0">
            <a:spAutoFit/>
          </a:bodyPr>
          <a:lstStyle/>
          <a:p>
            <a:pPr algn="ctr">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Introduction</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2" name="Rectangle: Rounded Corners 1">
            <a:extLst>
              <a:ext uri="{FF2B5EF4-FFF2-40B4-BE49-F238E27FC236}">
                <a16:creationId xmlns:a16="http://schemas.microsoft.com/office/drawing/2014/main" id="{47F8DBEE-D226-0AE0-4C2A-788D4EE80A09}"/>
              </a:ext>
            </a:extLst>
          </p:cNvPr>
          <p:cNvSpPr/>
          <p:nvPr/>
        </p:nvSpPr>
        <p:spPr>
          <a:xfrm>
            <a:off x="422396" y="1647055"/>
            <a:ext cx="3068559" cy="691332"/>
          </a:xfrm>
          <a:prstGeom prst="roundRect">
            <a:avLst/>
          </a:prstGeom>
          <a:solidFill>
            <a:schemeClr val="tx2">
              <a:lumMod val="20000"/>
              <a:lumOff val="80000"/>
            </a:schemeClr>
          </a:solidFill>
          <a:ln w="19050"/>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Who</a:t>
            </a:r>
            <a:r>
              <a:rPr lang="en-US" sz="1800" b="1" dirty="0">
                <a:solidFill>
                  <a:srgbClr val="000000"/>
                </a:solidFill>
                <a:latin typeface="Calibri" panose="020F0502020204030204" pitchFamily="34" charset="0"/>
                <a:cs typeface="Calibri" panose="020F0502020204030204" pitchFamily="34" charset="0"/>
              </a:rPr>
              <a:t> does MERP help?</a:t>
            </a:r>
            <a:endParaRPr lang="en-US"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8235876-4FBD-A608-339F-3C0CA5E69154}"/>
              </a:ext>
            </a:extLst>
          </p:cNvPr>
          <p:cNvSpPr txBox="1"/>
          <p:nvPr/>
        </p:nvSpPr>
        <p:spPr>
          <a:xfrm>
            <a:off x="3536132" y="1902501"/>
            <a:ext cx="8233471" cy="923330"/>
          </a:xfrm>
          <a:prstGeom prst="rect">
            <a:avLst/>
          </a:prstGeom>
          <a:noFill/>
        </p:spPr>
        <p:txBody>
          <a:bodyPr wrap="square" rtlCol="0">
            <a:spAutoFit/>
          </a:bodyPr>
          <a:lstStyle/>
          <a:p>
            <a:r>
              <a:rPr lang="en-US" sz="1800" dirty="0">
                <a:solidFill>
                  <a:srgbClr val="000000"/>
                </a:solidFill>
                <a:latin typeface="Calibri" panose="020F0502020204030204" pitchFamily="34" charset="0"/>
                <a:cs typeface="Calibri" panose="020F0502020204030204" pitchFamily="34" charset="0"/>
              </a:rPr>
              <a:t>Millions of Veterans have encountered toxic agents. Lack of a nexus between exposure and health outcome(s) has been a barrier for Veterans to become eligible for VA care and disability benefits.</a:t>
            </a:r>
          </a:p>
        </p:txBody>
      </p:sp>
      <p:sp>
        <p:nvSpPr>
          <p:cNvPr id="6" name="Rectangle 5">
            <a:extLst>
              <a:ext uri="{FF2B5EF4-FFF2-40B4-BE49-F238E27FC236}">
                <a16:creationId xmlns:a16="http://schemas.microsoft.com/office/drawing/2014/main" id="{F57B0475-66FB-420C-6F4F-296F6D5630C4}"/>
              </a:ext>
            </a:extLst>
          </p:cNvPr>
          <p:cNvSpPr/>
          <p:nvPr/>
        </p:nvSpPr>
        <p:spPr>
          <a:xfrm>
            <a:off x="1738269" y="3286504"/>
            <a:ext cx="10031333"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AFB78102-25C7-80D0-BC29-6FC09754DA21}"/>
              </a:ext>
            </a:extLst>
          </p:cNvPr>
          <p:cNvSpPr/>
          <p:nvPr/>
        </p:nvSpPr>
        <p:spPr>
          <a:xfrm>
            <a:off x="422396" y="3076184"/>
            <a:ext cx="3068559" cy="691332"/>
          </a:xfrm>
          <a:prstGeom prst="roundRect">
            <a:avLst/>
          </a:prstGeom>
          <a:solidFill>
            <a:schemeClr val="tx2">
              <a:lumMod val="20000"/>
              <a:lumOff val="80000"/>
            </a:schemeClr>
          </a:solidFill>
          <a:ln w="19050"/>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What</a:t>
            </a:r>
            <a:r>
              <a:rPr lang="en-US" sz="1800" b="1" dirty="0">
                <a:solidFill>
                  <a:srgbClr val="000000"/>
                </a:solidFill>
                <a:latin typeface="Calibri" panose="020F0502020204030204" pitchFamily="34" charset="0"/>
                <a:cs typeface="Calibri" panose="020F0502020204030204" pitchFamily="34" charset="0"/>
              </a:rPr>
              <a:t> is MERP?</a:t>
            </a:r>
            <a:endParaRPr lang="en-US"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F74B3F56-FEB7-1435-F294-BE768FBD18B5}"/>
              </a:ext>
            </a:extLst>
          </p:cNvPr>
          <p:cNvSpPr txBox="1"/>
          <p:nvPr/>
        </p:nvSpPr>
        <p:spPr>
          <a:xfrm>
            <a:off x="3500479" y="3340847"/>
            <a:ext cx="8269123" cy="923330"/>
          </a:xfrm>
          <a:prstGeom prst="rect">
            <a:avLst/>
          </a:prstGeom>
          <a:noFill/>
        </p:spPr>
        <p:txBody>
          <a:bodyPr wrap="square">
            <a:spAutoFit/>
          </a:bodyPr>
          <a:lstStyle/>
          <a:p>
            <a:r>
              <a:rPr lang="en-US" sz="1800" dirty="0">
                <a:solidFill>
                  <a:srgbClr val="000000"/>
                </a:solidFill>
                <a:latin typeface="Calibri" panose="020F0502020204030204" pitchFamily="34" charset="0"/>
                <a:cs typeface="Calibri" panose="020F0502020204030204" pitchFamily="34" charset="0"/>
              </a:rPr>
              <a:t>Military Exposures Research Program (MERP) is an Actively Managed Portfolio (AMP) that was created to centralize management of and improve access to all VA Veteran Exposure research.</a:t>
            </a:r>
            <a:endParaRPr lang="en-US"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C715C1F0-0DD4-C4D9-4225-A7B267DDE065}"/>
              </a:ext>
            </a:extLst>
          </p:cNvPr>
          <p:cNvSpPr/>
          <p:nvPr/>
        </p:nvSpPr>
        <p:spPr>
          <a:xfrm>
            <a:off x="1738269" y="4726485"/>
            <a:ext cx="10031333"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7D740883-8021-561B-EF6B-6063464B60D2}"/>
              </a:ext>
            </a:extLst>
          </p:cNvPr>
          <p:cNvSpPr/>
          <p:nvPr/>
        </p:nvSpPr>
        <p:spPr>
          <a:xfrm>
            <a:off x="422396" y="4516165"/>
            <a:ext cx="3068559" cy="691332"/>
          </a:xfrm>
          <a:prstGeom prst="roundRect">
            <a:avLst/>
          </a:prstGeom>
          <a:solidFill>
            <a:schemeClr val="tx2">
              <a:lumMod val="20000"/>
              <a:lumOff val="80000"/>
            </a:schemeClr>
          </a:solidFill>
          <a:ln w="19050"/>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How</a:t>
            </a:r>
            <a:r>
              <a:rPr lang="en-US" sz="1800" b="1" dirty="0">
                <a:solidFill>
                  <a:srgbClr val="000000"/>
                </a:solidFill>
                <a:latin typeface="Calibri" panose="020F0502020204030204" pitchFamily="34" charset="0"/>
                <a:cs typeface="Calibri" panose="020F0502020204030204" pitchFamily="34" charset="0"/>
              </a:rPr>
              <a:t> is MERP going to help?</a:t>
            </a: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7B0172A-3A28-93A7-5A47-9AA67127A786}"/>
              </a:ext>
            </a:extLst>
          </p:cNvPr>
          <p:cNvSpPr txBox="1"/>
          <p:nvPr/>
        </p:nvSpPr>
        <p:spPr>
          <a:xfrm>
            <a:off x="3536132" y="4678141"/>
            <a:ext cx="8233469" cy="1200329"/>
          </a:xfrm>
          <a:prstGeom prst="rect">
            <a:avLst/>
          </a:prstGeom>
          <a:noFill/>
        </p:spPr>
        <p:txBody>
          <a:bodyPr wrap="square" rtlCol="0">
            <a:spAutoFit/>
          </a:bodyPr>
          <a:lstStyle/>
          <a:p>
            <a:r>
              <a:rPr lang="en-US" dirty="0">
                <a:solidFill>
                  <a:srgbClr val="000000"/>
                </a:solidFill>
                <a:latin typeface="Calibri" panose="020F0502020204030204" pitchFamily="34" charset="0"/>
                <a:cs typeface="Calibri" panose="020F0502020204030204" pitchFamily="34" charset="0"/>
              </a:rPr>
              <a:t>MERP will generate high-quality evidence through military exposures research using Core’s, VA internal partnerships, and inter-agency coordination. MERP will utilize peer-reviewed research, ORD research enterprise resources, and PACT Act resources and collaboration opportunities.</a:t>
            </a:r>
            <a:endParaRPr lang="en-US" dirty="0">
              <a:solidFill>
                <a:srgbClr val="000000"/>
              </a:solidFill>
              <a:latin typeface="Calibri" panose="020F0502020204030204" pitchFamily="34" charset="0"/>
              <a:ea typeface="Source Sans Pro"/>
              <a:cs typeface="Calibri" panose="020F0502020204030204" pitchFamily="34" charset="0"/>
            </a:endParaRPr>
          </a:p>
        </p:txBody>
      </p:sp>
    </p:spTree>
    <p:extLst>
      <p:ext uri="{BB962C8B-B14F-4D97-AF65-F5344CB8AC3E}">
        <p14:creationId xmlns:p14="http://schemas.microsoft.com/office/powerpoint/2010/main" val="3191955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DB59-FE21-F7BB-D28F-926BCB54EE71}"/>
              </a:ext>
            </a:extLst>
          </p:cNvPr>
          <p:cNvSpPr>
            <a:spLocks noGrp="1"/>
          </p:cNvSpPr>
          <p:nvPr>
            <p:ph type="ctrTitle"/>
          </p:nvPr>
        </p:nvSpPr>
        <p:spPr/>
        <p:txBody>
          <a:bodyPr/>
          <a:lstStyle/>
          <a:p>
            <a:r>
              <a:rPr lang="en-US" dirty="0">
                <a:latin typeface="Calibri" panose="020F0502020204030204" pitchFamily="34" charset="0"/>
                <a:cs typeface="Calibri" panose="020F0502020204030204" pitchFamily="34" charset="0"/>
              </a:rPr>
              <a:t>PACT Act</a:t>
            </a:r>
          </a:p>
        </p:txBody>
      </p:sp>
    </p:spTree>
    <p:extLst>
      <p:ext uri="{BB962C8B-B14F-4D97-AF65-F5344CB8AC3E}">
        <p14:creationId xmlns:p14="http://schemas.microsoft.com/office/powerpoint/2010/main" val="211685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697CF5-FAD5-36DF-479C-590EABB343BD}"/>
              </a:ext>
            </a:extLst>
          </p:cNvPr>
          <p:cNvSpPr>
            <a:spLocks noGrp="1"/>
          </p:cNvSpPr>
          <p:nvPr>
            <p:ph type="title"/>
          </p:nvPr>
        </p:nvSpPr>
        <p:spPr/>
        <p:txBody>
          <a:bodyPr/>
          <a:lstStyle/>
          <a:p>
            <a:r>
              <a:rPr lang="en-US" sz="3200" b="1" dirty="0">
                <a:latin typeface="Calibri" panose="020F0502020204030204" pitchFamily="34" charset="0"/>
                <a:cs typeface="Calibri" panose="020F0502020204030204" pitchFamily="34" charset="0"/>
              </a:rPr>
              <a:t>PACT Act </a:t>
            </a:r>
            <a:r>
              <a:rPr lang="en-US" sz="3200" b="1" i="1" dirty="0">
                <a:latin typeface="Calibri" panose="020F0502020204030204" pitchFamily="34" charset="0"/>
                <a:cs typeface="Calibri" panose="020F0502020204030204" pitchFamily="34" charset="0"/>
              </a:rPr>
              <a:t>(1 of 4) </a:t>
            </a:r>
          </a:p>
        </p:txBody>
      </p:sp>
      <p:sp>
        <p:nvSpPr>
          <p:cNvPr id="5" name="Rectangle 4">
            <a:extLst>
              <a:ext uri="{FF2B5EF4-FFF2-40B4-BE49-F238E27FC236}">
                <a16:creationId xmlns:a16="http://schemas.microsoft.com/office/drawing/2014/main" id="{744C7696-B49A-57A1-F119-1756DF0FB397}"/>
              </a:ext>
            </a:extLst>
          </p:cNvPr>
          <p:cNvSpPr/>
          <p:nvPr/>
        </p:nvSpPr>
        <p:spPr>
          <a:xfrm>
            <a:off x="0" y="843054"/>
            <a:ext cx="6014748"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5974A365-BC25-D945-B80A-218202C304DC}"/>
              </a:ext>
            </a:extLst>
          </p:cNvPr>
          <p:cNvSpPr txBox="1"/>
          <p:nvPr/>
        </p:nvSpPr>
        <p:spPr>
          <a:xfrm>
            <a:off x="150269" y="889389"/>
            <a:ext cx="5140321" cy="477054"/>
          </a:xfrm>
          <a:prstGeom prst="rect">
            <a:avLst/>
          </a:prstGeom>
          <a:noFill/>
        </p:spPr>
        <p:txBody>
          <a:bodyPr wrap="square" lIns="91440" tIns="45720" rIns="91440" bIns="45720" anchor="t">
            <a:spAutoFit/>
          </a:bodyPr>
          <a:lstStyle/>
          <a:p>
            <a:pPr>
              <a:spcBef>
                <a:spcPts val="600"/>
              </a:spcBef>
              <a:defRPr/>
            </a:pPr>
            <a:r>
              <a:rPr lang="en-US" sz="2500" b="1" dirty="0">
                <a:solidFill>
                  <a:schemeClr val="bg1"/>
                </a:solidFill>
                <a:latin typeface="Calibri" panose="020F0502020204030204" pitchFamily="34" charset="0"/>
                <a:cs typeface="Calibri" panose="020F0502020204030204" pitchFamily="34" charset="0"/>
              </a:rPr>
              <a:t>What is the PACT Act? </a:t>
            </a:r>
            <a:endParaRPr lang="en-US" sz="2500" b="1" dirty="0">
              <a:solidFill>
                <a:schemeClr val="bg1"/>
              </a:solidFill>
              <a:latin typeface="Calibri" panose="020F0502020204030204" pitchFamily="34" charset="0"/>
              <a:ea typeface="Source Sans Pro"/>
              <a:cs typeface="Calibri" panose="020F0502020204030204" pitchFamily="34" charset="0"/>
            </a:endParaRPr>
          </a:p>
        </p:txBody>
      </p:sp>
      <p:sp>
        <p:nvSpPr>
          <p:cNvPr id="10" name="Rectangle: Rounded Corners 9">
            <a:extLst>
              <a:ext uri="{FF2B5EF4-FFF2-40B4-BE49-F238E27FC236}">
                <a16:creationId xmlns:a16="http://schemas.microsoft.com/office/drawing/2014/main" id="{AD1C162F-CFEE-3293-C2F3-A6755A380EC6}"/>
              </a:ext>
            </a:extLst>
          </p:cNvPr>
          <p:cNvSpPr/>
          <p:nvPr/>
        </p:nvSpPr>
        <p:spPr>
          <a:xfrm>
            <a:off x="252292" y="2200394"/>
            <a:ext cx="11524911" cy="2643749"/>
          </a:xfrm>
          <a:prstGeom prst="roundRect">
            <a:avLst/>
          </a:prstGeom>
          <a:solidFill>
            <a:schemeClr val="accent5">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PACT Act is the largest health and benefit expansions in American history</a:t>
            </a:r>
          </a:p>
          <a:p>
            <a:pPr algn="ctr"/>
            <a:br>
              <a:rPr lang="en-US" sz="20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lang="en-US" sz="5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On August 10, 2022, the President signed into law the Sergeant First Class Heath Robinson Honoring Our Promise to Address Comprehensive Toxics (PACT) Act of 2022.</a:t>
            </a:r>
          </a:p>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It recognizes toxic exposure as a </a:t>
            </a:r>
            <a:r>
              <a:rPr lang="en-US" u="sng"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cost of war</a:t>
            </a:r>
            <a:r>
              <a:rPr lang="en-US"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by addressing the full range of issues impacting toxic-exposed Veterans, ensuring generations of Veterans who suffer from toxic exposure-related conditions get the benefits and care they’ve earned.</a:t>
            </a:r>
            <a:br>
              <a:rPr lang="en-US"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lang="en-US"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To assist in addressing these issues the PACT Act included the creation of the Toxic Exposure Fund.</a:t>
            </a:r>
            <a:br>
              <a:rPr lang="en-US" sz="1650" dirty="0">
                <a:solidFill>
                  <a:schemeClr val="tx1"/>
                </a:solidFill>
                <a:effectLst/>
                <a:latin typeface="+mn-lt"/>
                <a:ea typeface="Calibri" panose="020F0502020204030204" pitchFamily="34" charset="0"/>
                <a:cs typeface="Arial"/>
              </a:rPr>
            </a:br>
            <a:endParaRPr lang="en-US" sz="1650" dirty="0">
              <a:solidFill>
                <a:schemeClr val="tx1"/>
              </a:solidFill>
              <a:effectLst/>
              <a:latin typeface="+mn-lt"/>
              <a:ea typeface="Calibri" panose="020F0502020204030204" pitchFamily="34" charset="0"/>
              <a:cs typeface="Arial"/>
            </a:endParaRPr>
          </a:p>
          <a:p>
            <a:pPr marL="285750" indent="-285750">
              <a:buFont typeface="Arial" panose="020B0604020202020204" pitchFamily="34" charset="0"/>
              <a:buChar char="•"/>
            </a:pPr>
            <a:endParaRPr lang="en-US" sz="1650" dirty="0">
              <a:solidFill>
                <a:schemeClr val="tx1"/>
              </a:solidFill>
              <a:effectLst/>
              <a:latin typeface="+mn-lt"/>
              <a:ea typeface="Calibri" panose="020F0502020204030204" pitchFamily="34" charset="0"/>
              <a:cs typeface="Arial"/>
            </a:endParaRPr>
          </a:p>
          <a:p>
            <a:pPr marL="285750" indent="-285750">
              <a:buFont typeface="Arial" panose="020B0604020202020204" pitchFamily="34" charset="0"/>
              <a:buChar char="•"/>
            </a:pPr>
            <a:endParaRPr lang="en-US" sz="500" dirty="0">
              <a:latin typeface="+mn-lt"/>
              <a:ea typeface="Calibri" panose="020F0502020204030204" pitchFamily="34" charset="0"/>
              <a:cs typeface="Arial"/>
            </a:endParaRPr>
          </a:p>
        </p:txBody>
      </p:sp>
    </p:spTree>
    <p:extLst>
      <p:ext uri="{BB962C8B-B14F-4D97-AF65-F5344CB8AC3E}">
        <p14:creationId xmlns:p14="http://schemas.microsoft.com/office/powerpoint/2010/main" val="2792360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02CC33-C691-526D-2B8C-15B41CE73925}"/>
              </a:ext>
            </a:extLst>
          </p:cNvPr>
          <p:cNvSpPr>
            <a:spLocks noGrp="1"/>
          </p:cNvSpPr>
          <p:nvPr>
            <p:ph type="title"/>
          </p:nvPr>
        </p:nvSpPr>
        <p:spPr/>
        <p:txBody>
          <a:bodyPr/>
          <a:lstStyle/>
          <a:p>
            <a:r>
              <a:rPr lang="en-US" sz="3200" b="1" dirty="0">
                <a:latin typeface="Calibri" panose="020F0502020204030204" pitchFamily="34" charset="0"/>
                <a:cs typeface="Calibri" panose="020F0502020204030204" pitchFamily="34" charset="0"/>
              </a:rPr>
              <a:t>PACT Act </a:t>
            </a:r>
            <a:r>
              <a:rPr lang="en-US" sz="3200" b="1" i="1" dirty="0">
                <a:latin typeface="Calibri" panose="020F0502020204030204" pitchFamily="34" charset="0"/>
                <a:cs typeface="Calibri" panose="020F0502020204030204" pitchFamily="34" charset="0"/>
              </a:rPr>
              <a:t>(2 of 4)</a:t>
            </a:r>
          </a:p>
        </p:txBody>
      </p:sp>
      <p:sp>
        <p:nvSpPr>
          <p:cNvPr id="5" name="Rectangle 4">
            <a:extLst>
              <a:ext uri="{FF2B5EF4-FFF2-40B4-BE49-F238E27FC236}">
                <a16:creationId xmlns:a16="http://schemas.microsoft.com/office/drawing/2014/main" id="{7880B4A7-D8C6-517E-1F84-51EEE8592B69}"/>
              </a:ext>
            </a:extLst>
          </p:cNvPr>
          <p:cNvSpPr/>
          <p:nvPr/>
        </p:nvSpPr>
        <p:spPr>
          <a:xfrm>
            <a:off x="0" y="843054"/>
            <a:ext cx="7849673" cy="580310"/>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70FD3D45-9FFA-BDE6-4E9A-22A6B3793BD4}"/>
              </a:ext>
            </a:extLst>
          </p:cNvPr>
          <p:cNvSpPr txBox="1"/>
          <p:nvPr/>
        </p:nvSpPr>
        <p:spPr>
          <a:xfrm>
            <a:off x="150269" y="889389"/>
            <a:ext cx="7595655" cy="477054"/>
          </a:xfrm>
          <a:prstGeom prst="rect">
            <a:avLst/>
          </a:prstGeom>
          <a:noFill/>
        </p:spPr>
        <p:txBody>
          <a:bodyPr wrap="square" lIns="91440" tIns="45720" rIns="91440" bIns="45720" anchor="t">
            <a:spAutoFit/>
          </a:bodyPr>
          <a:lstStyle/>
          <a:p>
            <a:pPr>
              <a:spcBef>
                <a:spcPts val="600"/>
              </a:spcBef>
              <a:defRPr/>
            </a:pPr>
            <a:r>
              <a:rPr lang="en-US" sz="2500" b="1" dirty="0">
                <a:solidFill>
                  <a:schemeClr val="bg1"/>
                </a:solidFill>
                <a:latin typeface="Calibri" panose="020F0502020204030204" pitchFamily="34" charset="0"/>
                <a:cs typeface="Calibri" panose="020F0502020204030204" pitchFamily="34" charset="0"/>
              </a:rPr>
              <a:t>How will the PACT Act improve care for Veterans?</a:t>
            </a:r>
            <a:endParaRPr kumimoji="0" lang="en-US" sz="25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endParaRPr>
          </a:p>
        </p:txBody>
      </p:sp>
      <p:pic>
        <p:nvPicPr>
          <p:cNvPr id="8" name="Graphic 7" descr="Heart with pulse with solid fill">
            <a:extLst>
              <a:ext uri="{FF2B5EF4-FFF2-40B4-BE49-F238E27FC236}">
                <a16:creationId xmlns:a16="http://schemas.microsoft.com/office/drawing/2014/main" id="{D422B3C9-6386-C284-23AE-CDBC43D76AF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832" y="2557275"/>
            <a:ext cx="1464527" cy="1464527"/>
          </a:xfrm>
          <a:prstGeom prst="rect">
            <a:avLst/>
          </a:prstGeom>
        </p:spPr>
      </p:pic>
      <p:sp>
        <p:nvSpPr>
          <p:cNvPr id="9" name="TextBox 8">
            <a:extLst>
              <a:ext uri="{FF2B5EF4-FFF2-40B4-BE49-F238E27FC236}">
                <a16:creationId xmlns:a16="http://schemas.microsoft.com/office/drawing/2014/main" id="{411B6226-ACC1-C968-C637-0846A81B1764}"/>
              </a:ext>
            </a:extLst>
          </p:cNvPr>
          <p:cNvSpPr txBox="1"/>
          <p:nvPr/>
        </p:nvSpPr>
        <p:spPr>
          <a:xfrm>
            <a:off x="-49543" y="3698636"/>
            <a:ext cx="1635275" cy="646331"/>
          </a:xfrm>
          <a:prstGeom prst="rect">
            <a:avLst/>
          </a:prstGeom>
          <a:noFill/>
        </p:spPr>
        <p:txBody>
          <a:bodyPr wrap="square" rtlCol="0">
            <a:spAutoFit/>
          </a:bodyPr>
          <a:lstStyle/>
          <a:p>
            <a:pPr algn="ctr"/>
            <a:r>
              <a:rPr lang="en-US" b="1" dirty="0">
                <a:latin typeface="Calibri" panose="020F0502020204030204" pitchFamily="34" charset="0"/>
                <a:cs typeface="Calibri" panose="020F0502020204030204" pitchFamily="34" charset="0"/>
              </a:rPr>
              <a:t>Improved Veteran Care</a:t>
            </a:r>
          </a:p>
        </p:txBody>
      </p:sp>
      <p:sp>
        <p:nvSpPr>
          <p:cNvPr id="10" name="Rectangle: Rounded Corners 9">
            <a:extLst>
              <a:ext uri="{FF2B5EF4-FFF2-40B4-BE49-F238E27FC236}">
                <a16:creationId xmlns:a16="http://schemas.microsoft.com/office/drawing/2014/main" id="{982C2F23-F35E-9C0D-E0BD-0F2B4712B644}"/>
              </a:ext>
            </a:extLst>
          </p:cNvPr>
          <p:cNvSpPr/>
          <p:nvPr/>
        </p:nvSpPr>
        <p:spPr>
          <a:xfrm>
            <a:off x="1585530" y="1615343"/>
            <a:ext cx="10440566" cy="4308783"/>
          </a:xfrm>
          <a:prstGeom prst="roundRect">
            <a:avLst/>
          </a:prstGeom>
          <a:solidFill>
            <a:schemeClr val="accent5">
              <a:lumMod val="20000"/>
              <a:lumOff val="80000"/>
            </a:schemeClr>
          </a:solidFill>
          <a:ln>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b="1" u="sng" dirty="0">
                <a:solidFill>
                  <a:schemeClr val="tx1"/>
                </a:solidFill>
                <a:latin typeface="Calibri" panose="020F0502020204030204" pitchFamily="34" charset="0"/>
                <a:cs typeface="Calibri" panose="020F0502020204030204" pitchFamily="34" charset="0"/>
              </a:rPr>
              <a:t>PACT ACT</a:t>
            </a:r>
          </a:p>
          <a:p>
            <a:pPr algn="ctr"/>
            <a:r>
              <a:rPr lang="en-US" sz="500" u="sng" dirty="0">
                <a:solidFill>
                  <a:schemeClr val="tx1"/>
                </a:solidFill>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u="sng" dirty="0">
                <a:solidFill>
                  <a:schemeClr val="tx1"/>
                </a:solidFill>
                <a:latin typeface="Calibri" panose="020F0502020204030204" pitchFamily="34" charset="0"/>
                <a:cs typeface="Calibri" panose="020F0502020204030204" pitchFamily="34" charset="0"/>
              </a:rPr>
              <a:t>Expands and extends</a:t>
            </a:r>
            <a:r>
              <a:rPr lang="en-US" dirty="0">
                <a:solidFill>
                  <a:schemeClr val="tx1"/>
                </a:solidFill>
                <a:latin typeface="Calibri" panose="020F0502020204030204" pitchFamily="34" charset="0"/>
                <a:cs typeface="Calibri" panose="020F0502020204030204" pitchFamily="34" charset="0"/>
              </a:rPr>
              <a:t> eligibility for VA health care for Veterans with toxic-exposures and Veterans of the Vietnam era, Gulf War era, and Post-9/11 era.</a:t>
            </a:r>
          </a:p>
          <a:p>
            <a:r>
              <a:rPr lang="en-US" sz="800" dirty="0">
                <a:solidFill>
                  <a:schemeClr val="tx1"/>
                </a:solidFill>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VA will improve the decision-making process for determining what medical conditions will be considered for presumptive status.</a:t>
            </a:r>
          </a:p>
          <a:p>
            <a:r>
              <a:rPr lang="en-US" sz="800" dirty="0">
                <a:solidFill>
                  <a:schemeClr val="tx1"/>
                </a:solidFill>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Every enrolled Veteran will receive an initial toxic exposure screening and a follow-up screening every five years. Veterans who are not enrolled, but who are eligible to enroll, will have an opportunity to enroll and receive the screening.</a:t>
            </a:r>
          </a:p>
          <a:p>
            <a:r>
              <a:rPr lang="en-US" sz="800" dirty="0">
                <a:solidFill>
                  <a:schemeClr val="tx1"/>
                </a:solidFill>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VA health care staff and claims processors will receive toxic exposure-related education and training.</a:t>
            </a:r>
          </a:p>
          <a:p>
            <a:r>
              <a:rPr lang="en-US" sz="800" dirty="0">
                <a:solidFill>
                  <a:schemeClr val="tx1"/>
                </a:solidFill>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u="sng" dirty="0">
                <a:solidFill>
                  <a:schemeClr val="tx1"/>
                </a:solidFill>
                <a:latin typeface="Calibri" panose="020F0502020204030204" pitchFamily="34" charset="0"/>
                <a:cs typeface="Calibri" panose="020F0502020204030204" pitchFamily="34" charset="0"/>
              </a:rPr>
              <a:t>Requires research studies</a:t>
            </a:r>
            <a:r>
              <a:rPr lang="en-US" dirty="0">
                <a:solidFill>
                  <a:schemeClr val="tx1"/>
                </a:solidFill>
                <a:latin typeface="Calibri" panose="020F0502020204030204" pitchFamily="34" charset="0"/>
                <a:cs typeface="Calibri" panose="020F0502020204030204" pitchFamily="34" charset="0"/>
              </a:rPr>
              <a:t> on Veterans who served in Southwest Asia during the Gulf War, Post-9/11 Veteran health trends, and Veteran cancer rates.</a:t>
            </a:r>
          </a:p>
          <a:p>
            <a:r>
              <a:rPr lang="en-US" sz="800" dirty="0">
                <a:solidFill>
                  <a:schemeClr val="tx1"/>
                </a:solidFill>
                <a:latin typeface="Calibri" panose="020F0502020204030204" pitchFamily="34" charset="0"/>
                <a:cs typeface="Calibri" panose="020F0502020204030204" pitchFamily="34" charset="0"/>
              </a:rPr>
              <a:t> </a:t>
            </a:r>
            <a:endParaRPr lang="en-US" dirty="0">
              <a:solidFill>
                <a:schemeClr val="tx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chemeClr val="tx1"/>
                </a:solidFill>
                <a:latin typeface="Calibri" panose="020F0502020204030204" pitchFamily="34" charset="0"/>
                <a:cs typeface="Calibri" panose="020F0502020204030204" pitchFamily="34" charset="0"/>
              </a:rPr>
              <a:t>Authorizes 31 new medical facilities across the country, providing greater access to VA health care.</a:t>
            </a:r>
          </a:p>
        </p:txBody>
      </p:sp>
    </p:spTree>
    <p:extLst>
      <p:ext uri="{BB962C8B-B14F-4D97-AF65-F5344CB8AC3E}">
        <p14:creationId xmlns:p14="http://schemas.microsoft.com/office/powerpoint/2010/main" val="2815635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02CC33-C691-526D-2B8C-15B41CE73925}"/>
              </a:ext>
            </a:extLst>
          </p:cNvPr>
          <p:cNvSpPr>
            <a:spLocks noGrp="1"/>
          </p:cNvSpPr>
          <p:nvPr>
            <p:ph type="title"/>
          </p:nvPr>
        </p:nvSpPr>
        <p:spPr/>
        <p:txBody>
          <a:bodyPr/>
          <a:lstStyle/>
          <a:p>
            <a:r>
              <a:rPr lang="en-US" sz="3200" b="1" dirty="0">
                <a:latin typeface="Calibri" panose="020F0502020204030204" pitchFamily="34" charset="0"/>
                <a:cs typeface="Calibri" panose="020F0502020204030204" pitchFamily="34" charset="0"/>
              </a:rPr>
              <a:t>PACT Act </a:t>
            </a:r>
            <a:r>
              <a:rPr lang="en-US" sz="3200" b="1" i="1" dirty="0">
                <a:latin typeface="Calibri" panose="020F0502020204030204" pitchFamily="34" charset="0"/>
                <a:cs typeface="Calibri" panose="020F0502020204030204" pitchFamily="34" charset="0"/>
              </a:rPr>
              <a:t>(3 of 4)</a:t>
            </a:r>
          </a:p>
        </p:txBody>
      </p:sp>
      <p:sp>
        <p:nvSpPr>
          <p:cNvPr id="5" name="Rectangle 4">
            <a:extLst>
              <a:ext uri="{FF2B5EF4-FFF2-40B4-BE49-F238E27FC236}">
                <a16:creationId xmlns:a16="http://schemas.microsoft.com/office/drawing/2014/main" id="{7880B4A7-D8C6-517E-1F84-51EEE8592B69}"/>
              </a:ext>
            </a:extLst>
          </p:cNvPr>
          <p:cNvSpPr/>
          <p:nvPr/>
        </p:nvSpPr>
        <p:spPr>
          <a:xfrm>
            <a:off x="-1" y="843054"/>
            <a:ext cx="10413874"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70FD3D45-9FFA-BDE6-4E9A-22A6B3793BD4}"/>
              </a:ext>
            </a:extLst>
          </p:cNvPr>
          <p:cNvSpPr txBox="1"/>
          <p:nvPr/>
        </p:nvSpPr>
        <p:spPr>
          <a:xfrm>
            <a:off x="103694" y="884056"/>
            <a:ext cx="10238041" cy="4770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2500" b="1" dirty="0">
                <a:solidFill>
                  <a:schemeClr val="bg1"/>
                </a:solidFill>
                <a:latin typeface="Calibri" panose="020F0502020204030204" pitchFamily="34" charset="0"/>
                <a:cs typeface="Calibri" panose="020F0502020204030204" pitchFamily="34" charset="0"/>
              </a:rPr>
              <a:t>What diseases are specified by the PACT act?*</a:t>
            </a:r>
            <a:endPar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FE4D8462-6F9F-1CCD-EEF6-B1C7120A5B25}"/>
              </a:ext>
            </a:extLst>
          </p:cNvPr>
          <p:cNvSpPr txBox="1"/>
          <p:nvPr/>
        </p:nvSpPr>
        <p:spPr>
          <a:xfrm>
            <a:off x="7087512" y="5861330"/>
            <a:ext cx="5104488" cy="276999"/>
          </a:xfrm>
          <a:prstGeom prst="rect">
            <a:avLst/>
          </a:prstGeom>
          <a:noFill/>
        </p:spPr>
        <p:txBody>
          <a:bodyPr wrap="square" rtlCol="0">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 List of New and Expanded Presumptions is current as of December 14, 2023</a:t>
            </a:r>
          </a:p>
        </p:txBody>
      </p:sp>
      <p:graphicFrame>
        <p:nvGraphicFramePr>
          <p:cNvPr id="12" name="Table 11">
            <a:extLst>
              <a:ext uri="{FF2B5EF4-FFF2-40B4-BE49-F238E27FC236}">
                <a16:creationId xmlns:a16="http://schemas.microsoft.com/office/drawing/2014/main" id="{77CE9FF3-17B9-5679-24E1-9FC1CE83E5A0}"/>
              </a:ext>
            </a:extLst>
          </p:cNvPr>
          <p:cNvGraphicFramePr>
            <a:graphicFrameLocks noGrp="1"/>
          </p:cNvGraphicFramePr>
          <p:nvPr>
            <p:extLst>
              <p:ext uri="{D42A27DB-BD31-4B8C-83A1-F6EECF244321}">
                <p14:modId xmlns:p14="http://schemas.microsoft.com/office/powerpoint/2010/main" val="4288329183"/>
              </p:ext>
            </p:extLst>
          </p:nvPr>
        </p:nvGraphicFramePr>
        <p:xfrm>
          <a:off x="293204" y="1490490"/>
          <a:ext cx="11605591" cy="3073931"/>
        </p:xfrm>
        <a:graphic>
          <a:graphicData uri="http://schemas.openxmlformats.org/drawingml/2006/table">
            <a:tbl>
              <a:tblPr firstRow="1" bandRow="1">
                <a:effectLst/>
                <a:tableStyleId>{5A111915-BE36-4E01-A7E5-04B1672EAD32}</a:tableStyleId>
              </a:tblPr>
              <a:tblGrid>
                <a:gridCol w="5412281">
                  <a:extLst>
                    <a:ext uri="{9D8B030D-6E8A-4147-A177-3AD203B41FA5}">
                      <a16:colId xmlns:a16="http://schemas.microsoft.com/office/drawing/2014/main" val="1870199590"/>
                    </a:ext>
                  </a:extLst>
                </a:gridCol>
                <a:gridCol w="3519034">
                  <a:extLst>
                    <a:ext uri="{9D8B030D-6E8A-4147-A177-3AD203B41FA5}">
                      <a16:colId xmlns:a16="http://schemas.microsoft.com/office/drawing/2014/main" val="1124937323"/>
                    </a:ext>
                  </a:extLst>
                </a:gridCol>
                <a:gridCol w="2674276">
                  <a:extLst>
                    <a:ext uri="{9D8B030D-6E8A-4147-A177-3AD203B41FA5}">
                      <a16:colId xmlns:a16="http://schemas.microsoft.com/office/drawing/2014/main" val="3324401578"/>
                    </a:ext>
                  </a:extLst>
                </a:gridCol>
              </a:tblGrid>
              <a:tr h="391691">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solidFill>
                            <a:schemeClr val="tx1"/>
                          </a:solidFill>
                          <a:latin typeface="Calibri" panose="020F0502020204030204" pitchFamily="34" charset="0"/>
                          <a:cs typeface="Calibri" panose="020F0502020204030204" pitchFamily="34" charset="0"/>
                        </a:rPr>
                        <a:t>For Gulf War and post 9-11 Veterans:</a:t>
                      </a:r>
                    </a:p>
                  </a:txBody>
                  <a:tcPr>
                    <a:solidFill>
                      <a:schemeClr val="accent5">
                        <a:lumMod val="60000"/>
                        <a:lumOff val="40000"/>
                      </a:schemeClr>
                    </a:solidFill>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b="0" kern="1200" dirty="0">
                        <a:solidFill>
                          <a:schemeClr val="tx1"/>
                        </a:solidFill>
                        <a:latin typeface="+mn-lt"/>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latin typeface="Calibri" panose="020F0502020204030204" pitchFamily="34" charset="0"/>
                        <a:ea typeface="+mn-ea"/>
                        <a:cs typeface="Calibri" panose="020F0502020204030204" pitchFamily="34" charset="0"/>
                      </a:endParaRPr>
                    </a:p>
                  </a:txBody>
                  <a:tcPr marL="274320">
                    <a:solidFill>
                      <a:schemeClr val="accent5">
                        <a:lumMod val="60000"/>
                        <a:lumOff val="40000"/>
                      </a:schemeClr>
                    </a:solidFill>
                  </a:tcPr>
                </a:tc>
                <a:extLst>
                  <a:ext uri="{0D108BD9-81ED-4DB2-BD59-A6C34878D82A}">
                    <a16:rowId xmlns:a16="http://schemas.microsoft.com/office/drawing/2014/main" val="486579170"/>
                  </a:ext>
                </a:extLst>
              </a:tr>
              <a:tr h="226768">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cs typeface="Calibri" panose="020F0502020204030204" pitchFamily="34" charset="0"/>
                        </a:rPr>
                        <a:t>Respiratory (breathing-related) cancer of any type</a:t>
                      </a:r>
                      <a:endParaRPr lang="en-US" sz="1600" b="1" kern="1200" dirty="0">
                        <a:ln>
                          <a:noFill/>
                        </a:ln>
                        <a:solidFill>
                          <a:schemeClr val="tx1"/>
                        </a:solidFill>
                        <a:latin typeface="Calibri" panose="020F0502020204030204" pitchFamily="34" charset="0"/>
                        <a:ea typeface="+mn-ea"/>
                        <a:cs typeface="Calibri" panose="020F0502020204030204" pitchFamily="34" charset="0"/>
                      </a:endParaRP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Lymphoma of any type</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Chronic rhinitis</a:t>
                      </a:r>
                    </a:p>
                  </a:txBody>
                  <a:tcPr>
                    <a:solidFill>
                      <a:schemeClr val="accent5">
                        <a:lumMod val="20000"/>
                        <a:lumOff val="80000"/>
                      </a:schemeClr>
                    </a:solidFill>
                  </a:tcPr>
                </a:tc>
                <a:extLst>
                  <a:ext uri="{0D108BD9-81ED-4DB2-BD59-A6C34878D82A}">
                    <a16:rowId xmlns:a16="http://schemas.microsoft.com/office/drawing/2014/main" val="280763302"/>
                  </a:ext>
                </a:extLst>
              </a:tr>
              <a:tr h="226768">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Gastrointestinal cancer of any type</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Interstitial lung disease (ILD)</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Emphysema</a:t>
                      </a:r>
                    </a:p>
                  </a:txBody>
                  <a:tcPr>
                    <a:solidFill>
                      <a:schemeClr val="accent5">
                        <a:lumMod val="20000"/>
                        <a:lumOff val="80000"/>
                      </a:schemeClr>
                    </a:solidFill>
                  </a:tcPr>
                </a:tc>
                <a:extLst>
                  <a:ext uri="{0D108BD9-81ED-4DB2-BD59-A6C34878D82A}">
                    <a16:rowId xmlns:a16="http://schemas.microsoft.com/office/drawing/2014/main" val="499195255"/>
                  </a:ext>
                </a:extLst>
              </a:tr>
              <a:tr h="0">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Asthma (diagnosed after service)</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Neck cancer of any type</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Granulomatous disease</a:t>
                      </a:r>
                    </a:p>
                  </a:txBody>
                  <a:tcPr>
                    <a:solidFill>
                      <a:schemeClr val="accent5">
                        <a:lumMod val="20000"/>
                        <a:lumOff val="80000"/>
                      </a:schemeClr>
                    </a:solidFill>
                  </a:tcPr>
                </a:tc>
                <a:extLst>
                  <a:ext uri="{0D108BD9-81ED-4DB2-BD59-A6C34878D82A}">
                    <a16:rowId xmlns:a16="http://schemas.microsoft.com/office/drawing/2014/main" val="1816412171"/>
                  </a:ext>
                </a:extLst>
              </a:tr>
              <a:tr h="226768">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Lymphatic cancer of any type</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Glioblastoma</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Pleuritis</a:t>
                      </a:r>
                    </a:p>
                  </a:txBody>
                  <a:tcPr>
                    <a:solidFill>
                      <a:schemeClr val="accent5">
                        <a:lumMod val="20000"/>
                        <a:lumOff val="80000"/>
                      </a:schemeClr>
                    </a:solidFill>
                  </a:tcPr>
                </a:tc>
                <a:extLst>
                  <a:ext uri="{0D108BD9-81ED-4DB2-BD59-A6C34878D82A}">
                    <a16:rowId xmlns:a16="http://schemas.microsoft.com/office/drawing/2014/main" val="833050593"/>
                  </a:ext>
                </a:extLst>
              </a:tr>
              <a:tr h="226768">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Chronic obstructive pulmonary disease (COPD)</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Pancreatic cancer</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Pulmonary fibrosis</a:t>
                      </a:r>
                    </a:p>
                  </a:txBody>
                  <a:tcPr>
                    <a:solidFill>
                      <a:schemeClr val="accent5">
                        <a:lumMod val="20000"/>
                        <a:lumOff val="80000"/>
                      </a:schemeClr>
                    </a:solidFill>
                  </a:tcPr>
                </a:tc>
                <a:extLst>
                  <a:ext uri="{0D108BD9-81ED-4DB2-BD59-A6C34878D82A}">
                    <a16:rowId xmlns:a16="http://schemas.microsoft.com/office/drawing/2014/main" val="278645887"/>
                  </a:ext>
                </a:extLst>
              </a:tr>
              <a:tr h="226768">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Reproductive cancer of any type</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Kidney cancer</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Sarcoidosis</a:t>
                      </a:r>
                    </a:p>
                  </a:txBody>
                  <a:tcPr>
                    <a:solidFill>
                      <a:schemeClr val="accent5">
                        <a:lumMod val="20000"/>
                        <a:lumOff val="80000"/>
                      </a:schemeClr>
                    </a:solidFill>
                  </a:tcPr>
                </a:tc>
                <a:extLst>
                  <a:ext uri="{0D108BD9-81ED-4DB2-BD59-A6C34878D82A}">
                    <a16:rowId xmlns:a16="http://schemas.microsoft.com/office/drawing/2014/main" val="3765733428"/>
                  </a:ext>
                </a:extLst>
              </a:tr>
              <a:tr h="326469">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Constrictive bronchiolitis or obliterative bronchiolitis</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Head cancer of any type</a:t>
                      </a: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ea typeface="+mn-ea"/>
                          <a:cs typeface="Calibri" panose="020F0502020204030204" pitchFamily="34" charset="0"/>
                        </a:rPr>
                        <a:t>Chronic bronchitis</a:t>
                      </a:r>
                    </a:p>
                  </a:txBody>
                  <a:tcPr>
                    <a:solidFill>
                      <a:schemeClr val="accent5">
                        <a:lumMod val="20000"/>
                        <a:lumOff val="80000"/>
                      </a:schemeClr>
                    </a:solidFill>
                  </a:tcPr>
                </a:tc>
                <a:extLst>
                  <a:ext uri="{0D108BD9-81ED-4DB2-BD59-A6C34878D82A}">
                    <a16:rowId xmlns:a16="http://schemas.microsoft.com/office/drawing/2014/main" val="2854197697"/>
                  </a:ext>
                </a:extLst>
              </a:tr>
              <a:tr h="326469">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600" b="1" kern="1200" dirty="0">
                          <a:ln>
                            <a:noFill/>
                          </a:ln>
                          <a:solidFill>
                            <a:schemeClr val="tx1"/>
                          </a:solidFill>
                          <a:latin typeface="Calibri" panose="020F0502020204030204" pitchFamily="34" charset="0"/>
                          <a:cs typeface="Calibri" panose="020F0502020204030204" pitchFamily="34" charset="0"/>
                        </a:rPr>
                        <a:t>Melanoma</a:t>
                      </a:r>
                      <a:endParaRPr lang="en-US" sz="1600" b="1" kern="1200" dirty="0">
                        <a:ln>
                          <a:noFill/>
                        </a:ln>
                        <a:solidFill>
                          <a:schemeClr val="tx1"/>
                        </a:solidFill>
                        <a:latin typeface="Calibri" panose="020F0502020204030204" pitchFamily="34" charset="0"/>
                        <a:ea typeface="+mn-ea"/>
                        <a:cs typeface="Calibri" panose="020F0502020204030204" pitchFamily="34" charset="0"/>
                      </a:endParaRP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n-US" sz="1600" b="1" kern="1200" dirty="0">
                        <a:ln>
                          <a:noFill/>
                        </a:ln>
                        <a:solidFill>
                          <a:schemeClr val="tx1"/>
                        </a:solidFill>
                        <a:latin typeface="Calibri" panose="020F0502020204030204" pitchFamily="34" charset="0"/>
                        <a:ea typeface="+mn-ea"/>
                        <a:cs typeface="Calibri" panose="020F0502020204030204" pitchFamily="34" charset="0"/>
                      </a:endParaRPr>
                    </a:p>
                  </a:txBody>
                  <a:tcPr>
                    <a:solidFill>
                      <a:schemeClr val="accent5">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n-US" sz="1600" b="1" kern="1200" dirty="0">
                        <a:ln>
                          <a:noFill/>
                        </a:ln>
                        <a:solidFill>
                          <a:schemeClr val="tx1"/>
                        </a:solidFill>
                        <a:latin typeface="Calibri" panose="020F0502020204030204" pitchFamily="34" charset="0"/>
                        <a:ea typeface="+mn-ea"/>
                        <a:cs typeface="Calibri" panose="020F0502020204030204" pitchFamily="34" charset="0"/>
                      </a:endParaRPr>
                    </a:p>
                  </a:txBody>
                  <a:tcPr>
                    <a:solidFill>
                      <a:schemeClr val="accent5">
                        <a:lumMod val="20000"/>
                        <a:lumOff val="80000"/>
                      </a:schemeClr>
                    </a:solidFill>
                  </a:tcPr>
                </a:tc>
                <a:extLst>
                  <a:ext uri="{0D108BD9-81ED-4DB2-BD59-A6C34878D82A}">
                    <a16:rowId xmlns:a16="http://schemas.microsoft.com/office/drawing/2014/main" val="239932406"/>
                  </a:ext>
                </a:extLst>
              </a:tr>
            </a:tbl>
          </a:graphicData>
        </a:graphic>
      </p:graphicFrame>
      <p:graphicFrame>
        <p:nvGraphicFramePr>
          <p:cNvPr id="14" name="Table 13">
            <a:extLst>
              <a:ext uri="{FF2B5EF4-FFF2-40B4-BE49-F238E27FC236}">
                <a16:creationId xmlns:a16="http://schemas.microsoft.com/office/drawing/2014/main" id="{7F2C70EA-C3BF-7DE3-A15E-B2B8792340F6}"/>
              </a:ext>
            </a:extLst>
          </p:cNvPr>
          <p:cNvGraphicFramePr>
            <a:graphicFrameLocks noGrp="1"/>
          </p:cNvGraphicFramePr>
          <p:nvPr>
            <p:extLst>
              <p:ext uri="{D42A27DB-BD31-4B8C-83A1-F6EECF244321}">
                <p14:modId xmlns:p14="http://schemas.microsoft.com/office/powerpoint/2010/main" val="3421620999"/>
              </p:ext>
            </p:extLst>
          </p:nvPr>
        </p:nvGraphicFramePr>
        <p:xfrm>
          <a:off x="293204" y="4642130"/>
          <a:ext cx="11605591" cy="1219200"/>
        </p:xfrm>
        <a:graphic>
          <a:graphicData uri="http://schemas.openxmlformats.org/drawingml/2006/table">
            <a:tbl>
              <a:tblPr firstRow="1" bandRow="1">
                <a:tableStyleId>{74C1A8A3-306A-4EB7-A6B1-4F7E0EB9C5D6}</a:tableStyleId>
              </a:tblPr>
              <a:tblGrid>
                <a:gridCol w="5673877">
                  <a:extLst>
                    <a:ext uri="{9D8B030D-6E8A-4147-A177-3AD203B41FA5}">
                      <a16:colId xmlns:a16="http://schemas.microsoft.com/office/drawing/2014/main" val="903587373"/>
                    </a:ext>
                  </a:extLst>
                </a:gridCol>
                <a:gridCol w="5931714">
                  <a:extLst>
                    <a:ext uri="{9D8B030D-6E8A-4147-A177-3AD203B41FA5}">
                      <a16:colId xmlns:a16="http://schemas.microsoft.com/office/drawing/2014/main" val="3907078158"/>
                    </a:ext>
                  </a:extLst>
                </a:gridCol>
              </a:tblGrid>
              <a:tr h="638619">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anose="020F0502020204030204" pitchFamily="34" charset="0"/>
                          <a:cs typeface="Calibri" panose="020F0502020204030204" pitchFamily="34" charset="0"/>
                        </a:rPr>
                        <a:t>For Vietnam Veterans and other Veterans exposed to tactical herbicides, the act includes two Agent Orange presumptive conditions:</a:t>
                      </a:r>
                    </a:p>
                  </a:txBody>
                  <a:tcPr>
                    <a:solidFill>
                      <a:schemeClr val="accent5">
                        <a:lumMod val="60000"/>
                        <a:lumOff val="40000"/>
                      </a:schemeClr>
                    </a:solidFill>
                  </a:tcPr>
                </a:tc>
                <a:tc hMerge="1">
                  <a:txBody>
                    <a:bodyPr/>
                    <a:lstStyle/>
                    <a:p>
                      <a:endParaRPr lang="en-US" dirty="0"/>
                    </a:p>
                  </a:txBody>
                  <a:tcPr/>
                </a:tc>
                <a:extLst>
                  <a:ext uri="{0D108BD9-81ED-4DB2-BD59-A6C34878D82A}">
                    <a16:rowId xmlns:a16="http://schemas.microsoft.com/office/drawing/2014/main" val="2347556973"/>
                  </a:ext>
                </a:extLst>
              </a:tr>
              <a:tr h="577799">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dirty="0">
                          <a:latin typeface="Calibri" panose="020F0502020204030204" pitchFamily="34" charset="0"/>
                          <a:cs typeface="Calibri" panose="020F0502020204030204" pitchFamily="34" charset="0"/>
                        </a:rPr>
                        <a:t>Monoclonal gammopathy of undetermined significance (MGUS)</a:t>
                      </a:r>
                    </a:p>
                  </a:txBody>
                  <a:tcPr marL="274320">
                    <a:solidFill>
                      <a:schemeClr val="accent5">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dirty="0">
                          <a:latin typeface="Calibri" panose="020F0502020204030204" pitchFamily="34" charset="0"/>
                          <a:cs typeface="Calibri" panose="020F0502020204030204" pitchFamily="34" charset="0"/>
                        </a:rPr>
                        <a:t>High blood pressure (hypertension)</a:t>
                      </a:r>
                      <a:endParaRPr lang="en-US" sz="1600" b="1" kern="1200" dirty="0">
                        <a:solidFill>
                          <a:schemeClr val="tx1"/>
                        </a:solidFill>
                        <a:latin typeface="Calibri" panose="020F0502020204030204" pitchFamily="34" charset="0"/>
                        <a:ea typeface="+mn-ea"/>
                        <a:cs typeface="Calibri" panose="020F0502020204030204" pitchFamily="34" charset="0"/>
                      </a:endParaRPr>
                    </a:p>
                  </a:txBody>
                  <a:tcPr marL="274320">
                    <a:solidFill>
                      <a:schemeClr val="accent5">
                        <a:lumMod val="20000"/>
                        <a:lumOff val="80000"/>
                      </a:schemeClr>
                    </a:solidFill>
                  </a:tcPr>
                </a:tc>
                <a:extLst>
                  <a:ext uri="{0D108BD9-81ED-4DB2-BD59-A6C34878D82A}">
                    <a16:rowId xmlns:a16="http://schemas.microsoft.com/office/drawing/2014/main" val="661319889"/>
                  </a:ext>
                </a:extLst>
              </a:tr>
            </a:tbl>
          </a:graphicData>
        </a:graphic>
      </p:graphicFrame>
    </p:spTree>
    <p:extLst>
      <p:ext uri="{BB962C8B-B14F-4D97-AF65-F5344CB8AC3E}">
        <p14:creationId xmlns:p14="http://schemas.microsoft.com/office/powerpoint/2010/main" val="1441978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FE47F12-2369-FA5B-AE87-4326B60DB582}"/>
              </a:ext>
            </a:extLst>
          </p:cNvPr>
          <p:cNvPicPr>
            <a:picLocks noChangeAspect="1"/>
          </p:cNvPicPr>
          <p:nvPr/>
        </p:nvPicPr>
        <p:blipFill rotWithShape="1">
          <a:blip r:embed="rId3"/>
          <a:srcRect t="2111" b="3682"/>
          <a:stretch/>
        </p:blipFill>
        <p:spPr>
          <a:xfrm>
            <a:off x="266601" y="685800"/>
            <a:ext cx="11658798" cy="5454992"/>
          </a:xfrm>
          <a:prstGeom prst="rect">
            <a:avLst/>
          </a:prstGeom>
        </p:spPr>
      </p:pic>
      <p:sp>
        <p:nvSpPr>
          <p:cNvPr id="4" name="Title 3">
            <a:extLst>
              <a:ext uri="{FF2B5EF4-FFF2-40B4-BE49-F238E27FC236}">
                <a16:creationId xmlns:a16="http://schemas.microsoft.com/office/drawing/2014/main" id="{4E9527FA-5593-A008-4124-EF07C6D4FC86}"/>
              </a:ext>
            </a:extLst>
          </p:cNvPr>
          <p:cNvSpPr>
            <a:spLocks noGrp="1"/>
          </p:cNvSpPr>
          <p:nvPr>
            <p:ph type="title"/>
          </p:nvPr>
        </p:nvSpPr>
        <p:spPr/>
        <p:txBody>
          <a:bodyPr/>
          <a:lstStyle/>
          <a:p>
            <a:r>
              <a:rPr lang="en-US" sz="3200" b="1" dirty="0">
                <a:latin typeface="Calibri" panose="020F0502020204030204" pitchFamily="34" charset="0"/>
                <a:cs typeface="Calibri" panose="020F0502020204030204" pitchFamily="34" charset="0"/>
              </a:rPr>
              <a:t>PACT Act </a:t>
            </a:r>
            <a:r>
              <a:rPr lang="en-US" sz="3200" b="1" i="1" dirty="0">
                <a:latin typeface="Calibri" panose="020F0502020204030204" pitchFamily="34" charset="0"/>
                <a:cs typeface="Calibri" panose="020F0502020204030204" pitchFamily="34" charset="0"/>
              </a:rPr>
              <a:t>(4 of 4)</a:t>
            </a:r>
          </a:p>
        </p:txBody>
      </p:sp>
      <p:sp>
        <p:nvSpPr>
          <p:cNvPr id="6" name="Rectangle 5">
            <a:extLst>
              <a:ext uri="{FF2B5EF4-FFF2-40B4-BE49-F238E27FC236}">
                <a16:creationId xmlns:a16="http://schemas.microsoft.com/office/drawing/2014/main" id="{60F550CA-C463-39FB-92DF-62AC0C1B9243}"/>
              </a:ext>
            </a:extLst>
          </p:cNvPr>
          <p:cNvSpPr/>
          <p:nvPr/>
        </p:nvSpPr>
        <p:spPr>
          <a:xfrm>
            <a:off x="4942114" y="5146562"/>
            <a:ext cx="2786743" cy="394267"/>
          </a:xfrm>
          <a:prstGeom prst="rect">
            <a:avLst/>
          </a:prstGeom>
          <a:noFill/>
          <a:ln w="28575">
            <a:solidFill>
              <a:srgbClr val="FFFF00">
                <a:alpha val="99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8598092B-AE4C-A790-DBF3-9A6B9F5260FC}"/>
              </a:ext>
            </a:extLst>
          </p:cNvPr>
          <p:cNvSpPr/>
          <p:nvPr/>
        </p:nvSpPr>
        <p:spPr>
          <a:xfrm>
            <a:off x="7566252" y="2506096"/>
            <a:ext cx="4042342" cy="394267"/>
          </a:xfrm>
          <a:prstGeom prst="rect">
            <a:avLst/>
          </a:prstGeom>
          <a:noFill/>
          <a:ln w="28575">
            <a:solidFill>
              <a:srgbClr val="FFFF00">
                <a:alpha val="99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43224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6B619-C872-8240-6B2E-3257DE92B339}"/>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4D3EB19A-015F-8D84-C81A-703C5FD8875C}"/>
              </a:ext>
            </a:extLst>
          </p:cNvPr>
          <p:cNvSpPr txBox="1">
            <a:spLocks/>
          </p:cNvSpPr>
          <p:nvPr/>
        </p:nvSpPr>
        <p:spPr>
          <a:xfrm>
            <a:off x="0" y="0"/>
            <a:ext cx="12192000" cy="685800"/>
          </a:xfrm>
          <a:prstGeom prst="rect">
            <a:avLst/>
          </a:prstGeom>
        </p:spPr>
        <p:txBody>
          <a:bodyPr/>
          <a:lstStyle>
            <a:lvl1pPr algn="ctr" defTabSz="4572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
        <p:nvSpPr>
          <p:cNvPr id="2" name="TextBox 1">
            <a:extLst>
              <a:ext uri="{FF2B5EF4-FFF2-40B4-BE49-F238E27FC236}">
                <a16:creationId xmlns:a16="http://schemas.microsoft.com/office/drawing/2014/main" id="{CECEDC62-01C2-0893-131C-1CEF98A66F21}"/>
              </a:ext>
            </a:extLst>
          </p:cNvPr>
          <p:cNvSpPr txBox="1"/>
          <p:nvPr/>
        </p:nvSpPr>
        <p:spPr>
          <a:xfrm>
            <a:off x="597244" y="99209"/>
            <a:ext cx="1099751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Military Exposures Research and PACT Act</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400F4AEC-5DD4-29E5-CF8B-5BF3FA9434E5}"/>
              </a:ext>
            </a:extLst>
          </p:cNvPr>
          <p:cNvSpPr/>
          <p:nvPr/>
        </p:nvSpPr>
        <p:spPr>
          <a:xfrm>
            <a:off x="1938737" y="1268606"/>
            <a:ext cx="8351892" cy="4555894"/>
          </a:xfrm>
          <a:prstGeom prst="rect">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0E0836A6-1BD4-AEAF-D162-EA8D6A58BD4E}"/>
              </a:ext>
            </a:extLst>
          </p:cNvPr>
          <p:cNvSpPr/>
          <p:nvPr/>
        </p:nvSpPr>
        <p:spPr>
          <a:xfrm>
            <a:off x="1514446" y="996754"/>
            <a:ext cx="8351892" cy="1231035"/>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extBox 20">
            <a:extLst>
              <a:ext uri="{FF2B5EF4-FFF2-40B4-BE49-F238E27FC236}">
                <a16:creationId xmlns:a16="http://schemas.microsoft.com/office/drawing/2014/main" id="{EC166F9A-F7E4-05B3-770F-AC3E42D12BFC}"/>
              </a:ext>
            </a:extLst>
          </p:cNvPr>
          <p:cNvSpPr txBox="1"/>
          <p:nvPr/>
        </p:nvSpPr>
        <p:spPr>
          <a:xfrm>
            <a:off x="1740933" y="974685"/>
            <a:ext cx="8040571" cy="1246495"/>
          </a:xfrm>
          <a:prstGeom prst="rect">
            <a:avLst/>
          </a:prstGeom>
          <a:noFill/>
        </p:spPr>
        <p:txBody>
          <a:bodyPr wrap="square">
            <a:spAutoFit/>
          </a:bodyPr>
          <a:lstStyle/>
          <a:p>
            <a:r>
              <a:rPr lang="en-US" sz="2500" dirty="0">
                <a:solidFill>
                  <a:schemeClr val="bg1"/>
                </a:solidFill>
                <a:latin typeface="Calibri" panose="020F0502020204030204" pitchFamily="34" charset="0"/>
                <a:cs typeface="Calibri" panose="020F0502020204030204" pitchFamily="34" charset="0"/>
              </a:rPr>
              <a:t>Military exposures research and PACT Act are often used interchangeably.  However, the field should understand key distinctions between the efforts.</a:t>
            </a:r>
          </a:p>
        </p:txBody>
      </p:sp>
      <p:sp>
        <p:nvSpPr>
          <p:cNvPr id="22" name="Oval 21">
            <a:extLst>
              <a:ext uri="{FF2B5EF4-FFF2-40B4-BE49-F238E27FC236}">
                <a16:creationId xmlns:a16="http://schemas.microsoft.com/office/drawing/2014/main" id="{D84E5FB7-BC8D-AA50-9533-BABE43076182}"/>
              </a:ext>
            </a:extLst>
          </p:cNvPr>
          <p:cNvSpPr/>
          <p:nvPr/>
        </p:nvSpPr>
        <p:spPr>
          <a:xfrm>
            <a:off x="3470564" y="2892391"/>
            <a:ext cx="3020222" cy="2743200"/>
          </a:xfrm>
          <a:prstGeom prst="ellipse">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2000" b="1" u="sng" dirty="0">
                <a:solidFill>
                  <a:schemeClr val="tx1"/>
                </a:solidFill>
                <a:latin typeface="Calibri" panose="020F0502020204030204" pitchFamily="34" charset="0"/>
                <a:ea typeface="Source Sans Pro"/>
                <a:cs typeface="Calibri" panose="020F0502020204030204" pitchFamily="34" charset="0"/>
              </a:rPr>
              <a:t>ORD MERP</a:t>
            </a:r>
          </a:p>
          <a:p>
            <a:r>
              <a:rPr lang="en-US" sz="2000" dirty="0">
                <a:solidFill>
                  <a:schemeClr val="tx1"/>
                </a:solidFill>
                <a:latin typeface="Calibri" panose="020F0502020204030204" pitchFamily="34" charset="0"/>
                <a:ea typeface="Source Sans Pro"/>
                <a:cs typeface="Calibri" panose="020F0502020204030204" pitchFamily="34" charset="0"/>
              </a:rPr>
              <a:t>Funded infrastructure &amp; research</a:t>
            </a:r>
            <a:r>
              <a:rPr lang="en-US" sz="2000" dirty="0">
                <a:latin typeface="Calibri" panose="020F0502020204030204" pitchFamily="34" charset="0"/>
                <a:ea typeface="Source Sans Pro"/>
                <a:cs typeface="Calibri" panose="020F0502020204030204" pitchFamily="34" charset="0"/>
              </a:rPr>
              <a:t> </a:t>
            </a:r>
          </a:p>
        </p:txBody>
      </p:sp>
      <p:sp>
        <p:nvSpPr>
          <p:cNvPr id="23" name="Oval 22">
            <a:extLst>
              <a:ext uri="{FF2B5EF4-FFF2-40B4-BE49-F238E27FC236}">
                <a16:creationId xmlns:a16="http://schemas.microsoft.com/office/drawing/2014/main" id="{75A8774E-A874-7BDC-1227-3D6798484E72}"/>
              </a:ext>
            </a:extLst>
          </p:cNvPr>
          <p:cNvSpPr/>
          <p:nvPr/>
        </p:nvSpPr>
        <p:spPr>
          <a:xfrm>
            <a:off x="6061726" y="2846193"/>
            <a:ext cx="3020222" cy="2789397"/>
          </a:xfrm>
          <a:prstGeom prst="ellipse">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r"/>
            <a:r>
              <a:rPr lang="en-US" sz="2000" b="1" u="sng" dirty="0">
                <a:solidFill>
                  <a:schemeClr val="tx1"/>
                </a:solidFill>
                <a:latin typeface="Calibri" panose="020F0502020204030204" pitchFamily="34" charset="0"/>
                <a:ea typeface="Source Sans Pro"/>
                <a:cs typeface="Calibri" panose="020F0502020204030204" pitchFamily="34" charset="0"/>
              </a:rPr>
              <a:t>PACT Act</a:t>
            </a:r>
          </a:p>
          <a:p>
            <a:pPr algn="r"/>
            <a:r>
              <a:rPr lang="en-US" sz="2000" dirty="0">
                <a:solidFill>
                  <a:schemeClr val="tx1"/>
                </a:solidFill>
                <a:latin typeface="Calibri" panose="020F0502020204030204" pitchFamily="34" charset="0"/>
                <a:ea typeface="Source Sans Pro"/>
                <a:cs typeface="Calibri" panose="020F0502020204030204" pitchFamily="34" charset="0"/>
              </a:rPr>
              <a:t> Interagency Toxic Exposures Research Work Group</a:t>
            </a:r>
          </a:p>
        </p:txBody>
      </p:sp>
      <p:sp>
        <p:nvSpPr>
          <p:cNvPr id="24" name="TextBox 23">
            <a:extLst>
              <a:ext uri="{FF2B5EF4-FFF2-40B4-BE49-F238E27FC236}">
                <a16:creationId xmlns:a16="http://schemas.microsoft.com/office/drawing/2014/main" id="{E70B6BB2-1F12-2C6B-BCBA-AFD9823B9F92}"/>
              </a:ext>
            </a:extLst>
          </p:cNvPr>
          <p:cNvSpPr txBox="1"/>
          <p:nvPr/>
        </p:nvSpPr>
        <p:spPr>
          <a:xfrm>
            <a:off x="2938629" y="2376710"/>
            <a:ext cx="3911657" cy="400110"/>
          </a:xfrm>
          <a:prstGeom prst="rect">
            <a:avLst/>
          </a:prstGeom>
          <a:noFill/>
        </p:spPr>
        <p:txBody>
          <a:bodyPr wrap="square" lIns="91440" tIns="45720" rIns="91440" bIns="45720" rtlCol="0" anchor="t">
            <a:spAutoFit/>
          </a:bodyPr>
          <a:lstStyle/>
          <a:p>
            <a:r>
              <a:rPr lang="en-US" sz="2000" b="1" dirty="0">
                <a:latin typeface="Calibri" panose="020F0502020204030204" pitchFamily="34" charset="0"/>
                <a:cs typeface="Calibri" panose="020F0502020204030204" pitchFamily="34" charset="0"/>
              </a:rPr>
              <a:t>VHA Military Exposures &amp; PACT </a:t>
            </a:r>
            <a:endParaRPr lang="en-US" sz="2000" b="1" dirty="0">
              <a:latin typeface="Calibri" panose="020F0502020204030204" pitchFamily="34" charset="0"/>
              <a:ea typeface="Source Sans Pro"/>
              <a:cs typeface="Calibri" panose="020F0502020204030204" pitchFamily="34" charset="0"/>
            </a:endParaRPr>
          </a:p>
        </p:txBody>
      </p:sp>
      <p:cxnSp>
        <p:nvCxnSpPr>
          <p:cNvPr id="25" name="Straight Arrow Connector 24">
            <a:extLst>
              <a:ext uri="{FF2B5EF4-FFF2-40B4-BE49-F238E27FC236}">
                <a16:creationId xmlns:a16="http://schemas.microsoft.com/office/drawing/2014/main" id="{F6A72503-ECB4-5E97-20B6-CA740AE401A5}"/>
              </a:ext>
            </a:extLst>
          </p:cNvPr>
          <p:cNvCxnSpPr>
            <a:cxnSpLocks/>
          </p:cNvCxnSpPr>
          <p:nvPr/>
        </p:nvCxnSpPr>
        <p:spPr>
          <a:xfrm>
            <a:off x="6085360" y="4276588"/>
            <a:ext cx="37750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0276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44FED-EF5D-C64A-2044-3C98BFA95A05}"/>
              </a:ext>
            </a:extLst>
          </p:cNvPr>
          <p:cNvSpPr>
            <a:spLocks noGrp="1"/>
          </p:cNvSpPr>
          <p:nvPr>
            <p:ph type="ctrTitle"/>
          </p:nvPr>
        </p:nvSpPr>
        <p:spPr>
          <a:xfrm>
            <a:off x="914401" y="1518081"/>
            <a:ext cx="10743200" cy="3195961"/>
          </a:xfrm>
        </p:spPr>
        <p:txBody>
          <a:bodyPr lIns="91440" tIns="45720" rIns="91440" bIns="45720" anchor="ctr">
            <a:noAutofit/>
          </a:bodyPr>
          <a:lstStyle/>
          <a:p>
            <a:r>
              <a:rPr lang="en-US" dirty="0">
                <a:latin typeface="Calibri" panose="020F0502020204030204" pitchFamily="34" charset="0"/>
                <a:cs typeface="Calibri" panose="020F0502020204030204" pitchFamily="34" charset="0"/>
              </a:rPr>
              <a:t>Military Exposures and Research Program</a:t>
            </a:r>
            <a:endParaRPr lang="en-US" dirty="0">
              <a:latin typeface="Calibri" panose="020F0502020204030204" pitchFamily="34" charset="0"/>
              <a:ea typeface="Source Sans Pro"/>
              <a:cs typeface="Calibri" panose="020F0502020204030204" pitchFamily="34" charset="0"/>
            </a:endParaRPr>
          </a:p>
        </p:txBody>
      </p:sp>
    </p:spTree>
    <p:extLst>
      <p:ext uri="{BB962C8B-B14F-4D97-AF65-F5344CB8AC3E}">
        <p14:creationId xmlns:p14="http://schemas.microsoft.com/office/powerpoint/2010/main" val="3783921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AAC097-AC13-472A-87EB-D3C4A5AD86DA}"/>
              </a:ext>
            </a:extLst>
          </p:cNvPr>
          <p:cNvSpPr/>
          <p:nvPr/>
        </p:nvSpPr>
        <p:spPr>
          <a:xfrm>
            <a:off x="-1" y="1465251"/>
            <a:ext cx="11377571" cy="400110"/>
          </a:xfrm>
          <a:prstGeom prst="rect">
            <a:avLst/>
          </a:prstGeom>
        </p:spPr>
        <p:txBody>
          <a:bodyPr wrap="square" lIns="91440" tIns="45720" rIns="91440" bIns="45720" anchor="t">
            <a:spAutoFit/>
          </a:bodyPr>
          <a:lstStyle/>
          <a:p>
            <a:pPr marL="342900" marR="1156970" lvl="0" indent="0" algn="l" defTabSz="914400" rtl="0" eaLnBrk="1" fontAlgn="auto" latinLnBrk="0" hangingPunct="1">
              <a:lnSpc>
                <a:spcPct val="100000"/>
              </a:lnSpc>
              <a:spcBef>
                <a:spcPts val="0"/>
              </a:spcBef>
              <a:spcAft>
                <a:spcPts val="900"/>
              </a:spcAft>
              <a:buClrTx/>
              <a:buSzTx/>
              <a:buFontTx/>
              <a:buNone/>
              <a:tabLst/>
              <a:defRPr/>
            </a:pPr>
            <a:r>
              <a:rPr kumimoji="0" lang="en-US"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Military Exposures Research Program supports Veterans: </a:t>
            </a:r>
            <a:endParaRPr lang="en-US" dirty="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51CE89FA-C17D-48E3-ADB5-7CDE7BE5BA0C}"/>
              </a:ext>
            </a:extLst>
          </p:cNvPr>
          <p:cNvSpPr/>
          <p:nvPr/>
        </p:nvSpPr>
        <p:spPr>
          <a:xfrm>
            <a:off x="-1" y="851926"/>
            <a:ext cx="5939162"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431921" y="898262"/>
            <a:ext cx="5507240" cy="4770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Why is MERP Needed?</a:t>
            </a: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a:t>
            </a:r>
            <a:r>
              <a:rPr kumimoji="0" lang="en-US" sz="3200" b="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Building Nexus </a:t>
            </a:r>
            <a:r>
              <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(1 of 3)</a:t>
            </a:r>
          </a:p>
        </p:txBody>
      </p:sp>
      <p:sp>
        <p:nvSpPr>
          <p:cNvPr id="4" name="Rectangle: Rounded Corners 3">
            <a:extLst>
              <a:ext uri="{FF2B5EF4-FFF2-40B4-BE49-F238E27FC236}">
                <a16:creationId xmlns:a16="http://schemas.microsoft.com/office/drawing/2014/main" id="{7706B8A4-0CF8-F5B9-BB35-CDCF0DAACBBE}"/>
              </a:ext>
            </a:extLst>
          </p:cNvPr>
          <p:cNvSpPr/>
          <p:nvPr/>
        </p:nvSpPr>
        <p:spPr>
          <a:xfrm>
            <a:off x="739688" y="2646628"/>
            <a:ext cx="2988072" cy="3006444"/>
          </a:xfrm>
          <a:prstGeom prst="round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latin typeface="Calibri" panose="020F0502020204030204" pitchFamily="34" charset="0"/>
                <a:cs typeface="Calibri" panose="020F0502020204030204" pitchFamily="34" charset="0"/>
              </a:rPr>
              <a:t>Every military conflict has had a characteristic exposure-related health concern</a:t>
            </a:r>
          </a:p>
          <a:p>
            <a:pPr algn="ctr"/>
            <a:endParaRPr lang="en-US" sz="1800" dirty="0">
              <a:cs typeface="Arial" panose="020B0604020202020204" pitchFamily="34" charset="0"/>
            </a:endParaRPr>
          </a:p>
          <a:p>
            <a:pPr algn="ctr"/>
            <a:endParaRPr lang="en-US" dirty="0">
              <a:cs typeface="Arial" panose="020B0604020202020204" pitchFamily="34" charset="0"/>
            </a:endParaRPr>
          </a:p>
          <a:p>
            <a:pPr algn="ctr"/>
            <a:endParaRPr lang="en-US" dirty="0"/>
          </a:p>
        </p:txBody>
      </p:sp>
      <p:sp>
        <p:nvSpPr>
          <p:cNvPr id="5" name="Rectangle: Rounded Corners 4">
            <a:extLst>
              <a:ext uri="{FF2B5EF4-FFF2-40B4-BE49-F238E27FC236}">
                <a16:creationId xmlns:a16="http://schemas.microsoft.com/office/drawing/2014/main" id="{F3D47E5B-892A-0CDC-0FD3-51BB5D5060E4}"/>
              </a:ext>
            </a:extLst>
          </p:cNvPr>
          <p:cNvSpPr/>
          <p:nvPr/>
        </p:nvSpPr>
        <p:spPr>
          <a:xfrm>
            <a:off x="8074215" y="2646628"/>
            <a:ext cx="2892609" cy="3006444"/>
          </a:xfrm>
          <a:prstGeom prst="round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cs typeface="Arial"/>
            </a:endParaRPr>
          </a:p>
          <a:p>
            <a:pPr algn="ctr"/>
            <a:r>
              <a:rPr lang="en-US" sz="1800" dirty="0">
                <a:solidFill>
                  <a:schemeClr val="tx1"/>
                </a:solidFill>
                <a:latin typeface="Calibri" panose="020F0502020204030204" pitchFamily="34" charset="0"/>
                <a:cs typeface="Calibri" panose="020F0502020204030204" pitchFamily="34" charset="0"/>
              </a:rPr>
              <a:t>Military exposure research was identified by Veterans Affairs Chief Research &amp; Development Officer of the Office of Research &amp; Development as a top cross-cutting clinical priority </a:t>
            </a:r>
            <a:endParaRPr lang="en-US" sz="1800" dirty="0">
              <a:solidFill>
                <a:schemeClr val="tx1"/>
              </a:solidFill>
              <a:latin typeface="Calibri" panose="020F0502020204030204" pitchFamily="34" charset="0"/>
              <a:ea typeface="Source Sans Pro"/>
              <a:cs typeface="Calibri" panose="020F0502020204030204" pitchFamily="34" charset="0"/>
            </a:endParaRPr>
          </a:p>
        </p:txBody>
      </p:sp>
      <p:sp>
        <p:nvSpPr>
          <p:cNvPr id="6" name="Rectangle: Rounded Corners 5">
            <a:extLst>
              <a:ext uri="{FF2B5EF4-FFF2-40B4-BE49-F238E27FC236}">
                <a16:creationId xmlns:a16="http://schemas.microsoft.com/office/drawing/2014/main" id="{02DFD3D3-7802-9E1E-9B1F-C644F5CF73F0}"/>
              </a:ext>
            </a:extLst>
          </p:cNvPr>
          <p:cNvSpPr/>
          <p:nvPr/>
        </p:nvSpPr>
        <p:spPr>
          <a:xfrm>
            <a:off x="4454683" y="2646628"/>
            <a:ext cx="2892609" cy="3006444"/>
          </a:xfrm>
          <a:prstGeom prst="round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latin typeface="Calibri" panose="020F0502020204030204" pitchFamily="34" charset="0"/>
                <a:cs typeface="Calibri" panose="020F0502020204030204" pitchFamily="34" charset="0"/>
              </a:rPr>
              <a:t>Lack of a nexus between exposure and health outcome(s) has been a barrier for Veterans to become eligible for VA care and disability benefits</a:t>
            </a:r>
            <a:endParaRPr lang="en-US" dirty="0">
              <a:solidFill>
                <a:schemeClr val="tx1"/>
              </a:solidFill>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7E7D63C9-8EFD-A243-2949-CBF9DCB8FD37}"/>
              </a:ext>
            </a:extLst>
          </p:cNvPr>
          <p:cNvSpPr/>
          <p:nvPr/>
        </p:nvSpPr>
        <p:spPr>
          <a:xfrm>
            <a:off x="1567233" y="1983665"/>
            <a:ext cx="1169957" cy="1136755"/>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F6433AE4-14DA-E6C6-16AA-BA01823809A6}"/>
              </a:ext>
            </a:extLst>
          </p:cNvPr>
          <p:cNvSpPr/>
          <p:nvPr/>
        </p:nvSpPr>
        <p:spPr>
          <a:xfrm>
            <a:off x="5234610" y="1865361"/>
            <a:ext cx="1332753" cy="1255059"/>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4FF89046-FA7C-B354-752A-93A9BD411D13}"/>
              </a:ext>
            </a:extLst>
          </p:cNvPr>
          <p:cNvSpPr/>
          <p:nvPr/>
        </p:nvSpPr>
        <p:spPr>
          <a:xfrm>
            <a:off x="8832393" y="1790655"/>
            <a:ext cx="1332753" cy="1255059"/>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Graphic 14" descr="Link with solid fill">
            <a:extLst>
              <a:ext uri="{FF2B5EF4-FFF2-40B4-BE49-F238E27FC236}">
                <a16:creationId xmlns:a16="http://schemas.microsoft.com/office/drawing/2014/main" id="{1072488D-EC78-8A15-51B6-24728014C6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43786" y="2035690"/>
            <a:ext cx="914400" cy="914400"/>
          </a:xfrm>
          <a:prstGeom prst="rect">
            <a:avLst/>
          </a:prstGeom>
        </p:spPr>
      </p:pic>
      <p:pic>
        <p:nvPicPr>
          <p:cNvPr id="17" name="Graphic 16" descr="Heart with pulse with solid fill">
            <a:extLst>
              <a:ext uri="{FF2B5EF4-FFF2-40B4-BE49-F238E27FC236}">
                <a16:creationId xmlns:a16="http://schemas.microsoft.com/office/drawing/2014/main" id="{AB2CACFE-3CE4-0EE0-6367-B52F565E94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2905" y="2156583"/>
            <a:ext cx="914400" cy="914400"/>
          </a:xfrm>
          <a:prstGeom prst="rect">
            <a:avLst/>
          </a:prstGeom>
        </p:spPr>
      </p:pic>
      <p:pic>
        <p:nvPicPr>
          <p:cNvPr id="19" name="Graphic 18" descr="Scientist female with solid fill">
            <a:extLst>
              <a:ext uri="{FF2B5EF4-FFF2-40B4-BE49-F238E27FC236}">
                <a16:creationId xmlns:a16="http://schemas.microsoft.com/office/drawing/2014/main" id="{472A246F-BE46-D986-3EEE-9EA10B6343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63319" y="1955296"/>
            <a:ext cx="914400" cy="914400"/>
          </a:xfrm>
          <a:prstGeom prst="rect">
            <a:avLst/>
          </a:prstGeom>
        </p:spPr>
      </p:pic>
    </p:spTree>
    <p:extLst>
      <p:ext uri="{BB962C8B-B14F-4D97-AF65-F5344CB8AC3E}">
        <p14:creationId xmlns:p14="http://schemas.microsoft.com/office/powerpoint/2010/main" val="584608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6394DA4-D12D-DEBA-55CD-AB60C7B478BE}"/>
              </a:ext>
            </a:extLst>
          </p:cNvPr>
          <p:cNvSpPr/>
          <p:nvPr/>
        </p:nvSpPr>
        <p:spPr>
          <a:xfrm>
            <a:off x="1712694" y="1186932"/>
            <a:ext cx="8971242" cy="3199464"/>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3FDCD8DB-22E0-4CEA-ABCD-7FF3BBE49F6D}"/>
              </a:ext>
            </a:extLst>
          </p:cNvPr>
          <p:cNvSpPr/>
          <p:nvPr/>
        </p:nvSpPr>
        <p:spPr>
          <a:xfrm>
            <a:off x="260891" y="3341101"/>
            <a:ext cx="4314550" cy="2140140"/>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3FEEFA52-C0FE-451C-BA53-469D336E519B}"/>
              </a:ext>
            </a:extLst>
          </p:cNvPr>
          <p:cNvSpPr/>
          <p:nvPr/>
        </p:nvSpPr>
        <p:spPr>
          <a:xfrm>
            <a:off x="425997" y="3067805"/>
            <a:ext cx="3302113"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96F6BFC8-C015-4191-ACC3-E20A62BAD90C}"/>
              </a:ext>
            </a:extLst>
          </p:cNvPr>
          <p:cNvSpPr/>
          <p:nvPr/>
        </p:nvSpPr>
        <p:spPr>
          <a:xfrm>
            <a:off x="4861825" y="3349979"/>
            <a:ext cx="6492715" cy="2619072"/>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CAAC097-AC13-472A-87EB-D3C4A5AD86DA}"/>
              </a:ext>
            </a:extLst>
          </p:cNvPr>
          <p:cNvSpPr/>
          <p:nvPr/>
        </p:nvSpPr>
        <p:spPr>
          <a:xfrm>
            <a:off x="1779629" y="1456557"/>
            <a:ext cx="8959062" cy="1569660"/>
          </a:xfrm>
          <a:prstGeom prst="rect">
            <a:avLst/>
          </a:prstGeom>
        </p:spPr>
        <p:txBody>
          <a:bodyPr wrap="square">
            <a:spAutoFit/>
          </a:bodyPr>
          <a:lstStyle/>
          <a:p>
            <a:pPr marL="342900" marR="1157288" lvl="0" indent="0" algn="l" defTabSz="914400" rtl="0" eaLnBrk="1" fontAlgn="auto" latinLnBrk="0" hangingPunct="1">
              <a:lnSpc>
                <a:spcPct val="100000"/>
              </a:lnSpc>
              <a:spcBef>
                <a:spcPts val="0"/>
              </a:spcBef>
              <a:spcAft>
                <a:spcPts val="900"/>
              </a:spcAft>
              <a:buClrTx/>
              <a:buSzTx/>
              <a:buFontTx/>
              <a:buNone/>
              <a:tabLst/>
              <a:defRPr/>
            </a:pPr>
            <a:r>
              <a:rPr lang="en-US" sz="2400" b="1" dirty="0">
                <a:latin typeface="Calibri" panose="020F0502020204030204" pitchFamily="34" charset="0"/>
                <a:cs typeface="Calibri" panose="020F0502020204030204" pitchFamily="34" charset="0"/>
              </a:rPr>
              <a:t>The VA MERP seeks to advance military exposure assessments and to understand the effects of military exposures on Veterans’ health outcomes to inform care and policy.</a:t>
            </a:r>
          </a:p>
        </p:txBody>
      </p:sp>
      <p:sp>
        <p:nvSpPr>
          <p:cNvPr id="2" name="TextBox 1">
            <a:extLst>
              <a:ext uri="{FF2B5EF4-FFF2-40B4-BE49-F238E27FC236}">
                <a16:creationId xmlns:a16="http://schemas.microsoft.com/office/drawing/2014/main" id="{57D4985A-841B-4878-AEF7-C907E2C34486}"/>
              </a:ext>
            </a:extLst>
          </p:cNvPr>
          <p:cNvSpPr txBox="1"/>
          <p:nvPr/>
        </p:nvSpPr>
        <p:spPr>
          <a:xfrm>
            <a:off x="580595" y="3543554"/>
            <a:ext cx="3922138" cy="193899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000" dirty="0">
                <a:latin typeface="Calibri" panose="020F0502020204030204" pitchFamily="34" charset="0"/>
                <a:cs typeface="Calibri" panose="020F0502020204030204" pitchFamily="34" charset="0"/>
              </a:rPr>
              <a:t>Refers to contact with toxic agents, singly or in combination, acquired through ingestion, respiratory, or skin contact routes during military service (Deployment, Occupation, or Garrison).</a:t>
            </a:r>
          </a:p>
        </p:txBody>
      </p:sp>
      <p:sp>
        <p:nvSpPr>
          <p:cNvPr id="6" name="TextBox 5">
            <a:extLst>
              <a:ext uri="{FF2B5EF4-FFF2-40B4-BE49-F238E27FC236}">
                <a16:creationId xmlns:a16="http://schemas.microsoft.com/office/drawing/2014/main" id="{A9A00714-89A5-4742-AF08-9ABCD4FEE737}"/>
              </a:ext>
            </a:extLst>
          </p:cNvPr>
          <p:cNvSpPr txBox="1"/>
          <p:nvPr/>
        </p:nvSpPr>
        <p:spPr>
          <a:xfrm>
            <a:off x="5146081" y="3586447"/>
            <a:ext cx="5924202" cy="2246769"/>
          </a:xfrm>
          <a:prstGeom prst="rect">
            <a:avLst/>
          </a:prstGeom>
          <a:noFill/>
        </p:spPr>
        <p:txBody>
          <a:bodyPr wrap="square" rtlCol="0">
            <a:spAutoFit/>
          </a:bodyPr>
          <a:lstStyle>
            <a:defPPr>
              <a:defRPr lang="en-US"/>
            </a:defPPr>
            <a:lvl1pPr>
              <a:defRPr b="1">
                <a:solidFill>
                  <a:schemeClr val="tx2">
                    <a:lumMod val="60000"/>
                    <a:lumOff val="40000"/>
                  </a:schemeClr>
                </a:solidFill>
                <a:latin typeface="Arial" panose="020B0604020202020204" pitchFamily="34" charset="0"/>
                <a:ea typeface="Calibri" panose="020F0502020204030204" pitchFamily="34" charset="0"/>
                <a:cs typeface="Arial" panose="020B0604020202020204" pitchFamily="34" charset="0"/>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Calibri" panose="020F0502020204030204" pitchFamily="34" charset="0"/>
                <a:ea typeface="+mn-ea"/>
                <a:cs typeface="Calibri" panose="020F0502020204030204" pitchFamily="34" charset="0"/>
              </a:rPr>
              <a:t>Refers to qualitative and/or quantitative identification and measurement of toxic agent(s) to which a Veteran was exposed during military service. </a:t>
            </a:r>
          </a:p>
          <a:p>
            <a:pPr marL="800100" lvl="1" indent="-342900">
              <a:buFont typeface="Arial" panose="020B0604020202020204" pitchFamily="34" charset="0"/>
              <a:buChar char="•"/>
              <a:defRPr/>
            </a:pPr>
            <a:r>
              <a:rPr lang="en-US" sz="2000" b="0" dirty="0">
                <a:latin typeface="Calibri" panose="020F0502020204030204" pitchFamily="34" charset="0"/>
                <a:cs typeface="Calibri" panose="020F0502020204030204" pitchFamily="34" charset="0"/>
              </a:rPr>
              <a:t>May include the development of new methods and/or assays that will directly or indirectly identify and measure an exposure to a toxic agent using biological materials or surrogates.</a:t>
            </a:r>
          </a:p>
        </p:txBody>
      </p:sp>
      <p:sp>
        <p:nvSpPr>
          <p:cNvPr id="7" name="Rectangle 6">
            <a:extLst>
              <a:ext uri="{FF2B5EF4-FFF2-40B4-BE49-F238E27FC236}">
                <a16:creationId xmlns:a16="http://schemas.microsoft.com/office/drawing/2014/main" id="{51CE89FA-C17D-48E3-ADB5-7CDE7BE5BA0C}"/>
              </a:ext>
            </a:extLst>
          </p:cNvPr>
          <p:cNvSpPr/>
          <p:nvPr/>
        </p:nvSpPr>
        <p:spPr>
          <a:xfrm>
            <a:off x="1928978" y="842615"/>
            <a:ext cx="4649498"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2079247" y="888950"/>
            <a:ext cx="3785655" cy="4770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MISSION STATEMENT</a:t>
            </a:r>
          </a:p>
        </p:txBody>
      </p:sp>
      <p:sp>
        <p:nvSpPr>
          <p:cNvPr id="11" name="TextBox 10">
            <a:extLst>
              <a:ext uri="{FF2B5EF4-FFF2-40B4-BE49-F238E27FC236}">
                <a16:creationId xmlns:a16="http://schemas.microsoft.com/office/drawing/2014/main" id="{E99A0A36-4654-4496-86A7-D5C8213EFA3D}"/>
              </a:ext>
            </a:extLst>
          </p:cNvPr>
          <p:cNvSpPr txBox="1"/>
          <p:nvPr/>
        </p:nvSpPr>
        <p:spPr>
          <a:xfrm>
            <a:off x="552922" y="3113973"/>
            <a:ext cx="255733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MILITARY EXPOSURES</a:t>
            </a:r>
          </a:p>
        </p:txBody>
      </p:sp>
      <p:sp>
        <p:nvSpPr>
          <p:cNvPr id="12" name="Rectangle 11">
            <a:extLst>
              <a:ext uri="{FF2B5EF4-FFF2-40B4-BE49-F238E27FC236}">
                <a16:creationId xmlns:a16="http://schemas.microsoft.com/office/drawing/2014/main" id="{A39E032F-309A-46E5-A51F-26DFCED3594E}"/>
              </a:ext>
            </a:extLst>
          </p:cNvPr>
          <p:cNvSpPr/>
          <p:nvPr/>
        </p:nvSpPr>
        <p:spPr>
          <a:xfrm>
            <a:off x="5026932" y="3067805"/>
            <a:ext cx="3302113"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CFDDD29D-2C5D-4767-A365-001A8FE4225C}"/>
              </a:ext>
            </a:extLst>
          </p:cNvPr>
          <p:cNvSpPr txBox="1"/>
          <p:nvPr/>
        </p:nvSpPr>
        <p:spPr>
          <a:xfrm>
            <a:off x="4996084" y="3113973"/>
            <a:ext cx="3332961" cy="400110"/>
          </a:xfrm>
          <a:prstGeom prst="rect">
            <a:avLst/>
          </a:prstGeom>
          <a:noFill/>
        </p:spPr>
        <p:txBody>
          <a:bodyPr wrap="square">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   EXPOSURE ASSESSMENT</a:t>
            </a:r>
          </a:p>
        </p:txBody>
      </p:sp>
      <p:sp>
        <p:nvSpPr>
          <p:cNvPr id="17" name="TextBox 16">
            <a:extLst>
              <a:ext uri="{FF2B5EF4-FFF2-40B4-BE49-F238E27FC236}">
                <a16:creationId xmlns:a16="http://schemas.microsoft.com/office/drawing/2014/main" id="{DC0723C0-D8AD-DE0C-839B-92CF7959CB23}"/>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solidFill>
                  <a:prstClr val="white"/>
                </a:solidFill>
                <a:latin typeface="Calibri" panose="020F0502020204030204" pitchFamily="34" charset="0"/>
                <a:cs typeface="Calibri" panose="020F0502020204030204" pitchFamily="34" charset="0"/>
              </a:rPr>
              <a:t>MERP – Building Nexus </a:t>
            </a:r>
            <a:r>
              <a:rPr lang="en-US" sz="3200" b="1" i="1" dirty="0">
                <a:solidFill>
                  <a:prstClr val="white"/>
                </a:solidFill>
                <a:latin typeface="Calibri" panose="020F0502020204030204" pitchFamily="34" charset="0"/>
                <a:cs typeface="Calibri" panose="020F0502020204030204" pitchFamily="34" charset="0"/>
              </a:rPr>
              <a:t>(2 of 3)</a:t>
            </a:r>
          </a:p>
        </p:txBody>
      </p:sp>
    </p:spTree>
    <p:extLst>
      <p:ext uri="{BB962C8B-B14F-4D97-AF65-F5344CB8AC3E}">
        <p14:creationId xmlns:p14="http://schemas.microsoft.com/office/powerpoint/2010/main" val="3025471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78604-B34B-412C-9296-F788F296165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388BB21-7B76-5843-A91C-20DEFBBD3076}"/>
              </a:ext>
            </a:extLst>
          </p:cNvPr>
          <p:cNvSpPr txBox="1"/>
          <p:nvPr/>
        </p:nvSpPr>
        <p:spPr>
          <a:xfrm>
            <a:off x="3026526" y="89655"/>
            <a:ext cx="6138948"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a:t>
            </a:r>
            <a:r>
              <a:rPr kumimoji="0" lang="en-US" sz="3200" b="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Building Nexus </a:t>
            </a:r>
            <a:r>
              <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(3 of 3)</a:t>
            </a:r>
          </a:p>
        </p:txBody>
      </p:sp>
      <p:sp>
        <p:nvSpPr>
          <p:cNvPr id="39" name="Rectangle 38">
            <a:extLst>
              <a:ext uri="{FF2B5EF4-FFF2-40B4-BE49-F238E27FC236}">
                <a16:creationId xmlns:a16="http://schemas.microsoft.com/office/drawing/2014/main" id="{27F590AC-8F1C-CCEE-F92D-A1DA976C4386}"/>
              </a:ext>
            </a:extLst>
          </p:cNvPr>
          <p:cNvSpPr/>
          <p:nvPr/>
        </p:nvSpPr>
        <p:spPr>
          <a:xfrm>
            <a:off x="567685" y="1439787"/>
            <a:ext cx="6768592" cy="1989213"/>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1" name="Rectangle 40">
            <a:extLst>
              <a:ext uri="{FF2B5EF4-FFF2-40B4-BE49-F238E27FC236}">
                <a16:creationId xmlns:a16="http://schemas.microsoft.com/office/drawing/2014/main" id="{A990E32D-8D38-3D8A-1485-21DD431B5089}"/>
              </a:ext>
            </a:extLst>
          </p:cNvPr>
          <p:cNvSpPr/>
          <p:nvPr/>
        </p:nvSpPr>
        <p:spPr>
          <a:xfrm>
            <a:off x="392613" y="1243754"/>
            <a:ext cx="2832500" cy="337842"/>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2" name="TextBox 41">
            <a:extLst>
              <a:ext uri="{FF2B5EF4-FFF2-40B4-BE49-F238E27FC236}">
                <a16:creationId xmlns:a16="http://schemas.microsoft.com/office/drawing/2014/main" id="{E52E47A6-1467-84C0-DABC-300718E74C9D}"/>
              </a:ext>
            </a:extLst>
          </p:cNvPr>
          <p:cNvSpPr txBox="1"/>
          <p:nvPr/>
        </p:nvSpPr>
        <p:spPr>
          <a:xfrm>
            <a:off x="535490" y="1217555"/>
            <a:ext cx="2553227"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VA PARTNERSHIPS</a:t>
            </a:r>
          </a:p>
        </p:txBody>
      </p:sp>
      <p:sp>
        <p:nvSpPr>
          <p:cNvPr id="57" name="TextBox 56">
            <a:extLst>
              <a:ext uri="{FF2B5EF4-FFF2-40B4-BE49-F238E27FC236}">
                <a16:creationId xmlns:a16="http://schemas.microsoft.com/office/drawing/2014/main" id="{518D07AA-6E19-0EE6-CCC6-EDED36D159AD}"/>
              </a:ext>
            </a:extLst>
          </p:cNvPr>
          <p:cNvSpPr txBox="1"/>
          <p:nvPr/>
        </p:nvSpPr>
        <p:spPr>
          <a:xfrm>
            <a:off x="743155" y="1590909"/>
            <a:ext cx="2940234" cy="1692771"/>
          </a:xfrm>
          <a:prstGeom prst="rect">
            <a:avLst/>
          </a:prstGeom>
          <a:noFill/>
        </p:spPr>
        <p:txBody>
          <a:bodyPr wrap="square" lIns="91440" tIns="45720" rIns="91440" bIns="45720" anchor="t">
            <a:spAutoFit/>
          </a:bodyPr>
          <a:lstStyle/>
          <a:p>
            <a:pPr marL="0" marR="0" lvl="0" indent="0" algn="l" defTabSz="914400" rtl="0" eaLnBrk="1" fontAlgn="auto" latinLnBrk="0" hangingPunct="1">
              <a:spcBef>
                <a:spcPts val="0"/>
              </a:spcBef>
              <a:spcAft>
                <a:spcPts val="600"/>
              </a:spcAft>
              <a:buClrTx/>
              <a:buSzTx/>
              <a:buFontTx/>
              <a:buNone/>
              <a:tabLst/>
              <a:defRPr/>
            </a:pPr>
            <a:r>
              <a:rPr kumimoji="0" lang="en-US"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ORD Services and Programs</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MVP</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CIPHER</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VA SHIELD</a:t>
            </a:r>
            <a:endParaRPr lang="en-US" sz="1400" dirty="0">
              <a:latin typeface="Calibri" panose="020F0502020204030204" pitchFamily="34" charset="0"/>
              <a:ea typeface="Source Sans Pro"/>
              <a:cs typeface="Calibri" panose="020F0502020204030204" pitchFamily="34" charset="0"/>
            </a:endParaRP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Quality Enhancement Research Initiative (QUERI)</a:t>
            </a:r>
            <a:endParaRPr lang="en-US" sz="1400" dirty="0">
              <a:latin typeface="Calibri" panose="020F0502020204030204" pitchFamily="34" charset="0"/>
              <a:ea typeface="Source Sans Pro"/>
              <a:cs typeface="Calibri" panose="020F0502020204030204" pitchFamily="34" charset="0"/>
            </a:endParaRPr>
          </a:p>
        </p:txBody>
      </p:sp>
      <p:sp>
        <p:nvSpPr>
          <p:cNvPr id="58" name="Rectangle 57">
            <a:extLst>
              <a:ext uri="{FF2B5EF4-FFF2-40B4-BE49-F238E27FC236}">
                <a16:creationId xmlns:a16="http://schemas.microsoft.com/office/drawing/2014/main" id="{2D69D9C2-4C16-2E7F-4897-E8760AD48E4B}"/>
              </a:ext>
            </a:extLst>
          </p:cNvPr>
          <p:cNvSpPr/>
          <p:nvPr/>
        </p:nvSpPr>
        <p:spPr>
          <a:xfrm>
            <a:off x="7947488" y="1079214"/>
            <a:ext cx="4049976" cy="4955527"/>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1" name="TextBox 60">
            <a:extLst>
              <a:ext uri="{FF2B5EF4-FFF2-40B4-BE49-F238E27FC236}">
                <a16:creationId xmlns:a16="http://schemas.microsoft.com/office/drawing/2014/main" id="{871DC9AF-CA67-572C-22DF-2CAA3DB67F5E}"/>
              </a:ext>
            </a:extLst>
          </p:cNvPr>
          <p:cNvSpPr txBox="1"/>
          <p:nvPr/>
        </p:nvSpPr>
        <p:spPr>
          <a:xfrm>
            <a:off x="8051689" y="1235633"/>
            <a:ext cx="4050410" cy="4832092"/>
          </a:xfrm>
          <a:prstGeom prst="rect">
            <a:avLst/>
          </a:prstGeom>
          <a:noFill/>
        </p:spPr>
        <p:txBody>
          <a:bodyPr wrap="square" lIns="91440" tIns="45720" rIns="91440" bIns="45720" anchor="t">
            <a:spAutoFit/>
          </a:bodyPr>
          <a:lstStyle/>
          <a:p>
            <a:pPr>
              <a:spcAft>
                <a:spcPts val="600"/>
              </a:spcAft>
              <a:defRPr/>
            </a:pPr>
            <a:r>
              <a:rPr lang="en-US" sz="1400" dirty="0">
                <a:latin typeface="Calibri" panose="020F0502020204030204" pitchFamily="34" charset="0"/>
                <a:cs typeface="Calibri" panose="020F0502020204030204" pitchFamily="34" charset="0"/>
              </a:rPr>
              <a:t>DoD </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Army Public Health</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Defense Health Agency</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Millennium Cohort Group</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DoD Biorepository</a:t>
            </a:r>
            <a:endParaRPr lang="en-US" sz="1400" dirty="0">
              <a:latin typeface="Calibri" panose="020F0502020204030204" pitchFamily="34" charset="0"/>
              <a:ea typeface="Source Sans Pro"/>
              <a:cs typeface="Calibri" panose="020F0502020204030204" pitchFamily="34" charset="0"/>
            </a:endParaRP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Individual Longitudinal Exposure Record (ILER) </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Toxic Exposures Research Program (TERP)</a:t>
            </a:r>
          </a:p>
          <a:p>
            <a:pPr marL="0" marR="0" lvl="0" indent="0" fontAlgn="auto">
              <a:lnSpc>
                <a:spcPct val="100000"/>
              </a:lnSpc>
              <a:spcBef>
                <a:spcPts val="0"/>
              </a:spcBef>
              <a:spcAft>
                <a:spcPts val="600"/>
              </a:spcAft>
              <a:buClrTx/>
              <a:buSzTx/>
              <a:buFontTx/>
              <a:buNone/>
              <a:tabLst/>
              <a:defRPr/>
            </a:pPr>
            <a:r>
              <a:rPr lang="en-US" sz="1400" dirty="0">
                <a:latin typeface="Calibri" panose="020F0502020204030204" pitchFamily="34" charset="0"/>
                <a:cs typeface="Calibri" panose="020F0502020204030204" pitchFamily="34" charset="0"/>
              </a:rPr>
              <a:t>National Institutes of Health </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Environmental Health Sciences</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Aging</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Neurological Diseases</a:t>
            </a:r>
          </a:p>
          <a:p>
            <a:pPr marL="628650" lvl="1" indent="-171450">
              <a:spcAft>
                <a:spcPts val="600"/>
              </a:spcAft>
              <a:buFont typeface="Arial" panose="020B0604020202020204" pitchFamily="34" charset="0"/>
              <a:buChar char="•"/>
              <a:defRPr/>
            </a:pPr>
            <a:r>
              <a:rPr lang="en-US" sz="1400" dirty="0">
                <a:latin typeface="Calibri" panose="020F0502020204030204" pitchFamily="34" charset="0"/>
                <a:cs typeface="Calibri" panose="020F0502020204030204" pitchFamily="34" charset="0"/>
              </a:rPr>
              <a:t>Nursing</a:t>
            </a:r>
          </a:p>
          <a:p>
            <a:pPr marL="0" marR="0" lvl="0" indent="0" fontAlgn="auto">
              <a:lnSpc>
                <a:spcPct val="100000"/>
              </a:lnSpc>
              <a:spcBef>
                <a:spcPts val="0"/>
              </a:spcBef>
              <a:spcAft>
                <a:spcPts val="600"/>
              </a:spcAft>
              <a:buClrTx/>
              <a:buSzTx/>
              <a:buFontTx/>
              <a:buNone/>
              <a:tabLst/>
              <a:defRPr/>
            </a:pPr>
            <a:r>
              <a:rPr lang="en-US" sz="1400" dirty="0">
                <a:latin typeface="Calibri" panose="020F0502020204030204" pitchFamily="34" charset="0"/>
                <a:cs typeface="Calibri" panose="020F0502020204030204" pitchFamily="34" charset="0"/>
              </a:rPr>
              <a:t>Centers for Disease Control and Prevention (CDC)</a:t>
            </a:r>
          </a:p>
          <a:p>
            <a:pPr marL="0" marR="0" lvl="0" indent="0" fontAlgn="auto">
              <a:lnSpc>
                <a:spcPct val="100000"/>
              </a:lnSpc>
              <a:spcBef>
                <a:spcPts val="0"/>
              </a:spcBef>
              <a:spcAft>
                <a:spcPts val="600"/>
              </a:spcAft>
              <a:buClrTx/>
              <a:buSzTx/>
              <a:buFontTx/>
              <a:buNone/>
              <a:tabLst/>
              <a:defRPr/>
            </a:pPr>
            <a:r>
              <a:rPr lang="en-US" sz="1400" dirty="0">
                <a:latin typeface="Calibri" panose="020F0502020204030204" pitchFamily="34" charset="0"/>
                <a:cs typeface="Calibri" panose="020F0502020204030204" pitchFamily="34" charset="0"/>
              </a:rPr>
              <a:t>Agency for Toxic Substances and Disease Registry (ATSDR)</a:t>
            </a:r>
          </a:p>
          <a:p>
            <a:pPr marL="0" marR="0" lvl="0" indent="0" fontAlgn="auto">
              <a:lnSpc>
                <a:spcPct val="100000"/>
              </a:lnSpc>
              <a:spcBef>
                <a:spcPts val="0"/>
              </a:spcBef>
              <a:spcAft>
                <a:spcPts val="600"/>
              </a:spcAft>
              <a:buClrTx/>
              <a:buSzTx/>
              <a:buFontTx/>
              <a:buNone/>
              <a:tabLst/>
              <a:defRPr/>
            </a:pPr>
            <a:r>
              <a:rPr lang="en-US" sz="1400" dirty="0">
                <a:latin typeface="Calibri" panose="020F0502020204030204" pitchFamily="34" charset="0"/>
                <a:cs typeface="Calibri" panose="020F0502020204030204" pitchFamily="34" charset="0"/>
              </a:rPr>
              <a:t>Environmental Protection Agency (EPA)</a:t>
            </a:r>
          </a:p>
        </p:txBody>
      </p:sp>
      <p:sp>
        <p:nvSpPr>
          <p:cNvPr id="62" name="Rectangle 61">
            <a:extLst>
              <a:ext uri="{FF2B5EF4-FFF2-40B4-BE49-F238E27FC236}">
                <a16:creationId xmlns:a16="http://schemas.microsoft.com/office/drawing/2014/main" id="{325F6B32-D56B-1090-0F2D-0C7C33E38C87}"/>
              </a:ext>
            </a:extLst>
          </p:cNvPr>
          <p:cNvSpPr/>
          <p:nvPr/>
        </p:nvSpPr>
        <p:spPr>
          <a:xfrm>
            <a:off x="597244" y="4087697"/>
            <a:ext cx="2802941" cy="1735998"/>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3" name="Rectangle 62">
            <a:extLst>
              <a:ext uri="{FF2B5EF4-FFF2-40B4-BE49-F238E27FC236}">
                <a16:creationId xmlns:a16="http://schemas.microsoft.com/office/drawing/2014/main" id="{98B36563-834E-5B2C-E6D4-0655BA179B39}"/>
              </a:ext>
            </a:extLst>
          </p:cNvPr>
          <p:cNvSpPr/>
          <p:nvPr/>
        </p:nvSpPr>
        <p:spPr>
          <a:xfrm>
            <a:off x="392614" y="3718561"/>
            <a:ext cx="2832500" cy="647043"/>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4" name="TextBox 63">
            <a:extLst>
              <a:ext uri="{FF2B5EF4-FFF2-40B4-BE49-F238E27FC236}">
                <a16:creationId xmlns:a16="http://schemas.microsoft.com/office/drawing/2014/main" id="{529E97B6-0CAD-C8B5-2AE9-55E078925482}"/>
              </a:ext>
            </a:extLst>
          </p:cNvPr>
          <p:cNvSpPr txBox="1"/>
          <p:nvPr/>
        </p:nvSpPr>
        <p:spPr>
          <a:xfrm>
            <a:off x="548368" y="3700288"/>
            <a:ext cx="291922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NON-FEDERAL AFFILIATES/ SMEs</a:t>
            </a:r>
          </a:p>
        </p:txBody>
      </p:sp>
      <p:sp>
        <p:nvSpPr>
          <p:cNvPr id="65" name="TextBox 64">
            <a:extLst>
              <a:ext uri="{FF2B5EF4-FFF2-40B4-BE49-F238E27FC236}">
                <a16:creationId xmlns:a16="http://schemas.microsoft.com/office/drawing/2014/main" id="{62934474-6834-77C5-18B8-4582290219A9}"/>
              </a:ext>
            </a:extLst>
          </p:cNvPr>
          <p:cNvSpPr txBox="1"/>
          <p:nvPr/>
        </p:nvSpPr>
        <p:spPr>
          <a:xfrm>
            <a:off x="626802" y="4385828"/>
            <a:ext cx="2802941" cy="1461939"/>
          </a:xfrm>
          <a:prstGeom prst="rect">
            <a:avLst/>
          </a:prstGeom>
          <a:noFill/>
        </p:spPr>
        <p:txBody>
          <a:bodyPr wrap="square">
            <a:spAutoFit/>
          </a:bodyPr>
          <a:lstStyle/>
          <a:p>
            <a:pPr marL="285750" marR="0" lvl="0" indent="-285750" fontAlgn="auto">
              <a:lnSpc>
                <a:spcPct val="100000"/>
              </a:lnSpc>
              <a:spcBef>
                <a:spcPts val="0"/>
              </a:spcBef>
              <a:spcAft>
                <a:spcPts val="600"/>
              </a:spcAft>
              <a:buClrTx/>
              <a:buSzTx/>
              <a:buFont typeface="Arial" panose="020B0604020202020204" pitchFamily="34" charset="0"/>
              <a:buChar char="•"/>
              <a:tabLst/>
              <a:defRPr/>
            </a:pPr>
            <a:r>
              <a:rPr lang="en-US" sz="1400" dirty="0">
                <a:latin typeface="Calibri" panose="020F0502020204030204" pitchFamily="34" charset="0"/>
                <a:cs typeface="Calibri" panose="020F0502020204030204" pitchFamily="34" charset="0"/>
              </a:rPr>
              <a:t>Academia </a:t>
            </a:r>
          </a:p>
          <a:p>
            <a:pPr marL="285750" marR="0" lvl="0" indent="-285750" fontAlgn="auto">
              <a:lnSpc>
                <a:spcPct val="100000"/>
              </a:lnSpc>
              <a:spcBef>
                <a:spcPts val="0"/>
              </a:spcBef>
              <a:spcAft>
                <a:spcPts val="600"/>
              </a:spcAft>
              <a:buClrTx/>
              <a:buSzTx/>
              <a:buFont typeface="Arial" panose="020B0604020202020204" pitchFamily="34" charset="0"/>
              <a:buChar char="•"/>
              <a:tabLst/>
              <a:defRPr/>
            </a:pPr>
            <a:r>
              <a:rPr lang="en-US" sz="1400" dirty="0">
                <a:latin typeface="Calibri" panose="020F0502020204030204" pitchFamily="34" charset="0"/>
                <a:cs typeface="Calibri" panose="020F0502020204030204" pitchFamily="34" charset="0"/>
              </a:rPr>
              <a:t>National Academy of Science, Engineering, and Medicine (NASEM) (Emerging Science for Environmental Health Decisions)</a:t>
            </a:r>
          </a:p>
        </p:txBody>
      </p:sp>
      <p:sp>
        <p:nvSpPr>
          <p:cNvPr id="66" name="Rectangle 65">
            <a:extLst>
              <a:ext uri="{FF2B5EF4-FFF2-40B4-BE49-F238E27FC236}">
                <a16:creationId xmlns:a16="http://schemas.microsoft.com/office/drawing/2014/main" id="{115993BB-974E-6BE6-FDDD-1C4A674E1353}"/>
              </a:ext>
            </a:extLst>
          </p:cNvPr>
          <p:cNvSpPr/>
          <p:nvPr/>
        </p:nvSpPr>
        <p:spPr>
          <a:xfrm>
            <a:off x="4049449" y="4305414"/>
            <a:ext cx="3316388" cy="1384186"/>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7" name="Rectangle 66">
            <a:extLst>
              <a:ext uri="{FF2B5EF4-FFF2-40B4-BE49-F238E27FC236}">
                <a16:creationId xmlns:a16="http://schemas.microsoft.com/office/drawing/2014/main" id="{906F18E6-F6EA-D1F4-1C2A-48ADEF1E37C4}"/>
              </a:ext>
            </a:extLst>
          </p:cNvPr>
          <p:cNvSpPr/>
          <p:nvPr/>
        </p:nvSpPr>
        <p:spPr>
          <a:xfrm>
            <a:off x="3844816" y="4109380"/>
            <a:ext cx="3434873" cy="384009"/>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8" name="TextBox 67">
            <a:extLst>
              <a:ext uri="{FF2B5EF4-FFF2-40B4-BE49-F238E27FC236}">
                <a16:creationId xmlns:a16="http://schemas.microsoft.com/office/drawing/2014/main" id="{7D23676B-D42D-57AE-B6ED-0B8BD731491D}"/>
              </a:ext>
            </a:extLst>
          </p:cNvPr>
          <p:cNvSpPr txBox="1"/>
          <p:nvPr/>
        </p:nvSpPr>
        <p:spPr>
          <a:xfrm>
            <a:off x="3795460" y="4106158"/>
            <a:ext cx="3436027"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  COMMUNITY STAKEHOLDERS</a:t>
            </a:r>
          </a:p>
        </p:txBody>
      </p:sp>
      <p:sp>
        <p:nvSpPr>
          <p:cNvPr id="69" name="TextBox 68">
            <a:extLst>
              <a:ext uri="{FF2B5EF4-FFF2-40B4-BE49-F238E27FC236}">
                <a16:creationId xmlns:a16="http://schemas.microsoft.com/office/drawing/2014/main" id="{F3EA2B5C-1320-1ECA-4CA0-76310A361644}"/>
              </a:ext>
            </a:extLst>
          </p:cNvPr>
          <p:cNvSpPr txBox="1"/>
          <p:nvPr/>
        </p:nvSpPr>
        <p:spPr>
          <a:xfrm>
            <a:off x="4101767" y="4564221"/>
            <a:ext cx="3316387" cy="892552"/>
          </a:xfrm>
          <a:prstGeom prst="rect">
            <a:avLst/>
          </a:prstGeom>
          <a:noFill/>
        </p:spPr>
        <p:txBody>
          <a:bodyPr wrap="square">
            <a:spAutoFit/>
          </a:bodyPr>
          <a:lstStyle/>
          <a:p>
            <a:pPr marL="285750" marR="0" lvl="0" indent="-285750" fontAlgn="auto">
              <a:lnSpc>
                <a:spcPct val="100000"/>
              </a:lnSpc>
              <a:spcBef>
                <a:spcPts val="0"/>
              </a:spcBef>
              <a:spcAft>
                <a:spcPts val="600"/>
              </a:spcAft>
              <a:buClrTx/>
              <a:buSzTx/>
              <a:buFont typeface="Arial" panose="020B0604020202020204" pitchFamily="34" charset="0"/>
              <a:buChar char="•"/>
              <a:tabLst/>
              <a:defRPr/>
            </a:pPr>
            <a:r>
              <a:rPr lang="en-US" sz="1400" dirty="0">
                <a:latin typeface="Calibri" panose="020F0502020204030204" pitchFamily="34" charset="0"/>
                <a:cs typeface="Calibri" panose="020F0502020204030204" pitchFamily="34" charset="0"/>
              </a:rPr>
              <a:t>Veterans with Toxic Exposures</a:t>
            </a:r>
          </a:p>
          <a:p>
            <a:pPr marL="285750" marR="0" lvl="0" indent="-285750" fontAlgn="auto">
              <a:lnSpc>
                <a:spcPct val="100000"/>
              </a:lnSpc>
              <a:spcBef>
                <a:spcPts val="0"/>
              </a:spcBef>
              <a:spcAft>
                <a:spcPts val="600"/>
              </a:spcAft>
              <a:buClrTx/>
              <a:buSzTx/>
              <a:buFont typeface="Arial" panose="020B0604020202020204" pitchFamily="34" charset="0"/>
              <a:buChar char="•"/>
              <a:tabLst/>
              <a:defRPr/>
            </a:pPr>
            <a:r>
              <a:rPr lang="en-US" sz="1400" dirty="0">
                <a:latin typeface="Calibri" panose="020F0502020204030204" pitchFamily="34" charset="0"/>
                <a:cs typeface="Calibri" panose="020F0502020204030204" pitchFamily="34" charset="0"/>
              </a:rPr>
              <a:t>Veteran Service Organizations (VSO)</a:t>
            </a:r>
          </a:p>
          <a:p>
            <a:pPr marL="285750" marR="0" lvl="0" indent="-285750" fontAlgn="auto">
              <a:lnSpc>
                <a:spcPct val="100000"/>
              </a:lnSpc>
              <a:spcBef>
                <a:spcPts val="0"/>
              </a:spcBef>
              <a:spcAft>
                <a:spcPts val="600"/>
              </a:spcAft>
              <a:buClrTx/>
              <a:buSzTx/>
              <a:buFont typeface="Arial" panose="020B0604020202020204" pitchFamily="34" charset="0"/>
              <a:buChar char="•"/>
              <a:tabLst/>
              <a:defRPr/>
            </a:pPr>
            <a:r>
              <a:rPr lang="en-US" sz="1400" dirty="0">
                <a:latin typeface="Calibri" panose="020F0502020204030204" pitchFamily="34" charset="0"/>
                <a:cs typeface="Calibri" panose="020F0502020204030204" pitchFamily="34" charset="0"/>
              </a:rPr>
              <a:t>Private Foundations – Toxic Exposures</a:t>
            </a:r>
          </a:p>
        </p:txBody>
      </p:sp>
      <p:sp>
        <p:nvSpPr>
          <p:cNvPr id="70" name="TextBox 69">
            <a:extLst>
              <a:ext uri="{FF2B5EF4-FFF2-40B4-BE49-F238E27FC236}">
                <a16:creationId xmlns:a16="http://schemas.microsoft.com/office/drawing/2014/main" id="{B1FB24DF-5D2C-88C3-9462-F657D5AA2889}"/>
              </a:ext>
            </a:extLst>
          </p:cNvPr>
          <p:cNvSpPr txBox="1"/>
          <p:nvPr/>
        </p:nvSpPr>
        <p:spPr>
          <a:xfrm>
            <a:off x="3683389" y="729369"/>
            <a:ext cx="4825221" cy="4770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F56"/>
                </a:solidFill>
                <a:effectLst/>
                <a:uLnTx/>
                <a:uFillTx/>
                <a:latin typeface="Calibri" panose="020F0502020204030204" pitchFamily="34" charset="0"/>
                <a:cs typeface="Calibri" panose="020F0502020204030204" pitchFamily="34" charset="0"/>
              </a:rPr>
              <a:t>MERP PARTNERSHIPS</a:t>
            </a:r>
            <a:endParaRPr kumimoji="0" lang="en-US" sz="2500" b="1" i="1" u="none" strike="noStrike" kern="1200" cap="none" spc="0" normalizeH="0" baseline="0" noProof="0" dirty="0">
              <a:ln>
                <a:noFill/>
              </a:ln>
              <a:solidFill>
                <a:srgbClr val="002F56"/>
              </a:solidFill>
              <a:effectLst/>
              <a:uLnTx/>
              <a:uFillTx/>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10BA93F2-D6AA-1FC1-A3BF-D6753EF860FF}"/>
              </a:ext>
            </a:extLst>
          </p:cNvPr>
          <p:cNvSpPr/>
          <p:nvPr/>
        </p:nvSpPr>
        <p:spPr>
          <a:xfrm>
            <a:off x="7808056" y="892321"/>
            <a:ext cx="3151139" cy="387896"/>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C91F8F81-3072-A42A-6B5C-37447189869C}"/>
              </a:ext>
            </a:extLst>
          </p:cNvPr>
          <p:cNvSpPr txBox="1"/>
          <p:nvPr/>
        </p:nvSpPr>
        <p:spPr>
          <a:xfrm>
            <a:off x="7803945" y="883092"/>
            <a:ext cx="307226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 FEDERAL PARTNERSHIPS</a:t>
            </a:r>
          </a:p>
        </p:txBody>
      </p:sp>
      <p:sp>
        <p:nvSpPr>
          <p:cNvPr id="19" name="TextBox 18">
            <a:extLst>
              <a:ext uri="{FF2B5EF4-FFF2-40B4-BE49-F238E27FC236}">
                <a16:creationId xmlns:a16="http://schemas.microsoft.com/office/drawing/2014/main" id="{E7333462-4229-26A6-CD5D-FB5647DAD35A}"/>
              </a:ext>
            </a:extLst>
          </p:cNvPr>
          <p:cNvSpPr txBox="1"/>
          <p:nvPr/>
        </p:nvSpPr>
        <p:spPr>
          <a:xfrm>
            <a:off x="3844816" y="1609274"/>
            <a:ext cx="3260833" cy="1031051"/>
          </a:xfrm>
          <a:prstGeom prst="rect">
            <a:avLst/>
          </a:prstGeom>
          <a:noFill/>
        </p:spPr>
        <p:txBody>
          <a:bodyPr wrap="square">
            <a:spAutoFit/>
          </a:bodyPr>
          <a:lstStyle/>
          <a:p>
            <a:pPr marL="285750" marR="0" lvl="0" indent="-285750" fontAlgn="auto">
              <a:spcBef>
                <a:spcPts val="0"/>
              </a:spcBef>
              <a:spcAft>
                <a:spcPts val="600"/>
              </a:spcAft>
              <a:buClrTx/>
              <a:buSzTx/>
              <a:buFont typeface="Arial" panose="020B0604020202020204" pitchFamily="34" charset="0"/>
              <a:buChar char="•"/>
              <a:tabLst/>
              <a:defRPr/>
            </a:pPr>
            <a:r>
              <a:rPr lang="en-US" sz="1400" dirty="0">
                <a:latin typeface="Calibri" panose="020F0502020204030204" pitchFamily="34" charset="0"/>
                <a:cs typeface="Calibri" panose="020F0502020204030204" pitchFamily="34" charset="0"/>
              </a:rPr>
              <a:t>Health Outcomes Military Exposures (HOME)</a:t>
            </a:r>
          </a:p>
          <a:p>
            <a:pPr marL="285750" marR="0" lvl="0" indent="-285750" fontAlgn="auto">
              <a:spcBef>
                <a:spcPts val="0"/>
              </a:spcBef>
              <a:spcAft>
                <a:spcPts val="600"/>
              </a:spcAft>
              <a:buClrTx/>
              <a:buSzTx/>
              <a:buFont typeface="Arial" panose="020B0604020202020204" pitchFamily="34" charset="0"/>
              <a:buChar char="•"/>
              <a:tabLst/>
              <a:defRPr/>
            </a:pPr>
            <a:r>
              <a:rPr lang="en-US" sz="1400" dirty="0">
                <a:latin typeface="Calibri" panose="020F0502020204030204" pitchFamily="34" charset="0"/>
                <a:cs typeface="Calibri" panose="020F0502020204030204" pitchFamily="34" charset="0"/>
              </a:rPr>
              <a:t>War Related Injury Illness Study Centers (WRIISCs)</a:t>
            </a:r>
          </a:p>
        </p:txBody>
      </p:sp>
    </p:spTree>
    <p:extLst>
      <p:ext uri="{BB962C8B-B14F-4D97-AF65-F5344CB8AC3E}">
        <p14:creationId xmlns:p14="http://schemas.microsoft.com/office/powerpoint/2010/main" val="1993063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9A1BE9-2FE1-80E8-7758-3660FBE0B946}"/>
              </a:ext>
            </a:extLst>
          </p:cNvPr>
          <p:cNvSpPr txBox="1"/>
          <p:nvPr/>
        </p:nvSpPr>
        <p:spPr>
          <a:xfrm>
            <a:off x="597244" y="99209"/>
            <a:ext cx="1099751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MERP-SHIELD Biorepository Synergy</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5" name="Title 2">
            <a:extLst>
              <a:ext uri="{FF2B5EF4-FFF2-40B4-BE49-F238E27FC236}">
                <a16:creationId xmlns:a16="http://schemas.microsoft.com/office/drawing/2014/main" id="{11AE0813-9930-7E09-3577-D4F9272F1F56}"/>
              </a:ext>
            </a:extLst>
          </p:cNvPr>
          <p:cNvSpPr txBox="1">
            <a:spLocks/>
          </p:cNvSpPr>
          <p:nvPr/>
        </p:nvSpPr>
        <p:spPr>
          <a:xfrm>
            <a:off x="0" y="0"/>
            <a:ext cx="12192000" cy="685800"/>
          </a:xfrm>
          <a:prstGeom prst="rect">
            <a:avLst/>
          </a:prstGeom>
        </p:spPr>
        <p:txBody>
          <a:bodyPr/>
          <a:lstStyle>
            <a:lvl1pPr algn="ctr" defTabSz="4572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
        <p:nvSpPr>
          <p:cNvPr id="6" name="TextBox 5">
            <a:extLst>
              <a:ext uri="{FF2B5EF4-FFF2-40B4-BE49-F238E27FC236}">
                <a16:creationId xmlns:a16="http://schemas.microsoft.com/office/drawing/2014/main" id="{9D28FAC1-95D9-AD89-1392-19C763221D6B}"/>
              </a:ext>
            </a:extLst>
          </p:cNvPr>
          <p:cNvSpPr txBox="1"/>
          <p:nvPr/>
        </p:nvSpPr>
        <p:spPr>
          <a:xfrm flipH="1">
            <a:off x="2439906" y="3621930"/>
            <a:ext cx="87447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Transfer</a:t>
            </a:r>
          </a:p>
        </p:txBody>
      </p:sp>
      <p:grpSp>
        <p:nvGrpSpPr>
          <p:cNvPr id="7" name="Group 6">
            <a:extLst>
              <a:ext uri="{FF2B5EF4-FFF2-40B4-BE49-F238E27FC236}">
                <a16:creationId xmlns:a16="http://schemas.microsoft.com/office/drawing/2014/main" id="{30D0772B-617C-5903-9F96-8E97EE85BA11}"/>
              </a:ext>
            </a:extLst>
          </p:cNvPr>
          <p:cNvGrpSpPr/>
          <p:nvPr/>
        </p:nvGrpSpPr>
        <p:grpSpPr>
          <a:xfrm>
            <a:off x="152733" y="1529377"/>
            <a:ext cx="11886534" cy="3760756"/>
            <a:chOff x="0" y="318732"/>
            <a:chExt cx="11886534" cy="3760756"/>
          </a:xfrm>
        </p:grpSpPr>
        <p:sp>
          <p:nvSpPr>
            <p:cNvPr id="8" name="Arrow: Left 7">
              <a:extLst>
                <a:ext uri="{FF2B5EF4-FFF2-40B4-BE49-F238E27FC236}">
                  <a16:creationId xmlns:a16="http://schemas.microsoft.com/office/drawing/2014/main" id="{EF23C3B8-B078-7E60-6BB2-1610A6E4B579}"/>
                </a:ext>
              </a:extLst>
            </p:cNvPr>
            <p:cNvSpPr/>
            <p:nvPr/>
          </p:nvSpPr>
          <p:spPr>
            <a:xfrm rot="10800000">
              <a:off x="2737395" y="1771817"/>
              <a:ext cx="1501002" cy="484632"/>
            </a:xfrm>
            <a:prstGeom prst="leftArrow">
              <a:avLst/>
            </a:prstGeom>
            <a:solidFill>
              <a:schemeClr val="accent6">
                <a:lumMod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9" name="Arrow: Left 8">
              <a:extLst>
                <a:ext uri="{FF2B5EF4-FFF2-40B4-BE49-F238E27FC236}">
                  <a16:creationId xmlns:a16="http://schemas.microsoft.com/office/drawing/2014/main" id="{37B9997D-CE80-7CDC-3DE8-21F9989EA048}"/>
                </a:ext>
              </a:extLst>
            </p:cNvPr>
            <p:cNvSpPr/>
            <p:nvPr/>
          </p:nvSpPr>
          <p:spPr>
            <a:xfrm>
              <a:off x="7364030" y="1767572"/>
              <a:ext cx="1501002" cy="484483"/>
            </a:xfrm>
            <a:prstGeom prst="leftArrow">
              <a:avLst/>
            </a:prstGeom>
            <a:solidFill>
              <a:schemeClr val="accent6">
                <a:lumMod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0" name="Arrow: U-Turn 9">
              <a:extLst>
                <a:ext uri="{FF2B5EF4-FFF2-40B4-BE49-F238E27FC236}">
                  <a16:creationId xmlns:a16="http://schemas.microsoft.com/office/drawing/2014/main" id="{B8589A40-0211-6FA2-8200-D09764DC238B}"/>
                </a:ext>
              </a:extLst>
            </p:cNvPr>
            <p:cNvSpPr>
              <a:spLocks noChangeAspect="1"/>
            </p:cNvSpPr>
            <p:nvPr/>
          </p:nvSpPr>
          <p:spPr>
            <a:xfrm rot="10800000" flipH="1">
              <a:off x="5180913" y="2866403"/>
              <a:ext cx="5573759" cy="1181155"/>
            </a:xfrm>
            <a:prstGeom prst="uturnArrow">
              <a:avLst>
                <a:gd name="adj1" fmla="val 25000"/>
                <a:gd name="adj2" fmla="val 25000"/>
                <a:gd name="adj3" fmla="val 25000"/>
                <a:gd name="adj4" fmla="val 43750"/>
                <a:gd name="adj5" fmla="val 100000"/>
              </a:avLst>
            </a:prstGeom>
            <a:solidFill>
              <a:schemeClr val="accent6">
                <a:lumMod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ource Sans Pro"/>
                <a:ea typeface="+mn-ea"/>
                <a:cs typeface="+mn-cs"/>
              </a:endParaRPr>
            </a:p>
          </p:txBody>
        </p:sp>
        <p:sp>
          <p:nvSpPr>
            <p:cNvPr id="11" name="TextBox 10">
              <a:extLst>
                <a:ext uri="{FF2B5EF4-FFF2-40B4-BE49-F238E27FC236}">
                  <a16:creationId xmlns:a16="http://schemas.microsoft.com/office/drawing/2014/main" id="{7FBF69CD-484D-3284-6E80-18A285BD3C60}"/>
                </a:ext>
              </a:extLst>
            </p:cNvPr>
            <p:cNvSpPr txBox="1"/>
            <p:nvPr/>
          </p:nvSpPr>
          <p:spPr>
            <a:xfrm>
              <a:off x="0" y="952109"/>
              <a:ext cx="3107491" cy="1754326"/>
            </a:xfrm>
            <a:prstGeom prst="rect">
              <a:avLst/>
            </a:prstGeom>
            <a:solidFill>
              <a:schemeClr val="bg1">
                <a:lumMod val="95000"/>
              </a:schemeClr>
            </a:solid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Supports mission-relevant research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Encourages collection of biospecimens for future use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2" name="Rectangle 11">
              <a:extLst>
                <a:ext uri="{FF2B5EF4-FFF2-40B4-BE49-F238E27FC236}">
                  <a16:creationId xmlns:a16="http://schemas.microsoft.com/office/drawing/2014/main" id="{162FC79F-F5D8-6BA4-CE47-1700A090CE5E}"/>
                </a:ext>
              </a:extLst>
            </p:cNvPr>
            <p:cNvSpPr/>
            <p:nvPr/>
          </p:nvSpPr>
          <p:spPr>
            <a:xfrm>
              <a:off x="0" y="318732"/>
              <a:ext cx="3107491" cy="554308"/>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MERP</a:t>
              </a:r>
            </a:p>
          </p:txBody>
        </p:sp>
        <p:sp>
          <p:nvSpPr>
            <p:cNvPr id="13" name="Rectangle 12">
              <a:extLst>
                <a:ext uri="{FF2B5EF4-FFF2-40B4-BE49-F238E27FC236}">
                  <a16:creationId xmlns:a16="http://schemas.microsoft.com/office/drawing/2014/main" id="{3A6EB9AB-3480-CF27-B274-4A8C81005C6F}"/>
                </a:ext>
              </a:extLst>
            </p:cNvPr>
            <p:cNvSpPr/>
            <p:nvPr/>
          </p:nvSpPr>
          <p:spPr>
            <a:xfrm>
              <a:off x="8779044" y="318732"/>
              <a:ext cx="3107490" cy="554308"/>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Future studies </a:t>
              </a:r>
            </a:p>
          </p:txBody>
        </p:sp>
        <p:sp>
          <p:nvSpPr>
            <p:cNvPr id="14" name="TextBox 13">
              <a:extLst>
                <a:ext uri="{FF2B5EF4-FFF2-40B4-BE49-F238E27FC236}">
                  <a16:creationId xmlns:a16="http://schemas.microsoft.com/office/drawing/2014/main" id="{CCA15FB5-5E6C-1C11-1914-9370333BCF33}"/>
                </a:ext>
              </a:extLst>
            </p:cNvPr>
            <p:cNvSpPr txBox="1"/>
            <p:nvPr/>
          </p:nvSpPr>
          <p:spPr>
            <a:xfrm>
              <a:off x="8779043" y="952109"/>
              <a:ext cx="3107491" cy="1754326"/>
            </a:xfrm>
            <a:prstGeom prst="rect">
              <a:avLst/>
            </a:prstGeom>
            <a:solidFill>
              <a:schemeClr val="bg1">
                <a:lumMod val="95000"/>
              </a:schemeClr>
            </a:solid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cs typeface="Calibri" panose="020F0502020204030204" pitchFamily="34" charset="0"/>
                </a:rPr>
                <a:t>Propose projects which advance care &amp; policy</a:t>
              </a: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Maximize value of existing resources and potential for scientific discovery</a:t>
              </a:r>
            </a:p>
          </p:txBody>
        </p:sp>
        <p:sp>
          <p:nvSpPr>
            <p:cNvPr id="15" name="TextBox 14">
              <a:extLst>
                <a:ext uri="{FF2B5EF4-FFF2-40B4-BE49-F238E27FC236}">
                  <a16:creationId xmlns:a16="http://schemas.microsoft.com/office/drawing/2014/main" id="{DA74CE92-1426-89F6-EBFA-CC43C0ED9247}"/>
                </a:ext>
              </a:extLst>
            </p:cNvPr>
            <p:cNvSpPr txBox="1"/>
            <p:nvPr/>
          </p:nvSpPr>
          <p:spPr>
            <a:xfrm flipH="1">
              <a:off x="3192944" y="1830657"/>
              <a:ext cx="87447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Transfer</a:t>
              </a:r>
            </a:p>
          </p:txBody>
        </p:sp>
        <p:sp>
          <p:nvSpPr>
            <p:cNvPr id="16" name="TextBox 15">
              <a:extLst>
                <a:ext uri="{FF2B5EF4-FFF2-40B4-BE49-F238E27FC236}">
                  <a16:creationId xmlns:a16="http://schemas.microsoft.com/office/drawing/2014/main" id="{F600DD5D-518A-AD30-F85A-F79E4C88CE9D}"/>
                </a:ext>
              </a:extLst>
            </p:cNvPr>
            <p:cNvSpPr txBox="1"/>
            <p:nvPr/>
          </p:nvSpPr>
          <p:spPr>
            <a:xfrm flipH="1">
              <a:off x="7514398" y="3740934"/>
              <a:ext cx="120026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Distribution</a:t>
              </a:r>
            </a:p>
          </p:txBody>
        </p:sp>
        <p:sp>
          <p:nvSpPr>
            <p:cNvPr id="17" name="TextBox 16">
              <a:extLst>
                <a:ext uri="{FF2B5EF4-FFF2-40B4-BE49-F238E27FC236}">
                  <a16:creationId xmlns:a16="http://schemas.microsoft.com/office/drawing/2014/main" id="{396B98C7-C2FA-362A-F0F8-092D708B7140}"/>
                </a:ext>
              </a:extLst>
            </p:cNvPr>
            <p:cNvSpPr txBox="1"/>
            <p:nvPr/>
          </p:nvSpPr>
          <p:spPr>
            <a:xfrm flipH="1">
              <a:off x="7564160" y="1828967"/>
              <a:ext cx="121488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Request use</a:t>
              </a:r>
            </a:p>
          </p:txBody>
        </p:sp>
        <p:sp>
          <p:nvSpPr>
            <p:cNvPr id="18" name="Rectangle 17">
              <a:extLst>
                <a:ext uri="{FF2B5EF4-FFF2-40B4-BE49-F238E27FC236}">
                  <a16:creationId xmlns:a16="http://schemas.microsoft.com/office/drawing/2014/main" id="{2B562DD9-742A-CCB6-A405-8F209E2130CF}"/>
                </a:ext>
              </a:extLst>
            </p:cNvPr>
            <p:cNvSpPr/>
            <p:nvPr/>
          </p:nvSpPr>
          <p:spPr>
            <a:xfrm>
              <a:off x="4256540" y="318732"/>
              <a:ext cx="3107490" cy="554308"/>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SHIELD</a:t>
              </a:r>
            </a:p>
          </p:txBody>
        </p:sp>
        <p:sp>
          <p:nvSpPr>
            <p:cNvPr id="19" name="TextBox 18">
              <a:extLst>
                <a:ext uri="{FF2B5EF4-FFF2-40B4-BE49-F238E27FC236}">
                  <a16:creationId xmlns:a16="http://schemas.microsoft.com/office/drawing/2014/main" id="{EC581919-ABCD-1FE1-5DBF-00FAA5F4BF90}"/>
                </a:ext>
              </a:extLst>
            </p:cNvPr>
            <p:cNvSpPr txBox="1"/>
            <p:nvPr/>
          </p:nvSpPr>
          <p:spPr>
            <a:xfrm>
              <a:off x="4256540" y="952109"/>
              <a:ext cx="3107491" cy="1754326"/>
            </a:xfrm>
            <a:prstGeom prst="rect">
              <a:avLst/>
            </a:prstGeom>
            <a:solidFill>
              <a:schemeClr val="bg1">
                <a:lumMod val="95000"/>
              </a:schemeClr>
            </a:solid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Reliable infrastructure for high-quality storage and distribution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Streamlined access to key resources for investigators</a:t>
              </a:r>
            </a:p>
          </p:txBody>
        </p:sp>
      </p:grpSp>
      <p:sp>
        <p:nvSpPr>
          <p:cNvPr id="2" name="TextBox 1">
            <a:extLst>
              <a:ext uri="{FF2B5EF4-FFF2-40B4-BE49-F238E27FC236}">
                <a16:creationId xmlns:a16="http://schemas.microsoft.com/office/drawing/2014/main" id="{EAA07DF0-B134-3D60-1A4F-384FE9731467}"/>
              </a:ext>
            </a:extLst>
          </p:cNvPr>
          <p:cNvSpPr txBox="1"/>
          <p:nvPr/>
        </p:nvSpPr>
        <p:spPr>
          <a:xfrm>
            <a:off x="272143" y="5693229"/>
            <a:ext cx="11767124"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VA SHIELD (Central Biospecimen and Data Repository)</a:t>
            </a:r>
            <a:r>
              <a:rPr lang="en-US" dirty="0">
                <a:latin typeface="Calibri" panose="020F0502020204030204" pitchFamily="34" charset="0"/>
                <a:cs typeface="Calibri" panose="020F0502020204030204" pitchFamily="34" charset="0"/>
              </a:rPr>
              <a:t> – https://research.va.gov/programs/shield/about.cfm</a:t>
            </a:r>
          </a:p>
        </p:txBody>
      </p:sp>
    </p:spTree>
    <p:extLst>
      <p:ext uri="{BB962C8B-B14F-4D97-AF65-F5344CB8AC3E}">
        <p14:creationId xmlns:p14="http://schemas.microsoft.com/office/powerpoint/2010/main" val="111189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36AB1B4-8D8E-3FE3-9944-B88ED5771989}"/>
              </a:ext>
            </a:extLst>
          </p:cNvPr>
          <p:cNvSpPr/>
          <p:nvPr/>
        </p:nvSpPr>
        <p:spPr>
          <a:xfrm>
            <a:off x="150269" y="1651379"/>
            <a:ext cx="11184197" cy="1125940"/>
          </a:xfrm>
          <a:prstGeom prst="roundRect">
            <a:avLst/>
          </a:prstGeom>
          <a:solidFill>
            <a:schemeClr val="accent2">
              <a:lumMod val="40000"/>
              <a:lumOff val="60000"/>
            </a:schemeClr>
          </a:solidFill>
          <a:ln>
            <a:solidFill>
              <a:srgbClr val="EDE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FB7EFC1B-BF95-D7E3-0997-93AD4E7C8E75}"/>
              </a:ext>
            </a:extLst>
          </p:cNvPr>
          <p:cNvSpPr>
            <a:spLocks noGrp="1"/>
          </p:cNvSpPr>
          <p:nvPr>
            <p:ph type="title"/>
          </p:nvPr>
        </p:nvSpPr>
        <p:spPr/>
        <p:txBody>
          <a:bodyPr/>
          <a:lstStyle/>
          <a:p>
            <a:r>
              <a:rPr lang="en-US" sz="3200" b="1" dirty="0">
                <a:latin typeface="Calibri" panose="020F0502020204030204" pitchFamily="34" charset="0"/>
                <a:cs typeface="Calibri" panose="020F0502020204030204" pitchFamily="34" charset="0"/>
              </a:rPr>
              <a:t>Actively Managed Portfolio (AMP) Approach </a:t>
            </a:r>
            <a:r>
              <a:rPr lang="en-US" sz="3200" b="1" i="1" dirty="0">
                <a:latin typeface="Calibri" panose="020F0502020204030204" pitchFamily="34" charset="0"/>
                <a:cs typeface="Calibri" panose="020F0502020204030204" pitchFamily="34" charset="0"/>
              </a:rPr>
              <a:t>(1 of 2)</a:t>
            </a:r>
          </a:p>
        </p:txBody>
      </p:sp>
      <p:sp>
        <p:nvSpPr>
          <p:cNvPr id="5" name="Content Placeholder 1">
            <a:extLst>
              <a:ext uri="{FF2B5EF4-FFF2-40B4-BE49-F238E27FC236}">
                <a16:creationId xmlns:a16="http://schemas.microsoft.com/office/drawing/2014/main" id="{AEE8301D-396A-B33F-864C-4B7A25668CCC}"/>
              </a:ext>
            </a:extLst>
          </p:cNvPr>
          <p:cNvSpPr>
            <a:spLocks noGrp="1"/>
          </p:cNvSpPr>
          <p:nvPr>
            <p:ph idx="1"/>
          </p:nvPr>
        </p:nvSpPr>
        <p:spPr>
          <a:xfrm>
            <a:off x="382137" y="1721040"/>
            <a:ext cx="10740930" cy="4189695"/>
          </a:xfrm>
        </p:spPr>
        <p:txBody>
          <a:bodyPr vert="horz" lIns="91440" tIns="45720" rIns="91440" bIns="45720" rtlCol="0" anchor="t">
            <a:normAutofit/>
          </a:bodyPr>
          <a:lstStyle/>
          <a:p>
            <a:pPr marL="0" indent="0">
              <a:buNone/>
            </a:pPr>
            <a:r>
              <a:rPr lang="en-US" b="1" u="sng" dirty="0">
                <a:latin typeface="Calibri" panose="020F0502020204030204" pitchFamily="34" charset="0"/>
                <a:cs typeface="Calibri" panose="020F0502020204030204" pitchFamily="34" charset="0"/>
              </a:rPr>
              <a:t>MERP is an AMP.</a:t>
            </a:r>
            <a:r>
              <a:rPr lang="en-US" dirty="0">
                <a:latin typeface="Calibri" panose="020F0502020204030204" pitchFamily="34" charset="0"/>
                <a:cs typeface="Calibri" panose="020F0502020204030204" pitchFamily="34" charset="0"/>
              </a:rPr>
              <a:t> The AMP structure is needed to ensure that the world-class research performed by VA is responsive to the healthcare challenges facing Veterans and generates improved real-world outcomes for them and their families.</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ea typeface="Source Sans Pro"/>
              <a:cs typeface="Calibri" panose="020F0502020204030204" pitchFamily="34" charset="0"/>
            </a:endParaRPr>
          </a:p>
          <a:p>
            <a:pPr marL="0" indent="0">
              <a:buNone/>
            </a:pPr>
            <a:r>
              <a:rPr lang="en-US" dirty="0">
                <a:latin typeface="Calibri" panose="020F0502020204030204" pitchFamily="34" charset="0"/>
                <a:cs typeface="Calibri" panose="020F0502020204030204" pitchFamily="34" charset="0"/>
              </a:rPr>
              <a:t>To do this, the AMP initiative will:</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p>
        </p:txBody>
      </p:sp>
      <p:sp>
        <p:nvSpPr>
          <p:cNvPr id="7" name="Rectangle 6">
            <a:extLst>
              <a:ext uri="{FF2B5EF4-FFF2-40B4-BE49-F238E27FC236}">
                <a16:creationId xmlns:a16="http://schemas.microsoft.com/office/drawing/2014/main" id="{C0FB5174-F647-6985-A7DA-347DC451DE67}"/>
              </a:ext>
            </a:extLst>
          </p:cNvPr>
          <p:cNvSpPr/>
          <p:nvPr/>
        </p:nvSpPr>
        <p:spPr>
          <a:xfrm>
            <a:off x="-1" y="843054"/>
            <a:ext cx="7429131"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83AE34E3-BEC8-1467-8400-9F983F6611B8}"/>
              </a:ext>
            </a:extLst>
          </p:cNvPr>
          <p:cNvSpPr txBox="1"/>
          <p:nvPr/>
        </p:nvSpPr>
        <p:spPr>
          <a:xfrm>
            <a:off x="3663" y="889390"/>
            <a:ext cx="7429131"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2500" b="1" dirty="0">
                <a:solidFill>
                  <a:schemeClr val="bg1"/>
                </a:solidFill>
                <a:latin typeface="Calibri" panose="020F0502020204030204" pitchFamily="34" charset="0"/>
                <a:cs typeface="Calibri" panose="020F0502020204030204" pitchFamily="34" charset="0"/>
              </a:rPr>
              <a:t>What is an Actively Managed Portfolio Approach?</a:t>
            </a:r>
            <a:endParaRPr kumimoji="0" lang="en-US" sz="25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E982BE62-3E86-FF4C-78C8-D06254346DF5}"/>
              </a:ext>
            </a:extLst>
          </p:cNvPr>
          <p:cNvSpPr/>
          <p:nvPr/>
        </p:nvSpPr>
        <p:spPr>
          <a:xfrm>
            <a:off x="450376" y="3596185"/>
            <a:ext cx="3722515" cy="2238233"/>
          </a:xfrm>
          <a:prstGeom prst="roundRect">
            <a:avLst/>
          </a:prstGeom>
          <a:solidFill>
            <a:schemeClr val="accent5">
              <a:lumMod val="20000"/>
              <a:lumOff val="80000"/>
            </a:schemeClr>
          </a:solidFill>
          <a:ln>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Coordinate research activities within disease/condition areas to enable end-to-end research execution, translation into clinical practice, and to inform decision making.</a:t>
            </a:r>
            <a:endParaRPr lang="en-US" b="1" dirty="0">
              <a:solidFill>
                <a:schemeClr val="tx1"/>
              </a:solidFill>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9D212079-2BB3-B3ED-5A1C-EF8805AB9E1C}"/>
              </a:ext>
            </a:extLst>
          </p:cNvPr>
          <p:cNvSpPr/>
          <p:nvPr/>
        </p:nvSpPr>
        <p:spPr>
          <a:xfrm>
            <a:off x="4394524" y="3596184"/>
            <a:ext cx="3402952" cy="2238233"/>
          </a:xfrm>
          <a:prstGeom prst="roundRect">
            <a:avLst/>
          </a:prstGeom>
          <a:solidFill>
            <a:schemeClr val="accent5">
              <a:lumMod val="20000"/>
              <a:lumOff val="80000"/>
            </a:schemeClr>
          </a:solidFill>
          <a:ln>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nchorCtr="0"/>
          <a:lstStyle/>
          <a:p>
            <a:r>
              <a:rPr lang="en-US" sz="1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Provide mechanisms to rapidly respond to emerging research needs.</a:t>
            </a:r>
            <a:endParaRPr lang="en-US" b="1" dirty="0">
              <a:solidFill>
                <a:schemeClr val="tx1"/>
              </a:solidFill>
              <a:latin typeface="Calibri" panose="020F0502020204030204" pitchFamily="34" charset="0"/>
              <a:cs typeface="Calibri" panose="020F0502020204030204" pitchFamily="34" charset="0"/>
            </a:endParaRPr>
          </a:p>
        </p:txBody>
      </p:sp>
      <p:sp>
        <p:nvSpPr>
          <p:cNvPr id="11" name="Rectangle: Rounded Corners 10">
            <a:extLst>
              <a:ext uri="{FF2B5EF4-FFF2-40B4-BE49-F238E27FC236}">
                <a16:creationId xmlns:a16="http://schemas.microsoft.com/office/drawing/2014/main" id="{333407A0-2096-92E4-E3AE-7369C6F10986}"/>
              </a:ext>
            </a:extLst>
          </p:cNvPr>
          <p:cNvSpPr/>
          <p:nvPr/>
        </p:nvSpPr>
        <p:spPr>
          <a:xfrm>
            <a:off x="8019110" y="3596184"/>
            <a:ext cx="3315356" cy="2238233"/>
          </a:xfrm>
          <a:prstGeom prst="roundRect">
            <a:avLst/>
          </a:prstGeom>
          <a:solidFill>
            <a:schemeClr val="accent5">
              <a:lumMod val="20000"/>
              <a:lumOff val="80000"/>
            </a:schemeClr>
          </a:solidFill>
          <a:ln>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sz="1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Promote use of common data elements to enhance interoperability and interchange of data between stakeholders within a research area.</a:t>
            </a:r>
            <a:endParaRPr lang="en-US" sz="1800" b="1" dirty="0">
              <a:solidFill>
                <a:schemeClr val="tx1"/>
              </a:solidFill>
              <a:latin typeface="Calibri" panose="020F0502020204030204" pitchFamily="34" charset="0"/>
              <a:ea typeface="ＭＳ Ｐゴシック" pitchFamily="34" charset="-128"/>
              <a:cs typeface="Calibri" panose="020F0502020204030204" pitchFamily="34" charset="0"/>
            </a:endParaRPr>
          </a:p>
        </p:txBody>
      </p:sp>
    </p:spTree>
    <p:extLst>
      <p:ext uri="{BB962C8B-B14F-4D97-AF65-F5344CB8AC3E}">
        <p14:creationId xmlns:p14="http://schemas.microsoft.com/office/powerpoint/2010/main" val="2906083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C15FA-CD39-95CA-488C-8272EC038E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E448C0-6273-7E08-E17D-D4AED1CDAFB7}"/>
              </a:ext>
            </a:extLst>
          </p:cNvPr>
          <p:cNvSpPr>
            <a:spLocks noGrp="1"/>
          </p:cNvSpPr>
          <p:nvPr>
            <p:ph type="title"/>
          </p:nvPr>
        </p:nvSpPr>
        <p:spPr/>
        <p:txBody>
          <a:bodyPr/>
          <a:lstStyle/>
          <a:p>
            <a:r>
              <a:rPr lang="en-US" sz="3200" b="1" dirty="0">
                <a:latin typeface="Calibri" panose="020F0502020204030204" pitchFamily="34" charset="0"/>
                <a:cs typeface="Calibri" panose="020F0502020204030204" pitchFamily="34" charset="0"/>
              </a:rPr>
              <a:t>Actively Managed Portfolio Approach </a:t>
            </a:r>
            <a:r>
              <a:rPr lang="en-US" sz="3200" b="1" i="1" dirty="0">
                <a:latin typeface="Calibri" panose="020F0502020204030204" pitchFamily="34" charset="0"/>
                <a:cs typeface="Calibri" panose="020F0502020204030204" pitchFamily="34" charset="0"/>
              </a:rPr>
              <a:t>(2 of 2)</a:t>
            </a:r>
          </a:p>
        </p:txBody>
      </p:sp>
      <p:sp>
        <p:nvSpPr>
          <p:cNvPr id="7" name="Rectangle 6">
            <a:extLst>
              <a:ext uri="{FF2B5EF4-FFF2-40B4-BE49-F238E27FC236}">
                <a16:creationId xmlns:a16="http://schemas.microsoft.com/office/drawing/2014/main" id="{3AAA36BD-2FFA-2A4F-6229-AE8194D82B22}"/>
              </a:ext>
            </a:extLst>
          </p:cNvPr>
          <p:cNvSpPr/>
          <p:nvPr/>
        </p:nvSpPr>
        <p:spPr>
          <a:xfrm>
            <a:off x="-1" y="843054"/>
            <a:ext cx="7854450"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CBD488B1-C5CB-25FB-C3F3-2D26ED057F01}"/>
              </a:ext>
            </a:extLst>
          </p:cNvPr>
          <p:cNvSpPr txBox="1"/>
          <p:nvPr/>
        </p:nvSpPr>
        <p:spPr>
          <a:xfrm>
            <a:off x="150269" y="889389"/>
            <a:ext cx="7645683"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2500" b="1" dirty="0">
                <a:solidFill>
                  <a:schemeClr val="bg1"/>
                </a:solidFill>
                <a:latin typeface="Calibri" panose="020F0502020204030204" pitchFamily="34" charset="0"/>
                <a:cs typeface="Calibri" panose="020F0502020204030204" pitchFamily="34" charset="0"/>
              </a:rPr>
              <a:t>What is Unique about an Actively Managed Portfolio?</a:t>
            </a:r>
            <a:endParaRPr kumimoji="0" lang="en-US" sz="25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endParaRPr>
          </a:p>
        </p:txBody>
      </p:sp>
      <p:graphicFrame>
        <p:nvGraphicFramePr>
          <p:cNvPr id="6" name="Diagram 5">
            <a:extLst>
              <a:ext uri="{FF2B5EF4-FFF2-40B4-BE49-F238E27FC236}">
                <a16:creationId xmlns:a16="http://schemas.microsoft.com/office/drawing/2014/main" id="{BAE2AF32-C024-6B05-B089-8EF2E3C2CC62}"/>
              </a:ext>
            </a:extLst>
          </p:cNvPr>
          <p:cNvGraphicFramePr/>
          <p:nvPr>
            <p:extLst>
              <p:ext uri="{D42A27DB-BD31-4B8C-83A1-F6EECF244321}">
                <p14:modId xmlns:p14="http://schemas.microsoft.com/office/powerpoint/2010/main" val="2809586225"/>
              </p:ext>
            </p:extLst>
          </p:nvPr>
        </p:nvGraphicFramePr>
        <p:xfrm>
          <a:off x="401981" y="1570036"/>
          <a:ext cx="11259932" cy="42741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2552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7EFC1B-BF95-D7E3-0997-93AD4E7C8E75}"/>
              </a:ext>
            </a:extLst>
          </p:cNvPr>
          <p:cNvSpPr>
            <a:spLocks noGrp="1"/>
          </p:cNvSpPr>
          <p:nvPr>
            <p:ph type="title"/>
          </p:nvPr>
        </p:nvSpPr>
        <p:spPr>
          <a:xfrm>
            <a:off x="-1" y="0"/>
            <a:ext cx="12192000" cy="685800"/>
          </a:xfrm>
        </p:spPr>
        <p:txBody>
          <a:bodyPr/>
          <a:lstStyle/>
          <a:p>
            <a:r>
              <a:rPr lang="en-US" sz="3200" b="1" dirty="0">
                <a:latin typeface="Calibri" panose="020F0502020204030204" pitchFamily="34" charset="0"/>
                <a:cs typeface="Calibri" panose="020F0502020204030204" pitchFamily="34" charset="0"/>
              </a:rPr>
              <a:t>Military Exposures Research Program</a:t>
            </a:r>
          </a:p>
        </p:txBody>
      </p:sp>
      <p:sp>
        <p:nvSpPr>
          <p:cNvPr id="7" name="Rectangle 6">
            <a:extLst>
              <a:ext uri="{FF2B5EF4-FFF2-40B4-BE49-F238E27FC236}">
                <a16:creationId xmlns:a16="http://schemas.microsoft.com/office/drawing/2014/main" id="{C0FB5174-F647-6985-A7DA-347DC451DE67}"/>
              </a:ext>
            </a:extLst>
          </p:cNvPr>
          <p:cNvSpPr/>
          <p:nvPr/>
        </p:nvSpPr>
        <p:spPr>
          <a:xfrm>
            <a:off x="4262" y="827959"/>
            <a:ext cx="3611394" cy="580310"/>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83AE34E3-BEC8-1467-8400-9F983F6611B8}"/>
              </a:ext>
            </a:extLst>
          </p:cNvPr>
          <p:cNvSpPr txBox="1"/>
          <p:nvPr/>
        </p:nvSpPr>
        <p:spPr>
          <a:xfrm>
            <a:off x="165114" y="874294"/>
            <a:ext cx="3611394" cy="477054"/>
          </a:xfrm>
          <a:prstGeom prst="rect">
            <a:avLst/>
          </a:prstGeom>
          <a:noFill/>
        </p:spPr>
        <p:txBody>
          <a:bodyPr wrap="square" lIns="91440" tIns="45720" rIns="91440" bIns="45720" anchor="t">
            <a:spAutoFit/>
          </a:bodyPr>
          <a:lstStyle/>
          <a:p>
            <a:pPr>
              <a:spcBef>
                <a:spcPts val="600"/>
              </a:spcBef>
              <a:defRPr/>
            </a:pPr>
            <a:r>
              <a:rPr lang="en-US" sz="2500" b="1" dirty="0">
                <a:solidFill>
                  <a:schemeClr val="bg1"/>
                </a:solidFill>
                <a:latin typeface="Calibri" panose="020F0502020204030204" pitchFamily="34" charset="0"/>
                <a:cs typeface="Calibri" panose="020F0502020204030204" pitchFamily="34" charset="0"/>
              </a:rPr>
              <a:t>How does MERP work?</a:t>
            </a:r>
            <a:endParaRPr lang="en-US" sz="2500" b="1" dirty="0">
              <a:solidFill>
                <a:schemeClr val="bg1"/>
              </a:solidFill>
              <a:latin typeface="Calibri" panose="020F0502020204030204" pitchFamily="34" charset="0"/>
              <a:ea typeface="Source Sans Pro"/>
              <a:cs typeface="Calibri" panose="020F0502020204030204" pitchFamily="34" charset="0"/>
            </a:endParaRPr>
          </a:p>
        </p:txBody>
      </p:sp>
      <p:sp>
        <p:nvSpPr>
          <p:cNvPr id="2" name="Isosceles Triangle 1">
            <a:extLst>
              <a:ext uri="{FF2B5EF4-FFF2-40B4-BE49-F238E27FC236}">
                <a16:creationId xmlns:a16="http://schemas.microsoft.com/office/drawing/2014/main" id="{96DA9DF3-8DC8-34E5-ED4D-454249CA4C0C}"/>
              </a:ext>
            </a:extLst>
          </p:cNvPr>
          <p:cNvSpPr/>
          <p:nvPr/>
        </p:nvSpPr>
        <p:spPr>
          <a:xfrm>
            <a:off x="636933" y="1471302"/>
            <a:ext cx="10918132" cy="877309"/>
          </a:xfrm>
          <a:prstGeom prst="triangle">
            <a:avLst/>
          </a:prstGeom>
          <a:solidFill>
            <a:schemeClr val="tx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latin typeface="Calibri" panose="020F0502020204030204" pitchFamily="34" charset="0"/>
                <a:cs typeface="Calibri" panose="020F0502020204030204" pitchFamily="34" charset="0"/>
              </a:rPr>
              <a:t>3 Pillars of MERP</a:t>
            </a:r>
          </a:p>
        </p:txBody>
      </p:sp>
      <p:sp>
        <p:nvSpPr>
          <p:cNvPr id="6" name="Rectangle 5">
            <a:extLst>
              <a:ext uri="{FF2B5EF4-FFF2-40B4-BE49-F238E27FC236}">
                <a16:creationId xmlns:a16="http://schemas.microsoft.com/office/drawing/2014/main" id="{5B7B13EE-8AA2-D72E-5A5E-F035EBD8AD9F}"/>
              </a:ext>
            </a:extLst>
          </p:cNvPr>
          <p:cNvSpPr/>
          <p:nvPr/>
        </p:nvSpPr>
        <p:spPr>
          <a:xfrm>
            <a:off x="1100355" y="5637054"/>
            <a:ext cx="9991288" cy="17616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6FC11EE-AFC4-175A-E59F-9C59549D52B6}"/>
              </a:ext>
            </a:extLst>
          </p:cNvPr>
          <p:cNvSpPr/>
          <p:nvPr/>
        </p:nvSpPr>
        <p:spPr>
          <a:xfrm>
            <a:off x="636933" y="5853175"/>
            <a:ext cx="10918132" cy="176169"/>
          </a:xfrm>
          <a:prstGeom prst="rect">
            <a:avLst/>
          </a:prstGeom>
          <a:solidFill>
            <a:schemeClr val="tx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A2FC022-473F-4D8C-5FCE-7753A5C014E7}"/>
              </a:ext>
            </a:extLst>
          </p:cNvPr>
          <p:cNvSpPr/>
          <p:nvPr/>
        </p:nvSpPr>
        <p:spPr>
          <a:xfrm>
            <a:off x="1553361" y="5494789"/>
            <a:ext cx="2708247" cy="8629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DF297EF-A97F-9E52-D750-B006A5708AF4}"/>
              </a:ext>
            </a:extLst>
          </p:cNvPr>
          <p:cNvSpPr/>
          <p:nvPr/>
        </p:nvSpPr>
        <p:spPr>
          <a:xfrm>
            <a:off x="1100355" y="2383584"/>
            <a:ext cx="9991288" cy="17616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9FD4297-5CE8-AB6B-0AD0-5C8BA4AC0E7A}"/>
              </a:ext>
            </a:extLst>
          </p:cNvPr>
          <p:cNvSpPr/>
          <p:nvPr/>
        </p:nvSpPr>
        <p:spPr>
          <a:xfrm>
            <a:off x="7955561" y="5504144"/>
            <a:ext cx="2708247" cy="8629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0ACB320-AB91-B787-70DC-006B72F14554}"/>
              </a:ext>
            </a:extLst>
          </p:cNvPr>
          <p:cNvSpPr/>
          <p:nvPr/>
        </p:nvSpPr>
        <p:spPr>
          <a:xfrm>
            <a:off x="4741877" y="5499500"/>
            <a:ext cx="2708247" cy="86294"/>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E3B5AAB-7A7E-E2E8-A436-14E6FF9B17EF}"/>
              </a:ext>
            </a:extLst>
          </p:cNvPr>
          <p:cNvSpPr/>
          <p:nvPr/>
        </p:nvSpPr>
        <p:spPr>
          <a:xfrm>
            <a:off x="1553361" y="2603914"/>
            <a:ext cx="2708247" cy="505031"/>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Research</a:t>
            </a:r>
          </a:p>
        </p:txBody>
      </p:sp>
      <p:sp>
        <p:nvSpPr>
          <p:cNvPr id="18" name="Rectangle 17">
            <a:extLst>
              <a:ext uri="{FF2B5EF4-FFF2-40B4-BE49-F238E27FC236}">
                <a16:creationId xmlns:a16="http://schemas.microsoft.com/office/drawing/2014/main" id="{A3404F9D-9DB7-6FE1-68DC-2D5C8EFBD606}"/>
              </a:ext>
            </a:extLst>
          </p:cNvPr>
          <p:cNvSpPr/>
          <p:nvPr/>
        </p:nvSpPr>
        <p:spPr>
          <a:xfrm>
            <a:off x="7955557" y="2590332"/>
            <a:ext cx="2708247" cy="514385"/>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dirty="0">
                <a:latin typeface="Calibri" panose="020F0502020204030204" pitchFamily="34" charset="0"/>
                <a:cs typeface="Calibri" panose="020F0502020204030204" pitchFamily="34" charset="0"/>
              </a:rPr>
              <a:t>Expanding Capacity through Partnerships</a:t>
            </a:r>
            <a:endParaRPr lang="en-US" sz="1800" b="1" dirty="0">
              <a:solidFill>
                <a:srgbClr val="FF0000"/>
              </a:solidFill>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2B47726-C382-8FB3-5826-9EDC52A44DB8}"/>
              </a:ext>
            </a:extLst>
          </p:cNvPr>
          <p:cNvSpPr/>
          <p:nvPr/>
        </p:nvSpPr>
        <p:spPr>
          <a:xfrm>
            <a:off x="4741875" y="2599687"/>
            <a:ext cx="2708247" cy="505031"/>
          </a:xfrm>
          <a:prstGeom prst="rect">
            <a:avLst/>
          </a:prstGeom>
          <a:solidFill>
            <a:schemeClr val="accent6">
              <a:lumMod val="5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dirty="0">
                <a:latin typeface="Calibri" panose="020F0502020204030204" pitchFamily="34" charset="0"/>
                <a:cs typeface="Calibri" panose="020F0502020204030204" pitchFamily="34" charset="0"/>
              </a:rPr>
              <a:t>Communications / Education</a:t>
            </a:r>
          </a:p>
        </p:txBody>
      </p:sp>
      <p:sp>
        <p:nvSpPr>
          <p:cNvPr id="20" name="Rectangle 19">
            <a:extLst>
              <a:ext uri="{FF2B5EF4-FFF2-40B4-BE49-F238E27FC236}">
                <a16:creationId xmlns:a16="http://schemas.microsoft.com/office/drawing/2014/main" id="{4A90A2C0-1331-68EE-38E6-A7E83926EF53}"/>
              </a:ext>
            </a:extLst>
          </p:cNvPr>
          <p:cNvSpPr/>
          <p:nvPr/>
        </p:nvSpPr>
        <p:spPr>
          <a:xfrm>
            <a:off x="1553360" y="3160205"/>
            <a:ext cx="2708247" cy="2294632"/>
          </a:xfrm>
          <a:prstGeom prst="rect">
            <a:avLst/>
          </a:prstGeom>
          <a:solidFill>
            <a:schemeClr val="accent5">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lIns="91440" rtlCol="0" anchor="ctr"/>
          <a:lstStyle/>
          <a:p>
            <a:pPr marL="91440" lvl="1" indent="-91440">
              <a:spcBef>
                <a:spcPts val="0"/>
              </a:spcBef>
              <a:buFont typeface="Arial" panose="020B0604020202020204" pitchFamily="34" charset="0"/>
              <a:buChar char="•"/>
            </a:pPr>
            <a:endParaRPr lang="en-US" sz="1500" dirty="0">
              <a:solidFill>
                <a:schemeClr val="tx1"/>
              </a:solidFill>
              <a:latin typeface="Calibri" panose="020F0502020204030204" pitchFamily="34" charset="0"/>
              <a:cs typeface="Calibri" panose="020F0502020204030204" pitchFamily="34" charset="0"/>
            </a:endParaRPr>
          </a:p>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Post-Service Military Exposure Assessments</a:t>
            </a:r>
          </a:p>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Chronic Health Outcomes from Military Exposure</a:t>
            </a:r>
          </a:p>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Interplay of Military Exposures, disparities and co-morbidities</a:t>
            </a:r>
          </a:p>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Leverage the three supporting Cores for seamless research</a:t>
            </a:r>
          </a:p>
          <a:p>
            <a:pPr algn="ctr"/>
            <a:endParaRPr lang="en-US" sz="1500" dirty="0"/>
          </a:p>
        </p:txBody>
      </p:sp>
      <p:sp>
        <p:nvSpPr>
          <p:cNvPr id="21" name="Rectangle 20">
            <a:extLst>
              <a:ext uri="{FF2B5EF4-FFF2-40B4-BE49-F238E27FC236}">
                <a16:creationId xmlns:a16="http://schemas.microsoft.com/office/drawing/2014/main" id="{054271B5-955B-8FD9-B580-1446AA857E9E}"/>
              </a:ext>
            </a:extLst>
          </p:cNvPr>
          <p:cNvSpPr/>
          <p:nvPr/>
        </p:nvSpPr>
        <p:spPr>
          <a:xfrm>
            <a:off x="4741875" y="3144653"/>
            <a:ext cx="2708247" cy="2310184"/>
          </a:xfrm>
          <a:prstGeom prst="rect">
            <a:avLst/>
          </a:prstGeom>
          <a:solidFill>
            <a:schemeClr val="accent5">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Communication, external-facing (website) to establish transparency, community of practice</a:t>
            </a:r>
          </a:p>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Provide tools and resources to Military Exposure Stakeholders</a:t>
            </a:r>
          </a:p>
          <a:p>
            <a:pPr marL="91440" lvl="1" indent="-91440">
              <a:spcBef>
                <a:spcPts val="0"/>
              </a:spcBef>
              <a:spcAft>
                <a:spcPts val="400"/>
              </a:spcAft>
              <a:buFont typeface="Arial" panose="020B0604020202020204" pitchFamily="34" charset="0"/>
              <a:buChar char="•"/>
            </a:pPr>
            <a:endParaRPr lang="en-US" sz="1500" dirty="0">
              <a:solidFill>
                <a:schemeClr val="tx1"/>
              </a:solidFill>
              <a:latin typeface="+mn-lt"/>
            </a:endParaRPr>
          </a:p>
          <a:p>
            <a:pPr marL="285750" lvl="1" indent="-285750">
              <a:spcBef>
                <a:spcPts val="0"/>
              </a:spcBef>
              <a:spcAft>
                <a:spcPts val="800"/>
              </a:spcAft>
              <a:buFont typeface="Arial" panose="020B0604020202020204" pitchFamily="34" charset="0"/>
              <a:buChar char="•"/>
            </a:pPr>
            <a:endParaRPr lang="en-US" sz="1400" dirty="0">
              <a:solidFill>
                <a:schemeClr val="tx1"/>
              </a:solidFill>
              <a:latin typeface="+mn-lt"/>
            </a:endParaRPr>
          </a:p>
        </p:txBody>
      </p:sp>
      <p:sp>
        <p:nvSpPr>
          <p:cNvPr id="22" name="Rectangle 21">
            <a:extLst>
              <a:ext uri="{FF2B5EF4-FFF2-40B4-BE49-F238E27FC236}">
                <a16:creationId xmlns:a16="http://schemas.microsoft.com/office/drawing/2014/main" id="{17A395BA-0F7A-1F76-3FF4-FEAAA3C6BD60}"/>
              </a:ext>
            </a:extLst>
          </p:cNvPr>
          <p:cNvSpPr/>
          <p:nvPr/>
        </p:nvSpPr>
        <p:spPr>
          <a:xfrm>
            <a:off x="7955556" y="3144653"/>
            <a:ext cx="2708247" cy="2310184"/>
          </a:xfrm>
          <a:prstGeom prst="rect">
            <a:avLst/>
          </a:prstGeom>
          <a:solidFill>
            <a:schemeClr val="accent5">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Subject Matter Expertise</a:t>
            </a:r>
          </a:p>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Technology</a:t>
            </a:r>
          </a:p>
          <a:p>
            <a:pPr marL="91440" lvl="1" indent="-91440">
              <a:spcBef>
                <a:spcPts val="0"/>
              </a:spcBef>
              <a:spcAft>
                <a:spcPts val="400"/>
              </a:spcAft>
              <a:buFont typeface="Arial" panose="020B0604020202020204" pitchFamily="34" charset="0"/>
              <a:buChar char="•"/>
            </a:pPr>
            <a:r>
              <a:rPr lang="en-US" sz="1500" dirty="0">
                <a:solidFill>
                  <a:schemeClr val="tx1"/>
                </a:solidFill>
                <a:latin typeface="Calibri" panose="020F0502020204030204" pitchFamily="34" charset="0"/>
                <a:cs typeface="Calibri" panose="020F0502020204030204" pitchFamily="34" charset="0"/>
              </a:rPr>
              <a:t>Data and Biospecimens</a:t>
            </a:r>
          </a:p>
          <a:p>
            <a:pPr marL="0" lvl="1">
              <a:spcBef>
                <a:spcPts val="0"/>
              </a:spcBef>
              <a:spcAft>
                <a:spcPts val="400"/>
              </a:spcAft>
            </a:pPr>
            <a:r>
              <a:rPr lang="en-US" sz="1050" dirty="0">
                <a:solidFill>
                  <a:schemeClr val="tx1"/>
                </a:solidFill>
                <a:latin typeface="+mn-lt"/>
              </a:rPr>
              <a:t> </a:t>
            </a:r>
          </a:p>
          <a:p>
            <a:pPr marL="0" lvl="1">
              <a:spcBef>
                <a:spcPts val="0"/>
              </a:spcBef>
              <a:spcAft>
                <a:spcPts val="400"/>
              </a:spcAft>
            </a:pPr>
            <a:r>
              <a:rPr lang="en-US" sz="1050" dirty="0">
                <a:solidFill>
                  <a:schemeClr val="tx1"/>
                </a:solidFill>
              </a:rPr>
              <a:t> </a:t>
            </a:r>
            <a:endParaRPr lang="en-US" sz="1500" dirty="0">
              <a:solidFill>
                <a:schemeClr val="tx1"/>
              </a:solidFill>
              <a:latin typeface="+mn-lt"/>
            </a:endParaRPr>
          </a:p>
          <a:p>
            <a:pPr marL="0" lvl="1">
              <a:spcBef>
                <a:spcPts val="0"/>
              </a:spcBef>
              <a:spcAft>
                <a:spcPts val="800"/>
              </a:spcAft>
            </a:pPr>
            <a:endParaRPr lang="en-US" sz="1500" dirty="0">
              <a:solidFill>
                <a:schemeClr val="tx1"/>
              </a:solidFill>
            </a:endParaRPr>
          </a:p>
          <a:p>
            <a:pPr marL="91440" lvl="1" indent="-91440">
              <a:spcBef>
                <a:spcPts val="0"/>
              </a:spcBef>
              <a:spcAft>
                <a:spcPts val="800"/>
              </a:spcAft>
              <a:buFont typeface="Arial" panose="020B0604020202020204" pitchFamily="34" charset="0"/>
              <a:buChar char="•"/>
            </a:pPr>
            <a:endParaRPr lang="en-US" sz="1500" dirty="0">
              <a:solidFill>
                <a:schemeClr val="tx1"/>
              </a:solidFill>
            </a:endParaRPr>
          </a:p>
          <a:p>
            <a:pPr marL="91440" lvl="1" indent="-91440">
              <a:spcBef>
                <a:spcPts val="0"/>
              </a:spcBef>
              <a:spcAft>
                <a:spcPts val="800"/>
              </a:spcAft>
              <a:buFont typeface="Arial" panose="020B0604020202020204" pitchFamily="34" charset="0"/>
              <a:buChar char="•"/>
            </a:pPr>
            <a:endParaRPr lang="en-US" sz="1500" dirty="0">
              <a:solidFill>
                <a:schemeClr val="tx1"/>
              </a:solidFill>
            </a:endParaRPr>
          </a:p>
        </p:txBody>
      </p:sp>
    </p:spTree>
    <p:extLst>
      <p:ext uri="{BB962C8B-B14F-4D97-AF65-F5344CB8AC3E}">
        <p14:creationId xmlns:p14="http://schemas.microsoft.com/office/powerpoint/2010/main" val="862487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97AF8-905E-0E34-47DF-6B38875A8421}"/>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6FD15FA8-7D98-4182-38E1-8FFFC2100C47}"/>
              </a:ext>
            </a:extLst>
          </p:cNvPr>
          <p:cNvSpPr txBox="1"/>
          <p:nvPr/>
        </p:nvSpPr>
        <p:spPr>
          <a:xfrm>
            <a:off x="2833546" y="57644"/>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solidFill>
                  <a:schemeClr val="bg1"/>
                </a:solidFill>
                <a:latin typeface="Calibri" panose="020F0502020204030204" pitchFamily="34" charset="0"/>
                <a:cs typeface="Calibri" panose="020F0502020204030204" pitchFamily="34" charset="0"/>
              </a:rPr>
              <a:t>MERP Infrastructure (FY24)</a:t>
            </a:r>
            <a:endParaRPr kumimoji="0" lang="en-US" sz="3200" b="1" u="none" strike="noStrike" kern="120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endParaRPr>
          </a:p>
        </p:txBody>
      </p:sp>
      <p:graphicFrame>
        <p:nvGraphicFramePr>
          <p:cNvPr id="8" name="Diagram 7">
            <a:extLst>
              <a:ext uri="{FF2B5EF4-FFF2-40B4-BE49-F238E27FC236}">
                <a16:creationId xmlns:a16="http://schemas.microsoft.com/office/drawing/2014/main" id="{BE6D4CE5-886B-A6F1-B0EA-81462E61C4E7}"/>
              </a:ext>
            </a:extLst>
          </p:cNvPr>
          <p:cNvGraphicFramePr/>
          <p:nvPr>
            <p:extLst>
              <p:ext uri="{D42A27DB-BD31-4B8C-83A1-F6EECF244321}">
                <p14:modId xmlns:p14="http://schemas.microsoft.com/office/powerpoint/2010/main" val="2123377426"/>
              </p:ext>
            </p:extLst>
          </p:nvPr>
        </p:nvGraphicFramePr>
        <p:xfrm>
          <a:off x="377371" y="816429"/>
          <a:ext cx="11629572" cy="52686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9410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137CBC23-3AFB-38A4-E948-AA8627B957B4}"/>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a:t>
            </a:r>
            <a:r>
              <a:rPr lang="en-US" sz="3200" b="1" dirty="0">
                <a:solidFill>
                  <a:prstClr val="white"/>
                </a:solidFill>
                <a:latin typeface="Calibri" panose="020F0502020204030204" pitchFamily="34" charset="0"/>
                <a:cs typeface="Calibri" panose="020F0502020204030204" pitchFamily="34" charset="0"/>
              </a:rPr>
              <a:t>Expert </a:t>
            </a:r>
            <a:r>
              <a:rPr kumimoji="0" lang="en-US" sz="3200" b="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Resources</a:t>
            </a:r>
          </a:p>
        </p:txBody>
      </p:sp>
      <p:sp>
        <p:nvSpPr>
          <p:cNvPr id="4" name="Rectangle 3">
            <a:extLst>
              <a:ext uri="{FF2B5EF4-FFF2-40B4-BE49-F238E27FC236}">
                <a16:creationId xmlns:a16="http://schemas.microsoft.com/office/drawing/2014/main" id="{952EFADC-B7E1-6660-5DFF-6B54B5DED3A2}"/>
              </a:ext>
            </a:extLst>
          </p:cNvPr>
          <p:cNvSpPr/>
          <p:nvPr/>
        </p:nvSpPr>
        <p:spPr>
          <a:xfrm>
            <a:off x="2903275" y="1158883"/>
            <a:ext cx="6414447" cy="4596472"/>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554155A2-DC54-9B44-20EB-226763AB10B8}"/>
              </a:ext>
            </a:extLst>
          </p:cNvPr>
          <p:cNvSpPr/>
          <p:nvPr/>
        </p:nvSpPr>
        <p:spPr>
          <a:xfrm>
            <a:off x="4459443" y="907261"/>
            <a:ext cx="3302113" cy="584775"/>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18FBA53A-1A3C-627F-936D-D5AA29D81320}"/>
              </a:ext>
            </a:extLst>
          </p:cNvPr>
          <p:cNvSpPr txBox="1"/>
          <p:nvPr/>
        </p:nvSpPr>
        <p:spPr>
          <a:xfrm>
            <a:off x="5245087" y="1841086"/>
            <a:ext cx="3605486" cy="3416320"/>
          </a:xfrm>
          <a:prstGeom prst="rect">
            <a:avLst/>
          </a:prstGeom>
          <a:noFill/>
        </p:spPr>
        <p:txBody>
          <a:bodyPr wrap="square" lIns="91440" tIns="45720" rIns="91440" bIns="45720" rtlCol="0" anchor="t">
            <a:spAutoFit/>
          </a:bodyPr>
          <a:lstStyle/>
          <a:p>
            <a:pPr>
              <a:defRPr/>
            </a:pPr>
            <a:r>
              <a:rPr kumimoji="0" lang="en-US"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Administrative Core</a:t>
            </a:r>
            <a:br>
              <a:rPr lang="en-US" sz="2000" dirty="0">
                <a:latin typeface="Calibri" panose="020F0502020204030204" pitchFamily="34" charset="0"/>
                <a:ea typeface="Calibri" panose="020F0502020204030204" pitchFamily="34" charset="0"/>
                <a:cs typeface="Calibri" panose="020F0502020204030204" pitchFamily="34" charset="0"/>
              </a:rPr>
            </a:br>
            <a:r>
              <a:rPr kumimoji="0" lang="en-US"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(Admin Core)</a:t>
            </a: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dirty="0">
              <a:latin typeface="Source Sans Pro"/>
              <a:ea typeface="Calibri" panose="020F0502020204030204" pitchFamily="34" charset="0"/>
              <a:cs typeface="Arial" panose="020B06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dirty="0">
              <a:latin typeface="Source Sans Pro"/>
              <a:ea typeface="Calibri" panose="020F0502020204030204" pitchFamily="34" charset="0"/>
              <a:cs typeface="Arial" panose="020B06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dirty="0">
              <a:latin typeface="Source Sans Pro"/>
              <a:ea typeface="Calibri" panose="020F0502020204030204" pitchFamily="34" charset="0"/>
              <a:cs typeface="Arial" panose="020B06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Data and Biorepository Commons Core (DBC Core)</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effectLst/>
              <a:uLnTx/>
              <a:uFillTx/>
              <a:latin typeface="Source Sans Pro"/>
              <a:ea typeface="Calibri" panose="020F0502020204030204" pitchFamily="34" charset="0"/>
              <a:cs typeface="Arial" panose="020B06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dirty="0">
              <a:latin typeface="Source Sans Pro"/>
              <a:ea typeface="Calibri" panose="020F0502020204030204" pitchFamily="34" charset="0"/>
              <a:cs typeface="Arial" panose="020B06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dirty="0">
              <a:latin typeface="Source Sans Pro"/>
              <a:ea typeface="Calibri" panose="020F0502020204030204" pitchFamily="34" charset="0"/>
              <a:cs typeface="Arial" panose="020B0604020202020204" pitchFamily="34" charset="0"/>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Exposures Assessment Core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(EA Core)</a:t>
            </a:r>
          </a:p>
        </p:txBody>
      </p:sp>
      <p:sp>
        <p:nvSpPr>
          <p:cNvPr id="10" name="TextBox 9">
            <a:extLst>
              <a:ext uri="{FF2B5EF4-FFF2-40B4-BE49-F238E27FC236}">
                <a16:creationId xmlns:a16="http://schemas.microsoft.com/office/drawing/2014/main" id="{1F989484-05D0-EA69-FD7E-921C8D035EA8}"/>
              </a:ext>
            </a:extLst>
          </p:cNvPr>
          <p:cNvSpPr txBox="1"/>
          <p:nvPr/>
        </p:nvSpPr>
        <p:spPr>
          <a:xfrm>
            <a:off x="4649516" y="937202"/>
            <a:ext cx="2906605" cy="477054"/>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500" b="1" i="0" u="none" strike="noStrike" kern="1200" cap="none" spc="0" normalizeH="0" baseline="0" noProof="0" dirty="0">
                <a:ln>
                  <a:noFill/>
                </a:ln>
                <a:solidFill>
                  <a:prstClr val="white"/>
                </a:solidFill>
                <a:uLnTx/>
                <a:uFillTx/>
                <a:latin typeface="Calibri" panose="020F0502020204030204" pitchFamily="34" charset="0"/>
                <a:cs typeface="Calibri" panose="020F0502020204030204" pitchFamily="34" charset="0"/>
              </a:rPr>
              <a:t>Cores</a:t>
            </a:r>
          </a:p>
        </p:txBody>
      </p:sp>
      <p:sp>
        <p:nvSpPr>
          <p:cNvPr id="2" name="Rectangle 1">
            <a:extLst>
              <a:ext uri="{FF2B5EF4-FFF2-40B4-BE49-F238E27FC236}">
                <a16:creationId xmlns:a16="http://schemas.microsoft.com/office/drawing/2014/main" id="{07DB1E5C-1AB4-C5DD-417B-C67815EF4E20}"/>
              </a:ext>
            </a:extLst>
          </p:cNvPr>
          <p:cNvSpPr/>
          <p:nvPr/>
        </p:nvSpPr>
        <p:spPr>
          <a:xfrm>
            <a:off x="4459441" y="1850617"/>
            <a:ext cx="745217" cy="70286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F225818-2E5A-AF2D-63F4-B84A45751AF1}"/>
              </a:ext>
            </a:extLst>
          </p:cNvPr>
          <p:cNvSpPr/>
          <p:nvPr/>
        </p:nvSpPr>
        <p:spPr>
          <a:xfrm>
            <a:off x="4459440" y="3197816"/>
            <a:ext cx="745217" cy="70286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B0E2F46-9B0C-BEA9-81E5-6A8EEFE4D572}"/>
              </a:ext>
            </a:extLst>
          </p:cNvPr>
          <p:cNvSpPr/>
          <p:nvPr/>
        </p:nvSpPr>
        <p:spPr>
          <a:xfrm>
            <a:off x="4459440" y="4525286"/>
            <a:ext cx="745217" cy="70286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 name="Graphic 8" descr="Clipboard Checked with solid fill">
            <a:extLst>
              <a:ext uri="{FF2B5EF4-FFF2-40B4-BE49-F238E27FC236}">
                <a16:creationId xmlns:a16="http://schemas.microsoft.com/office/drawing/2014/main" id="{B6ABF818-47A7-129B-59FD-921AD5468C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89713" y="1840053"/>
            <a:ext cx="702860" cy="702860"/>
          </a:xfrm>
          <a:prstGeom prst="rect">
            <a:avLst/>
          </a:prstGeom>
        </p:spPr>
      </p:pic>
      <p:pic>
        <p:nvPicPr>
          <p:cNvPr id="12" name="Graphic 11" descr="Bar chart with solid fill">
            <a:extLst>
              <a:ext uri="{FF2B5EF4-FFF2-40B4-BE49-F238E27FC236}">
                <a16:creationId xmlns:a16="http://schemas.microsoft.com/office/drawing/2014/main" id="{791B9B8D-439D-2865-F5CC-72760F8D8C8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85164" y="3204640"/>
            <a:ext cx="706272" cy="706272"/>
          </a:xfrm>
          <a:prstGeom prst="rect">
            <a:avLst/>
          </a:prstGeom>
        </p:spPr>
      </p:pic>
      <p:pic>
        <p:nvPicPr>
          <p:cNvPr id="14" name="Graphic 13" descr="Germ with solid fill">
            <a:extLst>
              <a:ext uri="{FF2B5EF4-FFF2-40B4-BE49-F238E27FC236}">
                <a16:creationId xmlns:a16="http://schemas.microsoft.com/office/drawing/2014/main" id="{816F8842-4031-827C-0782-5DA604A9C3E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26108" y="4562818"/>
            <a:ext cx="619099" cy="619099"/>
          </a:xfrm>
          <a:prstGeom prst="rect">
            <a:avLst/>
          </a:prstGeom>
        </p:spPr>
      </p:pic>
    </p:spTree>
    <p:extLst>
      <p:ext uri="{BB962C8B-B14F-4D97-AF65-F5344CB8AC3E}">
        <p14:creationId xmlns:p14="http://schemas.microsoft.com/office/powerpoint/2010/main" val="4177723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6394DA4-D12D-DEBA-55CD-AB60C7B478BE}"/>
              </a:ext>
            </a:extLst>
          </p:cNvPr>
          <p:cNvSpPr/>
          <p:nvPr/>
        </p:nvSpPr>
        <p:spPr>
          <a:xfrm>
            <a:off x="1300879" y="2129660"/>
            <a:ext cx="9780253" cy="2029022"/>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3FDCD8DB-22E0-4CEA-ABCD-7FF3BBE49F6D}"/>
              </a:ext>
            </a:extLst>
          </p:cNvPr>
          <p:cNvSpPr/>
          <p:nvPr/>
        </p:nvSpPr>
        <p:spPr>
          <a:xfrm>
            <a:off x="1558569" y="3650439"/>
            <a:ext cx="4000439" cy="1448852"/>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3FEEFA52-C0FE-451C-BA53-469D336E519B}"/>
              </a:ext>
            </a:extLst>
          </p:cNvPr>
          <p:cNvSpPr/>
          <p:nvPr/>
        </p:nvSpPr>
        <p:spPr>
          <a:xfrm>
            <a:off x="1680203" y="3391462"/>
            <a:ext cx="3757170"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96F6BFC8-C015-4191-ACC3-E20A62BAD90C}"/>
              </a:ext>
            </a:extLst>
          </p:cNvPr>
          <p:cNvSpPr/>
          <p:nvPr/>
        </p:nvSpPr>
        <p:spPr>
          <a:xfrm>
            <a:off x="5724175" y="3647113"/>
            <a:ext cx="5152772" cy="1452178"/>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3CAAC097-AC13-472A-87EB-D3C4A5AD86DA}"/>
              </a:ext>
            </a:extLst>
          </p:cNvPr>
          <p:cNvSpPr/>
          <p:nvPr/>
        </p:nvSpPr>
        <p:spPr>
          <a:xfrm>
            <a:off x="1313059" y="2698854"/>
            <a:ext cx="9717684" cy="461665"/>
          </a:xfrm>
          <a:prstGeom prst="rect">
            <a:avLst/>
          </a:prstGeom>
        </p:spPr>
        <p:txBody>
          <a:bodyPr wrap="square">
            <a:spAutoFit/>
          </a:bodyPr>
          <a:lstStyle/>
          <a:p>
            <a:pPr marL="342900" marR="1157288" lvl="0" indent="0" algn="l" defTabSz="914400" rtl="0" eaLnBrk="1" fontAlgn="auto" latinLnBrk="0" hangingPunct="1">
              <a:lnSpc>
                <a:spcPct val="100000"/>
              </a:lnSpc>
              <a:spcBef>
                <a:spcPts val="0"/>
              </a:spcBef>
              <a:spcAft>
                <a:spcPts val="900"/>
              </a:spcAft>
              <a:buClrTx/>
              <a:buSzTx/>
              <a:buFontTx/>
              <a:buNone/>
              <a:tabLst/>
              <a:defRPr/>
            </a:pPr>
            <a:r>
              <a:rPr kumimoji="0" lang="en-US" sz="2400" b="1"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Please note these committees are still under development. </a:t>
            </a:r>
          </a:p>
        </p:txBody>
      </p:sp>
      <p:sp>
        <p:nvSpPr>
          <p:cNvPr id="2" name="TextBox 1">
            <a:extLst>
              <a:ext uri="{FF2B5EF4-FFF2-40B4-BE49-F238E27FC236}">
                <a16:creationId xmlns:a16="http://schemas.microsoft.com/office/drawing/2014/main" id="{57D4985A-841B-4878-AEF7-C907E2C34486}"/>
              </a:ext>
            </a:extLst>
          </p:cNvPr>
          <p:cNvSpPr txBox="1"/>
          <p:nvPr/>
        </p:nvSpPr>
        <p:spPr>
          <a:xfrm>
            <a:off x="1578653" y="3933584"/>
            <a:ext cx="3766198" cy="1015663"/>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The Executive Committee will be responsible for programmatic </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over-site</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A9A00714-89A5-4742-AF08-9ABCD4FEE737}"/>
              </a:ext>
            </a:extLst>
          </p:cNvPr>
          <p:cNvSpPr txBox="1"/>
          <p:nvPr/>
        </p:nvSpPr>
        <p:spPr>
          <a:xfrm>
            <a:off x="6379485" y="3932518"/>
            <a:ext cx="3427246" cy="1015663"/>
          </a:xfrm>
          <a:prstGeom prst="rect">
            <a:avLst/>
          </a:prstGeom>
          <a:noFill/>
        </p:spPr>
        <p:txBody>
          <a:bodyPr wrap="square" lIns="91440" tIns="45720" rIns="91440" bIns="45720" rtlCol="0" anchor="t">
            <a:spAutoFit/>
          </a:bodyPr>
          <a:lstStyle>
            <a:defPPr>
              <a:defRPr lang="en-US"/>
            </a:defPPr>
            <a:lvl1pPr>
              <a:defRPr b="1">
                <a:solidFill>
                  <a:schemeClr val="tx2">
                    <a:lumMod val="60000"/>
                    <a:lumOff val="40000"/>
                  </a:schemeClr>
                </a:solidFill>
                <a:latin typeface="Arial" panose="020B0604020202020204" pitchFamily="34" charset="0"/>
                <a:ea typeface="Calibri" panose="020F050202020403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Scientific Steering Committee will be responsible for scientific </a:t>
            </a:r>
            <a:r>
              <a:rPr lang="en-US" sz="2000" b="0" dirty="0">
                <a:solidFill>
                  <a:srgbClr val="000000"/>
                </a:solidFill>
                <a:latin typeface="Calibri" panose="020F0502020204030204" pitchFamily="34" charset="0"/>
                <a:cs typeface="Calibri" panose="020F0502020204030204" pitchFamily="34" charset="0"/>
              </a:rPr>
              <a:t>over-site</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7" name="Rectangle 6">
            <a:extLst>
              <a:ext uri="{FF2B5EF4-FFF2-40B4-BE49-F238E27FC236}">
                <a16:creationId xmlns:a16="http://schemas.microsoft.com/office/drawing/2014/main" id="{51CE89FA-C17D-48E3-ADB5-7CDE7BE5BA0C}"/>
              </a:ext>
            </a:extLst>
          </p:cNvPr>
          <p:cNvSpPr/>
          <p:nvPr/>
        </p:nvSpPr>
        <p:spPr>
          <a:xfrm>
            <a:off x="1177756" y="1484509"/>
            <a:ext cx="4649498" cy="914400"/>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1327574" y="1807500"/>
            <a:ext cx="3785655" cy="4770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rPr>
              <a:t>	</a:t>
            </a:r>
            <a:r>
              <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COMMITTEES</a:t>
            </a:r>
            <a:r>
              <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rPr>
              <a:t>:</a:t>
            </a:r>
          </a:p>
        </p:txBody>
      </p:sp>
      <p:sp>
        <p:nvSpPr>
          <p:cNvPr id="11" name="TextBox 10">
            <a:extLst>
              <a:ext uri="{FF2B5EF4-FFF2-40B4-BE49-F238E27FC236}">
                <a16:creationId xmlns:a16="http://schemas.microsoft.com/office/drawing/2014/main" id="{E99A0A36-4654-4496-86A7-D5C8213EFA3D}"/>
              </a:ext>
            </a:extLst>
          </p:cNvPr>
          <p:cNvSpPr txBox="1"/>
          <p:nvPr/>
        </p:nvSpPr>
        <p:spPr>
          <a:xfrm>
            <a:off x="1701820" y="3387179"/>
            <a:ext cx="3729393" cy="477054"/>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2500" b="1" dirty="0">
                <a:solidFill>
                  <a:prstClr val="white"/>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EXECUTIVE COMMITTEE</a:t>
            </a:r>
            <a:endPar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A39E032F-309A-46E5-A51F-26DFCED3594E}"/>
              </a:ext>
            </a:extLst>
          </p:cNvPr>
          <p:cNvSpPr/>
          <p:nvPr/>
        </p:nvSpPr>
        <p:spPr>
          <a:xfrm>
            <a:off x="5806879" y="3391462"/>
            <a:ext cx="4981292"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CFDDD29D-2C5D-4767-A365-001A8FE4225C}"/>
              </a:ext>
            </a:extLst>
          </p:cNvPr>
          <p:cNvSpPr txBox="1"/>
          <p:nvPr/>
        </p:nvSpPr>
        <p:spPr>
          <a:xfrm>
            <a:off x="5806879" y="3398910"/>
            <a:ext cx="4981292" cy="477054"/>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SCIENTIFIC STEERING COMMITTEE</a:t>
            </a:r>
          </a:p>
        </p:txBody>
      </p:sp>
      <p:sp>
        <p:nvSpPr>
          <p:cNvPr id="17" name="TextBox 16">
            <a:extLst>
              <a:ext uri="{FF2B5EF4-FFF2-40B4-BE49-F238E27FC236}">
                <a16:creationId xmlns:a16="http://schemas.microsoft.com/office/drawing/2014/main" id="{DC0723C0-D8AD-DE0C-839B-92CF7959CB23}"/>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a:t>
            </a:r>
            <a:r>
              <a:rPr kumimoji="0" lang="en-US" sz="3200" b="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Program Structure</a:t>
            </a:r>
          </a:p>
        </p:txBody>
      </p:sp>
      <p:pic>
        <p:nvPicPr>
          <p:cNvPr id="9" name="Graphic 8" descr="Meeting with solid fill">
            <a:extLst>
              <a:ext uri="{FF2B5EF4-FFF2-40B4-BE49-F238E27FC236}">
                <a16:creationId xmlns:a16="http://schemas.microsoft.com/office/drawing/2014/main" id="{F559B7D4-E7B2-DF60-C0F6-A5575582DD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85630" y="1461879"/>
            <a:ext cx="914400" cy="914400"/>
          </a:xfrm>
          <a:prstGeom prst="rect">
            <a:avLst/>
          </a:prstGeom>
        </p:spPr>
      </p:pic>
    </p:spTree>
    <p:extLst>
      <p:ext uri="{BB962C8B-B14F-4D97-AF65-F5344CB8AC3E}">
        <p14:creationId xmlns:p14="http://schemas.microsoft.com/office/powerpoint/2010/main" val="1118602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17B1-E993-5529-988A-7F83F92F0829}"/>
              </a:ext>
            </a:extLst>
          </p:cNvPr>
          <p:cNvSpPr>
            <a:spLocks noGrp="1"/>
          </p:cNvSpPr>
          <p:nvPr>
            <p:ph type="ctrTitle"/>
          </p:nvPr>
        </p:nvSpPr>
        <p:spPr/>
        <p:txBody>
          <a:bodyPr/>
          <a:lstStyle/>
          <a:p>
            <a:r>
              <a:rPr lang="en-US" dirty="0">
                <a:latin typeface="Calibri" panose="020F0502020204030204" pitchFamily="34" charset="0"/>
                <a:cs typeface="Calibri" panose="020F0502020204030204" pitchFamily="34" charset="0"/>
              </a:rPr>
              <a:t>MERP Cores</a:t>
            </a:r>
          </a:p>
        </p:txBody>
      </p:sp>
    </p:spTree>
    <p:extLst>
      <p:ext uri="{BB962C8B-B14F-4D97-AF65-F5344CB8AC3E}">
        <p14:creationId xmlns:p14="http://schemas.microsoft.com/office/powerpoint/2010/main" val="2739910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137CBC23-3AFB-38A4-E948-AA8627B957B4}"/>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a:t>
            </a:r>
            <a:r>
              <a:rPr kumimoji="0" lang="en-US" sz="3200" b="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Program Structure</a:t>
            </a:r>
          </a:p>
        </p:txBody>
      </p:sp>
      <p:sp>
        <p:nvSpPr>
          <p:cNvPr id="14" name="Rectangle 13">
            <a:extLst>
              <a:ext uri="{FF2B5EF4-FFF2-40B4-BE49-F238E27FC236}">
                <a16:creationId xmlns:a16="http://schemas.microsoft.com/office/drawing/2014/main" id="{C6A4CC43-486D-4776-25CE-721E4746DD49}"/>
              </a:ext>
            </a:extLst>
          </p:cNvPr>
          <p:cNvSpPr/>
          <p:nvPr/>
        </p:nvSpPr>
        <p:spPr>
          <a:xfrm>
            <a:off x="454080" y="2412267"/>
            <a:ext cx="3454346" cy="2851109"/>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223AED37-B2F0-C065-07B5-6A0FD24B8680}"/>
              </a:ext>
            </a:extLst>
          </p:cNvPr>
          <p:cNvSpPr/>
          <p:nvPr/>
        </p:nvSpPr>
        <p:spPr>
          <a:xfrm>
            <a:off x="516506" y="2143261"/>
            <a:ext cx="3302113"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15F89AD3-A46C-90FF-AF3A-2D0D4728C52D}"/>
              </a:ext>
            </a:extLst>
          </p:cNvPr>
          <p:cNvSpPr txBox="1"/>
          <p:nvPr/>
        </p:nvSpPr>
        <p:spPr>
          <a:xfrm>
            <a:off x="506981" y="2670460"/>
            <a:ext cx="3302113" cy="2308324"/>
          </a:xfrm>
          <a:prstGeom prst="rect">
            <a:avLst/>
          </a:prstGeom>
          <a:noFill/>
        </p:spPr>
        <p:txBody>
          <a:bodyPr wrap="square" lIns="91440" tIns="45720" rIns="91440" bIns="45720" rtlCol="0" anchor="t">
            <a:spAutoFit/>
          </a:bodyPr>
          <a:lstStyle/>
          <a:p>
            <a:pPr algn="ctr">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Administrative Core will facilitate programmatic coordination and strategic planning among MERP stakeholders, including providing guidance to MERP investigators on MERP procedures and regulatory needs. </a:t>
            </a:r>
            <a:endParaRPr lang="en-US" sz="2000" b="0" i="0" u="none" strike="noStrike" kern="1200" cap="none" spc="0" normalizeH="0" baseline="0" noProof="0" dirty="0">
              <a:ln>
                <a:noFill/>
              </a:ln>
              <a:effectLst/>
              <a:uLnTx/>
              <a:uFillTx/>
              <a:latin typeface="Calibri" panose="020F0502020204030204" pitchFamily="34" charset="0"/>
              <a:ea typeface="Source Sans Pro"/>
              <a:cs typeface="Calibri" panose="020F0502020204030204" pitchFamily="34" charset="0"/>
            </a:endParaRPr>
          </a:p>
        </p:txBody>
      </p:sp>
      <p:sp>
        <p:nvSpPr>
          <p:cNvPr id="24" name="TextBox 23">
            <a:extLst>
              <a:ext uri="{FF2B5EF4-FFF2-40B4-BE49-F238E27FC236}">
                <a16:creationId xmlns:a16="http://schemas.microsoft.com/office/drawing/2014/main" id="{4FE1D1CA-7B68-8BD2-BCB4-F0BB0342D171}"/>
              </a:ext>
            </a:extLst>
          </p:cNvPr>
          <p:cNvSpPr txBox="1"/>
          <p:nvPr/>
        </p:nvSpPr>
        <p:spPr>
          <a:xfrm>
            <a:off x="714259" y="2186533"/>
            <a:ext cx="2906605" cy="415498"/>
          </a:xfrm>
          <a:prstGeom prst="rect">
            <a:avLst/>
          </a:prstGeom>
          <a:noFill/>
        </p:spPr>
        <p:txBody>
          <a:bodyPr wrap="square" lIns="91440" tIns="45720" rIns="91440" bIns="45720" anchor="t">
            <a:spAutoFit/>
          </a:bodyPr>
          <a:lstStyle/>
          <a:p>
            <a:pPr algn="ctr">
              <a:spcBef>
                <a:spcPts val="600"/>
              </a:spcBef>
              <a:defRPr/>
            </a:pPr>
            <a:r>
              <a:rPr lang="en-US" sz="2000" b="1" dirty="0">
                <a:solidFill>
                  <a:prstClr val="white"/>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Admin </a:t>
            </a: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Core</a:t>
            </a:r>
            <a:r>
              <a:rPr lang="en-US" sz="2000" b="1" dirty="0">
                <a:solidFill>
                  <a:prstClr val="white"/>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a:t>
            </a:r>
            <a:endPar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952EFADC-B7E1-6660-5DFF-6B54B5DED3A2}"/>
              </a:ext>
            </a:extLst>
          </p:cNvPr>
          <p:cNvSpPr/>
          <p:nvPr/>
        </p:nvSpPr>
        <p:spPr>
          <a:xfrm>
            <a:off x="4305325" y="2412267"/>
            <a:ext cx="3454346" cy="2851109"/>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554155A2-DC54-9B44-20EB-226763AB10B8}"/>
              </a:ext>
            </a:extLst>
          </p:cNvPr>
          <p:cNvSpPr/>
          <p:nvPr/>
        </p:nvSpPr>
        <p:spPr>
          <a:xfrm>
            <a:off x="4381442" y="2141153"/>
            <a:ext cx="3302113"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18FBA53A-1A3C-627F-936D-D5AA29D81320}"/>
              </a:ext>
            </a:extLst>
          </p:cNvPr>
          <p:cNvSpPr txBox="1"/>
          <p:nvPr/>
        </p:nvSpPr>
        <p:spPr>
          <a:xfrm>
            <a:off x="4305325" y="2619520"/>
            <a:ext cx="3378230" cy="2308324"/>
          </a:xfrm>
          <a:prstGeom prst="rect">
            <a:avLst/>
          </a:prstGeom>
          <a:noFill/>
        </p:spPr>
        <p:txBody>
          <a:bodyPr wrap="square" lIns="91440" tIns="45720" rIns="91440" bIns="45720" rtlCol="0" anchor="t">
            <a:spAutoFit/>
          </a:bodyPr>
          <a:lstStyle/>
          <a:p>
            <a:pPr algn="ctr">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mission of the Data and Biorepository Commons Core is to fill programmatic gaps with a focus on building and facilitating knowledge and access to trusted military-exposure data and biospecimens for military exposures research.  </a:t>
            </a:r>
            <a:endParaRPr lang="en-US" sz="2000" dirty="0">
              <a:latin typeface="Calibri" panose="020F0502020204030204" pitchFamily="34" charset="0"/>
              <a:ea typeface="Source Sans Pro"/>
              <a:cs typeface="Calibri" panose="020F0502020204030204" pitchFamily="34" charset="0"/>
            </a:endParaRPr>
          </a:p>
        </p:txBody>
      </p:sp>
      <p:sp>
        <p:nvSpPr>
          <p:cNvPr id="10" name="TextBox 9">
            <a:extLst>
              <a:ext uri="{FF2B5EF4-FFF2-40B4-BE49-F238E27FC236}">
                <a16:creationId xmlns:a16="http://schemas.microsoft.com/office/drawing/2014/main" id="{1F989484-05D0-EA69-FD7E-921C8D035EA8}"/>
              </a:ext>
            </a:extLst>
          </p:cNvPr>
          <p:cNvSpPr txBox="1"/>
          <p:nvPr/>
        </p:nvSpPr>
        <p:spPr>
          <a:xfrm>
            <a:off x="4579194" y="2186533"/>
            <a:ext cx="290660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DBC Core</a:t>
            </a:r>
          </a:p>
        </p:txBody>
      </p:sp>
      <p:sp>
        <p:nvSpPr>
          <p:cNvPr id="12" name="Rectangle 11">
            <a:extLst>
              <a:ext uri="{FF2B5EF4-FFF2-40B4-BE49-F238E27FC236}">
                <a16:creationId xmlns:a16="http://schemas.microsoft.com/office/drawing/2014/main" id="{D6CA9C3B-CDD4-DEB9-72A2-EC79201048DF}"/>
              </a:ext>
            </a:extLst>
          </p:cNvPr>
          <p:cNvSpPr/>
          <p:nvPr/>
        </p:nvSpPr>
        <p:spPr>
          <a:xfrm>
            <a:off x="8094148" y="2412268"/>
            <a:ext cx="3454346" cy="2851108"/>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69CA4DEE-AD95-988B-020A-A7B2A51D3CED}"/>
              </a:ext>
            </a:extLst>
          </p:cNvPr>
          <p:cNvSpPr/>
          <p:nvPr/>
        </p:nvSpPr>
        <p:spPr>
          <a:xfrm>
            <a:off x="8156570" y="2141153"/>
            <a:ext cx="3302113"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9ED775E6-2FA2-1321-B809-15C1640F93C2}"/>
              </a:ext>
            </a:extLst>
          </p:cNvPr>
          <p:cNvSpPr txBox="1"/>
          <p:nvPr/>
        </p:nvSpPr>
        <p:spPr>
          <a:xfrm>
            <a:off x="8080454" y="2619520"/>
            <a:ext cx="3468040" cy="2585323"/>
          </a:xfrm>
          <a:prstGeom prst="rect">
            <a:avLst/>
          </a:prstGeom>
          <a:noFill/>
        </p:spPr>
        <p:txBody>
          <a:bodyPr wrap="square" lIns="91440" tIns="45720" rIns="91440" bIns="45720" rtlCol="0" anchor="t">
            <a:spAutoFit/>
          </a:bodyPr>
          <a:lstStyle/>
          <a:p>
            <a:pPr algn="ctr"/>
            <a:r>
              <a:rPr lang="en-US" sz="1800" dirty="0">
                <a:effectLst/>
                <a:latin typeface="Calibri" panose="020F0502020204030204" pitchFamily="34" charset="0"/>
                <a:ea typeface="Calibri" panose="020F0502020204030204" pitchFamily="34" charset="0"/>
                <a:cs typeface="Times New Roman" panose="02020603050405020304" pitchFamily="18" charset="0"/>
              </a:rPr>
              <a:t>The mission of the Exposure Assessment Core is to build VA capacity in exposure assessment science and support MERP-funded investigators in the characterization of military exposures by providing subject matter expertise and technical assistance. </a:t>
            </a:r>
            <a:endParaRPr lang="en-US" sz="20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A5524B2D-6C87-8BB7-9BC9-527B206E9EA5}"/>
              </a:ext>
            </a:extLst>
          </p:cNvPr>
          <p:cNvSpPr txBox="1"/>
          <p:nvPr/>
        </p:nvSpPr>
        <p:spPr>
          <a:xfrm>
            <a:off x="8368017" y="2171931"/>
            <a:ext cx="290660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EA Core</a:t>
            </a:r>
          </a:p>
        </p:txBody>
      </p:sp>
      <p:sp>
        <p:nvSpPr>
          <p:cNvPr id="9" name="Rectangle 8">
            <a:extLst>
              <a:ext uri="{FF2B5EF4-FFF2-40B4-BE49-F238E27FC236}">
                <a16:creationId xmlns:a16="http://schemas.microsoft.com/office/drawing/2014/main" id="{BD438D7A-82DA-E4B8-A6C3-8BFE0D615501}"/>
              </a:ext>
            </a:extLst>
          </p:cNvPr>
          <p:cNvSpPr/>
          <p:nvPr/>
        </p:nvSpPr>
        <p:spPr>
          <a:xfrm>
            <a:off x="0" y="789935"/>
            <a:ext cx="5648326"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FD4847C5-F86D-3448-AEED-3D84A6650B3B}"/>
              </a:ext>
            </a:extLst>
          </p:cNvPr>
          <p:cNvSpPr txBox="1"/>
          <p:nvPr/>
        </p:nvSpPr>
        <p:spPr>
          <a:xfrm>
            <a:off x="431921" y="836271"/>
            <a:ext cx="4378204" cy="477054"/>
          </a:xfrm>
          <a:prstGeom prst="rect">
            <a:avLst/>
          </a:prstGeom>
          <a:noFill/>
        </p:spPr>
        <p:txBody>
          <a:bodyPr wrap="square" lIns="91440" tIns="45720" rIns="91440" bIns="45720" anchor="t">
            <a:spAutoFit/>
          </a:bodyPr>
          <a:lstStyle/>
          <a:p>
            <a:pPr>
              <a:spcBef>
                <a:spcPts val="600"/>
              </a:spcBef>
              <a:defRPr/>
            </a:pPr>
            <a:r>
              <a:rPr lang="en-US" sz="2500" b="1" dirty="0">
                <a:solidFill>
                  <a:prstClr val="white"/>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What are MERP Cores?</a:t>
            </a:r>
            <a:endPar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endParaRPr>
          </a:p>
        </p:txBody>
      </p:sp>
      <p:sp>
        <p:nvSpPr>
          <p:cNvPr id="21" name="Oval 20">
            <a:extLst>
              <a:ext uri="{FF2B5EF4-FFF2-40B4-BE49-F238E27FC236}">
                <a16:creationId xmlns:a16="http://schemas.microsoft.com/office/drawing/2014/main" id="{B2A1EF35-55B3-6F9D-D055-3FA425278AC7}"/>
              </a:ext>
            </a:extLst>
          </p:cNvPr>
          <p:cNvSpPr/>
          <p:nvPr/>
        </p:nvSpPr>
        <p:spPr>
          <a:xfrm>
            <a:off x="4603572" y="1749764"/>
            <a:ext cx="841402" cy="808892"/>
          </a:xfrm>
          <a:prstGeom prst="ellipse">
            <a:avLst/>
          </a:prstGeom>
          <a:solidFill>
            <a:schemeClr val="accent6">
              <a:lumMod val="75000"/>
            </a:schemeClr>
          </a:solidFill>
          <a:ln w="127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p>
        </p:txBody>
      </p:sp>
      <p:pic>
        <p:nvPicPr>
          <p:cNvPr id="18" name="Graphic 17" descr="Business Growth with solid fill">
            <a:extLst>
              <a:ext uri="{FF2B5EF4-FFF2-40B4-BE49-F238E27FC236}">
                <a16:creationId xmlns:a16="http://schemas.microsoft.com/office/drawing/2014/main" id="{A302ABFB-BBF1-A5A5-4489-F9C8E86C07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48713" y="1857422"/>
            <a:ext cx="628298" cy="628298"/>
          </a:xfrm>
          <a:prstGeom prst="rect">
            <a:avLst/>
          </a:prstGeom>
        </p:spPr>
      </p:pic>
      <p:sp>
        <p:nvSpPr>
          <p:cNvPr id="23" name="Oval 22">
            <a:extLst>
              <a:ext uri="{FF2B5EF4-FFF2-40B4-BE49-F238E27FC236}">
                <a16:creationId xmlns:a16="http://schemas.microsoft.com/office/drawing/2014/main" id="{64C7F88F-7F3E-0BAF-AD7A-22F18DF0E039}"/>
              </a:ext>
            </a:extLst>
          </p:cNvPr>
          <p:cNvSpPr/>
          <p:nvPr/>
        </p:nvSpPr>
        <p:spPr>
          <a:xfrm>
            <a:off x="598854" y="1755757"/>
            <a:ext cx="841402" cy="808892"/>
          </a:xfrm>
          <a:prstGeom prst="ellipse">
            <a:avLst/>
          </a:prstGeom>
          <a:solidFill>
            <a:schemeClr val="accent6">
              <a:lumMod val="75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5CC8998A-F666-DC2E-0A63-BBA3A3517C98}"/>
              </a:ext>
            </a:extLst>
          </p:cNvPr>
          <p:cNvSpPr/>
          <p:nvPr/>
        </p:nvSpPr>
        <p:spPr>
          <a:xfrm>
            <a:off x="8382144" y="1755039"/>
            <a:ext cx="841402" cy="808892"/>
          </a:xfrm>
          <a:prstGeom prst="ellipse">
            <a:avLst/>
          </a:prstGeom>
          <a:solidFill>
            <a:schemeClr val="accent6">
              <a:lumMod val="75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dirty="0"/>
          </a:p>
        </p:txBody>
      </p:sp>
      <p:pic>
        <p:nvPicPr>
          <p:cNvPr id="28" name="Graphic 27" descr="Magnifying glass with solid fill">
            <a:extLst>
              <a:ext uri="{FF2B5EF4-FFF2-40B4-BE49-F238E27FC236}">
                <a16:creationId xmlns:a16="http://schemas.microsoft.com/office/drawing/2014/main" id="{D8A5D519-8D06-946D-1B27-43FD58E8568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35099" y="1859011"/>
            <a:ext cx="564702" cy="564702"/>
          </a:xfrm>
          <a:prstGeom prst="rect">
            <a:avLst/>
          </a:prstGeom>
        </p:spPr>
      </p:pic>
      <p:pic>
        <p:nvPicPr>
          <p:cNvPr id="30" name="Graphic 29" descr="Books on shelf with solid fill">
            <a:extLst>
              <a:ext uri="{FF2B5EF4-FFF2-40B4-BE49-F238E27FC236}">
                <a16:creationId xmlns:a16="http://schemas.microsoft.com/office/drawing/2014/main" id="{6912E721-55A7-CBDB-0098-F4A0F0AEB3E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0565" y="1846898"/>
            <a:ext cx="644181" cy="644181"/>
          </a:xfrm>
          <a:prstGeom prst="rect">
            <a:avLst/>
          </a:prstGeom>
        </p:spPr>
      </p:pic>
    </p:spTree>
    <p:extLst>
      <p:ext uri="{BB962C8B-B14F-4D97-AF65-F5344CB8AC3E}">
        <p14:creationId xmlns:p14="http://schemas.microsoft.com/office/powerpoint/2010/main" val="1423496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17B1-E993-5529-988A-7F83F92F0829}"/>
              </a:ext>
            </a:extLst>
          </p:cNvPr>
          <p:cNvSpPr>
            <a:spLocks noGrp="1"/>
          </p:cNvSpPr>
          <p:nvPr>
            <p:ph type="ctrTitle"/>
          </p:nvPr>
        </p:nvSpPr>
        <p:spPr/>
        <p:txBody>
          <a:bodyPr/>
          <a:lstStyle/>
          <a:p>
            <a:r>
              <a:rPr lang="en-US" dirty="0">
                <a:latin typeface="Calibri" panose="020F0502020204030204" pitchFamily="34" charset="0"/>
                <a:cs typeface="Calibri" panose="020F0502020204030204" pitchFamily="34" charset="0"/>
              </a:rPr>
              <a:t>MERP Opportunities</a:t>
            </a:r>
          </a:p>
        </p:txBody>
      </p:sp>
    </p:spTree>
    <p:extLst>
      <p:ext uri="{BB962C8B-B14F-4D97-AF65-F5344CB8AC3E}">
        <p14:creationId xmlns:p14="http://schemas.microsoft.com/office/powerpoint/2010/main" val="2514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CE89FA-C17D-48E3-ADB5-7CDE7BE5BA0C}"/>
              </a:ext>
            </a:extLst>
          </p:cNvPr>
          <p:cNvSpPr/>
          <p:nvPr/>
        </p:nvSpPr>
        <p:spPr>
          <a:xfrm>
            <a:off x="-3" y="823548"/>
            <a:ext cx="5430983"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280362" y="866865"/>
            <a:ext cx="5150618"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Where to apply for MERP funding?</a:t>
            </a:r>
            <a:endParaRPr kumimoji="0" lang="en-US" sz="2500" b="1" i="0" u="none" strike="noStrike" kern="1200" cap="none" spc="0" normalizeH="0" baseline="0" noProof="0" dirty="0">
              <a:ln>
                <a:noFill/>
              </a:ln>
              <a:solidFill>
                <a:prstClr val="white"/>
              </a:solidFill>
              <a:effectLst/>
              <a:uLnTx/>
              <a:uFillTx/>
              <a:latin typeface="Calibri" panose="020F0502020204030204" pitchFamily="34" charset="0"/>
              <a:ea typeface="Source Sans Pro"/>
              <a:cs typeface="Calibri" panose="020F0502020204030204" pitchFamily="34" charset="0"/>
            </a:endParaRP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Funding</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2EB28BCE-438D-A357-F5AA-33D1FCAA8712}"/>
              </a:ext>
            </a:extLst>
          </p:cNvPr>
          <p:cNvGraphicFramePr>
            <a:graphicFrameLocks noGrp="1"/>
          </p:cNvGraphicFramePr>
          <p:nvPr>
            <p:extLst>
              <p:ext uri="{D42A27DB-BD31-4B8C-83A1-F6EECF244321}">
                <p14:modId xmlns:p14="http://schemas.microsoft.com/office/powerpoint/2010/main" val="1029364381"/>
              </p:ext>
            </p:extLst>
          </p:nvPr>
        </p:nvGraphicFramePr>
        <p:xfrm>
          <a:off x="180914" y="1517617"/>
          <a:ext cx="11716328" cy="4229561"/>
        </p:xfrm>
        <a:graphic>
          <a:graphicData uri="http://schemas.openxmlformats.org/drawingml/2006/table">
            <a:tbl>
              <a:tblPr firstRow="1" bandRow="1">
                <a:tableStyleId>{5C22544A-7EE6-4342-B048-85BDC9FD1C3A}</a:tableStyleId>
              </a:tblPr>
              <a:tblGrid>
                <a:gridCol w="3006436">
                  <a:extLst>
                    <a:ext uri="{9D8B030D-6E8A-4147-A177-3AD203B41FA5}">
                      <a16:colId xmlns:a16="http://schemas.microsoft.com/office/drawing/2014/main" val="2389025207"/>
                    </a:ext>
                  </a:extLst>
                </a:gridCol>
                <a:gridCol w="2453052">
                  <a:extLst>
                    <a:ext uri="{9D8B030D-6E8A-4147-A177-3AD203B41FA5}">
                      <a16:colId xmlns:a16="http://schemas.microsoft.com/office/drawing/2014/main" val="3290670509"/>
                    </a:ext>
                  </a:extLst>
                </a:gridCol>
                <a:gridCol w="1880804">
                  <a:extLst>
                    <a:ext uri="{9D8B030D-6E8A-4147-A177-3AD203B41FA5}">
                      <a16:colId xmlns:a16="http://schemas.microsoft.com/office/drawing/2014/main" val="1840931550"/>
                    </a:ext>
                  </a:extLst>
                </a:gridCol>
                <a:gridCol w="1993053">
                  <a:extLst>
                    <a:ext uri="{9D8B030D-6E8A-4147-A177-3AD203B41FA5}">
                      <a16:colId xmlns:a16="http://schemas.microsoft.com/office/drawing/2014/main" val="1821071280"/>
                    </a:ext>
                  </a:extLst>
                </a:gridCol>
                <a:gridCol w="2382983">
                  <a:extLst>
                    <a:ext uri="{9D8B030D-6E8A-4147-A177-3AD203B41FA5}">
                      <a16:colId xmlns:a16="http://schemas.microsoft.com/office/drawing/2014/main" val="3532906828"/>
                    </a:ext>
                  </a:extLst>
                </a:gridCol>
              </a:tblGrid>
              <a:tr h="586843">
                <a:tc>
                  <a:txBody>
                    <a:bodyPr/>
                    <a:lstStyle/>
                    <a:p>
                      <a:pPr algn="l"/>
                      <a:r>
                        <a:rPr lang="en-US" sz="1600" dirty="0">
                          <a:solidFill>
                            <a:schemeClr val="tx1"/>
                          </a:solidFill>
                          <a:latin typeface="Calibri" panose="020F0502020204030204" pitchFamily="34" charset="0"/>
                          <a:cs typeface="Calibri" panose="020F0502020204030204" pitchFamily="34" charset="0"/>
                        </a:rPr>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Preapplication/LOI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Merit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CDA-1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CDA-2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2204255"/>
                  </a:ext>
                </a:extLst>
              </a:tr>
              <a:tr h="856605">
                <a:tc>
                  <a:txBody>
                    <a:bodyPr/>
                    <a:lstStyle/>
                    <a:p>
                      <a:pPr algn="l"/>
                      <a:r>
                        <a:rPr lang="en-US" sz="1600" dirty="0">
                          <a:solidFill>
                            <a:schemeClr val="tx1"/>
                          </a:solidFill>
                          <a:latin typeface="Calibri" panose="020F0502020204030204" pitchFamily="34" charset="0"/>
                          <a:cs typeface="Calibri" panose="020F0502020204030204" pitchFamily="34" charset="0"/>
                        </a:rPr>
                        <a:t>Biomedical Laboratory R&amp;D (BLRD/BX)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Under development</a:t>
                      </a:r>
                      <a:br>
                        <a:rPr lang="en-US" sz="1600" dirty="0">
                          <a:solidFill>
                            <a:schemeClr val="tx1"/>
                          </a:solidFill>
                          <a:latin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cs typeface="Calibri" panose="020F0502020204030204" pitchFamily="34" charset="0"/>
                        </a:rPr>
                        <a:t>Spring 2024 – Not required</a:t>
                      </a:r>
                      <a:br>
                        <a:rPr lang="en-US" sz="1600" dirty="0">
                          <a:solidFill>
                            <a:schemeClr val="tx1"/>
                          </a:solidFill>
                          <a:latin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cs typeface="Calibri" panose="020F0502020204030204" pitchFamily="34" charset="0"/>
                        </a:rPr>
                        <a:t>Fall 2024 – required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BX-24-009 (MERP)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BX-24-021 (Veterans)</a:t>
                      </a:r>
                      <a:br>
                        <a:rPr lang="en-US" sz="1600" strike="noStrike" baseline="0" dirty="0">
                          <a:solidFill>
                            <a:schemeClr val="tx1"/>
                          </a:solidFill>
                          <a:latin typeface="Calibri" panose="020F0502020204030204" pitchFamily="34" charset="0"/>
                          <a:cs typeface="Calibri" panose="020F0502020204030204" pitchFamily="34" charset="0"/>
                        </a:rPr>
                      </a:br>
                      <a:endParaRPr lang="en-US" sz="1600" strike="noStrike" baseline="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Calibri" panose="020F0502020204030204" pitchFamily="34" charset="0"/>
                          <a:cs typeface="Calibri" panose="020F0502020204030204" pitchFamily="34" charset="0"/>
                        </a:rPr>
                        <a:t>BX-24-023</a:t>
                      </a:r>
                      <a:br>
                        <a:rPr lang="en-US" sz="1600" dirty="0">
                          <a:solidFill>
                            <a:schemeClr val="tx1"/>
                          </a:solidFill>
                          <a:latin typeface="Calibri" panose="020F0502020204030204" pitchFamily="34" charset="0"/>
                          <a:cs typeface="Calibri" panose="020F0502020204030204" pitchFamily="34" charset="0"/>
                        </a:rPr>
                      </a:br>
                      <a:r>
                        <a:rPr lang="en-US" sz="1600" strike="noStrike" baseline="0" dirty="0">
                          <a:solidFill>
                            <a:schemeClr val="tx1"/>
                          </a:solidFill>
                          <a:latin typeface="Calibri" panose="020F0502020204030204" pitchFamily="34" charset="0"/>
                          <a:cs typeface="Calibri" panose="020F0502020204030204" pitchFamily="34" charset="0"/>
                        </a:rPr>
                        <a:t>BX-24-024 (Minority institutions)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strike="noStrike" baseline="0" dirty="0">
                          <a:solidFill>
                            <a:schemeClr val="tx1"/>
                          </a:solidFill>
                          <a:latin typeface="Calibri" panose="020F0502020204030204" pitchFamily="34" charset="0"/>
                          <a:cs typeface="Calibri" panose="020F0502020204030204" pitchFamily="34" charset="0"/>
                        </a:rPr>
                        <a:t>CX-24-023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80929509"/>
                  </a:ext>
                </a:extLst>
              </a:tr>
              <a:tr h="856605">
                <a:tc>
                  <a:txBody>
                    <a:bodyPr/>
                    <a:lstStyle/>
                    <a:p>
                      <a:pPr algn="l"/>
                      <a:r>
                        <a:rPr lang="en-US" sz="1600" dirty="0">
                          <a:solidFill>
                            <a:schemeClr val="tx1"/>
                          </a:solidFill>
                          <a:latin typeface="Calibri" panose="020F0502020204030204" pitchFamily="34" charset="0"/>
                          <a:cs typeface="Calibri" panose="020F0502020204030204" pitchFamily="34" charset="0"/>
                        </a:rPr>
                        <a:t>Clinical Science R&amp;D (CSRD/CX)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Calibri" panose="020F0502020204030204" pitchFamily="34" charset="0"/>
                          <a:cs typeface="Calibri" panose="020F0502020204030204" pitchFamily="34" charset="0"/>
                        </a:rPr>
                        <a:t>Under development </a:t>
                      </a:r>
                      <a:br>
                        <a:rPr lang="en-US" sz="1600" dirty="0">
                          <a:solidFill>
                            <a:schemeClr val="tx1"/>
                          </a:solidFill>
                          <a:latin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cs typeface="Calibri" panose="020F0502020204030204" pitchFamily="34" charset="0"/>
                        </a:rPr>
                        <a:t>Spring 2024 – Not required</a:t>
                      </a:r>
                      <a:br>
                        <a:rPr lang="en-US" sz="1600" dirty="0">
                          <a:solidFill>
                            <a:schemeClr val="tx1"/>
                          </a:solidFill>
                          <a:latin typeface="Calibri" panose="020F0502020204030204" pitchFamily="34" charset="0"/>
                          <a:cs typeface="Calibri" panose="020F0502020204030204" pitchFamily="34" charset="0"/>
                        </a:rPr>
                      </a:br>
                      <a:r>
                        <a:rPr lang="en-US" sz="1600" dirty="0">
                          <a:solidFill>
                            <a:schemeClr val="tx1"/>
                          </a:solidFill>
                          <a:latin typeface="Calibri" panose="020F0502020204030204" pitchFamily="34" charset="0"/>
                          <a:cs typeface="Calibri" panose="020F0502020204030204" pitchFamily="34" charset="0"/>
                        </a:rPr>
                        <a:t>Fall 2024 – required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CX-24-009 (MERP)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CX-24-021 (Veterans)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strike="noStrike" baseline="0" dirty="0">
                          <a:solidFill>
                            <a:schemeClr val="tx1"/>
                          </a:solidFill>
                          <a:latin typeface="Calibri" panose="020F0502020204030204" pitchFamily="34" charset="0"/>
                          <a:cs typeface="Calibri" panose="020F0502020204030204" pitchFamily="34" charset="0"/>
                        </a:rPr>
                        <a:t>BX-24-023</a:t>
                      </a:r>
                      <a:br>
                        <a:rPr lang="en-US" sz="1600" strike="noStrike" baseline="0" dirty="0">
                          <a:solidFill>
                            <a:schemeClr val="tx1"/>
                          </a:solidFill>
                          <a:latin typeface="Calibri" panose="020F0502020204030204" pitchFamily="34" charset="0"/>
                          <a:cs typeface="Calibri" panose="020F0502020204030204" pitchFamily="34" charset="0"/>
                        </a:rPr>
                      </a:br>
                      <a:r>
                        <a:rPr lang="en-US" sz="1600" strike="noStrike" baseline="0" dirty="0">
                          <a:solidFill>
                            <a:schemeClr val="tx1"/>
                          </a:solidFill>
                          <a:latin typeface="Calibri" panose="020F0502020204030204" pitchFamily="34" charset="0"/>
                          <a:cs typeface="Calibri" panose="020F0502020204030204" pitchFamily="34" charset="0"/>
                        </a:rPr>
                        <a:t>CX-24-023</a:t>
                      </a:r>
                    </a:p>
                    <a:p>
                      <a:pPr algn="l"/>
                      <a:r>
                        <a:rPr lang="en-US" sz="1600" strike="noStrike" baseline="0" dirty="0">
                          <a:solidFill>
                            <a:schemeClr val="tx1"/>
                          </a:solidFill>
                          <a:latin typeface="Calibri" panose="020F0502020204030204" pitchFamily="34" charset="0"/>
                          <a:cs typeface="Calibri" panose="020F0502020204030204" pitchFamily="34" charset="0"/>
                        </a:rPr>
                        <a:t>CX-24-024</a:t>
                      </a:r>
                      <a:r>
                        <a:rPr lang="en-US" sz="1600" strike="noStrike" baseline="0" dirty="0">
                          <a:solidFill>
                            <a:schemeClr val="accent1"/>
                          </a:solidFill>
                          <a:latin typeface="Calibri" panose="020F0502020204030204" pitchFamily="34" charset="0"/>
                          <a:cs typeface="Calibri" panose="020F0502020204030204" pitchFamily="34" charset="0"/>
                        </a:rPr>
                        <a:t> </a:t>
                      </a:r>
                      <a:r>
                        <a:rPr lang="en-US" sz="1600" strike="noStrike" baseline="0" dirty="0">
                          <a:solidFill>
                            <a:schemeClr val="tx1"/>
                          </a:solidFill>
                          <a:latin typeface="Calibri" panose="020F0502020204030204" pitchFamily="34" charset="0"/>
                          <a:cs typeface="Calibri" panose="020F0502020204030204" pitchFamily="34" charset="0"/>
                        </a:rPr>
                        <a:t>(Minority institutions)</a:t>
                      </a:r>
                      <a:endParaRPr lang="en-US" sz="1600" strike="sngStrike" baseline="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3216421"/>
                  </a:ext>
                </a:extLst>
              </a:tr>
              <a:tr h="652513">
                <a:tc>
                  <a:txBody>
                    <a:bodyPr/>
                    <a:lstStyle/>
                    <a:p>
                      <a:pPr algn="l"/>
                      <a:r>
                        <a:rPr lang="en-US" sz="1600" dirty="0">
                          <a:solidFill>
                            <a:schemeClr val="tx1"/>
                          </a:solidFill>
                          <a:latin typeface="Calibri" panose="020F0502020204030204" pitchFamily="34" charset="0"/>
                          <a:cs typeface="Calibri" panose="020F0502020204030204" pitchFamily="34" charset="0"/>
                        </a:rPr>
                        <a:t>Health Services R&amp;D (HSRD/HX)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Summer 2024</a:t>
                      </a:r>
                    </a:p>
                    <a:p>
                      <a:pPr algn="l"/>
                      <a:r>
                        <a:rPr lang="en-US" sz="1600" dirty="0">
                          <a:solidFill>
                            <a:schemeClr val="tx1"/>
                          </a:solidFill>
                          <a:latin typeface="Calibri" panose="020F0502020204030204" pitchFamily="34" charset="0"/>
                          <a:cs typeface="Calibri" panose="020F0502020204030204" pitchFamily="34" charset="0"/>
                        </a:rPr>
                        <a:t>Winter 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457200" rtl="0" eaLnBrk="1" latinLnBrk="0" hangingPunct="1"/>
                      <a:r>
                        <a:rPr lang="en-US" sz="1600" kern="1200" dirty="0">
                          <a:solidFill>
                            <a:schemeClr val="tx1"/>
                          </a:solidFill>
                          <a:latin typeface="Calibri" panose="020F0502020204030204" pitchFamily="34" charset="0"/>
                          <a:ea typeface="+mn-ea"/>
                          <a:cs typeface="Calibri" panose="020F0502020204030204" pitchFamily="34" charset="0"/>
                        </a:rPr>
                        <a:t>HX-24-001 (Parent I01)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457200" rtl="0" eaLnBrk="1" latinLnBrk="0" hangingPunct="1"/>
                      <a:r>
                        <a:rPr lang="en-US" sz="1600" kern="1200" dirty="0">
                          <a:solidFill>
                            <a:schemeClr val="tx1"/>
                          </a:solidFill>
                          <a:latin typeface="Calibri" panose="020F0502020204030204" pitchFamily="34" charset="0"/>
                          <a:ea typeface="+mn-ea"/>
                          <a:cs typeface="Calibri" panose="020F0502020204030204" pitchFamily="34" charset="0"/>
                        </a:rPr>
                        <a:t>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HX-24-009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52595318"/>
                  </a:ext>
                </a:extLst>
              </a:tr>
              <a:tr h="856605">
                <a:tc>
                  <a:txBody>
                    <a:bodyPr/>
                    <a:lstStyle/>
                    <a:p>
                      <a:pPr algn="l"/>
                      <a:r>
                        <a:rPr lang="en-US" sz="1600" dirty="0">
                          <a:solidFill>
                            <a:schemeClr val="tx1"/>
                          </a:solidFill>
                          <a:latin typeface="Calibri" panose="020F0502020204030204" pitchFamily="34" charset="0"/>
                          <a:cs typeface="Calibri" panose="020F0502020204030204" pitchFamily="34" charset="0"/>
                        </a:rPr>
                        <a:t>Rehabilitation R&amp;D (RRD/RX)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Summer 2024</a:t>
                      </a:r>
                    </a:p>
                    <a:p>
                      <a:pPr algn="l"/>
                      <a:r>
                        <a:rPr lang="en-US" sz="1600" dirty="0">
                          <a:solidFill>
                            <a:schemeClr val="tx1"/>
                          </a:solidFill>
                          <a:latin typeface="Calibri" panose="020F0502020204030204" pitchFamily="34" charset="0"/>
                          <a:cs typeface="Calibri" panose="020F0502020204030204" pitchFamily="34" charset="0"/>
                        </a:rPr>
                        <a:t>Winter 2024</a:t>
                      </a:r>
                      <a:br>
                        <a:rPr lang="en-US" sz="1600" dirty="0">
                          <a:solidFill>
                            <a:schemeClr val="tx1"/>
                          </a:solidFill>
                          <a:latin typeface="Calibri" panose="020F0502020204030204" pitchFamily="34" charset="0"/>
                          <a:cs typeface="Calibri" panose="020F0502020204030204" pitchFamily="34" charset="0"/>
                        </a:rPr>
                      </a:br>
                      <a:endParaRPr lang="en-US" sz="160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457200" rtl="0" eaLnBrk="1" latinLnBrk="0" hangingPunct="1"/>
                      <a:r>
                        <a:rPr lang="en-US" sz="1600" kern="1200" dirty="0">
                          <a:solidFill>
                            <a:schemeClr val="tx1"/>
                          </a:solidFill>
                          <a:latin typeface="Calibri" panose="020F0502020204030204" pitchFamily="34" charset="0"/>
                          <a:ea typeface="+mn-ea"/>
                          <a:cs typeface="Calibri" panose="020F0502020204030204" pitchFamily="34" charset="0"/>
                        </a:rPr>
                        <a:t>RX-24-002 (Parent I01)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RX-22-016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solidFill>
                            <a:schemeClr val="tx1"/>
                          </a:solidFill>
                          <a:latin typeface="Calibri" panose="020F0502020204030204" pitchFamily="34" charset="0"/>
                          <a:cs typeface="Calibri" panose="020F0502020204030204" pitchFamily="34" charset="0"/>
                        </a:rPr>
                        <a:t>RX-22-017</a:t>
                      </a:r>
                      <a:br>
                        <a:rPr lang="en-US" sz="1600" dirty="0">
                          <a:solidFill>
                            <a:schemeClr val="tx1"/>
                          </a:solidFill>
                          <a:latin typeface="Calibri" panose="020F0502020204030204" pitchFamily="34" charset="0"/>
                          <a:cs typeface="Calibri" panose="020F0502020204030204" pitchFamily="34" charset="0"/>
                        </a:rPr>
                      </a:br>
                      <a:r>
                        <a:rPr lang="en-US" sz="1600" strike="noStrike" baseline="0" dirty="0">
                          <a:solidFill>
                            <a:schemeClr val="tx1"/>
                          </a:solidFill>
                          <a:latin typeface="Calibri" panose="020F0502020204030204" pitchFamily="34" charset="0"/>
                          <a:cs typeface="Calibri" panose="020F0502020204030204" pitchFamily="34" charset="0"/>
                        </a:rPr>
                        <a:t>RX-22-018 (Minority institutions)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8782753"/>
                  </a:ext>
                </a:extLst>
              </a:tr>
            </a:tbl>
          </a:graphicData>
        </a:graphic>
      </p:graphicFrame>
      <p:sp>
        <p:nvSpPr>
          <p:cNvPr id="2" name="TextBox 1">
            <a:extLst>
              <a:ext uri="{FF2B5EF4-FFF2-40B4-BE49-F238E27FC236}">
                <a16:creationId xmlns:a16="http://schemas.microsoft.com/office/drawing/2014/main" id="{05395AA4-3EDC-15ED-C4D0-74EC2EB73273}"/>
              </a:ext>
            </a:extLst>
          </p:cNvPr>
          <p:cNvSpPr txBox="1"/>
          <p:nvPr/>
        </p:nvSpPr>
        <p:spPr>
          <a:xfrm>
            <a:off x="183500" y="5709940"/>
            <a:ext cx="11827586" cy="369332"/>
          </a:xfrm>
          <a:prstGeom prst="rect">
            <a:avLst/>
          </a:prstGeom>
          <a:noFill/>
        </p:spPr>
        <p:txBody>
          <a:bodyPr wrap="square" rtlCol="0">
            <a:spAutoFit/>
          </a:bodyPr>
          <a:lstStyle/>
          <a:p>
            <a:r>
              <a:rPr lang="en-US" sz="1800" u="sng" dirty="0">
                <a:effectLst/>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Requests for Applications (RFA) and Program Announcements (va.gov)</a:t>
            </a:r>
            <a:r>
              <a:rPr lang="en-US" sz="1800" u="sng" dirty="0">
                <a:effectLst/>
                <a:latin typeface="Calibri" panose="020F0502020204030204" pitchFamily="34" charset="0"/>
                <a:ea typeface="Calibri" panose="020F0502020204030204" pitchFamily="34" charset="0"/>
              </a:rPr>
              <a:t> </a:t>
            </a:r>
            <a:r>
              <a:rPr lang="en-US" sz="1800" u="sng" dirty="0">
                <a:solidFill>
                  <a:srgbClr val="0563C1"/>
                </a:solidFill>
                <a:effectLst/>
                <a:latin typeface="Calibri" panose="020F0502020204030204" pitchFamily="34" charset="0"/>
                <a:ea typeface="Calibri" panose="020F0502020204030204" pitchFamily="34" charset="0"/>
              </a:rPr>
              <a:t>– </a:t>
            </a:r>
            <a:r>
              <a:rPr lang="en-US" u="sng" dirty="0">
                <a:solidFill>
                  <a:srgbClr val="0563C1"/>
                </a:solidFill>
                <a:latin typeface="Calibri" panose="020F0502020204030204" pitchFamily="34" charset="0"/>
                <a:ea typeface="Calibri" panose="020F0502020204030204" pitchFamily="34" charset="0"/>
              </a:rPr>
              <a:t>h</a:t>
            </a:r>
            <a:r>
              <a:rPr lang="en-US" sz="1800" u="sng" dirty="0">
                <a:solidFill>
                  <a:srgbClr val="0563C1"/>
                </a:solidFill>
                <a:effectLst/>
                <a:latin typeface="Calibri" panose="020F0502020204030204" pitchFamily="34" charset="0"/>
                <a:ea typeface="Calibri" panose="020F0502020204030204" pitchFamily="34" charset="0"/>
              </a:rPr>
              <a:t>ttps://vaww.research.va.gov/funding/rfa.cfm#blrd</a:t>
            </a:r>
            <a:endParaRPr lang="en-US" dirty="0"/>
          </a:p>
        </p:txBody>
      </p:sp>
    </p:spTree>
    <p:extLst>
      <p:ext uri="{BB962C8B-B14F-4D97-AF65-F5344CB8AC3E}">
        <p14:creationId xmlns:p14="http://schemas.microsoft.com/office/powerpoint/2010/main" val="3003371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E20B06-0DAE-F39C-D62A-8507FE010622}"/>
              </a:ext>
            </a:extLst>
          </p:cNvPr>
          <p:cNvSpPr/>
          <p:nvPr/>
        </p:nvSpPr>
        <p:spPr>
          <a:xfrm>
            <a:off x="1738271" y="1857375"/>
            <a:ext cx="9253580"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CE89FA-C17D-48E3-ADB5-7CDE7BE5BA0C}"/>
              </a:ext>
            </a:extLst>
          </p:cNvPr>
          <p:cNvSpPr/>
          <p:nvPr/>
        </p:nvSpPr>
        <p:spPr>
          <a:xfrm>
            <a:off x="-1" y="851926"/>
            <a:ext cx="5368067"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431921" y="898262"/>
            <a:ext cx="4441293"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1" u="none" strike="noStrike" kern="1200" cap="none" spc="0" normalizeH="0" baseline="0" noProof="0" dirty="0">
                <a:ln>
                  <a:noFill/>
                </a:ln>
                <a:solidFill>
                  <a:prstClr val="white"/>
                </a:solidFill>
                <a:effectLst/>
                <a:uLnTx/>
                <a:uFillTx/>
                <a:latin typeface="Calibri" panose="020F0502020204030204" pitchFamily="34" charset="0"/>
                <a:ea typeface="Source Sans Pro"/>
                <a:cs typeface="Calibri" panose="020F0502020204030204" pitchFamily="34" charset="0"/>
              </a:rPr>
              <a:t>Who, What, How</a:t>
            </a:r>
            <a:endPar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ea typeface="Source Sans Pro"/>
              <a:cs typeface="Calibri" panose="020F0502020204030204" pitchFamily="34" charset="0"/>
            </a:endParaRP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Summary</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2" name="Rectangle: Rounded Corners 1">
            <a:extLst>
              <a:ext uri="{FF2B5EF4-FFF2-40B4-BE49-F238E27FC236}">
                <a16:creationId xmlns:a16="http://schemas.microsoft.com/office/drawing/2014/main" id="{FB6E79A2-562A-468B-FD9C-4D5D8261DED1}"/>
              </a:ext>
            </a:extLst>
          </p:cNvPr>
          <p:cNvSpPr/>
          <p:nvPr/>
        </p:nvSpPr>
        <p:spPr>
          <a:xfrm>
            <a:off x="422396" y="1647055"/>
            <a:ext cx="3068559" cy="691332"/>
          </a:xfrm>
          <a:prstGeom prst="roundRect">
            <a:avLst/>
          </a:prstGeom>
          <a:solidFill>
            <a:schemeClr val="tx2">
              <a:lumMod val="20000"/>
              <a:lumOff val="80000"/>
            </a:schemeClr>
          </a:solidFill>
          <a:ln w="19050">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Who</a:t>
            </a:r>
            <a:r>
              <a:rPr lang="en-US" sz="1800" b="1" dirty="0">
                <a:solidFill>
                  <a:srgbClr val="000000"/>
                </a:solidFill>
                <a:latin typeface="Calibri" panose="020F0502020204030204" pitchFamily="34" charset="0"/>
                <a:cs typeface="Calibri" panose="020F0502020204030204" pitchFamily="34" charset="0"/>
              </a:rPr>
              <a:t> is MERP helping?</a:t>
            </a:r>
            <a:endParaRPr lang="en-US"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7F6CB5F-0EF8-FD66-A784-D1078D93A18B}"/>
              </a:ext>
            </a:extLst>
          </p:cNvPr>
          <p:cNvSpPr txBox="1"/>
          <p:nvPr/>
        </p:nvSpPr>
        <p:spPr>
          <a:xfrm>
            <a:off x="3536133" y="1940601"/>
            <a:ext cx="7455717" cy="923330"/>
          </a:xfrm>
          <a:prstGeom prst="rect">
            <a:avLst/>
          </a:prstGeom>
          <a:noFill/>
        </p:spPr>
        <p:txBody>
          <a:bodyPr wrap="square" rtlCol="0">
            <a:spAutoFit/>
          </a:bodyPr>
          <a:lstStyle/>
          <a:p>
            <a:r>
              <a:rPr lang="en-US" sz="1800" dirty="0">
                <a:solidFill>
                  <a:srgbClr val="000000"/>
                </a:solidFill>
                <a:latin typeface="Calibri" panose="020F0502020204030204" pitchFamily="34" charset="0"/>
                <a:cs typeface="Calibri" panose="020F0502020204030204" pitchFamily="34" charset="0"/>
              </a:rPr>
              <a:t>The MERP program is managed by executive leaders and scientists who have a passion for, and real-world experience in, research into the medical issues that impact our Veteran population.</a:t>
            </a:r>
          </a:p>
        </p:txBody>
      </p:sp>
      <p:sp>
        <p:nvSpPr>
          <p:cNvPr id="6" name="Rectangle 5">
            <a:extLst>
              <a:ext uri="{FF2B5EF4-FFF2-40B4-BE49-F238E27FC236}">
                <a16:creationId xmlns:a16="http://schemas.microsoft.com/office/drawing/2014/main" id="{CC1A8379-2531-4E8D-8B23-027643492463}"/>
              </a:ext>
            </a:extLst>
          </p:cNvPr>
          <p:cNvSpPr/>
          <p:nvPr/>
        </p:nvSpPr>
        <p:spPr>
          <a:xfrm>
            <a:off x="1738270" y="3286504"/>
            <a:ext cx="9253580"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E027E597-5160-7B77-AA40-EF18DD74F90F}"/>
              </a:ext>
            </a:extLst>
          </p:cNvPr>
          <p:cNvSpPr/>
          <p:nvPr/>
        </p:nvSpPr>
        <p:spPr>
          <a:xfrm>
            <a:off x="422396" y="3076184"/>
            <a:ext cx="3068559" cy="691332"/>
          </a:xfrm>
          <a:prstGeom prst="roundRect">
            <a:avLst/>
          </a:prstGeom>
          <a:solidFill>
            <a:schemeClr val="tx2">
              <a:lumMod val="20000"/>
              <a:lumOff val="80000"/>
            </a:schemeClr>
          </a:solidFill>
          <a:ln w="19050">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What</a:t>
            </a:r>
            <a:r>
              <a:rPr lang="en-US" sz="1800" b="1" dirty="0">
                <a:solidFill>
                  <a:srgbClr val="000000"/>
                </a:solidFill>
                <a:latin typeface="Calibri" panose="020F0502020204030204" pitchFamily="34" charset="0"/>
                <a:cs typeface="Calibri" panose="020F0502020204030204" pitchFamily="34" charset="0"/>
              </a:rPr>
              <a:t> is MERP?</a:t>
            </a:r>
            <a:endParaRPr lang="en-US"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891DEF38-436E-C51C-6E4B-11D7FF99FA4B}"/>
              </a:ext>
            </a:extLst>
          </p:cNvPr>
          <p:cNvSpPr txBox="1"/>
          <p:nvPr/>
        </p:nvSpPr>
        <p:spPr>
          <a:xfrm>
            <a:off x="3500479" y="3239453"/>
            <a:ext cx="7491371" cy="1200329"/>
          </a:xfrm>
          <a:prstGeom prst="rect">
            <a:avLst/>
          </a:prstGeom>
          <a:noFill/>
        </p:spPr>
        <p:txBody>
          <a:bodyPr wrap="square">
            <a:spAutoFit/>
          </a:bodyPr>
          <a:lstStyle/>
          <a:p>
            <a:r>
              <a:rPr lang="en-US" sz="1800" dirty="0">
                <a:solidFill>
                  <a:srgbClr val="000000"/>
                </a:solidFill>
                <a:latin typeface="Calibri" panose="020F0502020204030204" pitchFamily="34" charset="0"/>
                <a:cs typeface="Calibri" panose="020F0502020204030204" pitchFamily="34" charset="0"/>
              </a:rPr>
              <a:t>MERP’s mission is to advance military exposure assessments and to understand the effects of military exposures on Veterans’ health outcomes to inform care and policy. The program will accomplish this by adding additional funding opportunities and guidance to VA researchers. </a:t>
            </a:r>
            <a:endParaRPr lang="en-US"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D8D3E22B-D06F-742A-E48F-AFB55FA61CF7}"/>
              </a:ext>
            </a:extLst>
          </p:cNvPr>
          <p:cNvSpPr/>
          <p:nvPr/>
        </p:nvSpPr>
        <p:spPr>
          <a:xfrm>
            <a:off x="1738270" y="4726485"/>
            <a:ext cx="9253580"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9A1E3A6C-1025-8997-ABCD-B56BF4A441BB}"/>
              </a:ext>
            </a:extLst>
          </p:cNvPr>
          <p:cNvSpPr/>
          <p:nvPr/>
        </p:nvSpPr>
        <p:spPr>
          <a:xfrm>
            <a:off x="422396" y="4516165"/>
            <a:ext cx="3068559" cy="691332"/>
          </a:xfrm>
          <a:prstGeom prst="roundRect">
            <a:avLst/>
          </a:prstGeom>
          <a:solidFill>
            <a:schemeClr val="tx2">
              <a:lumMod val="20000"/>
              <a:lumOff val="80000"/>
            </a:schemeClr>
          </a:solidFill>
          <a:ln w="19050">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How</a:t>
            </a:r>
            <a:r>
              <a:rPr lang="en-US" sz="1800" b="1" dirty="0">
                <a:solidFill>
                  <a:srgbClr val="000000"/>
                </a:solidFill>
                <a:latin typeface="Calibri" panose="020F0502020204030204" pitchFamily="34" charset="0"/>
                <a:cs typeface="Calibri" panose="020F0502020204030204" pitchFamily="34" charset="0"/>
              </a:rPr>
              <a:t> is MERP going to help?</a:t>
            </a: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BCDF3FF8-0960-3D62-3C35-589CD81CDE09}"/>
              </a:ext>
            </a:extLst>
          </p:cNvPr>
          <p:cNvSpPr txBox="1"/>
          <p:nvPr/>
        </p:nvSpPr>
        <p:spPr>
          <a:xfrm>
            <a:off x="3536133" y="4852306"/>
            <a:ext cx="7331892" cy="923330"/>
          </a:xfrm>
          <a:prstGeom prst="rect">
            <a:avLst/>
          </a:prstGeom>
          <a:noFill/>
        </p:spPr>
        <p:txBody>
          <a:bodyPr wrap="square" rtlCol="0">
            <a:spAutoFit/>
          </a:bodyPr>
          <a:lstStyle/>
          <a:p>
            <a:r>
              <a:rPr lang="en-US" sz="1800" dirty="0">
                <a:solidFill>
                  <a:srgbClr val="000000"/>
                </a:solidFill>
                <a:latin typeface="Calibri" panose="020F0502020204030204" pitchFamily="34" charset="0"/>
                <a:cs typeface="Calibri" panose="020F0502020204030204" pitchFamily="34" charset="0"/>
              </a:rPr>
              <a:t>Working with researchers to fund and focus their research and to socialize their findings to improve the treatments, practices, and outcomes for our veterans.</a:t>
            </a:r>
            <a:endParaRPr lang="en-US" sz="1800" dirty="0">
              <a:solidFill>
                <a:srgbClr val="000000"/>
              </a:solidFill>
              <a:latin typeface="Calibri" panose="020F0502020204030204" pitchFamily="34" charset="0"/>
              <a:ea typeface="Source Sans Pro"/>
              <a:cs typeface="Calibri" panose="020F0502020204030204" pitchFamily="34" charset="0"/>
            </a:endParaRPr>
          </a:p>
        </p:txBody>
      </p:sp>
    </p:spTree>
    <p:extLst>
      <p:ext uri="{BB962C8B-B14F-4D97-AF65-F5344CB8AC3E}">
        <p14:creationId xmlns:p14="http://schemas.microsoft.com/office/powerpoint/2010/main" val="1144925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DB59-FE21-F7BB-D28F-926BCB54EE71}"/>
              </a:ext>
            </a:extLst>
          </p:cNvPr>
          <p:cNvSpPr>
            <a:spLocks noGrp="1"/>
          </p:cNvSpPr>
          <p:nvPr>
            <p:ph type="ctrTitle"/>
          </p:nvPr>
        </p:nvSpPr>
        <p:spPr/>
        <p:txBody>
          <a:bodyPr/>
          <a:lstStyle/>
          <a:p>
            <a:r>
              <a:rPr lang="en-US" dirty="0">
                <a:latin typeface="Calibri" panose="020F0502020204030204" pitchFamily="34" charset="0"/>
                <a:cs typeface="Calibri" panose="020F0502020204030204" pitchFamily="34" charset="0"/>
              </a:rPr>
              <a:t>MERP Contact</a:t>
            </a:r>
          </a:p>
        </p:txBody>
      </p:sp>
    </p:spTree>
    <p:extLst>
      <p:ext uri="{BB962C8B-B14F-4D97-AF65-F5344CB8AC3E}">
        <p14:creationId xmlns:p14="http://schemas.microsoft.com/office/powerpoint/2010/main" val="2667694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AAC097-AC13-472A-87EB-D3C4A5AD86DA}"/>
              </a:ext>
            </a:extLst>
          </p:cNvPr>
          <p:cNvSpPr/>
          <p:nvPr/>
        </p:nvSpPr>
        <p:spPr>
          <a:xfrm>
            <a:off x="0" y="2107635"/>
            <a:ext cx="12046998" cy="1131079"/>
          </a:xfrm>
          <a:prstGeom prst="rect">
            <a:avLst/>
          </a:prstGeom>
        </p:spPr>
        <p:txBody>
          <a:bodyPr wrap="square" lIns="91440" tIns="45720" rIns="91440" bIns="45720" anchor="t">
            <a:spAutoFit/>
          </a:bodyPr>
          <a:lstStyle/>
          <a:p>
            <a:pPr marL="342900" marR="1156970">
              <a:spcAft>
                <a:spcPts val="900"/>
              </a:spcAft>
              <a:defRPr/>
            </a:pPr>
            <a:br>
              <a:rPr lang="en-US" sz="2000" dirty="0">
                <a:latin typeface="Arial"/>
                <a:ea typeface="Source Sans Pro"/>
              </a:rPr>
            </a:br>
            <a:endParaRPr lang="en-US" sz="2000" dirty="0">
              <a:latin typeface="Arial"/>
              <a:cs typeface="Arial"/>
            </a:endParaRPr>
          </a:p>
          <a:p>
            <a:pPr marL="342900" marR="1156970">
              <a:spcAft>
                <a:spcPts val="900"/>
              </a:spcAft>
              <a:defRPr/>
            </a:pPr>
            <a:endParaRPr lang="en-US" sz="2000" b="1" dirty="0">
              <a:latin typeface="Arial"/>
              <a:cs typeface="Arial"/>
            </a:endParaRPr>
          </a:p>
        </p:txBody>
      </p:sp>
      <p:sp>
        <p:nvSpPr>
          <p:cNvPr id="7" name="Rectangle 6">
            <a:extLst>
              <a:ext uri="{FF2B5EF4-FFF2-40B4-BE49-F238E27FC236}">
                <a16:creationId xmlns:a16="http://schemas.microsoft.com/office/drawing/2014/main" id="{51CE89FA-C17D-48E3-ADB5-7CDE7BE5BA0C}"/>
              </a:ext>
            </a:extLst>
          </p:cNvPr>
          <p:cNvSpPr/>
          <p:nvPr/>
        </p:nvSpPr>
        <p:spPr>
          <a:xfrm>
            <a:off x="-1" y="883089"/>
            <a:ext cx="5087156"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431921" y="940183"/>
            <a:ext cx="3785655" cy="477054"/>
          </a:xfrm>
          <a:prstGeom prst="rect">
            <a:avLst/>
          </a:prstGeom>
          <a:noFill/>
        </p:spPr>
        <p:txBody>
          <a:bodyPr wrap="square" lIns="91440" tIns="45720" rIns="91440" bIns="45720" anchor="t">
            <a:spAutoFit/>
          </a:bodyPr>
          <a:lstStyle/>
          <a:p>
            <a:pPr>
              <a:spcBef>
                <a:spcPts val="600"/>
              </a:spcBef>
              <a:defRPr/>
            </a:pPr>
            <a:r>
              <a:rPr lang="en-US" sz="2500" b="1" dirty="0">
                <a:solidFill>
                  <a:schemeClr val="bg1"/>
                </a:solidFill>
                <a:latin typeface="Calibri" panose="020F0502020204030204" pitchFamily="34" charset="0"/>
                <a:cs typeface="Calibri" panose="020F0502020204030204" pitchFamily="34" charset="0"/>
              </a:rPr>
              <a:t>Contact</a:t>
            </a: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a:t>
            </a:r>
            <a:r>
              <a:rPr kumimoji="0" lang="en-US" sz="3200" b="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Contact Us</a:t>
            </a:r>
            <a:endParaRPr lang="en-US" sz="3200" b="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BECE6DBB-0C6D-7443-2E19-D0811F506515}"/>
              </a:ext>
            </a:extLst>
          </p:cNvPr>
          <p:cNvGraphicFramePr>
            <a:graphicFrameLocks noGrp="1"/>
          </p:cNvGraphicFramePr>
          <p:nvPr>
            <p:extLst>
              <p:ext uri="{D42A27DB-BD31-4B8C-83A1-F6EECF244321}">
                <p14:modId xmlns:p14="http://schemas.microsoft.com/office/powerpoint/2010/main" val="112608219"/>
              </p:ext>
            </p:extLst>
          </p:nvPr>
        </p:nvGraphicFramePr>
        <p:xfrm>
          <a:off x="462063" y="1723927"/>
          <a:ext cx="11087740" cy="1483360"/>
        </p:xfrm>
        <a:graphic>
          <a:graphicData uri="http://schemas.openxmlformats.org/drawingml/2006/table">
            <a:tbl>
              <a:tblPr firstRow="1" bandRow="1">
                <a:tableStyleId>{7DF18680-E054-41AD-8BC1-D1AEF772440D}</a:tableStyleId>
              </a:tblPr>
              <a:tblGrid>
                <a:gridCol w="5181891">
                  <a:extLst>
                    <a:ext uri="{9D8B030D-6E8A-4147-A177-3AD203B41FA5}">
                      <a16:colId xmlns:a16="http://schemas.microsoft.com/office/drawing/2014/main" val="3650214140"/>
                    </a:ext>
                  </a:extLst>
                </a:gridCol>
                <a:gridCol w="5905849">
                  <a:extLst>
                    <a:ext uri="{9D8B030D-6E8A-4147-A177-3AD203B41FA5}">
                      <a16:colId xmlns:a16="http://schemas.microsoft.com/office/drawing/2014/main" val="1947819854"/>
                    </a:ext>
                  </a:extLst>
                </a:gridCol>
              </a:tblGrid>
              <a:tr h="370840">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MERP Leadership</a:t>
                      </a:r>
                      <a:endParaRPr lang="en-US" sz="1800" dirty="0">
                        <a:latin typeface="Calibri" panose="020F0502020204030204" pitchFamily="34" charset="0"/>
                        <a:cs typeface="Calibri" panose="020F0502020204030204" pitchFamily="34" charset="0"/>
                      </a:endParaRPr>
                    </a:p>
                  </a:txBody>
                  <a:tcPr>
                    <a:solidFill>
                      <a:srgbClr val="6B6F72"/>
                    </a:solidFill>
                  </a:tcPr>
                </a:tc>
                <a:tc hMerge="1">
                  <a:txBody>
                    <a:bodyPr/>
                    <a:lstStyle/>
                    <a:p>
                      <a:endParaRPr lang="en-US" dirty="0"/>
                    </a:p>
                  </a:txBody>
                  <a:tcPr/>
                </a:tc>
                <a:extLst>
                  <a:ext uri="{0D108BD9-81ED-4DB2-BD59-A6C34878D82A}">
                    <a16:rowId xmlns:a16="http://schemas.microsoft.com/office/drawing/2014/main" val="304393943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Rudolph (Rudy) Johnson, Ph.D.           </a:t>
                      </a:r>
                      <a:endParaRPr lang="en-US" sz="1800" dirty="0">
                        <a:latin typeface="Calibri" panose="020F0502020204030204" pitchFamily="34" charset="0"/>
                        <a:cs typeface="Calibri" panose="020F0502020204030204" pitchFamily="34" charset="0"/>
                      </a:endParaRPr>
                    </a:p>
                  </a:txBody>
                  <a:tcPr/>
                </a:tc>
                <a:tc>
                  <a:txBody>
                    <a:bodyPr/>
                    <a:lstStyle/>
                    <a:p>
                      <a:r>
                        <a:rPr lang="en-US" sz="1800" b="1" dirty="0"/>
                        <a:t>MERP Director </a:t>
                      </a:r>
                      <a:r>
                        <a:rPr lang="en-US" sz="1800" b="0" dirty="0"/>
                        <a:t>–</a:t>
                      </a:r>
                      <a:r>
                        <a:rPr lang="en-US" sz="1800" b="1" dirty="0"/>
                        <a:t> </a:t>
                      </a:r>
                      <a:r>
                        <a:rPr lang="en-US" sz="1800" dirty="0"/>
                        <a:t>rudolph.johnson3@va.gov </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67771305"/>
                  </a:ext>
                </a:extLst>
              </a:tr>
              <a:tr h="370840">
                <a:tc>
                  <a:txBody>
                    <a:bodyPr/>
                    <a:lstStyle/>
                    <a:p>
                      <a:r>
                        <a:rPr lang="en-US" sz="1800" b="1" dirty="0"/>
                        <a:t>Shakeria (Shay) Cohen, Ph.D.               </a:t>
                      </a:r>
                      <a:endParaRPr lang="en-US" dirty="0">
                        <a:latin typeface="Calibri" panose="020F0502020204030204" pitchFamily="34" charset="0"/>
                        <a:cs typeface="Calibri" panose="020F0502020204030204" pitchFamily="34" charset="0"/>
                      </a:endParaRPr>
                    </a:p>
                  </a:txBody>
                  <a:tcPr/>
                </a:tc>
                <a:tc>
                  <a:txBody>
                    <a:bodyPr/>
                    <a:lstStyle/>
                    <a:p>
                      <a:r>
                        <a:rPr lang="en-US" sz="1800" b="1" dirty="0"/>
                        <a:t>Scientific Program Officer </a:t>
                      </a:r>
                      <a:r>
                        <a:rPr lang="en-US" sz="1800" dirty="0"/>
                        <a:t>– shakeria.cohen@va.gov</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28945455"/>
                  </a:ext>
                </a:extLst>
              </a:tr>
              <a:tr h="370840">
                <a:tc>
                  <a:txBody>
                    <a:bodyPr/>
                    <a:lstStyle/>
                    <a:p>
                      <a:r>
                        <a:rPr lang="en-US" sz="1800" b="1" dirty="0"/>
                        <a:t>Admin Core </a:t>
                      </a:r>
                      <a:endParaRPr lang="en-US" dirty="0">
                        <a:latin typeface="Calibri" panose="020F0502020204030204" pitchFamily="34" charset="0"/>
                        <a:cs typeface="Calibri" panose="020F0502020204030204" pitchFamily="34" charset="0"/>
                      </a:endParaRPr>
                    </a:p>
                  </a:txBody>
                  <a:tcPr/>
                </a:tc>
                <a:tc>
                  <a:txBody>
                    <a:bodyPr/>
                    <a:lstStyle/>
                    <a:p>
                      <a:r>
                        <a:rPr lang="en-US" sz="1800" dirty="0"/>
                        <a:t>merpadmincore@va.gov</a:t>
                      </a:r>
                      <a:endParaRPr lang="en-US"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851736406"/>
                  </a:ext>
                </a:extLst>
              </a:tr>
            </a:tbl>
          </a:graphicData>
        </a:graphic>
      </p:graphicFrame>
      <p:graphicFrame>
        <p:nvGraphicFramePr>
          <p:cNvPr id="4" name="Table 3">
            <a:extLst>
              <a:ext uri="{FF2B5EF4-FFF2-40B4-BE49-F238E27FC236}">
                <a16:creationId xmlns:a16="http://schemas.microsoft.com/office/drawing/2014/main" id="{2669AF6E-4EF9-A684-17DA-DED586836E12}"/>
              </a:ext>
            </a:extLst>
          </p:cNvPr>
          <p:cNvGraphicFramePr>
            <a:graphicFrameLocks noGrp="1"/>
          </p:cNvGraphicFramePr>
          <p:nvPr>
            <p:extLst>
              <p:ext uri="{D42A27DB-BD31-4B8C-83A1-F6EECF244321}">
                <p14:modId xmlns:p14="http://schemas.microsoft.com/office/powerpoint/2010/main" val="150434712"/>
              </p:ext>
            </p:extLst>
          </p:nvPr>
        </p:nvGraphicFramePr>
        <p:xfrm>
          <a:off x="479629" y="3722626"/>
          <a:ext cx="11052608" cy="1483360"/>
        </p:xfrm>
        <a:graphic>
          <a:graphicData uri="http://schemas.openxmlformats.org/drawingml/2006/table">
            <a:tbl>
              <a:tblPr firstRow="1" bandRow="1">
                <a:tableStyleId>{7DF18680-E054-41AD-8BC1-D1AEF772440D}</a:tableStyleId>
              </a:tblPr>
              <a:tblGrid>
                <a:gridCol w="5174551">
                  <a:extLst>
                    <a:ext uri="{9D8B030D-6E8A-4147-A177-3AD203B41FA5}">
                      <a16:colId xmlns:a16="http://schemas.microsoft.com/office/drawing/2014/main" val="2480637300"/>
                    </a:ext>
                  </a:extLst>
                </a:gridCol>
                <a:gridCol w="5878057">
                  <a:extLst>
                    <a:ext uri="{9D8B030D-6E8A-4147-A177-3AD203B41FA5}">
                      <a16:colId xmlns:a16="http://schemas.microsoft.com/office/drawing/2014/main" val="2016226084"/>
                    </a:ext>
                  </a:extLst>
                </a:gridCol>
              </a:tblGrid>
              <a:tr h="370840">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Deputy Chief Research and Development Officers:</a:t>
                      </a:r>
                      <a:endParaRPr lang="en-US" sz="1800" b="1" dirty="0">
                        <a:latin typeface="Calibri" panose="020F0502020204030204" pitchFamily="34" charset="0"/>
                        <a:ea typeface="Source Sans Pro"/>
                        <a:cs typeface="Calibri" panose="020F0502020204030204" pitchFamily="34" charset="0"/>
                      </a:endParaRPr>
                    </a:p>
                  </a:txBody>
                  <a:tcPr>
                    <a:solidFill>
                      <a:srgbClr val="6B6F72"/>
                    </a:solidFill>
                  </a:tcPr>
                </a:tc>
                <a:tc hMerge="1">
                  <a:txBody>
                    <a:bodyPr/>
                    <a:lstStyle/>
                    <a:p>
                      <a:endParaRPr lang="en-US" dirty="0"/>
                    </a:p>
                  </a:txBody>
                  <a:tcPr/>
                </a:tc>
                <a:extLst>
                  <a:ext uri="{0D108BD9-81ED-4DB2-BD59-A6C34878D82A}">
                    <a16:rowId xmlns:a16="http://schemas.microsoft.com/office/drawing/2014/main" val="1174446547"/>
                  </a:ext>
                </a:extLst>
              </a:tr>
              <a:tr h="370840">
                <a:tc>
                  <a:txBody>
                    <a:bodyPr/>
                    <a:lstStyle/>
                    <a:p>
                      <a:r>
                        <a:rPr lang="en-US" sz="1800" b="1" dirty="0"/>
                        <a:t>Chris Bever, MD, MBA                              </a:t>
                      </a:r>
                      <a:endParaRPr lang="en-US" dirty="0">
                        <a:latin typeface="Calibri" panose="020F0502020204030204" pitchFamily="34" charset="0"/>
                        <a:cs typeface="Calibri" panose="020F05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Deputy CRADO </a:t>
                      </a:r>
                      <a:r>
                        <a:rPr lang="en-US" sz="1800" b="0" dirty="0"/>
                        <a:t>–</a:t>
                      </a:r>
                      <a:r>
                        <a:rPr lang="en-US" sz="1800" b="1" dirty="0"/>
                        <a:t> </a:t>
                      </a:r>
                      <a:r>
                        <a:rPr lang="en-US" sz="1800" dirty="0"/>
                        <a:t>christopher.bever@va.gov</a:t>
                      </a:r>
                      <a:endParaRPr lang="en-US" sz="1800" dirty="0">
                        <a:latin typeface="Calibri" panose="020F0502020204030204" pitchFamily="34" charset="0"/>
                        <a:ea typeface="Source Sans Pro"/>
                        <a:cs typeface="Calibri" panose="020F0502020204030204" pitchFamily="34" charset="0"/>
                      </a:endParaRPr>
                    </a:p>
                  </a:txBody>
                  <a:tcPr/>
                </a:tc>
                <a:extLst>
                  <a:ext uri="{0D108BD9-81ED-4DB2-BD59-A6C34878D82A}">
                    <a16:rowId xmlns:a16="http://schemas.microsoft.com/office/drawing/2014/main" val="189891993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Wendy Tenhula, Ph.D.                            </a:t>
                      </a:r>
                      <a:endParaRPr lang="en-US" dirty="0">
                        <a:latin typeface="Calibri" panose="020F0502020204030204" pitchFamily="34" charset="0"/>
                        <a:cs typeface="Calibri" panose="020F05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Deputy CRADO </a:t>
                      </a:r>
                      <a:r>
                        <a:rPr lang="en-US" sz="1800" b="0" dirty="0"/>
                        <a:t>–</a:t>
                      </a:r>
                      <a:r>
                        <a:rPr lang="en-US" sz="1800" b="1" dirty="0"/>
                        <a:t> </a:t>
                      </a:r>
                      <a:r>
                        <a:rPr lang="en-US" sz="1800" dirty="0"/>
                        <a:t>wendy.tenhula@va.gov</a:t>
                      </a:r>
                      <a:endParaRPr lang="en-US" sz="1800" dirty="0">
                        <a:latin typeface="Calibri" panose="020F0502020204030204" pitchFamily="34" charset="0"/>
                        <a:ea typeface="Source Sans Pro"/>
                        <a:cs typeface="Calibri" panose="020F0502020204030204" pitchFamily="34" charset="0"/>
                      </a:endParaRPr>
                    </a:p>
                  </a:txBody>
                  <a:tcPr/>
                </a:tc>
                <a:extLst>
                  <a:ext uri="{0D108BD9-81ED-4DB2-BD59-A6C34878D82A}">
                    <a16:rowId xmlns:a16="http://schemas.microsoft.com/office/drawing/2014/main" val="10309914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Grant Huang, Ph.D., MPH                         </a:t>
                      </a:r>
                      <a:endParaRPr lang="en-US" dirty="0">
                        <a:latin typeface="Calibri" panose="020F0502020204030204" pitchFamily="34" charset="0"/>
                        <a:cs typeface="Calibri" panose="020F05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Deputy CRADO </a:t>
                      </a:r>
                      <a:r>
                        <a:rPr lang="en-US" sz="1800" b="0" dirty="0"/>
                        <a:t>–</a:t>
                      </a:r>
                      <a:r>
                        <a:rPr lang="en-US" sz="1800" b="1" dirty="0"/>
                        <a:t> </a:t>
                      </a:r>
                      <a:r>
                        <a:rPr lang="en-US" sz="1800" dirty="0"/>
                        <a:t>grant.huang@va.gov</a:t>
                      </a:r>
                      <a:endParaRPr lang="en-US" sz="1800" dirty="0">
                        <a:latin typeface="Calibri" panose="020F0502020204030204" pitchFamily="34" charset="0"/>
                        <a:ea typeface="Source Sans Pro"/>
                        <a:cs typeface="Calibri" panose="020F0502020204030204" pitchFamily="34" charset="0"/>
                      </a:endParaRPr>
                    </a:p>
                  </a:txBody>
                  <a:tcPr/>
                </a:tc>
                <a:extLst>
                  <a:ext uri="{0D108BD9-81ED-4DB2-BD59-A6C34878D82A}">
                    <a16:rowId xmlns:a16="http://schemas.microsoft.com/office/drawing/2014/main" val="1607237318"/>
                  </a:ext>
                </a:extLst>
              </a:tr>
            </a:tbl>
          </a:graphicData>
        </a:graphic>
      </p:graphicFrame>
    </p:spTree>
    <p:extLst>
      <p:ext uri="{BB962C8B-B14F-4D97-AF65-F5344CB8AC3E}">
        <p14:creationId xmlns:p14="http://schemas.microsoft.com/office/powerpoint/2010/main" val="3493811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DB59-FE21-F7BB-D28F-926BCB54EE71}"/>
              </a:ext>
            </a:extLst>
          </p:cNvPr>
          <p:cNvSpPr>
            <a:spLocks noGrp="1"/>
          </p:cNvSpPr>
          <p:nvPr>
            <p:ph type="ctrTitle"/>
          </p:nvPr>
        </p:nvSpPr>
        <p:spPr/>
        <p:txBody>
          <a:bodyPr/>
          <a:lstStyle/>
          <a:p>
            <a:r>
              <a:rPr lang="en-US" dirty="0">
                <a:latin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40480452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XtVhG23Fd4LGA2BwU1MQP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tVhG23Fd4LGA2BwU1MQP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AIRRS Mai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ource Sans Pro"/>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VAIRRS Mai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ource Sans Pro"/>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2_Office Theme">
  <a:themeElements>
    <a:clrScheme name="myVA">
      <a:dk1>
        <a:srgbClr val="000000"/>
      </a:dk1>
      <a:lt1>
        <a:sysClr val="window" lastClr="FFFFFF"/>
      </a:lt1>
      <a:dk2>
        <a:srgbClr val="003F72"/>
      </a:dk2>
      <a:lt2>
        <a:srgbClr val="EEECE1"/>
      </a:lt2>
      <a:accent1>
        <a:srgbClr val="C62630"/>
      </a:accent1>
      <a:accent2>
        <a:srgbClr val="0083BE"/>
      </a:accent2>
      <a:accent3>
        <a:srgbClr val="F3CF45"/>
      </a:accent3>
      <a:accent4>
        <a:srgbClr val="F7955B"/>
      </a:accent4>
      <a:accent5>
        <a:srgbClr val="839097"/>
      </a:accent5>
      <a:accent6>
        <a:srgbClr val="DCDDDE"/>
      </a:accent6>
      <a:hlink>
        <a:srgbClr val="C2B48F"/>
      </a:hlink>
      <a:folHlink>
        <a:srgbClr val="A3A86B"/>
      </a:folHlink>
    </a:clrScheme>
    <a:fontScheme name="Custom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fd99b86-a2da-47ef-ab26-55e7009dfe6e" xsi:nil="true"/>
    <lcf76f155ced4ddcb4097134ff3c332f xmlns="46ade7e5-a61b-41ef-8b65-1672892065de">
      <Terms xmlns="http://schemas.microsoft.com/office/infopath/2007/PartnerControls"/>
    </lcf76f155ced4ddcb4097134ff3c332f>
    <DocumentType xmlns="46ade7e5-a61b-41ef-8b65-1672892065de">Presentations and Other Documents</DocumentType>
    <Topic xmlns="46ade7e5-a61b-41ef-8b65-1672892065de">Toxic Exposure - MERP</Topic>
    <PageReference xmlns="46ade7e5-a61b-41ef-8b65-1672892065de" xsi:nil="true"/>
  </documentManagement>
</p:properties>
</file>

<file path=customXml/itemProps1.xml><?xml version="1.0" encoding="utf-8"?>
<ds:datastoreItem xmlns:ds="http://schemas.openxmlformats.org/officeDocument/2006/customXml" ds:itemID="{3116A02E-77E6-4943-95C4-34898FB2CEFB}"/>
</file>

<file path=customXml/itemProps2.xml><?xml version="1.0" encoding="utf-8"?>
<ds:datastoreItem xmlns:ds="http://schemas.openxmlformats.org/officeDocument/2006/customXml" ds:itemID="{50322C62-54B8-4944-9E3F-B31BD4F82084}">
  <ds:schemaRefs>
    <ds:schemaRef ds:uri="http://schemas.microsoft.com/sharepoint/v3/contenttype/forms"/>
  </ds:schemaRefs>
</ds:datastoreItem>
</file>

<file path=customXml/itemProps3.xml><?xml version="1.0" encoding="utf-8"?>
<ds:datastoreItem xmlns:ds="http://schemas.openxmlformats.org/officeDocument/2006/customXml" ds:itemID="{F7E291F7-E2C5-4795-B483-46E11CE830AC}">
  <ds:schemaRefs>
    <ds:schemaRef ds:uri="http://www.w3.org/XML/1998/namespace"/>
    <ds:schemaRef ds:uri="http://schemas.microsoft.com/office/2006/documentManagement/types"/>
    <ds:schemaRef ds:uri="http://purl.org/dc/dcmitype/"/>
    <ds:schemaRef ds:uri="http://purl.org/dc/elements/1.1/"/>
    <ds:schemaRef ds:uri="http://schemas.microsoft.com/sharepoint/v3"/>
    <ds:schemaRef ds:uri="http://purl.org/dc/terms/"/>
    <ds:schemaRef ds:uri="http://schemas.microsoft.com/office/infopath/2007/PartnerControls"/>
    <ds:schemaRef ds:uri="http://schemas.microsoft.com/office/2006/metadata/properties"/>
    <ds:schemaRef ds:uri="http://schemas.openxmlformats.org/package/2006/metadata/core-properties"/>
    <ds:schemaRef ds:uri="6642d1a9-ebb9-407d-afff-6770473e06d7"/>
    <ds:schemaRef ds:uri="f86a40a2-0666-44e4-a690-13c7fceb6e4f"/>
  </ds:schemaRefs>
</ds:datastoreItem>
</file>

<file path=docProps/app.xml><?xml version="1.0" encoding="utf-8"?>
<Properties xmlns="http://schemas.openxmlformats.org/officeDocument/2006/extended-properties" xmlns:vt="http://schemas.openxmlformats.org/officeDocument/2006/docPropsVTypes">
  <Template>office theme</Template>
  <TotalTime>14174</TotalTime>
  <Words>2313</Words>
  <Application>Microsoft Office PowerPoint</Application>
  <PresentationFormat>Widescreen</PresentationFormat>
  <Paragraphs>301</Paragraphs>
  <Slides>27</Slides>
  <Notes>16</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27</vt:i4>
      </vt:variant>
    </vt:vector>
  </HeadingPairs>
  <TitlesOfParts>
    <vt:vector size="36" baseType="lpstr">
      <vt:lpstr>Arial</vt:lpstr>
      <vt:lpstr>Calibri</vt:lpstr>
      <vt:lpstr>Source Sans Pro</vt:lpstr>
      <vt:lpstr>Symbol</vt:lpstr>
      <vt:lpstr>Wingdings</vt:lpstr>
      <vt:lpstr>VAIRRS Main Slides</vt:lpstr>
      <vt:lpstr>1_VAIRRS Main Slides</vt:lpstr>
      <vt:lpstr>42_Office Theme</vt:lpstr>
      <vt:lpstr>think-cell Slide</vt:lpstr>
      <vt:lpstr>The Military Exposures Research Program  Rudolph Johnson, Ph.D. Director  </vt:lpstr>
      <vt:lpstr>PowerPoint Presentation</vt:lpstr>
      <vt:lpstr>PACT Act</vt:lpstr>
      <vt:lpstr>PACT Act (1 of 4) </vt:lpstr>
      <vt:lpstr>PACT Act (2 of 4)</vt:lpstr>
      <vt:lpstr>PACT Act (3 of 4)</vt:lpstr>
      <vt:lpstr>PACT Act (4 of 4)</vt:lpstr>
      <vt:lpstr>PowerPoint Presentation</vt:lpstr>
      <vt:lpstr>Military Exposures and Research Program</vt:lpstr>
      <vt:lpstr>PowerPoint Presentation</vt:lpstr>
      <vt:lpstr>PowerPoint Presentation</vt:lpstr>
      <vt:lpstr>PowerPoint Presentation</vt:lpstr>
      <vt:lpstr>PowerPoint Presentation</vt:lpstr>
      <vt:lpstr>Actively Managed Portfolio (AMP) Approach (1 of 2)</vt:lpstr>
      <vt:lpstr>Actively Managed Portfolio Approach (2 of 2)</vt:lpstr>
      <vt:lpstr>Military Exposures Research Program</vt:lpstr>
      <vt:lpstr>PowerPoint Presentation</vt:lpstr>
      <vt:lpstr>PowerPoint Presentation</vt:lpstr>
      <vt:lpstr>PowerPoint Presentation</vt:lpstr>
      <vt:lpstr>MERP Cores</vt:lpstr>
      <vt:lpstr>PowerPoint Presentation</vt:lpstr>
      <vt:lpstr>MERP Opportunities</vt:lpstr>
      <vt:lpstr>PowerPoint Presentation</vt:lpstr>
      <vt:lpstr>PowerPoint Presentation</vt:lpstr>
      <vt:lpstr>MERP Contact</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Symposium: VA's Military Exposures Research Program (MERP)-Dr. Rudolph Johnson, Director</dc:title>
  <dc:creator>Michael Tipsword</dc:creator>
  <cp:lastModifiedBy>Johnson, Rudolph C.</cp:lastModifiedBy>
  <cp:revision>415</cp:revision>
  <dcterms:created xsi:type="dcterms:W3CDTF">2023-05-16T19:51:16Z</dcterms:created>
  <dcterms:modified xsi:type="dcterms:W3CDTF">2024-03-12T15:52:19Z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0x010100F670CDE65625E449B41BBE9E2A9D6E5A</vt:lpwstr>
  </property>
  <property fmtid="{D5CDD505-2E9C-101B-9397-08002B2CF9AE}" pid="3" name="MediaServiceImageTags">
    <vt:lpwstr/>
  </property>
</Properties>
</file>